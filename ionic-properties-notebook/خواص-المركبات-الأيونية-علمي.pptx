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20" cy="9144000"/>
  <p:notesSz cx="9144000" cy="162560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_1"/>
          <p:cNvSpPr txBox="1"/>
          <p:nvPr/>
        </p:nvSpPr>
        <p:spPr>
          <a:xfrm>
            <a:off x="4940497" y="3524250"/>
            <a:ext cx="6369074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41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‏مختبر البلورات: أسرار</a:t>
            </a:r>
            <a:endParaRPr lang="ar-KW" sz="41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41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‏الروابط الكهروستاتيكية</a:t>
            </a:r>
            <a:endParaRPr lang="ar-KW" sz="4100" dirty="0"/>
          </a:p>
        </p:txBody>
      </p:sp>
      <p:sp>
        <p:nvSpPr>
          <p:cNvPr id="5" name="anim_1_2"/>
          <p:cNvSpPr txBox="1"/>
          <p:nvPr/>
        </p:nvSpPr>
        <p:spPr>
          <a:xfrm>
            <a:off x="4940497" y="5072063"/>
            <a:ext cx="636907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‏رحلة استكشافية ثلاثية الأبعاد في هندسة المواد الأيونية</a:t>
            </a:r>
            <a:endParaRPr lang="ar-KW" sz="1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2_3"/>
          <p:cNvSpPr txBox="1"/>
          <p:nvPr/>
        </p:nvSpPr>
        <p:spPr>
          <a:xfrm>
            <a:off x="1726198" y="333375"/>
            <a:ext cx="1279767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‏محطة التحليل الفيزيائي: الكشف عن المركبات الأيونية</a:t>
            </a:r>
            <a:endParaRPr lang="ar-KW" sz="3650" dirty="0"/>
          </a:p>
        </p:txBody>
      </p:sp>
      <p:sp>
        <p:nvSpPr>
          <p:cNvPr id="5" name="anim_2_4"/>
          <p:cNvSpPr txBox="1"/>
          <p:nvPr/>
        </p:nvSpPr>
        <p:spPr>
          <a:xfrm>
            <a:off x="10892903" y="6572250"/>
            <a:ext cx="19047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650" b="1" dirty="0">
                <a:solidFill>
                  <a:srgbClr val="1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‏العينة ‎A‎</a:t>
            </a:r>
            <a:endParaRPr lang="ar-KW" sz="2650" dirty="0"/>
          </a:p>
        </p:txBody>
      </p:sp>
      <p:sp>
        <p:nvSpPr>
          <p:cNvPr id="6" name="anim_2_5"/>
          <p:cNvSpPr txBox="1"/>
          <p:nvPr/>
        </p:nvSpPr>
        <p:spPr>
          <a:xfrm>
            <a:off x="9166705" y="7024688"/>
            <a:ext cx="535716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‏الحالة الفيزيائية: صلبة.</a:t>
            </a:r>
            <a:endParaRPr lang="ar-KW" sz="185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‏الذوبان: تذوب في الماء المقطر وتكوّن محلولاً.</a:t>
            </a:r>
            <a:endParaRPr lang="ar-KW" sz="185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‏التوصيل الكهربائي: المحلول يوصل التيار.</a:t>
            </a:r>
            <a:endParaRPr lang="ar-KW" sz="1850" dirty="0"/>
          </a:p>
        </p:txBody>
      </p:sp>
      <p:sp>
        <p:nvSpPr>
          <p:cNvPr id="7" name="anim_2_6"/>
          <p:cNvSpPr txBox="1"/>
          <p:nvPr/>
        </p:nvSpPr>
        <p:spPr>
          <a:xfrm>
            <a:off x="3511919" y="6572250"/>
            <a:ext cx="19047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65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‏العينة ‎B‎</a:t>
            </a:r>
            <a:endParaRPr lang="ar-KW" sz="2650" dirty="0"/>
          </a:p>
        </p:txBody>
      </p:sp>
      <p:sp>
        <p:nvSpPr>
          <p:cNvPr id="8" name="anim_2_7"/>
          <p:cNvSpPr txBox="1"/>
          <p:nvPr/>
        </p:nvSpPr>
        <p:spPr>
          <a:xfrm>
            <a:off x="1845246" y="7024688"/>
            <a:ext cx="523811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‏الحالة الفيزيائية: صلبة (مسحوق).</a:t>
            </a:r>
            <a:endParaRPr lang="ar-KW" sz="235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‏الذوبان: لا تذوب في الماء.</a:t>
            </a:r>
            <a:endParaRPr lang="ar-KW" sz="235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‏التوصيل الكهربائي: لا يوصل التيار.</a:t>
            </a:r>
            <a:endParaRPr lang="ar-KW" sz="23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3_8"/>
          <p:cNvSpPr txBox="1"/>
          <p:nvPr/>
        </p:nvSpPr>
        <p:spPr>
          <a:xfrm>
            <a:off x="1726198" y="333375"/>
            <a:ext cx="1279767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‏مصفوفة التشخيص: مطابقة الخصائص الأيونية</a:t>
            </a:r>
            <a:endParaRPr lang="ar-KW" sz="4000" dirty="0"/>
          </a:p>
        </p:txBody>
      </p:sp>
      <p:sp>
        <p:nvSpPr>
          <p:cNvPr id="5" name="anim_3_9"/>
          <p:cNvSpPr txBox="1"/>
          <p:nvPr/>
        </p:nvSpPr>
        <p:spPr>
          <a:xfrm>
            <a:off x="10654806" y="2476500"/>
            <a:ext cx="3333347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‏التوصيل الكهربائي</a:t>
            </a:r>
            <a:endParaRPr lang="ar-KW" sz="2800" dirty="0"/>
          </a:p>
        </p:txBody>
      </p:sp>
      <p:sp>
        <p:nvSpPr>
          <p:cNvPr id="6" name="anim_3_10"/>
          <p:cNvSpPr txBox="1"/>
          <p:nvPr/>
        </p:nvSpPr>
        <p:spPr>
          <a:xfrm>
            <a:off x="7892890" y="2476500"/>
            <a:ext cx="2702392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‏الذوبان في الماء</a:t>
            </a:r>
            <a:endParaRPr lang="ar-KW" sz="2500" dirty="0"/>
          </a:p>
        </p:txBody>
      </p:sp>
      <p:sp>
        <p:nvSpPr>
          <p:cNvPr id="7" name="anim_3_11"/>
          <p:cNvSpPr txBox="1"/>
          <p:nvPr/>
        </p:nvSpPr>
        <p:spPr>
          <a:xfrm>
            <a:off x="4607162" y="2476500"/>
            <a:ext cx="2976203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‏الحالة الفيزيائية</a:t>
            </a:r>
            <a:endParaRPr lang="ar-KW" sz="2900" dirty="0"/>
          </a:p>
        </p:txBody>
      </p:sp>
      <p:sp>
        <p:nvSpPr>
          <p:cNvPr id="8" name="anim_3_12"/>
          <p:cNvSpPr txBox="1"/>
          <p:nvPr/>
        </p:nvSpPr>
        <p:spPr>
          <a:xfrm>
            <a:off x="2380962" y="3571875"/>
            <a:ext cx="1988104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‏العينة ‎A‎</a:t>
            </a:r>
            <a:endParaRPr lang="ar-KW" sz="3950" dirty="0"/>
          </a:p>
        </p:txBody>
      </p:sp>
      <p:sp>
        <p:nvSpPr>
          <p:cNvPr id="9" name="anim_3_13"/>
          <p:cNvSpPr txBox="1"/>
          <p:nvPr/>
        </p:nvSpPr>
        <p:spPr>
          <a:xfrm>
            <a:off x="4523828" y="3571875"/>
            <a:ext cx="3273823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‏صلبة</a:t>
            </a:r>
            <a:endParaRPr lang="ar-KW" sz="4100" dirty="0"/>
          </a:p>
        </p:txBody>
      </p:sp>
      <p:sp>
        <p:nvSpPr>
          <p:cNvPr id="10" name="anim_3_14"/>
          <p:cNvSpPr txBox="1"/>
          <p:nvPr/>
        </p:nvSpPr>
        <p:spPr>
          <a:xfrm>
            <a:off x="7916700" y="3571875"/>
            <a:ext cx="2678583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‏تذوب</a:t>
            </a:r>
            <a:endParaRPr lang="ar-KW" sz="4100" dirty="0"/>
          </a:p>
        </p:txBody>
      </p:sp>
      <p:sp>
        <p:nvSpPr>
          <p:cNvPr id="11" name="anim_3_15"/>
          <p:cNvSpPr txBox="1"/>
          <p:nvPr/>
        </p:nvSpPr>
        <p:spPr>
          <a:xfrm>
            <a:off x="10714330" y="3571875"/>
            <a:ext cx="3011917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‏يوصل المحلول</a:t>
            </a:r>
            <a:endParaRPr lang="ar-KW" sz="3150" dirty="0"/>
          </a:p>
        </p:txBody>
      </p:sp>
      <p:sp>
        <p:nvSpPr>
          <p:cNvPr id="12" name="anim_3_16"/>
          <p:cNvSpPr txBox="1"/>
          <p:nvPr/>
        </p:nvSpPr>
        <p:spPr>
          <a:xfrm>
            <a:off x="2380962" y="4822031"/>
            <a:ext cx="1988104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‏العينة ‎B‎</a:t>
            </a:r>
            <a:endParaRPr lang="ar-KW" sz="3950" dirty="0"/>
          </a:p>
        </p:txBody>
      </p:sp>
      <p:sp>
        <p:nvSpPr>
          <p:cNvPr id="13" name="anim_3_17"/>
          <p:cNvSpPr txBox="1"/>
          <p:nvPr/>
        </p:nvSpPr>
        <p:spPr>
          <a:xfrm>
            <a:off x="4523828" y="4822031"/>
            <a:ext cx="3273823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‏صلبة</a:t>
            </a:r>
            <a:endParaRPr lang="ar-KW" sz="4450" dirty="0"/>
          </a:p>
        </p:txBody>
      </p:sp>
      <p:sp>
        <p:nvSpPr>
          <p:cNvPr id="14" name="anim_3_18"/>
          <p:cNvSpPr txBox="1"/>
          <p:nvPr/>
        </p:nvSpPr>
        <p:spPr>
          <a:xfrm>
            <a:off x="7916700" y="4822031"/>
            <a:ext cx="2678583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‏لا تذوب</a:t>
            </a:r>
            <a:endParaRPr lang="ar-KW" sz="4450" dirty="0"/>
          </a:p>
        </p:txBody>
      </p:sp>
      <p:sp>
        <p:nvSpPr>
          <p:cNvPr id="15" name="anim_3_19"/>
          <p:cNvSpPr txBox="1"/>
          <p:nvPr/>
        </p:nvSpPr>
        <p:spPr>
          <a:xfrm>
            <a:off x="10714330" y="4822031"/>
            <a:ext cx="3011917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‏لا يوصل</a:t>
            </a:r>
            <a:endParaRPr lang="ar-KW" sz="4450" dirty="0"/>
          </a:p>
        </p:txBody>
      </p:sp>
      <p:sp>
        <p:nvSpPr>
          <p:cNvPr id="16" name="anim_3_20"/>
          <p:cNvSpPr txBox="1"/>
          <p:nvPr/>
        </p:nvSpPr>
        <p:spPr>
          <a:xfrm>
            <a:off x="3130965" y="6846094"/>
            <a:ext cx="9964327" cy="1369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‏الاستنتاج: المركب الأيوني يوجد في الحالة الصلبة، ويكوّن محلولاً عند ذوبانه في الماء، ومحلوله يوصل التيار الكهربائي.</a:t>
            </a:r>
            <a:endParaRPr lang="ar-KW" sz="255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‏بناءً على البيانات: المركب الأيوني هو العينة (‎A‎).</a:t>
            </a:r>
            <a:endParaRPr lang="ar-KW" sz="255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4_21"/>
          <p:cNvSpPr txBox="1"/>
          <p:nvPr/>
        </p:nvSpPr>
        <p:spPr>
          <a:xfrm>
            <a:off x="1785722" y="381000"/>
            <a:ext cx="1267862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‏الغوص في الأعماق: البنية الهندسية (الشبكة البلورية)</a:t>
            </a:r>
            <a:endParaRPr lang="ar-KW" sz="3700" dirty="0"/>
          </a:p>
        </p:txBody>
      </p:sp>
      <p:sp>
        <p:nvSpPr>
          <p:cNvPr id="5" name="anim_4_22"/>
          <p:cNvSpPr txBox="1"/>
          <p:nvPr/>
        </p:nvSpPr>
        <p:spPr>
          <a:xfrm>
            <a:off x="9642897" y="2559844"/>
            <a:ext cx="5535737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‏المصطلح:</a:t>
            </a:r>
            <a:endParaRPr lang="ar-KW" sz="235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‏الشبكة البلورية (‎Crystal Lattice‎).</a:t>
            </a:r>
            <a:endParaRPr lang="ar-KW" sz="2350" dirty="0"/>
          </a:p>
        </p:txBody>
      </p:sp>
      <p:sp>
        <p:nvSpPr>
          <p:cNvPr id="6" name="anim_4_23"/>
          <p:cNvSpPr txBox="1"/>
          <p:nvPr/>
        </p:nvSpPr>
        <p:spPr>
          <a:xfrm>
            <a:off x="9642897" y="3512344"/>
            <a:ext cx="5535737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‏التكوين:</a:t>
            </a:r>
            <a:endParaRPr lang="ar-KW" sz="215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‏مصفوفات ثلاثية الأبعاد ممتدة من الكاتيونات والأنيونات.</a:t>
            </a:r>
            <a:endParaRPr lang="ar-KW" sz="2150" dirty="0"/>
          </a:p>
        </p:txBody>
      </p:sp>
      <p:sp>
        <p:nvSpPr>
          <p:cNvPr id="7" name="anim_4_24"/>
          <p:cNvSpPr txBox="1"/>
          <p:nvPr/>
        </p:nvSpPr>
        <p:spPr>
          <a:xfrm>
            <a:off x="9642897" y="4762500"/>
            <a:ext cx="5535737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‏آلية العمل:</a:t>
            </a:r>
            <a:endParaRPr lang="ar-KW" sz="22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‏قوة تجاذب كهروستاتيكي بين الأيونات مختلفة الشحنة.</a:t>
            </a:r>
            <a:endParaRPr lang="ar-KW" sz="2200" dirty="0"/>
          </a:p>
        </p:txBody>
      </p:sp>
      <p:sp>
        <p:nvSpPr>
          <p:cNvPr id="8" name="anim_4_25"/>
          <p:cNvSpPr txBox="1"/>
          <p:nvPr/>
        </p:nvSpPr>
        <p:spPr>
          <a:xfrm>
            <a:off x="9642897" y="6012656"/>
            <a:ext cx="5535737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‏النتيجة الفيزيائية:</a:t>
            </a:r>
            <a:endParaRPr lang="ar-KW" sz="21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‏هذا الترتيب يزيد قوة التجاذب بين الأيونات، فتكون معظم المركبات الأيونية في الحالة الصلبة عند درجة حرارة الغرفة.</a:t>
            </a:r>
            <a:endParaRPr lang="ar-KW" sz="21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5_26"/>
          <p:cNvSpPr txBox="1"/>
          <p:nvPr/>
        </p:nvSpPr>
        <p:spPr>
          <a:xfrm>
            <a:off x="1845246" y="619125"/>
            <a:ext cx="1255957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‏اختبار التحمل الحراري: درجات الانصهار والغليان</a:t>
            </a:r>
            <a:endParaRPr lang="ar-KW" sz="4000" dirty="0"/>
          </a:p>
        </p:txBody>
      </p:sp>
      <p:sp>
        <p:nvSpPr>
          <p:cNvPr id="5" name="anim_5_27"/>
          <p:cNvSpPr txBox="1"/>
          <p:nvPr/>
        </p:nvSpPr>
        <p:spPr>
          <a:xfrm>
            <a:off x="10440520" y="2071688"/>
            <a:ext cx="2142866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‏الغليان: </a:t>
            </a:r>
            <a:r>
              <a:rPr lang="ar-KW" alt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‎3600 °C‎</a:t>
            </a:r>
            <a:endParaRPr lang="ar-KW" sz="1900" dirty="0"/>
          </a:p>
        </p:txBody>
      </p:sp>
      <p:sp>
        <p:nvSpPr>
          <p:cNvPr id="6" name="anim_5_28"/>
          <p:cNvSpPr txBox="1"/>
          <p:nvPr/>
        </p:nvSpPr>
        <p:spPr>
          <a:xfrm>
            <a:off x="10440520" y="2833688"/>
            <a:ext cx="2142866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8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‏الانصهار: </a:t>
            </a:r>
            <a:r>
              <a:rPr lang="ar-KW" altLang="en-US" sz="1900" b="1" dirty="0">
                <a:solidFill>
                  <a:srgbClr val="8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‎2852 °C‎</a:t>
            </a:r>
            <a:endParaRPr lang="ar-KW" sz="1900" dirty="0"/>
          </a:p>
        </p:txBody>
      </p:sp>
      <p:sp>
        <p:nvSpPr>
          <p:cNvPr id="7" name="anim_5_29"/>
          <p:cNvSpPr txBox="1"/>
          <p:nvPr/>
        </p:nvSpPr>
        <p:spPr>
          <a:xfrm>
            <a:off x="3869064" y="4405313"/>
            <a:ext cx="202381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8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‏الغليان: </a:t>
            </a:r>
            <a:r>
              <a:rPr lang="ar-KW" altLang="en-US" sz="1900" b="1" dirty="0">
                <a:solidFill>
                  <a:srgbClr val="8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‎1413 °C‎</a:t>
            </a:r>
            <a:endParaRPr lang="ar-KW" sz="1900" dirty="0"/>
          </a:p>
        </p:txBody>
      </p:sp>
      <p:sp>
        <p:nvSpPr>
          <p:cNvPr id="8" name="anim_5_30"/>
          <p:cNvSpPr txBox="1"/>
          <p:nvPr/>
        </p:nvSpPr>
        <p:spPr>
          <a:xfrm>
            <a:off x="3869064" y="5262563"/>
            <a:ext cx="202381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A05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‏الانصهار: </a:t>
            </a:r>
            <a:r>
              <a:rPr lang="ar-KW" altLang="en-US" sz="1900" b="1" dirty="0">
                <a:solidFill>
                  <a:srgbClr val="A05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‎801 °C‎</a:t>
            </a:r>
            <a:endParaRPr lang="ar-KW" sz="1900" dirty="0"/>
          </a:p>
        </p:txBody>
      </p:sp>
      <p:sp>
        <p:nvSpPr>
          <p:cNvPr id="9" name="anim_5_31"/>
          <p:cNvSpPr txBox="1"/>
          <p:nvPr/>
        </p:nvSpPr>
        <p:spPr>
          <a:xfrm>
            <a:off x="5630976" y="6524625"/>
            <a:ext cx="207143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‏كلوريد الصوديوم</a:t>
            </a:r>
            <a:endParaRPr lang="ar-KW" sz="19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‏‎NaCl‎</a:t>
            </a:r>
            <a:endParaRPr lang="ar-KW" sz="1900" dirty="0"/>
          </a:p>
        </p:txBody>
      </p:sp>
      <p:sp>
        <p:nvSpPr>
          <p:cNvPr id="10" name="anim_5_32"/>
          <p:cNvSpPr txBox="1"/>
          <p:nvPr/>
        </p:nvSpPr>
        <p:spPr>
          <a:xfrm>
            <a:off x="8488131" y="6524625"/>
            <a:ext cx="216667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‏أكسيد المغنيسيوم</a:t>
            </a:r>
            <a:endParaRPr lang="ar-KW" sz="18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‏‎MgO‎</a:t>
            </a:r>
            <a:endParaRPr lang="ar-KW" sz="1850" dirty="0"/>
          </a:p>
        </p:txBody>
      </p:sp>
      <p:sp>
        <p:nvSpPr>
          <p:cNvPr id="11" name="anim_5_33"/>
          <p:cNvSpPr txBox="1"/>
          <p:nvPr/>
        </p:nvSpPr>
        <p:spPr>
          <a:xfrm>
            <a:off x="2940488" y="7453312"/>
            <a:ext cx="1035718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‏كلما ارتفعت قوة التجاذب بين الأيونات في الشبكة البلورية ارتفعت درجات الانصهار والغليان.</a:t>
            </a:r>
            <a:endParaRPr lang="ar-KW" sz="175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‏(قوة التجاذب في </a:t>
            </a: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‎MgO‎</a:t>
            </a: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أكبر منها في </a:t>
            </a: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‎NaCl‎</a:t>
            </a: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لذا درجاتها أعلى).</a:t>
            </a:r>
            <a:endParaRPr lang="ar-KW" sz="17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6_34"/>
          <p:cNvSpPr txBox="1"/>
          <p:nvPr/>
        </p:nvSpPr>
        <p:spPr>
          <a:xfrm>
            <a:off x="2023818" y="381000"/>
            <a:ext cx="12202432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‏لغز التوصيل الكهربائي: ديناميكية الأيونات</a:t>
            </a:r>
            <a:endParaRPr lang="ar-KW" sz="4400" dirty="0"/>
          </a:p>
        </p:txBody>
      </p:sp>
      <p:sp>
        <p:nvSpPr>
          <p:cNvPr id="5" name="anim_6_35"/>
          <p:cNvSpPr txBox="1"/>
          <p:nvPr/>
        </p:nvSpPr>
        <p:spPr>
          <a:xfrm>
            <a:off x="9892898" y="6727031"/>
            <a:ext cx="5107164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‏الحالة الصلبة: الأيونات مقيدة في الشبكة البلورية = لا توصل التيار.</a:t>
            </a:r>
            <a:endParaRPr lang="ar-KW" sz="2400" dirty="0"/>
          </a:p>
        </p:txBody>
      </p:sp>
      <p:sp>
        <p:nvSpPr>
          <p:cNvPr id="6" name="anim_6_36"/>
          <p:cNvSpPr txBox="1"/>
          <p:nvPr/>
        </p:nvSpPr>
        <p:spPr>
          <a:xfrm>
            <a:off x="1345244" y="6667500"/>
            <a:ext cx="5285736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‏حالة المصهور / المحلول: تتفكك الشبكة وتصبح الأيونات حرة الحركة = توصل التيار الكهربائي.</a:t>
            </a:r>
            <a:endParaRPr lang="ar-KW" sz="19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7_37"/>
          <p:cNvSpPr txBox="1"/>
          <p:nvPr/>
        </p:nvSpPr>
        <p:spPr>
          <a:xfrm>
            <a:off x="2261914" y="857250"/>
            <a:ext cx="1172623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‏إضاءات: شفرة الحياة في كلوريد الصوديوم (</a:t>
            </a:r>
            <a:r>
              <a:rPr lang="ar-KW" alt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‎NaCl‎</a:t>
            </a:r>
            <a:r>
              <a:rPr lang="ar-KW" alt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3600" dirty="0"/>
          </a:p>
        </p:txBody>
      </p:sp>
      <p:sp>
        <p:nvSpPr>
          <p:cNvPr id="5" name="anim_7_38"/>
          <p:cNvSpPr txBox="1"/>
          <p:nvPr/>
        </p:nvSpPr>
        <p:spPr>
          <a:xfrm>
            <a:off x="1583340" y="2524125"/>
            <a:ext cx="4880973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‏ليس مجرد ملح طعام:</a:t>
            </a:r>
            <a:endParaRPr lang="ar-KW" sz="220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‏يتفكك كلياً في الماء إلى أيوناته المكونة له.</a:t>
            </a:r>
            <a:endParaRPr lang="ar-KW" sz="2200" dirty="0"/>
          </a:p>
        </p:txBody>
      </p:sp>
      <p:sp>
        <p:nvSpPr>
          <p:cNvPr id="6" name="anim_7_39"/>
          <p:cNvSpPr txBox="1"/>
          <p:nvPr/>
        </p:nvSpPr>
        <p:spPr>
          <a:xfrm>
            <a:off x="1583340" y="4429125"/>
            <a:ext cx="4880973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‏توازن السوائل:</a:t>
            </a:r>
            <a:endParaRPr lang="ar-KW" sz="220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‏يُسهم في الحفاظ على الضغط الأسموزي وتوازن السوائل.</a:t>
            </a:r>
            <a:endParaRPr lang="ar-KW" sz="2200" dirty="0"/>
          </a:p>
        </p:txBody>
      </p:sp>
      <p:sp>
        <p:nvSpPr>
          <p:cNvPr id="7" name="anim_7_40"/>
          <p:cNvSpPr txBox="1"/>
          <p:nvPr/>
        </p:nvSpPr>
        <p:spPr>
          <a:xfrm>
            <a:off x="1583340" y="6334125"/>
            <a:ext cx="4880973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‏شبكة الاتصالات العصبية:</a:t>
            </a:r>
            <a:endParaRPr lang="ar-KW" sz="180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‏يُسهم في انتقال الإشارات عبر أغشية الخلايا العصبية بواسطة مضخة الصوديوم والبوتاسيوم.</a:t>
            </a:r>
            <a:endParaRPr lang="ar-KW" sz="18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8_41"/>
          <p:cNvSpPr txBox="1"/>
          <p:nvPr/>
        </p:nvSpPr>
        <p:spPr>
          <a:xfrm>
            <a:off x="3035727" y="500063"/>
            <a:ext cx="1017861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‏تحدي المختبر (1): هندسة المركبات الأيونية</a:t>
            </a:r>
            <a:endParaRPr lang="ar-KW" sz="3800" dirty="0"/>
          </a:p>
        </p:txBody>
      </p:sp>
      <p:sp>
        <p:nvSpPr>
          <p:cNvPr id="5" name="anim_8_42"/>
          <p:cNvSpPr txBox="1"/>
          <p:nvPr/>
        </p:nvSpPr>
        <p:spPr>
          <a:xfrm>
            <a:off x="3511919" y="1309688"/>
            <a:ext cx="916670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‏المهمة: بناء أكبر عدد من الصيغ من العناصر (</a:t>
            </a:r>
            <a:r>
              <a:rPr lang="ar-KW" altLang="en-US" sz="2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‎Na, Mg, F, Cl‎</a:t>
            </a:r>
            <a:r>
              <a:rPr lang="ar-KW" altLang="en-US" sz="2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350" dirty="0"/>
          </a:p>
        </p:txBody>
      </p:sp>
      <p:sp>
        <p:nvSpPr>
          <p:cNvPr id="6" name="anim_8_43"/>
          <p:cNvSpPr txBox="1"/>
          <p:nvPr/>
        </p:nvSpPr>
        <p:spPr>
          <a:xfrm>
            <a:off x="9702422" y="3952875"/>
            <a:ext cx="505954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‏ارتباط المغنيسيوم 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‎Mg</a:t>
            </a:r>
            <a:r>
              <a:rPr lang="ar-KW" altLang="en-US" sz="17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2+‎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مع الهالوجينات 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‎F</a:t>
            </a:r>
            <a:r>
              <a:rPr lang="ar-KW" altLang="en-US" sz="17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−‎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‎Cl</a:t>
            </a:r>
            <a:r>
              <a:rPr lang="ar-KW" altLang="en-US" sz="17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−‎</a:t>
            </a:r>
            <a:endParaRPr lang="ar-KW" sz="1700" dirty="0"/>
          </a:p>
        </p:txBody>
      </p:sp>
      <p:sp>
        <p:nvSpPr>
          <p:cNvPr id="7" name="anim_8_44"/>
          <p:cNvSpPr txBox="1"/>
          <p:nvPr/>
        </p:nvSpPr>
        <p:spPr>
          <a:xfrm>
            <a:off x="1607150" y="3952875"/>
            <a:ext cx="50000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‏ارتباط الصوديوم 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</a:t>
            </a:r>
            <a:r>
              <a:rPr lang="ar-KW" altLang="en-US" sz="17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+‎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مع الهالوجينات 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‎F</a:t>
            </a:r>
            <a:r>
              <a:rPr lang="ar-KW" altLang="en-US" sz="17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−‎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‎Cl</a:t>
            </a:r>
            <a:r>
              <a:rPr lang="ar-KW" altLang="en-US" sz="17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−‎</a:t>
            </a:r>
            <a:endParaRPr lang="ar-KW" sz="1700" dirty="0"/>
          </a:p>
        </p:txBody>
      </p:sp>
      <p:sp>
        <p:nvSpPr>
          <p:cNvPr id="8" name="anim_8_45"/>
          <p:cNvSpPr txBox="1"/>
          <p:nvPr/>
        </p:nvSpPr>
        <p:spPr>
          <a:xfrm>
            <a:off x="4940497" y="7953375"/>
            <a:ext cx="642859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‏تذكّر: يحتاج </a:t>
            </a: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‎Mg</a:t>
            </a:r>
            <a:r>
              <a:rPr lang="ar-KW" altLang="en-US" sz="21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2+‎</a:t>
            </a: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إلى أيونين من الهالوجين لتتساوى الشحنات، فيظهر الرقم 2 في الصيغة.</a:t>
            </a:r>
            <a:endParaRPr lang="ar-KW" sz="21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9_46"/>
          <p:cNvSpPr txBox="1"/>
          <p:nvPr/>
        </p:nvSpPr>
        <p:spPr>
          <a:xfrm>
            <a:off x="1726198" y="785813"/>
            <a:ext cx="12797673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‏طيف السالبية الكهربائية: ترتيب الخاصية الأيونية</a:t>
            </a:r>
            <a:endParaRPr lang="ar-KW" sz="3900" dirty="0"/>
          </a:p>
        </p:txBody>
      </p:sp>
      <p:sp>
        <p:nvSpPr>
          <p:cNvPr id="5" name="anim_9_47"/>
          <p:cNvSpPr txBox="1"/>
          <p:nvPr/>
        </p:nvSpPr>
        <p:spPr>
          <a:xfrm>
            <a:off x="1226196" y="3119438"/>
            <a:ext cx="314287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1750" b="1" dirty="0">
                <a:solidFill>
                  <a:srgbClr val="2A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 (3.0) − Mg (1.2) = 1.8</a:t>
            </a:r>
            <a:endParaRPr lang="en-US" sz="1750" dirty="0"/>
          </a:p>
        </p:txBody>
      </p:sp>
      <p:sp>
        <p:nvSpPr>
          <p:cNvPr id="6" name="anim_9_48"/>
          <p:cNvSpPr txBox="1"/>
          <p:nvPr/>
        </p:nvSpPr>
        <p:spPr>
          <a:xfrm>
            <a:off x="5000021" y="3119438"/>
            <a:ext cx="309525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1750" b="1" dirty="0">
                <a:solidFill>
                  <a:srgbClr val="2A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 (3.0) − Na (0.9) = 2.1</a:t>
            </a:r>
            <a:endParaRPr lang="en-US" sz="1750" dirty="0"/>
          </a:p>
        </p:txBody>
      </p:sp>
      <p:sp>
        <p:nvSpPr>
          <p:cNvPr id="7" name="anim_9_49"/>
          <p:cNvSpPr txBox="1"/>
          <p:nvPr/>
        </p:nvSpPr>
        <p:spPr>
          <a:xfrm>
            <a:off x="8607179" y="3119438"/>
            <a:ext cx="305953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1750" b="1" dirty="0">
                <a:solidFill>
                  <a:srgbClr val="7A1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(4.0) − Mg (1.2) = 2.8</a:t>
            </a:r>
            <a:endParaRPr lang="en-US" sz="1750" dirty="0"/>
          </a:p>
        </p:txBody>
      </p:sp>
      <p:sp>
        <p:nvSpPr>
          <p:cNvPr id="8" name="anim_9_50"/>
          <p:cNvSpPr txBox="1"/>
          <p:nvPr/>
        </p:nvSpPr>
        <p:spPr>
          <a:xfrm>
            <a:off x="12202432" y="3119438"/>
            <a:ext cx="309525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7A1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(4.0) − Na (0.9) = 3.1</a:t>
            </a:r>
            <a:endParaRPr lang="en-US" sz="1800" dirty="0"/>
          </a:p>
        </p:txBody>
      </p:sp>
      <p:sp>
        <p:nvSpPr>
          <p:cNvPr id="9" name="anim_9_51"/>
          <p:cNvSpPr txBox="1"/>
          <p:nvPr/>
        </p:nvSpPr>
        <p:spPr>
          <a:xfrm>
            <a:off x="892861" y="6929438"/>
            <a:ext cx="3095251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‏(خاصية أيونية أقل)</a:t>
            </a:r>
            <a:endParaRPr lang="ar-KW" sz="2500" dirty="0"/>
          </a:p>
        </p:txBody>
      </p:sp>
      <p:sp>
        <p:nvSpPr>
          <p:cNvPr id="10" name="anim_9_52"/>
          <p:cNvSpPr txBox="1"/>
          <p:nvPr/>
        </p:nvSpPr>
        <p:spPr>
          <a:xfrm>
            <a:off x="12083384" y="6929438"/>
            <a:ext cx="3392871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‏(خاصية أيونية أعلى)</a:t>
            </a:r>
            <a:endParaRPr lang="ar-KW" sz="2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0_53"/>
          <p:cNvSpPr txBox="1"/>
          <p:nvPr/>
        </p:nvSpPr>
        <p:spPr>
          <a:xfrm>
            <a:off x="3809540" y="381000"/>
            <a:ext cx="86905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000" b="1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‏فك الشفرة: مصطلحات وتطبيقات</a:t>
            </a:r>
            <a:endParaRPr lang="ar-KW" sz="4000" dirty="0"/>
          </a:p>
        </p:txBody>
      </p:sp>
      <p:sp>
        <p:nvSpPr>
          <p:cNvPr id="5" name="anim_10_54"/>
          <p:cNvSpPr txBox="1"/>
          <p:nvPr/>
        </p:nvSpPr>
        <p:spPr>
          <a:xfrm>
            <a:off x="11250047" y="1619250"/>
            <a:ext cx="345239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‏تطابق المصطلحات</a:t>
            </a:r>
            <a:endParaRPr lang="ar-KW" sz="2800" dirty="0"/>
          </a:p>
        </p:txBody>
      </p:sp>
      <p:sp>
        <p:nvSpPr>
          <p:cNvPr id="6" name="anim_10_55"/>
          <p:cNvSpPr txBox="1"/>
          <p:nvPr/>
        </p:nvSpPr>
        <p:spPr>
          <a:xfrm>
            <a:off x="2023818" y="2595563"/>
            <a:ext cx="75595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‏قوة التجاذب الكهروستاتيكي التي تربط الأيونات مختلفة الشحنة</a:t>
            </a:r>
            <a:endParaRPr lang="ar-KW" sz="1850" dirty="0"/>
          </a:p>
        </p:txBody>
      </p:sp>
      <p:sp>
        <p:nvSpPr>
          <p:cNvPr id="7" name="anim_10_56"/>
          <p:cNvSpPr txBox="1"/>
          <p:nvPr/>
        </p:nvSpPr>
        <p:spPr>
          <a:xfrm>
            <a:off x="10916712" y="2476500"/>
            <a:ext cx="342858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‏الرابطة الأيونية</a:t>
            </a:r>
            <a:endParaRPr lang="ar-KW" sz="3500" dirty="0"/>
          </a:p>
        </p:txBody>
      </p:sp>
      <p:sp>
        <p:nvSpPr>
          <p:cNvPr id="8" name="anim_10_57"/>
          <p:cNvSpPr txBox="1"/>
          <p:nvPr/>
        </p:nvSpPr>
        <p:spPr>
          <a:xfrm>
            <a:off x="2023818" y="3667125"/>
            <a:ext cx="75595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‏مصفوفات ثلاثية الأبعاد ممتدة من الكاتيونات والأنيونات</a:t>
            </a:r>
            <a:endParaRPr lang="ar-KW" sz="2150" dirty="0"/>
          </a:p>
        </p:txBody>
      </p:sp>
      <p:sp>
        <p:nvSpPr>
          <p:cNvPr id="9" name="anim_10_58"/>
          <p:cNvSpPr txBox="1"/>
          <p:nvPr/>
        </p:nvSpPr>
        <p:spPr>
          <a:xfrm>
            <a:off x="10916712" y="3548063"/>
            <a:ext cx="342858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‏الشبكة البلورية</a:t>
            </a:r>
            <a:endParaRPr lang="ar-KW" sz="3500" dirty="0"/>
          </a:p>
        </p:txBody>
      </p:sp>
      <p:sp>
        <p:nvSpPr>
          <p:cNvPr id="10" name="anim_10_59"/>
          <p:cNvSpPr txBox="1"/>
          <p:nvPr/>
        </p:nvSpPr>
        <p:spPr>
          <a:xfrm>
            <a:off x="10833379" y="5024438"/>
            <a:ext cx="3869064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7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‏التحليل الآلي للخيارات</a:t>
            </a:r>
            <a:endParaRPr lang="ar-KW" sz="2700" dirty="0"/>
          </a:p>
        </p:txBody>
      </p:sp>
      <p:sp>
        <p:nvSpPr>
          <p:cNvPr id="11" name="anim_10_60"/>
          <p:cNvSpPr txBox="1"/>
          <p:nvPr/>
        </p:nvSpPr>
        <p:spPr>
          <a:xfrm>
            <a:off x="8273844" y="5893594"/>
            <a:ext cx="625002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‏1. ارتباط المغنيسيوم (</a:t>
            </a: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‎Mg‎</a:t>
            </a: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مع النيتروجين (</a:t>
            </a: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‎N‎</a:t>
            </a: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ينتج:</a:t>
            </a:r>
            <a:endParaRPr lang="ar-KW" sz="1850" dirty="0"/>
          </a:p>
        </p:txBody>
      </p:sp>
      <p:sp>
        <p:nvSpPr>
          <p:cNvPr id="12" name="anim_10_61"/>
          <p:cNvSpPr txBox="1"/>
          <p:nvPr/>
        </p:nvSpPr>
        <p:spPr>
          <a:xfrm>
            <a:off x="9464325" y="6619875"/>
            <a:ext cx="273810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</a:t>
            </a:r>
            <a:r>
              <a:rPr lang="en-US" altLang="en-US" sz="40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alt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altLang="en-US" sz="40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anim_10_62"/>
          <p:cNvSpPr txBox="1"/>
          <p:nvPr/>
        </p:nvSpPr>
        <p:spPr>
          <a:xfrm>
            <a:off x="7916700" y="7453312"/>
            <a:ext cx="535716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‏(شحنة 3 أيونات 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‎Mg</a:t>
            </a:r>
            <a:r>
              <a:rPr lang="ar-KW" altLang="en-US" sz="17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2+‎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تعادل شحنة أيونَي 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</a:t>
            </a:r>
            <a:r>
              <a:rPr lang="ar-KW" altLang="en-US" sz="17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3−‎</a:t>
            </a: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1700" dirty="0"/>
          </a:p>
        </p:txBody>
      </p:sp>
      <p:sp>
        <p:nvSpPr>
          <p:cNvPr id="14" name="anim_10_63"/>
          <p:cNvSpPr txBox="1"/>
          <p:nvPr/>
        </p:nvSpPr>
        <p:spPr>
          <a:xfrm>
            <a:off x="1726198" y="5893594"/>
            <a:ext cx="642859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‏2. المركب ذو الخاصية الأيونية الأكبر:</a:t>
            </a:r>
            <a:endParaRPr lang="ar-KW" sz="2650" dirty="0"/>
          </a:p>
        </p:txBody>
      </p:sp>
      <p:sp>
        <p:nvSpPr>
          <p:cNvPr id="15" name="anim_10_64"/>
          <p:cNvSpPr txBox="1"/>
          <p:nvPr/>
        </p:nvSpPr>
        <p:spPr>
          <a:xfrm>
            <a:off x="2821440" y="6619875"/>
            <a:ext cx="276191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</a:t>
            </a:r>
            <a:endParaRPr lang="en-US" sz="4000" dirty="0"/>
          </a:p>
        </p:txBody>
      </p:sp>
      <p:sp>
        <p:nvSpPr>
          <p:cNvPr id="16" name="anim_10_65"/>
          <p:cNvSpPr txBox="1"/>
          <p:nvPr/>
        </p:nvSpPr>
        <p:spPr>
          <a:xfrm>
            <a:off x="2321438" y="7453312"/>
            <a:ext cx="4166684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‏(فرق السالبية بين الفلور والليثيوم 3.0 وهو الأكبر)</a:t>
            </a:r>
            <a:endParaRPr lang="ar-KW" sz="14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1_66"/>
          <p:cNvSpPr txBox="1"/>
          <p:nvPr/>
        </p:nvSpPr>
        <p:spPr>
          <a:xfrm>
            <a:off x="2440486" y="738188"/>
            <a:ext cx="1136909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000" b="1" dirty="0">
                <a:solidFill>
                  <a:srgbClr val="1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‏التصميم الهندسي للمركب: فلوريد البوتاسيوم</a:t>
            </a:r>
            <a:endParaRPr lang="ar-KW" sz="4000" dirty="0"/>
          </a:p>
        </p:txBody>
      </p:sp>
      <p:sp>
        <p:nvSpPr>
          <p:cNvPr id="5" name="anim_11_67"/>
          <p:cNvSpPr txBox="1"/>
          <p:nvPr/>
        </p:nvSpPr>
        <p:spPr>
          <a:xfrm>
            <a:off x="8690513" y="6572250"/>
            <a:ext cx="2226200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‏النتيجة الأيونية:</a:t>
            </a:r>
            <a:endParaRPr lang="ar-KW" sz="2250" dirty="0"/>
          </a:p>
        </p:txBody>
      </p:sp>
      <p:sp>
        <p:nvSpPr>
          <p:cNvPr id="6" name="anim_11_68"/>
          <p:cNvSpPr txBox="1"/>
          <p:nvPr/>
        </p:nvSpPr>
        <p:spPr>
          <a:xfrm>
            <a:off x="4761925" y="6977063"/>
            <a:ext cx="6154788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3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‏يتكون الكاتيون </a:t>
            </a:r>
            <a:r>
              <a:rPr lang="ar-KW" altLang="en-US" sz="3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‎K</a:t>
            </a:r>
            <a:r>
              <a:rPr lang="ar-KW" altLang="en-US" sz="305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+‎</a:t>
            </a:r>
            <a:r>
              <a:rPr lang="ar-KW" altLang="en-US" sz="3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والأنيون </a:t>
            </a:r>
            <a:r>
              <a:rPr lang="ar-KW" altLang="en-US" sz="3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‎F</a:t>
            </a:r>
            <a:r>
              <a:rPr lang="ar-KW" altLang="en-US" sz="305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−‎</a:t>
            </a:r>
            <a:endParaRPr lang="ar-KW" sz="3050" dirty="0"/>
          </a:p>
        </p:txBody>
      </p:sp>
      <p:sp>
        <p:nvSpPr>
          <p:cNvPr id="7" name="anim_11_69"/>
          <p:cNvSpPr txBox="1"/>
          <p:nvPr/>
        </p:nvSpPr>
        <p:spPr>
          <a:xfrm>
            <a:off x="8690513" y="7715250"/>
            <a:ext cx="22262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‏الهوية الكيميائية:</a:t>
            </a:r>
            <a:endParaRPr lang="ar-KW" sz="2000" dirty="0"/>
          </a:p>
        </p:txBody>
      </p:sp>
      <p:sp>
        <p:nvSpPr>
          <p:cNvPr id="8" name="anim_11_70"/>
          <p:cNvSpPr txBox="1"/>
          <p:nvPr/>
        </p:nvSpPr>
        <p:spPr>
          <a:xfrm>
            <a:off x="5178593" y="8048625"/>
            <a:ext cx="57381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‏اسم المركب: فلوريد البوتاسيوم | الصيغة: </a:t>
            </a:r>
            <a:r>
              <a:rPr lang="ar-KW" alt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‎KF‎</a:t>
            </a:r>
            <a:endParaRPr lang="ar-KW" sz="195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2_71"/>
          <p:cNvSpPr txBox="1"/>
          <p:nvPr/>
        </p:nvSpPr>
        <p:spPr>
          <a:xfrm>
            <a:off x="3869064" y="500063"/>
            <a:ext cx="8571464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050" b="1" dirty="0">
                <a:solidFill>
                  <a:srgbClr val="1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‏التقرير النهائي: تحليل خواص </a:t>
            </a:r>
            <a:r>
              <a:rPr lang="ar-KW" altLang="en-US" sz="4050" b="1" dirty="0">
                <a:solidFill>
                  <a:srgbClr val="1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‎KF‎</a:t>
            </a:r>
            <a:endParaRPr lang="ar-KW" sz="4050" dirty="0"/>
          </a:p>
        </p:txBody>
      </p:sp>
      <p:sp>
        <p:nvSpPr>
          <p:cNvPr id="5" name="anim_12_72"/>
          <p:cNvSpPr txBox="1"/>
          <p:nvPr/>
        </p:nvSpPr>
        <p:spPr>
          <a:xfrm>
            <a:off x="10392901" y="3000375"/>
            <a:ext cx="3380967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‏التفسير العلمي الشامل:</a:t>
            </a:r>
            <a:endParaRPr lang="ar-KW" sz="2150" dirty="0"/>
          </a:p>
        </p:txBody>
      </p:sp>
      <p:sp>
        <p:nvSpPr>
          <p:cNvPr id="6" name="anim_12_73"/>
          <p:cNvSpPr txBox="1"/>
          <p:nvPr/>
        </p:nvSpPr>
        <p:spPr>
          <a:xfrm>
            <a:off x="8535750" y="3714750"/>
            <a:ext cx="5238117" cy="271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‏المركب صلب بسبب قوة التجاذب الكبيرة بين الأيونات في الشبكة البلورية، لذا يحتاج إلى حرارة عالية لكسرها. وعندما ينصهر تتفكك الشبكة وتصبح أيونات 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‎K</a:t>
            </a:r>
            <a:r>
              <a:rPr lang="ar-KW" altLang="en-US" sz="23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+‎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‎F</a:t>
            </a:r>
            <a:r>
              <a:rPr lang="ar-KW" altLang="en-US" sz="23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−‎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حرة الحركة، فيوصل التيار الكهربائي.</a:t>
            </a:r>
            <a:endParaRPr lang="ar-KW" sz="2300" dirty="0"/>
          </a:p>
        </p:txBody>
      </p:sp>
      <p:sp>
        <p:nvSpPr>
          <p:cNvPr id="7" name="anim_12_74"/>
          <p:cNvSpPr txBox="1"/>
          <p:nvPr/>
        </p:nvSpPr>
        <p:spPr>
          <a:xfrm>
            <a:off x="4166684" y="5453063"/>
            <a:ext cx="34166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‏درجة الانصهار / الغليان:</a:t>
            </a:r>
            <a:endParaRPr lang="ar-KW" sz="2200" dirty="0"/>
          </a:p>
        </p:txBody>
      </p:sp>
      <p:sp>
        <p:nvSpPr>
          <p:cNvPr id="8" name="anim_12_75"/>
          <p:cNvSpPr txBox="1"/>
          <p:nvPr/>
        </p:nvSpPr>
        <p:spPr>
          <a:xfrm>
            <a:off x="4166684" y="5881688"/>
            <a:ext cx="3416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‏مرتفعة.</a:t>
            </a:r>
            <a:endParaRPr lang="ar-KW" sz="1850" dirty="0"/>
          </a:p>
        </p:txBody>
      </p:sp>
      <p:sp>
        <p:nvSpPr>
          <p:cNvPr id="9" name="anim_12_76"/>
          <p:cNvSpPr txBox="1"/>
          <p:nvPr/>
        </p:nvSpPr>
        <p:spPr>
          <a:xfrm>
            <a:off x="4166684" y="6405563"/>
            <a:ext cx="34166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‏التوصيل الكهربائي (مصهور):</a:t>
            </a:r>
            <a:endParaRPr lang="ar-KW" sz="1800" dirty="0"/>
          </a:p>
        </p:txBody>
      </p:sp>
      <p:sp>
        <p:nvSpPr>
          <p:cNvPr id="10" name="anim_12_77"/>
          <p:cNvSpPr txBox="1"/>
          <p:nvPr/>
        </p:nvSpPr>
        <p:spPr>
          <a:xfrm>
            <a:off x="4166684" y="6834188"/>
            <a:ext cx="34166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‏نعم، يوصل التيار.</a:t>
            </a:r>
            <a:endParaRPr lang="ar-KW" sz="24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3_78"/>
          <p:cNvSpPr txBox="1"/>
          <p:nvPr/>
        </p:nvSpPr>
        <p:spPr>
          <a:xfrm>
            <a:off x="3154775" y="4429125"/>
            <a:ext cx="1000004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6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‏اكتملت المهمة بنجاح</a:t>
            </a:r>
            <a:endParaRPr lang="ar-KW" sz="6450" dirty="0"/>
          </a:p>
        </p:txBody>
      </p:sp>
      <p:sp>
        <p:nvSpPr>
          <p:cNvPr id="5" name="anim_13_79"/>
          <p:cNvSpPr txBox="1"/>
          <p:nvPr/>
        </p:nvSpPr>
        <p:spPr>
          <a:xfrm>
            <a:off x="3845254" y="5929313"/>
            <a:ext cx="857146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‏لقد تم فك شفرة المركبات الأيونية: من مراقبة التجربة بالعين المجردة.. إلى فهم أدق تفاصيل الشبكة البلورية. أنتم الآن خبراء في هندسة الروابط الأيونية.</a:t>
            </a:r>
            <a:endParaRPr lang="ar-KW" sz="17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خواص المركبات الأيونية</dc:title>
  <dc:subject>PptxGenJS Presentation</dc:subject>
  <dc:creator>PptxGenJS</dc:creator>
  <cp:lastModifiedBy>PptxGenJS</cp:lastModifiedBy>
  <cp:revision>1</cp:revision>
  <dcterms:created xsi:type="dcterms:W3CDTF">2026-10-26T19:37:04Z</dcterms:created>
  <dcterms:modified xsi:type="dcterms:W3CDTF">2026-10-26T19:37:04Z</dcterms:modified>
</cp:coreProperties>
</file>