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_1"/>
          <p:cNvSpPr txBox="1"/>
          <p:nvPr/>
        </p:nvSpPr>
        <p:spPr>
          <a:xfrm>
            <a:off x="3511919" y="6488906"/>
            <a:ext cx="9226229" cy="952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5800" b="1" dirty="0">
                <a:ln w="19050">
                  <a:solidFill>
                    <a:srgbClr val="2A8FA6"/>
                  </a:solidFill>
                </a:ln>
                <a:solidFill>
                  <a:srgbClr val="FFFFFF"/>
                </a:solidFill>
                <a:effectLst>
                  <a:glow rad="101600">
                    <a:srgbClr val="0E5A6E">
                      <a:alpha val="6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‏خواص المركبات الأيونية</a:t>
            </a:r>
            <a:endParaRPr lang="ar-KW" sz="5800" dirty="0"/>
          </a:p>
        </p:txBody>
      </p:sp>
      <p:sp>
        <p:nvSpPr>
          <p:cNvPr id="5" name="anim_1_2"/>
          <p:cNvSpPr txBox="1"/>
          <p:nvPr/>
        </p:nvSpPr>
        <p:spPr>
          <a:xfrm>
            <a:off x="4404780" y="7905750"/>
            <a:ext cx="755955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‏رحلة استكشافية في مدينة البلورات والجاذبية الأيونية</a:t>
            </a:r>
            <a:endParaRPr lang="ar-KW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2_3"/>
          <p:cNvSpPr txBox="1"/>
          <p:nvPr/>
        </p:nvSpPr>
        <p:spPr>
          <a:xfrm>
            <a:off x="5178593" y="833438"/>
            <a:ext cx="589288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2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‏المهمة الأولى: كشف الهوية</a:t>
            </a:r>
            <a:endParaRPr lang="ar-KW" sz="3250" dirty="0"/>
          </a:p>
        </p:txBody>
      </p:sp>
      <p:sp>
        <p:nvSpPr>
          <p:cNvPr id="5" name="anim_2_4"/>
          <p:cNvSpPr txBox="1"/>
          <p:nvPr/>
        </p:nvSpPr>
        <p:spPr>
          <a:xfrm>
            <a:off x="3452395" y="1500188"/>
            <a:ext cx="9523849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‏لدينا عينتان غامضتان... أيهما مركب أيوني؟</a:t>
            </a:r>
            <a:endParaRPr lang="ar-KW" sz="18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‏لإثبات ذلك نُجري 3 اختبارات: الحالة الفيزيائية، والذوبان في الماء، والتوصيل الكهربائي.</a:t>
            </a:r>
            <a:endParaRPr lang="ar-KW" sz="1800" dirty="0"/>
          </a:p>
        </p:txBody>
      </p:sp>
      <p:sp>
        <p:nvSpPr>
          <p:cNvPr id="6" name="anim_2_5"/>
          <p:cNvSpPr txBox="1"/>
          <p:nvPr/>
        </p:nvSpPr>
        <p:spPr>
          <a:xfrm>
            <a:off x="4440495" y="3571875"/>
            <a:ext cx="19881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5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‎B‎</a:t>
            </a:r>
            <a:endParaRPr lang="ar-KW" sz="3450" dirty="0"/>
          </a:p>
        </p:txBody>
      </p:sp>
      <p:sp>
        <p:nvSpPr>
          <p:cNvPr id="7" name="anim_2_6"/>
          <p:cNvSpPr txBox="1"/>
          <p:nvPr/>
        </p:nvSpPr>
        <p:spPr>
          <a:xfrm>
            <a:off x="9845279" y="3571875"/>
            <a:ext cx="205953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‎A‎</a:t>
            </a:r>
            <a:endParaRPr lang="ar-KW" sz="34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3_7"/>
          <p:cNvSpPr txBox="1"/>
          <p:nvPr/>
        </p:nvSpPr>
        <p:spPr>
          <a:xfrm>
            <a:off x="10238138" y="714375"/>
            <a:ext cx="255953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‏التوصيل الكهربائي</a:t>
            </a:r>
            <a:endParaRPr lang="ar-KW" sz="2150" dirty="0"/>
          </a:p>
        </p:txBody>
      </p:sp>
      <p:sp>
        <p:nvSpPr>
          <p:cNvPr id="5" name="anim_3_8"/>
          <p:cNvSpPr txBox="1"/>
          <p:nvPr/>
        </p:nvSpPr>
        <p:spPr>
          <a:xfrm>
            <a:off x="7416698" y="714375"/>
            <a:ext cx="258334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‏الذوبان في الماء</a:t>
            </a:r>
            <a:endParaRPr lang="ar-KW" sz="2400" dirty="0"/>
          </a:p>
        </p:txBody>
      </p:sp>
      <p:sp>
        <p:nvSpPr>
          <p:cNvPr id="6" name="anim_3_9"/>
          <p:cNvSpPr txBox="1"/>
          <p:nvPr/>
        </p:nvSpPr>
        <p:spPr>
          <a:xfrm>
            <a:off x="4607162" y="714375"/>
            <a:ext cx="2571439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 الفيزيائية</a:t>
            </a:r>
            <a:endParaRPr lang="ar-KW" sz="2500" dirty="0"/>
          </a:p>
        </p:txBody>
      </p:sp>
      <p:sp>
        <p:nvSpPr>
          <p:cNvPr id="7" name="anim_3_10"/>
          <p:cNvSpPr txBox="1"/>
          <p:nvPr/>
        </p:nvSpPr>
        <p:spPr>
          <a:xfrm>
            <a:off x="2583344" y="3524250"/>
            <a:ext cx="1940484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‎A‎</a:t>
            </a:r>
            <a:endParaRPr lang="ar-KW" sz="3850" dirty="0"/>
          </a:p>
        </p:txBody>
      </p:sp>
      <p:sp>
        <p:nvSpPr>
          <p:cNvPr id="8" name="anim_3_11"/>
          <p:cNvSpPr txBox="1"/>
          <p:nvPr/>
        </p:nvSpPr>
        <p:spPr>
          <a:xfrm>
            <a:off x="4642877" y="3524250"/>
            <a:ext cx="2583344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6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‏صلبة</a:t>
            </a:r>
            <a:endParaRPr lang="ar-KW" sz="4650" dirty="0"/>
          </a:p>
        </p:txBody>
      </p:sp>
      <p:sp>
        <p:nvSpPr>
          <p:cNvPr id="9" name="anim_3_12"/>
          <p:cNvSpPr txBox="1"/>
          <p:nvPr/>
        </p:nvSpPr>
        <p:spPr>
          <a:xfrm>
            <a:off x="7380983" y="3524250"/>
            <a:ext cx="2678583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6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‏تذوب</a:t>
            </a:r>
            <a:endParaRPr lang="ar-KW" sz="4650" dirty="0"/>
          </a:p>
        </p:txBody>
      </p:sp>
      <p:sp>
        <p:nvSpPr>
          <p:cNvPr id="10" name="anim_3_13"/>
          <p:cNvSpPr txBox="1"/>
          <p:nvPr/>
        </p:nvSpPr>
        <p:spPr>
          <a:xfrm>
            <a:off x="10178614" y="3524250"/>
            <a:ext cx="2595249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6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‏توصل</a:t>
            </a:r>
            <a:endParaRPr lang="ar-KW" sz="4650" dirty="0"/>
          </a:p>
        </p:txBody>
      </p:sp>
      <p:sp>
        <p:nvSpPr>
          <p:cNvPr id="11" name="anim_3_14"/>
          <p:cNvSpPr txBox="1"/>
          <p:nvPr/>
        </p:nvSpPr>
        <p:spPr>
          <a:xfrm>
            <a:off x="2583344" y="4762500"/>
            <a:ext cx="194048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‏العينة ‎B‎</a:t>
            </a:r>
            <a:endParaRPr lang="ar-KW" sz="3850" dirty="0"/>
          </a:p>
        </p:txBody>
      </p:sp>
      <p:sp>
        <p:nvSpPr>
          <p:cNvPr id="12" name="anim_3_15"/>
          <p:cNvSpPr txBox="1"/>
          <p:nvPr/>
        </p:nvSpPr>
        <p:spPr>
          <a:xfrm>
            <a:off x="4642877" y="4762500"/>
            <a:ext cx="25357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8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‏متنوعة</a:t>
            </a:r>
            <a:endParaRPr lang="ar-KW" sz="4800" dirty="0"/>
          </a:p>
        </p:txBody>
      </p:sp>
      <p:sp>
        <p:nvSpPr>
          <p:cNvPr id="13" name="anim_3_16"/>
          <p:cNvSpPr txBox="1"/>
          <p:nvPr/>
        </p:nvSpPr>
        <p:spPr>
          <a:xfrm>
            <a:off x="7416698" y="4762500"/>
            <a:ext cx="25833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تذوب غالباً</a:t>
            </a:r>
            <a:endParaRPr lang="ar-KW" sz="3150" dirty="0"/>
          </a:p>
        </p:txBody>
      </p:sp>
      <p:sp>
        <p:nvSpPr>
          <p:cNvPr id="14" name="anim_3_17"/>
          <p:cNvSpPr txBox="1"/>
          <p:nvPr/>
        </p:nvSpPr>
        <p:spPr>
          <a:xfrm>
            <a:off x="10202424" y="4762500"/>
            <a:ext cx="259524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8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توصل</a:t>
            </a:r>
            <a:endParaRPr lang="ar-KW" sz="4800" dirty="0"/>
          </a:p>
        </p:txBody>
      </p:sp>
      <p:sp>
        <p:nvSpPr>
          <p:cNvPr id="15" name="anim_3_18"/>
          <p:cNvSpPr txBox="1"/>
          <p:nvPr/>
        </p:nvSpPr>
        <p:spPr>
          <a:xfrm>
            <a:off x="4464304" y="6119813"/>
            <a:ext cx="738098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‏الاستنتاج:</a:t>
            </a:r>
            <a:endParaRPr lang="ar-KW" sz="2800" dirty="0"/>
          </a:p>
        </p:txBody>
      </p:sp>
      <p:sp>
        <p:nvSpPr>
          <p:cNvPr id="16" name="anim_3_19"/>
          <p:cNvSpPr txBox="1"/>
          <p:nvPr/>
        </p:nvSpPr>
        <p:spPr>
          <a:xfrm>
            <a:off x="4440495" y="6643688"/>
            <a:ext cx="7428602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‏المركب الأيوني يوجد في الحالة (الصلبة)، ويكوّن محلولاً عند (ذوبانه) في الماء، ومحلوله (يوصل) التيار الكهربائي.</a:t>
            </a:r>
            <a:endParaRPr lang="ar-KW" sz="185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‏المركب الأيوني من العينتين السابقتين هو: (العينة ‎A‎).</a:t>
            </a:r>
            <a:endParaRPr lang="ar-KW" sz="185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4_20"/>
          <p:cNvSpPr txBox="1"/>
          <p:nvPr/>
        </p:nvSpPr>
        <p:spPr>
          <a:xfrm rot="120000">
            <a:off x="12202432" y="2714625"/>
            <a:ext cx="288096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6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‏سر الصلابة:</a:t>
            </a:r>
            <a:endParaRPr lang="ar-KW" sz="26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26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‏الشبكة البلورية</a:t>
            </a:r>
            <a:endParaRPr lang="ar-KW" sz="2600" dirty="0"/>
          </a:p>
        </p:txBody>
      </p:sp>
      <p:sp>
        <p:nvSpPr>
          <p:cNvPr id="5" name="anim_4_21"/>
          <p:cNvSpPr txBox="1"/>
          <p:nvPr/>
        </p:nvSpPr>
        <p:spPr>
          <a:xfrm rot="120000">
            <a:off x="12107193" y="3619500"/>
            <a:ext cx="2976203" cy="111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‏تصطف الأيونات مختلفة الشحنة في مصفوفات ثلاثية الأبعاد ممتدة تسمى الشبكة البلورية.</a:t>
            </a:r>
            <a:endParaRPr lang="ar-KW" sz="1550" dirty="0"/>
          </a:p>
        </p:txBody>
      </p:sp>
      <p:sp>
        <p:nvSpPr>
          <p:cNvPr id="6" name="anim_4_22"/>
          <p:cNvSpPr txBox="1"/>
          <p:nvPr/>
        </p:nvSpPr>
        <p:spPr>
          <a:xfrm rot="-180000">
            <a:off x="1035719" y="5095875"/>
            <a:ext cx="33333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3050" b="1" dirty="0">
                <a:solidFill>
                  <a:srgbClr val="7A1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‏لماذا هي صلبة؟</a:t>
            </a:r>
            <a:endParaRPr lang="ar-KW" sz="3050" dirty="0"/>
          </a:p>
        </p:txBody>
      </p:sp>
      <p:sp>
        <p:nvSpPr>
          <p:cNvPr id="7" name="anim_4_23"/>
          <p:cNvSpPr txBox="1"/>
          <p:nvPr/>
        </p:nvSpPr>
        <p:spPr>
          <a:xfrm rot="-180000">
            <a:off x="1035719" y="5691188"/>
            <a:ext cx="3333347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‏قوة التجاذب الكبيرة بين الأيونات مختلفة الشحنة تجعل معظم المركبات الأيونية صلبة عند درجة حرارة الغرفة.</a:t>
            </a:r>
            <a:endParaRPr lang="ar-KW" sz="16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5_24"/>
          <p:cNvSpPr txBox="1"/>
          <p:nvPr/>
        </p:nvSpPr>
        <p:spPr>
          <a:xfrm>
            <a:off x="3511919" y="785813"/>
            <a:ext cx="928575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‏اختبار أفران الطاقة: درجات الانصهار والغليان</a:t>
            </a:r>
            <a:endParaRPr lang="ar-KW" sz="2800" dirty="0"/>
          </a:p>
        </p:txBody>
      </p:sp>
      <p:sp>
        <p:nvSpPr>
          <p:cNvPr id="5" name="anim_5_25"/>
          <p:cNvSpPr txBox="1"/>
          <p:nvPr/>
        </p:nvSpPr>
        <p:spPr>
          <a:xfrm>
            <a:off x="3464300" y="1262063"/>
            <a:ext cx="93809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‏تعتمد درجة الانصهار والغليان على قوة التجاذب بين جسيمات المادة؛ ولأن قوة التجاذب بين الأيونات مختلفة الشحنة كبيرة، ترتفع درجات انصهار وغليان المركبات الأيونية.</a:t>
            </a:r>
            <a:endParaRPr lang="ar-KW" sz="1800" dirty="0"/>
          </a:p>
        </p:txBody>
      </p:sp>
      <p:sp>
        <p:nvSpPr>
          <p:cNvPr id="6" name="anim_5_26"/>
          <p:cNvSpPr txBox="1"/>
          <p:nvPr/>
        </p:nvSpPr>
        <p:spPr>
          <a:xfrm>
            <a:off x="4702401" y="6167438"/>
            <a:ext cx="1928579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MgO</a:t>
            </a:r>
            <a:endParaRPr lang="en-US" sz="2250" dirty="0"/>
          </a:p>
        </p:txBody>
      </p:sp>
      <p:sp>
        <p:nvSpPr>
          <p:cNvPr id="7" name="anim_5_27"/>
          <p:cNvSpPr txBox="1"/>
          <p:nvPr/>
        </p:nvSpPr>
        <p:spPr>
          <a:xfrm>
            <a:off x="4678591" y="6548438"/>
            <a:ext cx="20000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‏(أكسيد المغنيسيوم)</a:t>
            </a:r>
            <a:endParaRPr lang="ar-KW" sz="1550" dirty="0"/>
          </a:p>
        </p:txBody>
      </p:sp>
      <p:sp>
        <p:nvSpPr>
          <p:cNvPr id="8" name="anim_5_28"/>
          <p:cNvSpPr txBox="1"/>
          <p:nvPr/>
        </p:nvSpPr>
        <p:spPr>
          <a:xfrm>
            <a:off x="1154767" y="4572000"/>
            <a:ext cx="19761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FE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2852 °C</a:t>
            </a:r>
            <a:endParaRPr lang="en-US" sz="2400" dirty="0"/>
          </a:p>
        </p:txBody>
      </p:sp>
      <p:sp>
        <p:nvSpPr>
          <p:cNvPr id="9" name="anim_5_29"/>
          <p:cNvSpPr txBox="1"/>
          <p:nvPr/>
        </p:nvSpPr>
        <p:spPr>
          <a:xfrm>
            <a:off x="1488101" y="4953000"/>
            <a:ext cx="13690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‏الانصهار</a:t>
            </a:r>
            <a:endParaRPr lang="ar-KW" sz="1600" dirty="0"/>
          </a:p>
        </p:txBody>
      </p:sp>
      <p:sp>
        <p:nvSpPr>
          <p:cNvPr id="10" name="anim_5_30"/>
          <p:cNvSpPr txBox="1"/>
          <p:nvPr/>
        </p:nvSpPr>
        <p:spPr>
          <a:xfrm>
            <a:off x="1190481" y="5238750"/>
            <a:ext cx="1904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3600 °C</a:t>
            </a:r>
            <a:endParaRPr lang="en-US" sz="2400" dirty="0"/>
          </a:p>
        </p:txBody>
      </p:sp>
      <p:sp>
        <p:nvSpPr>
          <p:cNvPr id="11" name="anim_5_31"/>
          <p:cNvSpPr txBox="1"/>
          <p:nvPr/>
        </p:nvSpPr>
        <p:spPr>
          <a:xfrm>
            <a:off x="1488101" y="5607844"/>
            <a:ext cx="1369053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‏الغليان</a:t>
            </a:r>
            <a:endParaRPr lang="ar-KW" sz="1550" dirty="0"/>
          </a:p>
        </p:txBody>
      </p:sp>
      <p:sp>
        <p:nvSpPr>
          <p:cNvPr id="12" name="anim_5_32"/>
          <p:cNvSpPr txBox="1"/>
          <p:nvPr/>
        </p:nvSpPr>
        <p:spPr>
          <a:xfrm>
            <a:off x="9642897" y="6167438"/>
            <a:ext cx="1988104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NaCl</a:t>
            </a:r>
            <a:endParaRPr lang="en-US" sz="2250" dirty="0"/>
          </a:p>
        </p:txBody>
      </p:sp>
      <p:sp>
        <p:nvSpPr>
          <p:cNvPr id="13" name="anim_5_33"/>
          <p:cNvSpPr txBox="1"/>
          <p:nvPr/>
        </p:nvSpPr>
        <p:spPr>
          <a:xfrm>
            <a:off x="9607183" y="6548438"/>
            <a:ext cx="2059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‏(كلوريد الصوديوم)</a:t>
            </a:r>
            <a:endParaRPr lang="ar-KW" sz="1750" dirty="0"/>
          </a:p>
        </p:txBody>
      </p:sp>
      <p:sp>
        <p:nvSpPr>
          <p:cNvPr id="14" name="anim_5_34"/>
          <p:cNvSpPr txBox="1"/>
          <p:nvPr/>
        </p:nvSpPr>
        <p:spPr>
          <a:xfrm>
            <a:off x="13333389" y="4572000"/>
            <a:ext cx="18214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FE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801 °C</a:t>
            </a:r>
            <a:endParaRPr lang="en-US" sz="2400" dirty="0"/>
          </a:p>
        </p:txBody>
      </p:sp>
      <p:sp>
        <p:nvSpPr>
          <p:cNvPr id="15" name="anim_5_35"/>
          <p:cNvSpPr txBox="1"/>
          <p:nvPr/>
        </p:nvSpPr>
        <p:spPr>
          <a:xfrm>
            <a:off x="13631009" y="4953000"/>
            <a:ext cx="1250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‏الانصهار</a:t>
            </a:r>
            <a:endParaRPr lang="ar-KW" sz="1600" dirty="0"/>
          </a:p>
        </p:txBody>
      </p:sp>
      <p:sp>
        <p:nvSpPr>
          <p:cNvPr id="16" name="anim_5_36"/>
          <p:cNvSpPr txBox="1"/>
          <p:nvPr/>
        </p:nvSpPr>
        <p:spPr>
          <a:xfrm>
            <a:off x="13333389" y="5238750"/>
            <a:ext cx="18214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FE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1413 °C</a:t>
            </a:r>
            <a:endParaRPr lang="en-US" sz="2400" dirty="0"/>
          </a:p>
        </p:txBody>
      </p:sp>
      <p:sp>
        <p:nvSpPr>
          <p:cNvPr id="17" name="anim_5_37"/>
          <p:cNvSpPr txBox="1"/>
          <p:nvPr/>
        </p:nvSpPr>
        <p:spPr>
          <a:xfrm>
            <a:off x="13631009" y="5607844"/>
            <a:ext cx="1250005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‏الغليان</a:t>
            </a:r>
            <a:endParaRPr lang="ar-KW" sz="15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6_38"/>
          <p:cNvSpPr txBox="1"/>
          <p:nvPr/>
        </p:nvSpPr>
        <p:spPr>
          <a:xfrm>
            <a:off x="3511919" y="738188"/>
            <a:ext cx="922622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‏أنهار الكهرباء: متى توصل البلورات التيار؟</a:t>
            </a:r>
            <a:endParaRPr lang="ar-KW" sz="3200" dirty="0"/>
          </a:p>
        </p:txBody>
      </p:sp>
      <p:sp>
        <p:nvSpPr>
          <p:cNvPr id="5" name="anim_6_39"/>
          <p:cNvSpPr txBox="1"/>
          <p:nvPr/>
        </p:nvSpPr>
        <p:spPr>
          <a:xfrm>
            <a:off x="10297662" y="3321844"/>
            <a:ext cx="1488101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 الصلبة</a:t>
            </a:r>
            <a:endParaRPr lang="ar-KW" sz="1800" dirty="0"/>
          </a:p>
        </p:txBody>
      </p:sp>
      <p:sp>
        <p:nvSpPr>
          <p:cNvPr id="6" name="anim_6_40"/>
          <p:cNvSpPr txBox="1"/>
          <p:nvPr/>
        </p:nvSpPr>
        <p:spPr>
          <a:xfrm>
            <a:off x="3869064" y="3321844"/>
            <a:ext cx="276191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‏حالة المصهور / المحلول</a:t>
            </a:r>
            <a:endParaRPr lang="ar-KW" sz="1750" dirty="0"/>
          </a:p>
        </p:txBody>
      </p:sp>
      <p:sp>
        <p:nvSpPr>
          <p:cNvPr id="7" name="anim_6_41"/>
          <p:cNvSpPr txBox="1"/>
          <p:nvPr/>
        </p:nvSpPr>
        <p:spPr>
          <a:xfrm>
            <a:off x="13011959" y="5191125"/>
            <a:ext cx="2428582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0E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توصل الكهرباء.</a:t>
            </a:r>
            <a:endParaRPr lang="ar-KW" sz="2150" dirty="0"/>
          </a:p>
        </p:txBody>
      </p:sp>
      <p:sp>
        <p:nvSpPr>
          <p:cNvPr id="8" name="anim_6_42"/>
          <p:cNvSpPr txBox="1"/>
          <p:nvPr/>
        </p:nvSpPr>
        <p:spPr>
          <a:xfrm>
            <a:off x="13011959" y="5595938"/>
            <a:ext cx="2428582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‏الأيونات مقيدة داخل الشبكة البلورية (غير حرة الحركة).</a:t>
            </a:r>
            <a:endParaRPr lang="ar-KW" sz="1750" dirty="0"/>
          </a:p>
        </p:txBody>
      </p:sp>
      <p:sp>
        <p:nvSpPr>
          <p:cNvPr id="9" name="anim_6_43"/>
          <p:cNvSpPr txBox="1"/>
          <p:nvPr/>
        </p:nvSpPr>
        <p:spPr>
          <a:xfrm>
            <a:off x="750003" y="5191125"/>
            <a:ext cx="2619059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‏توصل الكهرباء بامتياز!</a:t>
            </a:r>
            <a:endParaRPr lang="ar-KW" sz="1800" dirty="0"/>
          </a:p>
        </p:txBody>
      </p:sp>
      <p:sp>
        <p:nvSpPr>
          <p:cNvPr id="10" name="anim_6_44"/>
          <p:cNvSpPr txBox="1"/>
          <p:nvPr/>
        </p:nvSpPr>
        <p:spPr>
          <a:xfrm>
            <a:off x="750003" y="5595938"/>
            <a:ext cx="2619059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‏تتفكك الشبكة البلورية، وتصبح الأيونات حرة الحركة فتحمل التيار الكهربائي.</a:t>
            </a:r>
            <a:endParaRPr lang="ar-KW" sz="15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7_45"/>
          <p:cNvSpPr txBox="1"/>
          <p:nvPr/>
        </p:nvSpPr>
        <p:spPr>
          <a:xfrm>
            <a:off x="9845279" y="1905000"/>
            <a:ext cx="5309546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‏إضاءات:</a:t>
            </a:r>
            <a:endParaRPr lang="ar-KW" sz="32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‏كلوريد الصوديوم (</a:t>
            </a:r>
            <a:r>
              <a:rPr lang="ar-KW" alt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‎NaCl‎</a:t>
            </a:r>
            <a:r>
              <a:rPr lang="ar-KW" alt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ar-KW" sz="3200" dirty="0"/>
          </a:p>
        </p:txBody>
      </p:sp>
      <p:sp>
        <p:nvSpPr>
          <p:cNvPr id="5" name="anim_7_46"/>
          <p:cNvSpPr txBox="1"/>
          <p:nvPr/>
        </p:nvSpPr>
        <p:spPr>
          <a:xfrm>
            <a:off x="9678612" y="3452813"/>
            <a:ext cx="5500023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‏مركب أيوني ببنية بلورية مكعبة، ودرجة انصهاره حوالي 801 درجة سيليزية.</a:t>
            </a:r>
            <a:endParaRPr lang="ar-KW" sz="1850" dirty="0"/>
          </a:p>
        </p:txBody>
      </p:sp>
      <p:sp>
        <p:nvSpPr>
          <p:cNvPr id="6" name="anim_7_47"/>
          <p:cNvSpPr txBox="1"/>
          <p:nvPr/>
        </p:nvSpPr>
        <p:spPr>
          <a:xfrm>
            <a:off x="9678612" y="4167188"/>
            <a:ext cx="5500023" cy="1726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يتفكك كلياً إلى أيوناته عند ذوبانه في الماء، فيزيد التوصيل الكهربائي للمحلول.</a:t>
            </a:r>
            <a:endParaRPr lang="ar-KW" sz="1650" dirty="0"/>
          </a:p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يُسهم في الحفاظ على الضغط الأسموزي وتوازن السوائل، وانتقال الإشارات عبر أغشية الخلايا العصبية بواسطة مضخة الصوديوم والبوتاسيوم.</a:t>
            </a:r>
            <a:endParaRPr lang="ar-KW" sz="165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8_48"/>
          <p:cNvSpPr txBox="1"/>
          <p:nvPr/>
        </p:nvSpPr>
        <p:spPr>
          <a:xfrm>
            <a:off x="3511919" y="809625"/>
            <a:ext cx="928575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650" b="1" dirty="0">
                <a:solidFill>
                  <a:srgbClr val="1F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‏تحدي البنّاء الأعظم (1): صياغة البلورات</a:t>
            </a:r>
            <a:endParaRPr lang="ar-KW" sz="3650" dirty="0"/>
          </a:p>
        </p:txBody>
      </p:sp>
      <p:sp>
        <p:nvSpPr>
          <p:cNvPr id="5" name="anim_8_49"/>
          <p:cNvSpPr txBox="1"/>
          <p:nvPr/>
        </p:nvSpPr>
        <p:spPr>
          <a:xfrm>
            <a:off x="3154775" y="1571625"/>
            <a:ext cx="98809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‏المطلوب: اكتب أكبر عدد من الصيغ الأيونية الممكنة من العناصر (</a:t>
            </a: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‎Na, Mg, F, Cl‎</a:t>
            </a: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ar-KW" sz="1900" dirty="0"/>
          </a:p>
        </p:txBody>
      </p:sp>
      <p:sp>
        <p:nvSpPr>
          <p:cNvPr id="6" name="anim_8_50"/>
          <p:cNvSpPr txBox="1"/>
          <p:nvPr/>
        </p:nvSpPr>
        <p:spPr>
          <a:xfrm>
            <a:off x="1488101" y="7715250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NaCl</a:t>
            </a:r>
            <a:endParaRPr lang="en-US" sz="3350" dirty="0"/>
          </a:p>
        </p:txBody>
      </p:sp>
      <p:sp>
        <p:nvSpPr>
          <p:cNvPr id="7" name="anim_8_51"/>
          <p:cNvSpPr txBox="1"/>
          <p:nvPr/>
        </p:nvSpPr>
        <p:spPr>
          <a:xfrm>
            <a:off x="5059545" y="7715250"/>
            <a:ext cx="2083342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</a:t>
            </a:r>
            <a:endParaRPr lang="en-US" sz="3350" dirty="0"/>
          </a:p>
        </p:txBody>
      </p:sp>
      <p:sp>
        <p:nvSpPr>
          <p:cNvPr id="8" name="anim_8_52"/>
          <p:cNvSpPr txBox="1"/>
          <p:nvPr/>
        </p:nvSpPr>
        <p:spPr>
          <a:xfrm>
            <a:off x="8690513" y="7715250"/>
            <a:ext cx="2321438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MgCl</a:t>
            </a:r>
            <a:r>
              <a:rPr lang="en-US" altLang="en-US" sz="33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50" dirty="0"/>
          </a:p>
        </p:txBody>
      </p:sp>
      <p:sp>
        <p:nvSpPr>
          <p:cNvPr id="9" name="anim_8_53"/>
          <p:cNvSpPr txBox="1"/>
          <p:nvPr/>
        </p:nvSpPr>
        <p:spPr>
          <a:xfrm>
            <a:off x="12321480" y="7715250"/>
            <a:ext cx="2321438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MgF</a:t>
            </a:r>
            <a:r>
              <a:rPr lang="en-US" altLang="en-US" sz="33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50" dirty="0"/>
          </a:p>
        </p:txBody>
      </p:sp>
      <p:sp>
        <p:nvSpPr>
          <p:cNvPr id="10" name="anim_8_54"/>
          <p:cNvSpPr txBox="1"/>
          <p:nvPr/>
        </p:nvSpPr>
        <p:spPr>
          <a:xfrm>
            <a:off x="8154796" y="8239125"/>
            <a:ext cx="380954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‏(ذرتا كلور لتتساوى الشحنات)</a:t>
            </a:r>
            <a:endParaRPr lang="ar-KW" sz="17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9_55"/>
          <p:cNvSpPr txBox="1"/>
          <p:nvPr/>
        </p:nvSpPr>
        <p:spPr>
          <a:xfrm>
            <a:off x="1130957" y="976312"/>
            <a:ext cx="67262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‏تحدي البنّاء الأعظم (2): سلم الخاصية الأيونية</a:t>
            </a:r>
            <a:endParaRPr lang="ar-KW" sz="2300" dirty="0"/>
          </a:p>
        </p:txBody>
      </p:sp>
      <p:sp>
        <p:nvSpPr>
          <p:cNvPr id="5" name="anim_9_56"/>
          <p:cNvSpPr txBox="1"/>
          <p:nvPr/>
        </p:nvSpPr>
        <p:spPr>
          <a:xfrm>
            <a:off x="1035719" y="1524000"/>
            <a:ext cx="6857172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‏المطلوب: رتّب المركبات التي حصلت عليها من حيث الخاصية الأيونية من الأقل إلى الأعلى.</a:t>
            </a:r>
            <a:endParaRPr lang="ar-KW" sz="2300" dirty="0"/>
          </a:p>
        </p:txBody>
      </p:sp>
      <p:sp>
        <p:nvSpPr>
          <p:cNvPr id="6" name="anim_9_57"/>
          <p:cNvSpPr txBox="1"/>
          <p:nvPr/>
        </p:nvSpPr>
        <p:spPr>
          <a:xfrm>
            <a:off x="12821482" y="3714750"/>
            <a:ext cx="2773821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‏(أكبر فرق في</a:t>
            </a:r>
            <a:endParaRPr lang="ar-KW" sz="22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‏السالبية الكهربائية)</a:t>
            </a:r>
            <a:endParaRPr lang="ar-KW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0_58"/>
          <p:cNvSpPr txBox="1"/>
          <p:nvPr/>
        </p:nvSpPr>
        <p:spPr>
          <a:xfrm>
            <a:off x="2916679" y="619125"/>
            <a:ext cx="10476234" cy="7858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250" b="1" dirty="0">
                <a:ln w="19050">
                  <a:solidFill>
                    <a:srgbClr val="4FA8C0"/>
                  </a:solidFill>
                </a:ln>
                <a:solidFill>
                  <a:srgbClr val="E6FBFF"/>
                </a:solidFill>
                <a:effectLst>
                  <a:glow rad="101600">
                    <a:srgbClr val="0E5A6E">
                      <a:alpha val="6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‏غرفة فك الشفرات: مصطلحات المدينة</a:t>
            </a:r>
            <a:endParaRPr lang="ar-KW" sz="4250" dirty="0"/>
          </a:p>
        </p:txBody>
      </p:sp>
      <p:sp>
        <p:nvSpPr>
          <p:cNvPr id="5" name="anim_10_59"/>
          <p:cNvSpPr txBox="1"/>
          <p:nvPr/>
        </p:nvSpPr>
        <p:spPr>
          <a:xfrm>
            <a:off x="4761925" y="4095750"/>
            <a:ext cx="2976203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‏الشفرة 1: قوة التجاذب الكهروستاتيكي التي تربط الأيونات مختلفة الشحنة في المركب الأيوني.</a:t>
            </a:r>
            <a:endParaRPr lang="ar-KW" sz="1400" dirty="0"/>
          </a:p>
        </p:txBody>
      </p:sp>
      <p:sp>
        <p:nvSpPr>
          <p:cNvPr id="6" name="anim_10_60"/>
          <p:cNvSpPr txBox="1"/>
          <p:nvPr/>
        </p:nvSpPr>
        <p:spPr>
          <a:xfrm>
            <a:off x="8535750" y="4095750"/>
            <a:ext cx="2976203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‏الشفرة 2: مصفوفات ثلاثية الأبعاد ممتدة من الكاتيونات والأنيونات في المركبات الأيونية.</a:t>
            </a:r>
            <a:endParaRPr lang="ar-KW" sz="1400" dirty="0"/>
          </a:p>
        </p:txBody>
      </p:sp>
      <p:sp>
        <p:nvSpPr>
          <p:cNvPr id="7" name="anim_10_61"/>
          <p:cNvSpPr txBox="1"/>
          <p:nvPr/>
        </p:nvSpPr>
        <p:spPr>
          <a:xfrm>
            <a:off x="4797639" y="5810250"/>
            <a:ext cx="285715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900" b="1" dirty="0">
                <a:solidFill>
                  <a:srgbClr val="0B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‏الرابطة الأيونية</a:t>
            </a:r>
            <a:endParaRPr lang="ar-KW" sz="2900" dirty="0"/>
          </a:p>
        </p:txBody>
      </p:sp>
      <p:sp>
        <p:nvSpPr>
          <p:cNvPr id="8" name="anim_10_62"/>
          <p:cNvSpPr txBox="1"/>
          <p:nvPr/>
        </p:nvSpPr>
        <p:spPr>
          <a:xfrm>
            <a:off x="8535750" y="5810250"/>
            <a:ext cx="292858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000" b="1" dirty="0">
                <a:solidFill>
                  <a:srgbClr val="0B3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‏الشبكة البلورية</a:t>
            </a:r>
            <a:endParaRPr lang="ar-KW" sz="30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1_63"/>
          <p:cNvSpPr txBox="1"/>
          <p:nvPr/>
        </p:nvSpPr>
        <p:spPr>
          <a:xfrm>
            <a:off x="5178593" y="452438"/>
            <a:ext cx="595240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8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‏شاشة الرادار: تحديد الهدف بدقة</a:t>
            </a:r>
            <a:endParaRPr lang="ar-KW" sz="2850" dirty="0"/>
          </a:p>
        </p:txBody>
      </p:sp>
      <p:sp>
        <p:nvSpPr>
          <p:cNvPr id="5" name="anim_11_64"/>
          <p:cNvSpPr txBox="1"/>
          <p:nvPr/>
        </p:nvSpPr>
        <p:spPr>
          <a:xfrm>
            <a:off x="11392905" y="1928813"/>
            <a:ext cx="3166680" cy="1023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‏الهدف 1: أحد المركبات التالية ينتج من ارتباط المغنيسيوم مع النيتروجين؟</a:t>
            </a:r>
            <a:endParaRPr lang="ar-KW" sz="1800" dirty="0"/>
          </a:p>
        </p:txBody>
      </p:sp>
      <p:sp>
        <p:nvSpPr>
          <p:cNvPr id="6" name="anim_11_65"/>
          <p:cNvSpPr txBox="1"/>
          <p:nvPr/>
        </p:nvSpPr>
        <p:spPr>
          <a:xfrm>
            <a:off x="1702388" y="1928813"/>
            <a:ext cx="302382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‏الهدف 2: أحد المركبات التالية له أكبر خاصية أيونية؟</a:t>
            </a:r>
            <a:endParaRPr lang="ar-KW" sz="1700" dirty="0"/>
          </a:p>
        </p:txBody>
      </p:sp>
      <p:sp>
        <p:nvSpPr>
          <p:cNvPr id="7" name="anim_11_66"/>
          <p:cNvSpPr txBox="1"/>
          <p:nvPr/>
        </p:nvSpPr>
        <p:spPr>
          <a:xfrm>
            <a:off x="9845279" y="5691188"/>
            <a:ext cx="20952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‏الإجابة الصحيحة</a:t>
            </a:r>
            <a:endParaRPr lang="ar-KW" sz="2050" dirty="0"/>
          </a:p>
        </p:txBody>
      </p:sp>
      <p:sp>
        <p:nvSpPr>
          <p:cNvPr id="8" name="anim_11_67"/>
          <p:cNvSpPr txBox="1"/>
          <p:nvPr/>
        </p:nvSpPr>
        <p:spPr>
          <a:xfrm>
            <a:off x="3773825" y="5643563"/>
            <a:ext cx="1547626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‏الفلور 4.0 − الليثيوم 1.0 = 3.0 (الفرق الأكبر)</a:t>
            </a:r>
            <a:endParaRPr lang="ar-KW" sz="13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2_68"/>
          <p:cNvSpPr txBox="1"/>
          <p:nvPr/>
        </p:nvSpPr>
        <p:spPr>
          <a:xfrm>
            <a:off x="3392871" y="500063"/>
            <a:ext cx="952384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7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‏بوابة الحراس العظمى: الاختبار الشامل</a:t>
            </a:r>
            <a:endParaRPr lang="ar-KW" sz="3750" dirty="0"/>
          </a:p>
        </p:txBody>
      </p:sp>
      <p:sp>
        <p:nvSpPr>
          <p:cNvPr id="5" name="anim_12_69"/>
          <p:cNvSpPr txBox="1"/>
          <p:nvPr/>
        </p:nvSpPr>
        <p:spPr>
          <a:xfrm>
            <a:off x="11666715" y="1881187"/>
            <a:ext cx="375001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‏اسم المركب وصيغته:</a:t>
            </a:r>
            <a:endParaRPr lang="ar-KW" sz="2550" dirty="0"/>
          </a:p>
        </p:txBody>
      </p:sp>
      <p:sp>
        <p:nvSpPr>
          <p:cNvPr id="6" name="anim_12_70"/>
          <p:cNvSpPr txBox="1"/>
          <p:nvPr/>
        </p:nvSpPr>
        <p:spPr>
          <a:xfrm>
            <a:off x="11190523" y="2928938"/>
            <a:ext cx="416668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‏فلوريد البوتاسيوم | </a:t>
            </a:r>
            <a:r>
              <a:rPr lang="ar-KW" alt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‎KF‎</a:t>
            </a:r>
            <a:endParaRPr lang="ar-KW" sz="2800" dirty="0"/>
          </a:p>
        </p:txBody>
      </p:sp>
      <p:sp>
        <p:nvSpPr>
          <p:cNvPr id="7" name="anim_12_71"/>
          <p:cNvSpPr txBox="1"/>
          <p:nvPr/>
        </p:nvSpPr>
        <p:spPr>
          <a:xfrm>
            <a:off x="2500010" y="1881187"/>
            <a:ext cx="217858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النقطي:</a:t>
            </a:r>
            <a:endParaRPr lang="ar-KW" sz="2100" dirty="0"/>
          </a:p>
        </p:txBody>
      </p:sp>
      <p:pic>
        <p:nvPicPr>
          <p:cNvPr id="8" name="anim_12_72" descr="الترتيب النقط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3" y="2825651"/>
            <a:ext cx="4047636" cy="778073"/>
          </a:xfrm>
          <a:prstGeom prst="rect">
            <a:avLst/>
          </a:prstGeom>
        </p:spPr>
      </p:pic>
      <p:sp>
        <p:nvSpPr>
          <p:cNvPr id="9" name="anim_12_73"/>
          <p:cNvSpPr txBox="1"/>
          <p:nvPr/>
        </p:nvSpPr>
        <p:spPr>
          <a:xfrm>
            <a:off x="6547646" y="5857875"/>
            <a:ext cx="321429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‏ينتج أيون </a:t>
            </a: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‎K</a:t>
            </a:r>
            <a:r>
              <a:rPr lang="ar-KW" altLang="en-US" sz="21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+‎</a:t>
            </a: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وأيون </a:t>
            </a:r>
            <a:r>
              <a:rPr lang="ar-KW" alt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‎F</a:t>
            </a:r>
            <a:r>
              <a:rPr lang="ar-KW" altLang="en-US" sz="2100" b="1" baseline="3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−‎</a:t>
            </a:r>
            <a:endParaRPr lang="ar-KW" sz="2100" dirty="0"/>
          </a:p>
        </p:txBody>
      </p:sp>
      <p:sp>
        <p:nvSpPr>
          <p:cNvPr id="10" name="anim_12_74"/>
          <p:cNvSpPr txBox="1"/>
          <p:nvPr/>
        </p:nvSpPr>
        <p:spPr>
          <a:xfrm>
            <a:off x="11666715" y="5214938"/>
            <a:ext cx="375001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‏درجة انصهار أو غليان المركب:</a:t>
            </a:r>
            <a:endParaRPr lang="ar-KW" sz="2000" dirty="0"/>
          </a:p>
        </p:txBody>
      </p:sp>
      <p:sp>
        <p:nvSpPr>
          <p:cNvPr id="11" name="anim_12_75"/>
          <p:cNvSpPr txBox="1"/>
          <p:nvPr/>
        </p:nvSpPr>
        <p:spPr>
          <a:xfrm>
            <a:off x="12559576" y="6143625"/>
            <a:ext cx="1666674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‏مرتفعة</a:t>
            </a:r>
            <a:endParaRPr lang="ar-KW" sz="3100" dirty="0"/>
          </a:p>
        </p:txBody>
      </p:sp>
      <p:sp>
        <p:nvSpPr>
          <p:cNvPr id="12" name="anim_12_76"/>
          <p:cNvSpPr txBox="1"/>
          <p:nvPr/>
        </p:nvSpPr>
        <p:spPr>
          <a:xfrm>
            <a:off x="1250005" y="5214938"/>
            <a:ext cx="354763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‏هل يوصّل مصهوره التيار الكهربائي؟</a:t>
            </a:r>
            <a:endParaRPr lang="ar-KW" sz="1900" dirty="0"/>
          </a:p>
          <a:p>
            <a:pPr rtl="0" algn="r" indent="0" marL="0">
              <a:lnSpc>
                <a:spcPct val="100000"/>
              </a:lnSpc>
              <a:buNone/>
            </a:pPr>
            <a:r>
              <a:rPr lang="ar-KW" alt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‏التبرير:</a:t>
            </a:r>
            <a:endParaRPr lang="ar-KW" sz="1900" dirty="0"/>
          </a:p>
        </p:txBody>
      </p:sp>
      <p:sp>
        <p:nvSpPr>
          <p:cNvPr id="13" name="anim_12_77"/>
          <p:cNvSpPr txBox="1"/>
          <p:nvPr/>
        </p:nvSpPr>
        <p:spPr>
          <a:xfrm>
            <a:off x="595241" y="6024563"/>
            <a:ext cx="4202399" cy="1357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‏نعم، لأن الأيونات تصبح حرة الحركة في حالة المصهور بعد تفكك الشبكة البلورية.</a:t>
            </a:r>
            <a:endParaRPr lang="ar-KW" sz="24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3_78"/>
          <p:cNvSpPr txBox="1"/>
          <p:nvPr/>
        </p:nvSpPr>
        <p:spPr>
          <a:xfrm>
            <a:off x="3273823" y="500063"/>
            <a:ext cx="97024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150" b="1" dirty="0">
                <a:solidFill>
                  <a:srgbClr val="2C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‏المخطط الهندسي الأعظم: جوهر قوانين المدينة</a:t>
            </a:r>
            <a:endParaRPr lang="ar-KW" sz="3150" dirty="0"/>
          </a:p>
        </p:txBody>
      </p:sp>
      <p:sp>
        <p:nvSpPr>
          <p:cNvPr id="5" name="anim_13_79"/>
          <p:cNvSpPr txBox="1"/>
          <p:nvPr/>
        </p:nvSpPr>
        <p:spPr>
          <a:xfrm>
            <a:off x="6988124" y="3929063"/>
            <a:ext cx="2357153" cy="140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4100" b="1" dirty="0">
                <a:solidFill>
                  <a:srgbClr val="5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‏المركبات</a:t>
            </a:r>
            <a:endParaRPr lang="ar-KW" sz="4100" dirty="0"/>
          </a:p>
          <a:p>
            <a:pPr rtl="0" algn="ctr" indent="0" marL="0">
              <a:lnSpc>
                <a:spcPct val="100000"/>
              </a:lnSpc>
              <a:buNone/>
            </a:pPr>
            <a:r>
              <a:rPr lang="ar-KW" altLang="en-US" sz="4100" b="1" dirty="0">
                <a:solidFill>
                  <a:srgbClr val="5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‏الأيونية</a:t>
            </a:r>
            <a:endParaRPr lang="ar-KW" sz="4100" dirty="0"/>
          </a:p>
        </p:txBody>
      </p:sp>
      <p:sp>
        <p:nvSpPr>
          <p:cNvPr id="6" name="anim_13_80"/>
          <p:cNvSpPr txBox="1"/>
          <p:nvPr/>
        </p:nvSpPr>
        <p:spPr>
          <a:xfrm>
            <a:off x="1035719" y="2881313"/>
            <a:ext cx="3166680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‏الحالة</a:t>
            </a:r>
            <a:endParaRPr lang="ar-KW" sz="175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‏صلبة عند درجة حرارة الغرفة بسبب قوة التجاذب في الشبكة البلورية.</a:t>
            </a:r>
            <a:endParaRPr lang="ar-KW" sz="1750" dirty="0"/>
          </a:p>
        </p:txBody>
      </p:sp>
      <p:sp>
        <p:nvSpPr>
          <p:cNvPr id="7" name="anim_13_81"/>
          <p:cNvSpPr txBox="1"/>
          <p:nvPr/>
        </p:nvSpPr>
        <p:spPr>
          <a:xfrm>
            <a:off x="11988145" y="2881313"/>
            <a:ext cx="3333347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‏الذوبان</a:t>
            </a:r>
            <a:endParaRPr lang="ar-KW" sz="18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‏تذوب في الماء وتكوّن محلولاً تتفكك فيه إلى أيونات.</a:t>
            </a:r>
            <a:endParaRPr lang="ar-KW" sz="1800" dirty="0"/>
          </a:p>
        </p:txBody>
      </p:sp>
      <p:sp>
        <p:nvSpPr>
          <p:cNvPr id="8" name="anim_13_82"/>
          <p:cNvSpPr txBox="1"/>
          <p:nvPr/>
        </p:nvSpPr>
        <p:spPr>
          <a:xfrm>
            <a:off x="1035719" y="6643688"/>
            <a:ext cx="3166680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‏الحرارة</a:t>
            </a:r>
            <a:endParaRPr lang="ar-KW" sz="225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‏درجات انصهار وغليان مرتفعة.</a:t>
            </a:r>
            <a:endParaRPr lang="ar-KW" sz="2250" dirty="0"/>
          </a:p>
        </p:txBody>
      </p:sp>
      <p:sp>
        <p:nvSpPr>
          <p:cNvPr id="9" name="anim_13_83"/>
          <p:cNvSpPr txBox="1"/>
          <p:nvPr/>
        </p:nvSpPr>
        <p:spPr>
          <a:xfrm>
            <a:off x="11869097" y="6643688"/>
            <a:ext cx="3571443" cy="1595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‏الكهرباء</a:t>
            </a:r>
            <a:endParaRPr lang="ar-KW" sz="185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‏لا توصل وهي صلبة (الأيونات مقيدة)، وتوصل مصهورة أو محلولة (الأيونات حرة الحركة).</a:t>
            </a:r>
            <a:endParaRPr lang="ar-KW" sz="18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4_84"/>
          <p:cNvSpPr txBox="1"/>
          <p:nvPr/>
        </p:nvSpPr>
        <p:spPr>
          <a:xfrm>
            <a:off x="7297650" y="5500688"/>
            <a:ext cx="552383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2F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‏المهمة أُنجزت بنجاح!</a:t>
            </a:r>
            <a:endParaRPr lang="ar-KW" sz="4000" dirty="0"/>
          </a:p>
        </p:txBody>
      </p:sp>
      <p:sp>
        <p:nvSpPr>
          <p:cNvPr id="5" name="anim_14_85"/>
          <p:cNvSpPr txBox="1"/>
          <p:nvPr/>
        </p:nvSpPr>
        <p:spPr>
          <a:xfrm>
            <a:off x="7297650" y="6286500"/>
            <a:ext cx="552383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‏لقد أتقنتم قوانين مدينة البلورات... وفككتم شفرات الجاذبية الأيونية.</a:t>
            </a:r>
            <a:endParaRPr lang="ar-KW" sz="2150" dirty="0"/>
          </a:p>
        </p:txBody>
      </p:sp>
      <p:sp>
        <p:nvSpPr>
          <p:cNvPr id="6" name="anim_14_86"/>
          <p:cNvSpPr txBox="1"/>
          <p:nvPr/>
        </p:nvSpPr>
        <p:spPr>
          <a:xfrm>
            <a:off x="7297650" y="7119938"/>
            <a:ext cx="55238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‏أنتم الآن سُفراء المعرفة العلمية!</a:t>
            </a:r>
            <a:endParaRPr lang="ar-KW" sz="26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خواص المركبات الأيونية</dc:title>
  <dc:subject>PptxGenJS Presentation</dc:subject>
  <dc:creator>PptxGenJS</dc:creator>
  <cp:lastModifiedBy>PptxGenJS</cp:lastModifiedBy>
  <cp:revision>1</cp:revision>
  <dcterms:created xsi:type="dcterms:W3CDTF">2026-10-27T03:10:42Z</dcterms:created>
  <dcterms:modified xsi:type="dcterms:W3CDTF">2026-10-27T03:10:42Z</dcterms:modified>
</cp:coreProperties>
</file>