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58" r:id="rId5"/>
    <p:sldId id="270" r:id="rId6"/>
    <p:sldId id="271" r:id="rId7"/>
    <p:sldId id="259" r:id="rId8"/>
    <p:sldId id="272" r:id="rId9"/>
    <p:sldId id="260" r:id="rId10"/>
    <p:sldId id="273" r:id="rId11"/>
    <p:sldId id="274" r:id="rId12"/>
    <p:sldId id="275" r:id="rId13"/>
    <p:sldId id="276" r:id="rId14"/>
    <p:sldId id="277" r:id="rId15"/>
    <p:sldId id="261" r:id="rId16"/>
    <p:sldId id="278" r:id="rId17"/>
    <p:sldId id="279" r:id="rId18"/>
    <p:sldId id="262" r:id="rId19"/>
    <p:sldId id="263" r:id="rId20"/>
    <p:sldId id="280" r:id="rId21"/>
    <p:sldId id="281" r:id="rId22"/>
    <p:sldId id="282" r:id="rId23"/>
    <p:sldId id="283" r:id="rId24"/>
    <p:sldId id="284" r:id="rId25"/>
    <p:sldId id="285" r:id="rId26"/>
    <p:sldId id="299" r:id="rId27"/>
    <p:sldId id="295" r:id="rId28"/>
    <p:sldId id="297" r:id="rId29"/>
    <p:sldId id="264" r:id="rId30"/>
    <p:sldId id="286" r:id="rId31"/>
    <p:sldId id="287" r:id="rId32"/>
    <p:sldId id="265" r:id="rId33"/>
    <p:sldId id="288" r:id="rId34"/>
    <p:sldId id="289" r:id="rId35"/>
    <p:sldId id="290" r:id="rId36"/>
    <p:sldId id="291" r:id="rId37"/>
    <p:sldId id="292" r:id="rId38"/>
    <p:sldId id="303" r:id="rId39"/>
    <p:sldId id="301" r:id="rId40"/>
    <p:sldId id="267" r:id="rId41"/>
    <p:sldId id="294" r:id="rId42"/>
    <p:sldId id="296" r:id="rId43"/>
    <p:sldId id="298" r:id="rId44"/>
    <p:sldId id="300" r:id="rId45"/>
    <p:sldId id="302" r:id="rId46"/>
    <p:sldId id="293" r:id="rId47"/>
    <p:sldId id="266" r:id="rId48"/>
    <p:sldId id="268" r:id="rId49"/>
    <p:sldId id="304" r:id="rId50"/>
    <p:sldId id="305" r:id="rId51"/>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tableStyles" Target="tableStyle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slide" Target="slides/slide40.xml" /><Relationship Id="rId54"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8" Type="http://schemas.openxmlformats.org/officeDocument/2006/relationships/slide" Target="slides/slide7.xml" /><Relationship Id="rId51" Type="http://schemas.openxmlformats.org/officeDocument/2006/relationships/slide" Target="slides/slide50.xml" /><Relationship Id="rId3" Type="http://schemas.openxmlformats.org/officeDocument/2006/relationships/slide" Target="slides/slide2.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2" Type="http://schemas.openxmlformats.org/officeDocument/2006/relationships/image" Target="../media/image10.jpe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image" Target="../media/image11.jpeg"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2" Type="http://schemas.openxmlformats.org/officeDocument/2006/relationships/image" Target="../media/image12.jpe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2" Type="http://schemas.openxmlformats.org/officeDocument/2006/relationships/image" Target="../media/image13.jpe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2" Type="http://schemas.openxmlformats.org/officeDocument/2006/relationships/image" Target="../media/image14.jpeg"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2" Type="http://schemas.openxmlformats.org/officeDocument/2006/relationships/image" Target="../media/image16.jpeg" /><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2" Type="http://schemas.openxmlformats.org/officeDocument/2006/relationships/image" Target="../media/image17.jpeg" /><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2" Type="http://schemas.openxmlformats.org/officeDocument/2006/relationships/image" Target="../media/image18.png" /><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2" Type="http://schemas.openxmlformats.org/officeDocument/2006/relationships/image" Target="../media/image19.png" /><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2" Type="http://schemas.openxmlformats.org/officeDocument/2006/relationships/image" Target="../media/image20.jpeg" /><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2" Type="http://schemas.openxmlformats.org/officeDocument/2006/relationships/image" Target="../media/image21.jpeg" /><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Relationship Id="rId2" Type="http://schemas.openxmlformats.org/officeDocument/2006/relationships/image" Target="../media/image22.jpeg" /><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2" Type="http://schemas.openxmlformats.org/officeDocument/2006/relationships/image" Target="../media/image23.jpeg" /><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Relationship Id="rId2" Type="http://schemas.openxmlformats.org/officeDocument/2006/relationships/image" Target="../media/image24.jpeg" /><Relationship Id="rId1" Type="http://schemas.openxmlformats.org/officeDocument/2006/relationships/slideLayout" Target="../slideLayouts/slideLayout7.xml" /></Relationships>
</file>

<file path=ppt/slides/_rels/slide25.xml.rels><?xml version="1.0" encoding="UTF-8" standalone="yes"?>
<Relationships xmlns="http://schemas.openxmlformats.org/package/2006/relationships"><Relationship Id="rId2" Type="http://schemas.openxmlformats.org/officeDocument/2006/relationships/image" Target="../media/image25.jpeg" /><Relationship Id="rId1" Type="http://schemas.openxmlformats.org/officeDocument/2006/relationships/slideLayout" Target="../slideLayouts/slideLayout7.xml" /></Relationships>
</file>

<file path=ppt/slides/_rels/slide26.xml.rels><?xml version="1.0" encoding="UTF-8" standalone="yes"?>
<Relationships xmlns="http://schemas.openxmlformats.org/package/2006/relationships"><Relationship Id="rId2" Type="http://schemas.openxmlformats.org/officeDocument/2006/relationships/image" Target="../media/image26.jpeg" /><Relationship Id="rId1" Type="http://schemas.openxmlformats.org/officeDocument/2006/relationships/slideLayout" Target="../slideLayouts/slideLayout7.xml" /></Relationships>
</file>

<file path=ppt/slides/_rels/slide27.xml.rels><?xml version="1.0" encoding="UTF-8" standalone="yes"?>
<Relationships xmlns="http://schemas.openxmlformats.org/package/2006/relationships"><Relationship Id="rId2" Type="http://schemas.openxmlformats.org/officeDocument/2006/relationships/image" Target="../media/image27.jpeg" /><Relationship Id="rId1" Type="http://schemas.openxmlformats.org/officeDocument/2006/relationships/slideLayout" Target="../slideLayouts/slideLayout7.xml" /></Relationships>
</file>

<file path=ppt/slides/_rels/slide28.xml.rels><?xml version="1.0" encoding="UTF-8" standalone="yes"?>
<Relationships xmlns="http://schemas.openxmlformats.org/package/2006/relationships"><Relationship Id="rId2" Type="http://schemas.openxmlformats.org/officeDocument/2006/relationships/image" Target="../media/image28.jpeg" /><Relationship Id="rId1" Type="http://schemas.openxmlformats.org/officeDocument/2006/relationships/slideLayout" Target="../slideLayouts/slideLayout7.xml" /></Relationships>
</file>

<file path=ppt/slides/_rels/slide29.xml.rels><?xml version="1.0" encoding="UTF-8" standalone="yes"?>
<Relationships xmlns="http://schemas.openxmlformats.org/package/2006/relationships"><Relationship Id="rId2" Type="http://schemas.openxmlformats.org/officeDocument/2006/relationships/image" Target="../media/image29.png" /><Relationship Id="rId1" Type="http://schemas.openxmlformats.org/officeDocument/2006/relationships/slideLayout" Target="../slideLayouts/slideLayout7.xml" /></Relationships>
</file>

<file path=ppt/slides/_rels/slide30.xml.rels><?xml version="1.0" encoding="UTF-8" standalone="yes"?>
<Relationships xmlns="http://schemas.openxmlformats.org/package/2006/relationships"><Relationship Id="rId2" Type="http://schemas.openxmlformats.org/officeDocument/2006/relationships/image" Target="../media/image30.jpeg" /><Relationship Id="rId1" Type="http://schemas.openxmlformats.org/officeDocument/2006/relationships/slideLayout" Target="../slideLayouts/slideLayout7.xml" /></Relationships>
</file>

<file path=ppt/slides/_rels/slide31.xml.rels><?xml version="1.0" encoding="UTF-8" standalone="yes"?>
<Relationships xmlns="http://schemas.openxmlformats.org/package/2006/relationships"><Relationship Id="rId2" Type="http://schemas.openxmlformats.org/officeDocument/2006/relationships/image" Target="../media/image31.jpeg" /><Relationship Id="rId1" Type="http://schemas.openxmlformats.org/officeDocument/2006/relationships/slideLayout" Target="../slideLayouts/slideLayout7.xml" /></Relationships>
</file>

<file path=ppt/slides/_rels/slide32.xml.rels><?xml version="1.0" encoding="UTF-8" standalone="yes"?>
<Relationships xmlns="http://schemas.openxmlformats.org/package/2006/relationships"><Relationship Id="rId2" Type="http://schemas.openxmlformats.org/officeDocument/2006/relationships/image" Target="../media/image32.png" /><Relationship Id="rId1" Type="http://schemas.openxmlformats.org/officeDocument/2006/relationships/slideLayout" Target="../slideLayouts/slideLayout7.xml" /></Relationships>
</file>

<file path=ppt/slides/_rels/slide33.xml.rels><?xml version="1.0" encoding="UTF-8" standalone="yes"?>
<Relationships xmlns="http://schemas.openxmlformats.org/package/2006/relationships"><Relationship Id="rId2" Type="http://schemas.openxmlformats.org/officeDocument/2006/relationships/image" Target="../media/image33.jpeg" /><Relationship Id="rId1" Type="http://schemas.openxmlformats.org/officeDocument/2006/relationships/slideLayout" Target="../slideLayouts/slideLayout7.xml" /></Relationships>
</file>

<file path=ppt/slides/_rels/slide34.xml.rels><?xml version="1.0" encoding="UTF-8" standalone="yes"?>
<Relationships xmlns="http://schemas.openxmlformats.org/package/2006/relationships"><Relationship Id="rId2" Type="http://schemas.openxmlformats.org/officeDocument/2006/relationships/image" Target="../media/image34.jpeg" /><Relationship Id="rId1" Type="http://schemas.openxmlformats.org/officeDocument/2006/relationships/slideLayout" Target="../slideLayouts/slideLayout7.xml" /></Relationships>
</file>

<file path=ppt/slides/_rels/slide35.xml.rels><?xml version="1.0" encoding="UTF-8" standalone="yes"?>
<Relationships xmlns="http://schemas.openxmlformats.org/package/2006/relationships"><Relationship Id="rId2" Type="http://schemas.openxmlformats.org/officeDocument/2006/relationships/image" Target="../media/image35.jpeg" /><Relationship Id="rId1" Type="http://schemas.openxmlformats.org/officeDocument/2006/relationships/slideLayout" Target="../slideLayouts/slideLayout7.xml" /></Relationships>
</file>

<file path=ppt/slides/_rels/slide36.xml.rels><?xml version="1.0" encoding="UTF-8" standalone="yes"?>
<Relationships xmlns="http://schemas.openxmlformats.org/package/2006/relationships"><Relationship Id="rId2" Type="http://schemas.openxmlformats.org/officeDocument/2006/relationships/image" Target="../media/image36.jpeg" /><Relationship Id="rId1" Type="http://schemas.openxmlformats.org/officeDocument/2006/relationships/slideLayout" Target="../slideLayouts/slideLayout7.xml" /></Relationships>
</file>

<file path=ppt/slides/_rels/slide37.xml.rels><?xml version="1.0" encoding="UTF-8" standalone="yes"?>
<Relationships xmlns="http://schemas.openxmlformats.org/package/2006/relationships"><Relationship Id="rId2" Type="http://schemas.openxmlformats.org/officeDocument/2006/relationships/image" Target="../media/image37.jpeg" /><Relationship Id="rId1" Type="http://schemas.openxmlformats.org/officeDocument/2006/relationships/slideLayout" Target="../slideLayouts/slideLayout7.xml" /></Relationships>
</file>

<file path=ppt/slides/_rels/slide38.xml.rels><?xml version="1.0" encoding="UTF-8" standalone="yes"?>
<Relationships xmlns="http://schemas.openxmlformats.org/package/2006/relationships"><Relationship Id="rId2" Type="http://schemas.openxmlformats.org/officeDocument/2006/relationships/image" Target="../media/image38.jpeg" /><Relationship Id="rId1" Type="http://schemas.openxmlformats.org/officeDocument/2006/relationships/slideLayout" Target="../slideLayouts/slideLayout7.xml" /></Relationships>
</file>

<file path=ppt/slides/_rels/slide39.xml.rels><?xml version="1.0" encoding="UTF-8" standalone="yes"?>
<Relationships xmlns="http://schemas.openxmlformats.org/package/2006/relationships"><Relationship Id="rId2" Type="http://schemas.openxmlformats.org/officeDocument/2006/relationships/image" Target="../media/image39.jpeg" /><Relationship Id="rId1" Type="http://schemas.openxmlformats.org/officeDocument/2006/relationships/slideLayout" Target="../slideLayouts/slideLayout7.xml" /></Relationships>
</file>

<file path=ppt/slides/_rels/slide40.xml.rels><?xml version="1.0" encoding="UTF-8" standalone="yes"?>
<Relationships xmlns="http://schemas.openxmlformats.org/package/2006/relationships"><Relationship Id="rId2" Type="http://schemas.openxmlformats.org/officeDocument/2006/relationships/image" Target="../media/image40.png" /><Relationship Id="rId1" Type="http://schemas.openxmlformats.org/officeDocument/2006/relationships/slideLayout" Target="../slideLayouts/slideLayout7.xml" /></Relationships>
</file>

<file path=ppt/slides/_rels/slide41.xml.rels><?xml version="1.0" encoding="UTF-8" standalone="yes"?>
<Relationships xmlns="http://schemas.openxmlformats.org/package/2006/relationships"><Relationship Id="rId2" Type="http://schemas.openxmlformats.org/officeDocument/2006/relationships/image" Target="../media/image41.jpeg" /><Relationship Id="rId1" Type="http://schemas.openxmlformats.org/officeDocument/2006/relationships/slideLayout" Target="../slideLayouts/slideLayout7.xml" /></Relationships>
</file>

<file path=ppt/slides/_rels/slide42.xml.rels><?xml version="1.0" encoding="UTF-8" standalone="yes"?>
<Relationships xmlns="http://schemas.openxmlformats.org/package/2006/relationships"><Relationship Id="rId2" Type="http://schemas.openxmlformats.org/officeDocument/2006/relationships/image" Target="../media/image42.jpeg" /><Relationship Id="rId1" Type="http://schemas.openxmlformats.org/officeDocument/2006/relationships/slideLayout" Target="../slideLayouts/slideLayout7.xml" /></Relationships>
</file>

<file path=ppt/slides/_rels/slide43.xml.rels><?xml version="1.0" encoding="UTF-8" standalone="yes"?>
<Relationships xmlns="http://schemas.openxmlformats.org/package/2006/relationships"><Relationship Id="rId2" Type="http://schemas.openxmlformats.org/officeDocument/2006/relationships/image" Target="../media/image43.jpeg" /><Relationship Id="rId1" Type="http://schemas.openxmlformats.org/officeDocument/2006/relationships/slideLayout" Target="../slideLayouts/slideLayout7.xml" /></Relationships>
</file>

<file path=ppt/slides/_rels/slide44.xml.rels><?xml version="1.0" encoding="UTF-8" standalone="yes"?>
<Relationships xmlns="http://schemas.openxmlformats.org/package/2006/relationships"><Relationship Id="rId2" Type="http://schemas.openxmlformats.org/officeDocument/2006/relationships/image" Target="../media/image44.jpeg" /><Relationship Id="rId1" Type="http://schemas.openxmlformats.org/officeDocument/2006/relationships/slideLayout" Target="../slideLayouts/slideLayout7.xml" /></Relationships>
</file>

<file path=ppt/slides/_rels/slide45.xml.rels><?xml version="1.0" encoding="UTF-8" standalone="yes"?>
<Relationships xmlns="http://schemas.openxmlformats.org/package/2006/relationships"><Relationship Id="rId2" Type="http://schemas.openxmlformats.org/officeDocument/2006/relationships/image" Target="../media/image45.jpeg" /><Relationship Id="rId1" Type="http://schemas.openxmlformats.org/officeDocument/2006/relationships/slideLayout" Target="../slideLayouts/slideLayout7.xml" /></Relationships>
</file>

<file path=ppt/slides/_rels/slide46.xml.rels><?xml version="1.0" encoding="UTF-8" standalone="yes"?>
<Relationships xmlns="http://schemas.openxmlformats.org/package/2006/relationships"><Relationship Id="rId2" Type="http://schemas.openxmlformats.org/officeDocument/2006/relationships/image" Target="../media/image46.jpeg" /><Relationship Id="rId1" Type="http://schemas.openxmlformats.org/officeDocument/2006/relationships/slideLayout" Target="../slideLayouts/slideLayout7.xml" /></Relationships>
</file>

<file path=ppt/slides/_rels/slide47.xml.rels><?xml version="1.0" encoding="UTF-8" standalone="yes"?>
<Relationships xmlns="http://schemas.openxmlformats.org/package/2006/relationships"><Relationship Id="rId2" Type="http://schemas.openxmlformats.org/officeDocument/2006/relationships/image" Target="../media/image47.png" /><Relationship Id="rId1" Type="http://schemas.openxmlformats.org/officeDocument/2006/relationships/slideLayout" Target="../slideLayouts/slideLayout7.xml" /></Relationships>
</file>

<file path=ppt/slides/_rels/slide48.xml.rels><?xml version="1.0" encoding="UTF-8" standalone="yes"?>
<Relationships xmlns="http://schemas.openxmlformats.org/package/2006/relationships"><Relationship Id="rId2" Type="http://schemas.openxmlformats.org/officeDocument/2006/relationships/image" Target="../media/image48.png" /><Relationship Id="rId1" Type="http://schemas.openxmlformats.org/officeDocument/2006/relationships/slideLayout" Target="../slideLayouts/slideLayout7.xml" /></Relationships>
</file>

<file path=ppt/slides/_rels/slide49.xml.rels><?xml version="1.0" encoding="UTF-8" standalone="yes"?>
<Relationships xmlns="http://schemas.openxmlformats.org/package/2006/relationships"><Relationship Id="rId2" Type="http://schemas.openxmlformats.org/officeDocument/2006/relationships/image" Target="../media/image49.jpeg" /><Relationship Id="rId1" Type="http://schemas.openxmlformats.org/officeDocument/2006/relationships/slideLayout" Target="../slideLayouts/slideLayout7.xml" /></Relationships>
</file>

<file path=ppt/slides/_rels/slide50.xml.rels><?xml version="1.0" encoding="UTF-8" standalone="yes"?>
<Relationships xmlns="http://schemas.openxmlformats.org/package/2006/relationships"><Relationship Id="rId2" Type="http://schemas.openxmlformats.org/officeDocument/2006/relationships/image" Target="../media/image50.jpe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1795720" y="3243708"/>
            <a:ext cx="13018976" cy="2243335"/>
          </a:xfrm>
          <a:prstGeom prst="rect">
            <a:avLst/>
          </a:prstGeom>
          <a:noFill/>
        </p:spPr>
        <p:txBody>
          <a:bodyPr wrap="none" lIns="0" tIns="0" rIns="0" bIns="0" rtlCol="0" anchor="ctr" anchorCtr="1">
            <a:noAutofit/>
          </a:bodyPr>
          <a:lstStyle/>
          <a:p>
            <a:pPr algn="ctr" rtl="1">
              <a:lnSpc>
                <a:spcPct val="92000"/>
              </a:lnSpc>
              <a:buNone/>
            </a:pPr>
            <a:r>
              <a:rPr lang="ar-SA" sz="7460" b="1" i="0" dirty="0">
                <a:solidFill>
                  <a:srgbClr val="FFFFFF"/>
                </a:solidFill>
                <a:effectLst>
                  <a:outerShdw blurRad="76200" dist="25400" dir="5400000" algn="t" rotWithShape="0">
                    <a:srgbClr val="000000">
                      <a:alpha val="55000"/>
                    </a:srgbClr>
                  </a:outerShdw>
                </a:effectLst>
                <a:latin typeface="Tahoma"/>
                <a:ea typeface="Tahoma"/>
                <a:cs typeface="Tahoma"/>
              </a:rPr>
              <a:t>الحسابات المتعلقة</a:t>
            </a:r>
          </a:p>
          <a:p>
            <a:pPr algn="ctr" rtl="1">
              <a:lnSpc>
                <a:spcPct val="92000"/>
              </a:lnSpc>
              <a:buNone/>
            </a:pPr>
            <a:r>
              <a:rPr lang="ar-SA" sz="7460" b="1" i="0" dirty="0">
                <a:solidFill>
                  <a:srgbClr val="FFFFFF"/>
                </a:solidFill>
                <a:effectLst>
                  <a:outerShdw blurRad="76200" dist="25400" dir="5400000" algn="t" rotWithShape="0">
                    <a:srgbClr val="000000">
                      <a:alpha val="55000"/>
                    </a:srgbClr>
                  </a:outerShdw>
                </a:effectLst>
                <a:latin typeface="Tahoma"/>
                <a:ea typeface="Tahoma"/>
                <a:cs typeface="Tahoma"/>
              </a:rPr>
              <a:t>بالخواص المجمعة للمحاليل</a:t>
            </a:r>
          </a:p>
        </p:txBody>
      </p:sp>
      <p:sp>
        <p:nvSpPr>
          <p:cNvPr id="102" name="Text 2"/>
          <p:cNvSpPr txBox="1"/>
          <p:nvPr/>
        </p:nvSpPr>
        <p:spPr>
          <a:xfrm>
            <a:off x="1832639" y="5652343"/>
            <a:ext cx="12637976" cy="637579"/>
          </a:xfrm>
          <a:prstGeom prst="rect">
            <a:avLst/>
          </a:prstGeom>
          <a:noFill/>
        </p:spPr>
        <p:txBody>
          <a:bodyPr wrap="none" lIns="0" tIns="0" rIns="0" bIns="0" rtlCol="0" anchor="ctr" anchorCtr="1">
            <a:noAutofit/>
          </a:bodyPr>
          <a:lstStyle/>
          <a:p>
            <a:pPr algn="ctr" rtl="0">
              <a:lnSpc>
                <a:spcPct val="100000"/>
              </a:lnSpc>
              <a:buNone/>
            </a:pPr>
            <a:r>
              <a:rPr lang="ar-SA" sz="4060" b="1" i="0" dirty="0">
                <a:solidFill>
                  <a:srgbClr val="CFCFCF"/>
                </a:solidFill>
                <a:effectLst>
                  <a:outerShdw blurRad="76200" dist="25400" dir="5400000" algn="t" rotWithShape="0">
                    <a:srgbClr val="000000">
                      <a:alpha val="55000"/>
                    </a:srgbClr>
                  </a:outerShdw>
                </a:effectLst>
                <a:latin typeface="Tahoma"/>
                <a:ea typeface="Tahoma"/>
                <a:cs typeface="Tahoma"/>
              </a:rPr>
              <a:t>(Calculations Related to Solutions Properties)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600"/>
                                        <p:tgtEl>
                                          <p:spTgt spid="101"/>
                                        </p:tgtEl>
                                      </p:cBhvr>
                                    </p:animEffect>
                                    <p:anim calcmode="lin" valueType="num">
                                      <p:cBhvr>
                                        <p:cTn id="8" dur="600" fill="hold"/>
                                        <p:tgtEl>
                                          <p:spTgt spid="101"/>
                                        </p:tgtEl>
                                        <p:attrNameLst>
                                          <p:attrName>ppt_w</p:attrName>
                                        </p:attrNameLst>
                                      </p:cBhvr>
                                      <p:tavLst>
                                        <p:tav tm="0">
                                          <p:val>
                                            <p:strVal val="0"/>
                                          </p:val>
                                        </p:tav>
                                        <p:tav tm="100000">
                                          <p:val>
                                            <p:strVal val="#ppt_w"/>
                                          </p:val>
                                        </p:tav>
                                      </p:tavLst>
                                    </p:anim>
                                    <p:anim calcmode="lin" valueType="num">
                                      <p:cBhvr>
                                        <p:cTn id="9"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1" presetID="42" presetClass="entr" presetSubtype="0" fill="hold" grpId="0" nodeType="after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600"/>
                                        <p:tgtEl>
                                          <p:spTgt spid="102"/>
                                        </p:tgtEl>
                                      </p:cBhvr>
                                    </p:animEffect>
                                    <p:anim calcmode="lin" valueType="num">
                                      <p:cBhvr>
                                        <p:cTn id="14" dur="600" fill="hold"/>
                                        <p:tgtEl>
                                          <p:spTgt spid="102"/>
                                        </p:tgtEl>
                                        <p:attrNameLst>
                                          <p:attrName>ppt_x</p:attrName>
                                        </p:attrNameLst>
                                      </p:cBhvr>
                                      <p:tavLst>
                                        <p:tav tm="0">
                                          <p:val>
                                            <p:strVal val="#ppt_x"/>
                                          </p:val>
                                        </p:tav>
                                        <p:tav tm="100000">
                                          <p:val>
                                            <p:strVal val="#ppt_x"/>
                                          </p:val>
                                        </p:tav>
                                      </p:tavLst>
                                    </p:anim>
                                    <p:anim calcmode="lin" valueType="num">
                                      <p:cBhvr>
                                        <p:cTn id="15" dur="600" fill="hold"/>
                                        <p:tgtEl>
                                          <p:spTgt spid="10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1795720" y="646162"/>
            <a:ext cx="12688186" cy="802878"/>
          </a:xfrm>
          <a:prstGeom prst="rect">
            <a:avLst/>
          </a:prstGeom>
          <a:noFill/>
        </p:spPr>
        <p:txBody>
          <a:bodyPr wrap="none" lIns="0" tIns="0" rIns="0" bIns="0" rtlCol="0" anchor="ctr" anchorCtr="1">
            <a:noAutofit/>
          </a:bodyPr>
          <a:lstStyle/>
          <a:p>
            <a:pPr algn="ctr" rtl="1">
              <a:lnSpc>
                <a:spcPct val="100000"/>
              </a:lnSpc>
              <a:buNone/>
            </a:pPr>
            <a:r>
              <a:rPr lang="ar-SA" sz="5130" b="1" i="0" dirty="0">
                <a:solidFill>
                  <a:srgbClr val="FFFFFF"/>
                </a:solidFill>
                <a:latin typeface="Tahoma"/>
                <a:ea typeface="Tahoma"/>
                <a:cs typeface="Tahoma"/>
              </a:rPr>
              <a:t>لماذا نرش الملح على الطرق الجليدية؟</a:t>
            </a:r>
          </a:p>
        </p:txBody>
      </p:sp>
      <p:sp>
        <p:nvSpPr>
          <p:cNvPr id="102" name="Text 2"/>
          <p:cNvSpPr txBox="1"/>
          <p:nvPr/>
        </p:nvSpPr>
        <p:spPr>
          <a:xfrm>
            <a:off x="1623680" y="1761926"/>
            <a:ext cx="13126779" cy="613965"/>
          </a:xfrm>
          <a:prstGeom prst="rect">
            <a:avLst/>
          </a:prstGeom>
          <a:noFill/>
        </p:spPr>
        <p:txBody>
          <a:bodyPr wrap="none" lIns="0" tIns="0" rIns="0" bIns="0" rtlCol="0" anchor="ctr" anchorCtr="1">
            <a:noAutofit/>
          </a:bodyPr>
          <a:lstStyle/>
          <a:p>
            <a:pPr algn="ctr" rtl="1">
              <a:lnSpc>
                <a:spcPct val="100000"/>
              </a:lnSpc>
              <a:buNone/>
            </a:pPr>
            <a:r>
              <a:rPr lang="ar-SA" sz="3080" b="1" i="0" dirty="0">
                <a:solidFill>
                  <a:srgbClr val="C8C8C8"/>
                </a:solidFill>
                <a:latin typeface="Tahoma"/>
                <a:ea typeface="Tahoma"/>
                <a:cs typeface="Tahoma"/>
              </a:rPr>
              <a:t>لغز علمي ينقذ ملايين الأرواح، وسره يكمن في "الخواص المجمعة".</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600"/>
                                        <p:tgtEl>
                                          <p:spTgt spid="101"/>
                                        </p:tgtEl>
                                      </p:cBhvr>
                                    </p:animEffect>
                                    <p:anim calcmode="lin" valueType="num">
                                      <p:cBhvr>
                                        <p:cTn id="8" dur="600" fill="hold"/>
                                        <p:tgtEl>
                                          <p:spTgt spid="101"/>
                                        </p:tgtEl>
                                        <p:attrNameLst>
                                          <p:attrName>ppt_w</p:attrName>
                                        </p:attrNameLst>
                                      </p:cBhvr>
                                      <p:tavLst>
                                        <p:tav tm="0">
                                          <p:val>
                                            <p:strVal val="0"/>
                                          </p:val>
                                        </p:tav>
                                        <p:tav tm="100000">
                                          <p:val>
                                            <p:strVal val="#ppt_w"/>
                                          </p:val>
                                        </p:tav>
                                      </p:tavLst>
                                    </p:anim>
                                    <p:anim calcmode="lin" valueType="num">
                                      <p:cBhvr>
                                        <p:cTn id="9"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1" presetID="42" presetClass="entr" presetSubtype="0" fill="hold" grpId="0" nodeType="after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600"/>
                                        <p:tgtEl>
                                          <p:spTgt spid="102"/>
                                        </p:tgtEl>
                                      </p:cBhvr>
                                    </p:animEffect>
                                    <p:anim calcmode="lin" valueType="num">
                                      <p:cBhvr>
                                        <p:cTn id="14" dur="600" fill="hold"/>
                                        <p:tgtEl>
                                          <p:spTgt spid="102"/>
                                        </p:tgtEl>
                                        <p:attrNameLst>
                                          <p:attrName>ppt_x</p:attrName>
                                        </p:attrNameLst>
                                      </p:cBhvr>
                                      <p:tavLst>
                                        <p:tav tm="0">
                                          <p:val>
                                            <p:strVal val="#ppt_x"/>
                                          </p:val>
                                        </p:tav>
                                        <p:tav tm="100000">
                                          <p:val>
                                            <p:strVal val="#ppt_x"/>
                                          </p:val>
                                        </p:tav>
                                      </p:tavLst>
                                    </p:anim>
                                    <p:anim calcmode="lin" valueType="num">
                                      <p:cBhvr>
                                        <p:cTn id="15" dur="600" fill="hold"/>
                                        <p:tgtEl>
                                          <p:spTgt spid="10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F4F6F8"/>
                </a:solidFill>
                <a:latin typeface="Tahoma"/>
                <a:ea typeface="Tahoma"/>
                <a:cs typeface="Tahoma"/>
              </a:rPr>
              <a:t>الماء المقطّر: درجة تجمد وغليان ثابتتان</a:t>
            </a:r>
          </a:p>
        </p:txBody>
      </p:sp>
      <p:sp>
        <p:nvSpPr>
          <p:cNvPr id="12" name="Chip"/>
          <p:cNvSpPr/>
          <p:nvPr/>
        </p:nvSpPr>
        <p:spPr>
          <a:xfrm>
            <a:off x="708837" y="452437"/>
            <a:ext cx="2480930" cy="404812"/>
          </a:xfrm>
          <a:prstGeom prst="roundRect">
            <a:avLst>
              <a:gd name="adj" fmla="val 50000"/>
            </a:avLst>
          </a:prstGeom>
          <a:solidFill>
            <a:srgbClr val="E8A94E">
              <a:alpha val="12000"/>
            </a:srgbClr>
          </a:solidFill>
          <a:ln w="12700" cap="rnd">
            <a:solidFill>
              <a:srgbClr val="E8A94E">
                <a:alpha val="70000"/>
              </a:srgbClr>
            </a:solidFill>
            <a:round/>
          </a:ln>
        </p:spPr>
        <p:txBody>
          <a:bodyPr wrap="square" lIns="0" tIns="0" rIns="0" bIns="0" rtlCol="0" anchor="ctr">
            <a:noAutofit/>
          </a:bodyPr>
          <a:lstStyle/>
          <a:p>
            <a:pPr algn="ctr" rtl="1">
              <a:lnSpc>
                <a:spcPct val="110000"/>
              </a:lnSpc>
              <a:buNone/>
            </a:pPr>
            <a:r>
              <a:rPr lang="ar-SA" sz="1400" b="1" i="0" dirty="0">
                <a:solidFill>
                  <a:srgbClr val="E8A94E"/>
                </a:solidFill>
                <a:latin typeface="Tahoma"/>
                <a:ea typeface="Tahoma"/>
                <a:cs typeface="Tahoma"/>
              </a:rPr>
              <a:t>مقدمة</a:t>
            </a:r>
          </a:p>
        </p:txBody>
      </p:sp>
      <p:sp>
        <p:nvSpPr>
          <p:cNvPr id="13" name="Card"/>
          <p:cNvSpPr/>
          <p:nvPr/>
        </p:nvSpPr>
        <p:spPr>
          <a:xfrm>
            <a:off x="708837" y="1309687"/>
            <a:ext cx="14838325" cy="1256525"/>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200" b="1" i="0" dirty="0">
                <a:solidFill>
                  <a:srgbClr val="F4F6F8"/>
                </a:solidFill>
                <a:latin typeface="Tahoma"/>
                <a:ea typeface="Tahoma"/>
                <a:cs typeface="Tahoma"/>
              </a:rPr>
              <a:t>في معظم المحاليل التي تُحضَّر في المختبر، يُستخدَم الماء المقطَّر كمذيب. هذا السائل لديه درجة تجمد ثابتة ودرجة غليان ثابتة:</a:t>
            </a:r>
          </a:p>
        </p:txBody>
      </p:sp>
      <p:sp>
        <p:nvSpPr>
          <p:cNvPr id="14" name="Stat card 1"/>
          <p:cNvSpPr/>
          <p:nvPr/>
        </p:nvSpPr>
        <p:spPr>
          <a:xfrm>
            <a:off x="8305209" y="2804337"/>
            <a:ext cx="7241953" cy="2500312"/>
          </a:xfrm>
          <a:prstGeom prst="roundRect">
            <a:avLst>
              <a:gd name="adj" fmla="val 9000"/>
            </a:avLst>
          </a:prstGeom>
          <a:solidFill>
            <a:srgbClr val="7FC8F8">
              <a:alpha val="8000"/>
            </a:srgbClr>
          </a:solidFill>
          <a:ln w="19050" cap="rnd">
            <a:solidFill>
              <a:srgbClr val="7FC8F8">
                <a:alpha val="70000"/>
              </a:srgbClr>
            </a:solidFill>
            <a:round/>
          </a:ln>
        </p:spPr>
        <p:txBody>
          <a:bodyPr rtlCol="0" anchor="ctr"/>
          <a:lstStyle/>
          <a:p>
            <a:endParaRPr lang="ar-SA"/>
          </a:p>
        </p:txBody>
      </p:sp>
      <p:sp>
        <p:nvSpPr>
          <p:cNvPr id="15" name="Stat value 1"/>
          <p:cNvSpPr txBox="1"/>
          <p:nvPr/>
        </p:nvSpPr>
        <p:spPr>
          <a:xfrm>
            <a:off x="11491668" y="3161525"/>
            <a:ext cx="3937354" cy="1214437"/>
          </a:xfrm>
          <a:prstGeom prst="rect">
            <a:avLst/>
          </a:prstGeom>
          <a:noFill/>
          <a:ln>
            <a:noFill/>
          </a:ln>
        </p:spPr>
        <p:txBody>
          <a:bodyPr wrap="square" lIns="0" tIns="0" rIns="0" bIns="0" rtlCol="0" anchor="ctr">
            <a:noAutofit/>
          </a:bodyPr>
          <a:lstStyle/>
          <a:p>
            <a:pPr algn="ctr" rtl="0">
              <a:lnSpc>
                <a:spcPct val="110000"/>
              </a:lnSpc>
              <a:buNone/>
            </a:pPr>
            <a:r>
              <a:rPr lang="ar-SA" sz="6000" b="1" i="0" dirty="0">
                <a:solidFill>
                  <a:srgbClr val="7FC8F8"/>
                </a:solidFill>
                <a:latin typeface="Tahoma"/>
                <a:ea typeface="Tahoma"/>
                <a:cs typeface="Tahoma"/>
              </a:rPr>
              <a:t>0 °C</a:t>
            </a:r>
          </a:p>
        </p:txBody>
      </p:sp>
      <p:sp>
        <p:nvSpPr>
          <p:cNvPr id="16" name="Stat label 1"/>
          <p:cNvSpPr txBox="1"/>
          <p:nvPr/>
        </p:nvSpPr>
        <p:spPr>
          <a:xfrm>
            <a:off x="11491668" y="4399775"/>
            <a:ext cx="3937354" cy="571500"/>
          </a:xfrm>
          <a:prstGeom prst="rect">
            <a:avLst/>
          </a:prstGeom>
          <a:noFill/>
          <a:ln>
            <a:noFill/>
          </a:ln>
        </p:spPr>
        <p:txBody>
          <a:bodyPr wrap="square" lIns="0" tIns="0" rIns="0" bIns="0" rtlCol="0" anchor="ctr">
            <a:noAutofit/>
          </a:bodyPr>
          <a:lstStyle/>
          <a:p>
            <a:pPr algn="ctr" rtl="1">
              <a:lnSpc>
                <a:spcPct val="110000"/>
              </a:lnSpc>
              <a:buNone/>
            </a:pPr>
            <a:r>
              <a:rPr lang="ar-SA" sz="2200" b="1" i="0" dirty="0">
                <a:solidFill>
                  <a:srgbClr val="F4F6F8"/>
                </a:solidFill>
                <a:latin typeface="Tahoma"/>
                <a:ea typeface="Tahoma"/>
                <a:cs typeface="Tahoma"/>
              </a:rPr>
              <a:t>درجة تجمد الماء النقي</a:t>
            </a:r>
          </a:p>
        </p:txBody>
      </p:sp>
      <p:sp>
        <p:nvSpPr>
          <p:cNvPr id="17" name="Stat card 2"/>
          <p:cNvSpPr/>
          <p:nvPr/>
        </p:nvSpPr>
        <p:spPr>
          <a:xfrm>
            <a:off x="708837" y="2804337"/>
            <a:ext cx="7241953" cy="2500312"/>
          </a:xfrm>
          <a:prstGeom prst="roundRect">
            <a:avLst>
              <a:gd name="adj" fmla="val 9000"/>
            </a:avLst>
          </a:prstGeom>
          <a:solidFill>
            <a:srgbClr val="F07C7C">
              <a:alpha val="8000"/>
            </a:srgbClr>
          </a:solidFill>
          <a:ln w="19050" cap="rnd">
            <a:solidFill>
              <a:srgbClr val="F07C7C">
                <a:alpha val="70000"/>
              </a:srgbClr>
            </a:solidFill>
            <a:round/>
          </a:ln>
        </p:spPr>
        <p:txBody>
          <a:bodyPr rtlCol="0" anchor="ctr"/>
          <a:lstStyle/>
          <a:p>
            <a:endParaRPr lang="ar-SA"/>
          </a:p>
        </p:txBody>
      </p:sp>
      <p:sp>
        <p:nvSpPr>
          <p:cNvPr id="18" name="Stat value 2"/>
          <p:cNvSpPr txBox="1"/>
          <p:nvPr/>
        </p:nvSpPr>
        <p:spPr>
          <a:xfrm>
            <a:off x="3895296" y="3161525"/>
            <a:ext cx="3937354" cy="1214437"/>
          </a:xfrm>
          <a:prstGeom prst="rect">
            <a:avLst/>
          </a:prstGeom>
          <a:noFill/>
          <a:ln>
            <a:noFill/>
          </a:ln>
        </p:spPr>
        <p:txBody>
          <a:bodyPr wrap="square" lIns="0" tIns="0" rIns="0" bIns="0" rtlCol="0" anchor="ctr">
            <a:noAutofit/>
          </a:bodyPr>
          <a:lstStyle/>
          <a:p>
            <a:pPr algn="ctr" rtl="0">
              <a:lnSpc>
                <a:spcPct val="110000"/>
              </a:lnSpc>
              <a:buNone/>
            </a:pPr>
            <a:r>
              <a:rPr lang="ar-SA" sz="6000" b="1" i="0" dirty="0">
                <a:solidFill>
                  <a:srgbClr val="F07C7C"/>
                </a:solidFill>
                <a:latin typeface="Tahoma"/>
                <a:ea typeface="Tahoma"/>
                <a:cs typeface="Tahoma"/>
              </a:rPr>
              <a:t>100 °C</a:t>
            </a:r>
          </a:p>
        </p:txBody>
      </p:sp>
      <p:sp>
        <p:nvSpPr>
          <p:cNvPr id="19" name="Stat label 2"/>
          <p:cNvSpPr txBox="1"/>
          <p:nvPr/>
        </p:nvSpPr>
        <p:spPr>
          <a:xfrm>
            <a:off x="3895296" y="4399775"/>
            <a:ext cx="3937354" cy="571500"/>
          </a:xfrm>
          <a:prstGeom prst="rect">
            <a:avLst/>
          </a:prstGeom>
          <a:noFill/>
          <a:ln>
            <a:noFill/>
          </a:ln>
        </p:spPr>
        <p:txBody>
          <a:bodyPr wrap="square" lIns="0" tIns="0" rIns="0" bIns="0" rtlCol="0" anchor="ctr">
            <a:noAutofit/>
          </a:bodyPr>
          <a:lstStyle/>
          <a:p>
            <a:pPr algn="ctr" rtl="1">
              <a:lnSpc>
                <a:spcPct val="110000"/>
              </a:lnSpc>
              <a:buNone/>
            </a:pPr>
            <a:r>
              <a:rPr lang="ar-SA" sz="2200" b="1" i="0" dirty="0">
                <a:solidFill>
                  <a:srgbClr val="F4F6F8"/>
                </a:solidFill>
                <a:latin typeface="Tahoma"/>
                <a:ea typeface="Tahoma"/>
                <a:cs typeface="Tahoma"/>
              </a:rPr>
              <a:t>درجة غليان الماء النقي</a:t>
            </a:r>
          </a:p>
        </p:txBody>
      </p:sp>
      <p:sp>
        <p:nvSpPr>
          <p:cNvPr id="20" name="Card"/>
          <p:cNvSpPr/>
          <p:nvPr/>
        </p:nvSpPr>
        <p:spPr>
          <a:xfrm>
            <a:off x="708837" y="5542775"/>
            <a:ext cx="14838325" cy="2089908"/>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100" b="1" i="0" dirty="0">
                <a:solidFill>
                  <a:srgbClr val="F4F6F8"/>
                </a:solidFill>
                <a:latin typeface="Tahoma"/>
                <a:ea typeface="Tahoma"/>
                <a:cs typeface="Tahoma"/>
              </a:rPr>
              <a:t>لكنّ الاختبارات أظهرت أن إضافة مذاب لمذيب يُغيّر الخواص الفيزيائية لهذا السائل. يُلاحَظ هذا التغير في: </a:t>
            </a:r>
            <a:r>
              <a:rPr lang="ar-SA" sz="2100" b="1" i="0" dirty="0">
                <a:solidFill>
                  <a:srgbClr val="E8A94E"/>
                </a:solidFill>
                <a:latin typeface="Tahoma"/>
                <a:ea typeface="Tahoma"/>
                <a:cs typeface="Tahoma"/>
              </a:rPr>
              <a:t>انخفاض الضغط البخاري</a:t>
            </a:r>
            <a:r>
              <a:rPr lang="ar-SA" sz="2100" b="1" i="0" dirty="0">
                <a:solidFill>
                  <a:srgbClr val="F4F6F8"/>
                </a:solidFill>
                <a:latin typeface="Tahoma"/>
                <a:ea typeface="Tahoma"/>
                <a:cs typeface="Tahoma"/>
              </a:rPr>
              <a:t>، و</a:t>
            </a:r>
            <a:r>
              <a:rPr lang="ar-SA" sz="2100" b="1" i="0" dirty="0">
                <a:solidFill>
                  <a:srgbClr val="E8A94E"/>
                </a:solidFill>
                <a:latin typeface="Tahoma"/>
                <a:ea typeface="Tahoma"/>
                <a:cs typeface="Tahoma"/>
              </a:rPr>
              <a:t>ارتفاع درجة الغليان</a:t>
            </a:r>
            <a:r>
              <a:rPr lang="ar-SA" sz="2100" b="1" i="0" dirty="0">
                <a:solidFill>
                  <a:srgbClr val="F4F6F8"/>
                </a:solidFill>
                <a:latin typeface="Tahoma"/>
                <a:ea typeface="Tahoma"/>
                <a:cs typeface="Tahoma"/>
              </a:rPr>
              <a:t>، و</a:t>
            </a:r>
            <a:r>
              <a:rPr lang="ar-SA" sz="2100" b="1" i="0" dirty="0">
                <a:solidFill>
                  <a:srgbClr val="E8A94E"/>
                </a:solidFill>
                <a:latin typeface="Tahoma"/>
                <a:ea typeface="Tahoma"/>
                <a:cs typeface="Tahoma"/>
              </a:rPr>
              <a:t>انخفاض درجة التجمد</a:t>
            </a:r>
            <a:r>
              <a:rPr lang="ar-SA" sz="2100" b="1" i="0" dirty="0">
                <a:solidFill>
                  <a:srgbClr val="F4F6F8"/>
                </a:solidFill>
                <a:latin typeface="Tahoma"/>
                <a:ea typeface="Tahoma"/>
                <a:cs typeface="Tahoma"/>
              </a:rPr>
              <a:t>.</a:t>
            </a:r>
          </a:p>
          <a:p>
            <a:pPr algn="r" rtl="1">
              <a:lnSpc>
                <a:spcPct val="118000"/>
              </a:lnSpc>
              <a:spcBef>
                <a:spcPts val="800"/>
              </a:spcBef>
              <a:buNone/>
            </a:pPr>
            <a:r>
              <a:rPr lang="ar-SA" sz="2100" b="1" i="0" dirty="0">
                <a:solidFill>
                  <a:srgbClr val="F4F6F8"/>
                </a:solidFill>
                <a:latin typeface="Tahoma"/>
                <a:ea typeface="Tahoma"/>
                <a:cs typeface="Tahoma"/>
              </a:rPr>
              <a:t>تُعرَف هذه التغيرات بـ</a:t>
            </a:r>
            <a:r>
              <a:rPr lang="ar-SA" sz="2100" b="1" i="0" dirty="0">
                <a:solidFill>
                  <a:srgbClr val="E8A94E"/>
                </a:solidFill>
                <a:latin typeface="Tahoma"/>
                <a:ea typeface="Tahoma"/>
                <a:cs typeface="Tahoma"/>
              </a:rPr>
              <a:t>الخواص المجمّعة ‪Colligative Properties‬</a:t>
            </a:r>
            <a:r>
              <a:rPr lang="ar-SA" sz="2100" b="1" i="0" dirty="0">
                <a:solidFill>
                  <a:srgbClr val="F4F6F8"/>
                </a:solidFill>
                <a:latin typeface="Tahoma"/>
                <a:ea typeface="Tahoma"/>
                <a:cs typeface="Tahoma"/>
              </a:rPr>
              <a:t> (في محلول يحتوي على مواد غير إلكتروليتية وغير متطايرة)، وهي تتأثر بعدد جزيئات المذاب بالنسبة إلى عدد جزيئات المذيب.</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50"/>
                                        <p:tgtEl>
                                          <p:spTgt spid="15"/>
                                        </p:tgtEl>
                                      </p:cBhvr>
                                    </p:animEffect>
                                    <p:anim calcmode="lin" valueType="num">
                                      <p:cBhvr>
                                        <p:cTn id="23" dur="550" fill="hold"/>
                                        <p:tgtEl>
                                          <p:spTgt spid="15"/>
                                        </p:tgtEl>
                                        <p:attrNameLst>
                                          <p:attrName>ppt_w</p:attrName>
                                        </p:attrNameLst>
                                      </p:cBhvr>
                                      <p:tavLst>
                                        <p:tav tm="0">
                                          <p:val>
                                            <p:strVal val="0"/>
                                          </p:val>
                                        </p:tav>
                                        <p:tav tm="100000">
                                          <p:val>
                                            <p:strVal val="#ppt_w"/>
                                          </p:val>
                                        </p:tav>
                                      </p:tavLst>
                                    </p:anim>
                                    <p:anim calcmode="lin" valueType="num">
                                      <p:cBhvr>
                                        <p:cTn id="24" dur="550" fill="hold"/>
                                        <p:tgtEl>
                                          <p:spTgt spid="15"/>
                                        </p:tgtEl>
                                        <p:attrNameLst>
                                          <p:attrName>ppt_h</p:attrName>
                                        </p:attrNameLst>
                                      </p:cBhvr>
                                      <p:tavLst>
                                        <p:tav tm="0">
                                          <p:val>
                                            <p:strVal val="0"/>
                                          </p:val>
                                        </p:tav>
                                        <p:tav tm="100000">
                                          <p:val>
                                            <p:strVal val="#ppt_h"/>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50"/>
                                        <p:tgtEl>
                                          <p:spTgt spid="16"/>
                                        </p:tgtEl>
                                      </p:cBhvr>
                                    </p:animEffect>
                                    <p:anim calcmode="lin" valueType="num">
                                      <p:cBhvr>
                                        <p:cTn id="28" dur="550" fill="hold"/>
                                        <p:tgtEl>
                                          <p:spTgt spid="16"/>
                                        </p:tgtEl>
                                        <p:attrNameLst>
                                          <p:attrName>ppt_x</p:attrName>
                                        </p:attrNameLst>
                                      </p:cBhvr>
                                      <p:tavLst>
                                        <p:tav tm="0">
                                          <p:val>
                                            <p:strVal val="#ppt_x"/>
                                          </p:val>
                                        </p:tav>
                                        <p:tav tm="100000">
                                          <p:val>
                                            <p:strVal val="#ppt_x"/>
                                          </p:val>
                                        </p:tav>
                                      </p:tavLst>
                                    </p:anim>
                                    <p:anim calcmode="lin" valueType="num">
                                      <p:cBhvr>
                                        <p:cTn id="29" dur="55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00"/>
                                        <p:tgtEl>
                                          <p:spTgt spid="17"/>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50"/>
                                        <p:tgtEl>
                                          <p:spTgt spid="18"/>
                                        </p:tgtEl>
                                      </p:cBhvr>
                                    </p:animEffect>
                                    <p:anim calcmode="lin" valueType="num">
                                      <p:cBhvr>
                                        <p:cTn id="38" dur="550" fill="hold"/>
                                        <p:tgtEl>
                                          <p:spTgt spid="18"/>
                                        </p:tgtEl>
                                        <p:attrNameLst>
                                          <p:attrName>ppt_w</p:attrName>
                                        </p:attrNameLst>
                                      </p:cBhvr>
                                      <p:tavLst>
                                        <p:tav tm="0">
                                          <p:val>
                                            <p:strVal val="0"/>
                                          </p:val>
                                        </p:tav>
                                        <p:tav tm="100000">
                                          <p:val>
                                            <p:strVal val="#ppt_w"/>
                                          </p:val>
                                        </p:tav>
                                      </p:tavLst>
                                    </p:anim>
                                    <p:anim calcmode="lin" valueType="num">
                                      <p:cBhvr>
                                        <p:cTn id="39" dur="550" fill="hold"/>
                                        <p:tgtEl>
                                          <p:spTgt spid="18"/>
                                        </p:tgtEl>
                                        <p:attrNameLst>
                                          <p:attrName>ppt_h</p:attrName>
                                        </p:attrNameLst>
                                      </p:cBhvr>
                                      <p:tavLst>
                                        <p:tav tm="0">
                                          <p:val>
                                            <p:strVal val="0"/>
                                          </p:val>
                                        </p:tav>
                                        <p:tav tm="100000">
                                          <p:val>
                                            <p:strVal val="#ppt_h"/>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50"/>
                                        <p:tgtEl>
                                          <p:spTgt spid="19"/>
                                        </p:tgtEl>
                                      </p:cBhvr>
                                    </p:animEffect>
                                    <p:anim calcmode="lin" valueType="num">
                                      <p:cBhvr>
                                        <p:cTn id="43" dur="550" fill="hold"/>
                                        <p:tgtEl>
                                          <p:spTgt spid="19"/>
                                        </p:tgtEl>
                                        <p:attrNameLst>
                                          <p:attrName>ppt_x</p:attrName>
                                        </p:attrNameLst>
                                      </p:cBhvr>
                                      <p:tavLst>
                                        <p:tav tm="0">
                                          <p:val>
                                            <p:strVal val="#ppt_x"/>
                                          </p:val>
                                        </p:tav>
                                        <p:tav tm="100000">
                                          <p:val>
                                            <p:strVal val="#ppt_x"/>
                                          </p:val>
                                        </p:tav>
                                      </p:tavLst>
                                    </p:anim>
                                    <p:anim calcmode="lin" valueType="num">
                                      <p:cBhvr>
                                        <p:cTn id="44" dur="55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500"/>
                                        <p:tgtEl>
                                          <p:spTgt spid="20"/>
                                        </p:tgtEl>
                                      </p:cBhvr>
                                    </p:animEffect>
                                    <p:anim calcmode="lin" valueType="num">
                                      <p:cBhvr>
                                        <p:cTn id="50" dur="500" fill="hold"/>
                                        <p:tgtEl>
                                          <p:spTgt spid="20"/>
                                        </p:tgtEl>
                                        <p:attrNameLst>
                                          <p:attrName>ppt_x</p:attrName>
                                        </p:attrNameLst>
                                      </p:cBhvr>
                                      <p:tavLst>
                                        <p:tav tm="0">
                                          <p:val>
                                            <p:strVal val="#ppt_x"/>
                                          </p:val>
                                        </p:tav>
                                        <p:tav tm="100000">
                                          <p:val>
                                            <p:strVal val="#ppt_x"/>
                                          </p:val>
                                        </p:tav>
                                      </p:tavLst>
                                    </p:anim>
                                    <p:anim calcmode="lin" valueType="num">
                                      <p:cBhvr>
                                        <p:cTn id="51" dur="5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1453116" y="1844575"/>
            <a:ext cx="4701953" cy="1357808"/>
          </a:xfrm>
          <a:prstGeom prst="rect">
            <a:avLst/>
          </a:prstGeom>
          <a:noFill/>
        </p:spPr>
        <p:txBody>
          <a:bodyPr wrap="none" lIns="0" tIns="0" rIns="0" bIns="0" rtlCol="0" anchor="ctr" anchorCtr="1">
            <a:noAutofit/>
          </a:bodyPr>
          <a:lstStyle/>
          <a:p>
            <a:pPr algn="r" rtl="1">
              <a:lnSpc>
                <a:spcPct val="105000"/>
              </a:lnSpc>
              <a:buNone/>
            </a:pPr>
            <a:r>
              <a:rPr lang="ar-SA" sz="3300" b="1" i="0" dirty="0">
                <a:solidFill>
                  <a:srgbClr val="FFFFFF"/>
                </a:solidFill>
                <a:latin typeface="Tahoma"/>
                <a:ea typeface="Tahoma"/>
                <a:cs typeface="Tahoma"/>
              </a:rPr>
              <a:t>الخواص المجمّعة</a:t>
            </a:r>
          </a:p>
          <a:p>
            <a:pPr algn="r" rtl="1">
              <a:lnSpc>
                <a:spcPct val="105000"/>
              </a:lnSpc>
              <a:buNone/>
            </a:pPr>
            <a:r>
              <a:rPr lang="ar-SA" sz="3300" b="1" i="0" dirty="0">
                <a:solidFill>
                  <a:srgbClr val="FFFFFF"/>
                </a:solidFill>
                <a:latin typeface="Tahoma"/>
                <a:ea typeface="Tahoma"/>
                <a:cs typeface="Tahoma"/>
              </a:rPr>
              <a:t>(التجمّعية) للمحاليل</a:t>
            </a:r>
          </a:p>
        </p:txBody>
      </p:sp>
      <p:sp>
        <p:nvSpPr>
          <p:cNvPr id="102" name="Text 2"/>
          <p:cNvSpPr txBox="1"/>
          <p:nvPr/>
        </p:nvSpPr>
        <p:spPr>
          <a:xfrm>
            <a:off x="1122325" y="3485753"/>
            <a:ext cx="4843720" cy="3636565"/>
          </a:xfrm>
          <a:prstGeom prst="rect">
            <a:avLst/>
          </a:prstGeom>
          <a:noFill/>
        </p:spPr>
        <p:txBody>
          <a:bodyPr wrap="square" lIns="0" tIns="0" rIns="0" bIns="0" rtlCol="0" anchor="t">
            <a:noAutofit/>
          </a:bodyPr>
          <a:lstStyle/>
          <a:p>
            <a:pPr algn="r" rtl="1">
              <a:lnSpc>
                <a:spcPct val="100000"/>
              </a:lnSpc>
              <a:buNone/>
            </a:pPr>
            <a:r>
              <a:rPr lang="ar-SA" sz="2500" b="1" i="0" dirty="0">
                <a:solidFill>
                  <a:srgbClr val="F2F2F2"/>
                </a:solidFill>
                <a:latin typeface="Tahoma"/>
                <a:ea typeface="Tahoma"/>
                <a:cs typeface="Tahoma"/>
              </a:rPr>
              <a:t>هي الخواص الفيزيائية للمحاليل التي تتأثر بعدد جسيمات المذاب، وليس بطبيعتها.</a:t>
            </a:r>
          </a:p>
          <a:p>
            <a:pPr algn="r" rtl="1">
              <a:lnSpc>
                <a:spcPct val="100000"/>
              </a:lnSpc>
              <a:spcBef>
                <a:spcPts val="2200"/>
              </a:spcBef>
              <a:buNone/>
            </a:pPr>
            <a:r>
              <a:rPr lang="ar-SA" sz="2500" b="1" i="0" dirty="0">
                <a:solidFill>
                  <a:srgbClr val="F2F2F2"/>
                </a:solidFill>
                <a:latin typeface="Tahoma"/>
                <a:ea typeface="Tahoma"/>
                <a:cs typeface="Tahoma"/>
              </a:rPr>
              <a:t>عند إضافة مذاب غير متطاير (لا يتبخر بسهولة) إلى المذيب، تتغير خواص المذيب النقي بشكل جذري استناداً إلى عدد الجسيمات المضافة فقط.</a:t>
            </a:r>
          </a:p>
        </p:txBody>
      </p:sp>
      <p:sp>
        <p:nvSpPr>
          <p:cNvPr id="103" name="Text 3"/>
          <p:cNvSpPr txBox="1"/>
          <p:nvPr/>
        </p:nvSpPr>
        <p:spPr>
          <a:xfrm>
            <a:off x="7556500" y="5699571"/>
            <a:ext cx="1946348" cy="637579"/>
          </a:xfrm>
          <a:prstGeom prst="rect">
            <a:avLst/>
          </a:prstGeom>
          <a:noFill/>
        </p:spPr>
        <p:txBody>
          <a:bodyPr wrap="none" lIns="0" tIns="0" rIns="0" bIns="0" rtlCol="0" anchor="ctr" anchorCtr="1">
            <a:noAutofit/>
          </a:bodyPr>
          <a:lstStyle/>
          <a:p>
            <a:pPr algn="ctr" rtl="1">
              <a:lnSpc>
                <a:spcPct val="100000"/>
              </a:lnSpc>
              <a:buNone/>
            </a:pPr>
            <a:r>
              <a:rPr lang="ar-SA" sz="4000" b="1" i="0" dirty="0">
                <a:solidFill>
                  <a:srgbClr val="FFFFFF"/>
                </a:solidFill>
                <a:latin typeface="Tahoma"/>
                <a:ea typeface="Tahoma"/>
                <a:cs typeface="Tahoma"/>
              </a:rPr>
              <a:t>النوع</a:t>
            </a:r>
          </a:p>
        </p:txBody>
      </p:sp>
      <p:sp>
        <p:nvSpPr>
          <p:cNvPr id="104" name="Text 4"/>
          <p:cNvSpPr txBox="1"/>
          <p:nvPr/>
        </p:nvSpPr>
        <p:spPr>
          <a:xfrm>
            <a:off x="12830230" y="6573291"/>
            <a:ext cx="2055074" cy="637579"/>
          </a:xfrm>
          <a:prstGeom prst="rect">
            <a:avLst/>
          </a:prstGeom>
          <a:noFill/>
        </p:spPr>
        <p:txBody>
          <a:bodyPr wrap="none" lIns="0" tIns="0" rIns="0" bIns="0" rtlCol="0" anchor="ctr" anchorCtr="1">
            <a:noAutofit/>
          </a:bodyPr>
          <a:lstStyle/>
          <a:p>
            <a:pPr algn="ctr" rtl="1">
              <a:lnSpc>
                <a:spcPct val="100000"/>
              </a:lnSpc>
              <a:buNone/>
            </a:pPr>
            <a:r>
              <a:rPr lang="ar-SA" sz="4420" b="1" i="0" dirty="0">
                <a:solidFill>
                  <a:srgbClr val="FFFFFF"/>
                </a:solidFill>
                <a:latin typeface="Tahoma"/>
                <a:ea typeface="Tahoma"/>
                <a:cs typeface="Tahoma"/>
              </a:rPr>
              <a:t>العدد</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600"/>
                                        <p:tgtEl>
                                          <p:spTgt spid="101"/>
                                        </p:tgtEl>
                                      </p:cBhvr>
                                    </p:animEffect>
                                    <p:anim calcmode="lin" valueType="num">
                                      <p:cBhvr>
                                        <p:cTn id="8" dur="600" fill="hold"/>
                                        <p:tgtEl>
                                          <p:spTgt spid="101"/>
                                        </p:tgtEl>
                                        <p:attrNameLst>
                                          <p:attrName>ppt_w</p:attrName>
                                        </p:attrNameLst>
                                      </p:cBhvr>
                                      <p:tavLst>
                                        <p:tav tm="0">
                                          <p:val>
                                            <p:strVal val="0"/>
                                          </p:val>
                                        </p:tav>
                                        <p:tav tm="100000">
                                          <p:val>
                                            <p:strVal val="#ppt_w"/>
                                          </p:val>
                                        </p:tav>
                                      </p:tavLst>
                                    </p:anim>
                                    <p:anim calcmode="lin" valueType="num">
                                      <p:cBhvr>
                                        <p:cTn id="9"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1" presetID="42" presetClass="entr" presetSubtype="0" fill="hold" grpId="0" nodeType="afterEffect">
                                  <p:stCondLst>
                                    <p:cond delay="0"/>
                                  </p:stCondLst>
                                  <p:childTnLst>
                                    <p:set>
                                      <p:cBhvr>
                                        <p:cTn id="12" dur="1" fill="hold">
                                          <p:stCondLst>
                                            <p:cond delay="0"/>
                                          </p:stCondLst>
                                        </p:cTn>
                                        <p:tgtEl>
                                          <p:spTgt spid="102">
                                            <p:txEl>
                                              <p:pRg st="0" end="0"/>
                                            </p:txEl>
                                          </p:spTgt>
                                        </p:tgtEl>
                                        <p:attrNameLst>
                                          <p:attrName>style.visibility</p:attrName>
                                        </p:attrNameLst>
                                      </p:cBhvr>
                                      <p:to>
                                        <p:strVal val="visible"/>
                                      </p:to>
                                    </p:set>
                                    <p:animEffect transition="in" filter="fade">
                                      <p:cBhvr>
                                        <p:cTn id="13" dur="600"/>
                                        <p:tgtEl>
                                          <p:spTgt spid="102">
                                            <p:txEl>
                                              <p:pRg st="0" end="0"/>
                                            </p:txEl>
                                          </p:spTgt>
                                        </p:tgtEl>
                                      </p:cBhvr>
                                    </p:animEffect>
                                    <p:anim calcmode="lin" valueType="num">
                                      <p:cBhvr>
                                        <p:cTn id="14" dur="600" fill="hold"/>
                                        <p:tgtEl>
                                          <p:spTgt spid="102">
                                            <p:txEl>
                                              <p:pRg st="0" end="0"/>
                                            </p:txEl>
                                          </p:spTgt>
                                        </p:tgtEl>
                                        <p:attrNameLst>
                                          <p:attrName>ppt_x</p:attrName>
                                        </p:attrNameLst>
                                      </p:cBhvr>
                                      <p:tavLst>
                                        <p:tav tm="0">
                                          <p:val>
                                            <p:strVal val="#ppt_x"/>
                                          </p:val>
                                        </p:tav>
                                        <p:tav tm="100000">
                                          <p:val>
                                            <p:strVal val="#ppt_x"/>
                                          </p:val>
                                        </p:tav>
                                      </p:tavLst>
                                    </p:anim>
                                    <p:anim calcmode="lin" valueType="num">
                                      <p:cBhvr>
                                        <p:cTn id="15" dur="600" fill="hold"/>
                                        <p:tgtEl>
                                          <p:spTgt spid="102">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1400"/>
                            </p:stCondLst>
                            <p:childTnLst>
                              <p:par>
                                <p:cTn id="17" presetID="42" presetClass="entr" presetSubtype="0" fill="hold" grpId="0" nodeType="afterEffect">
                                  <p:stCondLst>
                                    <p:cond delay="0"/>
                                  </p:stCondLst>
                                  <p:childTnLst>
                                    <p:set>
                                      <p:cBhvr>
                                        <p:cTn id="18" dur="1" fill="hold">
                                          <p:stCondLst>
                                            <p:cond delay="0"/>
                                          </p:stCondLst>
                                        </p:cTn>
                                        <p:tgtEl>
                                          <p:spTgt spid="102">
                                            <p:txEl>
                                              <p:pRg st="1" end="1"/>
                                            </p:txEl>
                                          </p:spTgt>
                                        </p:tgtEl>
                                        <p:attrNameLst>
                                          <p:attrName>style.visibility</p:attrName>
                                        </p:attrNameLst>
                                      </p:cBhvr>
                                      <p:to>
                                        <p:strVal val="visible"/>
                                      </p:to>
                                    </p:set>
                                    <p:animEffect transition="in" filter="fade">
                                      <p:cBhvr>
                                        <p:cTn id="19" dur="600"/>
                                        <p:tgtEl>
                                          <p:spTgt spid="102">
                                            <p:txEl>
                                              <p:pRg st="1" end="1"/>
                                            </p:txEl>
                                          </p:spTgt>
                                        </p:tgtEl>
                                      </p:cBhvr>
                                    </p:animEffect>
                                    <p:anim calcmode="lin" valueType="num">
                                      <p:cBhvr>
                                        <p:cTn id="20" dur="600" fill="hold"/>
                                        <p:tgtEl>
                                          <p:spTgt spid="102">
                                            <p:txEl>
                                              <p:pRg st="1" end="1"/>
                                            </p:txEl>
                                          </p:spTgt>
                                        </p:tgtEl>
                                        <p:attrNameLst>
                                          <p:attrName>ppt_x</p:attrName>
                                        </p:attrNameLst>
                                      </p:cBhvr>
                                      <p:tavLst>
                                        <p:tav tm="0">
                                          <p:val>
                                            <p:strVal val="#ppt_x"/>
                                          </p:val>
                                        </p:tav>
                                        <p:tav tm="100000">
                                          <p:val>
                                            <p:strVal val="#ppt_x"/>
                                          </p:val>
                                        </p:tav>
                                      </p:tavLst>
                                    </p:anim>
                                    <p:anim calcmode="lin" valueType="num">
                                      <p:cBhvr>
                                        <p:cTn id="21" dur="600" fill="hold"/>
                                        <p:tgtEl>
                                          <p:spTgt spid="102">
                                            <p:txEl>
                                              <p:pRg st="1" end="1"/>
                                            </p:txEl>
                                          </p:spTgt>
                                        </p:tgtEl>
                                        <p:attrNameLst>
                                          <p:attrName>ppt_y</p:attrName>
                                        </p:attrNameLst>
                                      </p:cBhvr>
                                      <p:tavLst>
                                        <p:tav tm="0">
                                          <p:val>
                                            <p:strVal val="#ppt_y+.1"/>
                                          </p:val>
                                        </p:tav>
                                        <p:tav tm="100000">
                                          <p:val>
                                            <p:strVal val="#ppt_y"/>
                                          </p:val>
                                        </p:tav>
                                      </p:tavLst>
                                    </p:anim>
                                  </p:childTnLst>
                                </p:cTn>
                              </p:par>
                            </p:childTnLst>
                          </p:cTn>
                        </p:par>
                        <p:par>
                          <p:cTn id="22" fill="hold">
                            <p:stCondLst>
                              <p:cond delay="2100"/>
                            </p:stCondLst>
                            <p:childTnLst>
                              <p:par>
                                <p:cTn id="23" presetID="53" presetClass="entr" presetSubtype="16" fill="hold" grpId="0" nodeType="afterEffect">
                                  <p:stCondLst>
                                    <p:cond delay="0"/>
                                  </p:stCondLst>
                                  <p:childTnLst>
                                    <p:set>
                                      <p:cBhvr>
                                        <p:cTn id="24" dur="1" fill="hold">
                                          <p:stCondLst>
                                            <p:cond delay="0"/>
                                          </p:stCondLst>
                                        </p:cTn>
                                        <p:tgtEl>
                                          <p:spTgt spid="103"/>
                                        </p:tgtEl>
                                        <p:attrNameLst>
                                          <p:attrName>style.visibility</p:attrName>
                                        </p:attrNameLst>
                                      </p:cBhvr>
                                      <p:to>
                                        <p:strVal val="visible"/>
                                      </p:to>
                                    </p:set>
                                    <p:animEffect transition="in" filter="fade">
                                      <p:cBhvr>
                                        <p:cTn id="25" dur="600"/>
                                        <p:tgtEl>
                                          <p:spTgt spid="103"/>
                                        </p:tgtEl>
                                      </p:cBhvr>
                                    </p:animEffect>
                                    <p:anim calcmode="lin" valueType="num">
                                      <p:cBhvr>
                                        <p:cTn id="26" dur="600" fill="hold"/>
                                        <p:tgtEl>
                                          <p:spTgt spid="103"/>
                                        </p:tgtEl>
                                        <p:attrNameLst>
                                          <p:attrName>ppt_w</p:attrName>
                                        </p:attrNameLst>
                                      </p:cBhvr>
                                      <p:tavLst>
                                        <p:tav tm="0">
                                          <p:val>
                                            <p:strVal val="0"/>
                                          </p:val>
                                        </p:tav>
                                        <p:tav tm="100000">
                                          <p:val>
                                            <p:strVal val="#ppt_w"/>
                                          </p:val>
                                        </p:tav>
                                      </p:tavLst>
                                    </p:anim>
                                    <p:anim calcmode="lin" valueType="num">
                                      <p:cBhvr>
                                        <p:cTn id="27" dur="600" fill="hold"/>
                                        <p:tgtEl>
                                          <p:spTgt spid="103"/>
                                        </p:tgtEl>
                                        <p:attrNameLst>
                                          <p:attrName>ppt_h</p:attrName>
                                        </p:attrNameLst>
                                      </p:cBhvr>
                                      <p:tavLst>
                                        <p:tav tm="0">
                                          <p:val>
                                            <p:strVal val="0"/>
                                          </p:val>
                                        </p:tav>
                                        <p:tav tm="100000">
                                          <p:val>
                                            <p:strVal val="#ppt_h"/>
                                          </p:val>
                                        </p:tav>
                                      </p:tavLst>
                                    </p:anim>
                                  </p:childTnLst>
                                </p:cTn>
                              </p:par>
                            </p:childTnLst>
                          </p:cTn>
                        </p:par>
                        <p:par>
                          <p:cTn id="28" fill="hold">
                            <p:stCondLst>
                              <p:cond delay="2800"/>
                            </p:stCondLst>
                            <p:childTnLst>
                              <p:par>
                                <p:cTn id="29" presetID="53" presetClass="entr" presetSubtype="16" fill="hold" grpId="0" nodeType="afterEffect">
                                  <p:stCondLst>
                                    <p:cond delay="0"/>
                                  </p:stCondLst>
                                  <p:childTnLst>
                                    <p:set>
                                      <p:cBhvr>
                                        <p:cTn id="30" dur="1" fill="hold">
                                          <p:stCondLst>
                                            <p:cond delay="0"/>
                                          </p:stCondLst>
                                        </p:cTn>
                                        <p:tgtEl>
                                          <p:spTgt spid="104"/>
                                        </p:tgtEl>
                                        <p:attrNameLst>
                                          <p:attrName>style.visibility</p:attrName>
                                        </p:attrNameLst>
                                      </p:cBhvr>
                                      <p:to>
                                        <p:strVal val="visible"/>
                                      </p:to>
                                    </p:set>
                                    <p:animEffect transition="in" filter="fade">
                                      <p:cBhvr>
                                        <p:cTn id="31" dur="600"/>
                                        <p:tgtEl>
                                          <p:spTgt spid="104"/>
                                        </p:tgtEl>
                                      </p:cBhvr>
                                    </p:animEffect>
                                    <p:anim calcmode="lin" valueType="num">
                                      <p:cBhvr>
                                        <p:cTn id="32" dur="600" fill="hold"/>
                                        <p:tgtEl>
                                          <p:spTgt spid="104"/>
                                        </p:tgtEl>
                                        <p:attrNameLst>
                                          <p:attrName>ppt_w</p:attrName>
                                        </p:attrNameLst>
                                      </p:cBhvr>
                                      <p:tavLst>
                                        <p:tav tm="0">
                                          <p:val>
                                            <p:strVal val="0"/>
                                          </p:val>
                                        </p:tav>
                                        <p:tav tm="100000">
                                          <p:val>
                                            <p:strVal val="#ppt_w"/>
                                          </p:val>
                                        </p:tav>
                                      </p:tavLst>
                                    </p:anim>
                                    <p:anim calcmode="lin" valueType="num">
                                      <p:cBhvr>
                                        <p:cTn id="33" dur="600" fill="hold"/>
                                        <p:tgtEl>
                                          <p:spTgt spid="10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build="p"/>
      <p:bldP spid="103" grpId="0"/>
      <p:bldP spid="10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F4F6F8"/>
                </a:solidFill>
                <a:latin typeface="Tahoma"/>
                <a:ea typeface="Tahoma"/>
                <a:cs typeface="Tahoma"/>
              </a:rPr>
              <a:t>أثر إضافة مذاب غير متطاير إلى الماء</a:t>
            </a:r>
          </a:p>
        </p:txBody>
      </p:sp>
      <p:sp>
        <p:nvSpPr>
          <p:cNvPr id="12" name="Chip"/>
          <p:cNvSpPr/>
          <p:nvPr/>
        </p:nvSpPr>
        <p:spPr>
          <a:xfrm>
            <a:off x="708837" y="452437"/>
            <a:ext cx="2480930" cy="404812"/>
          </a:xfrm>
          <a:prstGeom prst="roundRect">
            <a:avLst>
              <a:gd name="adj" fmla="val 50000"/>
            </a:avLst>
          </a:prstGeom>
          <a:solidFill>
            <a:srgbClr val="E8A94E">
              <a:alpha val="12000"/>
            </a:srgbClr>
          </a:solidFill>
          <a:ln w="12700" cap="rnd">
            <a:solidFill>
              <a:srgbClr val="E8A94E">
                <a:alpha val="70000"/>
              </a:srgbClr>
            </a:solidFill>
            <a:round/>
          </a:ln>
        </p:spPr>
        <p:txBody>
          <a:bodyPr wrap="square" lIns="0" tIns="0" rIns="0" bIns="0" rtlCol="0" anchor="ctr">
            <a:noAutofit/>
          </a:bodyPr>
          <a:lstStyle/>
          <a:p>
            <a:pPr algn="ctr" rtl="1">
              <a:lnSpc>
                <a:spcPct val="110000"/>
              </a:lnSpc>
              <a:buNone/>
            </a:pPr>
            <a:r>
              <a:rPr lang="ar-SA" sz="1400" b="1" i="0" dirty="0">
                <a:solidFill>
                  <a:srgbClr val="E8A94E"/>
                </a:solidFill>
                <a:latin typeface="Tahoma"/>
                <a:ea typeface="Tahoma"/>
                <a:cs typeface="Tahoma"/>
              </a:rPr>
              <a:t>مقدمة</a:t>
            </a:r>
          </a:p>
        </p:txBody>
      </p:sp>
      <p:sp>
        <p:nvSpPr>
          <p:cNvPr id="13" name="Card"/>
          <p:cNvSpPr/>
          <p:nvPr/>
        </p:nvSpPr>
        <p:spPr>
          <a:xfrm>
            <a:off x="708837" y="1309687"/>
            <a:ext cx="14838325" cy="891030"/>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400" b="1" i="0" dirty="0">
                <a:solidFill>
                  <a:srgbClr val="F4F6F8"/>
                </a:solidFill>
                <a:latin typeface="Tahoma"/>
                <a:ea typeface="Tahoma"/>
                <a:cs typeface="Tahoma"/>
              </a:rPr>
              <a:t>عند إضافة القليل من مادة </a:t>
            </a:r>
            <a:r>
              <a:rPr lang="ar-SA" sz="2400" b="1" i="0" dirty="0">
                <a:solidFill>
                  <a:srgbClr val="E8A94E"/>
                </a:solidFill>
                <a:latin typeface="Tahoma"/>
                <a:ea typeface="Tahoma"/>
                <a:cs typeface="Tahoma"/>
              </a:rPr>
              <a:t>غير متطايرة وغير إلكتروليتية</a:t>
            </a:r>
            <a:r>
              <a:rPr lang="ar-SA" sz="2400" b="1" i="0" dirty="0">
                <a:solidFill>
                  <a:srgbClr val="F4F6F8"/>
                </a:solidFill>
                <a:latin typeface="Tahoma"/>
                <a:ea typeface="Tahoma"/>
                <a:cs typeface="Tahoma"/>
              </a:rPr>
              <a:t> إلى الماء:</a:t>
            </a:r>
          </a:p>
        </p:txBody>
      </p:sp>
      <p:sp>
        <p:nvSpPr>
          <p:cNvPr id="14" name="Effect card 1"/>
          <p:cNvSpPr/>
          <p:nvPr/>
        </p:nvSpPr>
        <p:spPr>
          <a:xfrm>
            <a:off x="708837" y="2462655"/>
            <a:ext cx="14838325" cy="1095375"/>
          </a:xfrm>
          <a:prstGeom prst="roundRect">
            <a:avLst>
              <a:gd name="adj" fmla="val 12000"/>
            </a:avLst>
          </a:prstGeom>
          <a:solidFill>
            <a:srgbClr val="FFFFFF">
              <a:alpha val="6000"/>
            </a:srgbClr>
          </a:solidFill>
          <a:ln w="12700" cap="rnd">
            <a:solidFill>
              <a:srgbClr val="FFFFFF">
                <a:alpha val="24000"/>
              </a:srgbClr>
            </a:solidFill>
            <a:round/>
          </a:ln>
        </p:spPr>
        <p:txBody>
          <a:bodyPr rtlCol="0" anchor="ctr"/>
          <a:lstStyle/>
          <a:p>
            <a:endParaRPr lang="ar-SA"/>
          </a:p>
        </p:txBody>
      </p:sp>
      <p:sp>
        <p:nvSpPr>
          <p:cNvPr id="15" name="Effect arrow 1"/>
          <p:cNvSpPr/>
          <p:nvPr/>
        </p:nvSpPr>
        <p:spPr>
          <a:xfrm>
            <a:off x="14578418" y="2629343"/>
            <a:ext cx="567069" cy="762000"/>
          </a:xfrm>
          <a:prstGeom prst="downArrow">
            <a:avLst/>
          </a:prstGeom>
          <a:solidFill>
            <a:srgbClr val="7FC8F8"/>
          </a:solidFill>
          <a:ln>
            <a:noFill/>
          </a:ln>
        </p:spPr>
        <p:txBody>
          <a:bodyPr rtlCol="0" anchor="ctr"/>
          <a:lstStyle/>
          <a:p>
            <a:endParaRPr lang="ar-SA"/>
          </a:p>
        </p:txBody>
      </p:sp>
      <p:sp>
        <p:nvSpPr>
          <p:cNvPr id="16" name="Effect 1"/>
          <p:cNvSpPr txBox="1"/>
          <p:nvPr/>
        </p:nvSpPr>
        <p:spPr>
          <a:xfrm>
            <a:off x="1063255" y="2462655"/>
            <a:ext cx="13184372" cy="1095375"/>
          </a:xfrm>
          <a:prstGeom prst="rect">
            <a:avLst/>
          </a:prstGeom>
          <a:noFill/>
          <a:ln>
            <a:noFill/>
          </a:ln>
        </p:spPr>
        <p:txBody>
          <a:bodyPr wrap="square" lIns="0" tIns="0" rIns="0" bIns="0" rtlCol="0" anchor="ctr">
            <a:noAutofit/>
          </a:bodyPr>
          <a:lstStyle/>
          <a:p>
            <a:pPr algn="r" rtl="1">
              <a:lnSpc>
                <a:spcPct val="110000"/>
              </a:lnSpc>
              <a:buNone/>
            </a:pPr>
            <a:r>
              <a:rPr lang="ar-SA" sz="3000" b="1" i="0" dirty="0">
                <a:solidFill>
                  <a:srgbClr val="F4F6F8"/>
                </a:solidFill>
                <a:latin typeface="Tahoma"/>
                <a:ea typeface="Tahoma"/>
                <a:cs typeface="Tahoma"/>
              </a:rPr>
              <a:t>يقلّ الضغط البخاري.</a:t>
            </a:r>
          </a:p>
        </p:txBody>
      </p:sp>
      <p:sp>
        <p:nvSpPr>
          <p:cNvPr id="17" name="Effect card 2"/>
          <p:cNvSpPr/>
          <p:nvPr/>
        </p:nvSpPr>
        <p:spPr>
          <a:xfrm>
            <a:off x="708837" y="3772343"/>
            <a:ext cx="14838325" cy="1095375"/>
          </a:xfrm>
          <a:prstGeom prst="roundRect">
            <a:avLst>
              <a:gd name="adj" fmla="val 12000"/>
            </a:avLst>
          </a:prstGeom>
          <a:solidFill>
            <a:srgbClr val="FFFFFF">
              <a:alpha val="6000"/>
            </a:srgbClr>
          </a:solidFill>
          <a:ln w="12700" cap="rnd">
            <a:solidFill>
              <a:srgbClr val="FFFFFF">
                <a:alpha val="24000"/>
              </a:srgbClr>
            </a:solidFill>
            <a:round/>
          </a:ln>
        </p:spPr>
        <p:txBody>
          <a:bodyPr rtlCol="0" anchor="ctr"/>
          <a:lstStyle/>
          <a:p>
            <a:endParaRPr lang="ar-SA"/>
          </a:p>
        </p:txBody>
      </p:sp>
      <p:sp>
        <p:nvSpPr>
          <p:cNvPr id="18" name="Effect arrow 2"/>
          <p:cNvSpPr/>
          <p:nvPr/>
        </p:nvSpPr>
        <p:spPr>
          <a:xfrm>
            <a:off x="14578418" y="3939030"/>
            <a:ext cx="567069" cy="762000"/>
          </a:xfrm>
          <a:prstGeom prst="upArrow">
            <a:avLst/>
          </a:prstGeom>
          <a:solidFill>
            <a:srgbClr val="F07C7C"/>
          </a:solidFill>
          <a:ln>
            <a:noFill/>
          </a:ln>
        </p:spPr>
        <p:txBody>
          <a:bodyPr rtlCol="0" anchor="ctr"/>
          <a:lstStyle/>
          <a:p>
            <a:endParaRPr lang="ar-SA"/>
          </a:p>
        </p:txBody>
      </p:sp>
      <p:sp>
        <p:nvSpPr>
          <p:cNvPr id="19" name="Effect 2"/>
          <p:cNvSpPr txBox="1"/>
          <p:nvPr/>
        </p:nvSpPr>
        <p:spPr>
          <a:xfrm>
            <a:off x="1063255" y="3772343"/>
            <a:ext cx="13184372" cy="1095375"/>
          </a:xfrm>
          <a:prstGeom prst="rect">
            <a:avLst/>
          </a:prstGeom>
          <a:noFill/>
          <a:ln>
            <a:noFill/>
          </a:ln>
        </p:spPr>
        <p:txBody>
          <a:bodyPr wrap="square" lIns="0" tIns="0" rIns="0" bIns="0" rtlCol="0" anchor="ctr">
            <a:noAutofit/>
          </a:bodyPr>
          <a:lstStyle/>
          <a:p>
            <a:pPr algn="r" rtl="1">
              <a:lnSpc>
                <a:spcPct val="110000"/>
              </a:lnSpc>
              <a:buNone/>
            </a:pPr>
            <a:r>
              <a:rPr lang="ar-SA" sz="3000" b="1" i="0" dirty="0">
                <a:solidFill>
                  <a:srgbClr val="F4F6F8"/>
                </a:solidFill>
                <a:latin typeface="Tahoma"/>
                <a:ea typeface="Tahoma"/>
                <a:cs typeface="Tahoma"/>
              </a:rPr>
              <a:t>ترتفع درجة الغليان عن ‪100 °C‬.</a:t>
            </a:r>
          </a:p>
        </p:txBody>
      </p:sp>
      <p:sp>
        <p:nvSpPr>
          <p:cNvPr id="20" name="Effect card 3"/>
          <p:cNvSpPr/>
          <p:nvPr/>
        </p:nvSpPr>
        <p:spPr>
          <a:xfrm>
            <a:off x="708837" y="5082030"/>
            <a:ext cx="14838325" cy="1095375"/>
          </a:xfrm>
          <a:prstGeom prst="roundRect">
            <a:avLst>
              <a:gd name="adj" fmla="val 12000"/>
            </a:avLst>
          </a:prstGeom>
          <a:solidFill>
            <a:srgbClr val="FFFFFF">
              <a:alpha val="6000"/>
            </a:srgbClr>
          </a:solidFill>
          <a:ln w="12700" cap="rnd">
            <a:solidFill>
              <a:srgbClr val="FFFFFF">
                <a:alpha val="24000"/>
              </a:srgbClr>
            </a:solidFill>
            <a:round/>
          </a:ln>
        </p:spPr>
        <p:txBody>
          <a:bodyPr rtlCol="0" anchor="ctr"/>
          <a:lstStyle/>
          <a:p>
            <a:endParaRPr lang="ar-SA"/>
          </a:p>
        </p:txBody>
      </p:sp>
      <p:sp>
        <p:nvSpPr>
          <p:cNvPr id="21" name="Effect arrow 3"/>
          <p:cNvSpPr/>
          <p:nvPr/>
        </p:nvSpPr>
        <p:spPr>
          <a:xfrm>
            <a:off x="14578418" y="5248718"/>
            <a:ext cx="567069" cy="762000"/>
          </a:xfrm>
          <a:prstGeom prst="downArrow">
            <a:avLst/>
          </a:prstGeom>
          <a:solidFill>
            <a:srgbClr val="7FC8F8"/>
          </a:solidFill>
          <a:ln>
            <a:noFill/>
          </a:ln>
        </p:spPr>
        <p:txBody>
          <a:bodyPr rtlCol="0" anchor="ctr"/>
          <a:lstStyle/>
          <a:p>
            <a:endParaRPr lang="ar-SA"/>
          </a:p>
        </p:txBody>
      </p:sp>
      <p:sp>
        <p:nvSpPr>
          <p:cNvPr id="22" name="Effect 3"/>
          <p:cNvSpPr txBox="1"/>
          <p:nvPr/>
        </p:nvSpPr>
        <p:spPr>
          <a:xfrm>
            <a:off x="1063255" y="5082030"/>
            <a:ext cx="13184372" cy="1095375"/>
          </a:xfrm>
          <a:prstGeom prst="rect">
            <a:avLst/>
          </a:prstGeom>
          <a:noFill/>
          <a:ln>
            <a:noFill/>
          </a:ln>
        </p:spPr>
        <p:txBody>
          <a:bodyPr wrap="square" lIns="0" tIns="0" rIns="0" bIns="0" rtlCol="0" anchor="ctr">
            <a:noAutofit/>
          </a:bodyPr>
          <a:lstStyle/>
          <a:p>
            <a:pPr algn="r" rtl="1">
              <a:lnSpc>
                <a:spcPct val="110000"/>
              </a:lnSpc>
              <a:buNone/>
            </a:pPr>
            <a:r>
              <a:rPr lang="ar-SA" sz="3000" b="1" i="0" dirty="0">
                <a:solidFill>
                  <a:srgbClr val="F4F6F8"/>
                </a:solidFill>
                <a:latin typeface="Tahoma"/>
                <a:ea typeface="Tahoma"/>
                <a:cs typeface="Tahoma"/>
              </a:rPr>
              <a:t>تنخفض درجة التجمد عن ‪0 °C‬.</a:t>
            </a:r>
          </a:p>
        </p:txBody>
      </p:sp>
      <p:sp>
        <p:nvSpPr>
          <p:cNvPr id="23" name="Card"/>
          <p:cNvSpPr/>
          <p:nvPr/>
        </p:nvSpPr>
        <p:spPr>
          <a:xfrm>
            <a:off x="708837" y="6486968"/>
            <a:ext cx="14838325" cy="854481"/>
          </a:xfrm>
          <a:prstGeom prst="roundRect">
            <a:avLst>
              <a:gd name="adj" fmla="val 7000"/>
            </a:avLst>
          </a:prstGeom>
          <a:solidFill>
            <a:srgbClr val="E8A94E">
              <a:alpha val="9000"/>
            </a:srgbClr>
          </a:solidFill>
          <a:ln w="12700" cap="rnd">
            <a:solidFill>
              <a:srgbClr val="E8A94E">
                <a:alpha val="45000"/>
              </a:srgbClr>
            </a:solidFill>
            <a:round/>
          </a:ln>
        </p:spPr>
        <p:txBody>
          <a:bodyPr wrap="square" lIns="259906" tIns="165395" rIns="259906" bIns="165395" rtlCol="0" anchor="t">
            <a:noAutofit/>
          </a:bodyPr>
          <a:lstStyle/>
          <a:p>
            <a:pPr algn="r" rtl="1">
              <a:lnSpc>
                <a:spcPct val="118000"/>
              </a:lnSpc>
              <a:buNone/>
            </a:pPr>
            <a:r>
              <a:rPr lang="ar-SA" sz="2200" b="1" i="0" dirty="0">
                <a:solidFill>
                  <a:srgbClr val="F4F6F8"/>
                </a:solidFill>
                <a:latin typeface="Tahoma"/>
                <a:ea typeface="Tahoma"/>
                <a:cs typeface="Tahoma"/>
              </a:rPr>
              <a:t>غالبًا ما يكون الارتفاع في درجات الغليان والانخفاض في درجات التجمد </a:t>
            </a:r>
            <a:r>
              <a:rPr lang="ar-SA" sz="2200" b="1" i="0" dirty="0">
                <a:solidFill>
                  <a:srgbClr val="E8A94E"/>
                </a:solidFill>
                <a:latin typeface="Tahoma"/>
                <a:ea typeface="Tahoma"/>
                <a:cs typeface="Tahoma"/>
              </a:rPr>
              <a:t>صغيرًا للغاية</a:t>
            </a:r>
            <a:r>
              <a:rPr lang="ar-SA" sz="2200" b="1" i="0" dirty="0">
                <a:solidFill>
                  <a:srgbClr val="F4F6F8"/>
                </a:solidFill>
                <a:latin typeface="Tahoma"/>
                <a:ea typeface="Tahoma"/>
                <a:cs typeface="Tahoma"/>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anim calcmode="lin" valueType="num">
                                      <p:cBhvr>
                                        <p:cTn id="23" dur="500" fill="hold"/>
                                        <p:tgtEl>
                                          <p:spTgt spid="15"/>
                                        </p:tgtEl>
                                        <p:attrNameLst>
                                          <p:attrName>ppt_w</p:attrName>
                                        </p:attrNameLst>
                                      </p:cBhvr>
                                      <p:tavLst>
                                        <p:tav tm="0">
                                          <p:val>
                                            <p:strVal val="0"/>
                                          </p:val>
                                        </p:tav>
                                        <p:tav tm="100000">
                                          <p:val>
                                            <p:strVal val="#ppt_w"/>
                                          </p:val>
                                        </p:tav>
                                      </p:tavLst>
                                    </p:anim>
                                    <p:anim calcmode="lin" valueType="num">
                                      <p:cBhvr>
                                        <p:cTn id="24" dur="500" fill="hold"/>
                                        <p:tgtEl>
                                          <p:spTgt spid="15"/>
                                        </p:tgtEl>
                                        <p:attrNameLst>
                                          <p:attrName>ppt_h</p:attrName>
                                        </p:attrNameLst>
                                      </p:cBhvr>
                                      <p:tavLst>
                                        <p:tav tm="0">
                                          <p:val>
                                            <p:strVal val="0"/>
                                          </p:val>
                                        </p:tav>
                                        <p:tav tm="100000">
                                          <p:val>
                                            <p:strVal val="#ppt_h"/>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anim calcmode="lin" valueType="num">
                                      <p:cBhvr>
                                        <p:cTn id="28" dur="500" fill="hold"/>
                                        <p:tgtEl>
                                          <p:spTgt spid="16"/>
                                        </p:tgtEl>
                                        <p:attrNameLst>
                                          <p:attrName>ppt_x</p:attrName>
                                        </p:attrNameLst>
                                      </p:cBhvr>
                                      <p:tavLst>
                                        <p:tav tm="0">
                                          <p:val>
                                            <p:strVal val="#ppt_x"/>
                                          </p:val>
                                        </p:tav>
                                        <p:tav tm="100000">
                                          <p:val>
                                            <p:strVal val="#ppt_x"/>
                                          </p:val>
                                        </p:tav>
                                      </p:tavLst>
                                    </p:anim>
                                    <p:anim calcmode="lin" valueType="num">
                                      <p:cBhvr>
                                        <p:cTn id="29" dur="5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400"/>
                                        <p:tgtEl>
                                          <p:spTgt spid="17"/>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anim calcmode="lin" valueType="num">
                                      <p:cBhvr>
                                        <p:cTn id="38" dur="500" fill="hold"/>
                                        <p:tgtEl>
                                          <p:spTgt spid="18"/>
                                        </p:tgtEl>
                                        <p:attrNameLst>
                                          <p:attrName>ppt_w</p:attrName>
                                        </p:attrNameLst>
                                      </p:cBhvr>
                                      <p:tavLst>
                                        <p:tav tm="0">
                                          <p:val>
                                            <p:strVal val="0"/>
                                          </p:val>
                                        </p:tav>
                                        <p:tav tm="100000">
                                          <p:val>
                                            <p:strVal val="#ppt_w"/>
                                          </p:val>
                                        </p:tav>
                                      </p:tavLst>
                                    </p:anim>
                                    <p:anim calcmode="lin" valueType="num">
                                      <p:cBhvr>
                                        <p:cTn id="39" dur="500" fill="hold"/>
                                        <p:tgtEl>
                                          <p:spTgt spid="18"/>
                                        </p:tgtEl>
                                        <p:attrNameLst>
                                          <p:attrName>ppt_h</p:attrName>
                                        </p:attrNameLst>
                                      </p:cBhvr>
                                      <p:tavLst>
                                        <p:tav tm="0">
                                          <p:val>
                                            <p:strVal val="0"/>
                                          </p:val>
                                        </p:tav>
                                        <p:tav tm="100000">
                                          <p:val>
                                            <p:strVal val="#ppt_h"/>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500"/>
                                        <p:tgtEl>
                                          <p:spTgt spid="19"/>
                                        </p:tgtEl>
                                      </p:cBhvr>
                                    </p:animEffect>
                                    <p:anim calcmode="lin" valueType="num">
                                      <p:cBhvr>
                                        <p:cTn id="43" dur="500" fill="hold"/>
                                        <p:tgtEl>
                                          <p:spTgt spid="19"/>
                                        </p:tgtEl>
                                        <p:attrNameLst>
                                          <p:attrName>ppt_x</p:attrName>
                                        </p:attrNameLst>
                                      </p:cBhvr>
                                      <p:tavLst>
                                        <p:tav tm="0">
                                          <p:val>
                                            <p:strVal val="#ppt_x"/>
                                          </p:val>
                                        </p:tav>
                                        <p:tav tm="100000">
                                          <p:val>
                                            <p:strVal val="#ppt_x"/>
                                          </p:val>
                                        </p:tav>
                                      </p:tavLst>
                                    </p:anim>
                                    <p:anim calcmode="lin" valueType="num">
                                      <p:cBhvr>
                                        <p:cTn id="44"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500"/>
                                        <p:tgtEl>
                                          <p:spTgt spid="21"/>
                                        </p:tgtEl>
                                      </p:cBhvr>
                                    </p:animEffect>
                                    <p:anim calcmode="lin" valueType="num">
                                      <p:cBhvr>
                                        <p:cTn id="53" dur="500" fill="hold"/>
                                        <p:tgtEl>
                                          <p:spTgt spid="21"/>
                                        </p:tgtEl>
                                        <p:attrNameLst>
                                          <p:attrName>ppt_w</p:attrName>
                                        </p:attrNameLst>
                                      </p:cBhvr>
                                      <p:tavLst>
                                        <p:tav tm="0">
                                          <p:val>
                                            <p:strVal val="0"/>
                                          </p:val>
                                        </p:tav>
                                        <p:tav tm="100000">
                                          <p:val>
                                            <p:strVal val="#ppt_w"/>
                                          </p:val>
                                        </p:tav>
                                      </p:tavLst>
                                    </p:anim>
                                    <p:anim calcmode="lin" valueType="num">
                                      <p:cBhvr>
                                        <p:cTn id="54" dur="500" fill="hold"/>
                                        <p:tgtEl>
                                          <p:spTgt spid="21"/>
                                        </p:tgtEl>
                                        <p:attrNameLst>
                                          <p:attrName>ppt_h</p:attrName>
                                        </p:attrNameLst>
                                      </p:cBhvr>
                                      <p:tavLst>
                                        <p:tav tm="0">
                                          <p:val>
                                            <p:strVal val="0"/>
                                          </p:val>
                                        </p:tav>
                                        <p:tav tm="100000">
                                          <p:val>
                                            <p:strVal val="#ppt_h"/>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fade">
                                      <p:cBhvr>
                                        <p:cTn id="57" dur="500"/>
                                        <p:tgtEl>
                                          <p:spTgt spid="22"/>
                                        </p:tgtEl>
                                      </p:cBhvr>
                                    </p:animEffect>
                                    <p:anim calcmode="lin" valueType="num">
                                      <p:cBhvr>
                                        <p:cTn id="58" dur="500" fill="hold"/>
                                        <p:tgtEl>
                                          <p:spTgt spid="22"/>
                                        </p:tgtEl>
                                        <p:attrNameLst>
                                          <p:attrName>ppt_x</p:attrName>
                                        </p:attrNameLst>
                                      </p:cBhvr>
                                      <p:tavLst>
                                        <p:tav tm="0">
                                          <p:val>
                                            <p:strVal val="#ppt_x"/>
                                          </p:val>
                                        </p:tav>
                                        <p:tav tm="100000">
                                          <p:val>
                                            <p:strVal val="#ppt_x"/>
                                          </p:val>
                                        </p:tav>
                                      </p:tavLst>
                                    </p:anim>
                                    <p:anim calcmode="lin" valueType="num">
                                      <p:cBhvr>
                                        <p:cTn id="59" dur="5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anim calcmode="lin" valueType="num">
                                      <p:cBhvr>
                                        <p:cTn id="65" dur="500" fill="hold"/>
                                        <p:tgtEl>
                                          <p:spTgt spid="23"/>
                                        </p:tgtEl>
                                        <p:attrNameLst>
                                          <p:attrName>ppt_x</p:attrName>
                                        </p:attrNameLst>
                                      </p:cBhvr>
                                      <p:tavLst>
                                        <p:tav tm="0">
                                          <p:val>
                                            <p:strVal val="#ppt_x"/>
                                          </p:val>
                                        </p:tav>
                                        <p:tav tm="100000">
                                          <p:val>
                                            <p:strVal val="#ppt_x"/>
                                          </p:val>
                                        </p:tav>
                                      </p:tavLst>
                                    </p:anim>
                                    <p:anim calcmode="lin" valueType="num">
                                      <p:cBhvr>
                                        <p:cTn id="66" dur="5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F4F6F8"/>
                </a:solidFill>
                <a:latin typeface="Tahoma"/>
                <a:ea typeface="Tahoma"/>
                <a:cs typeface="Tahoma"/>
              </a:rPr>
              <a:t>الانخفاض في الضغط البخاري</a:t>
            </a:r>
          </a:p>
        </p:txBody>
      </p:sp>
      <p:sp>
        <p:nvSpPr>
          <p:cNvPr id="12" name="Chip"/>
          <p:cNvSpPr/>
          <p:nvPr/>
        </p:nvSpPr>
        <p:spPr>
          <a:xfrm>
            <a:off x="708837" y="452437"/>
            <a:ext cx="2480930" cy="404812"/>
          </a:xfrm>
          <a:prstGeom prst="roundRect">
            <a:avLst>
              <a:gd name="adj" fmla="val 50000"/>
            </a:avLst>
          </a:prstGeom>
          <a:solidFill>
            <a:srgbClr val="E8A94E">
              <a:alpha val="12000"/>
            </a:srgbClr>
          </a:solidFill>
          <a:ln w="12700" cap="rnd">
            <a:solidFill>
              <a:srgbClr val="E8A94E">
                <a:alpha val="70000"/>
              </a:srgbClr>
            </a:solidFill>
            <a:round/>
          </a:ln>
        </p:spPr>
        <p:txBody>
          <a:bodyPr wrap="square" lIns="0" tIns="0" rIns="0" bIns="0" rtlCol="0" anchor="ctr">
            <a:noAutofit/>
          </a:bodyPr>
          <a:lstStyle/>
          <a:p>
            <a:pPr algn="ctr" rtl="1">
              <a:lnSpc>
                <a:spcPct val="110000"/>
              </a:lnSpc>
              <a:buNone/>
            </a:pPr>
            <a:r>
              <a:rPr lang="ar-SA" sz="1400" b="1" i="0" dirty="0">
                <a:solidFill>
                  <a:srgbClr val="E8A94E"/>
                </a:solidFill>
                <a:latin typeface="Tahoma"/>
                <a:ea typeface="Tahoma"/>
                <a:cs typeface="Tahoma"/>
              </a:rPr>
              <a:t>الحصة الأولى</a:t>
            </a:r>
          </a:p>
        </p:txBody>
      </p:sp>
      <p:sp>
        <p:nvSpPr>
          <p:cNvPr id="13" name="Figure card"/>
          <p:cNvSpPr/>
          <p:nvPr/>
        </p:nvSpPr>
        <p:spPr>
          <a:xfrm>
            <a:off x="708837" y="1238250"/>
            <a:ext cx="7560930" cy="7429500"/>
          </a:xfrm>
          <a:prstGeom prst="roundRect">
            <a:avLst>
              <a:gd name="adj" fmla="val 5000"/>
            </a:avLst>
          </a:prstGeom>
          <a:solidFill>
            <a:srgbClr val="FFFFFF">
              <a:alpha val="5000"/>
            </a:srgbClr>
          </a:solidFill>
          <a:ln w="12700" cap="rnd">
            <a:solidFill>
              <a:srgbClr val="FFFFFF">
                <a:alpha val="22000"/>
              </a:srgbClr>
            </a:solidFill>
            <a:round/>
          </a:ln>
        </p:spPr>
        <p:txBody>
          <a:bodyPr rtlCol="0" anchor="ctr"/>
          <a:lstStyle/>
          <a:p>
            <a:endParaRPr lang="ar-SA"/>
          </a:p>
        </p:txBody>
      </p:sp>
      <p:sp>
        <p:nvSpPr>
          <p:cNvPr id="14" name="Axes"/>
          <p:cNvSpPr/>
          <p:nvPr/>
        </p:nvSpPr>
        <p:spPr>
          <a:xfrm>
            <a:off x="1937488" y="1619250"/>
            <a:ext cx="6025234" cy="5810369"/>
          </a:xfrm>
          <a:custGeom>
            <a:avLst/>
            <a:gdLst/>
            <a:ahLst/>
            <a:cxnLst/>
            <a:rect l="0" t="0" r="r" b="b"/>
            <a:pathLst>
              <a:path w="6025234" h="5810369" fill="none">
                <a:moveTo>
                  <a:pt x="0" y="0"/>
                </a:moveTo>
                <a:lnTo>
                  <a:pt x="0" y="5810250"/>
                </a:lnTo>
                <a:lnTo>
                  <a:pt x="6025116" y="5810250"/>
                </a:lnTo>
              </a:path>
            </a:pathLst>
          </a:custGeom>
          <a:noFill/>
          <a:ln w="22225" cap="rnd">
            <a:solidFill>
              <a:srgbClr val="D9DEE4">
                <a:alpha val="100000"/>
              </a:srgbClr>
            </a:solidFill>
            <a:round/>
          </a:ln>
        </p:spPr>
        <p:txBody>
          <a:bodyPr rtlCol="0" anchor="ctr"/>
          <a:lstStyle/>
          <a:p>
            <a:endParaRPr lang="ar-SA"/>
          </a:p>
        </p:txBody>
      </p:sp>
      <p:sp>
        <p:nvSpPr>
          <p:cNvPr id="15" name="Grid 0.25"/>
          <p:cNvSpPr/>
          <p:nvPr/>
        </p:nvSpPr>
        <p:spPr>
          <a:xfrm>
            <a:off x="1937488" y="6153830"/>
            <a:ext cx="5930722" cy="119"/>
          </a:xfrm>
          <a:custGeom>
            <a:avLst/>
            <a:gdLst/>
            <a:ahLst/>
            <a:cxnLst/>
            <a:rect l="0" t="0" r="r" b="b"/>
            <a:pathLst>
              <a:path w="5930722" h="119" fill="none">
                <a:moveTo>
                  <a:pt x="0" y="0"/>
                </a:moveTo>
                <a:lnTo>
                  <a:pt x="5930604" y="0"/>
                </a:lnTo>
              </a:path>
            </a:pathLst>
          </a:custGeom>
          <a:noFill/>
          <a:ln w="9525" cap="rnd">
            <a:solidFill>
              <a:srgbClr val="D9DEE4">
                <a:alpha val="28000"/>
              </a:srgbClr>
            </a:solidFill>
            <a:prstDash val="dash"/>
            <a:round/>
          </a:ln>
        </p:spPr>
        <p:txBody>
          <a:bodyPr rtlCol="0" anchor="ctr"/>
          <a:lstStyle/>
          <a:p>
            <a:endParaRPr lang="ar-SA"/>
          </a:p>
        </p:txBody>
      </p:sp>
      <p:sp>
        <p:nvSpPr>
          <p:cNvPr id="16" name="Y tick 0.25"/>
          <p:cNvSpPr txBox="1"/>
          <p:nvPr/>
        </p:nvSpPr>
        <p:spPr>
          <a:xfrm>
            <a:off x="1304611" y="6007379"/>
            <a:ext cx="556917"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0.25</a:t>
            </a:r>
          </a:p>
        </p:txBody>
      </p:sp>
      <p:sp>
        <p:nvSpPr>
          <p:cNvPr id="17" name="Grid 0.5"/>
          <p:cNvSpPr/>
          <p:nvPr/>
        </p:nvSpPr>
        <p:spPr>
          <a:xfrm>
            <a:off x="1937488" y="4878160"/>
            <a:ext cx="5930722" cy="119"/>
          </a:xfrm>
          <a:custGeom>
            <a:avLst/>
            <a:gdLst/>
            <a:ahLst/>
            <a:cxnLst/>
            <a:rect l="0" t="0" r="r" b="b"/>
            <a:pathLst>
              <a:path w="5930722" h="119" fill="none">
                <a:moveTo>
                  <a:pt x="0" y="0"/>
                </a:moveTo>
                <a:lnTo>
                  <a:pt x="5930604" y="0"/>
                </a:lnTo>
              </a:path>
            </a:pathLst>
          </a:custGeom>
          <a:noFill/>
          <a:ln w="9525" cap="rnd">
            <a:solidFill>
              <a:srgbClr val="D9DEE4">
                <a:alpha val="28000"/>
              </a:srgbClr>
            </a:solidFill>
            <a:prstDash val="dash"/>
            <a:round/>
          </a:ln>
        </p:spPr>
        <p:txBody>
          <a:bodyPr rtlCol="0" anchor="ctr"/>
          <a:lstStyle/>
          <a:p>
            <a:endParaRPr lang="ar-SA"/>
          </a:p>
        </p:txBody>
      </p:sp>
      <p:sp>
        <p:nvSpPr>
          <p:cNvPr id="18" name="Y tick 0.5"/>
          <p:cNvSpPr txBox="1"/>
          <p:nvPr/>
        </p:nvSpPr>
        <p:spPr>
          <a:xfrm>
            <a:off x="1304611" y="4731709"/>
            <a:ext cx="556917"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0.50</a:t>
            </a:r>
          </a:p>
        </p:txBody>
      </p:sp>
      <p:sp>
        <p:nvSpPr>
          <p:cNvPr id="19" name="Grid 0.75"/>
          <p:cNvSpPr/>
          <p:nvPr/>
        </p:nvSpPr>
        <p:spPr>
          <a:xfrm>
            <a:off x="1937488" y="3602491"/>
            <a:ext cx="5930722" cy="119"/>
          </a:xfrm>
          <a:custGeom>
            <a:avLst/>
            <a:gdLst/>
            <a:ahLst/>
            <a:cxnLst/>
            <a:rect l="0" t="0" r="r" b="b"/>
            <a:pathLst>
              <a:path w="5930722" h="119" fill="none">
                <a:moveTo>
                  <a:pt x="0" y="0"/>
                </a:moveTo>
                <a:lnTo>
                  <a:pt x="5930604" y="0"/>
                </a:lnTo>
              </a:path>
            </a:pathLst>
          </a:custGeom>
          <a:noFill/>
          <a:ln w="9525" cap="rnd">
            <a:solidFill>
              <a:srgbClr val="D9DEE4">
                <a:alpha val="28000"/>
              </a:srgbClr>
            </a:solidFill>
            <a:prstDash val="dash"/>
            <a:round/>
          </a:ln>
        </p:spPr>
        <p:txBody>
          <a:bodyPr rtlCol="0" anchor="ctr"/>
          <a:lstStyle/>
          <a:p>
            <a:endParaRPr lang="ar-SA"/>
          </a:p>
        </p:txBody>
      </p:sp>
      <p:sp>
        <p:nvSpPr>
          <p:cNvPr id="20" name="Y tick 0.75"/>
          <p:cNvSpPr txBox="1"/>
          <p:nvPr/>
        </p:nvSpPr>
        <p:spPr>
          <a:xfrm>
            <a:off x="1306549" y="3456039"/>
            <a:ext cx="553040"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0.75</a:t>
            </a:r>
          </a:p>
        </p:txBody>
      </p:sp>
      <p:sp>
        <p:nvSpPr>
          <p:cNvPr id="21" name="Grid 1.0"/>
          <p:cNvSpPr/>
          <p:nvPr/>
        </p:nvSpPr>
        <p:spPr>
          <a:xfrm>
            <a:off x="1937488" y="2326821"/>
            <a:ext cx="5930722" cy="119"/>
          </a:xfrm>
          <a:custGeom>
            <a:avLst/>
            <a:gdLst/>
            <a:ahLst/>
            <a:cxnLst/>
            <a:rect l="0" t="0" r="r" b="b"/>
            <a:pathLst>
              <a:path w="5930722" h="119" fill="none">
                <a:moveTo>
                  <a:pt x="0" y="0"/>
                </a:moveTo>
                <a:lnTo>
                  <a:pt x="5930604" y="0"/>
                </a:lnTo>
              </a:path>
            </a:pathLst>
          </a:custGeom>
          <a:noFill/>
          <a:ln w="9525" cap="rnd">
            <a:solidFill>
              <a:srgbClr val="D9DEE4">
                <a:alpha val="75000"/>
              </a:srgbClr>
            </a:solidFill>
            <a:prstDash val="dash"/>
            <a:round/>
          </a:ln>
        </p:spPr>
        <p:txBody>
          <a:bodyPr rtlCol="0" anchor="ctr"/>
          <a:lstStyle/>
          <a:p>
            <a:endParaRPr lang="ar-SA"/>
          </a:p>
        </p:txBody>
      </p:sp>
      <p:sp>
        <p:nvSpPr>
          <p:cNvPr id="22" name="Y tick 1.0"/>
          <p:cNvSpPr txBox="1"/>
          <p:nvPr/>
        </p:nvSpPr>
        <p:spPr>
          <a:xfrm>
            <a:off x="1304611" y="2180370"/>
            <a:ext cx="556917"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1.00</a:t>
            </a:r>
          </a:p>
        </p:txBody>
      </p:sp>
      <p:sp>
        <p:nvSpPr>
          <p:cNvPr id="23" name="X tick 0"/>
          <p:cNvSpPr txBox="1"/>
          <p:nvPr/>
        </p:nvSpPr>
        <p:spPr>
          <a:xfrm>
            <a:off x="2048127" y="7473548"/>
            <a:ext cx="294425"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0</a:t>
            </a:r>
          </a:p>
        </p:txBody>
      </p:sp>
      <p:sp>
        <p:nvSpPr>
          <p:cNvPr id="24" name="X tick 20"/>
          <p:cNvSpPr txBox="1"/>
          <p:nvPr/>
        </p:nvSpPr>
        <p:spPr>
          <a:xfrm>
            <a:off x="3026836" y="7473548"/>
            <a:ext cx="399828"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20</a:t>
            </a:r>
          </a:p>
        </p:txBody>
      </p:sp>
      <p:sp>
        <p:nvSpPr>
          <p:cNvPr id="25" name="X tick 40"/>
          <p:cNvSpPr txBox="1"/>
          <p:nvPr/>
        </p:nvSpPr>
        <p:spPr>
          <a:xfrm>
            <a:off x="4058245" y="7473548"/>
            <a:ext cx="399828"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40</a:t>
            </a:r>
          </a:p>
        </p:txBody>
      </p:sp>
      <p:sp>
        <p:nvSpPr>
          <p:cNvPr id="26" name="X tick 60"/>
          <p:cNvSpPr txBox="1"/>
          <p:nvPr/>
        </p:nvSpPr>
        <p:spPr>
          <a:xfrm>
            <a:off x="5089655" y="7473548"/>
            <a:ext cx="399828"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60</a:t>
            </a:r>
          </a:p>
        </p:txBody>
      </p:sp>
      <p:sp>
        <p:nvSpPr>
          <p:cNvPr id="27" name="X tick 80"/>
          <p:cNvSpPr txBox="1"/>
          <p:nvPr/>
        </p:nvSpPr>
        <p:spPr>
          <a:xfrm>
            <a:off x="6121064" y="7473548"/>
            <a:ext cx="399828"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80</a:t>
            </a:r>
          </a:p>
        </p:txBody>
      </p:sp>
      <p:sp>
        <p:nvSpPr>
          <p:cNvPr id="28" name="X tick 100"/>
          <p:cNvSpPr txBox="1"/>
          <p:nvPr/>
        </p:nvSpPr>
        <p:spPr>
          <a:xfrm>
            <a:off x="7099772" y="7473548"/>
            <a:ext cx="505231"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100</a:t>
            </a:r>
          </a:p>
        </p:txBody>
      </p:sp>
      <p:sp>
        <p:nvSpPr>
          <p:cNvPr id="29" name="X axis"/>
          <p:cNvSpPr txBox="1"/>
          <p:nvPr/>
        </p:nvSpPr>
        <p:spPr>
          <a:xfrm>
            <a:off x="3988870" y="7813700"/>
            <a:ext cx="1827840" cy="326973"/>
          </a:xfrm>
          <a:prstGeom prst="rect">
            <a:avLst/>
          </a:prstGeom>
          <a:noFill/>
          <a:ln>
            <a:noFill/>
          </a:ln>
        </p:spPr>
        <p:txBody>
          <a:bodyPr wrap="square" lIns="0" tIns="0" rIns="0" bIns="0" rtlCol="0" anchor="ctr">
            <a:noAutofit/>
          </a:bodyPr>
          <a:lstStyle/>
          <a:p>
            <a:pPr algn="ctr" rtl="1">
              <a:lnSpc>
                <a:spcPct val="110000"/>
              </a:lnSpc>
              <a:buNone/>
            </a:pPr>
            <a:r>
              <a:rPr lang="ar-SA" sz="1500" b="1" i="0" dirty="0">
                <a:solidFill>
                  <a:srgbClr val="B9C0C8"/>
                </a:solidFill>
                <a:latin typeface="Tahoma"/>
                <a:ea typeface="Tahoma"/>
                <a:cs typeface="Tahoma"/>
              </a:rPr>
              <a:t>درجة الحرارة ‪(°C)‬</a:t>
            </a:r>
          </a:p>
        </p:txBody>
      </p:sp>
      <p:sp>
        <p:nvSpPr>
          <p:cNvPr id="30" name="Y axis"/>
          <p:cNvSpPr txBox="1"/>
          <p:nvPr/>
        </p:nvSpPr>
        <p:spPr>
          <a:xfrm rot="16200000">
            <a:off x="-1016000" y="4393406"/>
            <a:ext cx="3544186" cy="357187"/>
          </a:xfrm>
          <a:prstGeom prst="rect">
            <a:avLst/>
          </a:prstGeom>
          <a:noFill/>
          <a:ln>
            <a:noFill/>
          </a:ln>
        </p:spPr>
        <p:txBody>
          <a:bodyPr wrap="square" lIns="0" tIns="0" rIns="0" bIns="0" rtlCol="0" anchor="t">
            <a:noAutofit/>
          </a:bodyPr>
          <a:lstStyle/>
          <a:p>
            <a:pPr algn="ctr" rtl="1">
              <a:lnSpc>
                <a:spcPct val="110000"/>
              </a:lnSpc>
              <a:buNone/>
            </a:pPr>
            <a:r>
              <a:rPr lang="ar-SA" sz="1500" b="1" i="0" dirty="0">
                <a:solidFill>
                  <a:srgbClr val="B9C0C8"/>
                </a:solidFill>
                <a:latin typeface="Tahoma"/>
                <a:ea typeface="Tahoma"/>
                <a:cs typeface="Tahoma"/>
              </a:rPr>
              <a:t>الضغط البخاري ‪(atm)‬</a:t>
            </a:r>
          </a:p>
        </p:txBody>
      </p:sp>
      <p:sp>
        <p:nvSpPr>
          <p:cNvPr id="31" name="Caption"/>
          <p:cNvSpPr txBox="1"/>
          <p:nvPr/>
        </p:nvSpPr>
        <p:spPr>
          <a:xfrm>
            <a:off x="1511816" y="8259361"/>
            <a:ext cx="5954970" cy="292902"/>
          </a:xfrm>
          <a:prstGeom prst="rect">
            <a:avLst/>
          </a:prstGeom>
          <a:noFill/>
          <a:ln>
            <a:noFill/>
          </a:ln>
        </p:spPr>
        <p:txBody>
          <a:bodyPr wrap="square" lIns="0" tIns="0" rIns="0" bIns="0" rtlCol="0" anchor="ctr">
            <a:noAutofit/>
          </a:bodyPr>
          <a:lstStyle/>
          <a:p>
            <a:pPr algn="ctr" rtl="1">
              <a:lnSpc>
                <a:spcPct val="110000"/>
              </a:lnSpc>
              <a:buNone/>
            </a:pPr>
            <a:r>
              <a:rPr lang="ar-SA" sz="1300" b="1" i="0" dirty="0">
                <a:solidFill>
                  <a:srgbClr val="B9C0C8"/>
                </a:solidFill>
                <a:latin typeface="Tahoma"/>
                <a:ea typeface="Tahoma"/>
                <a:cs typeface="Tahoma"/>
              </a:rPr>
              <a:t>شكل (46): الضغط البخاري لكل من الماء وكحول الإيثيل وثنائي إيثيل إيثر</a:t>
            </a:r>
          </a:p>
        </p:txBody>
      </p:sp>
      <p:sp>
        <p:nvSpPr>
          <p:cNvPr id="32" name="Curve Ether"/>
          <p:cNvSpPr/>
          <p:nvPr/>
        </p:nvSpPr>
        <p:spPr>
          <a:xfrm>
            <a:off x="2092199" y="1918607"/>
            <a:ext cx="2011626" cy="3929208"/>
          </a:xfrm>
          <a:custGeom>
            <a:avLst/>
            <a:gdLst/>
            <a:ahLst/>
            <a:cxnLst/>
            <a:rect l="0" t="0" r="r" b="b"/>
            <a:pathLst>
              <a:path w="2011626" h="3929208" fill="none">
                <a:moveTo>
                  <a:pt x="0" y="3929089"/>
                </a:moveTo>
                <a:lnTo>
                  <a:pt x="41051" y="3888279"/>
                </a:lnTo>
                <a:lnTo>
                  <a:pt x="82102" y="3846415"/>
                </a:lnTo>
                <a:lnTo>
                  <a:pt x="123153" y="3803472"/>
                </a:lnTo>
                <a:lnTo>
                  <a:pt x="164204" y="3759421"/>
                </a:lnTo>
                <a:lnTo>
                  <a:pt x="205255" y="3714233"/>
                </a:lnTo>
                <a:lnTo>
                  <a:pt x="246307" y="3667879"/>
                </a:lnTo>
                <a:lnTo>
                  <a:pt x="287358" y="3620330"/>
                </a:lnTo>
                <a:lnTo>
                  <a:pt x="328409" y="3571554"/>
                </a:lnTo>
                <a:lnTo>
                  <a:pt x="369460" y="3521519"/>
                </a:lnTo>
                <a:lnTo>
                  <a:pt x="410511" y="3470193"/>
                </a:lnTo>
                <a:lnTo>
                  <a:pt x="451563" y="3417544"/>
                </a:lnTo>
                <a:lnTo>
                  <a:pt x="492614" y="3363536"/>
                </a:lnTo>
                <a:lnTo>
                  <a:pt x="533665" y="3308134"/>
                </a:lnTo>
                <a:lnTo>
                  <a:pt x="574716" y="3251303"/>
                </a:lnTo>
                <a:lnTo>
                  <a:pt x="615767" y="3193006"/>
                </a:lnTo>
                <a:lnTo>
                  <a:pt x="656818" y="3133205"/>
                </a:lnTo>
                <a:lnTo>
                  <a:pt x="697870" y="3071861"/>
                </a:lnTo>
                <a:lnTo>
                  <a:pt x="738921" y="3008934"/>
                </a:lnTo>
                <a:lnTo>
                  <a:pt x="779972" y="2944384"/>
                </a:lnTo>
                <a:lnTo>
                  <a:pt x="821023" y="2878168"/>
                </a:lnTo>
                <a:lnTo>
                  <a:pt x="862074" y="2810244"/>
                </a:lnTo>
                <a:lnTo>
                  <a:pt x="903126" y="2740568"/>
                </a:lnTo>
                <a:lnTo>
                  <a:pt x="944177" y="2669094"/>
                </a:lnTo>
                <a:lnTo>
                  <a:pt x="985228" y="2595776"/>
                </a:lnTo>
                <a:lnTo>
                  <a:pt x="1026279" y="2520566"/>
                </a:lnTo>
                <a:lnTo>
                  <a:pt x="1067330" y="2443416"/>
                </a:lnTo>
                <a:lnTo>
                  <a:pt x="1108381" y="2364276"/>
                </a:lnTo>
                <a:lnTo>
                  <a:pt x="1149433" y="2283093"/>
                </a:lnTo>
                <a:lnTo>
                  <a:pt x="1190484" y="2199817"/>
                </a:lnTo>
                <a:lnTo>
                  <a:pt x="1231535" y="2114391"/>
                </a:lnTo>
                <a:lnTo>
                  <a:pt x="1272586" y="2026762"/>
                </a:lnTo>
                <a:lnTo>
                  <a:pt x="1313637" y="1936872"/>
                </a:lnTo>
                <a:lnTo>
                  <a:pt x="1354689" y="1844662"/>
                </a:lnTo>
                <a:lnTo>
                  <a:pt x="1395740" y="1750074"/>
                </a:lnTo>
                <a:lnTo>
                  <a:pt x="1436791" y="1653046"/>
                </a:lnTo>
                <a:lnTo>
                  <a:pt x="1477842" y="1553514"/>
                </a:lnTo>
                <a:lnTo>
                  <a:pt x="1518893" y="1451414"/>
                </a:lnTo>
                <a:lnTo>
                  <a:pt x="1559945" y="1346680"/>
                </a:lnTo>
                <a:lnTo>
                  <a:pt x="1600996" y="1239243"/>
                </a:lnTo>
                <a:lnTo>
                  <a:pt x="1642047" y="1129035"/>
                </a:lnTo>
                <a:lnTo>
                  <a:pt x="1683098" y="1015984"/>
                </a:lnTo>
                <a:lnTo>
                  <a:pt x="1724149" y="900016"/>
                </a:lnTo>
                <a:lnTo>
                  <a:pt x="1765200" y="781056"/>
                </a:lnTo>
                <a:lnTo>
                  <a:pt x="1806252" y="659027"/>
                </a:lnTo>
                <a:lnTo>
                  <a:pt x="1847303" y="533849"/>
                </a:lnTo>
                <a:lnTo>
                  <a:pt x="1888354" y="405442"/>
                </a:lnTo>
                <a:lnTo>
                  <a:pt x="1929405" y="273722"/>
                </a:lnTo>
                <a:lnTo>
                  <a:pt x="1970456" y="138604"/>
                </a:lnTo>
                <a:lnTo>
                  <a:pt x="2011508" y="0"/>
                </a:lnTo>
              </a:path>
            </a:pathLst>
          </a:custGeom>
          <a:noFill/>
          <a:ln w="34925" cap="rnd">
            <a:solidFill>
              <a:srgbClr val="7FC8F8">
                <a:alpha val="100000"/>
              </a:srgbClr>
            </a:solidFill>
            <a:round/>
          </a:ln>
        </p:spPr>
        <p:txBody>
          <a:bodyPr rtlCol="0" anchor="ctr"/>
          <a:lstStyle/>
          <a:p>
            <a:endParaRPr lang="ar-SA"/>
          </a:p>
        </p:txBody>
      </p:sp>
      <p:sp>
        <p:nvSpPr>
          <p:cNvPr id="33" name="Boiling line Ether"/>
          <p:cNvSpPr/>
          <p:nvPr/>
        </p:nvSpPr>
        <p:spPr>
          <a:xfrm>
            <a:off x="3979679" y="2326821"/>
            <a:ext cx="118" cy="5102797"/>
          </a:xfrm>
          <a:custGeom>
            <a:avLst/>
            <a:gdLst/>
            <a:ahLst/>
            <a:cxnLst/>
            <a:rect l="0" t="0" r="r" b="b"/>
            <a:pathLst>
              <a:path w="118" h="5102797" fill="none">
                <a:moveTo>
                  <a:pt x="0" y="0"/>
                </a:moveTo>
                <a:lnTo>
                  <a:pt x="0" y="5102678"/>
                </a:lnTo>
              </a:path>
            </a:pathLst>
          </a:custGeom>
          <a:noFill/>
          <a:ln w="15875" cap="rnd">
            <a:solidFill>
              <a:srgbClr val="7FC8F8">
                <a:alpha val="80000"/>
              </a:srgbClr>
            </a:solidFill>
            <a:prstDash val="sysDash"/>
            <a:round/>
          </a:ln>
        </p:spPr>
        <p:txBody>
          <a:bodyPr rtlCol="0" anchor="ctr"/>
          <a:lstStyle/>
          <a:p>
            <a:endParaRPr lang="ar-SA"/>
          </a:p>
        </p:txBody>
      </p:sp>
      <p:sp>
        <p:nvSpPr>
          <p:cNvPr id="34" name="Boiling value Ether"/>
          <p:cNvSpPr txBox="1"/>
          <p:nvPr/>
        </p:nvSpPr>
        <p:spPr>
          <a:xfrm>
            <a:off x="3377167" y="7092548"/>
            <a:ext cx="555255" cy="292902"/>
          </a:xfrm>
          <a:prstGeom prst="rect">
            <a:avLst/>
          </a:prstGeom>
          <a:noFill/>
          <a:ln>
            <a:noFill/>
          </a:ln>
        </p:spPr>
        <p:txBody>
          <a:bodyPr wrap="square" lIns="0" tIns="0" rIns="0" bIns="0" rtlCol="0" anchor="ctr">
            <a:noAutofit/>
          </a:bodyPr>
          <a:lstStyle/>
          <a:p>
            <a:pPr algn="r" rtl="0">
              <a:lnSpc>
                <a:spcPct val="110000"/>
              </a:lnSpc>
              <a:buNone/>
            </a:pPr>
            <a:r>
              <a:rPr lang="ar-SA" sz="1300" b="1" i="0" dirty="0">
                <a:solidFill>
                  <a:srgbClr val="7FC8F8"/>
                </a:solidFill>
                <a:latin typeface="Tahoma"/>
                <a:ea typeface="Tahoma"/>
                <a:cs typeface="Tahoma"/>
              </a:rPr>
              <a:t>34.6</a:t>
            </a:r>
          </a:p>
        </p:txBody>
      </p:sp>
      <p:sp>
        <p:nvSpPr>
          <p:cNvPr id="35" name="Name Ether"/>
          <p:cNvSpPr txBox="1"/>
          <p:nvPr/>
        </p:nvSpPr>
        <p:spPr>
          <a:xfrm>
            <a:off x="2401593" y="1957539"/>
            <a:ext cx="1483574" cy="309938"/>
          </a:xfrm>
          <a:prstGeom prst="rect">
            <a:avLst/>
          </a:prstGeom>
          <a:noFill/>
          <a:ln>
            <a:noFill/>
          </a:ln>
        </p:spPr>
        <p:txBody>
          <a:bodyPr wrap="square" lIns="0" tIns="0" rIns="0" bIns="0" rtlCol="0" anchor="ctr">
            <a:noAutofit/>
          </a:bodyPr>
          <a:lstStyle/>
          <a:p>
            <a:pPr algn="r" rtl="1">
              <a:lnSpc>
                <a:spcPct val="110000"/>
              </a:lnSpc>
              <a:buNone/>
            </a:pPr>
            <a:r>
              <a:rPr lang="ar-SA" sz="1400" b="1" i="0" dirty="0">
                <a:solidFill>
                  <a:srgbClr val="7FC8F8"/>
                </a:solidFill>
                <a:latin typeface="Tahoma"/>
                <a:ea typeface="Tahoma"/>
                <a:cs typeface="Tahoma"/>
              </a:rPr>
              <a:t>ثنائي إيثيل إيثر</a:t>
            </a:r>
          </a:p>
        </p:txBody>
      </p:sp>
      <p:sp>
        <p:nvSpPr>
          <p:cNvPr id="36" name="Curve Ethanol"/>
          <p:cNvSpPr/>
          <p:nvPr/>
        </p:nvSpPr>
        <p:spPr>
          <a:xfrm>
            <a:off x="2092199" y="1918607"/>
            <a:ext cx="4275570" cy="5122811"/>
          </a:xfrm>
          <a:custGeom>
            <a:avLst/>
            <a:gdLst/>
            <a:ahLst/>
            <a:cxnLst/>
            <a:rect l="0" t="0" r="r" b="b"/>
            <a:pathLst>
              <a:path w="4275570" h="5122811" fill="none">
                <a:moveTo>
                  <a:pt x="0" y="5122692"/>
                </a:moveTo>
                <a:lnTo>
                  <a:pt x="87254" y="5101095"/>
                </a:lnTo>
                <a:lnTo>
                  <a:pt x="174508" y="5078296"/>
                </a:lnTo>
                <a:lnTo>
                  <a:pt x="261762" y="5054229"/>
                </a:lnTo>
                <a:lnTo>
                  <a:pt x="349016" y="5028822"/>
                </a:lnTo>
                <a:lnTo>
                  <a:pt x="436270" y="5002003"/>
                </a:lnTo>
                <a:lnTo>
                  <a:pt x="523524" y="4973691"/>
                </a:lnTo>
                <a:lnTo>
                  <a:pt x="610778" y="4943804"/>
                </a:lnTo>
                <a:lnTo>
                  <a:pt x="698032" y="4912254"/>
                </a:lnTo>
                <a:lnTo>
                  <a:pt x="785287" y="4878949"/>
                </a:lnTo>
                <a:lnTo>
                  <a:pt x="872541" y="4843791"/>
                </a:lnTo>
                <a:lnTo>
                  <a:pt x="959795" y="4806677"/>
                </a:lnTo>
                <a:lnTo>
                  <a:pt x="1047049" y="4767499"/>
                </a:lnTo>
                <a:lnTo>
                  <a:pt x="1134303" y="4726140"/>
                </a:lnTo>
                <a:lnTo>
                  <a:pt x="1221557" y="4682481"/>
                </a:lnTo>
                <a:lnTo>
                  <a:pt x="1308811" y="4636393"/>
                </a:lnTo>
                <a:lnTo>
                  <a:pt x="1396065" y="4587740"/>
                </a:lnTo>
                <a:lnTo>
                  <a:pt x="1483320" y="4536381"/>
                </a:lnTo>
                <a:lnTo>
                  <a:pt x="1570574" y="4482165"/>
                </a:lnTo>
                <a:lnTo>
                  <a:pt x="1657828" y="4424932"/>
                </a:lnTo>
                <a:lnTo>
                  <a:pt x="1745082" y="4364515"/>
                </a:lnTo>
                <a:lnTo>
                  <a:pt x="1832336" y="4300737"/>
                </a:lnTo>
                <a:lnTo>
                  <a:pt x="1919590" y="4233410"/>
                </a:lnTo>
                <a:lnTo>
                  <a:pt x="2006844" y="4162338"/>
                </a:lnTo>
                <a:lnTo>
                  <a:pt x="2094098" y="4087312"/>
                </a:lnTo>
                <a:lnTo>
                  <a:pt x="2181353" y="4008112"/>
                </a:lnTo>
                <a:lnTo>
                  <a:pt x="2268607" y="3924505"/>
                </a:lnTo>
                <a:lnTo>
                  <a:pt x="2355861" y="3836247"/>
                </a:lnTo>
                <a:lnTo>
                  <a:pt x="2443115" y="3743079"/>
                </a:lnTo>
                <a:lnTo>
                  <a:pt x="2530369" y="3644728"/>
                </a:lnTo>
                <a:lnTo>
                  <a:pt x="2617623" y="3540904"/>
                </a:lnTo>
                <a:lnTo>
                  <a:pt x="2704877" y="3431305"/>
                </a:lnTo>
                <a:lnTo>
                  <a:pt x="2792131" y="3315608"/>
                </a:lnTo>
                <a:lnTo>
                  <a:pt x="2879385" y="3193474"/>
                </a:lnTo>
                <a:lnTo>
                  <a:pt x="2966640" y="3064546"/>
                </a:lnTo>
                <a:lnTo>
                  <a:pt x="3053894" y="2928444"/>
                </a:lnTo>
                <a:lnTo>
                  <a:pt x="3141148" y="2784771"/>
                </a:lnTo>
                <a:lnTo>
                  <a:pt x="3228402" y="2633104"/>
                </a:lnTo>
                <a:lnTo>
                  <a:pt x="3315656" y="2473000"/>
                </a:lnTo>
                <a:lnTo>
                  <a:pt x="3402910" y="2303988"/>
                </a:lnTo>
                <a:lnTo>
                  <a:pt x="3490164" y="2125574"/>
                </a:lnTo>
                <a:lnTo>
                  <a:pt x="3577418" y="1937233"/>
                </a:lnTo>
                <a:lnTo>
                  <a:pt x="3664673" y="1738414"/>
                </a:lnTo>
                <a:lnTo>
                  <a:pt x="3751927" y="1528534"/>
                </a:lnTo>
                <a:lnTo>
                  <a:pt x="3839181" y="1306977"/>
                </a:lnTo>
                <a:lnTo>
                  <a:pt x="3926435" y="1073094"/>
                </a:lnTo>
                <a:lnTo>
                  <a:pt x="4013689" y="826199"/>
                </a:lnTo>
                <a:lnTo>
                  <a:pt x="4100943" y="565568"/>
                </a:lnTo>
                <a:lnTo>
                  <a:pt x="4188197" y="290437"/>
                </a:lnTo>
                <a:lnTo>
                  <a:pt x="4275451" y="0"/>
                </a:lnTo>
              </a:path>
            </a:pathLst>
          </a:custGeom>
          <a:noFill/>
          <a:ln w="34925" cap="rnd">
            <a:solidFill>
              <a:srgbClr val="E8A94E">
                <a:alpha val="100000"/>
              </a:srgbClr>
            </a:solidFill>
            <a:round/>
          </a:ln>
        </p:spPr>
        <p:txBody>
          <a:bodyPr rtlCol="0" anchor="ctr"/>
          <a:lstStyle/>
          <a:p>
            <a:endParaRPr lang="ar-SA"/>
          </a:p>
        </p:txBody>
      </p:sp>
      <p:sp>
        <p:nvSpPr>
          <p:cNvPr id="37" name="Boiling line Ethanol"/>
          <p:cNvSpPr/>
          <p:nvPr/>
        </p:nvSpPr>
        <p:spPr>
          <a:xfrm>
            <a:off x="6243623" y="2326821"/>
            <a:ext cx="118" cy="5102797"/>
          </a:xfrm>
          <a:custGeom>
            <a:avLst/>
            <a:gdLst/>
            <a:ahLst/>
            <a:cxnLst/>
            <a:rect l="0" t="0" r="r" b="b"/>
            <a:pathLst>
              <a:path w="118" h="5102797" fill="none">
                <a:moveTo>
                  <a:pt x="0" y="0"/>
                </a:moveTo>
                <a:lnTo>
                  <a:pt x="0" y="5102678"/>
                </a:lnTo>
              </a:path>
            </a:pathLst>
          </a:custGeom>
          <a:noFill/>
          <a:ln w="15875" cap="rnd">
            <a:solidFill>
              <a:srgbClr val="E8A94E">
                <a:alpha val="80000"/>
              </a:srgbClr>
            </a:solidFill>
            <a:prstDash val="sysDash"/>
            <a:round/>
          </a:ln>
        </p:spPr>
        <p:txBody>
          <a:bodyPr rtlCol="0" anchor="ctr"/>
          <a:lstStyle/>
          <a:p>
            <a:endParaRPr lang="ar-SA"/>
          </a:p>
        </p:txBody>
      </p:sp>
      <p:sp>
        <p:nvSpPr>
          <p:cNvPr id="38" name="Boiling value Ethanol"/>
          <p:cNvSpPr txBox="1"/>
          <p:nvPr/>
        </p:nvSpPr>
        <p:spPr>
          <a:xfrm>
            <a:off x="5639450" y="7092548"/>
            <a:ext cx="556917" cy="292902"/>
          </a:xfrm>
          <a:prstGeom prst="rect">
            <a:avLst/>
          </a:prstGeom>
          <a:noFill/>
          <a:ln>
            <a:noFill/>
          </a:ln>
        </p:spPr>
        <p:txBody>
          <a:bodyPr wrap="square" lIns="0" tIns="0" rIns="0" bIns="0" rtlCol="0" anchor="ctr">
            <a:noAutofit/>
          </a:bodyPr>
          <a:lstStyle/>
          <a:p>
            <a:pPr algn="r" rtl="0">
              <a:lnSpc>
                <a:spcPct val="110000"/>
              </a:lnSpc>
              <a:buNone/>
            </a:pPr>
            <a:r>
              <a:rPr lang="ar-SA" sz="1300" b="1" i="0" dirty="0">
                <a:solidFill>
                  <a:srgbClr val="E8A94E"/>
                </a:solidFill>
                <a:latin typeface="Tahoma"/>
                <a:ea typeface="Tahoma"/>
                <a:cs typeface="Tahoma"/>
              </a:rPr>
              <a:t>78.5</a:t>
            </a:r>
          </a:p>
        </p:txBody>
      </p:sp>
      <p:sp>
        <p:nvSpPr>
          <p:cNvPr id="39" name="Name Ethanol"/>
          <p:cNvSpPr txBox="1"/>
          <p:nvPr/>
        </p:nvSpPr>
        <p:spPr>
          <a:xfrm>
            <a:off x="4855298" y="1957539"/>
            <a:ext cx="1293812" cy="309938"/>
          </a:xfrm>
          <a:prstGeom prst="rect">
            <a:avLst/>
          </a:prstGeom>
          <a:noFill/>
          <a:ln>
            <a:noFill/>
          </a:ln>
        </p:spPr>
        <p:txBody>
          <a:bodyPr wrap="square" lIns="0" tIns="0" rIns="0" bIns="0" rtlCol="0" anchor="ctr">
            <a:noAutofit/>
          </a:bodyPr>
          <a:lstStyle/>
          <a:p>
            <a:pPr algn="r" rtl="1">
              <a:lnSpc>
                <a:spcPct val="110000"/>
              </a:lnSpc>
              <a:buNone/>
            </a:pPr>
            <a:r>
              <a:rPr lang="ar-SA" sz="1400" b="1" i="0" dirty="0">
                <a:solidFill>
                  <a:srgbClr val="E8A94E"/>
                </a:solidFill>
                <a:latin typeface="Tahoma"/>
                <a:ea typeface="Tahoma"/>
                <a:cs typeface="Tahoma"/>
              </a:rPr>
              <a:t>إيثيل الكحول</a:t>
            </a:r>
          </a:p>
        </p:txBody>
      </p:sp>
      <p:sp>
        <p:nvSpPr>
          <p:cNvPr id="40" name="Curve Water"/>
          <p:cNvSpPr/>
          <p:nvPr/>
        </p:nvSpPr>
        <p:spPr>
          <a:xfrm>
            <a:off x="2092199" y="1918607"/>
            <a:ext cx="5384335" cy="5315910"/>
          </a:xfrm>
          <a:custGeom>
            <a:avLst/>
            <a:gdLst/>
            <a:ahLst/>
            <a:cxnLst/>
            <a:rect l="0" t="0" r="r" b="b"/>
            <a:pathLst>
              <a:path w="5384335" h="5315910" fill="none">
                <a:moveTo>
                  <a:pt x="0" y="5315791"/>
                </a:moveTo>
                <a:lnTo>
                  <a:pt x="109881" y="5302024"/>
                </a:lnTo>
                <a:lnTo>
                  <a:pt x="219763" y="5287286"/>
                </a:lnTo>
                <a:lnTo>
                  <a:pt x="329645" y="5271508"/>
                </a:lnTo>
                <a:lnTo>
                  <a:pt x="439527" y="5254617"/>
                </a:lnTo>
                <a:lnTo>
                  <a:pt x="549409" y="5236534"/>
                </a:lnTo>
                <a:lnTo>
                  <a:pt x="659291" y="5217175"/>
                </a:lnTo>
                <a:lnTo>
                  <a:pt x="769173" y="5196450"/>
                </a:lnTo>
                <a:lnTo>
                  <a:pt x="879055" y="5174263"/>
                </a:lnTo>
                <a:lnTo>
                  <a:pt x="988937" y="5150510"/>
                </a:lnTo>
                <a:lnTo>
                  <a:pt x="1098819" y="5125081"/>
                </a:lnTo>
                <a:lnTo>
                  <a:pt x="1208701" y="5097857"/>
                </a:lnTo>
                <a:lnTo>
                  <a:pt x="1318583" y="5068713"/>
                </a:lnTo>
                <a:lnTo>
                  <a:pt x="1428465" y="5037512"/>
                </a:lnTo>
                <a:lnTo>
                  <a:pt x="1538347" y="5004110"/>
                </a:lnTo>
                <a:lnTo>
                  <a:pt x="1648229" y="4968351"/>
                </a:lnTo>
                <a:lnTo>
                  <a:pt x="1758111" y="4930069"/>
                </a:lnTo>
                <a:lnTo>
                  <a:pt x="1867993" y="4889085"/>
                </a:lnTo>
                <a:lnTo>
                  <a:pt x="1977875" y="4845210"/>
                </a:lnTo>
                <a:lnTo>
                  <a:pt x="2087757" y="4798239"/>
                </a:lnTo>
                <a:lnTo>
                  <a:pt x="2197639" y="4747953"/>
                </a:lnTo>
                <a:lnTo>
                  <a:pt x="2307521" y="4694119"/>
                </a:lnTo>
                <a:lnTo>
                  <a:pt x="2417403" y="4636487"/>
                </a:lnTo>
                <a:lnTo>
                  <a:pt x="2527285" y="4574788"/>
                </a:lnTo>
                <a:lnTo>
                  <a:pt x="2637167" y="4508735"/>
                </a:lnTo>
                <a:lnTo>
                  <a:pt x="2747049" y="4438022"/>
                </a:lnTo>
                <a:lnTo>
                  <a:pt x="2856931" y="4362319"/>
                </a:lnTo>
                <a:lnTo>
                  <a:pt x="2966813" y="4281275"/>
                </a:lnTo>
                <a:lnTo>
                  <a:pt x="3076695" y="4194511"/>
                </a:lnTo>
                <a:lnTo>
                  <a:pt x="3186577" y="4101626"/>
                </a:lnTo>
                <a:lnTo>
                  <a:pt x="3296459" y="4002187"/>
                </a:lnTo>
                <a:lnTo>
                  <a:pt x="3406341" y="3895731"/>
                </a:lnTo>
                <a:lnTo>
                  <a:pt x="3516223" y="3781764"/>
                </a:lnTo>
                <a:lnTo>
                  <a:pt x="3626105" y="3659754"/>
                </a:lnTo>
                <a:lnTo>
                  <a:pt x="3735987" y="3529136"/>
                </a:lnTo>
                <a:lnTo>
                  <a:pt x="3845869" y="3389301"/>
                </a:lnTo>
                <a:lnTo>
                  <a:pt x="3955751" y="3239599"/>
                </a:lnTo>
                <a:lnTo>
                  <a:pt x="4065633" y="3079335"/>
                </a:lnTo>
                <a:lnTo>
                  <a:pt x="4175515" y="2907761"/>
                </a:lnTo>
                <a:lnTo>
                  <a:pt x="4285397" y="2724082"/>
                </a:lnTo>
                <a:lnTo>
                  <a:pt x="4395279" y="2527441"/>
                </a:lnTo>
                <a:lnTo>
                  <a:pt x="4505161" y="2316926"/>
                </a:lnTo>
                <a:lnTo>
                  <a:pt x="4615043" y="2091556"/>
                </a:lnTo>
                <a:lnTo>
                  <a:pt x="4724925" y="1850284"/>
                </a:lnTo>
                <a:lnTo>
                  <a:pt x="4834807" y="1591987"/>
                </a:lnTo>
                <a:lnTo>
                  <a:pt x="4944689" y="1315465"/>
                </a:lnTo>
                <a:lnTo>
                  <a:pt x="5054571" y="1019431"/>
                </a:lnTo>
                <a:lnTo>
                  <a:pt x="5164453" y="702509"/>
                </a:lnTo>
                <a:lnTo>
                  <a:pt x="5274335" y="363224"/>
                </a:lnTo>
                <a:lnTo>
                  <a:pt x="5384217" y="0"/>
                </a:lnTo>
              </a:path>
            </a:pathLst>
          </a:custGeom>
          <a:noFill/>
          <a:ln w="34925" cap="rnd">
            <a:solidFill>
              <a:srgbClr val="F07C7C">
                <a:alpha val="100000"/>
              </a:srgbClr>
            </a:solidFill>
            <a:round/>
          </a:ln>
        </p:spPr>
        <p:txBody>
          <a:bodyPr rtlCol="0" anchor="ctr"/>
          <a:lstStyle/>
          <a:p>
            <a:endParaRPr lang="ar-SA"/>
          </a:p>
        </p:txBody>
      </p:sp>
      <p:sp>
        <p:nvSpPr>
          <p:cNvPr id="41" name="Boiling line Water"/>
          <p:cNvSpPr/>
          <p:nvPr/>
        </p:nvSpPr>
        <p:spPr>
          <a:xfrm>
            <a:off x="7352388" y="2326821"/>
            <a:ext cx="118" cy="5102797"/>
          </a:xfrm>
          <a:custGeom>
            <a:avLst/>
            <a:gdLst/>
            <a:ahLst/>
            <a:cxnLst/>
            <a:rect l="0" t="0" r="r" b="b"/>
            <a:pathLst>
              <a:path w="118" h="5102797" fill="none">
                <a:moveTo>
                  <a:pt x="0" y="0"/>
                </a:moveTo>
                <a:lnTo>
                  <a:pt x="0" y="5102678"/>
                </a:lnTo>
              </a:path>
            </a:pathLst>
          </a:custGeom>
          <a:noFill/>
          <a:ln w="15875" cap="rnd">
            <a:solidFill>
              <a:srgbClr val="F07C7C">
                <a:alpha val="80000"/>
              </a:srgbClr>
            </a:solidFill>
            <a:prstDash val="sysDash"/>
            <a:round/>
          </a:ln>
        </p:spPr>
        <p:txBody>
          <a:bodyPr rtlCol="0" anchor="ctr"/>
          <a:lstStyle/>
          <a:p>
            <a:endParaRPr lang="ar-SA"/>
          </a:p>
        </p:txBody>
      </p:sp>
      <p:sp>
        <p:nvSpPr>
          <p:cNvPr id="42" name="Boiling value Water"/>
          <p:cNvSpPr txBox="1"/>
          <p:nvPr/>
        </p:nvSpPr>
        <p:spPr>
          <a:xfrm>
            <a:off x="6799901" y="7092548"/>
            <a:ext cx="505231" cy="292902"/>
          </a:xfrm>
          <a:prstGeom prst="rect">
            <a:avLst/>
          </a:prstGeom>
          <a:noFill/>
          <a:ln>
            <a:noFill/>
          </a:ln>
        </p:spPr>
        <p:txBody>
          <a:bodyPr wrap="square" lIns="0" tIns="0" rIns="0" bIns="0" rtlCol="0" anchor="ctr">
            <a:noAutofit/>
          </a:bodyPr>
          <a:lstStyle/>
          <a:p>
            <a:pPr algn="r" rtl="0">
              <a:lnSpc>
                <a:spcPct val="110000"/>
              </a:lnSpc>
              <a:buNone/>
            </a:pPr>
            <a:r>
              <a:rPr lang="ar-SA" sz="1300" b="1" i="0" dirty="0">
                <a:solidFill>
                  <a:srgbClr val="F07C7C"/>
                </a:solidFill>
                <a:latin typeface="Tahoma"/>
                <a:ea typeface="Tahoma"/>
                <a:cs typeface="Tahoma"/>
              </a:rPr>
              <a:t>100</a:t>
            </a:r>
          </a:p>
        </p:txBody>
      </p:sp>
      <p:sp>
        <p:nvSpPr>
          <p:cNvPr id="43" name="Name Water"/>
          <p:cNvSpPr txBox="1"/>
          <p:nvPr/>
        </p:nvSpPr>
        <p:spPr>
          <a:xfrm>
            <a:off x="6665702" y="1957539"/>
            <a:ext cx="592174" cy="309938"/>
          </a:xfrm>
          <a:prstGeom prst="rect">
            <a:avLst/>
          </a:prstGeom>
          <a:noFill/>
          <a:ln>
            <a:noFill/>
          </a:ln>
        </p:spPr>
        <p:txBody>
          <a:bodyPr wrap="square" lIns="0" tIns="0" rIns="0" bIns="0" rtlCol="0" anchor="ctr">
            <a:noAutofit/>
          </a:bodyPr>
          <a:lstStyle/>
          <a:p>
            <a:pPr algn="r" rtl="1">
              <a:lnSpc>
                <a:spcPct val="110000"/>
              </a:lnSpc>
              <a:buNone/>
            </a:pPr>
            <a:r>
              <a:rPr lang="ar-SA" sz="1400" b="1" i="0" dirty="0">
                <a:solidFill>
                  <a:srgbClr val="F07C7C"/>
                </a:solidFill>
                <a:latin typeface="Tahoma"/>
                <a:ea typeface="Tahoma"/>
                <a:cs typeface="Tahoma"/>
              </a:rPr>
              <a:t>الماء</a:t>
            </a:r>
          </a:p>
        </p:txBody>
      </p:sp>
      <p:sp>
        <p:nvSpPr>
          <p:cNvPr id="44" name="Card"/>
          <p:cNvSpPr/>
          <p:nvPr/>
        </p:nvSpPr>
        <p:spPr>
          <a:xfrm>
            <a:off x="8553302" y="1238250"/>
            <a:ext cx="6993860" cy="2163007"/>
          </a:xfrm>
          <a:prstGeom prst="roundRect">
            <a:avLst>
              <a:gd name="adj" fmla="val 7000"/>
            </a:avLst>
          </a:prstGeom>
          <a:solidFill>
            <a:srgbClr val="E8A94E">
              <a:alpha val="9000"/>
            </a:srgbClr>
          </a:solidFill>
          <a:ln w="12700" cap="rnd">
            <a:solidFill>
              <a:srgbClr val="E8A94E">
                <a:alpha val="45000"/>
              </a:srgbClr>
            </a:solidFill>
            <a:round/>
          </a:ln>
        </p:spPr>
        <p:txBody>
          <a:bodyPr wrap="square" lIns="259906" tIns="165395" rIns="259906" bIns="165395" rtlCol="0" anchor="t">
            <a:noAutofit/>
          </a:bodyPr>
          <a:lstStyle/>
          <a:p>
            <a:pPr algn="r" rtl="1">
              <a:lnSpc>
                <a:spcPct val="118000"/>
              </a:lnSpc>
              <a:buNone/>
            </a:pPr>
            <a:r>
              <a:rPr lang="ar-SA" sz="2200" b="1" i="0" dirty="0">
                <a:solidFill>
                  <a:srgbClr val="E8A94E"/>
                </a:solidFill>
                <a:latin typeface="Tahoma"/>
                <a:ea typeface="Tahoma"/>
                <a:cs typeface="Tahoma"/>
              </a:rPr>
              <a:t>تعريف الضغط البخاري ‪(Vapour Pressure)‬</a:t>
            </a:r>
            <a:endParaRPr lang="ar-SA" sz="2200" b="1" i="0" dirty="0">
              <a:solidFill>
                <a:srgbClr val="F4F6F8"/>
              </a:solidFill>
              <a:latin typeface="Tahoma"/>
              <a:ea typeface="Tahoma"/>
              <a:cs typeface="Tahoma"/>
            </a:endParaRPr>
          </a:p>
          <a:p>
            <a:pPr algn="r" rtl="1">
              <a:lnSpc>
                <a:spcPct val="118000"/>
              </a:lnSpc>
              <a:spcBef>
                <a:spcPts val="800"/>
              </a:spcBef>
              <a:buNone/>
            </a:pPr>
            <a:r>
              <a:rPr lang="ar-SA" sz="2200" b="1" i="0" dirty="0">
                <a:solidFill>
                  <a:srgbClr val="F4F6F8"/>
                </a:solidFill>
                <a:latin typeface="Tahoma"/>
                <a:ea typeface="Tahoma"/>
                <a:cs typeface="Tahoma"/>
              </a:rPr>
              <a:t>الضغط البخاري هو ضغط البخار على السائل عند حدوث حالة اتزان بين السائل وبخاره عند درجة حرارة معينة.</a:t>
            </a:r>
          </a:p>
        </p:txBody>
      </p:sp>
      <p:sp>
        <p:nvSpPr>
          <p:cNvPr id="45" name="Card"/>
          <p:cNvSpPr/>
          <p:nvPr/>
        </p:nvSpPr>
        <p:spPr>
          <a:xfrm>
            <a:off x="8553302" y="3615569"/>
            <a:ext cx="6993860" cy="1256525"/>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200" b="1" i="0" dirty="0">
                <a:solidFill>
                  <a:srgbClr val="F4F6F8"/>
                </a:solidFill>
                <a:latin typeface="Tahoma"/>
                <a:ea typeface="Tahoma"/>
                <a:cs typeface="Tahoma"/>
              </a:rPr>
              <a:t>لكل سائل نقي ضغط بخاري معيّن عند درجة حرارة معيّنة، كما هو موضّح في الشكل (46).</a:t>
            </a:r>
          </a:p>
        </p:txBody>
      </p:sp>
      <p:sp>
        <p:nvSpPr>
          <p:cNvPr id="46" name="Card"/>
          <p:cNvSpPr/>
          <p:nvPr/>
        </p:nvSpPr>
        <p:spPr>
          <a:xfrm>
            <a:off x="8553302" y="5086407"/>
            <a:ext cx="6993860" cy="3164627"/>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100" b="1" i="0" dirty="0">
                <a:solidFill>
                  <a:srgbClr val="E8A94E"/>
                </a:solidFill>
                <a:latin typeface="Tahoma"/>
                <a:ea typeface="Tahoma"/>
                <a:cs typeface="Tahoma"/>
              </a:rPr>
              <a:t>من الشكل</a:t>
            </a:r>
            <a:endParaRPr lang="ar-SA" sz="2100" b="1" i="0" dirty="0">
              <a:solidFill>
                <a:srgbClr val="F4F6F8"/>
              </a:solidFill>
              <a:latin typeface="Tahoma"/>
              <a:ea typeface="Tahoma"/>
              <a:cs typeface="Tahoma"/>
            </a:endParaRPr>
          </a:p>
          <a:p>
            <a:pPr algn="r" rtl="1">
              <a:lnSpc>
                <a:spcPct val="118000"/>
              </a:lnSpc>
              <a:spcBef>
                <a:spcPts val="800"/>
              </a:spcBef>
              <a:buNone/>
            </a:pPr>
            <a:r>
              <a:rPr lang="ar-SA" sz="2100" b="1" i="0" dirty="0">
                <a:solidFill>
                  <a:srgbClr val="F4F6F8"/>
                </a:solidFill>
                <a:latin typeface="Tahoma"/>
                <a:ea typeface="Tahoma"/>
                <a:cs typeface="Tahoma"/>
              </a:rPr>
              <a:t>يغلي كل سائل عندما يصل ضغطه البخاري إلى ‪1 atm‬:</a:t>
            </a:r>
          </a:p>
          <a:p>
            <a:pPr algn="r" rtl="1">
              <a:lnSpc>
                <a:spcPct val="118000"/>
              </a:lnSpc>
              <a:spcBef>
                <a:spcPts val="800"/>
              </a:spcBef>
              <a:buNone/>
            </a:pPr>
            <a:r>
              <a:rPr lang="ar-SA" sz="2100" b="1" i="0" dirty="0">
                <a:solidFill>
                  <a:srgbClr val="F4F6F8"/>
                </a:solidFill>
                <a:latin typeface="Tahoma"/>
                <a:ea typeface="Tahoma"/>
                <a:cs typeface="Tahoma"/>
              </a:rPr>
              <a:t>ثنائي إيثيل إيثر عند ‪34.6 °C‬</a:t>
            </a:r>
          </a:p>
          <a:p>
            <a:pPr algn="r" rtl="1">
              <a:lnSpc>
                <a:spcPct val="118000"/>
              </a:lnSpc>
              <a:spcBef>
                <a:spcPts val="800"/>
              </a:spcBef>
              <a:buNone/>
            </a:pPr>
            <a:r>
              <a:rPr lang="ar-SA" sz="2100" b="1" i="0" dirty="0">
                <a:solidFill>
                  <a:srgbClr val="F4F6F8"/>
                </a:solidFill>
                <a:latin typeface="Tahoma"/>
                <a:ea typeface="Tahoma"/>
                <a:cs typeface="Tahoma"/>
              </a:rPr>
              <a:t>إيثيل الكحول عند ‪78.5 °C‬</a:t>
            </a:r>
          </a:p>
          <a:p>
            <a:pPr algn="r" rtl="1">
              <a:lnSpc>
                <a:spcPct val="118000"/>
              </a:lnSpc>
              <a:spcBef>
                <a:spcPts val="800"/>
              </a:spcBef>
              <a:buNone/>
            </a:pPr>
            <a:r>
              <a:rPr lang="ar-SA" sz="2100" b="1" i="0" dirty="0">
                <a:solidFill>
                  <a:srgbClr val="F4F6F8"/>
                </a:solidFill>
                <a:latin typeface="Tahoma"/>
                <a:ea typeface="Tahoma"/>
                <a:cs typeface="Tahoma"/>
              </a:rPr>
              <a:t>الماء عند ‪100 °C‬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5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50"/>
                                        <p:tgtEl>
                                          <p:spTgt spid="1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450"/>
                                        <p:tgtEl>
                                          <p:spTgt spid="1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animEffect transition="in" filter="fade">
                                      <p:cBhvr>
                                        <p:cTn id="35" dur="450"/>
                                        <p:tgtEl>
                                          <p:spTgt spid="2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450"/>
                                        <p:tgtEl>
                                          <p:spTgt spid="21"/>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animEffect transition="in" filter="fade">
                                      <p:cBhvr>
                                        <p:cTn id="41" dur="450"/>
                                        <p:tgtEl>
                                          <p:spTgt spid="22"/>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3"/>
                                        </p:tgtEl>
                                        <p:attrNameLst>
                                          <p:attrName>style.visibility</p:attrName>
                                        </p:attrNameLst>
                                      </p:cBhvr>
                                      <p:to>
                                        <p:strVal val="visible"/>
                                      </p:to>
                                    </p:set>
                                    <p:animEffect transition="in" filter="fade">
                                      <p:cBhvr>
                                        <p:cTn id="44" dur="450"/>
                                        <p:tgtEl>
                                          <p:spTgt spid="23"/>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450"/>
                                        <p:tgtEl>
                                          <p:spTgt spid="24"/>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450"/>
                                        <p:tgtEl>
                                          <p:spTgt spid="2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fade">
                                      <p:cBhvr>
                                        <p:cTn id="53" dur="450"/>
                                        <p:tgtEl>
                                          <p:spTgt spid="26"/>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7"/>
                                        </p:tgtEl>
                                        <p:attrNameLst>
                                          <p:attrName>style.visibility</p:attrName>
                                        </p:attrNameLst>
                                      </p:cBhvr>
                                      <p:to>
                                        <p:strVal val="visible"/>
                                      </p:to>
                                    </p:set>
                                    <p:animEffect transition="in" filter="fade">
                                      <p:cBhvr>
                                        <p:cTn id="56" dur="450"/>
                                        <p:tgtEl>
                                          <p:spTgt spid="27"/>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450"/>
                                        <p:tgtEl>
                                          <p:spTgt spid="2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450"/>
                                        <p:tgtEl>
                                          <p:spTgt spid="2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450"/>
                                        <p:tgtEl>
                                          <p:spTgt spid="3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450"/>
                                        <p:tgtEl>
                                          <p:spTgt spid="31"/>
                                        </p:tgtEl>
                                      </p:cBhvr>
                                    </p:animEffect>
                                  </p:childTnLst>
                                </p:cTn>
                              </p:par>
                            </p:childTnLst>
                          </p:cTn>
                        </p:par>
                        <p:par>
                          <p:cTn id="69" fill="hold">
                            <p:stCondLst>
                              <p:cond delay="970"/>
                            </p:stCondLst>
                            <p:childTnLst>
                              <p:par>
                                <p:cTn id="70" presetID="22" presetClass="entr" presetSubtype="2" fill="hold" grpId="0" nodeType="after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wipe(right)">
                                      <p:cBhvr>
                                        <p:cTn id="72" dur="650"/>
                                        <p:tgtEl>
                                          <p:spTgt spid="32"/>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3"/>
                                        </p:tgtEl>
                                        <p:attrNameLst>
                                          <p:attrName>style.visibility</p:attrName>
                                        </p:attrNameLst>
                                      </p:cBhvr>
                                      <p:to>
                                        <p:strVal val="visible"/>
                                      </p:to>
                                    </p:set>
                                    <p:animEffect transition="in" filter="fade">
                                      <p:cBhvr>
                                        <p:cTn id="75" dur="650"/>
                                        <p:tgtEl>
                                          <p:spTgt spid="33"/>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4"/>
                                        </p:tgtEl>
                                        <p:attrNameLst>
                                          <p:attrName>style.visibility</p:attrName>
                                        </p:attrNameLst>
                                      </p:cBhvr>
                                      <p:to>
                                        <p:strVal val="visible"/>
                                      </p:to>
                                    </p:set>
                                    <p:animEffect transition="in" filter="fade">
                                      <p:cBhvr>
                                        <p:cTn id="78" dur="650"/>
                                        <p:tgtEl>
                                          <p:spTgt spid="34"/>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5"/>
                                        </p:tgtEl>
                                        <p:attrNameLst>
                                          <p:attrName>style.visibility</p:attrName>
                                        </p:attrNameLst>
                                      </p:cBhvr>
                                      <p:to>
                                        <p:strVal val="visible"/>
                                      </p:to>
                                    </p:set>
                                    <p:animEffect transition="in" filter="fade">
                                      <p:cBhvr>
                                        <p:cTn id="81" dur="650"/>
                                        <p:tgtEl>
                                          <p:spTgt spid="35"/>
                                        </p:tgtEl>
                                      </p:cBhvr>
                                    </p:animEffect>
                                  </p:childTnLst>
                                </p:cTn>
                              </p:par>
                            </p:childTnLst>
                          </p:cTn>
                        </p:par>
                        <p:par>
                          <p:cTn id="82" fill="hold">
                            <p:stCondLst>
                              <p:cond delay="1680"/>
                            </p:stCondLst>
                            <p:childTnLst>
                              <p:par>
                                <p:cTn id="83" presetID="22" presetClass="entr" presetSubtype="2" fill="hold" grpId="0" nodeType="after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wipe(right)">
                                      <p:cBhvr>
                                        <p:cTn id="85" dur="650"/>
                                        <p:tgtEl>
                                          <p:spTgt spid="3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fade">
                                      <p:cBhvr>
                                        <p:cTn id="88" dur="650"/>
                                        <p:tgtEl>
                                          <p:spTgt spid="3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650"/>
                                        <p:tgtEl>
                                          <p:spTgt spid="38"/>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fade">
                                      <p:cBhvr>
                                        <p:cTn id="94" dur="650"/>
                                        <p:tgtEl>
                                          <p:spTgt spid="39"/>
                                        </p:tgtEl>
                                      </p:cBhvr>
                                    </p:animEffect>
                                  </p:childTnLst>
                                </p:cTn>
                              </p:par>
                            </p:childTnLst>
                          </p:cTn>
                        </p:par>
                        <p:par>
                          <p:cTn id="95" fill="hold">
                            <p:stCondLst>
                              <p:cond delay="2390"/>
                            </p:stCondLst>
                            <p:childTnLst>
                              <p:par>
                                <p:cTn id="96" presetID="22" presetClass="entr" presetSubtype="2" fill="hold" grpId="0" nodeType="afterEffect">
                                  <p:stCondLst>
                                    <p:cond delay="0"/>
                                  </p:stCondLst>
                                  <p:childTnLst>
                                    <p:set>
                                      <p:cBhvr>
                                        <p:cTn id="97" dur="1" fill="hold">
                                          <p:stCondLst>
                                            <p:cond delay="0"/>
                                          </p:stCondLst>
                                        </p:cTn>
                                        <p:tgtEl>
                                          <p:spTgt spid="40"/>
                                        </p:tgtEl>
                                        <p:attrNameLst>
                                          <p:attrName>style.visibility</p:attrName>
                                        </p:attrNameLst>
                                      </p:cBhvr>
                                      <p:to>
                                        <p:strVal val="visible"/>
                                      </p:to>
                                    </p:set>
                                    <p:animEffect transition="in" filter="wipe(right)">
                                      <p:cBhvr>
                                        <p:cTn id="98" dur="650"/>
                                        <p:tgtEl>
                                          <p:spTgt spid="4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1"/>
                                        </p:tgtEl>
                                        <p:attrNameLst>
                                          <p:attrName>style.visibility</p:attrName>
                                        </p:attrNameLst>
                                      </p:cBhvr>
                                      <p:to>
                                        <p:strVal val="visible"/>
                                      </p:to>
                                    </p:set>
                                    <p:animEffect transition="in" filter="fade">
                                      <p:cBhvr>
                                        <p:cTn id="101" dur="650"/>
                                        <p:tgtEl>
                                          <p:spTgt spid="4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2"/>
                                        </p:tgtEl>
                                        <p:attrNameLst>
                                          <p:attrName>style.visibility</p:attrName>
                                        </p:attrNameLst>
                                      </p:cBhvr>
                                      <p:to>
                                        <p:strVal val="visible"/>
                                      </p:to>
                                    </p:set>
                                    <p:animEffect transition="in" filter="fade">
                                      <p:cBhvr>
                                        <p:cTn id="104" dur="650"/>
                                        <p:tgtEl>
                                          <p:spTgt spid="4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3"/>
                                        </p:tgtEl>
                                        <p:attrNameLst>
                                          <p:attrName>style.visibility</p:attrName>
                                        </p:attrNameLst>
                                      </p:cBhvr>
                                      <p:to>
                                        <p:strVal val="visible"/>
                                      </p:to>
                                    </p:set>
                                    <p:animEffect transition="in" filter="fade">
                                      <p:cBhvr>
                                        <p:cTn id="107" dur="650"/>
                                        <p:tgtEl>
                                          <p:spTgt spid="43"/>
                                        </p:tgtEl>
                                      </p:cBhvr>
                                    </p:animEffect>
                                  </p:childTnLst>
                                </p:cTn>
                              </p:par>
                            </p:childTnLst>
                          </p:cTn>
                        </p:par>
                      </p:childTnLst>
                    </p:cTn>
                  </p:par>
                  <p:par>
                    <p:cTn id="108" fill="hold">
                      <p:stCondLst>
                        <p:cond delay="indefinite"/>
                      </p:stCondLst>
                      <p:childTnLst>
                        <p:par>
                          <p:cTn id="109" fill="hold">
                            <p:stCondLst>
                              <p:cond delay="0"/>
                            </p:stCondLst>
                            <p:childTnLst>
                              <p:par>
                                <p:cTn id="110" presetID="42" presetClass="entr" presetSubtype="0" fill="hold" grpId="0" nodeType="clickEffect">
                                  <p:stCondLst>
                                    <p:cond delay="0"/>
                                  </p:stCondLst>
                                  <p:childTnLst>
                                    <p:set>
                                      <p:cBhvr>
                                        <p:cTn id="111" dur="1" fill="hold">
                                          <p:stCondLst>
                                            <p:cond delay="0"/>
                                          </p:stCondLst>
                                        </p:cTn>
                                        <p:tgtEl>
                                          <p:spTgt spid="44"/>
                                        </p:tgtEl>
                                        <p:attrNameLst>
                                          <p:attrName>style.visibility</p:attrName>
                                        </p:attrNameLst>
                                      </p:cBhvr>
                                      <p:to>
                                        <p:strVal val="visible"/>
                                      </p:to>
                                    </p:set>
                                    <p:animEffect transition="in" filter="fade">
                                      <p:cBhvr>
                                        <p:cTn id="112" dur="500"/>
                                        <p:tgtEl>
                                          <p:spTgt spid="44"/>
                                        </p:tgtEl>
                                      </p:cBhvr>
                                    </p:animEffect>
                                    <p:anim calcmode="lin" valueType="num">
                                      <p:cBhvr>
                                        <p:cTn id="113" dur="500" fill="hold"/>
                                        <p:tgtEl>
                                          <p:spTgt spid="44"/>
                                        </p:tgtEl>
                                        <p:attrNameLst>
                                          <p:attrName>ppt_x</p:attrName>
                                        </p:attrNameLst>
                                      </p:cBhvr>
                                      <p:tavLst>
                                        <p:tav tm="0">
                                          <p:val>
                                            <p:strVal val="#ppt_x"/>
                                          </p:val>
                                        </p:tav>
                                        <p:tav tm="100000">
                                          <p:val>
                                            <p:strVal val="#ppt_x"/>
                                          </p:val>
                                        </p:tav>
                                      </p:tavLst>
                                    </p:anim>
                                    <p:anim calcmode="lin" valueType="num">
                                      <p:cBhvr>
                                        <p:cTn id="114" dur="500" fill="hold"/>
                                        <p:tgtEl>
                                          <p:spTgt spid="44"/>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45"/>
                                        </p:tgtEl>
                                        <p:attrNameLst>
                                          <p:attrName>style.visibility</p:attrName>
                                        </p:attrNameLst>
                                      </p:cBhvr>
                                      <p:to>
                                        <p:strVal val="visible"/>
                                      </p:to>
                                    </p:set>
                                    <p:animEffect transition="in" filter="fade">
                                      <p:cBhvr>
                                        <p:cTn id="119" dur="500"/>
                                        <p:tgtEl>
                                          <p:spTgt spid="45"/>
                                        </p:tgtEl>
                                      </p:cBhvr>
                                    </p:animEffect>
                                    <p:anim calcmode="lin" valueType="num">
                                      <p:cBhvr>
                                        <p:cTn id="120" dur="500" fill="hold"/>
                                        <p:tgtEl>
                                          <p:spTgt spid="45"/>
                                        </p:tgtEl>
                                        <p:attrNameLst>
                                          <p:attrName>ppt_x</p:attrName>
                                        </p:attrNameLst>
                                      </p:cBhvr>
                                      <p:tavLst>
                                        <p:tav tm="0">
                                          <p:val>
                                            <p:strVal val="#ppt_x"/>
                                          </p:val>
                                        </p:tav>
                                        <p:tav tm="100000">
                                          <p:val>
                                            <p:strVal val="#ppt_x"/>
                                          </p:val>
                                        </p:tav>
                                      </p:tavLst>
                                    </p:anim>
                                    <p:anim calcmode="lin" valueType="num">
                                      <p:cBhvr>
                                        <p:cTn id="121" dur="5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42" presetClass="entr" presetSubtype="0" fill="hold" grpId="0" nodeType="clickEffect">
                                  <p:stCondLst>
                                    <p:cond delay="0"/>
                                  </p:stCondLst>
                                  <p:childTnLst>
                                    <p:set>
                                      <p:cBhvr>
                                        <p:cTn id="125" dur="1" fill="hold">
                                          <p:stCondLst>
                                            <p:cond delay="0"/>
                                          </p:stCondLst>
                                        </p:cTn>
                                        <p:tgtEl>
                                          <p:spTgt spid="46"/>
                                        </p:tgtEl>
                                        <p:attrNameLst>
                                          <p:attrName>style.visibility</p:attrName>
                                        </p:attrNameLst>
                                      </p:cBhvr>
                                      <p:to>
                                        <p:strVal val="visible"/>
                                      </p:to>
                                    </p:set>
                                    <p:animEffect transition="in" filter="fade">
                                      <p:cBhvr>
                                        <p:cTn id="126" dur="500"/>
                                        <p:tgtEl>
                                          <p:spTgt spid="46"/>
                                        </p:tgtEl>
                                      </p:cBhvr>
                                    </p:animEffect>
                                    <p:anim calcmode="lin" valueType="num">
                                      <p:cBhvr>
                                        <p:cTn id="127" dur="500" fill="hold"/>
                                        <p:tgtEl>
                                          <p:spTgt spid="46"/>
                                        </p:tgtEl>
                                        <p:attrNameLst>
                                          <p:attrName>ppt_x</p:attrName>
                                        </p:attrNameLst>
                                      </p:cBhvr>
                                      <p:tavLst>
                                        <p:tav tm="0">
                                          <p:val>
                                            <p:strVal val="#ppt_x"/>
                                          </p:val>
                                        </p:tav>
                                        <p:tav tm="100000">
                                          <p:val>
                                            <p:strVal val="#ppt_x"/>
                                          </p:val>
                                        </p:tav>
                                      </p:tavLst>
                                    </p:anim>
                                    <p:anim calcmode="lin" valueType="num">
                                      <p:cBhvr>
                                        <p:cTn id="128" dur="500" fill="hold"/>
                                        <p:tgtEl>
                                          <p:spTgt spid="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10148186" y="598933"/>
            <a:ext cx="4052186" cy="708421"/>
          </a:xfrm>
          <a:prstGeom prst="rect">
            <a:avLst/>
          </a:prstGeom>
          <a:noFill/>
        </p:spPr>
        <p:txBody>
          <a:bodyPr wrap="none" lIns="0" tIns="0" rIns="0" bIns="0" rtlCol="0" anchor="ctr" anchorCtr="1">
            <a:noAutofit/>
          </a:bodyPr>
          <a:lstStyle/>
          <a:p>
            <a:pPr algn="ctr" rtl="1">
              <a:lnSpc>
                <a:spcPct val="100000"/>
              </a:lnSpc>
              <a:buNone/>
            </a:pPr>
            <a:r>
              <a:rPr lang="ar-SA" sz="3990" b="1" i="0" dirty="0">
                <a:solidFill>
                  <a:srgbClr val="FFFFFF"/>
                </a:solidFill>
                <a:latin typeface="Tahoma"/>
                <a:ea typeface="Tahoma"/>
                <a:cs typeface="Tahoma"/>
              </a:rPr>
              <a:t>المذيب النقي</a:t>
            </a:r>
          </a:p>
        </p:txBody>
      </p:sp>
      <p:sp>
        <p:nvSpPr>
          <p:cNvPr id="102" name="Text 2"/>
          <p:cNvSpPr txBox="1"/>
          <p:nvPr/>
        </p:nvSpPr>
        <p:spPr>
          <a:xfrm>
            <a:off x="2776279" y="533995"/>
            <a:ext cx="2693581" cy="708421"/>
          </a:xfrm>
          <a:prstGeom prst="rect">
            <a:avLst/>
          </a:prstGeom>
          <a:noFill/>
        </p:spPr>
        <p:txBody>
          <a:bodyPr wrap="none" lIns="0" tIns="0" rIns="0" bIns="0" rtlCol="0" anchor="ctr" anchorCtr="1">
            <a:noAutofit/>
          </a:bodyPr>
          <a:lstStyle/>
          <a:p>
            <a:pPr algn="ctr" rtl="1">
              <a:lnSpc>
                <a:spcPct val="100000"/>
              </a:lnSpc>
              <a:buNone/>
            </a:pPr>
            <a:r>
              <a:rPr lang="ar-SA" sz="3860" b="1" i="0" dirty="0">
                <a:solidFill>
                  <a:srgbClr val="FFFFFF"/>
                </a:solidFill>
                <a:latin typeface="Tahoma"/>
                <a:ea typeface="Tahoma"/>
                <a:cs typeface="Tahoma"/>
              </a:rPr>
              <a:t>المحلول</a:t>
            </a:r>
          </a:p>
        </p:txBody>
      </p:sp>
      <p:sp>
        <p:nvSpPr>
          <p:cNvPr id="103" name="Text 3"/>
          <p:cNvSpPr txBox="1"/>
          <p:nvPr/>
        </p:nvSpPr>
        <p:spPr>
          <a:xfrm>
            <a:off x="5150883" y="6785818"/>
            <a:ext cx="5930604" cy="578544"/>
          </a:xfrm>
          <a:prstGeom prst="rect">
            <a:avLst/>
          </a:prstGeom>
          <a:noFill/>
        </p:spPr>
        <p:txBody>
          <a:bodyPr wrap="none" lIns="0" tIns="0" rIns="0" bIns="0" rtlCol="0" anchor="ctr" anchorCtr="1">
            <a:noAutofit/>
          </a:bodyPr>
          <a:lstStyle/>
          <a:p>
            <a:pPr algn="ctr" rtl="1">
              <a:lnSpc>
                <a:spcPct val="100000"/>
              </a:lnSpc>
              <a:buNone/>
            </a:pPr>
            <a:r>
              <a:rPr lang="ar-SA" sz="2870" b="1" i="0" dirty="0">
                <a:solidFill>
                  <a:srgbClr val="FFFFFF"/>
                </a:solidFill>
                <a:latin typeface="Tahoma"/>
                <a:ea typeface="Tahoma"/>
                <a:cs typeface="Tahoma"/>
              </a:rPr>
              <a:t>الانخفاض في الضغط البخاري</a:t>
            </a:r>
          </a:p>
        </p:txBody>
      </p:sp>
      <p:sp>
        <p:nvSpPr>
          <p:cNvPr id="104" name="Text 4"/>
          <p:cNvSpPr txBox="1"/>
          <p:nvPr/>
        </p:nvSpPr>
        <p:spPr>
          <a:xfrm>
            <a:off x="1453116" y="7441108"/>
            <a:ext cx="13373395" cy="826492"/>
          </a:xfrm>
          <a:prstGeom prst="rect">
            <a:avLst/>
          </a:prstGeom>
          <a:noFill/>
        </p:spPr>
        <p:txBody>
          <a:bodyPr wrap="none" lIns="0" tIns="0" rIns="0" bIns="0" rtlCol="0" anchor="ctr" anchorCtr="1">
            <a:noAutofit/>
          </a:bodyPr>
          <a:lstStyle/>
          <a:p>
            <a:pPr algn="ctr" rtl="1">
              <a:lnSpc>
                <a:spcPct val="110000"/>
              </a:lnSpc>
              <a:buNone/>
            </a:pPr>
            <a:r>
              <a:rPr lang="ar-SA" sz="1770" b="1" i="0" dirty="0">
                <a:solidFill>
                  <a:srgbClr val="F2F2F2"/>
                </a:solidFill>
                <a:latin typeface="Tahoma"/>
                <a:ea typeface="Tahoma"/>
                <a:cs typeface="Tahoma"/>
              </a:rPr>
              <a:t>جسيمات المذاب تحتل مساحة على السطح، مما يقل من عدد جزيئات المذيب القادرة على الإفلات إلى الحالة الغازية.</a:t>
            </a:r>
          </a:p>
          <a:p>
            <a:pPr algn="ctr" rtl="1">
              <a:lnSpc>
                <a:spcPct val="110000"/>
              </a:lnSpc>
              <a:buNone/>
            </a:pPr>
            <a:r>
              <a:rPr lang="ar-SA" sz="1770" b="1" i="0" dirty="0">
                <a:solidFill>
                  <a:srgbClr val="F2F2F2"/>
                </a:solidFill>
                <a:latin typeface="Tahoma"/>
                <a:ea typeface="Tahoma"/>
                <a:cs typeface="Tahoma"/>
              </a:rPr>
              <a:t>النتيجة الحتمية: انخفاض الضغط البخاري للمحلول مقارنة بالمذيب النقي.</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600"/>
                                        <p:tgtEl>
                                          <p:spTgt spid="101"/>
                                        </p:tgtEl>
                                      </p:cBhvr>
                                    </p:animEffect>
                                    <p:anim calcmode="lin" valueType="num">
                                      <p:cBhvr>
                                        <p:cTn id="8" dur="600" fill="hold"/>
                                        <p:tgtEl>
                                          <p:spTgt spid="101"/>
                                        </p:tgtEl>
                                        <p:attrNameLst>
                                          <p:attrName>ppt_w</p:attrName>
                                        </p:attrNameLst>
                                      </p:cBhvr>
                                      <p:tavLst>
                                        <p:tav tm="0">
                                          <p:val>
                                            <p:strVal val="0"/>
                                          </p:val>
                                        </p:tav>
                                        <p:tav tm="100000">
                                          <p:val>
                                            <p:strVal val="#ppt_w"/>
                                          </p:val>
                                        </p:tav>
                                      </p:tavLst>
                                    </p:anim>
                                    <p:anim calcmode="lin" valueType="num">
                                      <p:cBhvr>
                                        <p:cTn id="9"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1" presetID="53" presetClass="entr" presetSubtype="16" fill="hold" grpId="0" nodeType="after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600"/>
                                        <p:tgtEl>
                                          <p:spTgt spid="102"/>
                                        </p:tgtEl>
                                      </p:cBhvr>
                                    </p:animEffect>
                                    <p:anim calcmode="lin" valueType="num">
                                      <p:cBhvr>
                                        <p:cTn id="14" dur="600" fill="hold"/>
                                        <p:tgtEl>
                                          <p:spTgt spid="102"/>
                                        </p:tgtEl>
                                        <p:attrNameLst>
                                          <p:attrName>ppt_w</p:attrName>
                                        </p:attrNameLst>
                                      </p:cBhvr>
                                      <p:tavLst>
                                        <p:tav tm="0">
                                          <p:val>
                                            <p:strVal val="0"/>
                                          </p:val>
                                        </p:tav>
                                        <p:tav tm="100000">
                                          <p:val>
                                            <p:strVal val="#ppt_w"/>
                                          </p:val>
                                        </p:tav>
                                      </p:tavLst>
                                    </p:anim>
                                    <p:anim calcmode="lin" valueType="num">
                                      <p:cBhvr>
                                        <p:cTn id="15" dur="600" fill="hold"/>
                                        <p:tgtEl>
                                          <p:spTgt spid="102"/>
                                        </p:tgtEl>
                                        <p:attrNameLst>
                                          <p:attrName>ppt_h</p:attrName>
                                        </p:attrNameLst>
                                      </p:cBhvr>
                                      <p:tavLst>
                                        <p:tav tm="0">
                                          <p:val>
                                            <p:strVal val="0"/>
                                          </p:val>
                                        </p:tav>
                                        <p:tav tm="100000">
                                          <p:val>
                                            <p:strVal val="#ppt_h"/>
                                          </p:val>
                                        </p:tav>
                                      </p:tavLst>
                                    </p:anim>
                                  </p:childTnLst>
                                </p:cTn>
                              </p:par>
                            </p:childTnLst>
                          </p:cTn>
                        </p:par>
                        <p:par>
                          <p:cTn id="16" fill="hold">
                            <p:stCondLst>
                              <p:cond delay="1400"/>
                            </p:stCondLst>
                            <p:childTnLst>
                              <p:par>
                                <p:cTn id="17" presetID="42" presetClass="entr" presetSubtype="0" fill="hold" grpId="0" nodeType="afterEffect">
                                  <p:stCondLst>
                                    <p:cond delay="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600"/>
                                        <p:tgtEl>
                                          <p:spTgt spid="103"/>
                                        </p:tgtEl>
                                      </p:cBhvr>
                                    </p:animEffect>
                                    <p:anim calcmode="lin" valueType="num">
                                      <p:cBhvr>
                                        <p:cTn id="20" dur="600" fill="hold"/>
                                        <p:tgtEl>
                                          <p:spTgt spid="103"/>
                                        </p:tgtEl>
                                        <p:attrNameLst>
                                          <p:attrName>ppt_x</p:attrName>
                                        </p:attrNameLst>
                                      </p:cBhvr>
                                      <p:tavLst>
                                        <p:tav tm="0">
                                          <p:val>
                                            <p:strVal val="#ppt_x"/>
                                          </p:val>
                                        </p:tav>
                                        <p:tav tm="100000">
                                          <p:val>
                                            <p:strVal val="#ppt_x"/>
                                          </p:val>
                                        </p:tav>
                                      </p:tavLst>
                                    </p:anim>
                                    <p:anim calcmode="lin" valueType="num">
                                      <p:cBhvr>
                                        <p:cTn id="21" dur="600" fill="hold"/>
                                        <p:tgtEl>
                                          <p:spTgt spid="103"/>
                                        </p:tgtEl>
                                        <p:attrNameLst>
                                          <p:attrName>ppt_y</p:attrName>
                                        </p:attrNameLst>
                                      </p:cBhvr>
                                      <p:tavLst>
                                        <p:tav tm="0">
                                          <p:val>
                                            <p:strVal val="#ppt_y+.1"/>
                                          </p:val>
                                        </p:tav>
                                        <p:tav tm="100000">
                                          <p:val>
                                            <p:strVal val="#ppt_y"/>
                                          </p:val>
                                        </p:tav>
                                      </p:tavLst>
                                    </p:anim>
                                  </p:childTnLst>
                                </p:cTn>
                              </p:par>
                            </p:childTnLst>
                          </p:cTn>
                        </p:par>
                        <p:par>
                          <p:cTn id="22" fill="hold">
                            <p:stCondLst>
                              <p:cond delay="2100"/>
                            </p:stCondLst>
                            <p:childTnLst>
                              <p:par>
                                <p:cTn id="23" presetID="42" presetClass="entr" presetSubtype="0" fill="hold" grpId="0" nodeType="afterEffect">
                                  <p:stCondLst>
                                    <p:cond delay="0"/>
                                  </p:stCondLst>
                                  <p:childTnLst>
                                    <p:set>
                                      <p:cBhvr>
                                        <p:cTn id="24" dur="1" fill="hold">
                                          <p:stCondLst>
                                            <p:cond delay="0"/>
                                          </p:stCondLst>
                                        </p:cTn>
                                        <p:tgtEl>
                                          <p:spTgt spid="104">
                                            <p:txEl>
                                              <p:pRg st="0" end="0"/>
                                            </p:txEl>
                                          </p:spTgt>
                                        </p:tgtEl>
                                        <p:attrNameLst>
                                          <p:attrName>style.visibility</p:attrName>
                                        </p:attrNameLst>
                                      </p:cBhvr>
                                      <p:to>
                                        <p:strVal val="visible"/>
                                      </p:to>
                                    </p:set>
                                    <p:animEffect transition="in" filter="fade">
                                      <p:cBhvr>
                                        <p:cTn id="25" dur="600"/>
                                        <p:tgtEl>
                                          <p:spTgt spid="104">
                                            <p:txEl>
                                              <p:pRg st="0" end="0"/>
                                            </p:txEl>
                                          </p:spTgt>
                                        </p:tgtEl>
                                      </p:cBhvr>
                                    </p:animEffect>
                                    <p:anim calcmode="lin" valueType="num">
                                      <p:cBhvr>
                                        <p:cTn id="26" dur="6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27" dur="600" fill="hold"/>
                                        <p:tgtEl>
                                          <p:spTgt spid="104">
                                            <p:txEl>
                                              <p:pRg st="0" end="0"/>
                                            </p:txEl>
                                          </p:spTgt>
                                        </p:tgtEl>
                                        <p:attrNameLst>
                                          <p:attrName>ppt_y</p:attrName>
                                        </p:attrNameLst>
                                      </p:cBhvr>
                                      <p:tavLst>
                                        <p:tav tm="0">
                                          <p:val>
                                            <p:strVal val="#ppt_y+.1"/>
                                          </p:val>
                                        </p:tav>
                                        <p:tav tm="100000">
                                          <p:val>
                                            <p:strVal val="#ppt_y"/>
                                          </p:val>
                                        </p:tav>
                                      </p:tavLst>
                                    </p:anim>
                                  </p:childTnLst>
                                </p:cTn>
                              </p:par>
                            </p:childTnLst>
                          </p:cTn>
                        </p:par>
                        <p:par>
                          <p:cTn id="28" fill="hold">
                            <p:stCondLst>
                              <p:cond delay="2800"/>
                            </p:stCondLst>
                            <p:childTnLst>
                              <p:par>
                                <p:cTn id="29" presetID="42" presetClass="entr" presetSubtype="0" fill="hold" grpId="0" nodeType="afterEffect">
                                  <p:stCondLst>
                                    <p:cond delay="0"/>
                                  </p:stCondLst>
                                  <p:childTnLst>
                                    <p:set>
                                      <p:cBhvr>
                                        <p:cTn id="30" dur="1" fill="hold">
                                          <p:stCondLst>
                                            <p:cond delay="0"/>
                                          </p:stCondLst>
                                        </p:cTn>
                                        <p:tgtEl>
                                          <p:spTgt spid="104">
                                            <p:txEl>
                                              <p:pRg st="1" end="1"/>
                                            </p:txEl>
                                          </p:spTgt>
                                        </p:tgtEl>
                                        <p:attrNameLst>
                                          <p:attrName>style.visibility</p:attrName>
                                        </p:attrNameLst>
                                      </p:cBhvr>
                                      <p:to>
                                        <p:strVal val="visible"/>
                                      </p:to>
                                    </p:set>
                                    <p:animEffect transition="in" filter="fade">
                                      <p:cBhvr>
                                        <p:cTn id="31" dur="600"/>
                                        <p:tgtEl>
                                          <p:spTgt spid="104">
                                            <p:txEl>
                                              <p:pRg st="1" end="1"/>
                                            </p:txEl>
                                          </p:spTgt>
                                        </p:tgtEl>
                                      </p:cBhvr>
                                    </p:animEffect>
                                    <p:anim calcmode="lin" valueType="num">
                                      <p:cBhvr>
                                        <p:cTn id="32" dur="6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33" dur="600" fill="hold"/>
                                        <p:tgtEl>
                                          <p:spTgt spid="10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P spid="10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F4F6F8"/>
                </a:solidFill>
                <a:latin typeface="Tahoma"/>
                <a:ea typeface="Tahoma"/>
                <a:cs typeface="Tahoma"/>
              </a:rPr>
              <a:t>لماذا يقلّ الضغط البخاري للمحلول؟</a:t>
            </a:r>
          </a:p>
        </p:txBody>
      </p:sp>
      <p:sp>
        <p:nvSpPr>
          <p:cNvPr id="12" name="Chip"/>
          <p:cNvSpPr/>
          <p:nvPr/>
        </p:nvSpPr>
        <p:spPr>
          <a:xfrm>
            <a:off x="708837" y="452437"/>
            <a:ext cx="2480930" cy="404812"/>
          </a:xfrm>
          <a:prstGeom prst="roundRect">
            <a:avLst>
              <a:gd name="adj" fmla="val 50000"/>
            </a:avLst>
          </a:prstGeom>
          <a:solidFill>
            <a:srgbClr val="E8A94E">
              <a:alpha val="12000"/>
            </a:srgbClr>
          </a:solidFill>
          <a:ln w="12700" cap="rnd">
            <a:solidFill>
              <a:srgbClr val="E8A94E">
                <a:alpha val="70000"/>
              </a:srgbClr>
            </a:solidFill>
            <a:round/>
          </a:ln>
        </p:spPr>
        <p:txBody>
          <a:bodyPr wrap="square" lIns="0" tIns="0" rIns="0" bIns="0" rtlCol="0" anchor="ctr">
            <a:noAutofit/>
          </a:bodyPr>
          <a:lstStyle/>
          <a:p>
            <a:pPr algn="ctr" rtl="1">
              <a:lnSpc>
                <a:spcPct val="110000"/>
              </a:lnSpc>
              <a:buNone/>
            </a:pPr>
            <a:r>
              <a:rPr lang="ar-SA" sz="1400" b="1" i="0" dirty="0">
                <a:solidFill>
                  <a:srgbClr val="E8A94E"/>
                </a:solidFill>
                <a:latin typeface="Tahoma"/>
                <a:ea typeface="Tahoma"/>
                <a:cs typeface="Tahoma"/>
              </a:rPr>
              <a:t>الحصة الأولى</a:t>
            </a:r>
          </a:p>
        </p:txBody>
      </p:sp>
      <p:sp>
        <p:nvSpPr>
          <p:cNvPr id="13" name="Card"/>
          <p:cNvSpPr/>
          <p:nvPr/>
        </p:nvSpPr>
        <p:spPr>
          <a:xfrm>
            <a:off x="708837" y="1285875"/>
            <a:ext cx="14838325" cy="1395468"/>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300" b="1" i="0" dirty="0">
                <a:solidFill>
                  <a:srgbClr val="E8A94E"/>
                </a:solidFill>
                <a:latin typeface="Tahoma"/>
                <a:ea typeface="Tahoma"/>
                <a:cs typeface="Tahoma"/>
              </a:rPr>
              <a:t>السؤال</a:t>
            </a:r>
            <a:endParaRPr lang="ar-SA" sz="2300" b="1" i="0" dirty="0">
              <a:solidFill>
                <a:srgbClr val="F4F6F8"/>
              </a:solidFill>
              <a:latin typeface="Tahoma"/>
              <a:ea typeface="Tahoma"/>
              <a:cs typeface="Tahoma"/>
            </a:endParaRPr>
          </a:p>
          <a:p>
            <a:pPr algn="r" rtl="1">
              <a:lnSpc>
                <a:spcPct val="118000"/>
              </a:lnSpc>
              <a:spcBef>
                <a:spcPts val="800"/>
              </a:spcBef>
              <a:buNone/>
            </a:pPr>
            <a:r>
              <a:rPr lang="ar-SA" sz="2300" b="1" i="0" dirty="0">
                <a:solidFill>
                  <a:srgbClr val="F4F6F8"/>
                </a:solidFill>
                <a:latin typeface="Tahoma"/>
                <a:ea typeface="Tahoma"/>
                <a:cs typeface="Tahoma"/>
              </a:rPr>
              <a:t>لكن ماذا يحدث عند إذابة مادة غير متطايرة وغير إلكتروليتية (مركّب تساهمي) في مذيب سائل؟</a:t>
            </a:r>
          </a:p>
        </p:txBody>
      </p:sp>
      <p:sp>
        <p:nvSpPr>
          <p:cNvPr id="14" name="Card"/>
          <p:cNvSpPr/>
          <p:nvPr/>
        </p:nvSpPr>
        <p:spPr>
          <a:xfrm>
            <a:off x="708837" y="2871843"/>
            <a:ext cx="14838325" cy="1815787"/>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300" b="1" i="0" dirty="0">
                <a:solidFill>
                  <a:srgbClr val="E8A94E"/>
                </a:solidFill>
                <a:latin typeface="Tahoma"/>
                <a:ea typeface="Tahoma"/>
                <a:cs typeface="Tahoma"/>
              </a:rPr>
              <a:t>الإجابة</a:t>
            </a:r>
            <a:endParaRPr lang="ar-SA" sz="2300" b="1" i="0" dirty="0">
              <a:solidFill>
                <a:srgbClr val="F4F6F8"/>
              </a:solidFill>
              <a:latin typeface="Tahoma"/>
              <a:ea typeface="Tahoma"/>
              <a:cs typeface="Tahoma"/>
            </a:endParaRPr>
          </a:p>
          <a:p>
            <a:pPr algn="r" rtl="1">
              <a:lnSpc>
                <a:spcPct val="118000"/>
              </a:lnSpc>
              <a:spcBef>
                <a:spcPts val="800"/>
              </a:spcBef>
              <a:buNone/>
            </a:pPr>
            <a:r>
              <a:rPr lang="ar-SA" sz="2300" b="1" i="0" dirty="0">
                <a:solidFill>
                  <a:srgbClr val="F4F6F8"/>
                </a:solidFill>
                <a:latin typeface="Tahoma"/>
                <a:ea typeface="Tahoma"/>
                <a:cs typeface="Tahoma"/>
              </a:rPr>
              <a:t>في هذه الحالة سوف </a:t>
            </a:r>
            <a:r>
              <a:rPr lang="ar-SA" sz="2300" b="1" i="0" dirty="0">
                <a:solidFill>
                  <a:srgbClr val="E8A94E"/>
                </a:solidFill>
                <a:latin typeface="Tahoma"/>
                <a:ea typeface="Tahoma"/>
                <a:cs typeface="Tahoma"/>
              </a:rPr>
              <a:t>يقلّ الضغط البخاري للمحلول</a:t>
            </a:r>
            <a:r>
              <a:rPr lang="ar-SA" sz="2300" b="1" i="0" dirty="0">
                <a:solidFill>
                  <a:srgbClr val="F4F6F8"/>
                </a:solidFill>
                <a:latin typeface="Tahoma"/>
                <a:ea typeface="Tahoma"/>
                <a:cs typeface="Tahoma"/>
              </a:rPr>
              <a:t> عن الضغط البخاري للسائل النقي عند درجة الحرارة نفسها.</a:t>
            </a:r>
          </a:p>
        </p:txBody>
      </p:sp>
      <p:sp>
        <p:nvSpPr>
          <p:cNvPr id="15" name="Card"/>
          <p:cNvSpPr/>
          <p:nvPr/>
        </p:nvSpPr>
        <p:spPr>
          <a:xfrm>
            <a:off x="708837" y="4878130"/>
            <a:ext cx="14838325" cy="2236105"/>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300" b="1" i="0" dirty="0">
                <a:solidFill>
                  <a:srgbClr val="E8A94E"/>
                </a:solidFill>
                <a:latin typeface="Tahoma"/>
                <a:ea typeface="Tahoma"/>
                <a:cs typeface="Tahoma"/>
              </a:rPr>
              <a:t>التفسير</a:t>
            </a:r>
            <a:endParaRPr lang="ar-SA" sz="2300" b="1" i="0" dirty="0">
              <a:solidFill>
                <a:srgbClr val="F4F6F8"/>
              </a:solidFill>
              <a:latin typeface="Tahoma"/>
              <a:ea typeface="Tahoma"/>
              <a:cs typeface="Tahoma"/>
            </a:endParaRPr>
          </a:p>
          <a:p>
            <a:pPr algn="r" rtl="1">
              <a:lnSpc>
                <a:spcPct val="118000"/>
              </a:lnSpc>
              <a:spcBef>
                <a:spcPts val="800"/>
              </a:spcBef>
              <a:buNone/>
            </a:pPr>
            <a:r>
              <a:rPr lang="ar-SA" sz="2300" b="1" i="0" dirty="0">
                <a:solidFill>
                  <a:srgbClr val="F4F6F8"/>
                </a:solidFill>
                <a:latin typeface="Tahoma"/>
                <a:ea typeface="Tahoma"/>
                <a:cs typeface="Tahoma"/>
              </a:rPr>
              <a:t>يرجع ذلك إلى أن بعض جسيمات المذاب تحلّ محلّ بعض جزيئات المذيب الموجودة على سطح المحلول، وبالتالي يقلّ عدد جزيئات المذيب التي يمكنها الانطلاق إلى الحالة الغازية، فيقلّ في هذه الحالة الضغط البخاري للمحلول عن الضغط البخاري للسائل النقي.</a:t>
            </a:r>
          </a:p>
        </p:txBody>
      </p:sp>
      <p:sp>
        <p:nvSpPr>
          <p:cNvPr id="16" name="Card"/>
          <p:cNvSpPr/>
          <p:nvPr/>
        </p:nvSpPr>
        <p:spPr>
          <a:xfrm>
            <a:off x="708837" y="7304736"/>
            <a:ext cx="14838325" cy="1293074"/>
          </a:xfrm>
          <a:prstGeom prst="roundRect">
            <a:avLst>
              <a:gd name="adj" fmla="val 7000"/>
            </a:avLst>
          </a:prstGeom>
          <a:solidFill>
            <a:srgbClr val="E8A94E">
              <a:alpha val="9000"/>
            </a:srgbClr>
          </a:solidFill>
          <a:ln w="12700" cap="rnd">
            <a:solidFill>
              <a:srgbClr val="E8A94E">
                <a:alpha val="45000"/>
              </a:srgbClr>
            </a:solidFill>
            <a:round/>
          </a:ln>
        </p:spPr>
        <p:txBody>
          <a:bodyPr wrap="square" lIns="259906" tIns="165395" rIns="259906" bIns="165395" rtlCol="0" anchor="t">
            <a:noAutofit/>
          </a:bodyPr>
          <a:lstStyle/>
          <a:p>
            <a:pPr algn="r" rtl="1">
              <a:lnSpc>
                <a:spcPct val="118000"/>
              </a:lnSpc>
              <a:buNone/>
            </a:pPr>
            <a:r>
              <a:rPr lang="ar-SA" sz="2300" b="1" i="0" dirty="0">
                <a:solidFill>
                  <a:srgbClr val="F4F6F8"/>
                </a:solidFill>
                <a:latin typeface="Tahoma"/>
                <a:ea typeface="Tahoma"/>
                <a:cs typeface="Tahoma"/>
              </a:rPr>
              <a:t>يُلاحَظ وجود </a:t>
            </a:r>
            <a:r>
              <a:rPr lang="ar-SA" sz="2300" b="1" i="0" dirty="0">
                <a:solidFill>
                  <a:srgbClr val="E8A94E"/>
                </a:solidFill>
                <a:latin typeface="Tahoma"/>
                <a:ea typeface="Tahoma"/>
                <a:cs typeface="Tahoma"/>
              </a:rPr>
              <a:t>علاقة طردية</a:t>
            </a:r>
            <a:r>
              <a:rPr lang="ar-SA" sz="2300" b="1" i="0" dirty="0">
                <a:solidFill>
                  <a:srgbClr val="F4F6F8"/>
                </a:solidFill>
                <a:latin typeface="Tahoma"/>
                <a:ea typeface="Tahoma"/>
                <a:cs typeface="Tahoma"/>
              </a:rPr>
              <a:t> بين الانخفاض في الضغط البخاري وكلٍّ من الارتفاع في درجة الغليان والانخفاض في درجة التجمد.</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anim calcmode="lin" valueType="num">
                                      <p:cBhvr>
                                        <p:cTn id="20" dur="500" fill="hold"/>
                                        <p:tgtEl>
                                          <p:spTgt spid="14"/>
                                        </p:tgtEl>
                                        <p:attrNameLst>
                                          <p:attrName>ppt_x</p:attrName>
                                        </p:attrNameLst>
                                      </p:cBhvr>
                                      <p:tavLst>
                                        <p:tav tm="0">
                                          <p:val>
                                            <p:strVal val="#ppt_x"/>
                                          </p:val>
                                        </p:tav>
                                        <p:tav tm="100000">
                                          <p:val>
                                            <p:strVal val="#ppt_x"/>
                                          </p:val>
                                        </p:tav>
                                      </p:tavLst>
                                    </p:anim>
                                    <p:anim calcmode="lin" valueType="num">
                                      <p:cBhvr>
                                        <p:cTn id="21"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500"/>
                                        <p:tgtEl>
                                          <p:spTgt spid="15"/>
                                        </p:tgtEl>
                                      </p:cBhvr>
                                    </p:animEffect>
                                    <p:anim calcmode="lin" valueType="num">
                                      <p:cBhvr>
                                        <p:cTn id="27" dur="500" fill="hold"/>
                                        <p:tgtEl>
                                          <p:spTgt spid="15"/>
                                        </p:tgtEl>
                                        <p:attrNameLst>
                                          <p:attrName>ppt_x</p:attrName>
                                        </p:attrNameLst>
                                      </p:cBhvr>
                                      <p:tavLst>
                                        <p:tav tm="0">
                                          <p:val>
                                            <p:strVal val="#ppt_x"/>
                                          </p:val>
                                        </p:tav>
                                        <p:tav tm="100000">
                                          <p:val>
                                            <p:strVal val="#ppt_x"/>
                                          </p:val>
                                        </p:tav>
                                      </p:tavLst>
                                    </p:anim>
                                    <p:anim calcmode="lin" valueType="num">
                                      <p:cBhvr>
                                        <p:cTn id="28"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anim calcmode="lin" valueType="num">
                                      <p:cBhvr>
                                        <p:cTn id="34" dur="500" fill="hold"/>
                                        <p:tgtEl>
                                          <p:spTgt spid="16"/>
                                        </p:tgtEl>
                                        <p:attrNameLst>
                                          <p:attrName>ppt_x</p:attrName>
                                        </p:attrNameLst>
                                      </p:cBhvr>
                                      <p:tavLst>
                                        <p:tav tm="0">
                                          <p:val>
                                            <p:strVal val="#ppt_x"/>
                                          </p:val>
                                        </p:tav>
                                        <p:tav tm="100000">
                                          <p:val>
                                            <p:strVal val="#ppt_x"/>
                                          </p:val>
                                        </p:tav>
                                      </p:tavLst>
                                    </p:anim>
                                    <p:anim calcmode="lin" valueType="num">
                                      <p:cBhvr>
                                        <p:cTn id="35" dur="5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9356651" y="2122041"/>
            <a:ext cx="5682511" cy="649386"/>
          </a:xfrm>
          <a:prstGeom prst="rect">
            <a:avLst/>
          </a:prstGeom>
          <a:noFill/>
        </p:spPr>
        <p:txBody>
          <a:bodyPr wrap="none" lIns="0" tIns="0" rIns="0" bIns="0" rtlCol="0" anchor="ctr" anchorCtr="1">
            <a:noAutofit/>
          </a:bodyPr>
          <a:lstStyle/>
          <a:p>
            <a:pPr algn="r" rtl="1">
              <a:lnSpc>
                <a:spcPct val="100000"/>
              </a:lnSpc>
              <a:buNone/>
            </a:pPr>
            <a:r>
              <a:rPr lang="ar-SA" sz="4220" b="1" i="0" dirty="0">
                <a:solidFill>
                  <a:srgbClr val="E6E6E6"/>
                </a:solidFill>
                <a:latin typeface="Tahoma"/>
                <a:ea typeface="Tahoma"/>
                <a:cs typeface="Tahoma"/>
              </a:rPr>
              <a:t>علاقة طردية حاكمة</a:t>
            </a:r>
          </a:p>
        </p:txBody>
      </p:sp>
      <p:sp>
        <p:nvSpPr>
          <p:cNvPr id="102" name="Text 2"/>
          <p:cNvSpPr txBox="1"/>
          <p:nvPr/>
        </p:nvSpPr>
        <p:spPr>
          <a:xfrm>
            <a:off x="9333023" y="3107928"/>
            <a:ext cx="5528930" cy="4014390"/>
          </a:xfrm>
          <a:prstGeom prst="rect">
            <a:avLst/>
          </a:prstGeom>
          <a:noFill/>
        </p:spPr>
        <p:txBody>
          <a:bodyPr wrap="square" lIns="0" tIns="0" rIns="0" bIns="0" rtlCol="0" anchor="t">
            <a:noAutofit/>
          </a:bodyPr>
          <a:lstStyle/>
          <a:p>
            <a:pPr algn="r" rtl="1">
              <a:lnSpc>
                <a:spcPct val="100000"/>
              </a:lnSpc>
              <a:buNone/>
            </a:pPr>
            <a:r>
              <a:rPr lang="ar-SA" sz="3000" b="1" i="0" dirty="0">
                <a:solidFill>
                  <a:srgbClr val="FFFFFF"/>
                </a:solidFill>
                <a:latin typeface="Tahoma"/>
                <a:ea typeface="Tahoma"/>
                <a:cs typeface="Tahoma"/>
              </a:rPr>
              <a:t>كلما زاد عدد جسيمات </a:t>
            </a:r>
            <a:r>
              <a:rPr lang="ar-SA" sz="3000" b="1" i="0" dirty="0">
                <a:solidFill>
                  <a:srgbClr val="E8A94E"/>
                </a:solidFill>
                <a:latin typeface="Tahoma"/>
                <a:ea typeface="Tahoma"/>
                <a:cs typeface="Tahoma"/>
              </a:rPr>
              <a:t>المذاب،</a:t>
            </a:r>
            <a:r>
              <a:rPr lang="ar-SA" sz="3000" b="1" i="0" dirty="0">
                <a:solidFill>
                  <a:srgbClr val="FFFFFF"/>
                </a:solidFill>
                <a:latin typeface="Tahoma"/>
                <a:ea typeface="Tahoma"/>
                <a:cs typeface="Tahoma"/>
              </a:rPr>
              <a:t> </a:t>
            </a:r>
            <a:r>
              <a:rPr lang="ar-SA" sz="3000" b="1" i="0" dirty="0">
                <a:solidFill>
                  <a:srgbClr val="E8A94E"/>
                </a:solidFill>
                <a:latin typeface="Tahoma"/>
                <a:ea typeface="Tahoma"/>
                <a:cs typeface="Tahoma"/>
              </a:rPr>
              <a:t>قلّ الضغط البخاري</a:t>
            </a:r>
            <a:r>
              <a:rPr lang="ar-SA" sz="3000" b="1" i="0" dirty="0">
                <a:solidFill>
                  <a:srgbClr val="FFFFFF"/>
                </a:solidFill>
                <a:latin typeface="Tahoma"/>
                <a:ea typeface="Tahoma"/>
                <a:cs typeface="Tahoma"/>
              </a:rPr>
              <a:t> بشكل أكبر.</a:t>
            </a:r>
          </a:p>
          <a:p>
            <a:pPr algn="r" rtl="1">
              <a:lnSpc>
                <a:spcPct val="100000"/>
              </a:lnSpc>
              <a:spcBef>
                <a:spcPts val="3000"/>
              </a:spcBef>
              <a:buNone/>
            </a:pPr>
            <a:r>
              <a:rPr lang="ar-SA" sz="3000" b="1" i="0" dirty="0">
                <a:solidFill>
                  <a:srgbClr val="FFFFFF"/>
                </a:solidFill>
                <a:latin typeface="Tahoma"/>
                <a:ea typeface="Tahoma"/>
                <a:cs typeface="Tahoma"/>
              </a:rPr>
              <a:t>هذا الانخفاض في الضغط البخاري هو </a:t>
            </a:r>
            <a:r>
              <a:rPr lang="ar-SA" sz="3000" b="1" i="0" dirty="0">
                <a:solidFill>
                  <a:srgbClr val="E8A94E"/>
                </a:solidFill>
                <a:latin typeface="Tahoma"/>
                <a:ea typeface="Tahoma"/>
                <a:cs typeface="Tahoma"/>
              </a:rPr>
              <a:t>"المحرك الأساسي"</a:t>
            </a:r>
            <a:r>
              <a:rPr lang="ar-SA" sz="3000" b="1" i="0" dirty="0">
                <a:solidFill>
                  <a:srgbClr val="FFFFFF"/>
                </a:solidFill>
                <a:latin typeface="Tahoma"/>
                <a:ea typeface="Tahoma"/>
                <a:cs typeface="Tahoma"/>
              </a:rPr>
              <a:t> الذي سيغير درجتي الغليان والتجمد!</a:t>
            </a:r>
          </a:p>
        </p:txBody>
      </p:sp>
      <p:sp>
        <p:nvSpPr>
          <p:cNvPr id="103" name="Text 3"/>
          <p:cNvSpPr txBox="1"/>
          <p:nvPr/>
        </p:nvSpPr>
        <p:spPr>
          <a:xfrm>
            <a:off x="4300279" y="3125638"/>
            <a:ext cx="1713023" cy="472281"/>
          </a:xfrm>
          <a:prstGeom prst="rect">
            <a:avLst/>
          </a:prstGeom>
          <a:noFill/>
        </p:spPr>
        <p:txBody>
          <a:bodyPr wrap="none" lIns="0" tIns="0" rIns="0" bIns="0" rtlCol="0" anchor="ctr" anchorCtr="1">
            <a:noAutofit/>
          </a:bodyPr>
          <a:lstStyle/>
          <a:p>
            <a:pPr algn="ctr" rtl="1">
              <a:lnSpc>
                <a:spcPct val="100000"/>
              </a:lnSpc>
              <a:buNone/>
            </a:pPr>
            <a:r>
              <a:rPr lang="ar-SA" sz="3020" b="1" i="0" dirty="0">
                <a:solidFill>
                  <a:srgbClr val="FFFFFF"/>
                </a:solidFill>
                <a:latin typeface="Tahoma"/>
                <a:ea typeface="Tahoma"/>
                <a:cs typeface="Tahoma"/>
              </a:rPr>
              <a:t>مذيب</a:t>
            </a:r>
          </a:p>
        </p:txBody>
      </p:sp>
      <p:sp>
        <p:nvSpPr>
          <p:cNvPr id="104" name="Text 4"/>
          <p:cNvSpPr txBox="1"/>
          <p:nvPr/>
        </p:nvSpPr>
        <p:spPr>
          <a:xfrm>
            <a:off x="6023731" y="4784526"/>
            <a:ext cx="2011140" cy="472281"/>
          </a:xfrm>
          <a:prstGeom prst="rect">
            <a:avLst/>
          </a:prstGeom>
          <a:noFill/>
        </p:spPr>
        <p:txBody>
          <a:bodyPr wrap="none" lIns="0" tIns="0" rIns="0" bIns="0" rtlCol="0" anchor="ctr" anchorCtr="1">
            <a:noAutofit/>
          </a:bodyPr>
          <a:lstStyle/>
          <a:p>
            <a:pPr algn="ctr" rtl="1">
              <a:lnSpc>
                <a:spcPct val="100000"/>
              </a:lnSpc>
              <a:buNone/>
            </a:pPr>
            <a:r>
              <a:rPr lang="ar-SA" sz="3170" b="1" i="0" dirty="0">
                <a:solidFill>
                  <a:srgbClr val="E8A94E"/>
                </a:solidFill>
                <a:latin typeface="Tahoma"/>
                <a:ea typeface="Tahoma"/>
                <a:cs typeface="Tahoma"/>
              </a:rPr>
              <a:t>محلول</a:t>
            </a:r>
          </a:p>
        </p:txBody>
      </p:sp>
      <p:sp>
        <p:nvSpPr>
          <p:cNvPr id="105" name="Text 5"/>
          <p:cNvSpPr txBox="1"/>
          <p:nvPr/>
        </p:nvSpPr>
        <p:spPr>
          <a:xfrm>
            <a:off x="3058060" y="7630021"/>
            <a:ext cx="3500437" cy="590351"/>
          </a:xfrm>
          <a:prstGeom prst="rect">
            <a:avLst/>
          </a:prstGeom>
          <a:noFill/>
        </p:spPr>
        <p:txBody>
          <a:bodyPr wrap="none" lIns="0" tIns="0" rIns="0" bIns="0" rtlCol="0" anchor="ctr" anchorCtr="1">
            <a:noAutofit/>
          </a:bodyPr>
          <a:lstStyle/>
          <a:p>
            <a:pPr algn="ctr" rtl="1">
              <a:lnSpc>
                <a:spcPct val="100000"/>
              </a:lnSpc>
              <a:buNone/>
            </a:pPr>
            <a:r>
              <a:rPr lang="ar-SA" sz="2700" b="1" i="0" dirty="0">
                <a:solidFill>
                  <a:srgbClr val="E6E6E6"/>
                </a:solidFill>
                <a:latin typeface="Tahoma"/>
                <a:ea typeface="Tahoma"/>
                <a:cs typeface="Tahoma"/>
              </a:rPr>
              <a:t>درجة الحرارة (C)</a:t>
            </a:r>
          </a:p>
        </p:txBody>
      </p:sp>
      <p:sp>
        <p:nvSpPr>
          <p:cNvPr id="106" name="Text 6"/>
          <p:cNvSpPr txBox="1"/>
          <p:nvPr/>
        </p:nvSpPr>
        <p:spPr>
          <a:xfrm rot="16200000">
            <a:off x="-814044" y="4182212"/>
            <a:ext cx="3813671" cy="531627"/>
          </a:xfrm>
          <a:prstGeom prst="rect">
            <a:avLst/>
          </a:prstGeom>
          <a:noFill/>
        </p:spPr>
        <p:txBody>
          <a:bodyPr wrap="none" lIns="0" tIns="0" rIns="0" bIns="0" rtlCol="0" anchor="ctr" anchorCtr="1">
            <a:noAutofit/>
          </a:bodyPr>
          <a:lstStyle/>
          <a:p>
            <a:pPr algn="ctr" rtl="1">
              <a:lnSpc>
                <a:spcPct val="100000"/>
              </a:lnSpc>
              <a:buNone/>
            </a:pPr>
            <a:r>
              <a:rPr lang="ar-SA" sz="2800" b="1" i="0" dirty="0">
                <a:solidFill>
                  <a:srgbClr val="E6E6E6"/>
                </a:solidFill>
                <a:latin typeface="Tahoma"/>
                <a:ea typeface="Tahoma"/>
                <a:cs typeface="Tahoma"/>
              </a:rPr>
              <a:t>الضغط البخاري (torr)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600"/>
                                        <p:tgtEl>
                                          <p:spTgt spid="101"/>
                                        </p:tgtEl>
                                      </p:cBhvr>
                                    </p:animEffect>
                                    <p:anim calcmode="lin" valueType="num">
                                      <p:cBhvr>
                                        <p:cTn id="8" dur="600" fill="hold"/>
                                        <p:tgtEl>
                                          <p:spTgt spid="101"/>
                                        </p:tgtEl>
                                        <p:attrNameLst>
                                          <p:attrName>ppt_w</p:attrName>
                                        </p:attrNameLst>
                                      </p:cBhvr>
                                      <p:tavLst>
                                        <p:tav tm="0">
                                          <p:val>
                                            <p:strVal val="0"/>
                                          </p:val>
                                        </p:tav>
                                        <p:tav tm="100000">
                                          <p:val>
                                            <p:strVal val="#ppt_w"/>
                                          </p:val>
                                        </p:tav>
                                      </p:tavLst>
                                    </p:anim>
                                    <p:anim calcmode="lin" valueType="num">
                                      <p:cBhvr>
                                        <p:cTn id="9"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1" presetID="42" presetClass="entr" presetSubtype="0" fill="hold" grpId="0" nodeType="afterEffect">
                                  <p:stCondLst>
                                    <p:cond delay="0"/>
                                  </p:stCondLst>
                                  <p:childTnLst>
                                    <p:set>
                                      <p:cBhvr>
                                        <p:cTn id="12" dur="1" fill="hold">
                                          <p:stCondLst>
                                            <p:cond delay="0"/>
                                          </p:stCondLst>
                                        </p:cTn>
                                        <p:tgtEl>
                                          <p:spTgt spid="102">
                                            <p:txEl>
                                              <p:pRg st="0" end="0"/>
                                            </p:txEl>
                                          </p:spTgt>
                                        </p:tgtEl>
                                        <p:attrNameLst>
                                          <p:attrName>style.visibility</p:attrName>
                                        </p:attrNameLst>
                                      </p:cBhvr>
                                      <p:to>
                                        <p:strVal val="visible"/>
                                      </p:to>
                                    </p:set>
                                    <p:animEffect transition="in" filter="fade">
                                      <p:cBhvr>
                                        <p:cTn id="13" dur="600"/>
                                        <p:tgtEl>
                                          <p:spTgt spid="102">
                                            <p:txEl>
                                              <p:pRg st="0" end="0"/>
                                            </p:txEl>
                                          </p:spTgt>
                                        </p:tgtEl>
                                      </p:cBhvr>
                                    </p:animEffect>
                                    <p:anim calcmode="lin" valueType="num">
                                      <p:cBhvr>
                                        <p:cTn id="14" dur="600" fill="hold"/>
                                        <p:tgtEl>
                                          <p:spTgt spid="102">
                                            <p:txEl>
                                              <p:pRg st="0" end="0"/>
                                            </p:txEl>
                                          </p:spTgt>
                                        </p:tgtEl>
                                        <p:attrNameLst>
                                          <p:attrName>ppt_x</p:attrName>
                                        </p:attrNameLst>
                                      </p:cBhvr>
                                      <p:tavLst>
                                        <p:tav tm="0">
                                          <p:val>
                                            <p:strVal val="#ppt_x"/>
                                          </p:val>
                                        </p:tav>
                                        <p:tav tm="100000">
                                          <p:val>
                                            <p:strVal val="#ppt_x"/>
                                          </p:val>
                                        </p:tav>
                                      </p:tavLst>
                                    </p:anim>
                                    <p:anim calcmode="lin" valueType="num">
                                      <p:cBhvr>
                                        <p:cTn id="15" dur="600" fill="hold"/>
                                        <p:tgtEl>
                                          <p:spTgt spid="102">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1400"/>
                            </p:stCondLst>
                            <p:childTnLst>
                              <p:par>
                                <p:cTn id="17" presetID="42" presetClass="entr" presetSubtype="0" fill="hold" grpId="0" nodeType="afterEffect">
                                  <p:stCondLst>
                                    <p:cond delay="0"/>
                                  </p:stCondLst>
                                  <p:childTnLst>
                                    <p:set>
                                      <p:cBhvr>
                                        <p:cTn id="18" dur="1" fill="hold">
                                          <p:stCondLst>
                                            <p:cond delay="0"/>
                                          </p:stCondLst>
                                        </p:cTn>
                                        <p:tgtEl>
                                          <p:spTgt spid="102">
                                            <p:txEl>
                                              <p:pRg st="1" end="1"/>
                                            </p:txEl>
                                          </p:spTgt>
                                        </p:tgtEl>
                                        <p:attrNameLst>
                                          <p:attrName>style.visibility</p:attrName>
                                        </p:attrNameLst>
                                      </p:cBhvr>
                                      <p:to>
                                        <p:strVal val="visible"/>
                                      </p:to>
                                    </p:set>
                                    <p:animEffect transition="in" filter="fade">
                                      <p:cBhvr>
                                        <p:cTn id="19" dur="600"/>
                                        <p:tgtEl>
                                          <p:spTgt spid="102">
                                            <p:txEl>
                                              <p:pRg st="1" end="1"/>
                                            </p:txEl>
                                          </p:spTgt>
                                        </p:tgtEl>
                                      </p:cBhvr>
                                    </p:animEffect>
                                    <p:anim calcmode="lin" valueType="num">
                                      <p:cBhvr>
                                        <p:cTn id="20" dur="600" fill="hold"/>
                                        <p:tgtEl>
                                          <p:spTgt spid="102">
                                            <p:txEl>
                                              <p:pRg st="1" end="1"/>
                                            </p:txEl>
                                          </p:spTgt>
                                        </p:tgtEl>
                                        <p:attrNameLst>
                                          <p:attrName>ppt_x</p:attrName>
                                        </p:attrNameLst>
                                      </p:cBhvr>
                                      <p:tavLst>
                                        <p:tav tm="0">
                                          <p:val>
                                            <p:strVal val="#ppt_x"/>
                                          </p:val>
                                        </p:tav>
                                        <p:tav tm="100000">
                                          <p:val>
                                            <p:strVal val="#ppt_x"/>
                                          </p:val>
                                        </p:tav>
                                      </p:tavLst>
                                    </p:anim>
                                    <p:anim calcmode="lin" valueType="num">
                                      <p:cBhvr>
                                        <p:cTn id="21" dur="600" fill="hold"/>
                                        <p:tgtEl>
                                          <p:spTgt spid="102">
                                            <p:txEl>
                                              <p:pRg st="1" end="1"/>
                                            </p:txEl>
                                          </p:spTgt>
                                        </p:tgtEl>
                                        <p:attrNameLst>
                                          <p:attrName>ppt_y</p:attrName>
                                        </p:attrNameLst>
                                      </p:cBhvr>
                                      <p:tavLst>
                                        <p:tav tm="0">
                                          <p:val>
                                            <p:strVal val="#ppt_y+.1"/>
                                          </p:val>
                                        </p:tav>
                                        <p:tav tm="100000">
                                          <p:val>
                                            <p:strVal val="#ppt_y"/>
                                          </p:val>
                                        </p:tav>
                                      </p:tavLst>
                                    </p:anim>
                                  </p:childTnLst>
                                </p:cTn>
                              </p:par>
                            </p:childTnLst>
                          </p:cTn>
                        </p:par>
                        <p:par>
                          <p:cTn id="22" fill="hold">
                            <p:stCondLst>
                              <p:cond delay="2100"/>
                            </p:stCondLst>
                            <p:childTnLst>
                              <p:par>
                                <p:cTn id="23" presetID="53" presetClass="entr" presetSubtype="16" fill="hold" grpId="0" nodeType="afterEffect">
                                  <p:stCondLst>
                                    <p:cond delay="0"/>
                                  </p:stCondLst>
                                  <p:childTnLst>
                                    <p:set>
                                      <p:cBhvr>
                                        <p:cTn id="24" dur="1" fill="hold">
                                          <p:stCondLst>
                                            <p:cond delay="0"/>
                                          </p:stCondLst>
                                        </p:cTn>
                                        <p:tgtEl>
                                          <p:spTgt spid="103"/>
                                        </p:tgtEl>
                                        <p:attrNameLst>
                                          <p:attrName>style.visibility</p:attrName>
                                        </p:attrNameLst>
                                      </p:cBhvr>
                                      <p:to>
                                        <p:strVal val="visible"/>
                                      </p:to>
                                    </p:set>
                                    <p:animEffect transition="in" filter="fade">
                                      <p:cBhvr>
                                        <p:cTn id="25" dur="600"/>
                                        <p:tgtEl>
                                          <p:spTgt spid="103"/>
                                        </p:tgtEl>
                                      </p:cBhvr>
                                    </p:animEffect>
                                    <p:anim calcmode="lin" valueType="num">
                                      <p:cBhvr>
                                        <p:cTn id="26" dur="600" fill="hold"/>
                                        <p:tgtEl>
                                          <p:spTgt spid="103"/>
                                        </p:tgtEl>
                                        <p:attrNameLst>
                                          <p:attrName>ppt_w</p:attrName>
                                        </p:attrNameLst>
                                      </p:cBhvr>
                                      <p:tavLst>
                                        <p:tav tm="0">
                                          <p:val>
                                            <p:strVal val="0"/>
                                          </p:val>
                                        </p:tav>
                                        <p:tav tm="100000">
                                          <p:val>
                                            <p:strVal val="#ppt_w"/>
                                          </p:val>
                                        </p:tav>
                                      </p:tavLst>
                                    </p:anim>
                                    <p:anim calcmode="lin" valueType="num">
                                      <p:cBhvr>
                                        <p:cTn id="27" dur="600" fill="hold"/>
                                        <p:tgtEl>
                                          <p:spTgt spid="103"/>
                                        </p:tgtEl>
                                        <p:attrNameLst>
                                          <p:attrName>ppt_h</p:attrName>
                                        </p:attrNameLst>
                                      </p:cBhvr>
                                      <p:tavLst>
                                        <p:tav tm="0">
                                          <p:val>
                                            <p:strVal val="0"/>
                                          </p:val>
                                        </p:tav>
                                        <p:tav tm="100000">
                                          <p:val>
                                            <p:strVal val="#ppt_h"/>
                                          </p:val>
                                        </p:tav>
                                      </p:tavLst>
                                    </p:anim>
                                  </p:childTnLst>
                                </p:cTn>
                              </p:par>
                            </p:childTnLst>
                          </p:cTn>
                        </p:par>
                        <p:par>
                          <p:cTn id="28" fill="hold">
                            <p:stCondLst>
                              <p:cond delay="2800"/>
                            </p:stCondLst>
                            <p:childTnLst>
                              <p:par>
                                <p:cTn id="29" presetID="53" presetClass="entr" presetSubtype="16" fill="hold" grpId="0" nodeType="afterEffect">
                                  <p:stCondLst>
                                    <p:cond delay="0"/>
                                  </p:stCondLst>
                                  <p:childTnLst>
                                    <p:set>
                                      <p:cBhvr>
                                        <p:cTn id="30" dur="1" fill="hold">
                                          <p:stCondLst>
                                            <p:cond delay="0"/>
                                          </p:stCondLst>
                                        </p:cTn>
                                        <p:tgtEl>
                                          <p:spTgt spid="104"/>
                                        </p:tgtEl>
                                        <p:attrNameLst>
                                          <p:attrName>style.visibility</p:attrName>
                                        </p:attrNameLst>
                                      </p:cBhvr>
                                      <p:to>
                                        <p:strVal val="visible"/>
                                      </p:to>
                                    </p:set>
                                    <p:animEffect transition="in" filter="fade">
                                      <p:cBhvr>
                                        <p:cTn id="31" dur="600"/>
                                        <p:tgtEl>
                                          <p:spTgt spid="104"/>
                                        </p:tgtEl>
                                      </p:cBhvr>
                                    </p:animEffect>
                                    <p:anim calcmode="lin" valueType="num">
                                      <p:cBhvr>
                                        <p:cTn id="32" dur="600" fill="hold"/>
                                        <p:tgtEl>
                                          <p:spTgt spid="104"/>
                                        </p:tgtEl>
                                        <p:attrNameLst>
                                          <p:attrName>ppt_w</p:attrName>
                                        </p:attrNameLst>
                                      </p:cBhvr>
                                      <p:tavLst>
                                        <p:tav tm="0">
                                          <p:val>
                                            <p:strVal val="0"/>
                                          </p:val>
                                        </p:tav>
                                        <p:tav tm="100000">
                                          <p:val>
                                            <p:strVal val="#ppt_w"/>
                                          </p:val>
                                        </p:tav>
                                      </p:tavLst>
                                    </p:anim>
                                    <p:anim calcmode="lin" valueType="num">
                                      <p:cBhvr>
                                        <p:cTn id="33" dur="600" fill="hold"/>
                                        <p:tgtEl>
                                          <p:spTgt spid="104"/>
                                        </p:tgtEl>
                                        <p:attrNameLst>
                                          <p:attrName>ppt_h</p:attrName>
                                        </p:attrNameLst>
                                      </p:cBhvr>
                                      <p:tavLst>
                                        <p:tav tm="0">
                                          <p:val>
                                            <p:strVal val="0"/>
                                          </p:val>
                                        </p:tav>
                                        <p:tav tm="100000">
                                          <p:val>
                                            <p:strVal val="#ppt_h"/>
                                          </p:val>
                                        </p:tav>
                                      </p:tavLst>
                                    </p:anim>
                                  </p:childTnLst>
                                </p:cTn>
                              </p:par>
                            </p:childTnLst>
                          </p:cTn>
                        </p:par>
                        <p:par>
                          <p:cTn id="34" fill="hold">
                            <p:stCondLst>
                              <p:cond delay="3500"/>
                            </p:stCondLst>
                            <p:childTnLst>
                              <p:par>
                                <p:cTn id="35" presetID="10" presetClass="entr" presetSubtype="0" fill="hold" grpId="0" nodeType="afterEffect">
                                  <p:stCondLst>
                                    <p:cond delay="0"/>
                                  </p:stCondLst>
                                  <p:childTnLst>
                                    <p:set>
                                      <p:cBhvr>
                                        <p:cTn id="36" dur="1" fill="hold">
                                          <p:stCondLst>
                                            <p:cond delay="0"/>
                                          </p:stCondLst>
                                        </p:cTn>
                                        <p:tgtEl>
                                          <p:spTgt spid="105"/>
                                        </p:tgtEl>
                                        <p:attrNameLst>
                                          <p:attrName>style.visibility</p:attrName>
                                        </p:attrNameLst>
                                      </p:cBhvr>
                                      <p:to>
                                        <p:strVal val="visible"/>
                                      </p:to>
                                    </p:set>
                                    <p:animEffect transition="in" filter="fade">
                                      <p:cBhvr>
                                        <p:cTn id="37" dur="600"/>
                                        <p:tgtEl>
                                          <p:spTgt spid="105"/>
                                        </p:tgtEl>
                                      </p:cBhvr>
                                    </p:animEffect>
                                  </p:childTnLst>
                                </p:cTn>
                              </p:par>
                            </p:childTnLst>
                          </p:cTn>
                        </p:par>
                        <p:par>
                          <p:cTn id="38" fill="hold">
                            <p:stCondLst>
                              <p:cond delay="4200"/>
                            </p:stCondLst>
                            <p:childTnLst>
                              <p:par>
                                <p:cTn id="39" presetID="10" presetClass="entr" presetSubtype="0" fill="hold" grpId="0" nodeType="afterEffect">
                                  <p:stCondLst>
                                    <p:cond delay="0"/>
                                  </p:stCondLst>
                                  <p:childTnLst>
                                    <p:set>
                                      <p:cBhvr>
                                        <p:cTn id="40" dur="1" fill="hold">
                                          <p:stCondLst>
                                            <p:cond delay="0"/>
                                          </p:stCondLst>
                                        </p:cTn>
                                        <p:tgtEl>
                                          <p:spTgt spid="106"/>
                                        </p:tgtEl>
                                        <p:attrNameLst>
                                          <p:attrName>style.visibility</p:attrName>
                                        </p:attrNameLst>
                                      </p:cBhvr>
                                      <p:to>
                                        <p:strVal val="visible"/>
                                      </p:to>
                                    </p:set>
                                    <p:animEffect transition="in" filter="fade">
                                      <p:cBhvr>
                                        <p:cTn id="41" dur="6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build="p"/>
      <p:bldP spid="103" grpId="0"/>
      <p:bldP spid="104" grpId="0"/>
      <p:bldP spid="105" grpId="0"/>
      <p:bldP spid="10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Divider card"/>
          <p:cNvSpPr/>
          <p:nvPr/>
        </p:nvSpPr>
        <p:spPr>
          <a:xfrm>
            <a:off x="3520558" y="2500312"/>
            <a:ext cx="9214883" cy="4167187"/>
          </a:xfrm>
          <a:prstGeom prst="roundRect">
            <a:avLst>
              <a:gd name="adj" fmla="val 8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3" name="Title"/>
          <p:cNvSpPr txBox="1"/>
          <p:nvPr/>
        </p:nvSpPr>
        <p:spPr>
          <a:xfrm>
            <a:off x="3756837" y="3786187"/>
            <a:ext cx="8742325" cy="1333500"/>
          </a:xfrm>
          <a:prstGeom prst="rect">
            <a:avLst/>
          </a:prstGeom>
          <a:noFill/>
          <a:ln>
            <a:noFill/>
          </a:ln>
        </p:spPr>
        <p:txBody>
          <a:bodyPr wrap="square" lIns="0" tIns="0" rIns="0" bIns="0" rtlCol="0" anchor="ctr">
            <a:noAutofit/>
          </a:bodyPr>
          <a:lstStyle/>
          <a:p>
            <a:pPr algn="ctr" rtl="1">
              <a:lnSpc>
                <a:spcPct val="110000"/>
              </a:lnSpc>
              <a:buNone/>
            </a:pPr>
            <a:r>
              <a:rPr lang="ar-SA" sz="4400" b="1" i="0" dirty="0">
                <a:solidFill>
                  <a:srgbClr val="2B3038"/>
                </a:solidFill>
                <a:latin typeface="Tahoma"/>
                <a:ea typeface="Tahoma"/>
                <a:cs typeface="Tahoma"/>
              </a:rPr>
              <a:t>الانخفاض في الضغط البخاري</a:t>
            </a:r>
          </a:p>
        </p:txBody>
      </p:sp>
      <p:sp>
        <p:nvSpPr>
          <p:cNvPr id="14" name="Subtitle"/>
          <p:cNvSpPr txBox="1"/>
          <p:nvPr/>
        </p:nvSpPr>
        <p:spPr>
          <a:xfrm>
            <a:off x="3756837" y="5238750"/>
            <a:ext cx="8742325" cy="714375"/>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5D6570"/>
                </a:solidFill>
                <a:latin typeface="Tahoma"/>
                <a:ea typeface="Tahoma"/>
                <a:cs typeface="Tahoma"/>
              </a:rPr>
              <a:t>اختبر فهمك: السؤال أولاً، ثم اضغط لإظهار الإجابة</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id="9" presetID="53" presetClass="entr" presetSubtype="16"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600"/>
                                        <p:tgtEl>
                                          <p:spTgt spid="13"/>
                                        </p:tgtEl>
                                      </p:cBhvr>
                                    </p:animEffect>
                                    <p:anim calcmode="lin" valueType="num">
                                      <p:cBhvr>
                                        <p:cTn id="12" dur="600" fill="hold"/>
                                        <p:tgtEl>
                                          <p:spTgt spid="13"/>
                                        </p:tgtEl>
                                        <p:attrNameLst>
                                          <p:attrName>ppt_w</p:attrName>
                                        </p:attrNameLst>
                                      </p:cBhvr>
                                      <p:tavLst>
                                        <p:tav tm="0">
                                          <p:val>
                                            <p:strVal val="0"/>
                                          </p:val>
                                        </p:tav>
                                        <p:tav tm="100000">
                                          <p:val>
                                            <p:strVal val="#ppt_w"/>
                                          </p:val>
                                        </p:tav>
                                      </p:tavLst>
                                    </p:anim>
                                    <p:anim calcmode="lin" valueType="num">
                                      <p:cBhvr>
                                        <p:cTn id="13" dur="600" fill="hold"/>
                                        <p:tgtEl>
                                          <p:spTgt spid="13"/>
                                        </p:tgtEl>
                                        <p:attrNameLst>
                                          <p:attrName>ppt_h</p:attrName>
                                        </p:attrNameLst>
                                      </p:cBhvr>
                                      <p:tavLst>
                                        <p:tav tm="0">
                                          <p:val>
                                            <p:strVal val="0"/>
                                          </p:val>
                                        </p:tav>
                                        <p:tav tm="100000">
                                          <p:val>
                                            <p:strVal val="#ppt_h"/>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anim calcmode="lin" valueType="num">
                                      <p:cBhvr>
                                        <p:cTn id="18" dur="500" fill="hold"/>
                                        <p:tgtEl>
                                          <p:spTgt spid="14"/>
                                        </p:tgtEl>
                                        <p:attrNameLst>
                                          <p:attrName>ppt_x</p:attrName>
                                        </p:attrNameLst>
                                      </p:cBhvr>
                                      <p:tavLst>
                                        <p:tav tm="0">
                                          <p:val>
                                            <p:strVal val="#ppt_x"/>
                                          </p:val>
                                        </p:tav>
                                        <p:tav tm="100000">
                                          <p:val>
                                            <p:strVal val="#ppt_x"/>
                                          </p:val>
                                        </p:tav>
                                      </p:tavLst>
                                    </p:anim>
                                    <p:anim calcmode="lin" valueType="num">
                                      <p:cBhvr>
                                        <p:cTn id="1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الضغط البخاري</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الأولى</a:t>
            </a:r>
          </a:p>
        </p:txBody>
      </p:sp>
      <p:sp>
        <p:nvSpPr>
          <p:cNvPr id="13" name="Card 1"/>
          <p:cNvSpPr/>
          <p:nvPr/>
        </p:nvSpPr>
        <p:spPr>
          <a:xfrm>
            <a:off x="708837" y="1452562"/>
            <a:ext cx="14838325" cy="19566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1"/>
          <p:cNvSpPr/>
          <p:nvPr/>
        </p:nvSpPr>
        <p:spPr>
          <a:xfrm>
            <a:off x="14838325" y="164306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1</a:t>
            </a:r>
          </a:p>
        </p:txBody>
      </p:sp>
      <p:sp>
        <p:nvSpPr>
          <p:cNvPr id="15" name="Tag 1"/>
          <p:cNvSpPr txBox="1"/>
          <p:nvPr/>
        </p:nvSpPr>
        <p:spPr>
          <a:xfrm>
            <a:off x="1016000" y="161925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اكتب الاسم أو المصطلح العلمي</a:t>
            </a:r>
          </a:p>
        </p:txBody>
      </p:sp>
      <p:sp>
        <p:nvSpPr>
          <p:cNvPr id="16" name="Question 1"/>
          <p:cNvSpPr txBox="1"/>
          <p:nvPr/>
        </p:nvSpPr>
        <p:spPr>
          <a:xfrm>
            <a:off x="1016000" y="2000250"/>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التغيرات التي تحدث للخواص الفيزيائية للسائل المذيب عند إضافة المذاب إليه.</a:t>
            </a:r>
          </a:p>
        </p:txBody>
      </p:sp>
      <p:sp>
        <p:nvSpPr>
          <p:cNvPr id="17" name="Answer 1"/>
          <p:cNvSpPr/>
          <p:nvPr/>
        </p:nvSpPr>
        <p:spPr>
          <a:xfrm>
            <a:off x="10166645" y="2599608"/>
            <a:ext cx="4506284" cy="571499"/>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الخواص المجمعة للمحاليل</a:t>
            </a:r>
          </a:p>
        </p:txBody>
      </p:sp>
      <p:sp>
        <p:nvSpPr>
          <p:cNvPr id="18" name="Card 2"/>
          <p:cNvSpPr/>
          <p:nvPr/>
        </p:nvSpPr>
        <p:spPr>
          <a:xfrm>
            <a:off x="708837" y="3814045"/>
            <a:ext cx="14838325" cy="19566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2"/>
          <p:cNvSpPr/>
          <p:nvPr/>
        </p:nvSpPr>
        <p:spPr>
          <a:xfrm>
            <a:off x="14838325" y="4004545"/>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2</a:t>
            </a:r>
          </a:p>
        </p:txBody>
      </p:sp>
      <p:sp>
        <p:nvSpPr>
          <p:cNvPr id="20" name="Tag 2"/>
          <p:cNvSpPr txBox="1"/>
          <p:nvPr/>
        </p:nvSpPr>
        <p:spPr>
          <a:xfrm>
            <a:off x="1016000" y="3980733"/>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اكتب الاسم أو المصطلح العلمي</a:t>
            </a:r>
          </a:p>
        </p:txBody>
      </p:sp>
      <p:sp>
        <p:nvSpPr>
          <p:cNvPr id="21" name="Question 2"/>
          <p:cNvSpPr txBox="1"/>
          <p:nvPr/>
        </p:nvSpPr>
        <p:spPr>
          <a:xfrm>
            <a:off x="1016000" y="4361733"/>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الخواص التي تتأثر بعدد جزيئات المذاب بالنسبة إلى عدد جزيئات المذيب ولا تتأثر بنوعها.</a:t>
            </a:r>
          </a:p>
        </p:txBody>
      </p:sp>
      <p:sp>
        <p:nvSpPr>
          <p:cNvPr id="22" name="Answer 2"/>
          <p:cNvSpPr/>
          <p:nvPr/>
        </p:nvSpPr>
        <p:spPr>
          <a:xfrm>
            <a:off x="10166645" y="4961091"/>
            <a:ext cx="4506284"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الخواص المجمعة للمحاليل</a:t>
            </a:r>
          </a:p>
        </p:txBody>
      </p:sp>
      <p:sp>
        <p:nvSpPr>
          <p:cNvPr id="23" name="Card 3"/>
          <p:cNvSpPr/>
          <p:nvPr/>
        </p:nvSpPr>
        <p:spPr>
          <a:xfrm>
            <a:off x="708837" y="6175528"/>
            <a:ext cx="14838325" cy="19566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24" name="Number 3"/>
          <p:cNvSpPr/>
          <p:nvPr/>
        </p:nvSpPr>
        <p:spPr>
          <a:xfrm>
            <a:off x="14838325" y="6366028"/>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3</a:t>
            </a:r>
          </a:p>
        </p:txBody>
      </p:sp>
      <p:sp>
        <p:nvSpPr>
          <p:cNvPr id="25" name="Tag 3"/>
          <p:cNvSpPr txBox="1"/>
          <p:nvPr/>
        </p:nvSpPr>
        <p:spPr>
          <a:xfrm>
            <a:off x="1016000" y="6342216"/>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اكتب الاسم أو المصطلح العلمي</a:t>
            </a:r>
          </a:p>
        </p:txBody>
      </p:sp>
      <p:sp>
        <p:nvSpPr>
          <p:cNvPr id="26" name="Question 3"/>
          <p:cNvSpPr txBox="1"/>
          <p:nvPr/>
        </p:nvSpPr>
        <p:spPr>
          <a:xfrm>
            <a:off x="1016000" y="6723216"/>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ضغط البخار على السائل عند حدوث حالة اتزان بين السائل وبخاره عند درجة حرارة معينة.</a:t>
            </a:r>
          </a:p>
        </p:txBody>
      </p:sp>
      <p:sp>
        <p:nvSpPr>
          <p:cNvPr id="27" name="Answer 3"/>
          <p:cNvSpPr/>
          <p:nvPr/>
        </p:nvSpPr>
        <p:spPr>
          <a:xfrm>
            <a:off x="11754699" y="7322574"/>
            <a:ext cx="2918231"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الضغط البخاري</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par>
                          <p:cTn id="37" fill="hold">
                            <p:stCondLst>
                              <p:cond delay="1480"/>
                            </p:stCondLst>
                            <p:childTnLst>
                              <p:par>
                                <p:cTn id="38" presetID="10" presetClass="entr" presetSubtype="0"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5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5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50"/>
                                        <p:tgtEl>
                                          <p:spTgt spid="2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50"/>
                                        <p:tgtEl>
                                          <p:spTgt spid="26"/>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50"/>
                                        <p:tgtEl>
                                          <p:spTgt spid="17"/>
                                        </p:tgtEl>
                                      </p:cBhvr>
                                    </p:animEffect>
                                    <p:anim calcmode="lin" valueType="num">
                                      <p:cBhvr>
                                        <p:cTn id="55" dur="450" fill="hold"/>
                                        <p:tgtEl>
                                          <p:spTgt spid="17"/>
                                        </p:tgtEl>
                                        <p:attrNameLst>
                                          <p:attrName>ppt_w</p:attrName>
                                        </p:attrNameLst>
                                      </p:cBhvr>
                                      <p:tavLst>
                                        <p:tav tm="0">
                                          <p:val>
                                            <p:strVal val="0"/>
                                          </p:val>
                                        </p:tav>
                                        <p:tav tm="100000">
                                          <p:val>
                                            <p:strVal val="#ppt_w"/>
                                          </p:val>
                                        </p:tav>
                                      </p:tavLst>
                                    </p:anim>
                                    <p:anim calcmode="lin" valueType="num">
                                      <p:cBhvr>
                                        <p:cTn id="56" dur="450" fill="hold"/>
                                        <p:tgtEl>
                                          <p:spTgt spid="17"/>
                                        </p:tgtEl>
                                        <p:attrNameLst>
                                          <p:attrName>ppt_h</p:attrName>
                                        </p:attrNameLst>
                                      </p:cBhvr>
                                      <p:tavLst>
                                        <p:tav tm="0">
                                          <p:val>
                                            <p:str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anim calcmode="lin" valueType="num">
                                      <p:cBhvr>
                                        <p:cTn id="62" dur="450" fill="hold"/>
                                        <p:tgtEl>
                                          <p:spTgt spid="22"/>
                                        </p:tgtEl>
                                        <p:attrNameLst>
                                          <p:attrName>ppt_w</p:attrName>
                                        </p:attrNameLst>
                                      </p:cBhvr>
                                      <p:tavLst>
                                        <p:tav tm="0">
                                          <p:val>
                                            <p:strVal val="0"/>
                                          </p:val>
                                        </p:tav>
                                        <p:tav tm="100000">
                                          <p:val>
                                            <p:strVal val="#ppt_w"/>
                                          </p:val>
                                        </p:tav>
                                      </p:tavLst>
                                    </p:anim>
                                    <p:anim calcmode="lin" valueType="num">
                                      <p:cBhvr>
                                        <p:cTn id="63" dur="450" fill="hold"/>
                                        <p:tgtEl>
                                          <p:spTgt spid="22"/>
                                        </p:tgtEl>
                                        <p:attrNameLst>
                                          <p:attrName>ppt_h</p:attrName>
                                        </p:attrNameLst>
                                      </p:cBhvr>
                                      <p:tavLst>
                                        <p:tav tm="0">
                                          <p:val>
                                            <p:str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50"/>
                                        <p:tgtEl>
                                          <p:spTgt spid="27"/>
                                        </p:tgtEl>
                                      </p:cBhvr>
                                    </p:animEffect>
                                    <p:anim calcmode="lin" valueType="num">
                                      <p:cBhvr>
                                        <p:cTn id="69" dur="450" fill="hold"/>
                                        <p:tgtEl>
                                          <p:spTgt spid="27"/>
                                        </p:tgtEl>
                                        <p:attrNameLst>
                                          <p:attrName>ppt_w</p:attrName>
                                        </p:attrNameLst>
                                      </p:cBhvr>
                                      <p:tavLst>
                                        <p:tav tm="0">
                                          <p:val>
                                            <p:strVal val="0"/>
                                          </p:val>
                                        </p:tav>
                                        <p:tav tm="100000">
                                          <p:val>
                                            <p:strVal val="#ppt_w"/>
                                          </p:val>
                                        </p:tav>
                                      </p:tavLst>
                                    </p:anim>
                                    <p:anim calcmode="lin" valueType="num">
                                      <p:cBhvr>
                                        <p:cTn id="70" dur="450" fill="hold"/>
                                        <p:tgtEl>
                                          <p:spTgt spid="2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الضغط البخاري</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الأولى</a:t>
            </a:r>
          </a:p>
        </p:txBody>
      </p:sp>
      <p:sp>
        <p:nvSpPr>
          <p:cNvPr id="13" name="Card 4"/>
          <p:cNvSpPr/>
          <p:nvPr/>
        </p:nvSpPr>
        <p:spPr>
          <a:xfrm>
            <a:off x="708837" y="1452562"/>
            <a:ext cx="14838325" cy="19566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4"/>
          <p:cNvSpPr/>
          <p:nvPr/>
        </p:nvSpPr>
        <p:spPr>
          <a:xfrm>
            <a:off x="14838325" y="164306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4</a:t>
            </a:r>
          </a:p>
        </p:txBody>
      </p:sp>
      <p:sp>
        <p:nvSpPr>
          <p:cNvPr id="15" name="Tag 4"/>
          <p:cNvSpPr txBox="1"/>
          <p:nvPr/>
        </p:nvSpPr>
        <p:spPr>
          <a:xfrm>
            <a:off x="1016000" y="161925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 بما يناسبه علمياً</a:t>
            </a:r>
          </a:p>
        </p:txBody>
      </p:sp>
      <p:sp>
        <p:nvSpPr>
          <p:cNvPr id="16" name="Question 4"/>
          <p:cNvSpPr txBox="1"/>
          <p:nvPr/>
        </p:nvSpPr>
        <p:spPr>
          <a:xfrm>
            <a:off x="1016000" y="2000250"/>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الخواص المجمعة للمحاليل تعتمد على ............ في كمية معينة من المذيب.</a:t>
            </a:r>
          </a:p>
        </p:txBody>
      </p:sp>
      <p:sp>
        <p:nvSpPr>
          <p:cNvPr id="17" name="Answer 4"/>
          <p:cNvSpPr/>
          <p:nvPr/>
        </p:nvSpPr>
        <p:spPr>
          <a:xfrm>
            <a:off x="10979223" y="2599608"/>
            <a:ext cx="3693706" cy="571499"/>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عدد جسيمات المذاب</a:t>
            </a:r>
          </a:p>
        </p:txBody>
      </p:sp>
      <p:sp>
        <p:nvSpPr>
          <p:cNvPr id="18" name="Card 5"/>
          <p:cNvSpPr/>
          <p:nvPr/>
        </p:nvSpPr>
        <p:spPr>
          <a:xfrm>
            <a:off x="708837" y="3814045"/>
            <a:ext cx="14838325" cy="19566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5"/>
          <p:cNvSpPr/>
          <p:nvPr/>
        </p:nvSpPr>
        <p:spPr>
          <a:xfrm>
            <a:off x="14838325" y="4004545"/>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5</a:t>
            </a:r>
          </a:p>
        </p:txBody>
      </p:sp>
      <p:sp>
        <p:nvSpPr>
          <p:cNvPr id="20" name="Tag 5"/>
          <p:cNvSpPr txBox="1"/>
          <p:nvPr/>
        </p:nvSpPr>
        <p:spPr>
          <a:xfrm>
            <a:off x="1016000" y="3980733"/>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 بما يناسبه علمياً</a:t>
            </a:r>
          </a:p>
        </p:txBody>
      </p:sp>
      <p:sp>
        <p:nvSpPr>
          <p:cNvPr id="21" name="Question 5"/>
          <p:cNvSpPr txBox="1"/>
          <p:nvPr/>
        </p:nvSpPr>
        <p:spPr>
          <a:xfrm>
            <a:off x="1016000" y="4361733"/>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الضغط البخاري للماء النقي ............ الضغط البخاري لمحلول الجلوكوز.</a:t>
            </a:r>
          </a:p>
        </p:txBody>
      </p:sp>
      <p:sp>
        <p:nvSpPr>
          <p:cNvPr id="22" name="Answer 5"/>
          <p:cNvSpPr/>
          <p:nvPr/>
        </p:nvSpPr>
        <p:spPr>
          <a:xfrm>
            <a:off x="12854504" y="4961091"/>
            <a:ext cx="1818425"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أكبر من</a:t>
            </a:r>
          </a:p>
        </p:txBody>
      </p:sp>
      <p:sp>
        <p:nvSpPr>
          <p:cNvPr id="23" name="Card 6"/>
          <p:cNvSpPr/>
          <p:nvPr/>
        </p:nvSpPr>
        <p:spPr>
          <a:xfrm>
            <a:off x="708837" y="6175528"/>
            <a:ext cx="14838325" cy="2004295"/>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24" name="Number 6"/>
          <p:cNvSpPr/>
          <p:nvPr/>
        </p:nvSpPr>
        <p:spPr>
          <a:xfrm>
            <a:off x="14838325" y="6366028"/>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6</a:t>
            </a:r>
          </a:p>
        </p:txBody>
      </p:sp>
      <p:sp>
        <p:nvSpPr>
          <p:cNvPr id="25" name="Tag 6"/>
          <p:cNvSpPr txBox="1"/>
          <p:nvPr/>
        </p:nvSpPr>
        <p:spPr>
          <a:xfrm>
            <a:off x="1016000" y="6342216"/>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اختر الإجابة الصحيحة</a:t>
            </a:r>
          </a:p>
        </p:txBody>
      </p:sp>
      <p:sp>
        <p:nvSpPr>
          <p:cNvPr id="26" name="Question 6"/>
          <p:cNvSpPr txBox="1"/>
          <p:nvPr/>
        </p:nvSpPr>
        <p:spPr>
          <a:xfrm>
            <a:off x="1016000" y="6723216"/>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أحد التراكيز المولالية التالية لمحاليل السكر في الماء يكون له أقل ضغط بخاري:</a:t>
            </a:r>
          </a:p>
        </p:txBody>
      </p:sp>
      <p:sp>
        <p:nvSpPr>
          <p:cNvPr id="27" name="Option 6.1"/>
          <p:cNvSpPr/>
          <p:nvPr/>
        </p:nvSpPr>
        <p:spPr>
          <a:xfrm>
            <a:off x="11400465" y="7322574"/>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0.1 m</a:t>
            </a:r>
          </a:p>
        </p:txBody>
      </p:sp>
      <p:sp>
        <p:nvSpPr>
          <p:cNvPr id="28" name="Option 6.2"/>
          <p:cNvSpPr/>
          <p:nvPr/>
        </p:nvSpPr>
        <p:spPr>
          <a:xfrm>
            <a:off x="7938976" y="7322574"/>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0.2 m</a:t>
            </a:r>
          </a:p>
        </p:txBody>
      </p:sp>
      <p:sp>
        <p:nvSpPr>
          <p:cNvPr id="29" name="Option 6.3"/>
          <p:cNvSpPr/>
          <p:nvPr/>
        </p:nvSpPr>
        <p:spPr>
          <a:xfrm>
            <a:off x="4477488" y="7322574"/>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0.3 m</a:t>
            </a:r>
          </a:p>
        </p:txBody>
      </p:sp>
      <p:sp>
        <p:nvSpPr>
          <p:cNvPr id="30" name="Option 6.4"/>
          <p:cNvSpPr/>
          <p:nvPr/>
        </p:nvSpPr>
        <p:spPr>
          <a:xfrm>
            <a:off x="1016000" y="7322574"/>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0.4 m</a:t>
            </a:r>
          </a:p>
        </p:txBody>
      </p:sp>
      <p:sp>
        <p:nvSpPr>
          <p:cNvPr id="31" name="Correct 6"/>
          <p:cNvSpPr/>
          <p:nvPr/>
        </p:nvSpPr>
        <p:spPr>
          <a:xfrm>
            <a:off x="1016000" y="7322574"/>
            <a:ext cx="3272465" cy="619125"/>
          </a:xfrm>
          <a:prstGeom prst="roundRect">
            <a:avLst>
              <a:gd name="adj" fmla="val 30000"/>
            </a:avLst>
          </a:prstGeom>
          <a:solidFill>
            <a:srgbClr val="2E8B57">
              <a:alpha val="20000"/>
            </a:srgbClr>
          </a:solidFill>
          <a:ln w="31750" cap="rnd">
            <a:solidFill>
              <a:srgbClr val="2E8B57">
                <a:alpha val="100000"/>
              </a:srgbClr>
            </a:solidFill>
            <a:round/>
          </a:ln>
        </p:spPr>
        <p:txBody>
          <a:bodyPr wrap="square" lIns="0" tIns="0" rIns="165395" bIns="0" rtlCol="0" anchor="ctr">
            <a:noAutofit/>
          </a:bodyPr>
          <a:lstStyle/>
          <a:p>
            <a:pPr algn="r" rtl="0">
              <a:lnSpc>
                <a:spcPct val="110000"/>
              </a:lnSpc>
              <a:buNone/>
            </a:pPr>
            <a:r>
              <a:rPr lang="ar-SA" sz="2400" b="1" i="0" dirty="0">
                <a:solidFill>
                  <a:srgbClr val="2E8B57"/>
                </a:solidFill>
                <a:latin typeface="Tahoma"/>
                <a:ea typeface="Tahoma"/>
                <a:cs typeface="Tahoma"/>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par>
                          <p:cTn id="37" fill="hold">
                            <p:stCondLst>
                              <p:cond delay="1480"/>
                            </p:stCondLst>
                            <p:childTnLst>
                              <p:par>
                                <p:cTn id="38" presetID="10" presetClass="entr" presetSubtype="0"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5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5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50"/>
                                        <p:tgtEl>
                                          <p:spTgt spid="2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50"/>
                                        <p:tgtEl>
                                          <p:spTgt spid="26"/>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fade">
                                      <p:cBhvr>
                                        <p:cTn id="52" dur="450"/>
                                        <p:tgtEl>
                                          <p:spTgt spid="27"/>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fade">
                                      <p:cBhvr>
                                        <p:cTn id="55" dur="450"/>
                                        <p:tgtEl>
                                          <p:spTgt spid="2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animEffect transition="in" filter="fade">
                                      <p:cBhvr>
                                        <p:cTn id="58" dur="450"/>
                                        <p:tgtEl>
                                          <p:spTgt spid="29"/>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30"/>
                                        </p:tgtEl>
                                        <p:attrNameLst>
                                          <p:attrName>style.visibility</p:attrName>
                                        </p:attrNameLst>
                                      </p:cBhvr>
                                      <p:to>
                                        <p:strVal val="visible"/>
                                      </p:to>
                                    </p:set>
                                    <p:animEffect transition="in" filter="fade">
                                      <p:cBhvr>
                                        <p:cTn id="61" dur="450"/>
                                        <p:tgtEl>
                                          <p:spTgt spid="30"/>
                                        </p:tgtEl>
                                      </p:cBhvr>
                                    </p:animEffect>
                                  </p:childTnLst>
                                </p:cTn>
                              </p:par>
                            </p:childTnLst>
                          </p:cTn>
                        </p:par>
                      </p:childTnLst>
                    </p:cTn>
                  </p:par>
                  <p:par>
                    <p:cTn id="62" fill="hold">
                      <p:stCondLst>
                        <p:cond delay="indefinite"/>
                      </p:stCondLst>
                      <p:childTnLst>
                        <p:par>
                          <p:cTn id="63" fill="hold">
                            <p:stCondLst>
                              <p:cond delay="0"/>
                            </p:stCondLst>
                            <p:childTnLst>
                              <p:par>
                                <p:cTn id="64" presetID="53" presetClass="entr" presetSubtype="16"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450"/>
                                        <p:tgtEl>
                                          <p:spTgt spid="17"/>
                                        </p:tgtEl>
                                      </p:cBhvr>
                                    </p:animEffect>
                                    <p:anim calcmode="lin" valueType="num">
                                      <p:cBhvr>
                                        <p:cTn id="67" dur="450" fill="hold"/>
                                        <p:tgtEl>
                                          <p:spTgt spid="17"/>
                                        </p:tgtEl>
                                        <p:attrNameLst>
                                          <p:attrName>ppt_w</p:attrName>
                                        </p:attrNameLst>
                                      </p:cBhvr>
                                      <p:tavLst>
                                        <p:tav tm="0">
                                          <p:val>
                                            <p:strVal val="0"/>
                                          </p:val>
                                        </p:tav>
                                        <p:tav tm="100000">
                                          <p:val>
                                            <p:strVal val="#ppt_w"/>
                                          </p:val>
                                        </p:tav>
                                      </p:tavLst>
                                    </p:anim>
                                    <p:anim calcmode="lin" valueType="num">
                                      <p:cBhvr>
                                        <p:cTn id="68" dur="450" fill="hold"/>
                                        <p:tgtEl>
                                          <p:spTgt spid="17"/>
                                        </p:tgtEl>
                                        <p:attrNameLst>
                                          <p:attrName>ppt_h</p:attrName>
                                        </p:attrNameLst>
                                      </p:cBhvr>
                                      <p:tavLst>
                                        <p:tav tm="0">
                                          <p:val>
                                            <p:str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53" presetClass="entr" presetSubtype="16" fill="hold" grpId="0"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450"/>
                                        <p:tgtEl>
                                          <p:spTgt spid="22"/>
                                        </p:tgtEl>
                                      </p:cBhvr>
                                    </p:animEffect>
                                    <p:anim calcmode="lin" valueType="num">
                                      <p:cBhvr>
                                        <p:cTn id="74" dur="450" fill="hold"/>
                                        <p:tgtEl>
                                          <p:spTgt spid="22"/>
                                        </p:tgtEl>
                                        <p:attrNameLst>
                                          <p:attrName>ppt_w</p:attrName>
                                        </p:attrNameLst>
                                      </p:cBhvr>
                                      <p:tavLst>
                                        <p:tav tm="0">
                                          <p:val>
                                            <p:strVal val="0"/>
                                          </p:val>
                                        </p:tav>
                                        <p:tav tm="100000">
                                          <p:val>
                                            <p:strVal val="#ppt_w"/>
                                          </p:val>
                                        </p:tav>
                                      </p:tavLst>
                                    </p:anim>
                                    <p:anim calcmode="lin" valueType="num">
                                      <p:cBhvr>
                                        <p:cTn id="75" dur="450" fill="hold"/>
                                        <p:tgtEl>
                                          <p:spTgt spid="22"/>
                                        </p:tgtEl>
                                        <p:attrNameLst>
                                          <p:attrName>ppt_h</p:attrName>
                                        </p:attrNameLst>
                                      </p:cBhvr>
                                      <p:tavLst>
                                        <p:tav tm="0">
                                          <p:val>
                                            <p:strVal val="0"/>
                                          </p:val>
                                        </p:tav>
                                        <p:tav tm="100000">
                                          <p:val>
                                            <p:strVal val="#ppt_h"/>
                                          </p:val>
                                        </p:tav>
                                      </p:tavLst>
                                    </p:anim>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grpId="0" nodeType="clickEffect">
                                  <p:stCondLst>
                                    <p:cond delay="0"/>
                                  </p:stCondLst>
                                  <p:childTnLst>
                                    <p:set>
                                      <p:cBhvr>
                                        <p:cTn id="79" dur="1" fill="hold">
                                          <p:stCondLst>
                                            <p:cond delay="0"/>
                                          </p:stCondLst>
                                        </p:cTn>
                                        <p:tgtEl>
                                          <p:spTgt spid="31"/>
                                        </p:tgtEl>
                                        <p:attrNameLst>
                                          <p:attrName>style.visibility</p:attrName>
                                        </p:attrNameLst>
                                      </p:cBhvr>
                                      <p:to>
                                        <p:strVal val="visible"/>
                                      </p:to>
                                    </p:set>
                                    <p:animEffect transition="in" filter="fade">
                                      <p:cBhvr>
                                        <p:cTn id="80" dur="450"/>
                                        <p:tgtEl>
                                          <p:spTgt spid="31"/>
                                        </p:tgtEl>
                                      </p:cBhvr>
                                    </p:animEffect>
                                    <p:anim calcmode="lin" valueType="num">
                                      <p:cBhvr>
                                        <p:cTn id="81" dur="450" fill="hold"/>
                                        <p:tgtEl>
                                          <p:spTgt spid="31"/>
                                        </p:tgtEl>
                                        <p:attrNameLst>
                                          <p:attrName>ppt_w</p:attrName>
                                        </p:attrNameLst>
                                      </p:cBhvr>
                                      <p:tavLst>
                                        <p:tav tm="0">
                                          <p:val>
                                            <p:strVal val="0"/>
                                          </p:val>
                                        </p:tav>
                                        <p:tav tm="100000">
                                          <p:val>
                                            <p:strVal val="#ppt_w"/>
                                          </p:val>
                                        </p:tav>
                                      </p:tavLst>
                                    </p:anim>
                                    <p:anim calcmode="lin" valueType="num">
                                      <p:cBhvr>
                                        <p:cTn id="82" dur="450" fill="hold"/>
                                        <p:tgtEl>
                                          <p:spTgt spid="3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الضغط البخاري</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الأولى</a:t>
            </a:r>
          </a:p>
        </p:txBody>
      </p:sp>
      <p:sp>
        <p:nvSpPr>
          <p:cNvPr id="13" name="Card 7"/>
          <p:cNvSpPr/>
          <p:nvPr/>
        </p:nvSpPr>
        <p:spPr>
          <a:xfrm>
            <a:off x="708837" y="1452562"/>
            <a:ext cx="14838325" cy="2839611"/>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7"/>
          <p:cNvSpPr/>
          <p:nvPr/>
        </p:nvSpPr>
        <p:spPr>
          <a:xfrm>
            <a:off x="14838325" y="164306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7</a:t>
            </a:r>
          </a:p>
        </p:txBody>
      </p:sp>
      <p:sp>
        <p:nvSpPr>
          <p:cNvPr id="15" name="Tag 7"/>
          <p:cNvSpPr txBox="1"/>
          <p:nvPr/>
        </p:nvSpPr>
        <p:spPr>
          <a:xfrm>
            <a:off x="1016000" y="161925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علّل (فسّر) ما يلي</a:t>
            </a:r>
          </a:p>
        </p:txBody>
      </p:sp>
      <p:sp>
        <p:nvSpPr>
          <p:cNvPr id="16" name="Question 7"/>
          <p:cNvSpPr txBox="1"/>
          <p:nvPr/>
        </p:nvSpPr>
        <p:spPr>
          <a:xfrm>
            <a:off x="1016000" y="2000250"/>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عند إذابة مادة غير متطايرة وغير إلكتروليتية في مذيب سائل يقل الضغط البخاري للمحلول الناتج عن الضغط البخاري للسائل النقي.</a:t>
            </a:r>
          </a:p>
        </p:txBody>
      </p:sp>
      <p:sp>
        <p:nvSpPr>
          <p:cNvPr id="17" name="Answer 7"/>
          <p:cNvSpPr/>
          <p:nvPr/>
        </p:nvSpPr>
        <p:spPr>
          <a:xfrm>
            <a:off x="1016000" y="3008466"/>
            <a:ext cx="13656930" cy="1045582"/>
          </a:xfrm>
          <a:prstGeom prst="roundRect">
            <a:avLst>
              <a:gd name="adj" fmla="val 9000"/>
            </a:avLst>
          </a:prstGeom>
          <a:solidFill>
            <a:srgbClr val="A86A12">
              <a:alpha val="10000"/>
            </a:srgbClr>
          </a:solidFill>
          <a:ln w="12700" cap="rnd">
            <a:solidFill>
              <a:srgbClr val="A86A12">
                <a:alpha val="70000"/>
              </a:srgbClr>
            </a:solidFill>
            <a:round/>
          </a:ln>
        </p:spPr>
        <p:txBody>
          <a:bodyPr wrap="square" lIns="212651" tIns="118139" rIns="212651" bIns="118139" rtlCol="0" anchor="t">
            <a:noAutofit/>
          </a:bodyPr>
          <a:lstStyle/>
          <a:p>
            <a:pPr algn="r" rtl="1">
              <a:lnSpc>
                <a:spcPct val="110000"/>
              </a:lnSpc>
              <a:buNone/>
            </a:pPr>
            <a:r>
              <a:rPr lang="ar-SA" sz="2300" b="1" i="0" dirty="0">
                <a:solidFill>
                  <a:srgbClr val="A86A12"/>
                </a:solidFill>
                <a:latin typeface="Tahoma"/>
                <a:ea typeface="Tahoma"/>
                <a:cs typeface="Tahoma"/>
              </a:rPr>
              <a:t>التفسير:</a:t>
            </a:r>
            <a:r>
              <a:rPr lang="ar-SA" sz="2300" b="1" i="0" dirty="0">
                <a:solidFill>
                  <a:srgbClr val="2B3038"/>
                </a:solidFill>
                <a:latin typeface="Tahoma"/>
                <a:ea typeface="Tahoma"/>
                <a:cs typeface="Tahoma"/>
              </a:rPr>
              <a:t> لأن بعض جسيمات المذاب تحل محل بعض جزيئات المذيب الموجودة على سطح المحلول، وبالتالي يقل عدد جزيئات المذيب التي يمكنها الانطلاق إلى الحالة الغازية.</a:t>
            </a:r>
          </a:p>
        </p:txBody>
      </p:sp>
      <p:sp>
        <p:nvSpPr>
          <p:cNvPr id="18" name="Card 8"/>
          <p:cNvSpPr/>
          <p:nvPr/>
        </p:nvSpPr>
        <p:spPr>
          <a:xfrm>
            <a:off x="708837" y="4696986"/>
            <a:ext cx="14838325" cy="2839611"/>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8"/>
          <p:cNvSpPr/>
          <p:nvPr/>
        </p:nvSpPr>
        <p:spPr>
          <a:xfrm>
            <a:off x="14838325" y="4887486"/>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8</a:t>
            </a:r>
          </a:p>
        </p:txBody>
      </p:sp>
      <p:sp>
        <p:nvSpPr>
          <p:cNvPr id="20" name="Tag 8"/>
          <p:cNvSpPr txBox="1"/>
          <p:nvPr/>
        </p:nvSpPr>
        <p:spPr>
          <a:xfrm>
            <a:off x="1016000" y="4863673"/>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علّل (فسّر) ما يلي</a:t>
            </a:r>
          </a:p>
        </p:txBody>
      </p:sp>
      <p:sp>
        <p:nvSpPr>
          <p:cNvPr id="21" name="Question 8"/>
          <p:cNvSpPr txBox="1"/>
          <p:nvPr/>
        </p:nvSpPr>
        <p:spPr>
          <a:xfrm>
            <a:off x="1016000" y="5244673"/>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الضغط البخاري لمحلول السكر في الماء الذي تركيزه ‪(1 m)‬ يساوي الضغط البخاري لمحلول اليوريا في الماء الذي تركيزه ‪(1 m)‬.</a:t>
            </a:r>
          </a:p>
        </p:txBody>
      </p:sp>
      <p:sp>
        <p:nvSpPr>
          <p:cNvPr id="22" name="Answer 8"/>
          <p:cNvSpPr/>
          <p:nvPr/>
        </p:nvSpPr>
        <p:spPr>
          <a:xfrm>
            <a:off x="1016000" y="6252890"/>
            <a:ext cx="13656930" cy="1045582"/>
          </a:xfrm>
          <a:prstGeom prst="roundRect">
            <a:avLst>
              <a:gd name="adj" fmla="val 9000"/>
            </a:avLst>
          </a:prstGeom>
          <a:solidFill>
            <a:srgbClr val="A86A12">
              <a:alpha val="10000"/>
            </a:srgbClr>
          </a:solidFill>
          <a:ln w="12700" cap="rnd">
            <a:solidFill>
              <a:srgbClr val="A86A12">
                <a:alpha val="70000"/>
              </a:srgbClr>
            </a:solidFill>
            <a:round/>
          </a:ln>
        </p:spPr>
        <p:txBody>
          <a:bodyPr wrap="square" lIns="212651" tIns="118139" rIns="212651" bIns="118139" rtlCol="0" anchor="t">
            <a:noAutofit/>
          </a:bodyPr>
          <a:lstStyle/>
          <a:p>
            <a:pPr algn="r" rtl="1">
              <a:lnSpc>
                <a:spcPct val="110000"/>
              </a:lnSpc>
              <a:buNone/>
            </a:pPr>
            <a:r>
              <a:rPr lang="ar-SA" sz="2300" b="1" i="0" dirty="0">
                <a:solidFill>
                  <a:srgbClr val="A86A12"/>
                </a:solidFill>
                <a:latin typeface="Tahoma"/>
                <a:ea typeface="Tahoma"/>
                <a:cs typeface="Tahoma"/>
              </a:rPr>
              <a:t>التفسير:</a:t>
            </a:r>
            <a:r>
              <a:rPr lang="ar-SA" sz="2300" b="1" i="0" dirty="0">
                <a:solidFill>
                  <a:srgbClr val="2B3038"/>
                </a:solidFill>
                <a:latin typeface="Tahoma"/>
                <a:ea typeface="Tahoma"/>
                <a:cs typeface="Tahoma"/>
              </a:rPr>
              <a:t> لأن كليهما من المركبات غير الإلكتروليتية وغير المتطايرة وتركيزهما متساوٍ، ولأن الضغط البخاري لا يعتمد على نوع المذاب وإنما يعتمد على عدد جسيماته (تركيزه) في المحلول.</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anim calcmode="lin" valueType="num">
                                      <p:cBhvr>
                                        <p:cTn id="42" dur="500" fill="hold"/>
                                        <p:tgtEl>
                                          <p:spTgt spid="17"/>
                                        </p:tgtEl>
                                        <p:attrNameLst>
                                          <p:attrName>ppt_x</p:attrName>
                                        </p:attrNameLst>
                                      </p:cBhvr>
                                      <p:tavLst>
                                        <p:tav tm="0">
                                          <p:val>
                                            <p:strVal val="#ppt_x"/>
                                          </p:val>
                                        </p:tav>
                                        <p:tav tm="100000">
                                          <p:val>
                                            <p:strVal val="#ppt_x"/>
                                          </p:val>
                                        </p:tav>
                                      </p:tavLst>
                                    </p:anim>
                                    <p:anim calcmode="lin" valueType="num">
                                      <p:cBhvr>
                                        <p:cTn id="43"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anim calcmode="lin" valueType="num">
                                      <p:cBhvr>
                                        <p:cTn id="49" dur="500" fill="hold"/>
                                        <p:tgtEl>
                                          <p:spTgt spid="22"/>
                                        </p:tgtEl>
                                        <p:attrNameLst>
                                          <p:attrName>ppt_x</p:attrName>
                                        </p:attrNameLst>
                                      </p:cBhvr>
                                      <p:tavLst>
                                        <p:tav tm="0">
                                          <p:val>
                                            <p:strVal val="#ppt_x"/>
                                          </p:val>
                                        </p:tav>
                                        <p:tav tm="100000">
                                          <p:val>
                                            <p:strVal val="#ppt_x"/>
                                          </p:val>
                                        </p:tav>
                                      </p:tavLst>
                                    </p:anim>
                                    <p:anim calcmode="lin" valueType="num">
                                      <p:cBhvr>
                                        <p:cTn id="50"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الضغط البخاري</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الأولى</a:t>
            </a:r>
          </a:p>
        </p:txBody>
      </p:sp>
      <p:sp>
        <p:nvSpPr>
          <p:cNvPr id="13" name="Card 9"/>
          <p:cNvSpPr/>
          <p:nvPr/>
        </p:nvSpPr>
        <p:spPr>
          <a:xfrm>
            <a:off x="708837" y="2309812"/>
            <a:ext cx="14838325" cy="3326683"/>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9"/>
          <p:cNvSpPr/>
          <p:nvPr/>
        </p:nvSpPr>
        <p:spPr>
          <a:xfrm>
            <a:off x="14838325" y="250031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9</a:t>
            </a:r>
          </a:p>
        </p:txBody>
      </p:sp>
      <p:sp>
        <p:nvSpPr>
          <p:cNvPr id="15" name="Tag 9"/>
          <p:cNvSpPr txBox="1"/>
          <p:nvPr/>
        </p:nvSpPr>
        <p:spPr>
          <a:xfrm>
            <a:off x="1016000" y="247650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ماذا يحدث في الحالة التالية مع التفسير</a:t>
            </a:r>
          </a:p>
        </p:txBody>
      </p:sp>
      <p:sp>
        <p:nvSpPr>
          <p:cNvPr id="16" name="Question 9"/>
          <p:cNvSpPr txBox="1"/>
          <p:nvPr/>
        </p:nvSpPr>
        <p:spPr>
          <a:xfrm>
            <a:off x="1016000" y="2857500"/>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ماذا يحدث للضغط البخاري للماء النقي عند إذابة مادة غير متطايرة وغير إلكتروليتية فيه وتكوين محلول؟</a:t>
            </a:r>
          </a:p>
        </p:txBody>
      </p:sp>
      <p:sp>
        <p:nvSpPr>
          <p:cNvPr id="17" name="Answer 9"/>
          <p:cNvSpPr/>
          <p:nvPr/>
        </p:nvSpPr>
        <p:spPr>
          <a:xfrm>
            <a:off x="1016000" y="3865716"/>
            <a:ext cx="13656930" cy="1532654"/>
          </a:xfrm>
          <a:prstGeom prst="roundRect">
            <a:avLst>
              <a:gd name="adj" fmla="val 9000"/>
            </a:avLst>
          </a:prstGeom>
          <a:solidFill>
            <a:srgbClr val="A86A12">
              <a:alpha val="10000"/>
            </a:srgbClr>
          </a:solidFill>
          <a:ln w="12700" cap="rnd">
            <a:solidFill>
              <a:srgbClr val="A86A12">
                <a:alpha val="70000"/>
              </a:srgbClr>
            </a:solidFill>
            <a:round/>
          </a:ln>
        </p:spPr>
        <p:txBody>
          <a:bodyPr wrap="square" lIns="212651" tIns="118139" rIns="212651" bIns="118139" rtlCol="0" anchor="t">
            <a:noAutofit/>
          </a:bodyPr>
          <a:lstStyle/>
          <a:p>
            <a:pPr algn="r" rtl="1">
              <a:lnSpc>
                <a:spcPct val="110000"/>
              </a:lnSpc>
              <a:buNone/>
            </a:pPr>
            <a:r>
              <a:rPr lang="ar-SA" sz="2300" b="1" i="0" dirty="0">
                <a:solidFill>
                  <a:srgbClr val="A86A12"/>
                </a:solidFill>
                <a:latin typeface="Tahoma"/>
                <a:ea typeface="Tahoma"/>
                <a:cs typeface="Tahoma"/>
              </a:rPr>
              <a:t>الحدث:</a:t>
            </a:r>
            <a:r>
              <a:rPr lang="ar-SA" sz="2300" b="1" i="0" dirty="0">
                <a:solidFill>
                  <a:srgbClr val="2B3038"/>
                </a:solidFill>
                <a:latin typeface="Tahoma"/>
                <a:ea typeface="Tahoma"/>
                <a:cs typeface="Tahoma"/>
              </a:rPr>
              <a:t> يقل الضغط البخاري للمحلول عن الضغط البخاري للماء النقي.</a:t>
            </a:r>
          </a:p>
          <a:p>
            <a:pPr algn="r" rtl="1">
              <a:lnSpc>
                <a:spcPct val="110000"/>
              </a:lnSpc>
              <a:spcBef>
                <a:spcPts val="800"/>
              </a:spcBef>
              <a:buNone/>
            </a:pPr>
            <a:r>
              <a:rPr lang="ar-SA" sz="2300" b="1" i="0" dirty="0">
                <a:solidFill>
                  <a:srgbClr val="A86A12"/>
                </a:solidFill>
                <a:latin typeface="Tahoma"/>
                <a:ea typeface="Tahoma"/>
                <a:cs typeface="Tahoma"/>
              </a:rPr>
              <a:t>التفسير:</a:t>
            </a:r>
            <a:r>
              <a:rPr lang="ar-SA" sz="2300" b="1" i="0" dirty="0">
                <a:solidFill>
                  <a:srgbClr val="2B3038"/>
                </a:solidFill>
                <a:latin typeface="Tahoma"/>
                <a:ea typeface="Tahoma"/>
                <a:cs typeface="Tahoma"/>
              </a:rPr>
              <a:t> لأن بعض جسيمات المذاب (غير المتطايرة) تحل محل بعض الجزيئات السطحية للماء النقي، فيقل عدد جزيئات الماء التي يمكنها الانطلاق إلى الحالة الغازية.</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anim calcmode="lin" valueType="num">
                                      <p:cBhvr>
                                        <p:cTn id="29" dur="500" fill="hold"/>
                                        <p:tgtEl>
                                          <p:spTgt spid="17"/>
                                        </p:tgtEl>
                                        <p:attrNameLst>
                                          <p:attrName>ppt_x</p:attrName>
                                        </p:attrNameLst>
                                      </p:cBhvr>
                                      <p:tavLst>
                                        <p:tav tm="0">
                                          <p:val>
                                            <p:strVal val="#ppt_x"/>
                                          </p:val>
                                        </p:tav>
                                        <p:tav tm="100000">
                                          <p:val>
                                            <p:strVal val="#ppt_x"/>
                                          </p:val>
                                        </p:tav>
                                      </p:tavLst>
                                    </p:anim>
                                    <p:anim calcmode="lin" valueType="num">
                                      <p:cBhvr>
                                        <p:cTn id="30"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921488" y="1868189"/>
            <a:ext cx="6958418" cy="1475878"/>
          </a:xfrm>
          <a:prstGeom prst="rect">
            <a:avLst/>
          </a:prstGeom>
          <a:noFill/>
        </p:spPr>
        <p:txBody>
          <a:bodyPr wrap="square" lIns="0" tIns="0" rIns="0" bIns="0" rtlCol="0" anchor="ctr">
            <a:noAutofit/>
          </a:bodyPr>
          <a:lstStyle/>
          <a:p>
            <a:pPr algn="r" rtl="1">
              <a:lnSpc>
                <a:spcPct val="110000"/>
              </a:lnSpc>
              <a:buNone/>
            </a:pPr>
            <a:r>
              <a:rPr lang="ar-SA" sz="4400" b="1" i="0" dirty="0">
                <a:solidFill>
                  <a:srgbClr val="EDEDED"/>
                </a:solidFill>
                <a:latin typeface="Tahoma"/>
                <a:ea typeface="Tahoma"/>
                <a:cs typeface="Tahoma"/>
              </a:rPr>
              <a:t>الارتفاع في درجة الغليان</a:t>
            </a:r>
          </a:p>
          <a:p>
            <a:pPr algn="r" rtl="0">
              <a:lnSpc>
                <a:spcPct val="110000"/>
              </a:lnSpc>
              <a:buNone/>
            </a:pPr>
            <a:r>
              <a:rPr lang="ar-SA" sz="4400" b="1" i="0" dirty="0">
                <a:solidFill>
                  <a:srgbClr val="EDEDED"/>
                </a:solidFill>
                <a:latin typeface="Tahoma"/>
                <a:ea typeface="Tahoma"/>
                <a:cs typeface="Tahoma"/>
              </a:rPr>
              <a:t>(Boiling-Point Elevation)</a:t>
            </a:r>
          </a:p>
        </p:txBody>
      </p:sp>
      <p:sp>
        <p:nvSpPr>
          <p:cNvPr id="102" name="Text 2"/>
          <p:cNvSpPr txBox="1"/>
          <p:nvPr/>
        </p:nvSpPr>
        <p:spPr>
          <a:xfrm>
            <a:off x="1122325" y="3993455"/>
            <a:ext cx="6533116" cy="3719214"/>
          </a:xfrm>
          <a:prstGeom prst="rect">
            <a:avLst/>
          </a:prstGeom>
          <a:noFill/>
        </p:spPr>
        <p:txBody>
          <a:bodyPr wrap="square" lIns="0" tIns="0" rIns="0" bIns="0" rtlCol="0" anchor="t">
            <a:noAutofit/>
          </a:bodyPr>
          <a:lstStyle/>
          <a:p>
            <a:pPr algn="r" rtl="1">
              <a:lnSpc>
                <a:spcPct val="100000"/>
              </a:lnSpc>
              <a:buNone/>
            </a:pPr>
            <a:r>
              <a:rPr lang="ar-SA" sz="2900" b="1" i="0" dirty="0">
                <a:solidFill>
                  <a:srgbClr val="FFFFFF"/>
                </a:solidFill>
                <a:latin typeface="Tahoma"/>
                <a:ea typeface="Tahoma"/>
                <a:cs typeface="Tahoma"/>
              </a:rPr>
              <a:t>بسبب انخفاض الضغط البخاري، يحتاج المحلول إلى </a:t>
            </a:r>
            <a:r>
              <a:rPr lang="ar-SA" sz="2900" b="1" i="0" dirty="0">
                <a:solidFill>
                  <a:srgbClr val="E8A94E"/>
                </a:solidFill>
                <a:latin typeface="Tahoma"/>
                <a:ea typeface="Tahoma"/>
                <a:cs typeface="Tahoma"/>
              </a:rPr>
              <a:t>طاقة حرارية أكبر</a:t>
            </a:r>
            <a:r>
              <a:rPr lang="ar-SA" sz="2900" b="1" i="0" dirty="0">
                <a:solidFill>
                  <a:srgbClr val="FFFFFF"/>
                </a:solidFill>
                <a:latin typeface="Tahoma"/>
                <a:ea typeface="Tahoma"/>
                <a:cs typeface="Tahoma"/>
              </a:rPr>
              <a:t> ليتمكن ضغطه البخاري من التغلب على الضغط الجوي.</a:t>
            </a:r>
          </a:p>
          <a:p>
            <a:pPr algn="r" rtl="1">
              <a:lnSpc>
                <a:spcPct val="100000"/>
              </a:lnSpc>
              <a:spcBef>
                <a:spcPts val="2800"/>
              </a:spcBef>
              <a:buNone/>
            </a:pPr>
            <a:r>
              <a:rPr lang="ar-SA" sz="2900" b="1" i="0" dirty="0">
                <a:solidFill>
                  <a:srgbClr val="FFFFFF"/>
                </a:solidFill>
                <a:latin typeface="Tahoma"/>
                <a:ea typeface="Tahoma"/>
                <a:cs typeface="Tahoma"/>
              </a:rPr>
              <a:t>لذلك: يغلي المحلول دائماً عند درجة </a:t>
            </a:r>
            <a:r>
              <a:rPr lang="ar-SA" sz="2900" b="1" i="0" dirty="0">
                <a:solidFill>
                  <a:srgbClr val="E8A94E"/>
                </a:solidFill>
                <a:latin typeface="Tahoma"/>
                <a:ea typeface="Tahoma"/>
                <a:cs typeface="Tahoma"/>
              </a:rPr>
              <a:t>حرارة أعلى</a:t>
            </a:r>
            <a:r>
              <a:rPr lang="ar-SA" sz="2900" b="1" i="0" dirty="0">
                <a:solidFill>
                  <a:srgbClr val="FFFFFF"/>
                </a:solidFill>
                <a:latin typeface="Tahoma"/>
                <a:ea typeface="Tahoma"/>
                <a:cs typeface="Tahoma"/>
              </a:rPr>
              <a:t> من المذيب النقي.</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600"/>
                                        <p:tgtEl>
                                          <p:spTgt spid="101"/>
                                        </p:tgtEl>
                                      </p:cBhvr>
                                    </p:animEffect>
                                    <p:anim calcmode="lin" valueType="num">
                                      <p:cBhvr>
                                        <p:cTn id="8" dur="600" fill="hold"/>
                                        <p:tgtEl>
                                          <p:spTgt spid="101"/>
                                        </p:tgtEl>
                                        <p:attrNameLst>
                                          <p:attrName>ppt_w</p:attrName>
                                        </p:attrNameLst>
                                      </p:cBhvr>
                                      <p:tavLst>
                                        <p:tav tm="0">
                                          <p:val>
                                            <p:strVal val="0"/>
                                          </p:val>
                                        </p:tav>
                                        <p:tav tm="100000">
                                          <p:val>
                                            <p:strVal val="#ppt_w"/>
                                          </p:val>
                                        </p:tav>
                                      </p:tavLst>
                                    </p:anim>
                                    <p:anim calcmode="lin" valueType="num">
                                      <p:cBhvr>
                                        <p:cTn id="9"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1" presetID="42" presetClass="entr" presetSubtype="0" fill="hold" grpId="0" nodeType="afterEffect">
                                  <p:stCondLst>
                                    <p:cond delay="0"/>
                                  </p:stCondLst>
                                  <p:childTnLst>
                                    <p:set>
                                      <p:cBhvr>
                                        <p:cTn id="12" dur="1" fill="hold">
                                          <p:stCondLst>
                                            <p:cond delay="0"/>
                                          </p:stCondLst>
                                        </p:cTn>
                                        <p:tgtEl>
                                          <p:spTgt spid="102">
                                            <p:txEl>
                                              <p:pRg st="0" end="0"/>
                                            </p:txEl>
                                          </p:spTgt>
                                        </p:tgtEl>
                                        <p:attrNameLst>
                                          <p:attrName>style.visibility</p:attrName>
                                        </p:attrNameLst>
                                      </p:cBhvr>
                                      <p:to>
                                        <p:strVal val="visible"/>
                                      </p:to>
                                    </p:set>
                                    <p:animEffect transition="in" filter="fade">
                                      <p:cBhvr>
                                        <p:cTn id="13" dur="600"/>
                                        <p:tgtEl>
                                          <p:spTgt spid="102">
                                            <p:txEl>
                                              <p:pRg st="0" end="0"/>
                                            </p:txEl>
                                          </p:spTgt>
                                        </p:tgtEl>
                                      </p:cBhvr>
                                    </p:animEffect>
                                    <p:anim calcmode="lin" valueType="num">
                                      <p:cBhvr>
                                        <p:cTn id="14" dur="600" fill="hold"/>
                                        <p:tgtEl>
                                          <p:spTgt spid="102">
                                            <p:txEl>
                                              <p:pRg st="0" end="0"/>
                                            </p:txEl>
                                          </p:spTgt>
                                        </p:tgtEl>
                                        <p:attrNameLst>
                                          <p:attrName>ppt_x</p:attrName>
                                        </p:attrNameLst>
                                      </p:cBhvr>
                                      <p:tavLst>
                                        <p:tav tm="0">
                                          <p:val>
                                            <p:strVal val="#ppt_x"/>
                                          </p:val>
                                        </p:tav>
                                        <p:tav tm="100000">
                                          <p:val>
                                            <p:strVal val="#ppt_x"/>
                                          </p:val>
                                        </p:tav>
                                      </p:tavLst>
                                    </p:anim>
                                    <p:anim calcmode="lin" valueType="num">
                                      <p:cBhvr>
                                        <p:cTn id="15" dur="600" fill="hold"/>
                                        <p:tgtEl>
                                          <p:spTgt spid="102">
                                            <p:txEl>
                                              <p:pRg st="0" end="0"/>
                                            </p:txEl>
                                          </p:spTgt>
                                        </p:tgtEl>
                                        <p:attrNameLst>
                                          <p:attrName>ppt_y</p:attrName>
                                        </p:attrNameLst>
                                      </p:cBhvr>
                                      <p:tavLst>
                                        <p:tav tm="0">
                                          <p:val>
                                            <p:strVal val="#ppt_y+.1"/>
                                          </p:val>
                                        </p:tav>
                                        <p:tav tm="100000">
                                          <p:val>
                                            <p:strVal val="#ppt_y"/>
                                          </p:val>
                                        </p:tav>
                                      </p:tavLst>
                                    </p:anim>
                                  </p:childTnLst>
                                </p:cTn>
                              </p:par>
                            </p:childTnLst>
                          </p:cTn>
                        </p:par>
                        <p:par>
                          <p:cTn id="16" fill="hold">
                            <p:stCondLst>
                              <p:cond delay="1400"/>
                            </p:stCondLst>
                            <p:childTnLst>
                              <p:par>
                                <p:cTn id="17" presetID="42" presetClass="entr" presetSubtype="0" fill="hold" grpId="0" nodeType="afterEffect">
                                  <p:stCondLst>
                                    <p:cond delay="0"/>
                                  </p:stCondLst>
                                  <p:childTnLst>
                                    <p:set>
                                      <p:cBhvr>
                                        <p:cTn id="18" dur="1" fill="hold">
                                          <p:stCondLst>
                                            <p:cond delay="0"/>
                                          </p:stCondLst>
                                        </p:cTn>
                                        <p:tgtEl>
                                          <p:spTgt spid="102">
                                            <p:txEl>
                                              <p:pRg st="1" end="1"/>
                                            </p:txEl>
                                          </p:spTgt>
                                        </p:tgtEl>
                                        <p:attrNameLst>
                                          <p:attrName>style.visibility</p:attrName>
                                        </p:attrNameLst>
                                      </p:cBhvr>
                                      <p:to>
                                        <p:strVal val="visible"/>
                                      </p:to>
                                    </p:set>
                                    <p:animEffect transition="in" filter="fade">
                                      <p:cBhvr>
                                        <p:cTn id="19" dur="600"/>
                                        <p:tgtEl>
                                          <p:spTgt spid="102">
                                            <p:txEl>
                                              <p:pRg st="1" end="1"/>
                                            </p:txEl>
                                          </p:spTgt>
                                        </p:tgtEl>
                                      </p:cBhvr>
                                    </p:animEffect>
                                    <p:anim calcmode="lin" valueType="num">
                                      <p:cBhvr>
                                        <p:cTn id="20" dur="600" fill="hold"/>
                                        <p:tgtEl>
                                          <p:spTgt spid="102">
                                            <p:txEl>
                                              <p:pRg st="1" end="1"/>
                                            </p:txEl>
                                          </p:spTgt>
                                        </p:tgtEl>
                                        <p:attrNameLst>
                                          <p:attrName>ppt_x</p:attrName>
                                        </p:attrNameLst>
                                      </p:cBhvr>
                                      <p:tavLst>
                                        <p:tav tm="0">
                                          <p:val>
                                            <p:strVal val="#ppt_x"/>
                                          </p:val>
                                        </p:tav>
                                        <p:tav tm="100000">
                                          <p:val>
                                            <p:strVal val="#ppt_x"/>
                                          </p:val>
                                        </p:tav>
                                      </p:tavLst>
                                    </p:anim>
                                    <p:anim calcmode="lin" valueType="num">
                                      <p:cBhvr>
                                        <p:cTn id="21" dur="600" fill="hold"/>
                                        <p:tgtEl>
                                          <p:spTgt spid="10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F4F6F8"/>
                </a:solidFill>
                <a:latin typeface="Tahoma"/>
                <a:ea typeface="Tahoma"/>
                <a:cs typeface="Tahoma"/>
              </a:rPr>
              <a:t>الارتفاع في درجة الغليان ‪(Boiling-Point Elevation)‬</a:t>
            </a:r>
          </a:p>
        </p:txBody>
      </p:sp>
      <p:sp>
        <p:nvSpPr>
          <p:cNvPr id="12" name="Chip"/>
          <p:cNvSpPr/>
          <p:nvPr/>
        </p:nvSpPr>
        <p:spPr>
          <a:xfrm>
            <a:off x="708837" y="452437"/>
            <a:ext cx="2480930" cy="404812"/>
          </a:xfrm>
          <a:prstGeom prst="roundRect">
            <a:avLst>
              <a:gd name="adj" fmla="val 50000"/>
            </a:avLst>
          </a:prstGeom>
          <a:solidFill>
            <a:srgbClr val="E8A94E">
              <a:alpha val="12000"/>
            </a:srgbClr>
          </a:solidFill>
          <a:ln w="12700" cap="rnd">
            <a:solidFill>
              <a:srgbClr val="E8A94E">
                <a:alpha val="70000"/>
              </a:srgbClr>
            </a:solidFill>
            <a:round/>
          </a:ln>
        </p:spPr>
        <p:txBody>
          <a:bodyPr wrap="square" lIns="0" tIns="0" rIns="0" bIns="0" rtlCol="0" anchor="ctr">
            <a:noAutofit/>
          </a:bodyPr>
          <a:lstStyle/>
          <a:p>
            <a:pPr algn="ctr" rtl="1">
              <a:lnSpc>
                <a:spcPct val="110000"/>
              </a:lnSpc>
              <a:buNone/>
            </a:pPr>
            <a:r>
              <a:rPr lang="ar-SA" sz="1400" b="1" i="0" dirty="0">
                <a:solidFill>
                  <a:srgbClr val="E8A94E"/>
                </a:solidFill>
                <a:latin typeface="Tahoma"/>
                <a:ea typeface="Tahoma"/>
                <a:cs typeface="Tahoma"/>
              </a:rPr>
              <a:t>الحصة الثانية</a:t>
            </a:r>
          </a:p>
        </p:txBody>
      </p:sp>
      <p:sp>
        <p:nvSpPr>
          <p:cNvPr id="13" name="Figure card"/>
          <p:cNvSpPr/>
          <p:nvPr/>
        </p:nvSpPr>
        <p:spPr>
          <a:xfrm>
            <a:off x="708837" y="1238250"/>
            <a:ext cx="6852093" cy="7429500"/>
          </a:xfrm>
          <a:prstGeom prst="roundRect">
            <a:avLst>
              <a:gd name="adj" fmla="val 5000"/>
            </a:avLst>
          </a:prstGeom>
          <a:solidFill>
            <a:srgbClr val="FFFFFF">
              <a:alpha val="5000"/>
            </a:srgbClr>
          </a:solidFill>
          <a:ln w="12700" cap="rnd">
            <a:solidFill>
              <a:srgbClr val="FFFFFF">
                <a:alpha val="22000"/>
              </a:srgbClr>
            </a:solidFill>
            <a:round/>
          </a:ln>
        </p:spPr>
        <p:txBody>
          <a:bodyPr rtlCol="0" anchor="ctr"/>
          <a:lstStyle/>
          <a:p>
            <a:endParaRPr lang="ar-SA"/>
          </a:p>
        </p:txBody>
      </p:sp>
      <p:sp>
        <p:nvSpPr>
          <p:cNvPr id="14" name="Axes"/>
          <p:cNvSpPr/>
          <p:nvPr/>
        </p:nvSpPr>
        <p:spPr>
          <a:xfrm>
            <a:off x="1535813" y="1547812"/>
            <a:ext cx="5812583" cy="5429369"/>
          </a:xfrm>
          <a:custGeom>
            <a:avLst/>
            <a:gdLst/>
            <a:ahLst/>
            <a:cxnLst/>
            <a:rect l="0" t="0" r="r" b="b"/>
            <a:pathLst>
              <a:path w="5812583" h="5429369" fill="none">
                <a:moveTo>
                  <a:pt x="0" y="0"/>
                </a:moveTo>
                <a:lnTo>
                  <a:pt x="0" y="5429250"/>
                </a:lnTo>
                <a:lnTo>
                  <a:pt x="5812465" y="5429250"/>
                </a:lnTo>
              </a:path>
            </a:pathLst>
          </a:custGeom>
          <a:noFill/>
          <a:ln w="22225" cap="rnd">
            <a:solidFill>
              <a:srgbClr val="D9DEE4">
                <a:alpha val="100000"/>
              </a:srgbClr>
            </a:solidFill>
            <a:round/>
          </a:ln>
        </p:spPr>
        <p:txBody>
          <a:bodyPr rtlCol="0" anchor="ctr"/>
          <a:lstStyle/>
          <a:p>
            <a:endParaRPr lang="ar-SA"/>
          </a:p>
        </p:txBody>
      </p:sp>
      <p:sp>
        <p:nvSpPr>
          <p:cNvPr id="15" name="1 atm line"/>
          <p:cNvSpPr/>
          <p:nvPr/>
        </p:nvSpPr>
        <p:spPr>
          <a:xfrm>
            <a:off x="1535813" y="2024567"/>
            <a:ext cx="5718071" cy="119"/>
          </a:xfrm>
          <a:custGeom>
            <a:avLst/>
            <a:gdLst/>
            <a:ahLst/>
            <a:cxnLst/>
            <a:rect l="0" t="0" r="r" b="b"/>
            <a:pathLst>
              <a:path w="5718071" h="119" fill="none">
                <a:moveTo>
                  <a:pt x="0" y="0"/>
                </a:moveTo>
                <a:lnTo>
                  <a:pt x="5717953" y="0"/>
                </a:lnTo>
              </a:path>
            </a:pathLst>
          </a:custGeom>
          <a:noFill/>
          <a:ln w="12700" cap="rnd">
            <a:solidFill>
              <a:srgbClr val="D9DEE4">
                <a:alpha val="70000"/>
              </a:srgbClr>
            </a:solidFill>
            <a:prstDash val="dash"/>
            <a:round/>
          </a:ln>
        </p:spPr>
        <p:txBody>
          <a:bodyPr rtlCol="0" anchor="ctr"/>
          <a:lstStyle/>
          <a:p>
            <a:endParaRPr lang="ar-SA"/>
          </a:p>
        </p:txBody>
      </p:sp>
      <p:sp>
        <p:nvSpPr>
          <p:cNvPr id="16" name="1 atm"/>
          <p:cNvSpPr txBox="1"/>
          <p:nvPr/>
        </p:nvSpPr>
        <p:spPr>
          <a:xfrm>
            <a:off x="902936" y="1878116"/>
            <a:ext cx="556917"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1.00</a:t>
            </a:r>
          </a:p>
        </p:txBody>
      </p:sp>
      <p:sp>
        <p:nvSpPr>
          <p:cNvPr id="17" name="X axis"/>
          <p:cNvSpPr txBox="1"/>
          <p:nvPr/>
        </p:nvSpPr>
        <p:spPr>
          <a:xfrm>
            <a:off x="3480870" y="8051825"/>
            <a:ext cx="1827840" cy="326973"/>
          </a:xfrm>
          <a:prstGeom prst="rect">
            <a:avLst/>
          </a:prstGeom>
          <a:noFill/>
          <a:ln>
            <a:noFill/>
          </a:ln>
        </p:spPr>
        <p:txBody>
          <a:bodyPr wrap="square" lIns="0" tIns="0" rIns="0" bIns="0" rtlCol="0" anchor="ctr">
            <a:noAutofit/>
          </a:bodyPr>
          <a:lstStyle/>
          <a:p>
            <a:pPr algn="ctr" rtl="1">
              <a:lnSpc>
                <a:spcPct val="110000"/>
              </a:lnSpc>
              <a:buNone/>
            </a:pPr>
            <a:r>
              <a:rPr lang="ar-SA" sz="1500" b="1" i="0" dirty="0">
                <a:solidFill>
                  <a:srgbClr val="B9C0C8"/>
                </a:solidFill>
                <a:latin typeface="Tahoma"/>
                <a:ea typeface="Tahoma"/>
                <a:cs typeface="Tahoma"/>
              </a:rPr>
              <a:t>درجة الحرارة ‪(°C)‬</a:t>
            </a:r>
          </a:p>
        </p:txBody>
      </p:sp>
      <p:sp>
        <p:nvSpPr>
          <p:cNvPr id="18" name="Y axis"/>
          <p:cNvSpPr txBox="1"/>
          <p:nvPr/>
        </p:nvSpPr>
        <p:spPr>
          <a:xfrm rot="16200000">
            <a:off x="-826976" y="4131468"/>
            <a:ext cx="3307906" cy="357187"/>
          </a:xfrm>
          <a:prstGeom prst="rect">
            <a:avLst/>
          </a:prstGeom>
          <a:noFill/>
          <a:ln>
            <a:noFill/>
          </a:ln>
        </p:spPr>
        <p:txBody>
          <a:bodyPr wrap="square" lIns="0" tIns="0" rIns="0" bIns="0" rtlCol="0" anchor="t">
            <a:noAutofit/>
          </a:bodyPr>
          <a:lstStyle/>
          <a:p>
            <a:pPr algn="ctr" rtl="1">
              <a:lnSpc>
                <a:spcPct val="110000"/>
              </a:lnSpc>
              <a:buNone/>
            </a:pPr>
            <a:r>
              <a:rPr lang="ar-SA" sz="1500" b="1" i="0" dirty="0">
                <a:solidFill>
                  <a:srgbClr val="B9C0C8"/>
                </a:solidFill>
                <a:latin typeface="Tahoma"/>
                <a:ea typeface="Tahoma"/>
                <a:cs typeface="Tahoma"/>
              </a:rPr>
              <a:t>الضغط البخاري ‪(atm)‬</a:t>
            </a:r>
          </a:p>
        </p:txBody>
      </p:sp>
      <p:sp>
        <p:nvSpPr>
          <p:cNvPr id="19" name="Solvent liquid"/>
          <p:cNvSpPr/>
          <p:nvPr/>
        </p:nvSpPr>
        <p:spPr>
          <a:xfrm>
            <a:off x="2679404" y="1618791"/>
            <a:ext cx="3688198" cy="3625325"/>
          </a:xfrm>
          <a:custGeom>
            <a:avLst/>
            <a:gdLst/>
            <a:ahLst/>
            <a:cxnLst/>
            <a:rect l="0" t="0" r="r" b="b"/>
            <a:pathLst>
              <a:path w="3688198" h="3625325" fill="none">
                <a:moveTo>
                  <a:pt x="0" y="3625206"/>
                </a:moveTo>
                <a:lnTo>
                  <a:pt x="75266" y="3584820"/>
                </a:lnTo>
                <a:lnTo>
                  <a:pt x="150533" y="3543493"/>
                </a:lnTo>
                <a:lnTo>
                  <a:pt x="225800" y="3501204"/>
                </a:lnTo>
                <a:lnTo>
                  <a:pt x="301067" y="3457928"/>
                </a:lnTo>
                <a:lnTo>
                  <a:pt x="376334" y="3413644"/>
                </a:lnTo>
                <a:lnTo>
                  <a:pt x="451601" y="3368328"/>
                </a:lnTo>
                <a:lnTo>
                  <a:pt x="526868" y="3321957"/>
                </a:lnTo>
                <a:lnTo>
                  <a:pt x="602135" y="3274504"/>
                </a:lnTo>
                <a:lnTo>
                  <a:pt x="677402" y="3225946"/>
                </a:lnTo>
                <a:lnTo>
                  <a:pt x="752669" y="3176256"/>
                </a:lnTo>
                <a:lnTo>
                  <a:pt x="827936" y="3125409"/>
                </a:lnTo>
                <a:lnTo>
                  <a:pt x="903203" y="3073376"/>
                </a:lnTo>
                <a:lnTo>
                  <a:pt x="978470" y="3020131"/>
                </a:lnTo>
                <a:lnTo>
                  <a:pt x="1053737" y="2965645"/>
                </a:lnTo>
                <a:lnTo>
                  <a:pt x="1129004" y="2909890"/>
                </a:lnTo>
                <a:lnTo>
                  <a:pt x="1204271" y="2852835"/>
                </a:lnTo>
                <a:lnTo>
                  <a:pt x="1279537" y="2794450"/>
                </a:lnTo>
                <a:lnTo>
                  <a:pt x="1354804" y="2734705"/>
                </a:lnTo>
                <a:lnTo>
                  <a:pt x="1430071" y="2673568"/>
                </a:lnTo>
                <a:lnTo>
                  <a:pt x="1505338" y="2611006"/>
                </a:lnTo>
                <a:lnTo>
                  <a:pt x="1580605" y="2546987"/>
                </a:lnTo>
                <a:lnTo>
                  <a:pt x="1655872" y="2481475"/>
                </a:lnTo>
                <a:lnTo>
                  <a:pt x="1731139" y="2414437"/>
                </a:lnTo>
                <a:lnTo>
                  <a:pt x="1806406" y="2345836"/>
                </a:lnTo>
                <a:lnTo>
                  <a:pt x="1881673" y="2275637"/>
                </a:lnTo>
                <a:lnTo>
                  <a:pt x="1956940" y="2203802"/>
                </a:lnTo>
                <a:lnTo>
                  <a:pt x="2032207" y="2130294"/>
                </a:lnTo>
                <a:lnTo>
                  <a:pt x="2107474" y="2055072"/>
                </a:lnTo>
                <a:lnTo>
                  <a:pt x="2182741" y="1978097"/>
                </a:lnTo>
                <a:lnTo>
                  <a:pt x="2258008" y="1899329"/>
                </a:lnTo>
                <a:lnTo>
                  <a:pt x="2333275" y="1818725"/>
                </a:lnTo>
                <a:lnTo>
                  <a:pt x="2408542" y="1736242"/>
                </a:lnTo>
                <a:lnTo>
                  <a:pt x="2483808" y="1651838"/>
                </a:lnTo>
                <a:lnTo>
                  <a:pt x="2559075" y="1565466"/>
                </a:lnTo>
                <a:lnTo>
                  <a:pt x="2634342" y="1477082"/>
                </a:lnTo>
                <a:lnTo>
                  <a:pt x="2709609" y="1386639"/>
                </a:lnTo>
                <a:lnTo>
                  <a:pt x="2784876" y="1294087"/>
                </a:lnTo>
                <a:lnTo>
                  <a:pt x="2860143" y="1199379"/>
                </a:lnTo>
                <a:lnTo>
                  <a:pt x="2935410" y="1102464"/>
                </a:lnTo>
                <a:lnTo>
                  <a:pt x="3010677" y="1003291"/>
                </a:lnTo>
                <a:lnTo>
                  <a:pt x="3085944" y="901807"/>
                </a:lnTo>
                <a:lnTo>
                  <a:pt x="3161211" y="797957"/>
                </a:lnTo>
                <a:lnTo>
                  <a:pt x="3236478" y="691688"/>
                </a:lnTo>
                <a:lnTo>
                  <a:pt x="3311745" y="582942"/>
                </a:lnTo>
                <a:lnTo>
                  <a:pt x="3387012" y="471662"/>
                </a:lnTo>
                <a:lnTo>
                  <a:pt x="3462279" y="357789"/>
                </a:lnTo>
                <a:lnTo>
                  <a:pt x="3537546" y="241262"/>
                </a:lnTo>
                <a:lnTo>
                  <a:pt x="3612813" y="122020"/>
                </a:lnTo>
                <a:lnTo>
                  <a:pt x="3688080" y="0"/>
                </a:lnTo>
              </a:path>
            </a:pathLst>
          </a:custGeom>
          <a:noFill/>
          <a:ln w="34925" cap="rnd">
            <a:solidFill>
              <a:srgbClr val="F4F6F8">
                <a:alpha val="100000"/>
              </a:srgbClr>
            </a:solidFill>
            <a:round/>
          </a:ln>
        </p:spPr>
        <p:txBody>
          <a:bodyPr rtlCol="0" anchor="ctr"/>
          <a:lstStyle/>
          <a:p>
            <a:endParaRPr lang="ar-SA"/>
          </a:p>
        </p:txBody>
      </p:sp>
      <p:sp>
        <p:nvSpPr>
          <p:cNvPr id="20" name="Solution"/>
          <p:cNvSpPr/>
          <p:nvPr/>
        </p:nvSpPr>
        <p:spPr>
          <a:xfrm>
            <a:off x="2124015" y="1618791"/>
            <a:ext cx="4735502" cy="4100595"/>
          </a:xfrm>
          <a:custGeom>
            <a:avLst/>
            <a:gdLst/>
            <a:ahLst/>
            <a:cxnLst/>
            <a:rect l="0" t="0" r="r" b="b"/>
            <a:pathLst>
              <a:path w="4735502" h="4100595" fill="none">
                <a:moveTo>
                  <a:pt x="0" y="4100476"/>
                </a:moveTo>
                <a:lnTo>
                  <a:pt x="96640" y="4062718"/>
                </a:lnTo>
                <a:lnTo>
                  <a:pt x="193280" y="4023827"/>
                </a:lnTo>
                <a:lnTo>
                  <a:pt x="289921" y="3983769"/>
                </a:lnTo>
                <a:lnTo>
                  <a:pt x="386561" y="3942508"/>
                </a:lnTo>
                <a:lnTo>
                  <a:pt x="483202" y="3900008"/>
                </a:lnTo>
                <a:lnTo>
                  <a:pt x="579842" y="3856232"/>
                </a:lnTo>
                <a:lnTo>
                  <a:pt x="676483" y="3811143"/>
                </a:lnTo>
                <a:lnTo>
                  <a:pt x="773123" y="3764700"/>
                </a:lnTo>
                <a:lnTo>
                  <a:pt x="869764" y="3716862"/>
                </a:lnTo>
                <a:lnTo>
                  <a:pt x="966404" y="3667589"/>
                </a:lnTo>
                <a:lnTo>
                  <a:pt x="1063045" y="3616837"/>
                </a:lnTo>
                <a:lnTo>
                  <a:pt x="1159685" y="3564561"/>
                </a:lnTo>
                <a:lnTo>
                  <a:pt x="1256326" y="3510715"/>
                </a:lnTo>
                <a:lnTo>
                  <a:pt x="1352966" y="3455254"/>
                </a:lnTo>
                <a:lnTo>
                  <a:pt x="1449607" y="3398127"/>
                </a:lnTo>
                <a:lnTo>
                  <a:pt x="1546247" y="3339286"/>
                </a:lnTo>
                <a:lnTo>
                  <a:pt x="1642888" y="3278678"/>
                </a:lnTo>
                <a:lnTo>
                  <a:pt x="1739528" y="3216251"/>
                </a:lnTo>
                <a:lnTo>
                  <a:pt x="1836169" y="3151950"/>
                </a:lnTo>
                <a:lnTo>
                  <a:pt x="1932809" y="3085719"/>
                </a:lnTo>
                <a:lnTo>
                  <a:pt x="2029450" y="3017499"/>
                </a:lnTo>
                <a:lnTo>
                  <a:pt x="2126090" y="2947232"/>
                </a:lnTo>
                <a:lnTo>
                  <a:pt x="2222731" y="2874855"/>
                </a:lnTo>
                <a:lnTo>
                  <a:pt x="2319371" y="2800305"/>
                </a:lnTo>
                <a:lnTo>
                  <a:pt x="2416012" y="2723518"/>
                </a:lnTo>
                <a:lnTo>
                  <a:pt x="2512652" y="2644426"/>
                </a:lnTo>
                <a:lnTo>
                  <a:pt x="2609293" y="2562959"/>
                </a:lnTo>
                <a:lnTo>
                  <a:pt x="2705933" y="2479047"/>
                </a:lnTo>
                <a:lnTo>
                  <a:pt x="2802574" y="2392615"/>
                </a:lnTo>
                <a:lnTo>
                  <a:pt x="2899214" y="2303590"/>
                </a:lnTo>
                <a:lnTo>
                  <a:pt x="2995855" y="2211891"/>
                </a:lnTo>
                <a:lnTo>
                  <a:pt x="3092495" y="2117441"/>
                </a:lnTo>
                <a:lnTo>
                  <a:pt x="3189136" y="2020154"/>
                </a:lnTo>
                <a:lnTo>
                  <a:pt x="3285776" y="1919948"/>
                </a:lnTo>
                <a:lnTo>
                  <a:pt x="3382417" y="1816733"/>
                </a:lnTo>
                <a:lnTo>
                  <a:pt x="3479057" y="1710420"/>
                </a:lnTo>
                <a:lnTo>
                  <a:pt x="3575698" y="1600915"/>
                </a:lnTo>
                <a:lnTo>
                  <a:pt x="3672338" y="1488124"/>
                </a:lnTo>
                <a:lnTo>
                  <a:pt x="3768979" y="1371946"/>
                </a:lnTo>
                <a:lnTo>
                  <a:pt x="3865619" y="1252281"/>
                </a:lnTo>
                <a:lnTo>
                  <a:pt x="3962260" y="1129023"/>
                </a:lnTo>
                <a:lnTo>
                  <a:pt x="4058900" y="1002066"/>
                </a:lnTo>
                <a:lnTo>
                  <a:pt x="4155541" y="871297"/>
                </a:lnTo>
                <a:lnTo>
                  <a:pt x="4252181" y="736603"/>
                </a:lnTo>
                <a:lnTo>
                  <a:pt x="4348822" y="597866"/>
                </a:lnTo>
                <a:lnTo>
                  <a:pt x="4445462" y="454964"/>
                </a:lnTo>
                <a:lnTo>
                  <a:pt x="4542103" y="307772"/>
                </a:lnTo>
                <a:lnTo>
                  <a:pt x="4638743" y="156161"/>
                </a:lnTo>
                <a:lnTo>
                  <a:pt x="4735384" y="0"/>
                </a:lnTo>
              </a:path>
            </a:pathLst>
          </a:custGeom>
          <a:noFill/>
          <a:ln w="34925" cap="rnd">
            <a:solidFill>
              <a:srgbClr val="E8A94E">
                <a:alpha val="100000"/>
              </a:srgbClr>
            </a:solidFill>
            <a:round/>
          </a:ln>
        </p:spPr>
        <p:txBody>
          <a:bodyPr rtlCol="0" anchor="ctr"/>
          <a:lstStyle/>
          <a:p>
            <a:endParaRPr lang="ar-SA"/>
          </a:p>
        </p:txBody>
      </p:sp>
      <p:sp>
        <p:nvSpPr>
          <p:cNvPr id="21" name="Solvent solid"/>
          <p:cNvSpPr/>
          <p:nvPr/>
        </p:nvSpPr>
        <p:spPr>
          <a:xfrm>
            <a:off x="1723759" y="5243997"/>
            <a:ext cx="955763" cy="734822"/>
          </a:xfrm>
          <a:custGeom>
            <a:avLst/>
            <a:gdLst/>
            <a:ahLst/>
            <a:cxnLst/>
            <a:rect l="0" t="0" r="r" b="b"/>
            <a:pathLst>
              <a:path w="955763" h="734822" fill="none">
                <a:moveTo>
                  <a:pt x="0" y="734703"/>
                </a:moveTo>
                <a:lnTo>
                  <a:pt x="50297" y="705298"/>
                </a:lnTo>
                <a:lnTo>
                  <a:pt x="100594" y="675026"/>
                </a:lnTo>
                <a:lnTo>
                  <a:pt x="150891" y="643864"/>
                </a:lnTo>
                <a:lnTo>
                  <a:pt x="201188" y="611783"/>
                </a:lnTo>
                <a:lnTo>
                  <a:pt x="251485" y="578758"/>
                </a:lnTo>
                <a:lnTo>
                  <a:pt x="301782" y="544759"/>
                </a:lnTo>
                <a:lnTo>
                  <a:pt x="352079" y="509760"/>
                </a:lnTo>
                <a:lnTo>
                  <a:pt x="402377" y="473729"/>
                </a:lnTo>
                <a:lnTo>
                  <a:pt x="452674" y="436638"/>
                </a:lnTo>
                <a:lnTo>
                  <a:pt x="502971" y="398453"/>
                </a:lnTo>
                <a:lnTo>
                  <a:pt x="553268" y="359145"/>
                </a:lnTo>
                <a:lnTo>
                  <a:pt x="603565" y="318678"/>
                </a:lnTo>
                <a:lnTo>
                  <a:pt x="653862" y="277020"/>
                </a:lnTo>
                <a:lnTo>
                  <a:pt x="704159" y="234134"/>
                </a:lnTo>
                <a:lnTo>
                  <a:pt x="754456" y="189986"/>
                </a:lnTo>
                <a:lnTo>
                  <a:pt x="804754" y="144537"/>
                </a:lnTo>
                <a:lnTo>
                  <a:pt x="855051" y="97749"/>
                </a:lnTo>
                <a:lnTo>
                  <a:pt x="905348" y="49584"/>
                </a:lnTo>
                <a:lnTo>
                  <a:pt x="955645" y="0"/>
                </a:lnTo>
              </a:path>
            </a:pathLst>
          </a:custGeom>
          <a:noFill/>
          <a:ln w="34925" cap="rnd">
            <a:solidFill>
              <a:srgbClr val="7FC8F8">
                <a:alpha val="100000"/>
              </a:srgbClr>
            </a:solidFill>
            <a:round/>
          </a:ln>
        </p:spPr>
        <p:txBody>
          <a:bodyPr rtlCol="0" anchor="ctr"/>
          <a:lstStyle/>
          <a:p>
            <a:endParaRPr lang="ar-SA"/>
          </a:p>
        </p:txBody>
      </p:sp>
      <p:sp>
        <p:nvSpPr>
          <p:cNvPr id="22" name="Label liquid"/>
          <p:cNvSpPr txBox="1"/>
          <p:nvPr/>
        </p:nvSpPr>
        <p:spPr>
          <a:xfrm>
            <a:off x="2555985" y="3332129"/>
            <a:ext cx="2221577" cy="309938"/>
          </a:xfrm>
          <a:prstGeom prst="rect">
            <a:avLst/>
          </a:prstGeom>
          <a:noFill/>
          <a:ln>
            <a:noFill/>
          </a:ln>
        </p:spPr>
        <p:txBody>
          <a:bodyPr wrap="square" lIns="0" tIns="0" rIns="0" bIns="0" rtlCol="0" anchor="ctr">
            <a:noAutofit/>
          </a:bodyPr>
          <a:lstStyle/>
          <a:p>
            <a:pPr algn="r" rtl="1">
              <a:lnSpc>
                <a:spcPct val="110000"/>
              </a:lnSpc>
              <a:buNone/>
            </a:pPr>
            <a:r>
              <a:rPr lang="ar-SA" sz="1400" b="1" i="0" dirty="0">
                <a:solidFill>
                  <a:srgbClr val="F4F6F8"/>
                </a:solidFill>
                <a:latin typeface="Tahoma"/>
                <a:ea typeface="Tahoma"/>
                <a:cs typeface="Tahoma"/>
              </a:rPr>
              <a:t>مذيب في الحالة السائلة</a:t>
            </a:r>
          </a:p>
        </p:txBody>
      </p:sp>
      <p:sp>
        <p:nvSpPr>
          <p:cNvPr id="23" name="Label solution"/>
          <p:cNvSpPr txBox="1"/>
          <p:nvPr/>
        </p:nvSpPr>
        <p:spPr>
          <a:xfrm>
            <a:off x="5269968" y="3712976"/>
            <a:ext cx="763661" cy="309938"/>
          </a:xfrm>
          <a:prstGeom prst="rect">
            <a:avLst/>
          </a:prstGeom>
          <a:noFill/>
          <a:ln>
            <a:noFill/>
          </a:ln>
        </p:spPr>
        <p:txBody>
          <a:bodyPr wrap="square" lIns="0" tIns="0" rIns="0" bIns="0" rtlCol="0" anchor="ctr">
            <a:noAutofit/>
          </a:bodyPr>
          <a:lstStyle/>
          <a:p>
            <a:pPr algn="l" rtl="1">
              <a:lnSpc>
                <a:spcPct val="110000"/>
              </a:lnSpc>
              <a:buNone/>
            </a:pPr>
            <a:r>
              <a:rPr lang="ar-SA" sz="1400" b="1" i="0" dirty="0">
                <a:solidFill>
                  <a:srgbClr val="E8A94E"/>
                </a:solidFill>
                <a:latin typeface="Tahoma"/>
                <a:ea typeface="Tahoma"/>
                <a:cs typeface="Tahoma"/>
              </a:rPr>
              <a:t>محلول</a:t>
            </a:r>
          </a:p>
        </p:txBody>
      </p:sp>
      <p:sp>
        <p:nvSpPr>
          <p:cNvPr id="24" name="Label solid"/>
          <p:cNvSpPr txBox="1"/>
          <p:nvPr/>
        </p:nvSpPr>
        <p:spPr>
          <a:xfrm>
            <a:off x="1851822" y="6052173"/>
            <a:ext cx="1138200" cy="309938"/>
          </a:xfrm>
          <a:prstGeom prst="rect">
            <a:avLst/>
          </a:prstGeom>
          <a:noFill/>
          <a:ln>
            <a:noFill/>
          </a:ln>
        </p:spPr>
        <p:txBody>
          <a:bodyPr wrap="square" lIns="0" tIns="0" rIns="0" bIns="0" rtlCol="0" anchor="ctr">
            <a:noAutofit/>
          </a:bodyPr>
          <a:lstStyle/>
          <a:p>
            <a:pPr algn="l" rtl="1">
              <a:lnSpc>
                <a:spcPct val="110000"/>
              </a:lnSpc>
              <a:buNone/>
            </a:pPr>
            <a:r>
              <a:rPr lang="ar-SA" sz="1400" b="1" i="0" dirty="0">
                <a:solidFill>
                  <a:srgbClr val="7FC8F8"/>
                </a:solidFill>
                <a:latin typeface="Tahoma"/>
                <a:ea typeface="Tahoma"/>
                <a:cs typeface="Tahoma"/>
              </a:rPr>
              <a:t>مذيب صلب</a:t>
            </a:r>
          </a:p>
        </p:txBody>
      </p:sp>
      <p:sp>
        <p:nvSpPr>
          <p:cNvPr id="25" name="Drop fp solution"/>
          <p:cNvSpPr/>
          <p:nvPr/>
        </p:nvSpPr>
        <p:spPr>
          <a:xfrm>
            <a:off x="2124015" y="5719267"/>
            <a:ext cx="118" cy="1257914"/>
          </a:xfrm>
          <a:custGeom>
            <a:avLst/>
            <a:gdLst/>
            <a:ahLst/>
            <a:cxnLst/>
            <a:rect l="0" t="0" r="r" b="b"/>
            <a:pathLst>
              <a:path w="118" h="1257914" fill="none">
                <a:moveTo>
                  <a:pt x="0" y="0"/>
                </a:moveTo>
                <a:lnTo>
                  <a:pt x="0" y="1257795"/>
                </a:lnTo>
              </a:path>
            </a:pathLst>
          </a:custGeom>
          <a:noFill/>
          <a:ln w="15875" cap="rnd">
            <a:solidFill>
              <a:srgbClr val="D9DEE4">
                <a:alpha val="80000"/>
              </a:srgbClr>
            </a:solidFill>
            <a:prstDash val="sysDash"/>
            <a:round/>
          </a:ln>
        </p:spPr>
        <p:txBody>
          <a:bodyPr rtlCol="0" anchor="ctr"/>
          <a:lstStyle/>
          <a:p>
            <a:endParaRPr lang="ar-SA"/>
          </a:p>
        </p:txBody>
      </p:sp>
      <p:sp>
        <p:nvSpPr>
          <p:cNvPr id="26" name="Drop fp solvent"/>
          <p:cNvSpPr/>
          <p:nvPr/>
        </p:nvSpPr>
        <p:spPr>
          <a:xfrm>
            <a:off x="2679404" y="5243997"/>
            <a:ext cx="118" cy="1733183"/>
          </a:xfrm>
          <a:custGeom>
            <a:avLst/>
            <a:gdLst/>
            <a:ahLst/>
            <a:cxnLst/>
            <a:rect l="0" t="0" r="r" b="b"/>
            <a:pathLst>
              <a:path w="118" h="1733183" fill="none">
                <a:moveTo>
                  <a:pt x="0" y="0"/>
                </a:moveTo>
                <a:lnTo>
                  <a:pt x="0" y="1733064"/>
                </a:lnTo>
              </a:path>
            </a:pathLst>
          </a:custGeom>
          <a:noFill/>
          <a:ln w="15875" cap="rnd">
            <a:solidFill>
              <a:srgbClr val="D9DEE4">
                <a:alpha val="80000"/>
              </a:srgbClr>
            </a:solidFill>
            <a:prstDash val="sysDash"/>
            <a:round/>
          </a:ln>
        </p:spPr>
        <p:txBody>
          <a:bodyPr rtlCol="0" anchor="ctr"/>
          <a:lstStyle/>
          <a:p>
            <a:endParaRPr lang="ar-SA"/>
          </a:p>
        </p:txBody>
      </p:sp>
      <p:sp>
        <p:nvSpPr>
          <p:cNvPr id="27" name="Drop bp solvent"/>
          <p:cNvSpPr/>
          <p:nvPr/>
        </p:nvSpPr>
        <p:spPr>
          <a:xfrm>
            <a:off x="6110176" y="2024567"/>
            <a:ext cx="118" cy="4952613"/>
          </a:xfrm>
          <a:custGeom>
            <a:avLst/>
            <a:gdLst/>
            <a:ahLst/>
            <a:cxnLst/>
            <a:rect l="0" t="0" r="r" b="b"/>
            <a:pathLst>
              <a:path w="118" h="4952613" fill="none">
                <a:moveTo>
                  <a:pt x="0" y="0"/>
                </a:moveTo>
                <a:lnTo>
                  <a:pt x="0" y="4952494"/>
                </a:lnTo>
              </a:path>
            </a:pathLst>
          </a:custGeom>
          <a:noFill/>
          <a:ln w="15875" cap="rnd">
            <a:solidFill>
              <a:srgbClr val="D9DEE4">
                <a:alpha val="80000"/>
              </a:srgbClr>
            </a:solidFill>
            <a:prstDash val="sysDash"/>
            <a:round/>
          </a:ln>
        </p:spPr>
        <p:txBody>
          <a:bodyPr rtlCol="0" anchor="ctr"/>
          <a:lstStyle/>
          <a:p>
            <a:endParaRPr lang="ar-SA"/>
          </a:p>
        </p:txBody>
      </p:sp>
      <p:sp>
        <p:nvSpPr>
          <p:cNvPr id="28" name="Drop bp solution"/>
          <p:cNvSpPr/>
          <p:nvPr/>
        </p:nvSpPr>
        <p:spPr>
          <a:xfrm>
            <a:off x="6602092" y="2024567"/>
            <a:ext cx="118" cy="4952613"/>
          </a:xfrm>
          <a:custGeom>
            <a:avLst/>
            <a:gdLst/>
            <a:ahLst/>
            <a:cxnLst/>
            <a:rect l="0" t="0" r="r" b="b"/>
            <a:pathLst>
              <a:path w="118" h="4952613" fill="none">
                <a:moveTo>
                  <a:pt x="0" y="0"/>
                </a:moveTo>
                <a:lnTo>
                  <a:pt x="0" y="4952494"/>
                </a:lnTo>
              </a:path>
            </a:pathLst>
          </a:custGeom>
          <a:noFill/>
          <a:ln w="15875" cap="rnd">
            <a:solidFill>
              <a:srgbClr val="D9DEE4">
                <a:alpha val="80000"/>
              </a:srgbClr>
            </a:solidFill>
            <a:prstDash val="sysDash"/>
            <a:round/>
          </a:ln>
        </p:spPr>
        <p:txBody>
          <a:bodyPr rtlCol="0" anchor="ctr"/>
          <a:lstStyle/>
          <a:p>
            <a:endParaRPr lang="ar-SA"/>
          </a:p>
        </p:txBody>
      </p:sp>
      <p:sp>
        <p:nvSpPr>
          <p:cNvPr id="29" name="Bracket fp"/>
          <p:cNvSpPr/>
          <p:nvPr/>
        </p:nvSpPr>
        <p:spPr>
          <a:xfrm>
            <a:off x="2124015" y="7072312"/>
            <a:ext cx="555506" cy="95369"/>
          </a:xfrm>
          <a:custGeom>
            <a:avLst/>
            <a:gdLst/>
            <a:ahLst/>
            <a:cxnLst/>
            <a:rect l="0" t="0" r="r" b="b"/>
            <a:pathLst>
              <a:path w="555506" h="95369" fill="none">
                <a:moveTo>
                  <a:pt x="0" y="0"/>
                </a:moveTo>
                <a:lnTo>
                  <a:pt x="0" y="95250"/>
                </a:lnTo>
                <a:lnTo>
                  <a:pt x="555388" y="95250"/>
                </a:lnTo>
                <a:lnTo>
                  <a:pt x="555388" y="0"/>
                </a:lnTo>
              </a:path>
            </a:pathLst>
          </a:custGeom>
          <a:noFill/>
          <a:ln w="15875" cap="rnd">
            <a:solidFill>
              <a:srgbClr val="B9C0C8">
                <a:alpha val="100000"/>
              </a:srgbClr>
            </a:solidFill>
            <a:round/>
          </a:ln>
        </p:spPr>
        <p:txBody>
          <a:bodyPr rtlCol="0" anchor="ctr"/>
          <a:lstStyle/>
          <a:p>
            <a:endParaRPr lang="ar-SA"/>
          </a:p>
        </p:txBody>
      </p:sp>
      <p:sp>
        <p:nvSpPr>
          <p:cNvPr id="30" name="Delta fp"/>
          <p:cNvSpPr txBox="1"/>
          <p:nvPr/>
        </p:nvSpPr>
        <p:spPr>
          <a:xfrm>
            <a:off x="1917615" y="7209870"/>
            <a:ext cx="968190" cy="344009"/>
          </a:xfrm>
          <a:prstGeom prst="rect">
            <a:avLst/>
          </a:prstGeom>
          <a:noFill/>
          <a:ln>
            <a:noFill/>
          </a:ln>
        </p:spPr>
        <p:txBody>
          <a:bodyPr wrap="square" lIns="0" tIns="0" rIns="0" bIns="0" rtlCol="0" anchor="ctr">
            <a:noAutofit/>
          </a:bodyPr>
          <a:lstStyle/>
          <a:p>
            <a:pPr algn="ctr" rtl="0">
              <a:lnSpc>
                <a:spcPct val="110000"/>
              </a:lnSpc>
              <a:buNone/>
            </a:pPr>
            <a:r>
              <a:rPr lang="ar-SA" sz="1600" b="1" i="0" dirty="0">
                <a:solidFill>
                  <a:srgbClr val="B9C0C8"/>
                </a:solidFill>
                <a:latin typeface="Tahoma"/>
                <a:ea typeface="Tahoma"/>
                <a:cs typeface="Tahoma"/>
              </a:rPr>
              <a:t>ΔT</a:t>
            </a:r>
            <a:r>
              <a:rPr lang="ar-SA" sz="1600" b="1" i="0" baseline="-25000" dirty="0">
                <a:solidFill>
                  <a:srgbClr val="B9C0C8"/>
                </a:solidFill>
                <a:latin typeface="Tahoma"/>
                <a:ea typeface="Tahoma"/>
                <a:cs typeface="Tahoma"/>
              </a:rPr>
              <a:t>fp</a:t>
            </a:r>
            <a:endParaRPr lang="ar-SA" sz="1600" b="1" i="0" dirty="0">
              <a:solidFill>
                <a:srgbClr val="B9C0C8"/>
              </a:solidFill>
              <a:latin typeface="Tahoma"/>
              <a:ea typeface="Tahoma"/>
              <a:cs typeface="Tahoma"/>
            </a:endParaRPr>
          </a:p>
        </p:txBody>
      </p:sp>
      <p:sp>
        <p:nvSpPr>
          <p:cNvPr id="31" name="Point fp 1"/>
          <p:cNvSpPr txBox="1"/>
          <p:nvPr/>
        </p:nvSpPr>
        <p:spPr>
          <a:xfrm>
            <a:off x="1310606" y="7529691"/>
            <a:ext cx="1626818" cy="275866"/>
          </a:xfrm>
          <a:prstGeom prst="rect">
            <a:avLst/>
          </a:prstGeom>
          <a:noFill/>
          <a:ln>
            <a:noFill/>
          </a:ln>
        </p:spPr>
        <p:txBody>
          <a:bodyPr wrap="square" lIns="0" tIns="0" rIns="0" bIns="0" rtlCol="0" anchor="ctr">
            <a:noAutofit/>
          </a:bodyPr>
          <a:lstStyle/>
          <a:p>
            <a:pPr algn="ctr" rtl="1">
              <a:lnSpc>
                <a:spcPct val="110000"/>
              </a:lnSpc>
              <a:buNone/>
            </a:pPr>
            <a:r>
              <a:rPr lang="ar-SA" sz="1200" b="1" i="0" dirty="0">
                <a:solidFill>
                  <a:srgbClr val="B9C0C8"/>
                </a:solidFill>
                <a:latin typeface="Tahoma"/>
                <a:ea typeface="Tahoma"/>
                <a:cs typeface="Tahoma"/>
              </a:rPr>
              <a:t>درجة تجمد المحلول</a:t>
            </a:r>
          </a:p>
        </p:txBody>
      </p:sp>
      <p:sp>
        <p:nvSpPr>
          <p:cNvPr id="32" name="Point fp 2"/>
          <p:cNvSpPr txBox="1"/>
          <p:nvPr/>
        </p:nvSpPr>
        <p:spPr>
          <a:xfrm>
            <a:off x="2679404" y="7767816"/>
            <a:ext cx="1532675" cy="275866"/>
          </a:xfrm>
          <a:prstGeom prst="rect">
            <a:avLst/>
          </a:prstGeom>
          <a:noFill/>
          <a:ln>
            <a:noFill/>
          </a:ln>
        </p:spPr>
        <p:txBody>
          <a:bodyPr wrap="square" lIns="0" tIns="0" rIns="0" bIns="0" rtlCol="0" anchor="ctr">
            <a:noAutofit/>
          </a:bodyPr>
          <a:lstStyle/>
          <a:p>
            <a:pPr algn="l" rtl="1">
              <a:lnSpc>
                <a:spcPct val="110000"/>
              </a:lnSpc>
              <a:buNone/>
            </a:pPr>
            <a:r>
              <a:rPr lang="ar-SA" sz="1200" b="1" i="0" dirty="0">
                <a:solidFill>
                  <a:srgbClr val="B9C0C8"/>
                </a:solidFill>
                <a:latin typeface="Tahoma"/>
                <a:ea typeface="Tahoma"/>
                <a:cs typeface="Tahoma"/>
              </a:rPr>
              <a:t>درجة تجمد المذيب</a:t>
            </a:r>
          </a:p>
        </p:txBody>
      </p:sp>
      <p:sp>
        <p:nvSpPr>
          <p:cNvPr id="33" name="Bracket bp"/>
          <p:cNvSpPr/>
          <p:nvPr/>
        </p:nvSpPr>
        <p:spPr>
          <a:xfrm>
            <a:off x="6110176" y="7072312"/>
            <a:ext cx="492033" cy="95369"/>
          </a:xfrm>
          <a:custGeom>
            <a:avLst/>
            <a:gdLst/>
            <a:ahLst/>
            <a:cxnLst/>
            <a:rect l="0" t="0" r="r" b="b"/>
            <a:pathLst>
              <a:path w="492033" h="95369" fill="none">
                <a:moveTo>
                  <a:pt x="0" y="0"/>
                </a:moveTo>
                <a:lnTo>
                  <a:pt x="0" y="95250"/>
                </a:lnTo>
                <a:lnTo>
                  <a:pt x="491915" y="95250"/>
                </a:lnTo>
                <a:lnTo>
                  <a:pt x="491915" y="0"/>
                </a:lnTo>
              </a:path>
            </a:pathLst>
          </a:custGeom>
          <a:noFill/>
          <a:ln w="25400" cap="rnd">
            <a:solidFill>
              <a:srgbClr val="E8A94E">
                <a:alpha val="100000"/>
              </a:srgbClr>
            </a:solidFill>
            <a:round/>
          </a:ln>
        </p:spPr>
        <p:txBody>
          <a:bodyPr rtlCol="0" anchor="ctr"/>
          <a:lstStyle/>
          <a:p>
            <a:endParaRPr lang="ar-SA"/>
          </a:p>
        </p:txBody>
      </p:sp>
      <p:sp>
        <p:nvSpPr>
          <p:cNvPr id="34" name="Delta bp"/>
          <p:cNvSpPr txBox="1"/>
          <p:nvPr/>
        </p:nvSpPr>
        <p:spPr>
          <a:xfrm>
            <a:off x="5724457" y="7175798"/>
            <a:ext cx="1263354" cy="412152"/>
          </a:xfrm>
          <a:prstGeom prst="rect">
            <a:avLst/>
          </a:prstGeom>
          <a:noFill/>
          <a:ln>
            <a:noFill/>
          </a:ln>
        </p:spPr>
        <p:txBody>
          <a:bodyPr wrap="square" lIns="0" tIns="0" rIns="0" bIns="0" rtlCol="0" anchor="ctr">
            <a:noAutofit/>
          </a:bodyPr>
          <a:lstStyle/>
          <a:p>
            <a:pPr algn="ctr" rtl="0">
              <a:lnSpc>
                <a:spcPct val="110000"/>
              </a:lnSpc>
              <a:buNone/>
            </a:pPr>
            <a:r>
              <a:rPr lang="ar-SA" sz="2000" b="1" i="0" dirty="0">
                <a:solidFill>
                  <a:srgbClr val="E8A94E"/>
                </a:solidFill>
                <a:latin typeface="Tahoma"/>
                <a:ea typeface="Tahoma"/>
                <a:cs typeface="Tahoma"/>
              </a:rPr>
              <a:t>ΔT</a:t>
            </a:r>
            <a:r>
              <a:rPr lang="ar-SA" sz="2000" b="1" i="0" baseline="-25000" dirty="0">
                <a:solidFill>
                  <a:srgbClr val="E8A94E"/>
                </a:solidFill>
                <a:latin typeface="Tahoma"/>
                <a:ea typeface="Tahoma"/>
                <a:cs typeface="Tahoma"/>
              </a:rPr>
              <a:t>bp</a:t>
            </a:r>
            <a:endParaRPr lang="ar-SA" sz="2000" b="1" i="0" dirty="0">
              <a:solidFill>
                <a:srgbClr val="E8A94E"/>
              </a:solidFill>
              <a:latin typeface="Tahoma"/>
              <a:ea typeface="Tahoma"/>
              <a:cs typeface="Tahoma"/>
            </a:endParaRPr>
          </a:p>
        </p:txBody>
      </p:sp>
      <p:sp>
        <p:nvSpPr>
          <p:cNvPr id="35" name="Point bp 1"/>
          <p:cNvSpPr txBox="1"/>
          <p:nvPr/>
        </p:nvSpPr>
        <p:spPr>
          <a:xfrm>
            <a:off x="4518615" y="7529691"/>
            <a:ext cx="1591561" cy="275866"/>
          </a:xfrm>
          <a:prstGeom prst="rect">
            <a:avLst/>
          </a:prstGeom>
          <a:noFill/>
          <a:ln>
            <a:noFill/>
          </a:ln>
        </p:spPr>
        <p:txBody>
          <a:bodyPr wrap="square" lIns="0" tIns="0" rIns="0" bIns="0" rtlCol="0" anchor="ctr">
            <a:noAutofit/>
          </a:bodyPr>
          <a:lstStyle/>
          <a:p>
            <a:pPr algn="r" rtl="1">
              <a:lnSpc>
                <a:spcPct val="110000"/>
              </a:lnSpc>
              <a:buNone/>
            </a:pPr>
            <a:r>
              <a:rPr lang="ar-SA" sz="1200" b="1" i="0" dirty="0">
                <a:solidFill>
                  <a:srgbClr val="B9C0C8"/>
                </a:solidFill>
                <a:latin typeface="Tahoma"/>
                <a:ea typeface="Tahoma"/>
                <a:cs typeface="Tahoma"/>
              </a:rPr>
              <a:t>درجة غليان المذيب</a:t>
            </a:r>
          </a:p>
        </p:txBody>
      </p:sp>
      <p:sp>
        <p:nvSpPr>
          <p:cNvPr id="36" name="Point bp 2"/>
          <p:cNvSpPr txBox="1"/>
          <p:nvPr/>
        </p:nvSpPr>
        <p:spPr>
          <a:xfrm>
            <a:off x="5759240" y="7767816"/>
            <a:ext cx="1685703" cy="275866"/>
          </a:xfrm>
          <a:prstGeom prst="rect">
            <a:avLst/>
          </a:prstGeom>
          <a:noFill/>
          <a:ln>
            <a:noFill/>
          </a:ln>
        </p:spPr>
        <p:txBody>
          <a:bodyPr wrap="square" lIns="0" tIns="0" rIns="0" bIns="0" rtlCol="0" anchor="ctr">
            <a:noAutofit/>
          </a:bodyPr>
          <a:lstStyle/>
          <a:p>
            <a:pPr algn="ctr" rtl="1">
              <a:lnSpc>
                <a:spcPct val="110000"/>
              </a:lnSpc>
              <a:buNone/>
            </a:pPr>
            <a:r>
              <a:rPr lang="ar-SA" sz="1200" b="1" i="0" dirty="0">
                <a:solidFill>
                  <a:srgbClr val="B9C0C8"/>
                </a:solidFill>
                <a:latin typeface="Tahoma"/>
                <a:ea typeface="Tahoma"/>
                <a:cs typeface="Tahoma"/>
              </a:rPr>
              <a:t>درجة غليان المحلول</a:t>
            </a:r>
          </a:p>
        </p:txBody>
      </p:sp>
      <p:sp>
        <p:nvSpPr>
          <p:cNvPr id="37" name="Caption"/>
          <p:cNvSpPr txBox="1"/>
          <p:nvPr/>
        </p:nvSpPr>
        <p:spPr>
          <a:xfrm>
            <a:off x="945116" y="8405812"/>
            <a:ext cx="6379534" cy="214312"/>
          </a:xfrm>
          <a:prstGeom prst="rect">
            <a:avLst/>
          </a:prstGeom>
          <a:noFill/>
          <a:ln>
            <a:noFill/>
          </a:ln>
        </p:spPr>
        <p:txBody>
          <a:bodyPr wrap="square" lIns="0" tIns="0" rIns="0" bIns="0" rtlCol="0" anchor="t">
            <a:noAutofit/>
          </a:bodyPr>
          <a:lstStyle/>
          <a:p>
            <a:pPr algn="ctr" rtl="1">
              <a:lnSpc>
                <a:spcPct val="110000"/>
              </a:lnSpc>
              <a:buNone/>
            </a:pPr>
            <a:r>
              <a:rPr lang="ar-SA" sz="1200" b="1" i="0" dirty="0">
                <a:solidFill>
                  <a:srgbClr val="B9C0C8"/>
                </a:solidFill>
                <a:latin typeface="Tahoma"/>
                <a:ea typeface="Tahoma"/>
                <a:cs typeface="Tahoma"/>
              </a:rPr>
              <a:t>شكل (47)</a:t>
            </a:r>
          </a:p>
        </p:txBody>
      </p:sp>
      <p:sp>
        <p:nvSpPr>
          <p:cNvPr id="38" name="Card"/>
          <p:cNvSpPr/>
          <p:nvPr/>
        </p:nvSpPr>
        <p:spPr>
          <a:xfrm>
            <a:off x="7844465" y="1238250"/>
            <a:ext cx="7702697" cy="1987514"/>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100" b="1" i="0" dirty="0">
                <a:solidFill>
                  <a:srgbClr val="F4F6F8"/>
                </a:solidFill>
                <a:latin typeface="Tahoma"/>
                <a:ea typeface="Tahoma"/>
                <a:cs typeface="Tahoma"/>
              </a:rPr>
              <a:t>ترتفع درجة غليان المذيب بإضافة مادة مذابة غير متطايرة، ويتناسب مقدار الارتفاع في درجة الغليان ‪ΔT</a:t>
            </a:r>
            <a:r>
              <a:rPr lang="ar-SA" sz="2100" b="1" i="0" baseline="-25000" dirty="0">
                <a:solidFill>
                  <a:srgbClr val="F4F6F8"/>
                </a:solidFill>
                <a:latin typeface="Tahoma"/>
                <a:ea typeface="Tahoma"/>
                <a:cs typeface="Tahoma"/>
              </a:rPr>
              <a:t>bp</a:t>
            </a:r>
            <a:r>
              <a:rPr lang="ar-SA" sz="2100" b="1" i="0" dirty="0">
                <a:solidFill>
                  <a:srgbClr val="F4F6F8"/>
                </a:solidFill>
                <a:latin typeface="Tahoma"/>
                <a:ea typeface="Tahoma"/>
                <a:cs typeface="Tahoma"/>
              </a:rPr>
              <a:t>‬ تناسبًا طرديًا مع التركيز المولالي، باعتبار أن المذاب مركّب جزيئي وغير أيوني.</a:t>
            </a:r>
          </a:p>
        </p:txBody>
      </p:sp>
      <p:sp>
        <p:nvSpPr>
          <p:cNvPr id="39" name="Card"/>
          <p:cNvSpPr/>
          <p:nvPr/>
        </p:nvSpPr>
        <p:spPr>
          <a:xfrm>
            <a:off x="7844465" y="3416264"/>
            <a:ext cx="7702697" cy="2473677"/>
          </a:xfrm>
          <a:prstGeom prst="roundRect">
            <a:avLst>
              <a:gd name="adj" fmla="val 7000"/>
            </a:avLst>
          </a:prstGeom>
          <a:solidFill>
            <a:srgbClr val="E8A94E">
              <a:alpha val="9000"/>
            </a:srgbClr>
          </a:solidFill>
          <a:ln w="12700" cap="rnd">
            <a:solidFill>
              <a:srgbClr val="E8A94E">
                <a:alpha val="45000"/>
              </a:srgbClr>
            </a:solidFill>
            <a:round/>
          </a:ln>
        </p:spPr>
        <p:txBody>
          <a:bodyPr wrap="square" lIns="259906" tIns="165395" rIns="259906" bIns="165395" rtlCol="0" anchor="t">
            <a:noAutofit/>
          </a:bodyPr>
          <a:lstStyle/>
          <a:p>
            <a:pPr algn="r" rtl="1">
              <a:lnSpc>
                <a:spcPct val="118000"/>
              </a:lnSpc>
              <a:buNone/>
            </a:pPr>
            <a:r>
              <a:rPr lang="ar-SA" sz="2100" b="1" i="0" dirty="0">
                <a:solidFill>
                  <a:srgbClr val="E8A94E"/>
                </a:solidFill>
                <a:latin typeface="Tahoma"/>
                <a:ea typeface="Tahoma"/>
                <a:cs typeface="Tahoma"/>
              </a:rPr>
              <a:t>تعريف ‪ΔT</a:t>
            </a:r>
            <a:r>
              <a:rPr lang="ar-SA" sz="2100" b="1" i="0" baseline="-25000" dirty="0">
                <a:solidFill>
                  <a:srgbClr val="E8A94E"/>
                </a:solidFill>
                <a:latin typeface="Tahoma"/>
                <a:ea typeface="Tahoma"/>
                <a:cs typeface="Tahoma"/>
              </a:rPr>
              <a:t>bp</a:t>
            </a:r>
            <a:r>
              <a:rPr lang="ar-SA" sz="2100" b="1" i="0" dirty="0">
                <a:solidFill>
                  <a:srgbClr val="E8A94E"/>
                </a:solidFill>
                <a:latin typeface="Tahoma"/>
                <a:ea typeface="Tahoma"/>
                <a:cs typeface="Tahoma"/>
              </a:rPr>
              <a:t>‬</a:t>
            </a:r>
            <a:endParaRPr lang="ar-SA" sz="2100" b="1" i="0" dirty="0">
              <a:solidFill>
                <a:srgbClr val="F4F6F8"/>
              </a:solidFill>
              <a:latin typeface="Tahoma"/>
              <a:ea typeface="Tahoma"/>
              <a:cs typeface="Tahoma"/>
            </a:endParaRPr>
          </a:p>
          <a:p>
            <a:pPr algn="r" rtl="1">
              <a:lnSpc>
                <a:spcPct val="118000"/>
              </a:lnSpc>
              <a:spcBef>
                <a:spcPts val="800"/>
              </a:spcBef>
              <a:buNone/>
            </a:pPr>
            <a:r>
              <a:rPr lang="ar-SA" sz="2100" b="1" i="0" dirty="0">
                <a:solidFill>
                  <a:srgbClr val="F4F6F8"/>
                </a:solidFill>
                <a:latin typeface="Tahoma"/>
                <a:ea typeface="Tahoma"/>
                <a:cs typeface="Tahoma"/>
              </a:rPr>
              <a:t>التغيّر في درجة الغليان ‪(ΔT</a:t>
            </a:r>
            <a:r>
              <a:rPr lang="ar-SA" sz="2100" b="1" i="0" baseline="-25000" dirty="0">
                <a:solidFill>
                  <a:srgbClr val="F4F6F8"/>
                </a:solidFill>
                <a:latin typeface="Tahoma"/>
                <a:ea typeface="Tahoma"/>
                <a:cs typeface="Tahoma"/>
              </a:rPr>
              <a:t>bp</a:t>
            </a:r>
            <a:r>
              <a:rPr lang="ar-SA" sz="2100" b="1" i="0" dirty="0">
                <a:solidFill>
                  <a:srgbClr val="F4F6F8"/>
                </a:solidFill>
                <a:latin typeface="Tahoma"/>
                <a:ea typeface="Tahoma"/>
                <a:cs typeface="Tahoma"/>
              </a:rPr>
              <a:t>)‬ هو عبارة عن الارتفاع في درجة غليان المذيب، ويساوي الفرق بين درجة غليان المحلول ودرجة غليان المذيب النقي (شكل 47).</a:t>
            </a:r>
          </a:p>
        </p:txBody>
      </p:sp>
      <p:sp>
        <p:nvSpPr>
          <p:cNvPr id="40" name="Card"/>
          <p:cNvSpPr/>
          <p:nvPr/>
        </p:nvSpPr>
        <p:spPr>
          <a:xfrm>
            <a:off x="7844465" y="6080441"/>
            <a:ext cx="7702697" cy="1595663"/>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918964" rtlCol="0" anchor="t">
            <a:noAutofit/>
          </a:bodyPr>
          <a:lstStyle/>
          <a:p>
            <a:pPr algn="r" rtl="1">
              <a:lnSpc>
                <a:spcPct val="118000"/>
              </a:lnSpc>
              <a:buNone/>
            </a:pPr>
            <a:r>
              <a:rPr lang="ar-SA" sz="2100" b="1" i="0" dirty="0">
                <a:solidFill>
                  <a:srgbClr val="F4F6F8"/>
                </a:solidFill>
                <a:latin typeface="Tahoma"/>
                <a:ea typeface="Tahoma"/>
                <a:cs typeface="Tahoma"/>
              </a:rPr>
              <a:t>والمقدار (m) هو التركيز المولالي للمحلول:</a:t>
            </a:r>
          </a:p>
        </p:txBody>
      </p:sp>
      <p:sp>
        <p:nvSpPr>
          <p:cNvPr id="41" name="Card equation"/>
          <p:cNvSpPr txBox="1"/>
          <p:nvPr/>
        </p:nvSpPr>
        <p:spPr>
          <a:xfrm>
            <a:off x="8104372" y="6869023"/>
            <a:ext cx="7182883" cy="688019"/>
          </a:xfrm>
          <a:prstGeom prst="rect">
            <a:avLst/>
          </a:prstGeom>
          <a:noFill/>
          <a:ln>
            <a:noFill/>
          </a:ln>
        </p:spPr>
        <p:txBody>
          <a:bodyPr wrap="square" lIns="0" tIns="0" rIns="0" bIns="0" rtlCol="0" anchor="ctr">
            <a:noAutofit/>
          </a:bodyPr>
          <a:lstStyle/>
          <a:p>
            <a:pPr algn="ctr" rtl="0">
              <a:lnSpc>
                <a:spcPct val="110000"/>
              </a:lnSpc>
              <a:buNone/>
            </a:pPr>
            <a:r>
              <a:rPr lang="ar-SA" sz="3200" b="1" i="0" dirty="0">
                <a:solidFill>
                  <a:srgbClr val="E8A94E"/>
                </a:solidFill>
                <a:latin typeface="Tahoma"/>
                <a:ea typeface="Tahoma"/>
                <a:cs typeface="Tahoma"/>
              </a:rPr>
              <a:t>ΔT</a:t>
            </a:r>
            <a:r>
              <a:rPr lang="ar-SA" sz="3200" b="1" i="0" baseline="-25000" dirty="0">
                <a:solidFill>
                  <a:srgbClr val="E8A94E"/>
                </a:solidFill>
                <a:latin typeface="Tahoma"/>
                <a:ea typeface="Tahoma"/>
                <a:cs typeface="Tahoma"/>
              </a:rPr>
              <a:t>bp</a:t>
            </a:r>
            <a:r>
              <a:rPr lang="ar-SA" sz="3200" b="1" i="0" dirty="0">
                <a:solidFill>
                  <a:srgbClr val="E8A94E"/>
                </a:solidFill>
                <a:latin typeface="Tahoma"/>
                <a:ea typeface="Tahoma"/>
                <a:cs typeface="Tahoma"/>
              </a:rPr>
              <a:t> ∝ 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5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50"/>
                                        <p:tgtEl>
                                          <p:spTgt spid="18"/>
                                        </p:tgtEl>
                                      </p:cBhvr>
                                    </p:animEffect>
                                  </p:childTnLst>
                                </p:cTn>
                              </p:par>
                            </p:childTnLst>
                          </p:cTn>
                        </p:par>
                        <p:par>
                          <p:cTn id="30" fill="hold">
                            <p:stCondLst>
                              <p:cond delay="970"/>
                            </p:stCondLst>
                            <p:childTnLst>
                              <p:par>
                                <p:cTn id="31" presetID="22" presetClass="entr" presetSubtype="2" fill="hold" grpId="0" nodeType="after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right)">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childTnLst>
                          </p:cTn>
                        </p:par>
                        <p:par>
                          <p:cTn id="37" fill="hold">
                            <p:stCondLst>
                              <p:cond delay="1530"/>
                            </p:stCondLst>
                            <p:childTnLst>
                              <p:par>
                                <p:cTn id="38" presetID="22" presetClass="entr" presetSubtype="2" fill="hold" grpId="0" nodeType="after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right)">
                                      <p:cBhvr>
                                        <p:cTn id="40" dur="65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650"/>
                                        <p:tgtEl>
                                          <p:spTgt spid="22"/>
                                        </p:tgtEl>
                                      </p:cBhvr>
                                    </p:animEffect>
                                  </p:childTnLst>
                                </p:cTn>
                              </p:par>
                            </p:childTnLst>
                          </p:cTn>
                        </p:par>
                        <p:par>
                          <p:cTn id="44" fill="hold">
                            <p:stCondLst>
                              <p:cond delay="2240"/>
                            </p:stCondLst>
                            <p:childTnLst>
                              <p:par>
                                <p:cTn id="45" presetID="22" presetClass="entr" presetSubtype="2" fill="hold" grpId="0"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right)">
                                      <p:cBhvr>
                                        <p:cTn id="47" dur="65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650"/>
                                        <p:tgtEl>
                                          <p:spTgt spid="23"/>
                                        </p:tgtEl>
                                      </p:cBhvr>
                                    </p:animEffect>
                                  </p:childTnLst>
                                </p:cTn>
                              </p:par>
                            </p:childTnLst>
                          </p:cTn>
                        </p:par>
                        <p:par>
                          <p:cTn id="51" fill="hold">
                            <p:stCondLst>
                              <p:cond delay="2950"/>
                            </p:stCondLst>
                            <p:childTnLst>
                              <p:par>
                                <p:cTn id="52" presetID="10" presetClass="entr" presetSubtype="0" fill="hold" grpId="0"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450"/>
                                        <p:tgtEl>
                                          <p:spTgt spid="2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450"/>
                                        <p:tgtEl>
                                          <p:spTgt spid="2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450"/>
                                        <p:tgtEl>
                                          <p:spTgt spid="2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450"/>
                                        <p:tgtEl>
                                          <p:spTgt spid="28"/>
                                        </p:tgtEl>
                                      </p:cBhvr>
                                    </p:animEffect>
                                  </p:childTnLst>
                                </p:cTn>
                              </p:par>
                            </p:childTnLst>
                          </p:cTn>
                        </p:par>
                        <p:par>
                          <p:cTn id="64" fill="hold">
                            <p:stCondLst>
                              <p:cond delay="3460"/>
                            </p:stCondLst>
                            <p:childTnLst>
                              <p:par>
                                <p:cTn id="65" presetID="10" presetClass="entr" presetSubtype="0" fill="hold" grpId="0" nodeType="after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50"/>
                                        <p:tgtEl>
                                          <p:spTgt spid="29"/>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50"/>
                                        <p:tgtEl>
                                          <p:spTgt spid="30"/>
                                        </p:tgtEl>
                                      </p:cBhvr>
                                    </p:animEffect>
                                    <p:anim calcmode="lin" valueType="num">
                                      <p:cBhvr>
                                        <p:cTn id="71" dur="450" fill="hold"/>
                                        <p:tgtEl>
                                          <p:spTgt spid="30"/>
                                        </p:tgtEl>
                                        <p:attrNameLst>
                                          <p:attrName>ppt_w</p:attrName>
                                        </p:attrNameLst>
                                      </p:cBhvr>
                                      <p:tavLst>
                                        <p:tav tm="0">
                                          <p:val>
                                            <p:strVal val="0"/>
                                          </p:val>
                                        </p:tav>
                                        <p:tav tm="100000">
                                          <p:val>
                                            <p:strVal val="#ppt_w"/>
                                          </p:val>
                                        </p:tav>
                                      </p:tavLst>
                                    </p:anim>
                                    <p:anim calcmode="lin" valueType="num">
                                      <p:cBhvr>
                                        <p:cTn id="72" dur="450" fill="hold"/>
                                        <p:tgtEl>
                                          <p:spTgt spid="30"/>
                                        </p:tgtEl>
                                        <p:attrNameLst>
                                          <p:attrName>ppt_h</p:attrName>
                                        </p:attrNameLst>
                                      </p:cBhvr>
                                      <p:tavLst>
                                        <p:tav tm="0">
                                          <p:val>
                                            <p:strVal val="0"/>
                                          </p:val>
                                        </p:tav>
                                        <p:tav tm="100000">
                                          <p:val>
                                            <p:strVal val="#ppt_h"/>
                                          </p:val>
                                        </p:tav>
                                      </p:tavLst>
                                    </p:anim>
                                  </p:childTnLst>
                                </p:cTn>
                              </p:par>
                              <p:par>
                                <p:cTn id="73" presetID="10" presetClass="entr" presetSubtype="0" fill="hold" grpId="0" nodeType="with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450"/>
                                        <p:tgtEl>
                                          <p:spTgt spid="3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2"/>
                                        </p:tgtEl>
                                        <p:attrNameLst>
                                          <p:attrName>style.visibility</p:attrName>
                                        </p:attrNameLst>
                                      </p:cBhvr>
                                      <p:to>
                                        <p:strVal val="visible"/>
                                      </p:to>
                                    </p:set>
                                    <p:animEffect transition="in" filter="fade">
                                      <p:cBhvr>
                                        <p:cTn id="78" dur="450"/>
                                        <p:tgtEl>
                                          <p:spTgt spid="32"/>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450"/>
                                        <p:tgtEl>
                                          <p:spTgt spid="33"/>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450"/>
                                        <p:tgtEl>
                                          <p:spTgt spid="34"/>
                                        </p:tgtEl>
                                      </p:cBhvr>
                                    </p:animEffect>
                                    <p:anim calcmode="lin" valueType="num">
                                      <p:cBhvr>
                                        <p:cTn id="87" dur="450" fill="hold"/>
                                        <p:tgtEl>
                                          <p:spTgt spid="34"/>
                                        </p:tgtEl>
                                        <p:attrNameLst>
                                          <p:attrName>ppt_w</p:attrName>
                                        </p:attrNameLst>
                                      </p:cBhvr>
                                      <p:tavLst>
                                        <p:tav tm="0">
                                          <p:val>
                                            <p:strVal val="0"/>
                                          </p:val>
                                        </p:tav>
                                        <p:tav tm="100000">
                                          <p:val>
                                            <p:strVal val="#ppt_w"/>
                                          </p:val>
                                        </p:tav>
                                      </p:tavLst>
                                    </p:anim>
                                    <p:anim calcmode="lin" valueType="num">
                                      <p:cBhvr>
                                        <p:cTn id="88" dur="450" fill="hold"/>
                                        <p:tgtEl>
                                          <p:spTgt spid="34"/>
                                        </p:tgtEl>
                                        <p:attrNameLst>
                                          <p:attrName>ppt_h</p:attrName>
                                        </p:attrNameLst>
                                      </p:cBhvr>
                                      <p:tavLst>
                                        <p:tav tm="0">
                                          <p:val>
                                            <p:strVal val="0"/>
                                          </p:val>
                                        </p:tav>
                                        <p:tav tm="100000">
                                          <p:val>
                                            <p:strVal val="#ppt_h"/>
                                          </p:val>
                                        </p:tav>
                                      </p:tavLst>
                                    </p:anim>
                                  </p:childTnLst>
                                </p:cTn>
                              </p:par>
                              <p:par>
                                <p:cTn id="89" presetID="10" presetClass="entr" presetSubtype="0" fill="hold" grpId="0" nodeType="withEffect">
                                  <p:stCondLst>
                                    <p:cond delay="0"/>
                                  </p:stCondLst>
                                  <p:childTnLst>
                                    <p:set>
                                      <p:cBhvr>
                                        <p:cTn id="90" dur="1" fill="hold">
                                          <p:stCondLst>
                                            <p:cond delay="0"/>
                                          </p:stCondLst>
                                        </p:cTn>
                                        <p:tgtEl>
                                          <p:spTgt spid="35"/>
                                        </p:tgtEl>
                                        <p:attrNameLst>
                                          <p:attrName>style.visibility</p:attrName>
                                        </p:attrNameLst>
                                      </p:cBhvr>
                                      <p:to>
                                        <p:strVal val="visible"/>
                                      </p:to>
                                    </p:set>
                                    <p:animEffect transition="in" filter="fade">
                                      <p:cBhvr>
                                        <p:cTn id="91" dur="450"/>
                                        <p:tgtEl>
                                          <p:spTgt spid="35"/>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6"/>
                                        </p:tgtEl>
                                        <p:attrNameLst>
                                          <p:attrName>style.visibility</p:attrName>
                                        </p:attrNameLst>
                                      </p:cBhvr>
                                      <p:to>
                                        <p:strVal val="visible"/>
                                      </p:to>
                                    </p:set>
                                    <p:animEffect transition="in" filter="fade">
                                      <p:cBhvr>
                                        <p:cTn id="94" dur="450"/>
                                        <p:tgtEl>
                                          <p:spTgt spid="36"/>
                                        </p:tgtEl>
                                      </p:cBhvr>
                                    </p:animEffect>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grpId="0" nodeType="clickEffect">
                                  <p:stCondLst>
                                    <p:cond delay="0"/>
                                  </p:stCondLst>
                                  <p:childTnLst>
                                    <p:set>
                                      <p:cBhvr>
                                        <p:cTn id="98" dur="1" fill="hold">
                                          <p:stCondLst>
                                            <p:cond delay="0"/>
                                          </p:stCondLst>
                                        </p:cTn>
                                        <p:tgtEl>
                                          <p:spTgt spid="38"/>
                                        </p:tgtEl>
                                        <p:attrNameLst>
                                          <p:attrName>style.visibility</p:attrName>
                                        </p:attrNameLst>
                                      </p:cBhvr>
                                      <p:to>
                                        <p:strVal val="visible"/>
                                      </p:to>
                                    </p:set>
                                    <p:animEffect transition="in" filter="fade">
                                      <p:cBhvr>
                                        <p:cTn id="99" dur="500"/>
                                        <p:tgtEl>
                                          <p:spTgt spid="38"/>
                                        </p:tgtEl>
                                      </p:cBhvr>
                                    </p:animEffect>
                                    <p:anim calcmode="lin" valueType="num">
                                      <p:cBhvr>
                                        <p:cTn id="100" dur="500" fill="hold"/>
                                        <p:tgtEl>
                                          <p:spTgt spid="38"/>
                                        </p:tgtEl>
                                        <p:attrNameLst>
                                          <p:attrName>ppt_x</p:attrName>
                                        </p:attrNameLst>
                                      </p:cBhvr>
                                      <p:tavLst>
                                        <p:tav tm="0">
                                          <p:val>
                                            <p:strVal val="#ppt_x"/>
                                          </p:val>
                                        </p:tav>
                                        <p:tav tm="100000">
                                          <p:val>
                                            <p:strVal val="#ppt_x"/>
                                          </p:val>
                                        </p:tav>
                                      </p:tavLst>
                                    </p:anim>
                                    <p:anim calcmode="lin" valueType="num">
                                      <p:cBhvr>
                                        <p:cTn id="101" dur="5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grpId="0" nodeType="clickEffect">
                                  <p:stCondLst>
                                    <p:cond delay="0"/>
                                  </p:stCondLst>
                                  <p:childTnLst>
                                    <p:set>
                                      <p:cBhvr>
                                        <p:cTn id="105" dur="1" fill="hold">
                                          <p:stCondLst>
                                            <p:cond delay="0"/>
                                          </p:stCondLst>
                                        </p:cTn>
                                        <p:tgtEl>
                                          <p:spTgt spid="39"/>
                                        </p:tgtEl>
                                        <p:attrNameLst>
                                          <p:attrName>style.visibility</p:attrName>
                                        </p:attrNameLst>
                                      </p:cBhvr>
                                      <p:to>
                                        <p:strVal val="visible"/>
                                      </p:to>
                                    </p:set>
                                    <p:animEffect transition="in" filter="fade">
                                      <p:cBhvr>
                                        <p:cTn id="106" dur="500"/>
                                        <p:tgtEl>
                                          <p:spTgt spid="39"/>
                                        </p:tgtEl>
                                      </p:cBhvr>
                                    </p:animEffect>
                                    <p:anim calcmode="lin" valueType="num">
                                      <p:cBhvr>
                                        <p:cTn id="107" dur="500" fill="hold"/>
                                        <p:tgtEl>
                                          <p:spTgt spid="39"/>
                                        </p:tgtEl>
                                        <p:attrNameLst>
                                          <p:attrName>ppt_x</p:attrName>
                                        </p:attrNameLst>
                                      </p:cBhvr>
                                      <p:tavLst>
                                        <p:tav tm="0">
                                          <p:val>
                                            <p:strVal val="#ppt_x"/>
                                          </p:val>
                                        </p:tav>
                                        <p:tav tm="100000">
                                          <p:val>
                                            <p:strVal val="#ppt_x"/>
                                          </p:val>
                                        </p:tav>
                                      </p:tavLst>
                                    </p:anim>
                                    <p:anim calcmode="lin" valueType="num">
                                      <p:cBhvr>
                                        <p:cTn id="108" dur="5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40"/>
                                        </p:tgtEl>
                                        <p:attrNameLst>
                                          <p:attrName>style.visibility</p:attrName>
                                        </p:attrNameLst>
                                      </p:cBhvr>
                                      <p:to>
                                        <p:strVal val="visible"/>
                                      </p:to>
                                    </p:set>
                                    <p:animEffect transition="in" filter="fade">
                                      <p:cBhvr>
                                        <p:cTn id="113" dur="500"/>
                                        <p:tgtEl>
                                          <p:spTgt spid="40"/>
                                        </p:tgtEl>
                                      </p:cBhvr>
                                    </p:animEffect>
                                    <p:anim calcmode="lin" valueType="num">
                                      <p:cBhvr>
                                        <p:cTn id="114" dur="500" fill="hold"/>
                                        <p:tgtEl>
                                          <p:spTgt spid="40"/>
                                        </p:tgtEl>
                                        <p:attrNameLst>
                                          <p:attrName>ppt_x</p:attrName>
                                        </p:attrNameLst>
                                      </p:cBhvr>
                                      <p:tavLst>
                                        <p:tav tm="0">
                                          <p:val>
                                            <p:strVal val="#ppt_x"/>
                                          </p:val>
                                        </p:tav>
                                        <p:tav tm="100000">
                                          <p:val>
                                            <p:strVal val="#ppt_x"/>
                                          </p:val>
                                        </p:tav>
                                      </p:tavLst>
                                    </p:anim>
                                    <p:anim calcmode="lin" valueType="num">
                                      <p:cBhvr>
                                        <p:cTn id="115" dur="500" fill="hold"/>
                                        <p:tgtEl>
                                          <p:spTgt spid="40"/>
                                        </p:tgtEl>
                                        <p:attrNameLst>
                                          <p:attrName>ppt_y</p:attrName>
                                        </p:attrNameLst>
                                      </p:cBhvr>
                                      <p:tavLst>
                                        <p:tav tm="0">
                                          <p:val>
                                            <p:strVal val="#ppt_y+.1"/>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500"/>
                                        <p:tgtEl>
                                          <p:spTgt spid="41"/>
                                        </p:tgtEl>
                                      </p:cBhvr>
                                    </p:animEffect>
                                    <p:anim calcmode="lin" valueType="num">
                                      <p:cBhvr>
                                        <p:cTn id="119" dur="500" fill="hold"/>
                                        <p:tgtEl>
                                          <p:spTgt spid="41"/>
                                        </p:tgtEl>
                                        <p:attrNameLst>
                                          <p:attrName>ppt_x</p:attrName>
                                        </p:attrNameLst>
                                      </p:cBhvr>
                                      <p:tavLst>
                                        <p:tav tm="0">
                                          <p:val>
                                            <p:strVal val="#ppt_x"/>
                                          </p:val>
                                        </p:tav>
                                        <p:tav tm="100000">
                                          <p:val>
                                            <p:strVal val="#ppt_x"/>
                                          </p:val>
                                        </p:tav>
                                      </p:tavLst>
                                    </p:anim>
                                    <p:anim calcmode="lin" valueType="num">
                                      <p:cBhvr>
                                        <p:cTn id="120"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8" grpId="0" animBg="1"/>
      <p:bldP spid="39" grpId="0" animBg="1"/>
      <p:bldP spid="40" grpId="0" animBg="1"/>
      <p:bldP spid="4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F4F6F8"/>
                </a:solidFill>
                <a:latin typeface="Tahoma"/>
                <a:ea typeface="Tahoma"/>
                <a:cs typeface="Tahoma"/>
              </a:rPr>
              <a:t>ثابت الغليان المولالي ‪K</a:t>
            </a:r>
            <a:r>
              <a:rPr lang="ar-SA" sz="3400" b="1" i="0" baseline="-25000" dirty="0">
                <a:solidFill>
                  <a:srgbClr val="F4F6F8"/>
                </a:solidFill>
                <a:latin typeface="Tahoma"/>
                <a:ea typeface="Tahoma"/>
                <a:cs typeface="Tahoma"/>
              </a:rPr>
              <a:t>bp</a:t>
            </a:r>
            <a:r>
              <a:rPr lang="ar-SA" sz="3400" b="1" i="0" dirty="0">
                <a:solidFill>
                  <a:srgbClr val="F4F6F8"/>
                </a:solidFill>
                <a:latin typeface="Tahoma"/>
                <a:ea typeface="Tahoma"/>
                <a:cs typeface="Tahoma"/>
              </a:rPr>
              <a:t>‬</a:t>
            </a:r>
          </a:p>
        </p:txBody>
      </p:sp>
      <p:sp>
        <p:nvSpPr>
          <p:cNvPr id="12" name="Chip"/>
          <p:cNvSpPr/>
          <p:nvPr/>
        </p:nvSpPr>
        <p:spPr>
          <a:xfrm>
            <a:off x="708837" y="452437"/>
            <a:ext cx="2480930" cy="404812"/>
          </a:xfrm>
          <a:prstGeom prst="roundRect">
            <a:avLst>
              <a:gd name="adj" fmla="val 50000"/>
            </a:avLst>
          </a:prstGeom>
          <a:solidFill>
            <a:srgbClr val="E8A94E">
              <a:alpha val="12000"/>
            </a:srgbClr>
          </a:solidFill>
          <a:ln w="12700" cap="rnd">
            <a:solidFill>
              <a:srgbClr val="E8A94E">
                <a:alpha val="70000"/>
              </a:srgbClr>
            </a:solidFill>
            <a:round/>
          </a:ln>
        </p:spPr>
        <p:txBody>
          <a:bodyPr wrap="square" lIns="0" tIns="0" rIns="0" bIns="0" rtlCol="0" anchor="ctr">
            <a:noAutofit/>
          </a:bodyPr>
          <a:lstStyle/>
          <a:p>
            <a:pPr algn="ctr" rtl="1">
              <a:lnSpc>
                <a:spcPct val="110000"/>
              </a:lnSpc>
              <a:buNone/>
            </a:pPr>
            <a:r>
              <a:rPr lang="ar-SA" sz="1400" b="1" i="0" dirty="0">
                <a:solidFill>
                  <a:srgbClr val="E8A94E"/>
                </a:solidFill>
                <a:latin typeface="Tahoma"/>
                <a:ea typeface="Tahoma"/>
                <a:cs typeface="Tahoma"/>
              </a:rPr>
              <a:t>الحصة الثانية</a:t>
            </a:r>
          </a:p>
        </p:txBody>
      </p:sp>
      <p:sp>
        <p:nvSpPr>
          <p:cNvPr id="13" name="Card"/>
          <p:cNvSpPr/>
          <p:nvPr/>
        </p:nvSpPr>
        <p:spPr>
          <a:xfrm>
            <a:off x="708837" y="1262062"/>
            <a:ext cx="14838325" cy="854481"/>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200" b="1" i="0" dirty="0">
                <a:solidFill>
                  <a:srgbClr val="F4F6F8"/>
                </a:solidFill>
                <a:latin typeface="Tahoma"/>
                <a:ea typeface="Tahoma"/>
                <a:cs typeface="Tahoma"/>
              </a:rPr>
              <a:t>وعند حذف علامة التناسب ‪(∝)‬ ووضع مقدار ثابت ‪K</a:t>
            </a:r>
            <a:r>
              <a:rPr lang="ar-SA" sz="2200" b="1" i="0" baseline="-25000" dirty="0">
                <a:solidFill>
                  <a:srgbClr val="F4F6F8"/>
                </a:solidFill>
                <a:latin typeface="Tahoma"/>
                <a:ea typeface="Tahoma"/>
                <a:cs typeface="Tahoma"/>
              </a:rPr>
              <a:t>bp</a:t>
            </a:r>
            <a:r>
              <a:rPr lang="ar-SA" sz="2200" b="1" i="0" dirty="0">
                <a:solidFill>
                  <a:srgbClr val="F4F6F8"/>
                </a:solidFill>
                <a:latin typeface="Tahoma"/>
                <a:ea typeface="Tahoma"/>
                <a:cs typeface="Tahoma"/>
              </a:rPr>
              <a:t>‬ في العلاقة السابقة، نحصل على المعادلة التالية:</a:t>
            </a:r>
          </a:p>
        </p:txBody>
      </p:sp>
      <p:sp>
        <p:nvSpPr>
          <p:cNvPr id="14" name="Equation"/>
          <p:cNvSpPr/>
          <p:nvPr/>
        </p:nvSpPr>
        <p:spPr>
          <a:xfrm>
            <a:off x="4393129" y="2307043"/>
            <a:ext cx="7469741" cy="1059135"/>
          </a:xfrm>
          <a:prstGeom prst="roundRect">
            <a:avLst>
              <a:gd name="adj" fmla="val 18000"/>
            </a:avLst>
          </a:prstGeom>
          <a:solidFill>
            <a:srgbClr val="E8A94E">
              <a:alpha val="10000"/>
            </a:srgbClr>
          </a:solidFill>
          <a:ln w="22225" cap="rnd">
            <a:solidFill>
              <a:srgbClr val="E8A94E">
                <a:alpha val="85000"/>
              </a:srgbClr>
            </a:solidFill>
            <a:round/>
          </a:ln>
        </p:spPr>
        <p:txBody>
          <a:bodyPr wrap="square" lIns="0" tIns="0" rIns="0" bIns="0" rtlCol="0" anchor="ctr">
            <a:noAutofit/>
          </a:bodyPr>
          <a:lstStyle/>
          <a:p>
            <a:pPr algn="ctr" rtl="0">
              <a:lnSpc>
                <a:spcPct val="110000"/>
              </a:lnSpc>
              <a:buNone/>
            </a:pPr>
            <a:r>
              <a:rPr lang="ar-SA" sz="4400" b="1" i="0" dirty="0">
                <a:solidFill>
                  <a:srgbClr val="E8A94E"/>
                </a:solidFill>
                <a:latin typeface="Tahoma"/>
                <a:ea typeface="Tahoma"/>
                <a:cs typeface="Tahoma"/>
              </a:rPr>
              <a:t>ΔT</a:t>
            </a:r>
            <a:r>
              <a:rPr lang="ar-SA" sz="4400" b="1" i="0" baseline="-25000" dirty="0">
                <a:solidFill>
                  <a:srgbClr val="E8A94E"/>
                </a:solidFill>
                <a:latin typeface="Tahoma"/>
                <a:ea typeface="Tahoma"/>
                <a:cs typeface="Tahoma"/>
              </a:rPr>
              <a:t>bp</a:t>
            </a:r>
            <a:r>
              <a:rPr lang="ar-SA" sz="4400" b="1" i="0" dirty="0">
                <a:solidFill>
                  <a:srgbClr val="E8A94E"/>
                </a:solidFill>
                <a:latin typeface="Tahoma"/>
                <a:ea typeface="Tahoma"/>
                <a:cs typeface="Tahoma"/>
              </a:rPr>
              <a:t> = K</a:t>
            </a:r>
            <a:r>
              <a:rPr lang="ar-SA" sz="4400" b="1" i="0" baseline="-25000" dirty="0">
                <a:solidFill>
                  <a:srgbClr val="E8A94E"/>
                </a:solidFill>
                <a:latin typeface="Tahoma"/>
                <a:ea typeface="Tahoma"/>
                <a:cs typeface="Tahoma"/>
              </a:rPr>
              <a:t>bp</a:t>
            </a:r>
            <a:r>
              <a:rPr lang="ar-SA" sz="4400" b="1" i="0" dirty="0">
                <a:solidFill>
                  <a:srgbClr val="E8A94E"/>
                </a:solidFill>
                <a:latin typeface="Tahoma"/>
                <a:ea typeface="Tahoma"/>
                <a:cs typeface="Tahoma"/>
              </a:rPr>
              <a:t> × m</a:t>
            </a:r>
          </a:p>
        </p:txBody>
      </p:sp>
      <p:sp>
        <p:nvSpPr>
          <p:cNvPr id="15" name="Definition card"/>
          <p:cNvSpPr/>
          <p:nvPr/>
        </p:nvSpPr>
        <p:spPr>
          <a:xfrm>
            <a:off x="708837" y="3628117"/>
            <a:ext cx="14838325" cy="2951567"/>
          </a:xfrm>
          <a:prstGeom prst="roundRect">
            <a:avLst>
              <a:gd name="adj" fmla="val 6000"/>
            </a:avLst>
          </a:prstGeom>
          <a:solidFill>
            <a:srgbClr val="E8A94E">
              <a:alpha val="7000"/>
            </a:srgbClr>
          </a:solidFill>
          <a:ln w="15875" cap="rnd">
            <a:solidFill>
              <a:srgbClr val="E8A94E">
                <a:alpha val="60000"/>
              </a:srgbClr>
            </a:solidFill>
            <a:round/>
          </a:ln>
        </p:spPr>
        <p:txBody>
          <a:bodyPr rtlCol="0" anchor="ctr"/>
          <a:lstStyle/>
          <a:p>
            <a:endParaRPr lang="ar-SA"/>
          </a:p>
        </p:txBody>
      </p:sp>
      <p:sp>
        <p:nvSpPr>
          <p:cNvPr id="16" name="Symbol"/>
          <p:cNvSpPr/>
          <p:nvPr/>
        </p:nvSpPr>
        <p:spPr>
          <a:xfrm>
            <a:off x="13231627" y="3866242"/>
            <a:ext cx="2008372" cy="976312"/>
          </a:xfrm>
          <a:prstGeom prst="roundRect">
            <a:avLst>
              <a:gd name="adj" fmla="val 22000"/>
            </a:avLst>
          </a:prstGeom>
          <a:solidFill>
            <a:srgbClr val="E8A94E"/>
          </a:solidFill>
          <a:ln>
            <a:noFill/>
          </a:ln>
        </p:spPr>
        <p:txBody>
          <a:bodyPr wrap="square" lIns="0" tIns="0" rIns="0" bIns="0" rtlCol="0" anchor="ctr">
            <a:noAutofit/>
          </a:bodyPr>
          <a:lstStyle/>
          <a:p>
            <a:pPr algn="ctr" rtl="0">
              <a:lnSpc>
                <a:spcPct val="110000"/>
              </a:lnSpc>
              <a:buNone/>
            </a:pPr>
            <a:r>
              <a:rPr lang="ar-SA" sz="4000" b="1" i="0" dirty="0">
                <a:solidFill>
                  <a:srgbClr val="1A1D22"/>
                </a:solidFill>
                <a:latin typeface="Tahoma"/>
                <a:ea typeface="Tahoma"/>
                <a:cs typeface="Tahoma"/>
              </a:rPr>
              <a:t>K</a:t>
            </a:r>
            <a:r>
              <a:rPr lang="ar-SA" sz="4000" b="1" i="0" baseline="-25000" dirty="0">
                <a:solidFill>
                  <a:srgbClr val="1A1D22"/>
                </a:solidFill>
                <a:latin typeface="Tahoma"/>
                <a:ea typeface="Tahoma"/>
                <a:cs typeface="Tahoma"/>
              </a:rPr>
              <a:t>bp</a:t>
            </a:r>
            <a:endParaRPr lang="ar-SA" sz="4000" b="1" i="0" dirty="0">
              <a:solidFill>
                <a:srgbClr val="1A1D22"/>
              </a:solidFill>
              <a:latin typeface="Tahoma"/>
              <a:ea typeface="Tahoma"/>
              <a:cs typeface="Tahoma"/>
            </a:endParaRPr>
          </a:p>
        </p:txBody>
      </p:sp>
      <p:sp>
        <p:nvSpPr>
          <p:cNvPr id="17" name="Name"/>
          <p:cNvSpPr txBox="1"/>
          <p:nvPr/>
        </p:nvSpPr>
        <p:spPr>
          <a:xfrm>
            <a:off x="1016000" y="3866242"/>
            <a:ext cx="11932093" cy="523875"/>
          </a:xfrm>
          <a:prstGeom prst="rect">
            <a:avLst/>
          </a:prstGeom>
          <a:noFill/>
          <a:ln>
            <a:noFill/>
          </a:ln>
        </p:spPr>
        <p:txBody>
          <a:bodyPr wrap="square" lIns="0" tIns="0" rIns="0" bIns="0" rtlCol="0" anchor="ctr">
            <a:noAutofit/>
          </a:bodyPr>
          <a:lstStyle/>
          <a:p>
            <a:pPr algn="r" rtl="1">
              <a:lnSpc>
                <a:spcPct val="110000"/>
              </a:lnSpc>
              <a:buNone/>
            </a:pPr>
            <a:r>
              <a:rPr lang="ar-SA" sz="3000" b="1" i="0" dirty="0">
                <a:solidFill>
                  <a:srgbClr val="F4F6F8"/>
                </a:solidFill>
                <a:latin typeface="Tahoma"/>
                <a:ea typeface="Tahoma"/>
                <a:cs typeface="Tahoma"/>
              </a:rPr>
              <a:t>ثابت الغليان المولالي أو الجزيئي</a:t>
            </a:r>
          </a:p>
        </p:txBody>
      </p:sp>
      <p:sp>
        <p:nvSpPr>
          <p:cNvPr id="18" name="English name"/>
          <p:cNvSpPr txBox="1"/>
          <p:nvPr/>
        </p:nvSpPr>
        <p:spPr>
          <a:xfrm>
            <a:off x="1016000" y="4390117"/>
            <a:ext cx="11932093" cy="452437"/>
          </a:xfrm>
          <a:prstGeom prst="rect">
            <a:avLst/>
          </a:prstGeom>
          <a:noFill/>
          <a:ln>
            <a:noFill/>
          </a:ln>
        </p:spPr>
        <p:txBody>
          <a:bodyPr wrap="square" lIns="0" tIns="0" rIns="0" bIns="0" rtlCol="0" anchor="ctr">
            <a:noAutofit/>
          </a:bodyPr>
          <a:lstStyle/>
          <a:p>
            <a:pPr algn="r" rtl="0">
              <a:lnSpc>
                <a:spcPct val="110000"/>
              </a:lnSpc>
              <a:buNone/>
            </a:pPr>
            <a:r>
              <a:rPr lang="ar-SA" sz="1800" b="1" i="0" dirty="0">
                <a:solidFill>
                  <a:srgbClr val="B9C0C8"/>
                </a:solidFill>
                <a:latin typeface="Tahoma"/>
                <a:ea typeface="Tahoma"/>
                <a:cs typeface="Tahoma"/>
              </a:rPr>
              <a:t>Molal Boiling-Point Elevation Constant</a:t>
            </a:r>
          </a:p>
        </p:txBody>
      </p:sp>
      <p:sp>
        <p:nvSpPr>
          <p:cNvPr id="19" name="Definition"/>
          <p:cNvSpPr txBox="1"/>
          <p:nvPr/>
        </p:nvSpPr>
        <p:spPr>
          <a:xfrm>
            <a:off x="1016000" y="5080679"/>
            <a:ext cx="14224000" cy="498880"/>
          </a:xfrm>
          <a:prstGeom prst="rect">
            <a:avLst/>
          </a:prstGeom>
          <a:noFill/>
          <a:ln>
            <a:noFill/>
          </a:ln>
        </p:spPr>
        <p:txBody>
          <a:bodyPr wrap="square" lIns="0" tIns="0" rIns="0" bIns="0" rtlCol="0" anchor="t">
            <a:noAutofit/>
          </a:bodyPr>
          <a:lstStyle/>
          <a:p>
            <a:pPr algn="r" rtl="1">
              <a:lnSpc>
                <a:spcPct val="120000"/>
              </a:lnSpc>
              <a:buNone/>
            </a:pPr>
            <a:r>
              <a:rPr lang="ar-SA" sz="2300" b="1" i="0" dirty="0">
                <a:solidFill>
                  <a:srgbClr val="E8A94E"/>
                </a:solidFill>
                <a:latin typeface="Tahoma"/>
                <a:ea typeface="Tahoma"/>
                <a:cs typeface="Tahoma"/>
              </a:rPr>
              <a:t>التعريف:</a:t>
            </a:r>
            <a:r>
              <a:rPr lang="ar-SA" sz="2300" b="1" i="0" dirty="0">
                <a:solidFill>
                  <a:srgbClr val="F4F6F8"/>
                </a:solidFill>
                <a:latin typeface="Tahoma"/>
                <a:ea typeface="Tahoma"/>
                <a:cs typeface="Tahoma"/>
              </a:rPr>
              <a:t> يساوي التغيّر في درجة غليان محلول تركيزه المولالي واحد لمذاب جزيئي وغير متطاير.</a:t>
            </a:r>
          </a:p>
        </p:txBody>
      </p:sp>
      <p:sp>
        <p:nvSpPr>
          <p:cNvPr id="20" name="Property 1"/>
          <p:cNvSpPr/>
          <p:nvPr/>
        </p:nvSpPr>
        <p:spPr>
          <a:xfrm>
            <a:off x="10727808" y="5722435"/>
            <a:ext cx="4512191" cy="547687"/>
          </a:xfrm>
          <a:prstGeom prst="roundRect">
            <a:avLst>
              <a:gd name="adj" fmla="val 50000"/>
            </a:avLst>
          </a:prstGeom>
          <a:solidFill>
            <a:srgbClr val="E8A94E">
              <a:alpha val="12000"/>
            </a:srgbClr>
          </a:solidFill>
          <a:ln w="12700" cap="rnd">
            <a:solidFill>
              <a:srgbClr val="E8A94E">
                <a:alpha val="80000"/>
              </a:srgbClr>
            </a:solidFill>
            <a:round/>
          </a:ln>
        </p:spPr>
        <p:txBody>
          <a:bodyPr wrap="square" lIns="0" tIns="0" rIns="0" bIns="0" rtlCol="0" anchor="ctr">
            <a:noAutofit/>
          </a:bodyPr>
          <a:lstStyle/>
          <a:p>
            <a:pPr algn="ctr" rtl="1">
              <a:lnSpc>
                <a:spcPct val="110000"/>
              </a:lnSpc>
              <a:buNone/>
            </a:pPr>
            <a:r>
              <a:rPr lang="ar-SA" sz="2000" b="1" i="0" dirty="0">
                <a:solidFill>
                  <a:srgbClr val="E8A94E"/>
                </a:solidFill>
                <a:latin typeface="Tahoma"/>
                <a:ea typeface="Tahoma"/>
                <a:cs typeface="Tahoma"/>
              </a:rPr>
              <a:t>تعتمد قيمته على: نوعية المذيب</a:t>
            </a:r>
          </a:p>
        </p:txBody>
      </p:sp>
      <p:sp>
        <p:nvSpPr>
          <p:cNvPr id="21" name="Property 2"/>
          <p:cNvSpPr/>
          <p:nvPr/>
        </p:nvSpPr>
        <p:spPr>
          <a:xfrm>
            <a:off x="8292841" y="5722435"/>
            <a:ext cx="2222315" cy="547687"/>
          </a:xfrm>
          <a:prstGeom prst="roundRect">
            <a:avLst>
              <a:gd name="adj" fmla="val 50000"/>
            </a:avLst>
          </a:prstGeom>
          <a:solidFill>
            <a:srgbClr val="E8A94E">
              <a:alpha val="12000"/>
            </a:srgbClr>
          </a:solidFill>
          <a:ln w="12700" cap="rnd">
            <a:solidFill>
              <a:srgbClr val="E8A94E">
                <a:alpha val="80000"/>
              </a:srgbClr>
            </a:solidFill>
            <a:round/>
          </a:ln>
        </p:spPr>
        <p:txBody>
          <a:bodyPr wrap="square" lIns="0" tIns="0" rIns="0" bIns="0" rtlCol="0" anchor="ctr">
            <a:noAutofit/>
          </a:bodyPr>
          <a:lstStyle/>
          <a:p>
            <a:pPr algn="ctr" rtl="1">
              <a:lnSpc>
                <a:spcPct val="110000"/>
              </a:lnSpc>
              <a:buNone/>
            </a:pPr>
            <a:r>
              <a:rPr lang="ar-SA" sz="2000" b="1" i="0" dirty="0">
                <a:solidFill>
                  <a:srgbClr val="E8A94E"/>
                </a:solidFill>
                <a:latin typeface="Tahoma"/>
                <a:ea typeface="Tahoma"/>
                <a:cs typeface="Tahoma"/>
              </a:rPr>
              <a:t>وحدته: ‪°C/m‬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50"/>
                                        <p:tgtEl>
                                          <p:spTgt spid="14"/>
                                        </p:tgtEl>
                                      </p:cBhvr>
                                    </p:animEffect>
                                    <p:anim calcmode="lin" valueType="num">
                                      <p:cBhvr>
                                        <p:cTn id="20" dur="550" fill="hold"/>
                                        <p:tgtEl>
                                          <p:spTgt spid="14"/>
                                        </p:tgtEl>
                                        <p:attrNameLst>
                                          <p:attrName>ppt_w</p:attrName>
                                        </p:attrNameLst>
                                      </p:cBhvr>
                                      <p:tavLst>
                                        <p:tav tm="0">
                                          <p:val>
                                            <p:strVal val="0"/>
                                          </p:val>
                                        </p:tav>
                                        <p:tav tm="100000">
                                          <p:val>
                                            <p:strVal val="#ppt_w"/>
                                          </p:val>
                                        </p:tav>
                                      </p:tavLst>
                                    </p:anim>
                                    <p:anim calcmode="lin" valueType="num">
                                      <p:cBhvr>
                                        <p:cTn id="21" dur="550" fill="hold"/>
                                        <p:tgtEl>
                                          <p:spTgt spid="14"/>
                                        </p:tgtEl>
                                        <p:attrNameLst>
                                          <p:attrName>ppt_h</p:attrName>
                                        </p:attrNameLst>
                                      </p:cBhvr>
                                      <p:tavLst>
                                        <p:tav tm="0">
                                          <p:val>
                                            <p:str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anim calcmode="lin" valueType="num">
                                      <p:cBhvr>
                                        <p:cTn id="30" dur="500" fill="hold"/>
                                        <p:tgtEl>
                                          <p:spTgt spid="16"/>
                                        </p:tgtEl>
                                        <p:attrNameLst>
                                          <p:attrName>ppt_w</p:attrName>
                                        </p:attrNameLst>
                                      </p:cBhvr>
                                      <p:tavLst>
                                        <p:tav tm="0">
                                          <p:val>
                                            <p:strVal val="0"/>
                                          </p:val>
                                        </p:tav>
                                        <p:tav tm="100000">
                                          <p:val>
                                            <p:strVal val="#ppt_w"/>
                                          </p:val>
                                        </p:tav>
                                      </p:tavLst>
                                    </p:anim>
                                    <p:anim calcmode="lin" valueType="num">
                                      <p:cBhvr>
                                        <p:cTn id="31" dur="500" fill="hold"/>
                                        <p:tgtEl>
                                          <p:spTgt spid="16"/>
                                        </p:tgtEl>
                                        <p:attrNameLst>
                                          <p:attrName>ppt_h</p:attrName>
                                        </p:attrNameLst>
                                      </p:cBhvr>
                                      <p:tavLst>
                                        <p:tav tm="0">
                                          <p:val>
                                            <p:strVal val="0"/>
                                          </p:val>
                                        </p:tav>
                                        <p:tav tm="100000">
                                          <p:val>
                                            <p:strVal val="#ppt_h"/>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anim calcmode="lin" valueType="num">
                                      <p:cBhvr>
                                        <p:cTn id="35" dur="500" fill="hold"/>
                                        <p:tgtEl>
                                          <p:spTgt spid="17"/>
                                        </p:tgtEl>
                                        <p:attrNameLst>
                                          <p:attrName>ppt_x</p:attrName>
                                        </p:attrNameLst>
                                      </p:cBhvr>
                                      <p:tavLst>
                                        <p:tav tm="0">
                                          <p:val>
                                            <p:strVal val="#ppt_x"/>
                                          </p:val>
                                        </p:tav>
                                        <p:tav tm="100000">
                                          <p:val>
                                            <p:strVal val="#ppt_x"/>
                                          </p:val>
                                        </p:tav>
                                      </p:tavLst>
                                    </p:anim>
                                    <p:anim calcmode="lin" valueType="num">
                                      <p:cBhvr>
                                        <p:cTn id="36" dur="500" fill="hold"/>
                                        <p:tgtEl>
                                          <p:spTgt spid="17"/>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500"/>
                                        <p:tgtEl>
                                          <p:spTgt spid="18"/>
                                        </p:tgtEl>
                                      </p:cBhvr>
                                    </p:animEffect>
                                    <p:anim calcmode="lin" valueType="num">
                                      <p:cBhvr>
                                        <p:cTn id="40" dur="500" fill="hold"/>
                                        <p:tgtEl>
                                          <p:spTgt spid="18"/>
                                        </p:tgtEl>
                                        <p:attrNameLst>
                                          <p:attrName>ppt_x</p:attrName>
                                        </p:attrNameLst>
                                      </p:cBhvr>
                                      <p:tavLst>
                                        <p:tav tm="0">
                                          <p:val>
                                            <p:strVal val="#ppt_x"/>
                                          </p:val>
                                        </p:tav>
                                        <p:tav tm="100000">
                                          <p:val>
                                            <p:strVal val="#ppt_x"/>
                                          </p:val>
                                        </p:tav>
                                      </p:tavLst>
                                    </p:anim>
                                    <p:anim calcmode="lin" valueType="num">
                                      <p:cBhvr>
                                        <p:cTn id="41"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500"/>
                                        <p:tgtEl>
                                          <p:spTgt spid="19"/>
                                        </p:tgtEl>
                                      </p:cBhvr>
                                    </p:animEffect>
                                    <p:anim calcmode="lin" valueType="num">
                                      <p:cBhvr>
                                        <p:cTn id="47" dur="500" fill="hold"/>
                                        <p:tgtEl>
                                          <p:spTgt spid="19"/>
                                        </p:tgtEl>
                                        <p:attrNameLst>
                                          <p:attrName>ppt_x</p:attrName>
                                        </p:attrNameLst>
                                      </p:cBhvr>
                                      <p:tavLst>
                                        <p:tav tm="0">
                                          <p:val>
                                            <p:strVal val="#ppt_x"/>
                                          </p:val>
                                        </p:tav>
                                        <p:tav tm="100000">
                                          <p:val>
                                            <p:strVal val="#ppt_x"/>
                                          </p:val>
                                        </p:tav>
                                      </p:tavLst>
                                    </p:anim>
                                    <p:anim calcmode="lin" valueType="num">
                                      <p:cBhvr>
                                        <p:cTn id="48"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50"/>
                                        <p:tgtEl>
                                          <p:spTgt spid="20"/>
                                        </p:tgtEl>
                                      </p:cBhvr>
                                    </p:animEffect>
                                    <p:anim calcmode="lin" valueType="num">
                                      <p:cBhvr>
                                        <p:cTn id="54" dur="450" fill="hold"/>
                                        <p:tgtEl>
                                          <p:spTgt spid="20"/>
                                        </p:tgtEl>
                                        <p:attrNameLst>
                                          <p:attrName>ppt_w</p:attrName>
                                        </p:attrNameLst>
                                      </p:cBhvr>
                                      <p:tavLst>
                                        <p:tav tm="0">
                                          <p:val>
                                            <p:strVal val="0"/>
                                          </p:val>
                                        </p:tav>
                                        <p:tav tm="100000">
                                          <p:val>
                                            <p:strVal val="#ppt_w"/>
                                          </p:val>
                                        </p:tav>
                                      </p:tavLst>
                                    </p:anim>
                                    <p:anim calcmode="lin" valueType="num">
                                      <p:cBhvr>
                                        <p:cTn id="55" dur="450" fill="hold"/>
                                        <p:tgtEl>
                                          <p:spTgt spid="20"/>
                                        </p:tgtEl>
                                        <p:attrNameLst>
                                          <p:attrName>ppt_h</p:attrName>
                                        </p:attrNameLst>
                                      </p:cBhvr>
                                      <p:tavLst>
                                        <p:tav tm="0">
                                          <p:val>
                                            <p:strVal val="0"/>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450"/>
                                        <p:tgtEl>
                                          <p:spTgt spid="21"/>
                                        </p:tgtEl>
                                      </p:cBhvr>
                                    </p:animEffect>
                                    <p:anim calcmode="lin" valueType="num">
                                      <p:cBhvr>
                                        <p:cTn id="61" dur="450" fill="hold"/>
                                        <p:tgtEl>
                                          <p:spTgt spid="21"/>
                                        </p:tgtEl>
                                        <p:attrNameLst>
                                          <p:attrName>ppt_w</p:attrName>
                                        </p:attrNameLst>
                                      </p:cBhvr>
                                      <p:tavLst>
                                        <p:tav tm="0">
                                          <p:val>
                                            <p:strVal val="0"/>
                                          </p:val>
                                        </p:tav>
                                        <p:tav tm="100000">
                                          <p:val>
                                            <p:strVal val="#ppt_w"/>
                                          </p:val>
                                        </p:tav>
                                      </p:tavLst>
                                    </p:anim>
                                    <p:anim calcmode="lin" valueType="num">
                                      <p:cBhvr>
                                        <p:cTn id="62" dur="450" fill="hold"/>
                                        <p:tgtEl>
                                          <p:spTgt spid="21"/>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1109404" y="2529383"/>
            <a:ext cx="6994968" cy="708421"/>
          </a:xfrm>
          <a:prstGeom prst="rect">
            <a:avLst/>
          </a:prstGeom>
          <a:noFill/>
        </p:spPr>
        <p:txBody>
          <a:bodyPr wrap="none" lIns="0" tIns="0" rIns="0" bIns="0" rtlCol="0" anchor="ctr" anchorCtr="1">
            <a:noAutofit/>
          </a:bodyPr>
          <a:lstStyle/>
          <a:p>
            <a:pPr algn="r" rtl="1">
              <a:lnSpc>
                <a:spcPct val="100000"/>
              </a:lnSpc>
              <a:buNone/>
            </a:pPr>
            <a:r>
              <a:rPr lang="ar-SA" sz="3140" b="1" i="0" dirty="0">
                <a:solidFill>
                  <a:srgbClr val="FFFFFF"/>
                </a:solidFill>
                <a:latin typeface="Tahoma"/>
                <a:ea typeface="Tahoma"/>
                <a:cs typeface="Tahoma"/>
              </a:rPr>
              <a:t>قانون الارتفاع في درجة الغليان:</a:t>
            </a:r>
          </a:p>
        </p:txBody>
      </p:sp>
      <p:sp>
        <p:nvSpPr>
          <p:cNvPr id="102" name="Text 2"/>
          <p:cNvSpPr txBox="1"/>
          <p:nvPr/>
        </p:nvSpPr>
        <p:spPr>
          <a:xfrm>
            <a:off x="1119741" y="3751411"/>
            <a:ext cx="6999029" cy="1239738"/>
          </a:xfrm>
          <a:prstGeom prst="rect">
            <a:avLst/>
          </a:prstGeom>
          <a:noFill/>
        </p:spPr>
        <p:txBody>
          <a:bodyPr wrap="none" lIns="0" tIns="0" rIns="0" bIns="0" rtlCol="0" anchor="ctr" anchorCtr="1">
            <a:noAutofit/>
          </a:bodyPr>
          <a:lstStyle/>
          <a:p>
            <a:pPr algn="ctr" rtl="0">
              <a:lnSpc>
                <a:spcPct val="100000"/>
              </a:lnSpc>
              <a:buNone/>
            </a:pPr>
            <a:r>
              <a:rPr lang="ar-SA" sz="6390" b="1" i="1" dirty="0">
                <a:solidFill>
                  <a:srgbClr val="B9BFC6"/>
                </a:solidFill>
                <a:effectLst>
                  <a:outerShdw blurRad="76200" dist="25400" dir="5400000" algn="t" rotWithShape="0">
                    <a:srgbClr val="000000">
                      <a:alpha val="55000"/>
                    </a:srgbClr>
                  </a:outerShdw>
                </a:effectLst>
                <a:latin typeface="Cambria"/>
                <a:ea typeface="Cambria"/>
                <a:cs typeface="Cambria"/>
              </a:rPr>
              <a:t>ΔT</a:t>
            </a:r>
            <a:r>
              <a:rPr lang="ar-SA" sz="6390" b="1" i="1" baseline="-25000" dirty="0">
                <a:solidFill>
                  <a:srgbClr val="B9BFC6"/>
                </a:solidFill>
                <a:effectLst>
                  <a:outerShdw blurRad="76200" dist="25400" dir="5400000" algn="t" rotWithShape="0">
                    <a:srgbClr val="000000">
                      <a:alpha val="55000"/>
                    </a:srgbClr>
                  </a:outerShdw>
                </a:effectLst>
                <a:latin typeface="Cambria"/>
                <a:ea typeface="Cambria"/>
                <a:cs typeface="Cambria"/>
              </a:rPr>
              <a:t>bp</a:t>
            </a:r>
            <a:r>
              <a:rPr lang="ar-SA" sz="6390" b="1" i="1" dirty="0">
                <a:solidFill>
                  <a:srgbClr val="B9BFC6"/>
                </a:solidFill>
                <a:effectLst>
                  <a:outerShdw blurRad="76200" dist="25400" dir="5400000" algn="t" rotWithShape="0">
                    <a:srgbClr val="000000">
                      <a:alpha val="55000"/>
                    </a:srgbClr>
                  </a:outerShdw>
                </a:effectLst>
                <a:latin typeface="Cambria"/>
                <a:ea typeface="Cambria"/>
                <a:cs typeface="Cambria"/>
              </a:rPr>
              <a:t> = K</a:t>
            </a:r>
            <a:r>
              <a:rPr lang="ar-SA" sz="6390" b="1" i="1" baseline="-25000" dirty="0">
                <a:solidFill>
                  <a:srgbClr val="B9BFC6"/>
                </a:solidFill>
                <a:effectLst>
                  <a:outerShdw blurRad="76200" dist="25400" dir="5400000" algn="t" rotWithShape="0">
                    <a:srgbClr val="000000">
                      <a:alpha val="55000"/>
                    </a:srgbClr>
                  </a:outerShdw>
                </a:effectLst>
                <a:latin typeface="Cambria"/>
                <a:ea typeface="Cambria"/>
                <a:cs typeface="Cambria"/>
              </a:rPr>
              <a:t>bp</a:t>
            </a:r>
            <a:r>
              <a:rPr lang="ar-SA" sz="6390" b="1" i="1" dirty="0">
                <a:solidFill>
                  <a:srgbClr val="B9BFC6"/>
                </a:solidFill>
                <a:effectLst>
                  <a:outerShdw blurRad="76200" dist="25400" dir="5400000" algn="t" rotWithShape="0">
                    <a:srgbClr val="000000">
                      <a:alpha val="55000"/>
                    </a:srgbClr>
                  </a:outerShdw>
                </a:effectLst>
                <a:latin typeface="Cambria"/>
                <a:ea typeface="Cambria"/>
                <a:cs typeface="Cambria"/>
              </a:rPr>
              <a:t> × m</a:t>
            </a:r>
            <a:endParaRPr lang="ar-SA" sz="6390" b="1" i="0" dirty="0">
              <a:solidFill>
                <a:srgbClr val="B9BFC6"/>
              </a:solidFill>
              <a:effectLst>
                <a:outerShdw blurRad="76200" dist="25400" dir="5400000" algn="t" rotWithShape="0">
                  <a:srgbClr val="000000">
                    <a:alpha val="55000"/>
                  </a:srgbClr>
                </a:outerShdw>
              </a:effectLst>
              <a:latin typeface="Tahoma"/>
              <a:ea typeface="Tahoma"/>
              <a:cs typeface="Tahoma"/>
            </a:endParaRPr>
          </a:p>
        </p:txBody>
      </p:sp>
      <p:sp>
        <p:nvSpPr>
          <p:cNvPr id="103" name="Text 3"/>
          <p:cNvSpPr txBox="1"/>
          <p:nvPr/>
        </p:nvSpPr>
        <p:spPr>
          <a:xfrm>
            <a:off x="1772093" y="5410299"/>
            <a:ext cx="6025116" cy="1593949"/>
          </a:xfrm>
          <a:prstGeom prst="rect">
            <a:avLst/>
          </a:prstGeom>
          <a:noFill/>
        </p:spPr>
        <p:txBody>
          <a:bodyPr wrap="none" lIns="0" tIns="0" rIns="0" bIns="0" rtlCol="0" anchor="t" anchorCtr="1">
            <a:noAutofit/>
          </a:bodyPr>
          <a:lstStyle/>
          <a:p>
            <a:pPr algn="r" rtl="1">
              <a:lnSpc>
                <a:spcPct val="118000"/>
              </a:lnSpc>
              <a:buNone/>
            </a:pPr>
            <a:r>
              <a:rPr lang="ar-SA" sz="2400" b="1" i="0" dirty="0">
                <a:solidFill>
                  <a:srgbClr val="FFFFFF"/>
                </a:solidFill>
                <a:latin typeface="Tahoma"/>
                <a:ea typeface="Tahoma"/>
                <a:cs typeface="Tahoma"/>
              </a:rPr>
              <a:t>ΔT</a:t>
            </a:r>
            <a:r>
              <a:rPr lang="ar-SA" sz="2400" b="1" i="0" baseline="-25000" dirty="0">
                <a:solidFill>
                  <a:srgbClr val="FFFFFF"/>
                </a:solidFill>
                <a:latin typeface="Tahoma"/>
                <a:ea typeface="Tahoma"/>
                <a:cs typeface="Tahoma"/>
              </a:rPr>
              <a:t>bp</a:t>
            </a:r>
            <a:r>
              <a:rPr lang="ar-SA" sz="2400" b="1" i="0" dirty="0">
                <a:solidFill>
                  <a:srgbClr val="FFFFFF"/>
                </a:solidFill>
                <a:latin typeface="Tahoma"/>
                <a:ea typeface="Tahoma"/>
                <a:cs typeface="Tahoma"/>
              </a:rPr>
              <a:t>: مقدار الارتفاع في درجة الغليان.</a:t>
            </a:r>
          </a:p>
          <a:p>
            <a:pPr algn="r" rtl="1">
              <a:lnSpc>
                <a:spcPct val="118000"/>
              </a:lnSpc>
              <a:buNone/>
            </a:pPr>
            <a:r>
              <a:rPr lang="ar-SA" sz="2400" b="1" i="0" dirty="0">
                <a:solidFill>
                  <a:srgbClr val="FFFFFF"/>
                </a:solidFill>
                <a:latin typeface="Tahoma"/>
                <a:ea typeface="Tahoma"/>
                <a:cs typeface="Tahoma"/>
              </a:rPr>
              <a:t>K</a:t>
            </a:r>
            <a:r>
              <a:rPr lang="ar-SA" sz="2400" b="1" i="0" baseline="-25000" dirty="0">
                <a:solidFill>
                  <a:srgbClr val="FFFFFF"/>
                </a:solidFill>
                <a:latin typeface="Tahoma"/>
                <a:ea typeface="Tahoma"/>
                <a:cs typeface="Tahoma"/>
              </a:rPr>
              <a:t>bp</a:t>
            </a:r>
            <a:r>
              <a:rPr lang="ar-SA" sz="2400" b="1" i="0" dirty="0">
                <a:solidFill>
                  <a:srgbClr val="FFFFFF"/>
                </a:solidFill>
                <a:latin typeface="Tahoma"/>
                <a:ea typeface="Tahoma"/>
                <a:cs typeface="Tahoma"/>
              </a:rPr>
              <a:t>: ثابت الغليان المولالي (الجزيئي).</a:t>
            </a:r>
          </a:p>
          <a:p>
            <a:pPr algn="r" rtl="1">
              <a:lnSpc>
                <a:spcPct val="118000"/>
              </a:lnSpc>
              <a:buNone/>
            </a:pPr>
            <a:r>
              <a:rPr lang="ar-SA" sz="2400" b="1" i="0" dirty="0">
                <a:solidFill>
                  <a:srgbClr val="FFFFFF"/>
                </a:solidFill>
                <a:latin typeface="Tahoma"/>
                <a:ea typeface="Tahoma"/>
                <a:cs typeface="Tahoma"/>
              </a:rPr>
              <a:t>m: التركيز المولالي للمحلول.</a:t>
            </a:r>
          </a:p>
        </p:txBody>
      </p:sp>
      <p:sp>
        <p:nvSpPr>
          <p:cNvPr id="104" name="Text 4"/>
          <p:cNvSpPr txBox="1"/>
          <p:nvPr/>
        </p:nvSpPr>
        <p:spPr>
          <a:xfrm>
            <a:off x="10256819" y="2682875"/>
            <a:ext cx="1873803" cy="472281"/>
          </a:xfrm>
          <a:prstGeom prst="rect">
            <a:avLst/>
          </a:prstGeom>
          <a:noFill/>
        </p:spPr>
        <p:txBody>
          <a:bodyPr wrap="none" lIns="0" tIns="0" rIns="0" bIns="0" rtlCol="0" anchor="ctr" anchorCtr="1">
            <a:noAutofit/>
          </a:bodyPr>
          <a:lstStyle/>
          <a:p>
            <a:pPr algn="ctr" rtl="1">
              <a:lnSpc>
                <a:spcPct val="100000"/>
              </a:lnSpc>
              <a:buNone/>
            </a:pPr>
            <a:r>
              <a:rPr lang="ar-SA" sz="2660" b="1" i="0" dirty="0">
                <a:solidFill>
                  <a:srgbClr val="FFFFFF"/>
                </a:solidFill>
                <a:latin typeface="Tahoma"/>
                <a:ea typeface="Tahoma"/>
                <a:cs typeface="Tahoma"/>
              </a:rPr>
              <a:t>المذيب</a:t>
            </a:r>
          </a:p>
        </p:txBody>
      </p:sp>
      <p:sp>
        <p:nvSpPr>
          <p:cNvPr id="105" name="Text 5"/>
          <p:cNvSpPr txBox="1"/>
          <p:nvPr/>
        </p:nvSpPr>
        <p:spPr>
          <a:xfrm>
            <a:off x="13125302" y="2647453"/>
            <a:ext cx="1275906" cy="590351"/>
          </a:xfrm>
          <a:prstGeom prst="rect">
            <a:avLst/>
          </a:prstGeom>
          <a:noFill/>
        </p:spPr>
        <p:txBody>
          <a:bodyPr wrap="none" lIns="0" tIns="0" rIns="0" bIns="0" rtlCol="0" anchor="ctr" anchorCtr="1">
            <a:noAutofit/>
          </a:bodyPr>
          <a:lstStyle/>
          <a:p>
            <a:pPr algn="ctr" rtl="0">
              <a:lnSpc>
                <a:spcPct val="100000"/>
              </a:lnSpc>
              <a:buNone/>
            </a:pPr>
            <a:r>
              <a:rPr lang="ar-SA" sz="2910" b="1" i="0" dirty="0">
                <a:solidFill>
                  <a:srgbClr val="FFFFFF"/>
                </a:solidFill>
                <a:latin typeface="Tahoma"/>
                <a:ea typeface="Tahoma"/>
                <a:cs typeface="Tahoma"/>
              </a:rPr>
              <a:t>K</a:t>
            </a:r>
            <a:r>
              <a:rPr lang="ar-SA" sz="2910" b="1" i="0" baseline="-25000" dirty="0">
                <a:solidFill>
                  <a:srgbClr val="FFFFFF"/>
                </a:solidFill>
                <a:latin typeface="Tahoma"/>
                <a:ea typeface="Tahoma"/>
                <a:cs typeface="Tahoma"/>
              </a:rPr>
              <a:t>bp</a:t>
            </a:r>
            <a:endParaRPr lang="ar-SA" sz="2910" b="1" i="0" dirty="0">
              <a:solidFill>
                <a:srgbClr val="FFFFFF"/>
              </a:solidFill>
              <a:latin typeface="Tahoma"/>
              <a:ea typeface="Tahoma"/>
              <a:cs typeface="Tahoma"/>
            </a:endParaRPr>
          </a:p>
        </p:txBody>
      </p:sp>
      <p:sp>
        <p:nvSpPr>
          <p:cNvPr id="106" name="Text 6"/>
          <p:cNvSpPr txBox="1"/>
          <p:nvPr/>
        </p:nvSpPr>
        <p:spPr>
          <a:xfrm>
            <a:off x="10538046" y="3763218"/>
            <a:ext cx="1311348" cy="436860"/>
          </a:xfrm>
          <a:prstGeom prst="rect">
            <a:avLst/>
          </a:prstGeom>
          <a:noFill/>
        </p:spPr>
        <p:txBody>
          <a:bodyPr wrap="none" lIns="0" tIns="0" rIns="0" bIns="0" rtlCol="0" anchor="ctr" anchorCtr="1">
            <a:noAutofit/>
          </a:bodyPr>
          <a:lstStyle/>
          <a:p>
            <a:pPr algn="ctr" rtl="1">
              <a:lnSpc>
                <a:spcPct val="100000"/>
              </a:lnSpc>
              <a:buNone/>
            </a:pPr>
            <a:r>
              <a:rPr lang="ar-SA" sz="2080" b="1" i="0" dirty="0">
                <a:solidFill>
                  <a:srgbClr val="F05555"/>
                </a:solidFill>
                <a:latin typeface="Tahoma"/>
                <a:ea typeface="Tahoma"/>
                <a:cs typeface="Tahoma"/>
              </a:rPr>
              <a:t>الماء</a:t>
            </a:r>
          </a:p>
        </p:txBody>
      </p:sp>
      <p:sp>
        <p:nvSpPr>
          <p:cNvPr id="107" name="Text 7"/>
          <p:cNvSpPr txBox="1"/>
          <p:nvPr/>
        </p:nvSpPr>
        <p:spPr>
          <a:xfrm>
            <a:off x="12971720" y="3763218"/>
            <a:ext cx="1571255" cy="472281"/>
          </a:xfrm>
          <a:prstGeom prst="rect">
            <a:avLst/>
          </a:prstGeom>
          <a:noFill/>
        </p:spPr>
        <p:txBody>
          <a:bodyPr wrap="none" lIns="0" tIns="0" rIns="0" bIns="0" rtlCol="0" anchor="ctr" anchorCtr="1">
            <a:noAutofit/>
          </a:bodyPr>
          <a:lstStyle/>
          <a:p>
            <a:pPr algn="ctr" rtl="0">
              <a:lnSpc>
                <a:spcPct val="100000"/>
              </a:lnSpc>
              <a:buNone/>
            </a:pPr>
            <a:r>
              <a:rPr lang="ar-SA" sz="2370" b="1" i="0" dirty="0">
                <a:solidFill>
                  <a:srgbClr val="F05555"/>
                </a:solidFill>
                <a:latin typeface="Tahoma"/>
                <a:ea typeface="Tahoma"/>
                <a:cs typeface="Tahoma"/>
              </a:rPr>
              <a:t>0.512</a:t>
            </a:r>
          </a:p>
        </p:txBody>
      </p:sp>
      <p:sp>
        <p:nvSpPr>
          <p:cNvPr id="108" name="Text 8"/>
          <p:cNvSpPr txBox="1"/>
          <p:nvPr/>
        </p:nvSpPr>
        <p:spPr>
          <a:xfrm>
            <a:off x="10279893" y="4837658"/>
            <a:ext cx="1827655" cy="507702"/>
          </a:xfrm>
          <a:prstGeom prst="rect">
            <a:avLst/>
          </a:prstGeom>
          <a:noFill/>
        </p:spPr>
        <p:txBody>
          <a:bodyPr wrap="none" lIns="0" tIns="0" rIns="0" bIns="0" rtlCol="0" anchor="ctr" anchorCtr="1">
            <a:noAutofit/>
          </a:bodyPr>
          <a:lstStyle/>
          <a:p>
            <a:pPr algn="ctr" rtl="1">
              <a:lnSpc>
                <a:spcPct val="100000"/>
              </a:lnSpc>
              <a:buNone/>
            </a:pPr>
            <a:r>
              <a:rPr lang="ar-SA" sz="2100" b="1" i="0" dirty="0">
                <a:solidFill>
                  <a:srgbClr val="FFFFFF"/>
                </a:solidFill>
                <a:latin typeface="Tahoma"/>
                <a:ea typeface="Tahoma"/>
                <a:cs typeface="Tahoma"/>
              </a:rPr>
              <a:t>الإيثانول</a:t>
            </a:r>
          </a:p>
        </p:txBody>
      </p:sp>
      <p:sp>
        <p:nvSpPr>
          <p:cNvPr id="109" name="Text 9"/>
          <p:cNvSpPr txBox="1"/>
          <p:nvPr/>
        </p:nvSpPr>
        <p:spPr>
          <a:xfrm>
            <a:off x="13101674" y="4814044"/>
            <a:ext cx="1346790" cy="507702"/>
          </a:xfrm>
          <a:prstGeom prst="rect">
            <a:avLst/>
          </a:prstGeom>
          <a:noFill/>
        </p:spPr>
        <p:txBody>
          <a:bodyPr wrap="none" lIns="0" tIns="0" rIns="0" bIns="0" rtlCol="0" anchor="ctr" anchorCtr="1">
            <a:noAutofit/>
          </a:bodyPr>
          <a:lstStyle/>
          <a:p>
            <a:pPr algn="ctr" rtl="0">
              <a:lnSpc>
                <a:spcPct val="100000"/>
              </a:lnSpc>
              <a:buNone/>
            </a:pPr>
            <a:r>
              <a:rPr lang="ar-SA" sz="2260" b="1" i="0" dirty="0">
                <a:solidFill>
                  <a:srgbClr val="FFFFFF"/>
                </a:solidFill>
                <a:latin typeface="Tahoma"/>
                <a:ea typeface="Tahoma"/>
                <a:cs typeface="Tahoma"/>
              </a:rPr>
              <a:t>1.19</a:t>
            </a:r>
          </a:p>
        </p:txBody>
      </p:sp>
      <p:sp>
        <p:nvSpPr>
          <p:cNvPr id="110" name="Text 10"/>
          <p:cNvSpPr txBox="1"/>
          <p:nvPr/>
        </p:nvSpPr>
        <p:spPr>
          <a:xfrm>
            <a:off x="10407539" y="5841255"/>
            <a:ext cx="1560549" cy="507702"/>
          </a:xfrm>
          <a:prstGeom prst="rect">
            <a:avLst/>
          </a:prstGeom>
          <a:noFill/>
        </p:spPr>
        <p:txBody>
          <a:bodyPr wrap="none" lIns="0" tIns="0" rIns="0" bIns="0" rtlCol="0" anchor="ctr" anchorCtr="1">
            <a:noAutofit/>
          </a:bodyPr>
          <a:lstStyle/>
          <a:p>
            <a:pPr algn="ctr" rtl="1">
              <a:lnSpc>
                <a:spcPct val="100000"/>
              </a:lnSpc>
              <a:buNone/>
            </a:pPr>
            <a:r>
              <a:rPr lang="ar-SA" sz="1950" b="1" i="0" dirty="0">
                <a:solidFill>
                  <a:srgbClr val="FFFFFF"/>
                </a:solidFill>
                <a:latin typeface="Tahoma"/>
                <a:ea typeface="Tahoma"/>
                <a:cs typeface="Tahoma"/>
              </a:rPr>
              <a:t>البنزين</a:t>
            </a:r>
          </a:p>
        </p:txBody>
      </p:sp>
      <p:sp>
        <p:nvSpPr>
          <p:cNvPr id="111" name="Text 11"/>
          <p:cNvSpPr txBox="1"/>
          <p:nvPr/>
        </p:nvSpPr>
        <p:spPr>
          <a:xfrm>
            <a:off x="13078046" y="5829448"/>
            <a:ext cx="1370418" cy="507702"/>
          </a:xfrm>
          <a:prstGeom prst="rect">
            <a:avLst/>
          </a:prstGeom>
          <a:noFill/>
        </p:spPr>
        <p:txBody>
          <a:bodyPr wrap="none" lIns="0" tIns="0" rIns="0" bIns="0" rtlCol="0" anchor="ctr" anchorCtr="1">
            <a:noAutofit/>
          </a:bodyPr>
          <a:lstStyle/>
          <a:p>
            <a:pPr algn="ctr" rtl="0">
              <a:lnSpc>
                <a:spcPct val="100000"/>
              </a:lnSpc>
              <a:buNone/>
            </a:pPr>
            <a:r>
              <a:rPr lang="ar-SA" sz="2340" b="1" i="0" dirty="0">
                <a:solidFill>
                  <a:srgbClr val="FFFFFF"/>
                </a:solidFill>
                <a:latin typeface="Tahoma"/>
                <a:ea typeface="Tahoma"/>
                <a:cs typeface="Tahoma"/>
              </a:rPr>
              <a:t>2.53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600"/>
                                        <p:tgtEl>
                                          <p:spTgt spid="101"/>
                                        </p:tgtEl>
                                      </p:cBhvr>
                                    </p:animEffect>
                                    <p:anim calcmode="lin" valueType="num">
                                      <p:cBhvr>
                                        <p:cTn id="8" dur="600" fill="hold"/>
                                        <p:tgtEl>
                                          <p:spTgt spid="101"/>
                                        </p:tgtEl>
                                        <p:attrNameLst>
                                          <p:attrName>ppt_w</p:attrName>
                                        </p:attrNameLst>
                                      </p:cBhvr>
                                      <p:tavLst>
                                        <p:tav tm="0">
                                          <p:val>
                                            <p:strVal val="0"/>
                                          </p:val>
                                        </p:tav>
                                        <p:tav tm="100000">
                                          <p:val>
                                            <p:strVal val="#ppt_w"/>
                                          </p:val>
                                        </p:tav>
                                      </p:tavLst>
                                    </p:anim>
                                    <p:anim calcmode="lin" valueType="num">
                                      <p:cBhvr>
                                        <p:cTn id="9"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1" presetID="53" presetClass="entr" presetSubtype="16" fill="hold" grpId="0" nodeType="after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600"/>
                                        <p:tgtEl>
                                          <p:spTgt spid="102"/>
                                        </p:tgtEl>
                                      </p:cBhvr>
                                    </p:animEffect>
                                    <p:anim calcmode="lin" valueType="num">
                                      <p:cBhvr>
                                        <p:cTn id="14" dur="600" fill="hold"/>
                                        <p:tgtEl>
                                          <p:spTgt spid="102"/>
                                        </p:tgtEl>
                                        <p:attrNameLst>
                                          <p:attrName>ppt_w</p:attrName>
                                        </p:attrNameLst>
                                      </p:cBhvr>
                                      <p:tavLst>
                                        <p:tav tm="0">
                                          <p:val>
                                            <p:strVal val="0"/>
                                          </p:val>
                                        </p:tav>
                                        <p:tav tm="100000">
                                          <p:val>
                                            <p:strVal val="#ppt_w"/>
                                          </p:val>
                                        </p:tav>
                                      </p:tavLst>
                                    </p:anim>
                                    <p:anim calcmode="lin" valueType="num">
                                      <p:cBhvr>
                                        <p:cTn id="15" dur="600" fill="hold"/>
                                        <p:tgtEl>
                                          <p:spTgt spid="102"/>
                                        </p:tgtEl>
                                        <p:attrNameLst>
                                          <p:attrName>ppt_h</p:attrName>
                                        </p:attrNameLst>
                                      </p:cBhvr>
                                      <p:tavLst>
                                        <p:tav tm="0">
                                          <p:val>
                                            <p:strVal val="0"/>
                                          </p:val>
                                        </p:tav>
                                        <p:tav tm="100000">
                                          <p:val>
                                            <p:strVal val="#ppt_h"/>
                                          </p:val>
                                        </p:tav>
                                      </p:tavLst>
                                    </p:anim>
                                  </p:childTnLst>
                                </p:cTn>
                              </p:par>
                            </p:childTnLst>
                          </p:cTn>
                        </p:par>
                        <p:par>
                          <p:cTn id="16" fill="hold">
                            <p:stCondLst>
                              <p:cond delay="1400"/>
                            </p:stCondLst>
                            <p:childTnLst>
                              <p:par>
                                <p:cTn id="17" presetID="42" presetClass="entr" presetSubtype="0" fill="hold" grpId="0" nodeType="afterEffect">
                                  <p:stCondLst>
                                    <p:cond delay="0"/>
                                  </p:stCondLst>
                                  <p:childTnLst>
                                    <p:set>
                                      <p:cBhvr>
                                        <p:cTn id="18" dur="1" fill="hold">
                                          <p:stCondLst>
                                            <p:cond delay="0"/>
                                          </p:stCondLst>
                                        </p:cTn>
                                        <p:tgtEl>
                                          <p:spTgt spid="103">
                                            <p:txEl>
                                              <p:pRg st="0" end="0"/>
                                            </p:txEl>
                                          </p:spTgt>
                                        </p:tgtEl>
                                        <p:attrNameLst>
                                          <p:attrName>style.visibility</p:attrName>
                                        </p:attrNameLst>
                                      </p:cBhvr>
                                      <p:to>
                                        <p:strVal val="visible"/>
                                      </p:to>
                                    </p:set>
                                    <p:animEffect transition="in" filter="fade">
                                      <p:cBhvr>
                                        <p:cTn id="19" dur="600"/>
                                        <p:tgtEl>
                                          <p:spTgt spid="103">
                                            <p:txEl>
                                              <p:pRg st="0" end="0"/>
                                            </p:txEl>
                                          </p:spTgt>
                                        </p:tgtEl>
                                      </p:cBhvr>
                                    </p:animEffect>
                                    <p:anim calcmode="lin" valueType="num">
                                      <p:cBhvr>
                                        <p:cTn id="20" dur="600" fill="hold"/>
                                        <p:tgtEl>
                                          <p:spTgt spid="103">
                                            <p:txEl>
                                              <p:pRg st="0" end="0"/>
                                            </p:txEl>
                                          </p:spTgt>
                                        </p:tgtEl>
                                        <p:attrNameLst>
                                          <p:attrName>ppt_x</p:attrName>
                                        </p:attrNameLst>
                                      </p:cBhvr>
                                      <p:tavLst>
                                        <p:tav tm="0">
                                          <p:val>
                                            <p:strVal val="#ppt_x"/>
                                          </p:val>
                                        </p:tav>
                                        <p:tav tm="100000">
                                          <p:val>
                                            <p:strVal val="#ppt_x"/>
                                          </p:val>
                                        </p:tav>
                                      </p:tavLst>
                                    </p:anim>
                                    <p:anim calcmode="lin" valueType="num">
                                      <p:cBhvr>
                                        <p:cTn id="21" dur="600" fill="hold"/>
                                        <p:tgtEl>
                                          <p:spTgt spid="103">
                                            <p:txEl>
                                              <p:pRg st="0" end="0"/>
                                            </p:txEl>
                                          </p:spTgt>
                                        </p:tgtEl>
                                        <p:attrNameLst>
                                          <p:attrName>ppt_y</p:attrName>
                                        </p:attrNameLst>
                                      </p:cBhvr>
                                      <p:tavLst>
                                        <p:tav tm="0">
                                          <p:val>
                                            <p:strVal val="#ppt_y+.1"/>
                                          </p:val>
                                        </p:tav>
                                        <p:tav tm="100000">
                                          <p:val>
                                            <p:strVal val="#ppt_y"/>
                                          </p:val>
                                        </p:tav>
                                      </p:tavLst>
                                    </p:anim>
                                  </p:childTnLst>
                                </p:cTn>
                              </p:par>
                            </p:childTnLst>
                          </p:cTn>
                        </p:par>
                        <p:par>
                          <p:cTn id="22" fill="hold">
                            <p:stCondLst>
                              <p:cond delay="2100"/>
                            </p:stCondLst>
                            <p:childTnLst>
                              <p:par>
                                <p:cTn id="23" presetID="42" presetClass="entr" presetSubtype="0" fill="hold" grpId="0" nodeType="afterEffect">
                                  <p:stCondLst>
                                    <p:cond delay="0"/>
                                  </p:stCondLst>
                                  <p:childTnLst>
                                    <p:set>
                                      <p:cBhvr>
                                        <p:cTn id="24" dur="1" fill="hold">
                                          <p:stCondLst>
                                            <p:cond delay="0"/>
                                          </p:stCondLst>
                                        </p:cTn>
                                        <p:tgtEl>
                                          <p:spTgt spid="103">
                                            <p:txEl>
                                              <p:pRg st="1" end="1"/>
                                            </p:txEl>
                                          </p:spTgt>
                                        </p:tgtEl>
                                        <p:attrNameLst>
                                          <p:attrName>style.visibility</p:attrName>
                                        </p:attrNameLst>
                                      </p:cBhvr>
                                      <p:to>
                                        <p:strVal val="visible"/>
                                      </p:to>
                                    </p:set>
                                    <p:animEffect transition="in" filter="fade">
                                      <p:cBhvr>
                                        <p:cTn id="25" dur="600"/>
                                        <p:tgtEl>
                                          <p:spTgt spid="103">
                                            <p:txEl>
                                              <p:pRg st="1" end="1"/>
                                            </p:txEl>
                                          </p:spTgt>
                                        </p:tgtEl>
                                      </p:cBhvr>
                                    </p:animEffect>
                                    <p:anim calcmode="lin" valueType="num">
                                      <p:cBhvr>
                                        <p:cTn id="26" dur="600" fill="hold"/>
                                        <p:tgtEl>
                                          <p:spTgt spid="103">
                                            <p:txEl>
                                              <p:pRg st="1" end="1"/>
                                            </p:txEl>
                                          </p:spTgt>
                                        </p:tgtEl>
                                        <p:attrNameLst>
                                          <p:attrName>ppt_x</p:attrName>
                                        </p:attrNameLst>
                                      </p:cBhvr>
                                      <p:tavLst>
                                        <p:tav tm="0">
                                          <p:val>
                                            <p:strVal val="#ppt_x"/>
                                          </p:val>
                                        </p:tav>
                                        <p:tav tm="100000">
                                          <p:val>
                                            <p:strVal val="#ppt_x"/>
                                          </p:val>
                                        </p:tav>
                                      </p:tavLst>
                                    </p:anim>
                                    <p:anim calcmode="lin" valueType="num">
                                      <p:cBhvr>
                                        <p:cTn id="27" dur="600" fill="hold"/>
                                        <p:tgtEl>
                                          <p:spTgt spid="103">
                                            <p:txEl>
                                              <p:pRg st="1" end="1"/>
                                            </p:txEl>
                                          </p:spTgt>
                                        </p:tgtEl>
                                        <p:attrNameLst>
                                          <p:attrName>ppt_y</p:attrName>
                                        </p:attrNameLst>
                                      </p:cBhvr>
                                      <p:tavLst>
                                        <p:tav tm="0">
                                          <p:val>
                                            <p:strVal val="#ppt_y+.1"/>
                                          </p:val>
                                        </p:tav>
                                        <p:tav tm="100000">
                                          <p:val>
                                            <p:strVal val="#ppt_y"/>
                                          </p:val>
                                        </p:tav>
                                      </p:tavLst>
                                    </p:anim>
                                  </p:childTnLst>
                                </p:cTn>
                              </p:par>
                            </p:childTnLst>
                          </p:cTn>
                        </p:par>
                        <p:par>
                          <p:cTn id="28" fill="hold">
                            <p:stCondLst>
                              <p:cond delay="2800"/>
                            </p:stCondLst>
                            <p:childTnLst>
                              <p:par>
                                <p:cTn id="29" presetID="42" presetClass="entr" presetSubtype="0" fill="hold" grpId="0" nodeType="afterEffect">
                                  <p:stCondLst>
                                    <p:cond delay="0"/>
                                  </p:stCondLst>
                                  <p:childTnLst>
                                    <p:set>
                                      <p:cBhvr>
                                        <p:cTn id="30" dur="1" fill="hold">
                                          <p:stCondLst>
                                            <p:cond delay="0"/>
                                          </p:stCondLst>
                                        </p:cTn>
                                        <p:tgtEl>
                                          <p:spTgt spid="103">
                                            <p:txEl>
                                              <p:pRg st="2" end="2"/>
                                            </p:txEl>
                                          </p:spTgt>
                                        </p:tgtEl>
                                        <p:attrNameLst>
                                          <p:attrName>style.visibility</p:attrName>
                                        </p:attrNameLst>
                                      </p:cBhvr>
                                      <p:to>
                                        <p:strVal val="visible"/>
                                      </p:to>
                                    </p:set>
                                    <p:animEffect transition="in" filter="fade">
                                      <p:cBhvr>
                                        <p:cTn id="31" dur="600"/>
                                        <p:tgtEl>
                                          <p:spTgt spid="103">
                                            <p:txEl>
                                              <p:pRg st="2" end="2"/>
                                            </p:txEl>
                                          </p:spTgt>
                                        </p:tgtEl>
                                      </p:cBhvr>
                                    </p:animEffect>
                                    <p:anim calcmode="lin" valueType="num">
                                      <p:cBhvr>
                                        <p:cTn id="32" dur="600" fill="hold"/>
                                        <p:tgtEl>
                                          <p:spTgt spid="103">
                                            <p:txEl>
                                              <p:pRg st="2" end="2"/>
                                            </p:txEl>
                                          </p:spTgt>
                                        </p:tgtEl>
                                        <p:attrNameLst>
                                          <p:attrName>ppt_x</p:attrName>
                                        </p:attrNameLst>
                                      </p:cBhvr>
                                      <p:tavLst>
                                        <p:tav tm="0">
                                          <p:val>
                                            <p:strVal val="#ppt_x"/>
                                          </p:val>
                                        </p:tav>
                                        <p:tav tm="100000">
                                          <p:val>
                                            <p:strVal val="#ppt_x"/>
                                          </p:val>
                                        </p:tav>
                                      </p:tavLst>
                                    </p:anim>
                                    <p:anim calcmode="lin" valueType="num">
                                      <p:cBhvr>
                                        <p:cTn id="33" dur="600" fill="hold"/>
                                        <p:tgtEl>
                                          <p:spTgt spid="103">
                                            <p:txEl>
                                              <p:pRg st="2" end="2"/>
                                            </p:txEl>
                                          </p:spTgt>
                                        </p:tgtEl>
                                        <p:attrNameLst>
                                          <p:attrName>ppt_y</p:attrName>
                                        </p:attrNameLst>
                                      </p:cBhvr>
                                      <p:tavLst>
                                        <p:tav tm="0">
                                          <p:val>
                                            <p:strVal val="#ppt_y+.1"/>
                                          </p:val>
                                        </p:tav>
                                        <p:tav tm="100000">
                                          <p:val>
                                            <p:strVal val="#ppt_y"/>
                                          </p:val>
                                        </p:tav>
                                      </p:tavLst>
                                    </p:anim>
                                  </p:childTnLst>
                                </p:cTn>
                              </p:par>
                            </p:childTnLst>
                          </p:cTn>
                        </p:par>
                        <p:par>
                          <p:cTn id="34" fill="hold">
                            <p:stCondLst>
                              <p:cond delay="3500"/>
                            </p:stCondLst>
                            <p:childTnLst>
                              <p:par>
                                <p:cTn id="35" presetID="10" presetClass="entr" presetSubtype="0" fill="hold" grpId="0" nodeType="afterEffect">
                                  <p:stCondLst>
                                    <p:cond delay="0"/>
                                  </p:stCondLst>
                                  <p:childTnLst>
                                    <p:set>
                                      <p:cBhvr>
                                        <p:cTn id="36" dur="1" fill="hold">
                                          <p:stCondLst>
                                            <p:cond delay="0"/>
                                          </p:stCondLst>
                                        </p:cTn>
                                        <p:tgtEl>
                                          <p:spTgt spid="104"/>
                                        </p:tgtEl>
                                        <p:attrNameLst>
                                          <p:attrName>style.visibility</p:attrName>
                                        </p:attrNameLst>
                                      </p:cBhvr>
                                      <p:to>
                                        <p:strVal val="visible"/>
                                      </p:to>
                                    </p:set>
                                    <p:animEffect transition="in" filter="fade">
                                      <p:cBhvr>
                                        <p:cTn id="37" dur="600"/>
                                        <p:tgtEl>
                                          <p:spTgt spid="104"/>
                                        </p:tgtEl>
                                      </p:cBhvr>
                                    </p:animEffect>
                                  </p:childTnLst>
                                </p:cTn>
                              </p:par>
                            </p:childTnLst>
                          </p:cTn>
                        </p:par>
                        <p:par>
                          <p:cTn id="38" fill="hold">
                            <p:stCondLst>
                              <p:cond delay="4200"/>
                            </p:stCondLst>
                            <p:childTnLst>
                              <p:par>
                                <p:cTn id="39" presetID="10" presetClass="entr" presetSubtype="0" fill="hold" grpId="0" nodeType="afterEffect">
                                  <p:stCondLst>
                                    <p:cond delay="0"/>
                                  </p:stCondLst>
                                  <p:childTnLst>
                                    <p:set>
                                      <p:cBhvr>
                                        <p:cTn id="40" dur="1" fill="hold">
                                          <p:stCondLst>
                                            <p:cond delay="0"/>
                                          </p:stCondLst>
                                        </p:cTn>
                                        <p:tgtEl>
                                          <p:spTgt spid="105"/>
                                        </p:tgtEl>
                                        <p:attrNameLst>
                                          <p:attrName>style.visibility</p:attrName>
                                        </p:attrNameLst>
                                      </p:cBhvr>
                                      <p:to>
                                        <p:strVal val="visible"/>
                                      </p:to>
                                    </p:set>
                                    <p:animEffect transition="in" filter="fade">
                                      <p:cBhvr>
                                        <p:cTn id="41" dur="600"/>
                                        <p:tgtEl>
                                          <p:spTgt spid="105"/>
                                        </p:tgtEl>
                                      </p:cBhvr>
                                    </p:animEffect>
                                  </p:childTnLst>
                                </p:cTn>
                              </p:par>
                            </p:childTnLst>
                          </p:cTn>
                        </p:par>
                        <p:par>
                          <p:cTn id="42" fill="hold">
                            <p:stCondLst>
                              <p:cond delay="4900"/>
                            </p:stCondLst>
                            <p:childTnLst>
                              <p:par>
                                <p:cTn id="43" presetID="42" presetClass="entr" presetSubtype="0" fill="hold" grpId="0" nodeType="afterEffect">
                                  <p:stCondLst>
                                    <p:cond delay="0"/>
                                  </p:stCondLst>
                                  <p:childTnLst>
                                    <p:set>
                                      <p:cBhvr>
                                        <p:cTn id="44" dur="1" fill="hold">
                                          <p:stCondLst>
                                            <p:cond delay="0"/>
                                          </p:stCondLst>
                                        </p:cTn>
                                        <p:tgtEl>
                                          <p:spTgt spid="106"/>
                                        </p:tgtEl>
                                        <p:attrNameLst>
                                          <p:attrName>style.visibility</p:attrName>
                                        </p:attrNameLst>
                                      </p:cBhvr>
                                      <p:to>
                                        <p:strVal val="visible"/>
                                      </p:to>
                                    </p:set>
                                    <p:animEffect transition="in" filter="fade">
                                      <p:cBhvr>
                                        <p:cTn id="45" dur="600"/>
                                        <p:tgtEl>
                                          <p:spTgt spid="106"/>
                                        </p:tgtEl>
                                      </p:cBhvr>
                                    </p:animEffect>
                                    <p:anim calcmode="lin" valueType="num">
                                      <p:cBhvr>
                                        <p:cTn id="46" dur="600" fill="hold"/>
                                        <p:tgtEl>
                                          <p:spTgt spid="106"/>
                                        </p:tgtEl>
                                        <p:attrNameLst>
                                          <p:attrName>ppt_x</p:attrName>
                                        </p:attrNameLst>
                                      </p:cBhvr>
                                      <p:tavLst>
                                        <p:tav tm="0">
                                          <p:val>
                                            <p:strVal val="#ppt_x"/>
                                          </p:val>
                                        </p:tav>
                                        <p:tav tm="100000">
                                          <p:val>
                                            <p:strVal val="#ppt_x"/>
                                          </p:val>
                                        </p:tav>
                                      </p:tavLst>
                                    </p:anim>
                                    <p:anim calcmode="lin" valueType="num">
                                      <p:cBhvr>
                                        <p:cTn id="47" dur="600" fill="hold"/>
                                        <p:tgtEl>
                                          <p:spTgt spid="106"/>
                                        </p:tgtEl>
                                        <p:attrNameLst>
                                          <p:attrName>ppt_y</p:attrName>
                                        </p:attrNameLst>
                                      </p:cBhvr>
                                      <p:tavLst>
                                        <p:tav tm="0">
                                          <p:val>
                                            <p:strVal val="#ppt_y+.1"/>
                                          </p:val>
                                        </p:tav>
                                        <p:tav tm="100000">
                                          <p:val>
                                            <p:strVal val="#ppt_y"/>
                                          </p:val>
                                        </p:tav>
                                      </p:tavLst>
                                    </p:anim>
                                  </p:childTnLst>
                                </p:cTn>
                              </p:par>
                            </p:childTnLst>
                          </p:cTn>
                        </p:par>
                        <p:par>
                          <p:cTn id="48" fill="hold">
                            <p:stCondLst>
                              <p:cond delay="5600"/>
                            </p:stCondLst>
                            <p:childTnLst>
                              <p:par>
                                <p:cTn id="49" presetID="42" presetClass="entr" presetSubtype="0" fill="hold" grpId="0" nodeType="afterEffect">
                                  <p:stCondLst>
                                    <p:cond delay="0"/>
                                  </p:stCondLst>
                                  <p:childTnLst>
                                    <p:set>
                                      <p:cBhvr>
                                        <p:cTn id="50" dur="1" fill="hold">
                                          <p:stCondLst>
                                            <p:cond delay="0"/>
                                          </p:stCondLst>
                                        </p:cTn>
                                        <p:tgtEl>
                                          <p:spTgt spid="107"/>
                                        </p:tgtEl>
                                        <p:attrNameLst>
                                          <p:attrName>style.visibility</p:attrName>
                                        </p:attrNameLst>
                                      </p:cBhvr>
                                      <p:to>
                                        <p:strVal val="visible"/>
                                      </p:to>
                                    </p:set>
                                    <p:animEffect transition="in" filter="fade">
                                      <p:cBhvr>
                                        <p:cTn id="51" dur="600"/>
                                        <p:tgtEl>
                                          <p:spTgt spid="107"/>
                                        </p:tgtEl>
                                      </p:cBhvr>
                                    </p:animEffect>
                                    <p:anim calcmode="lin" valueType="num">
                                      <p:cBhvr>
                                        <p:cTn id="52" dur="600" fill="hold"/>
                                        <p:tgtEl>
                                          <p:spTgt spid="107"/>
                                        </p:tgtEl>
                                        <p:attrNameLst>
                                          <p:attrName>ppt_x</p:attrName>
                                        </p:attrNameLst>
                                      </p:cBhvr>
                                      <p:tavLst>
                                        <p:tav tm="0">
                                          <p:val>
                                            <p:strVal val="#ppt_x"/>
                                          </p:val>
                                        </p:tav>
                                        <p:tav tm="100000">
                                          <p:val>
                                            <p:strVal val="#ppt_x"/>
                                          </p:val>
                                        </p:tav>
                                      </p:tavLst>
                                    </p:anim>
                                    <p:anim calcmode="lin" valueType="num">
                                      <p:cBhvr>
                                        <p:cTn id="53" dur="600" fill="hold"/>
                                        <p:tgtEl>
                                          <p:spTgt spid="107"/>
                                        </p:tgtEl>
                                        <p:attrNameLst>
                                          <p:attrName>ppt_y</p:attrName>
                                        </p:attrNameLst>
                                      </p:cBhvr>
                                      <p:tavLst>
                                        <p:tav tm="0">
                                          <p:val>
                                            <p:strVal val="#ppt_y+.1"/>
                                          </p:val>
                                        </p:tav>
                                        <p:tav tm="100000">
                                          <p:val>
                                            <p:strVal val="#ppt_y"/>
                                          </p:val>
                                        </p:tav>
                                      </p:tavLst>
                                    </p:anim>
                                  </p:childTnLst>
                                </p:cTn>
                              </p:par>
                            </p:childTnLst>
                          </p:cTn>
                        </p:par>
                        <p:par>
                          <p:cTn id="54" fill="hold">
                            <p:stCondLst>
                              <p:cond delay="6300"/>
                            </p:stCondLst>
                            <p:childTnLst>
                              <p:par>
                                <p:cTn id="55" presetID="42" presetClass="entr" presetSubtype="0" fill="hold" grpId="0" nodeType="afterEffect">
                                  <p:stCondLst>
                                    <p:cond delay="0"/>
                                  </p:stCondLst>
                                  <p:childTnLst>
                                    <p:set>
                                      <p:cBhvr>
                                        <p:cTn id="56" dur="1" fill="hold">
                                          <p:stCondLst>
                                            <p:cond delay="0"/>
                                          </p:stCondLst>
                                        </p:cTn>
                                        <p:tgtEl>
                                          <p:spTgt spid="108"/>
                                        </p:tgtEl>
                                        <p:attrNameLst>
                                          <p:attrName>style.visibility</p:attrName>
                                        </p:attrNameLst>
                                      </p:cBhvr>
                                      <p:to>
                                        <p:strVal val="visible"/>
                                      </p:to>
                                    </p:set>
                                    <p:animEffect transition="in" filter="fade">
                                      <p:cBhvr>
                                        <p:cTn id="57" dur="600"/>
                                        <p:tgtEl>
                                          <p:spTgt spid="108"/>
                                        </p:tgtEl>
                                      </p:cBhvr>
                                    </p:animEffect>
                                    <p:anim calcmode="lin" valueType="num">
                                      <p:cBhvr>
                                        <p:cTn id="58" dur="600" fill="hold"/>
                                        <p:tgtEl>
                                          <p:spTgt spid="108"/>
                                        </p:tgtEl>
                                        <p:attrNameLst>
                                          <p:attrName>ppt_x</p:attrName>
                                        </p:attrNameLst>
                                      </p:cBhvr>
                                      <p:tavLst>
                                        <p:tav tm="0">
                                          <p:val>
                                            <p:strVal val="#ppt_x"/>
                                          </p:val>
                                        </p:tav>
                                        <p:tav tm="100000">
                                          <p:val>
                                            <p:strVal val="#ppt_x"/>
                                          </p:val>
                                        </p:tav>
                                      </p:tavLst>
                                    </p:anim>
                                    <p:anim calcmode="lin" valueType="num">
                                      <p:cBhvr>
                                        <p:cTn id="59" dur="600" fill="hold"/>
                                        <p:tgtEl>
                                          <p:spTgt spid="108"/>
                                        </p:tgtEl>
                                        <p:attrNameLst>
                                          <p:attrName>ppt_y</p:attrName>
                                        </p:attrNameLst>
                                      </p:cBhvr>
                                      <p:tavLst>
                                        <p:tav tm="0">
                                          <p:val>
                                            <p:strVal val="#ppt_y+.1"/>
                                          </p:val>
                                        </p:tav>
                                        <p:tav tm="100000">
                                          <p:val>
                                            <p:strVal val="#ppt_y"/>
                                          </p:val>
                                        </p:tav>
                                      </p:tavLst>
                                    </p:anim>
                                  </p:childTnLst>
                                </p:cTn>
                              </p:par>
                            </p:childTnLst>
                          </p:cTn>
                        </p:par>
                        <p:par>
                          <p:cTn id="60" fill="hold">
                            <p:stCondLst>
                              <p:cond delay="7000"/>
                            </p:stCondLst>
                            <p:childTnLst>
                              <p:par>
                                <p:cTn id="61" presetID="42" presetClass="entr" presetSubtype="0" fill="hold" grpId="0" nodeType="afterEffect">
                                  <p:stCondLst>
                                    <p:cond delay="0"/>
                                  </p:stCondLst>
                                  <p:childTnLst>
                                    <p:set>
                                      <p:cBhvr>
                                        <p:cTn id="62" dur="1" fill="hold">
                                          <p:stCondLst>
                                            <p:cond delay="0"/>
                                          </p:stCondLst>
                                        </p:cTn>
                                        <p:tgtEl>
                                          <p:spTgt spid="109"/>
                                        </p:tgtEl>
                                        <p:attrNameLst>
                                          <p:attrName>style.visibility</p:attrName>
                                        </p:attrNameLst>
                                      </p:cBhvr>
                                      <p:to>
                                        <p:strVal val="visible"/>
                                      </p:to>
                                    </p:set>
                                    <p:animEffect transition="in" filter="fade">
                                      <p:cBhvr>
                                        <p:cTn id="63" dur="600"/>
                                        <p:tgtEl>
                                          <p:spTgt spid="109"/>
                                        </p:tgtEl>
                                      </p:cBhvr>
                                    </p:animEffect>
                                    <p:anim calcmode="lin" valueType="num">
                                      <p:cBhvr>
                                        <p:cTn id="64" dur="600" fill="hold"/>
                                        <p:tgtEl>
                                          <p:spTgt spid="109"/>
                                        </p:tgtEl>
                                        <p:attrNameLst>
                                          <p:attrName>ppt_x</p:attrName>
                                        </p:attrNameLst>
                                      </p:cBhvr>
                                      <p:tavLst>
                                        <p:tav tm="0">
                                          <p:val>
                                            <p:strVal val="#ppt_x"/>
                                          </p:val>
                                        </p:tav>
                                        <p:tav tm="100000">
                                          <p:val>
                                            <p:strVal val="#ppt_x"/>
                                          </p:val>
                                        </p:tav>
                                      </p:tavLst>
                                    </p:anim>
                                    <p:anim calcmode="lin" valueType="num">
                                      <p:cBhvr>
                                        <p:cTn id="65" dur="600" fill="hold"/>
                                        <p:tgtEl>
                                          <p:spTgt spid="109"/>
                                        </p:tgtEl>
                                        <p:attrNameLst>
                                          <p:attrName>ppt_y</p:attrName>
                                        </p:attrNameLst>
                                      </p:cBhvr>
                                      <p:tavLst>
                                        <p:tav tm="0">
                                          <p:val>
                                            <p:strVal val="#ppt_y+.1"/>
                                          </p:val>
                                        </p:tav>
                                        <p:tav tm="100000">
                                          <p:val>
                                            <p:strVal val="#ppt_y"/>
                                          </p:val>
                                        </p:tav>
                                      </p:tavLst>
                                    </p:anim>
                                  </p:childTnLst>
                                </p:cTn>
                              </p:par>
                            </p:childTnLst>
                          </p:cTn>
                        </p:par>
                        <p:par>
                          <p:cTn id="66" fill="hold">
                            <p:stCondLst>
                              <p:cond delay="7700"/>
                            </p:stCondLst>
                            <p:childTnLst>
                              <p:par>
                                <p:cTn id="67" presetID="42" presetClass="entr" presetSubtype="0" fill="hold" grpId="0" nodeType="afterEffect">
                                  <p:stCondLst>
                                    <p:cond delay="0"/>
                                  </p:stCondLst>
                                  <p:childTnLst>
                                    <p:set>
                                      <p:cBhvr>
                                        <p:cTn id="68" dur="1" fill="hold">
                                          <p:stCondLst>
                                            <p:cond delay="0"/>
                                          </p:stCondLst>
                                        </p:cTn>
                                        <p:tgtEl>
                                          <p:spTgt spid="110"/>
                                        </p:tgtEl>
                                        <p:attrNameLst>
                                          <p:attrName>style.visibility</p:attrName>
                                        </p:attrNameLst>
                                      </p:cBhvr>
                                      <p:to>
                                        <p:strVal val="visible"/>
                                      </p:to>
                                    </p:set>
                                    <p:animEffect transition="in" filter="fade">
                                      <p:cBhvr>
                                        <p:cTn id="69" dur="600"/>
                                        <p:tgtEl>
                                          <p:spTgt spid="110"/>
                                        </p:tgtEl>
                                      </p:cBhvr>
                                    </p:animEffect>
                                    <p:anim calcmode="lin" valueType="num">
                                      <p:cBhvr>
                                        <p:cTn id="70" dur="600" fill="hold"/>
                                        <p:tgtEl>
                                          <p:spTgt spid="110"/>
                                        </p:tgtEl>
                                        <p:attrNameLst>
                                          <p:attrName>ppt_x</p:attrName>
                                        </p:attrNameLst>
                                      </p:cBhvr>
                                      <p:tavLst>
                                        <p:tav tm="0">
                                          <p:val>
                                            <p:strVal val="#ppt_x"/>
                                          </p:val>
                                        </p:tav>
                                        <p:tav tm="100000">
                                          <p:val>
                                            <p:strVal val="#ppt_x"/>
                                          </p:val>
                                        </p:tav>
                                      </p:tavLst>
                                    </p:anim>
                                    <p:anim calcmode="lin" valueType="num">
                                      <p:cBhvr>
                                        <p:cTn id="71" dur="600" fill="hold"/>
                                        <p:tgtEl>
                                          <p:spTgt spid="110"/>
                                        </p:tgtEl>
                                        <p:attrNameLst>
                                          <p:attrName>ppt_y</p:attrName>
                                        </p:attrNameLst>
                                      </p:cBhvr>
                                      <p:tavLst>
                                        <p:tav tm="0">
                                          <p:val>
                                            <p:strVal val="#ppt_y+.1"/>
                                          </p:val>
                                        </p:tav>
                                        <p:tav tm="100000">
                                          <p:val>
                                            <p:strVal val="#ppt_y"/>
                                          </p:val>
                                        </p:tav>
                                      </p:tavLst>
                                    </p:anim>
                                  </p:childTnLst>
                                </p:cTn>
                              </p:par>
                            </p:childTnLst>
                          </p:cTn>
                        </p:par>
                        <p:par>
                          <p:cTn id="72" fill="hold">
                            <p:stCondLst>
                              <p:cond delay="8400"/>
                            </p:stCondLst>
                            <p:childTnLst>
                              <p:par>
                                <p:cTn id="73" presetID="42" presetClass="entr" presetSubtype="0" fill="hold" grpId="0" nodeType="afterEffect">
                                  <p:stCondLst>
                                    <p:cond delay="0"/>
                                  </p:stCondLst>
                                  <p:childTnLst>
                                    <p:set>
                                      <p:cBhvr>
                                        <p:cTn id="74" dur="1" fill="hold">
                                          <p:stCondLst>
                                            <p:cond delay="0"/>
                                          </p:stCondLst>
                                        </p:cTn>
                                        <p:tgtEl>
                                          <p:spTgt spid="111"/>
                                        </p:tgtEl>
                                        <p:attrNameLst>
                                          <p:attrName>style.visibility</p:attrName>
                                        </p:attrNameLst>
                                      </p:cBhvr>
                                      <p:to>
                                        <p:strVal val="visible"/>
                                      </p:to>
                                    </p:set>
                                    <p:animEffect transition="in" filter="fade">
                                      <p:cBhvr>
                                        <p:cTn id="75" dur="600"/>
                                        <p:tgtEl>
                                          <p:spTgt spid="111"/>
                                        </p:tgtEl>
                                      </p:cBhvr>
                                    </p:animEffect>
                                    <p:anim calcmode="lin" valueType="num">
                                      <p:cBhvr>
                                        <p:cTn id="76" dur="600" fill="hold"/>
                                        <p:tgtEl>
                                          <p:spTgt spid="111"/>
                                        </p:tgtEl>
                                        <p:attrNameLst>
                                          <p:attrName>ppt_x</p:attrName>
                                        </p:attrNameLst>
                                      </p:cBhvr>
                                      <p:tavLst>
                                        <p:tav tm="0">
                                          <p:val>
                                            <p:strVal val="#ppt_x"/>
                                          </p:val>
                                        </p:tav>
                                        <p:tav tm="100000">
                                          <p:val>
                                            <p:strVal val="#ppt_x"/>
                                          </p:val>
                                        </p:tav>
                                      </p:tavLst>
                                    </p:anim>
                                    <p:anim calcmode="lin" valueType="num">
                                      <p:cBhvr>
                                        <p:cTn id="77" dur="600" fill="hold"/>
                                        <p:tgtEl>
                                          <p:spTgt spid="1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build="p"/>
      <p:bldP spid="104" grpId="0"/>
      <p:bldP spid="105" grpId="0"/>
      <p:bldP spid="106" grpId="0"/>
      <p:bldP spid="107" grpId="0"/>
      <p:bldP spid="108" grpId="0"/>
      <p:bldP spid="109" grpId="0"/>
      <p:bldP spid="110" grpId="0"/>
      <p:bldP spid="1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3922232" y="457249"/>
            <a:ext cx="8411534" cy="708421"/>
          </a:xfrm>
          <a:prstGeom prst="rect">
            <a:avLst/>
          </a:prstGeom>
          <a:noFill/>
        </p:spPr>
        <p:txBody>
          <a:bodyPr wrap="none" lIns="0" tIns="0" rIns="0" bIns="0" rtlCol="0" anchor="ctr" anchorCtr="1">
            <a:noAutofit/>
          </a:bodyPr>
          <a:lstStyle/>
          <a:p>
            <a:pPr algn="ctr" rtl="1">
              <a:lnSpc>
                <a:spcPct val="100000"/>
              </a:lnSpc>
              <a:buNone/>
            </a:pPr>
            <a:r>
              <a:rPr lang="ar-SA" sz="4040" b="1" i="0" dirty="0">
                <a:solidFill>
                  <a:srgbClr val="FFFFFF"/>
                </a:solidFill>
                <a:latin typeface="Tahoma"/>
                <a:ea typeface="Tahoma"/>
                <a:cs typeface="Tahoma"/>
              </a:rPr>
              <a:t>مثال تطبيقي: محلول الجلوكوز</a:t>
            </a:r>
          </a:p>
        </p:txBody>
      </p:sp>
      <p:sp>
        <p:nvSpPr>
          <p:cNvPr id="102" name="Text 2"/>
          <p:cNvSpPr txBox="1"/>
          <p:nvPr/>
        </p:nvSpPr>
        <p:spPr>
          <a:xfrm>
            <a:off x="1722991" y="1283741"/>
            <a:ext cx="12798203" cy="613965"/>
          </a:xfrm>
          <a:prstGeom prst="rect">
            <a:avLst/>
          </a:prstGeom>
          <a:noFill/>
        </p:spPr>
        <p:txBody>
          <a:bodyPr wrap="none" lIns="0" tIns="0" rIns="0" bIns="0" rtlCol="0" anchor="ctr" anchorCtr="1">
            <a:noAutofit/>
          </a:bodyPr>
          <a:lstStyle/>
          <a:p>
            <a:pPr algn="ctr" rtl="1">
              <a:lnSpc>
                <a:spcPct val="100000"/>
              </a:lnSpc>
              <a:buNone/>
            </a:pPr>
            <a:r>
              <a:rPr lang="ar-SA" sz="3320" b="1" i="0" dirty="0">
                <a:solidFill>
                  <a:srgbClr val="FFFFFF"/>
                </a:solidFill>
                <a:latin typeface="Tahoma"/>
                <a:ea typeface="Tahoma"/>
                <a:cs typeface="Tahoma"/>
              </a:rPr>
              <a:t>ما هي درجة غليان محلول الجلوكوز C</a:t>
            </a:r>
            <a:r>
              <a:rPr lang="ar-SA" sz="3320" b="1" i="0" baseline="-25000" dirty="0">
                <a:solidFill>
                  <a:srgbClr val="FFFFFF"/>
                </a:solidFill>
                <a:latin typeface="Tahoma"/>
                <a:ea typeface="Tahoma"/>
                <a:cs typeface="Tahoma"/>
              </a:rPr>
              <a:t>6</a:t>
            </a:r>
            <a:r>
              <a:rPr lang="ar-SA" sz="3320" b="1" i="0" dirty="0">
                <a:solidFill>
                  <a:srgbClr val="FFFFFF"/>
                </a:solidFill>
                <a:latin typeface="Tahoma"/>
                <a:ea typeface="Tahoma"/>
                <a:cs typeface="Tahoma"/>
              </a:rPr>
              <a:t>H</a:t>
            </a:r>
            <a:r>
              <a:rPr lang="ar-SA" sz="3320" b="1" i="0" baseline="-25000" dirty="0">
                <a:solidFill>
                  <a:srgbClr val="FFFFFF"/>
                </a:solidFill>
                <a:latin typeface="Tahoma"/>
                <a:ea typeface="Tahoma"/>
                <a:cs typeface="Tahoma"/>
              </a:rPr>
              <a:t>12</a:t>
            </a:r>
            <a:r>
              <a:rPr lang="ar-SA" sz="3320" b="1" i="0" dirty="0">
                <a:solidFill>
                  <a:srgbClr val="FFFFFF"/>
                </a:solidFill>
                <a:latin typeface="Tahoma"/>
                <a:ea typeface="Tahoma"/>
                <a:cs typeface="Tahoma"/>
              </a:rPr>
              <a:t>O</a:t>
            </a:r>
            <a:r>
              <a:rPr lang="ar-SA" sz="3320" b="1" i="0" baseline="-25000" dirty="0">
                <a:solidFill>
                  <a:srgbClr val="FFFFFF"/>
                </a:solidFill>
                <a:latin typeface="Tahoma"/>
                <a:ea typeface="Tahoma"/>
                <a:cs typeface="Tahoma"/>
              </a:rPr>
              <a:t>6</a:t>
            </a:r>
            <a:r>
              <a:rPr lang="ar-SA" sz="3320" b="1" i="0" dirty="0">
                <a:solidFill>
                  <a:srgbClr val="FFFFFF"/>
                </a:solidFill>
                <a:latin typeface="Tahoma"/>
                <a:ea typeface="Tahoma"/>
                <a:cs typeface="Tahoma"/>
              </a:rPr>
              <a:t> تركيزه 1.5‎ m ؟</a:t>
            </a:r>
          </a:p>
        </p:txBody>
      </p:sp>
      <p:sp>
        <p:nvSpPr>
          <p:cNvPr id="103" name="Text 3"/>
          <p:cNvSpPr txBox="1"/>
          <p:nvPr/>
        </p:nvSpPr>
        <p:spPr>
          <a:xfrm>
            <a:off x="2752281" y="2240111"/>
            <a:ext cx="1879156" cy="342403"/>
          </a:xfrm>
          <a:prstGeom prst="rect">
            <a:avLst/>
          </a:prstGeom>
          <a:noFill/>
        </p:spPr>
        <p:txBody>
          <a:bodyPr wrap="none" lIns="0" tIns="0" rIns="0" bIns="0" rtlCol="0" anchor="ctr" anchorCtr="1">
            <a:noAutofit/>
          </a:bodyPr>
          <a:lstStyle/>
          <a:p>
            <a:pPr algn="ctr" rtl="1">
              <a:lnSpc>
                <a:spcPct val="100000"/>
              </a:lnSpc>
              <a:buNone/>
            </a:pPr>
            <a:r>
              <a:rPr lang="ar-SA" sz="1990" b="1" i="0" dirty="0">
                <a:solidFill>
                  <a:srgbClr val="E6E6E6"/>
                </a:solidFill>
                <a:latin typeface="Tahoma"/>
                <a:ea typeface="Tahoma"/>
                <a:cs typeface="Tahoma"/>
              </a:rPr>
              <a:t>المعطيات</a:t>
            </a:r>
          </a:p>
        </p:txBody>
      </p:sp>
      <p:sp>
        <p:nvSpPr>
          <p:cNvPr id="104" name="Text 4"/>
          <p:cNvSpPr txBox="1"/>
          <p:nvPr/>
        </p:nvSpPr>
        <p:spPr>
          <a:xfrm>
            <a:off x="2023601" y="2783234"/>
            <a:ext cx="11878007" cy="519509"/>
          </a:xfrm>
          <a:prstGeom prst="rect">
            <a:avLst/>
          </a:prstGeom>
          <a:noFill/>
        </p:spPr>
        <p:txBody>
          <a:bodyPr wrap="none" lIns="0" tIns="0" rIns="0" bIns="0" rtlCol="0" anchor="ctr" anchorCtr="1">
            <a:noAutofit/>
          </a:bodyPr>
          <a:lstStyle/>
          <a:p>
            <a:pPr rtl="0" algn="ctr">
              <a:lnSpc>
                <a:spcPct val="100000"/>
              </a:lnSpc>
              <a:buNone/>
            </a:pPr>
            <a:r>
              <a:rPr lang="en-US" sz="2010" b="1" i="0" dirty="0">
                <a:solidFill>
                  <a:srgbClr val="FFFFFF"/>
                </a:solidFill>
                <a:latin typeface="Tahoma"/>
                <a:ea typeface="Tahoma"/>
                <a:cs typeface="Tahoma"/>
              </a:rPr>
              <a:t>m = 1.5 mol/kg   |   K</a:t>
            </a:r>
            <a:r>
              <a:rPr baseline="-25000" lang="en-US" sz="2010" b="1" i="0" dirty="0">
                <a:solidFill>
                  <a:srgbClr val="FFFFFF"/>
                </a:solidFill>
                <a:latin typeface="Tahoma"/>
                <a:ea typeface="Tahoma"/>
                <a:cs typeface="Tahoma"/>
              </a:rPr>
              <a:t>bp</a:t>
            </a:r>
            <a:r>
              <a:rPr lang="en-US" sz="2010" b="1" i="0" dirty="0">
                <a:solidFill>
                  <a:srgbClr val="FFFFFF"/>
                </a:solidFill>
                <a:latin typeface="Tahoma"/>
                <a:ea typeface="Tahoma"/>
                <a:cs typeface="Tahoma"/>
              </a:rPr>
              <a:t xml:space="preserve"> = 0.512 °C/m   |   T</a:t>
            </a:r>
            <a:r>
              <a:rPr baseline="-25000" lang="en-US" sz="2010" b="1" i="0" dirty="0">
                <a:solidFill>
                  <a:srgbClr val="FFFFFF"/>
                </a:solidFill>
                <a:latin typeface="Tahoma"/>
                <a:ea typeface="Tahoma"/>
                <a:cs typeface="Tahoma"/>
              </a:rPr>
              <a:t>b</a:t>
            </a:r>
            <a:r>
              <a:rPr lang="en-US" sz="2010" b="1" i="0" dirty="0">
                <a:solidFill>
                  <a:srgbClr val="FFFFFF"/>
                </a:solidFill>
                <a:latin typeface="Tahoma"/>
                <a:ea typeface="Tahoma"/>
                <a:cs typeface="Tahoma"/>
              </a:rPr>
              <a:t xml:space="preserve"> (water) = 100 °C</a:t>
            </a:r>
          </a:p>
        </p:txBody>
      </p:sp>
      <p:sp>
        <p:nvSpPr>
          <p:cNvPr id="105" name="Text 5"/>
          <p:cNvSpPr txBox="1"/>
          <p:nvPr/>
        </p:nvSpPr>
        <p:spPr>
          <a:xfrm>
            <a:off x="2406262" y="3893095"/>
            <a:ext cx="3185521" cy="366017"/>
          </a:xfrm>
          <a:prstGeom prst="rect">
            <a:avLst/>
          </a:prstGeom>
          <a:noFill/>
        </p:spPr>
        <p:txBody>
          <a:bodyPr wrap="none" lIns="0" tIns="0" rIns="0" bIns="0" rtlCol="0" anchor="ctr" anchorCtr="1">
            <a:noAutofit/>
          </a:bodyPr>
          <a:lstStyle/>
          <a:p>
            <a:pPr algn="ctr" rtl="1">
              <a:lnSpc>
                <a:spcPct val="100000"/>
              </a:lnSpc>
              <a:buNone/>
            </a:pPr>
            <a:r>
              <a:rPr lang="ar-SA" sz="1930" b="1" i="0" dirty="0">
                <a:solidFill>
                  <a:srgbClr val="E6E6E6"/>
                </a:solidFill>
                <a:latin typeface="Tahoma"/>
                <a:ea typeface="Tahoma"/>
                <a:cs typeface="Tahoma"/>
              </a:rPr>
              <a:t>التعويض في القانون</a:t>
            </a:r>
          </a:p>
        </p:txBody>
      </p:sp>
      <p:sp>
        <p:nvSpPr>
          <p:cNvPr id="106" name="Text 6"/>
          <p:cNvSpPr txBox="1"/>
          <p:nvPr/>
        </p:nvSpPr>
        <p:spPr>
          <a:xfrm>
            <a:off x="5824279" y="3993455"/>
            <a:ext cx="4595627" cy="1298773"/>
          </a:xfrm>
          <a:prstGeom prst="rect">
            <a:avLst/>
          </a:prstGeom>
          <a:noFill/>
        </p:spPr>
        <p:txBody>
          <a:bodyPr wrap="square" lIns="0" tIns="0" rIns="0" bIns="0" rtlCol="0" anchor="ctr">
            <a:noAutofit/>
          </a:bodyPr>
          <a:lstStyle/>
          <a:p>
            <a:pPr rtl="0" algn="ctr">
              <a:lnSpc>
                <a:spcPct val="105000"/>
              </a:lnSpc>
              <a:buNone/>
            </a:pPr>
            <a:r>
              <a:rPr lang="en-US" sz="3200" b="1" i="1" dirty="0">
                <a:solidFill>
                  <a:srgbClr val="AEB4BA"/>
                </a:solidFill>
                <a:effectLst>
                  <a:outerShdw blurRad="76200" dist="25400" dir="5400000" algn="t" rotWithShape="0">
                    <a:srgbClr val="000000">
                      <a:alpha val="55000"/>
                    </a:srgbClr>
                  </a:outerShdw>
                </a:effectLst>
                <a:latin typeface="Cambria"/>
                <a:ea typeface="Cambria"/>
                <a:cs typeface="Cambria"/>
              </a:rPr>
              <a:t>ΔT</a:t>
            </a:r>
            <a:r>
              <a:rPr baseline="-25000" lang="en-US" sz="3200" b="1" i="1" dirty="0">
                <a:solidFill>
                  <a:srgbClr val="AEB4BA"/>
                </a:solidFill>
                <a:effectLst>
                  <a:outerShdw blurRad="76200" dist="25400" dir="5400000" algn="t" rotWithShape="0">
                    <a:srgbClr val="000000">
                      <a:alpha val="55000"/>
                    </a:srgbClr>
                  </a:outerShdw>
                </a:effectLst>
                <a:latin typeface="Cambria"/>
                <a:ea typeface="Cambria"/>
                <a:cs typeface="Cambria"/>
              </a:rPr>
              <a:t>bp</a:t>
            </a:r>
            <a:r>
              <a:rPr lang="en-US" sz="3200" b="1" i="1" dirty="0">
                <a:solidFill>
                  <a:srgbClr val="AEB4BA"/>
                </a:solidFill>
                <a:effectLst>
                  <a:outerShdw blurRad="76200" dist="25400" dir="5400000" algn="t" rotWithShape="0">
                    <a:srgbClr val="000000">
                      <a:alpha val="55000"/>
                    </a:srgbClr>
                  </a:outerShdw>
                </a:effectLst>
                <a:latin typeface="Cambria"/>
                <a:ea typeface="Cambria"/>
                <a:cs typeface="Cambria"/>
              </a:rPr>
              <a:t xml:space="preserve"> = K</a:t>
            </a:r>
            <a:r>
              <a:rPr baseline="-25000" lang="en-US" sz="3200" b="1" i="1" dirty="0">
                <a:solidFill>
                  <a:srgbClr val="AEB4BA"/>
                </a:solidFill>
                <a:effectLst>
                  <a:outerShdw blurRad="76200" dist="25400" dir="5400000" algn="t" rotWithShape="0">
                    <a:srgbClr val="000000">
                      <a:alpha val="55000"/>
                    </a:srgbClr>
                  </a:outerShdw>
                </a:effectLst>
                <a:latin typeface="Cambria"/>
                <a:ea typeface="Cambria"/>
                <a:cs typeface="Cambria"/>
              </a:rPr>
              <a:t>bp</a:t>
            </a:r>
            <a:r>
              <a:rPr lang="en-US" sz="3200" b="1" i="1" dirty="0">
                <a:solidFill>
                  <a:srgbClr val="AEB4BA"/>
                </a:solidFill>
                <a:effectLst>
                  <a:outerShdw blurRad="76200" dist="25400" dir="5400000" algn="t" rotWithShape="0">
                    <a:srgbClr val="000000">
                      <a:alpha val="55000"/>
                    </a:srgbClr>
                  </a:outerShdw>
                </a:effectLst>
                <a:latin typeface="Cambria"/>
                <a:ea typeface="Cambria"/>
                <a:cs typeface="Cambria"/>
              </a:rPr>
              <a:t xml:space="preserve"> × m</a:t>
            </a:r>
            <a:endParaRPr lang="ar-SA" sz="3200" b="1" i="0" dirty="0">
              <a:solidFill>
                <a:srgbClr val="AEB4BA"/>
              </a:solidFill>
              <a:effectLst>
                <a:outerShdw blurRad="76200" dist="25400" dir="5400000" algn="t" rotWithShape="0">
                  <a:srgbClr val="000000">
                    <a:alpha val="55000"/>
                  </a:srgbClr>
                </a:outerShdw>
              </a:effectLst>
              <a:latin typeface="Tahoma"/>
              <a:ea typeface="Tahoma"/>
              <a:cs typeface="Tahoma"/>
            </a:endParaRPr>
          </a:p>
          <a:p>
            <a:pPr rtl="0" algn="ctr">
              <a:lnSpc>
                <a:spcPct val="105000"/>
              </a:lnSpc>
              <a:buNone/>
            </a:pPr>
            <a:r>
              <a:rPr lang="en-US" sz="3200" b="1" i="1" dirty="0">
                <a:solidFill>
                  <a:srgbClr val="AEB4BA"/>
                </a:solidFill>
                <a:effectLst>
                  <a:outerShdw blurRad="76200" dist="25400" dir="5400000" algn="t" rotWithShape="0">
                    <a:srgbClr val="000000">
                      <a:alpha val="55000"/>
                    </a:srgbClr>
                  </a:outerShdw>
                </a:effectLst>
                <a:latin typeface="Cambria"/>
                <a:ea typeface="Cambria"/>
                <a:cs typeface="Cambria"/>
              </a:rPr>
              <a:t>ΔT</a:t>
            </a:r>
            <a:r>
              <a:rPr baseline="-25000" lang="en-US" sz="3200" b="1" i="1" dirty="0">
                <a:solidFill>
                  <a:srgbClr val="AEB4BA"/>
                </a:solidFill>
                <a:effectLst>
                  <a:outerShdw blurRad="76200" dist="25400" dir="5400000" algn="t" rotWithShape="0">
                    <a:srgbClr val="000000">
                      <a:alpha val="55000"/>
                    </a:srgbClr>
                  </a:outerShdw>
                </a:effectLst>
                <a:latin typeface="Cambria"/>
                <a:ea typeface="Cambria"/>
                <a:cs typeface="Cambria"/>
              </a:rPr>
              <a:t>bp</a:t>
            </a:r>
            <a:r>
              <a:rPr lang="en-US" sz="3200" b="1" i="1" dirty="0">
                <a:solidFill>
                  <a:srgbClr val="AEB4BA"/>
                </a:solidFill>
                <a:effectLst>
                  <a:outerShdw blurRad="76200" dist="25400" dir="5400000" algn="t" rotWithShape="0">
                    <a:srgbClr val="000000">
                      <a:alpha val="55000"/>
                    </a:srgbClr>
                  </a:outerShdw>
                </a:effectLst>
                <a:latin typeface="Cambria"/>
                <a:ea typeface="Cambria"/>
                <a:cs typeface="Cambria"/>
              </a:rPr>
              <a:t xml:space="preserve"> = 0.512 × 1.5</a:t>
            </a:r>
            <a:endParaRPr lang="ar-SA" sz="3200" b="1" i="0" dirty="0">
              <a:solidFill>
                <a:srgbClr val="AEB4BA"/>
              </a:solidFill>
              <a:effectLst>
                <a:outerShdw blurRad="76200" dist="25400" dir="5400000" algn="t" rotWithShape="0">
                  <a:srgbClr val="000000">
                    <a:alpha val="55000"/>
                  </a:srgbClr>
                </a:outerShdw>
              </a:effectLst>
              <a:latin typeface="Tahoma"/>
              <a:ea typeface="Tahoma"/>
              <a:cs typeface="Tahoma"/>
            </a:endParaRPr>
          </a:p>
        </p:txBody>
      </p:sp>
      <p:sp>
        <p:nvSpPr>
          <p:cNvPr id="107" name="Text 7"/>
          <p:cNvSpPr txBox="1"/>
          <p:nvPr/>
        </p:nvSpPr>
        <p:spPr>
          <a:xfrm>
            <a:off x="2365559" y="5546080"/>
            <a:ext cx="3278741" cy="366017"/>
          </a:xfrm>
          <a:prstGeom prst="rect">
            <a:avLst/>
          </a:prstGeom>
          <a:noFill/>
        </p:spPr>
        <p:txBody>
          <a:bodyPr wrap="none" lIns="0" tIns="0" rIns="0" bIns="0" rtlCol="0" anchor="ctr" anchorCtr="1">
            <a:noAutofit/>
          </a:bodyPr>
          <a:lstStyle/>
          <a:p>
            <a:pPr algn="ctr" rtl="1">
              <a:lnSpc>
                <a:spcPct val="100000"/>
              </a:lnSpc>
              <a:buNone/>
            </a:pPr>
            <a:r>
              <a:rPr lang="ar-SA" sz="1920" b="1" i="0" dirty="0">
                <a:solidFill>
                  <a:srgbClr val="E6E6E6"/>
                </a:solidFill>
                <a:latin typeface="Tahoma"/>
                <a:ea typeface="Tahoma"/>
                <a:cs typeface="Tahoma"/>
              </a:rPr>
              <a:t>حساب مقدار الارتفاع</a:t>
            </a:r>
          </a:p>
        </p:txBody>
      </p:sp>
      <p:sp>
        <p:nvSpPr>
          <p:cNvPr id="108" name="Text 8"/>
          <p:cNvSpPr txBox="1"/>
          <p:nvPr/>
        </p:nvSpPr>
        <p:spPr>
          <a:xfrm>
            <a:off x="6273209" y="6041975"/>
            <a:ext cx="3697767" cy="708421"/>
          </a:xfrm>
          <a:prstGeom prst="rect">
            <a:avLst/>
          </a:prstGeom>
          <a:noFill/>
        </p:spPr>
        <p:txBody>
          <a:bodyPr wrap="none" lIns="0" tIns="0" rIns="0" bIns="0" rtlCol="0" anchor="ctr" anchorCtr="1">
            <a:noAutofit/>
          </a:bodyPr>
          <a:lstStyle/>
          <a:p>
            <a:pPr rtl="0" algn="ctr">
              <a:lnSpc>
                <a:spcPct val="100000"/>
              </a:lnSpc>
              <a:buNone/>
            </a:pPr>
            <a:r>
              <a:rPr lang="en-US" sz="3320" b="1" i="1" dirty="0">
                <a:solidFill>
                  <a:srgbClr val="FFFFFF"/>
                </a:solidFill>
                <a:latin typeface="Cambria"/>
                <a:ea typeface="Cambria"/>
                <a:cs typeface="Cambria"/>
              </a:rPr>
              <a:t>ΔT</a:t>
            </a:r>
            <a:r>
              <a:rPr baseline="-25000" lang="en-US" sz="3320" b="1" i="1" dirty="0">
                <a:solidFill>
                  <a:srgbClr val="FFFFFF"/>
                </a:solidFill>
                <a:latin typeface="Cambria"/>
                <a:ea typeface="Cambria"/>
                <a:cs typeface="Cambria"/>
              </a:rPr>
              <a:t>bp</a:t>
            </a:r>
            <a:r>
              <a:rPr lang="en-US" sz="3320" b="1" i="1" dirty="0">
                <a:solidFill>
                  <a:srgbClr val="FFFFFF"/>
                </a:solidFill>
                <a:latin typeface="Cambria"/>
                <a:ea typeface="Cambria"/>
                <a:cs typeface="Cambria"/>
              </a:rPr>
              <a:t xml:space="preserve"> = 0.512 × 1.5 = 0.77 °C</a:t>
            </a:r>
          </a:p>
        </p:txBody>
      </p:sp>
      <p:sp>
        <p:nvSpPr>
          <p:cNvPr id="109" name="Text 9"/>
          <p:cNvSpPr txBox="1"/>
          <p:nvPr/>
        </p:nvSpPr>
        <p:spPr>
          <a:xfrm>
            <a:off x="2554121" y="7163643"/>
            <a:ext cx="2559013" cy="366017"/>
          </a:xfrm>
          <a:prstGeom prst="rect">
            <a:avLst/>
          </a:prstGeom>
          <a:noFill/>
        </p:spPr>
        <p:txBody>
          <a:bodyPr wrap="none" lIns="0" tIns="0" rIns="0" bIns="0" rtlCol="0" anchor="ctr" anchorCtr="1">
            <a:noAutofit/>
          </a:bodyPr>
          <a:lstStyle/>
          <a:p>
            <a:pPr algn="ctr" rtl="1">
              <a:lnSpc>
                <a:spcPct val="100000"/>
              </a:lnSpc>
              <a:buNone/>
            </a:pPr>
            <a:r>
              <a:rPr lang="ar-SA" sz="2010" b="1" i="0" dirty="0">
                <a:solidFill>
                  <a:srgbClr val="E6E6E6"/>
                </a:solidFill>
                <a:latin typeface="Tahoma"/>
                <a:ea typeface="Tahoma"/>
                <a:cs typeface="Tahoma"/>
              </a:rPr>
              <a:t>النتيجة النهائية</a:t>
            </a:r>
          </a:p>
        </p:txBody>
      </p:sp>
      <p:sp>
        <p:nvSpPr>
          <p:cNvPr id="110" name="Text 10"/>
          <p:cNvSpPr txBox="1"/>
          <p:nvPr/>
        </p:nvSpPr>
        <p:spPr>
          <a:xfrm>
            <a:off x="2966040" y="7511950"/>
            <a:ext cx="10229406" cy="684807"/>
          </a:xfrm>
          <a:prstGeom prst="rect">
            <a:avLst/>
          </a:prstGeom>
          <a:noFill/>
        </p:spPr>
        <p:txBody>
          <a:bodyPr wrap="none" lIns="0" tIns="0" rIns="0" bIns="0" rtlCol="0" anchor="ctr" anchorCtr="1">
            <a:noAutofit/>
          </a:bodyPr>
          <a:lstStyle/>
          <a:p>
            <a:pPr rtl="0" algn="ctr">
              <a:lnSpc>
                <a:spcPct val="100000"/>
              </a:lnSpc>
              <a:buNone/>
            </a:pPr>
            <a:r>
              <a:rPr lang="en-US" sz="3030" b="1" i="0" dirty="0">
                <a:solidFill>
                  <a:srgbClr val="FFFFFF"/>
                </a:solidFill>
                <a:latin typeface="Tahoma"/>
                <a:ea typeface="Tahoma"/>
                <a:cs typeface="Tahoma"/>
              </a:rPr>
              <a:t>T</a:t>
            </a:r>
            <a:r>
              <a:rPr baseline="-25000" lang="en-US" sz="3030" b="1" i="0" dirty="0">
                <a:solidFill>
                  <a:srgbClr val="FFFFFF"/>
                </a:solidFill>
                <a:latin typeface="Tahoma"/>
                <a:ea typeface="Tahoma"/>
                <a:cs typeface="Tahoma"/>
              </a:rPr>
              <a:t>b</a:t>
            </a:r>
            <a:r>
              <a:rPr lang="en-US" sz="3030" b="1" i="0" dirty="0">
                <a:solidFill>
                  <a:srgbClr val="FFFFFF"/>
                </a:solidFill>
                <a:latin typeface="Tahoma"/>
                <a:ea typeface="Tahoma"/>
                <a:cs typeface="Tahoma"/>
              </a:rPr>
              <a:t xml:space="preserve"> = 100 + ΔT</a:t>
            </a:r>
            <a:r>
              <a:rPr baseline="-25000" lang="en-US" sz="3030" b="1" i="0" dirty="0">
                <a:solidFill>
                  <a:srgbClr val="FFFFFF"/>
                </a:solidFill>
                <a:latin typeface="Tahoma"/>
                <a:ea typeface="Tahoma"/>
                <a:cs typeface="Tahoma"/>
              </a:rPr>
              <a:t>bp</a:t>
            </a:r>
            <a:r>
              <a:rPr lang="en-US" sz="3030" b="1" i="0" dirty="0">
                <a:solidFill>
                  <a:srgbClr val="FFFFFF"/>
                </a:solidFill>
                <a:latin typeface="Tahoma"/>
                <a:ea typeface="Tahoma"/>
                <a:cs typeface="Tahoma"/>
              </a:rPr>
              <a:t xml:space="preserve"> = 100 + 0.77 = 100.77 °C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600"/>
                                        <p:tgtEl>
                                          <p:spTgt spid="101"/>
                                        </p:tgtEl>
                                      </p:cBhvr>
                                    </p:animEffect>
                                    <p:anim calcmode="lin" valueType="num">
                                      <p:cBhvr>
                                        <p:cTn id="8" dur="600" fill="hold"/>
                                        <p:tgtEl>
                                          <p:spTgt spid="101"/>
                                        </p:tgtEl>
                                        <p:attrNameLst>
                                          <p:attrName>ppt_w</p:attrName>
                                        </p:attrNameLst>
                                      </p:cBhvr>
                                      <p:tavLst>
                                        <p:tav tm="0">
                                          <p:val>
                                            <p:strVal val="0"/>
                                          </p:val>
                                        </p:tav>
                                        <p:tav tm="100000">
                                          <p:val>
                                            <p:strVal val="#ppt_w"/>
                                          </p:val>
                                        </p:tav>
                                      </p:tavLst>
                                    </p:anim>
                                    <p:anim calcmode="lin" valueType="num">
                                      <p:cBhvr>
                                        <p:cTn id="9"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1" presetID="42" presetClass="entr" presetSubtype="0" fill="hold" grpId="0" nodeType="after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600"/>
                                        <p:tgtEl>
                                          <p:spTgt spid="102"/>
                                        </p:tgtEl>
                                      </p:cBhvr>
                                    </p:animEffect>
                                    <p:anim calcmode="lin" valueType="num">
                                      <p:cBhvr>
                                        <p:cTn id="14" dur="600" fill="hold"/>
                                        <p:tgtEl>
                                          <p:spTgt spid="102"/>
                                        </p:tgtEl>
                                        <p:attrNameLst>
                                          <p:attrName>ppt_x</p:attrName>
                                        </p:attrNameLst>
                                      </p:cBhvr>
                                      <p:tavLst>
                                        <p:tav tm="0">
                                          <p:val>
                                            <p:strVal val="#ppt_x"/>
                                          </p:val>
                                        </p:tav>
                                        <p:tav tm="100000">
                                          <p:val>
                                            <p:strVal val="#ppt_x"/>
                                          </p:val>
                                        </p:tav>
                                      </p:tavLst>
                                    </p:anim>
                                    <p:anim calcmode="lin" valueType="num">
                                      <p:cBhvr>
                                        <p:cTn id="15" dur="600" fill="hold"/>
                                        <p:tgtEl>
                                          <p:spTgt spid="102"/>
                                        </p:tgtEl>
                                        <p:attrNameLst>
                                          <p:attrName>ppt_y</p:attrName>
                                        </p:attrNameLst>
                                      </p:cBhvr>
                                      <p:tavLst>
                                        <p:tav tm="0">
                                          <p:val>
                                            <p:strVal val="#ppt_y+.1"/>
                                          </p:val>
                                        </p:tav>
                                        <p:tav tm="100000">
                                          <p:val>
                                            <p:strVal val="#ppt_y"/>
                                          </p:val>
                                        </p:tav>
                                      </p:tavLst>
                                    </p:anim>
                                  </p:childTnLst>
                                </p:cTn>
                              </p:par>
                            </p:childTnLst>
                          </p:cTn>
                        </p:par>
                        <p:par>
                          <p:cTn id="16" fill="hold">
                            <p:stCondLst>
                              <p:cond delay="1400"/>
                            </p:stCondLst>
                            <p:childTnLst>
                              <p:par>
                                <p:cTn id="17" presetID="10" presetClass="entr" presetSubtype="0" fill="hold" grpId="0" nodeType="afterEffect">
                                  <p:stCondLst>
                                    <p:cond delay="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600"/>
                                        <p:tgtEl>
                                          <p:spTgt spid="103"/>
                                        </p:tgtEl>
                                      </p:cBhvr>
                                    </p:animEffect>
                                  </p:childTnLst>
                                </p:cTn>
                              </p:par>
                            </p:childTnLst>
                          </p:cTn>
                        </p:par>
                        <p:par>
                          <p:cTn id="20" fill="hold">
                            <p:stCondLst>
                              <p:cond delay="2100"/>
                            </p:stCondLst>
                            <p:childTnLst>
                              <p:par>
                                <p:cTn id="21" presetID="22" presetClass="entr" presetSubtype="2" fill="hold" grpId="0" nodeType="afterEffect">
                                  <p:stCondLst>
                                    <p:cond delay="0"/>
                                  </p:stCondLst>
                                  <p:childTnLst>
                                    <p:set>
                                      <p:cBhvr>
                                        <p:cTn id="22" dur="1" fill="hold">
                                          <p:stCondLst>
                                            <p:cond delay="0"/>
                                          </p:stCondLst>
                                        </p:cTn>
                                        <p:tgtEl>
                                          <p:spTgt spid="104"/>
                                        </p:tgtEl>
                                        <p:attrNameLst>
                                          <p:attrName>style.visibility</p:attrName>
                                        </p:attrNameLst>
                                      </p:cBhvr>
                                      <p:to>
                                        <p:strVal val="visible"/>
                                      </p:to>
                                    </p:set>
                                    <p:animEffect transition="in" filter="wipe(right)">
                                      <p:cBhvr>
                                        <p:cTn id="23" dur="700"/>
                                        <p:tgtEl>
                                          <p:spTgt spid="104"/>
                                        </p:tgtEl>
                                      </p:cBhvr>
                                    </p:animEffect>
                                  </p:childTnLst>
                                </p:cTn>
                              </p:par>
                            </p:childTnLst>
                          </p:cTn>
                        </p:par>
                        <p:par>
                          <p:cTn id="24" fill="hold">
                            <p:stCondLst>
                              <p:cond delay="2900"/>
                            </p:stCondLst>
                            <p:childTnLst>
                              <p:par>
                                <p:cTn id="25" presetID="10" presetClass="entr" presetSubtype="0" fill="hold" grpId="0" nodeType="afterEffect">
                                  <p:stCondLst>
                                    <p:cond delay="0"/>
                                  </p:stCondLst>
                                  <p:childTnLst>
                                    <p:set>
                                      <p:cBhvr>
                                        <p:cTn id="26" dur="1" fill="hold">
                                          <p:stCondLst>
                                            <p:cond delay="0"/>
                                          </p:stCondLst>
                                        </p:cTn>
                                        <p:tgtEl>
                                          <p:spTgt spid="105"/>
                                        </p:tgtEl>
                                        <p:attrNameLst>
                                          <p:attrName>style.visibility</p:attrName>
                                        </p:attrNameLst>
                                      </p:cBhvr>
                                      <p:to>
                                        <p:strVal val="visible"/>
                                      </p:to>
                                    </p:set>
                                    <p:animEffect transition="in" filter="fade">
                                      <p:cBhvr>
                                        <p:cTn id="27" dur="600"/>
                                        <p:tgtEl>
                                          <p:spTgt spid="105"/>
                                        </p:tgtEl>
                                      </p:cBhvr>
                                    </p:animEffect>
                                  </p:childTnLst>
                                </p:cTn>
                              </p:par>
                            </p:childTnLst>
                          </p:cTn>
                        </p:par>
                        <p:par>
                          <p:cTn id="28" fill="hold">
                            <p:stCondLst>
                              <p:cond delay="3600"/>
                            </p:stCondLst>
                            <p:childTnLst>
                              <p:par>
                                <p:cTn id="29" presetID="42" presetClass="entr" presetSubtype="0" fill="hold" grpId="0" nodeType="afterEffect">
                                  <p:stCondLst>
                                    <p:cond delay="0"/>
                                  </p:stCondLst>
                                  <p:childTnLst>
                                    <p:set>
                                      <p:cBhvr>
                                        <p:cTn id="30" dur="1" fill="hold">
                                          <p:stCondLst>
                                            <p:cond delay="0"/>
                                          </p:stCondLst>
                                        </p:cTn>
                                        <p:tgtEl>
                                          <p:spTgt spid="106">
                                            <p:txEl>
                                              <p:pRg st="0" end="0"/>
                                            </p:txEl>
                                          </p:spTgt>
                                        </p:tgtEl>
                                        <p:attrNameLst>
                                          <p:attrName>style.visibility</p:attrName>
                                        </p:attrNameLst>
                                      </p:cBhvr>
                                      <p:to>
                                        <p:strVal val="visible"/>
                                      </p:to>
                                    </p:set>
                                    <p:animEffect transition="in" filter="fade">
                                      <p:cBhvr>
                                        <p:cTn id="31" dur="600"/>
                                        <p:tgtEl>
                                          <p:spTgt spid="106">
                                            <p:txEl>
                                              <p:pRg st="0" end="0"/>
                                            </p:txEl>
                                          </p:spTgt>
                                        </p:tgtEl>
                                      </p:cBhvr>
                                    </p:animEffect>
                                    <p:anim calcmode="lin" valueType="num">
                                      <p:cBhvr>
                                        <p:cTn id="32" dur="600" fill="hold"/>
                                        <p:tgtEl>
                                          <p:spTgt spid="106">
                                            <p:txEl>
                                              <p:pRg st="0" end="0"/>
                                            </p:txEl>
                                          </p:spTgt>
                                        </p:tgtEl>
                                        <p:attrNameLst>
                                          <p:attrName>ppt_x</p:attrName>
                                        </p:attrNameLst>
                                      </p:cBhvr>
                                      <p:tavLst>
                                        <p:tav tm="0">
                                          <p:val>
                                            <p:strVal val="#ppt_x"/>
                                          </p:val>
                                        </p:tav>
                                        <p:tav tm="100000">
                                          <p:val>
                                            <p:strVal val="#ppt_x"/>
                                          </p:val>
                                        </p:tav>
                                      </p:tavLst>
                                    </p:anim>
                                    <p:anim calcmode="lin" valueType="num">
                                      <p:cBhvr>
                                        <p:cTn id="33" dur="600" fill="hold"/>
                                        <p:tgtEl>
                                          <p:spTgt spid="106">
                                            <p:txEl>
                                              <p:pRg st="0" end="0"/>
                                            </p:txEl>
                                          </p:spTgt>
                                        </p:tgtEl>
                                        <p:attrNameLst>
                                          <p:attrName>ppt_y</p:attrName>
                                        </p:attrNameLst>
                                      </p:cBhvr>
                                      <p:tavLst>
                                        <p:tav tm="0">
                                          <p:val>
                                            <p:strVal val="#ppt_y+.1"/>
                                          </p:val>
                                        </p:tav>
                                        <p:tav tm="100000">
                                          <p:val>
                                            <p:strVal val="#ppt_y"/>
                                          </p:val>
                                        </p:tav>
                                      </p:tavLst>
                                    </p:anim>
                                  </p:childTnLst>
                                </p:cTn>
                              </p:par>
                            </p:childTnLst>
                          </p:cTn>
                        </p:par>
                        <p:par>
                          <p:cTn id="34" fill="hold">
                            <p:stCondLst>
                              <p:cond delay="4300"/>
                            </p:stCondLst>
                            <p:childTnLst>
                              <p:par>
                                <p:cTn id="35" presetID="42" presetClass="entr" presetSubtype="0" fill="hold" grpId="0" nodeType="afterEffect">
                                  <p:stCondLst>
                                    <p:cond delay="0"/>
                                  </p:stCondLst>
                                  <p:childTnLst>
                                    <p:set>
                                      <p:cBhvr>
                                        <p:cTn id="36" dur="1" fill="hold">
                                          <p:stCondLst>
                                            <p:cond delay="0"/>
                                          </p:stCondLst>
                                        </p:cTn>
                                        <p:tgtEl>
                                          <p:spTgt spid="106">
                                            <p:txEl>
                                              <p:pRg st="1" end="1"/>
                                            </p:txEl>
                                          </p:spTgt>
                                        </p:tgtEl>
                                        <p:attrNameLst>
                                          <p:attrName>style.visibility</p:attrName>
                                        </p:attrNameLst>
                                      </p:cBhvr>
                                      <p:to>
                                        <p:strVal val="visible"/>
                                      </p:to>
                                    </p:set>
                                    <p:animEffect transition="in" filter="fade">
                                      <p:cBhvr>
                                        <p:cTn id="37" dur="600"/>
                                        <p:tgtEl>
                                          <p:spTgt spid="106">
                                            <p:txEl>
                                              <p:pRg st="1" end="1"/>
                                            </p:txEl>
                                          </p:spTgt>
                                        </p:tgtEl>
                                      </p:cBhvr>
                                    </p:animEffect>
                                    <p:anim calcmode="lin" valueType="num">
                                      <p:cBhvr>
                                        <p:cTn id="38" dur="600" fill="hold"/>
                                        <p:tgtEl>
                                          <p:spTgt spid="106">
                                            <p:txEl>
                                              <p:pRg st="1" end="1"/>
                                            </p:txEl>
                                          </p:spTgt>
                                        </p:tgtEl>
                                        <p:attrNameLst>
                                          <p:attrName>ppt_x</p:attrName>
                                        </p:attrNameLst>
                                      </p:cBhvr>
                                      <p:tavLst>
                                        <p:tav tm="0">
                                          <p:val>
                                            <p:strVal val="#ppt_x"/>
                                          </p:val>
                                        </p:tav>
                                        <p:tav tm="100000">
                                          <p:val>
                                            <p:strVal val="#ppt_x"/>
                                          </p:val>
                                        </p:tav>
                                      </p:tavLst>
                                    </p:anim>
                                    <p:anim calcmode="lin" valueType="num">
                                      <p:cBhvr>
                                        <p:cTn id="39" dur="600" fill="hold"/>
                                        <p:tgtEl>
                                          <p:spTgt spid="106">
                                            <p:txEl>
                                              <p:pRg st="1" end="1"/>
                                            </p:txEl>
                                          </p:spTgt>
                                        </p:tgtEl>
                                        <p:attrNameLst>
                                          <p:attrName>ppt_y</p:attrName>
                                        </p:attrNameLst>
                                      </p:cBhvr>
                                      <p:tavLst>
                                        <p:tav tm="0">
                                          <p:val>
                                            <p:strVal val="#ppt_y+.1"/>
                                          </p:val>
                                        </p:tav>
                                        <p:tav tm="100000">
                                          <p:val>
                                            <p:strVal val="#ppt_y"/>
                                          </p:val>
                                        </p:tav>
                                      </p:tavLst>
                                    </p:anim>
                                  </p:childTnLst>
                                </p:cTn>
                              </p:par>
                            </p:childTnLst>
                          </p:cTn>
                        </p:par>
                        <p:par>
                          <p:cTn id="40" fill="hold">
                            <p:stCondLst>
                              <p:cond delay="5000"/>
                            </p:stCondLst>
                            <p:childTnLst>
                              <p:par>
                                <p:cTn id="41" presetID="10" presetClass="entr" presetSubtype="0" fill="hold" grpId="0" nodeType="afterEffect">
                                  <p:stCondLst>
                                    <p:cond delay="0"/>
                                  </p:stCondLst>
                                  <p:childTnLst>
                                    <p:set>
                                      <p:cBhvr>
                                        <p:cTn id="42" dur="1" fill="hold">
                                          <p:stCondLst>
                                            <p:cond delay="0"/>
                                          </p:stCondLst>
                                        </p:cTn>
                                        <p:tgtEl>
                                          <p:spTgt spid="107"/>
                                        </p:tgtEl>
                                        <p:attrNameLst>
                                          <p:attrName>style.visibility</p:attrName>
                                        </p:attrNameLst>
                                      </p:cBhvr>
                                      <p:to>
                                        <p:strVal val="visible"/>
                                      </p:to>
                                    </p:set>
                                    <p:animEffect transition="in" filter="fade">
                                      <p:cBhvr>
                                        <p:cTn id="43" dur="600"/>
                                        <p:tgtEl>
                                          <p:spTgt spid="107"/>
                                        </p:tgtEl>
                                      </p:cBhvr>
                                    </p:animEffect>
                                  </p:childTnLst>
                                </p:cTn>
                              </p:par>
                            </p:childTnLst>
                          </p:cTn>
                        </p:par>
                        <p:par>
                          <p:cTn id="44" fill="hold">
                            <p:stCondLst>
                              <p:cond delay="5700"/>
                            </p:stCondLst>
                            <p:childTnLst>
                              <p:par>
                                <p:cTn id="45" presetID="53" presetClass="entr" presetSubtype="16" fill="hold" grpId="0" nodeType="afterEffect">
                                  <p:stCondLst>
                                    <p:cond delay="0"/>
                                  </p:stCondLst>
                                  <p:childTnLst>
                                    <p:set>
                                      <p:cBhvr>
                                        <p:cTn id="46" dur="1" fill="hold">
                                          <p:stCondLst>
                                            <p:cond delay="0"/>
                                          </p:stCondLst>
                                        </p:cTn>
                                        <p:tgtEl>
                                          <p:spTgt spid="108"/>
                                        </p:tgtEl>
                                        <p:attrNameLst>
                                          <p:attrName>style.visibility</p:attrName>
                                        </p:attrNameLst>
                                      </p:cBhvr>
                                      <p:to>
                                        <p:strVal val="visible"/>
                                      </p:to>
                                    </p:set>
                                    <p:animEffect transition="in" filter="fade">
                                      <p:cBhvr>
                                        <p:cTn id="47" dur="600"/>
                                        <p:tgtEl>
                                          <p:spTgt spid="108"/>
                                        </p:tgtEl>
                                      </p:cBhvr>
                                    </p:animEffect>
                                    <p:anim calcmode="lin" valueType="num">
                                      <p:cBhvr>
                                        <p:cTn id="48" dur="600" fill="hold"/>
                                        <p:tgtEl>
                                          <p:spTgt spid="108"/>
                                        </p:tgtEl>
                                        <p:attrNameLst>
                                          <p:attrName>ppt_w</p:attrName>
                                        </p:attrNameLst>
                                      </p:cBhvr>
                                      <p:tavLst>
                                        <p:tav tm="0">
                                          <p:val>
                                            <p:strVal val="0"/>
                                          </p:val>
                                        </p:tav>
                                        <p:tav tm="100000">
                                          <p:val>
                                            <p:strVal val="#ppt_w"/>
                                          </p:val>
                                        </p:tav>
                                      </p:tavLst>
                                    </p:anim>
                                    <p:anim calcmode="lin" valueType="num">
                                      <p:cBhvr>
                                        <p:cTn id="49" dur="600" fill="hold"/>
                                        <p:tgtEl>
                                          <p:spTgt spid="108"/>
                                        </p:tgtEl>
                                        <p:attrNameLst>
                                          <p:attrName>ppt_h</p:attrName>
                                        </p:attrNameLst>
                                      </p:cBhvr>
                                      <p:tavLst>
                                        <p:tav tm="0">
                                          <p:val>
                                            <p:strVal val="0"/>
                                          </p:val>
                                        </p:tav>
                                        <p:tav tm="100000">
                                          <p:val>
                                            <p:strVal val="#ppt_h"/>
                                          </p:val>
                                        </p:tav>
                                      </p:tavLst>
                                    </p:anim>
                                  </p:childTnLst>
                                </p:cTn>
                              </p:par>
                            </p:childTnLst>
                          </p:cTn>
                        </p:par>
                        <p:par>
                          <p:cTn id="50" fill="hold">
                            <p:stCondLst>
                              <p:cond delay="6400"/>
                            </p:stCondLst>
                            <p:childTnLst>
                              <p:par>
                                <p:cTn id="51" presetID="10" presetClass="entr" presetSubtype="0" fill="hold" grpId="0" nodeType="afterEffect">
                                  <p:stCondLst>
                                    <p:cond delay="0"/>
                                  </p:stCondLst>
                                  <p:childTnLst>
                                    <p:set>
                                      <p:cBhvr>
                                        <p:cTn id="52" dur="1" fill="hold">
                                          <p:stCondLst>
                                            <p:cond delay="0"/>
                                          </p:stCondLst>
                                        </p:cTn>
                                        <p:tgtEl>
                                          <p:spTgt spid="109"/>
                                        </p:tgtEl>
                                        <p:attrNameLst>
                                          <p:attrName>style.visibility</p:attrName>
                                        </p:attrNameLst>
                                      </p:cBhvr>
                                      <p:to>
                                        <p:strVal val="visible"/>
                                      </p:to>
                                    </p:set>
                                    <p:animEffect transition="in" filter="fade">
                                      <p:cBhvr>
                                        <p:cTn id="53" dur="600"/>
                                        <p:tgtEl>
                                          <p:spTgt spid="109"/>
                                        </p:tgtEl>
                                      </p:cBhvr>
                                    </p:animEffect>
                                  </p:childTnLst>
                                </p:cTn>
                              </p:par>
                            </p:childTnLst>
                          </p:cTn>
                        </p:par>
                        <p:par>
                          <p:cTn id="54" fill="hold">
                            <p:stCondLst>
                              <p:cond delay="7100"/>
                            </p:stCondLst>
                            <p:childTnLst>
                              <p:par>
                                <p:cTn id="55" presetID="53" presetClass="entr" presetSubtype="16" fill="hold" grpId="0" nodeType="afterEffect">
                                  <p:stCondLst>
                                    <p:cond delay="0"/>
                                  </p:stCondLst>
                                  <p:childTnLst>
                                    <p:set>
                                      <p:cBhvr>
                                        <p:cTn id="56" dur="1" fill="hold">
                                          <p:stCondLst>
                                            <p:cond delay="0"/>
                                          </p:stCondLst>
                                        </p:cTn>
                                        <p:tgtEl>
                                          <p:spTgt spid="110"/>
                                        </p:tgtEl>
                                        <p:attrNameLst>
                                          <p:attrName>style.visibility</p:attrName>
                                        </p:attrNameLst>
                                      </p:cBhvr>
                                      <p:to>
                                        <p:strVal val="visible"/>
                                      </p:to>
                                    </p:set>
                                    <p:animEffect transition="in" filter="fade">
                                      <p:cBhvr>
                                        <p:cTn id="57" dur="600"/>
                                        <p:tgtEl>
                                          <p:spTgt spid="110"/>
                                        </p:tgtEl>
                                      </p:cBhvr>
                                    </p:animEffect>
                                    <p:anim calcmode="lin" valueType="num">
                                      <p:cBhvr>
                                        <p:cTn id="58" dur="600" fill="hold"/>
                                        <p:tgtEl>
                                          <p:spTgt spid="110"/>
                                        </p:tgtEl>
                                        <p:attrNameLst>
                                          <p:attrName>ppt_w</p:attrName>
                                        </p:attrNameLst>
                                      </p:cBhvr>
                                      <p:tavLst>
                                        <p:tav tm="0">
                                          <p:val>
                                            <p:strVal val="0"/>
                                          </p:val>
                                        </p:tav>
                                        <p:tav tm="100000">
                                          <p:val>
                                            <p:strVal val="#ppt_w"/>
                                          </p:val>
                                        </p:tav>
                                      </p:tavLst>
                                    </p:anim>
                                    <p:anim calcmode="lin" valueType="num">
                                      <p:cBhvr>
                                        <p:cTn id="59" dur="600" fill="hold"/>
                                        <p:tgtEl>
                                          <p:spTgt spid="11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P spid="104" grpId="0"/>
      <p:bldP spid="105" grpId="0"/>
      <p:bldP spid="106" grpId="0" build="p"/>
      <p:bldP spid="107" grpId="0"/>
      <p:bldP spid="108" grpId="0"/>
      <p:bldP spid="109" grpId="0"/>
      <p:bldP spid="1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Divider card"/>
          <p:cNvSpPr/>
          <p:nvPr/>
        </p:nvSpPr>
        <p:spPr>
          <a:xfrm>
            <a:off x="3520558" y="2500312"/>
            <a:ext cx="9214883" cy="4167187"/>
          </a:xfrm>
          <a:prstGeom prst="roundRect">
            <a:avLst>
              <a:gd name="adj" fmla="val 8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3" name="Title"/>
          <p:cNvSpPr txBox="1"/>
          <p:nvPr/>
        </p:nvSpPr>
        <p:spPr>
          <a:xfrm>
            <a:off x="3756837" y="3786187"/>
            <a:ext cx="8742325" cy="1333500"/>
          </a:xfrm>
          <a:prstGeom prst="rect">
            <a:avLst/>
          </a:prstGeom>
          <a:noFill/>
          <a:ln>
            <a:noFill/>
          </a:ln>
        </p:spPr>
        <p:txBody>
          <a:bodyPr wrap="square" lIns="0" tIns="0" rIns="0" bIns="0" rtlCol="0" anchor="ctr">
            <a:noAutofit/>
          </a:bodyPr>
          <a:lstStyle/>
          <a:p>
            <a:pPr algn="ctr" rtl="1">
              <a:lnSpc>
                <a:spcPct val="110000"/>
              </a:lnSpc>
              <a:buNone/>
            </a:pPr>
            <a:r>
              <a:rPr lang="ar-SA" sz="4400" b="1" i="0" dirty="0">
                <a:solidFill>
                  <a:srgbClr val="2B3038"/>
                </a:solidFill>
                <a:latin typeface="Tahoma"/>
                <a:ea typeface="Tahoma"/>
                <a:cs typeface="Tahoma"/>
              </a:rPr>
              <a:t>الارتفاع في درجة الغليان</a:t>
            </a:r>
          </a:p>
        </p:txBody>
      </p:sp>
      <p:sp>
        <p:nvSpPr>
          <p:cNvPr id="14" name="Subtitle"/>
          <p:cNvSpPr txBox="1"/>
          <p:nvPr/>
        </p:nvSpPr>
        <p:spPr>
          <a:xfrm>
            <a:off x="3756837" y="5238750"/>
            <a:ext cx="8742325" cy="714375"/>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5D6570"/>
                </a:solidFill>
                <a:latin typeface="Tahoma"/>
                <a:ea typeface="Tahoma"/>
                <a:cs typeface="Tahoma"/>
              </a:rPr>
              <a:t>اختبر فهمك: السؤال أولاً، ثم اضغط لإظهار الإجابة</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id="9" presetID="53" presetClass="entr" presetSubtype="16"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600"/>
                                        <p:tgtEl>
                                          <p:spTgt spid="13"/>
                                        </p:tgtEl>
                                      </p:cBhvr>
                                    </p:animEffect>
                                    <p:anim calcmode="lin" valueType="num">
                                      <p:cBhvr>
                                        <p:cTn id="12" dur="600" fill="hold"/>
                                        <p:tgtEl>
                                          <p:spTgt spid="13"/>
                                        </p:tgtEl>
                                        <p:attrNameLst>
                                          <p:attrName>ppt_w</p:attrName>
                                        </p:attrNameLst>
                                      </p:cBhvr>
                                      <p:tavLst>
                                        <p:tav tm="0">
                                          <p:val>
                                            <p:strVal val="0"/>
                                          </p:val>
                                        </p:tav>
                                        <p:tav tm="100000">
                                          <p:val>
                                            <p:strVal val="#ppt_w"/>
                                          </p:val>
                                        </p:tav>
                                      </p:tavLst>
                                    </p:anim>
                                    <p:anim calcmode="lin" valueType="num">
                                      <p:cBhvr>
                                        <p:cTn id="13" dur="600" fill="hold"/>
                                        <p:tgtEl>
                                          <p:spTgt spid="13"/>
                                        </p:tgtEl>
                                        <p:attrNameLst>
                                          <p:attrName>ppt_h</p:attrName>
                                        </p:attrNameLst>
                                      </p:cBhvr>
                                      <p:tavLst>
                                        <p:tav tm="0">
                                          <p:val>
                                            <p:strVal val="0"/>
                                          </p:val>
                                        </p:tav>
                                        <p:tav tm="100000">
                                          <p:val>
                                            <p:strVal val="#ppt_h"/>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anim calcmode="lin" valueType="num">
                                      <p:cBhvr>
                                        <p:cTn id="18" dur="500" fill="hold"/>
                                        <p:tgtEl>
                                          <p:spTgt spid="14"/>
                                        </p:tgtEl>
                                        <p:attrNameLst>
                                          <p:attrName>ppt_x</p:attrName>
                                        </p:attrNameLst>
                                      </p:cBhvr>
                                      <p:tavLst>
                                        <p:tav tm="0">
                                          <p:val>
                                            <p:strVal val="#ppt_x"/>
                                          </p:val>
                                        </p:tav>
                                        <p:tav tm="100000">
                                          <p:val>
                                            <p:strVal val="#ppt_x"/>
                                          </p:val>
                                        </p:tav>
                                      </p:tavLst>
                                    </p:anim>
                                    <p:anim calcmode="lin" valueType="num">
                                      <p:cBhvr>
                                        <p:cTn id="1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الارتفاع في درجة الغليان</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الثانية</a:t>
            </a:r>
          </a:p>
        </p:txBody>
      </p:sp>
      <p:sp>
        <p:nvSpPr>
          <p:cNvPr id="13" name="Card 1"/>
          <p:cNvSpPr/>
          <p:nvPr/>
        </p:nvSpPr>
        <p:spPr>
          <a:xfrm>
            <a:off x="708837" y="1328442"/>
            <a:ext cx="14838325" cy="19566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1"/>
          <p:cNvSpPr/>
          <p:nvPr/>
        </p:nvSpPr>
        <p:spPr>
          <a:xfrm>
            <a:off x="14838325" y="151894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1</a:t>
            </a:r>
          </a:p>
        </p:txBody>
      </p:sp>
      <p:sp>
        <p:nvSpPr>
          <p:cNvPr id="15" name="Tag 1"/>
          <p:cNvSpPr txBox="1"/>
          <p:nvPr/>
        </p:nvSpPr>
        <p:spPr>
          <a:xfrm>
            <a:off x="1016000" y="149513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اكتب الاسم أو المصطلح العلمي</a:t>
            </a:r>
          </a:p>
        </p:txBody>
      </p:sp>
      <p:sp>
        <p:nvSpPr>
          <p:cNvPr id="16" name="Question 1"/>
          <p:cNvSpPr txBox="1"/>
          <p:nvPr/>
        </p:nvSpPr>
        <p:spPr>
          <a:xfrm>
            <a:off x="1016000" y="1876130"/>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التغير في درجة غليان محلول تركيزه المولالي واحد لمذاب جزيئي غير متطاير.</a:t>
            </a:r>
          </a:p>
        </p:txBody>
      </p:sp>
      <p:sp>
        <p:nvSpPr>
          <p:cNvPr id="17" name="Answer 1"/>
          <p:cNvSpPr/>
          <p:nvPr/>
        </p:nvSpPr>
        <p:spPr>
          <a:xfrm>
            <a:off x="9506171" y="2475488"/>
            <a:ext cx="5166758"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ثابت الغليان المولالي ‪(K</a:t>
            </a:r>
            <a:r>
              <a:rPr lang="ar-SA" sz="2400" b="1" i="0" baseline="-25000" dirty="0">
                <a:solidFill>
                  <a:srgbClr val="A86A12"/>
                </a:solidFill>
                <a:latin typeface="Tahoma"/>
                <a:ea typeface="Tahoma"/>
                <a:cs typeface="Tahoma"/>
              </a:rPr>
              <a:t>bp</a:t>
            </a:r>
            <a:r>
              <a:rPr lang="ar-SA" sz="2400" b="1" i="0" dirty="0">
                <a:solidFill>
                  <a:srgbClr val="A86A12"/>
                </a:solidFill>
                <a:latin typeface="Tahoma"/>
                <a:ea typeface="Tahoma"/>
                <a:cs typeface="Tahoma"/>
              </a:rPr>
              <a:t>)‬</a:t>
            </a:r>
          </a:p>
        </p:txBody>
      </p:sp>
      <p:sp>
        <p:nvSpPr>
          <p:cNvPr id="18" name="Card 2"/>
          <p:cNvSpPr/>
          <p:nvPr/>
        </p:nvSpPr>
        <p:spPr>
          <a:xfrm>
            <a:off x="708837" y="3565806"/>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2"/>
          <p:cNvSpPr/>
          <p:nvPr/>
        </p:nvSpPr>
        <p:spPr>
          <a:xfrm>
            <a:off x="14838325" y="3756306"/>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2</a:t>
            </a:r>
          </a:p>
        </p:txBody>
      </p:sp>
      <p:sp>
        <p:nvSpPr>
          <p:cNvPr id="20" name="Tag 2"/>
          <p:cNvSpPr txBox="1"/>
          <p:nvPr/>
        </p:nvSpPr>
        <p:spPr>
          <a:xfrm>
            <a:off x="1016000" y="3732493"/>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ضع كلمة (صحيحة) أو (خطأ)</a:t>
            </a:r>
          </a:p>
        </p:txBody>
      </p:sp>
      <p:sp>
        <p:nvSpPr>
          <p:cNvPr id="21" name="Question 2"/>
          <p:cNvSpPr txBox="1"/>
          <p:nvPr/>
        </p:nvSpPr>
        <p:spPr>
          <a:xfrm>
            <a:off x="1016000" y="4113493"/>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عند إذابة مذاب جزيئي غير متطاير في ماء نقي فإن مقدار الانخفاض في الضغط البخاري للمحلول يتناسب طردياً مع مقدار الارتفاع في درجة غليان المحلول.</a:t>
            </a:r>
          </a:p>
        </p:txBody>
      </p:sp>
      <p:sp>
        <p:nvSpPr>
          <p:cNvPr id="22" name="Answer 2"/>
          <p:cNvSpPr/>
          <p:nvPr/>
        </p:nvSpPr>
        <p:spPr>
          <a:xfrm>
            <a:off x="12563031" y="5121710"/>
            <a:ext cx="2109898" cy="571500"/>
          </a:xfrm>
          <a:prstGeom prst="roundRect">
            <a:avLst>
              <a:gd name="adj" fmla="val 50000"/>
            </a:avLst>
          </a:prstGeom>
          <a:solidFill>
            <a:srgbClr val="2E8B57">
              <a:alpha val="14000"/>
            </a:srgbClr>
          </a:solidFill>
          <a:ln w="15875" cap="rnd">
            <a:solidFill>
              <a:srgbClr val="2E8B57">
                <a:alpha val="85000"/>
              </a:srgbClr>
            </a:solidFill>
            <a:round/>
          </a:ln>
        </p:spPr>
        <p:txBody>
          <a:bodyPr wrap="square" lIns="0" tIns="0" rIns="0" bIns="0" rtlCol="0" anchor="ctr">
            <a:noAutofit/>
          </a:bodyPr>
          <a:lstStyle/>
          <a:p>
            <a:pPr algn="ctr" rtl="1">
              <a:lnSpc>
                <a:spcPct val="110000"/>
              </a:lnSpc>
              <a:buNone/>
            </a:pPr>
            <a:r>
              <a:rPr lang="ar-SA" sz="2400" b="1" i="0" dirty="0">
                <a:solidFill>
                  <a:srgbClr val="2E8B57"/>
                </a:solidFill>
                <a:latin typeface="Tahoma"/>
                <a:ea typeface="Tahoma"/>
                <a:cs typeface="Tahoma"/>
              </a:rPr>
              <a:t>صحيحة ✓</a:t>
            </a:r>
          </a:p>
        </p:txBody>
      </p:sp>
      <p:sp>
        <p:nvSpPr>
          <p:cNvPr id="23" name="Card 3"/>
          <p:cNvSpPr/>
          <p:nvPr/>
        </p:nvSpPr>
        <p:spPr>
          <a:xfrm>
            <a:off x="708837" y="6212028"/>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24" name="Number 3"/>
          <p:cNvSpPr/>
          <p:nvPr/>
        </p:nvSpPr>
        <p:spPr>
          <a:xfrm>
            <a:off x="14838325" y="6402528"/>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3</a:t>
            </a:r>
          </a:p>
        </p:txBody>
      </p:sp>
      <p:sp>
        <p:nvSpPr>
          <p:cNvPr id="25" name="Tag 3"/>
          <p:cNvSpPr txBox="1"/>
          <p:nvPr/>
        </p:nvSpPr>
        <p:spPr>
          <a:xfrm>
            <a:off x="1016000" y="6378715"/>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 بما يناسبه علمياً</a:t>
            </a:r>
          </a:p>
        </p:txBody>
      </p:sp>
      <p:sp>
        <p:nvSpPr>
          <p:cNvPr id="26" name="Question 3"/>
          <p:cNvSpPr txBox="1"/>
          <p:nvPr/>
        </p:nvSpPr>
        <p:spPr>
          <a:xfrm>
            <a:off x="1016000" y="6759715"/>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درجة غليان الماء النقي ............ درجة غليان المحلول المائي لأي مادة غير إلكتروليتية وغير متطايرة.</a:t>
            </a:r>
          </a:p>
        </p:txBody>
      </p:sp>
      <p:sp>
        <p:nvSpPr>
          <p:cNvPr id="27" name="Answer 3"/>
          <p:cNvSpPr/>
          <p:nvPr/>
        </p:nvSpPr>
        <p:spPr>
          <a:xfrm>
            <a:off x="12874255" y="7767932"/>
            <a:ext cx="1798674"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أقل من</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par>
                          <p:cTn id="37" fill="hold">
                            <p:stCondLst>
                              <p:cond delay="1480"/>
                            </p:stCondLst>
                            <p:childTnLst>
                              <p:par>
                                <p:cTn id="38" presetID="10" presetClass="entr" presetSubtype="0"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5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5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50"/>
                                        <p:tgtEl>
                                          <p:spTgt spid="2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50"/>
                                        <p:tgtEl>
                                          <p:spTgt spid="26"/>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50"/>
                                        <p:tgtEl>
                                          <p:spTgt spid="17"/>
                                        </p:tgtEl>
                                      </p:cBhvr>
                                    </p:animEffect>
                                    <p:anim calcmode="lin" valueType="num">
                                      <p:cBhvr>
                                        <p:cTn id="55" dur="450" fill="hold"/>
                                        <p:tgtEl>
                                          <p:spTgt spid="17"/>
                                        </p:tgtEl>
                                        <p:attrNameLst>
                                          <p:attrName>ppt_w</p:attrName>
                                        </p:attrNameLst>
                                      </p:cBhvr>
                                      <p:tavLst>
                                        <p:tav tm="0">
                                          <p:val>
                                            <p:strVal val="0"/>
                                          </p:val>
                                        </p:tav>
                                        <p:tav tm="100000">
                                          <p:val>
                                            <p:strVal val="#ppt_w"/>
                                          </p:val>
                                        </p:tav>
                                      </p:tavLst>
                                    </p:anim>
                                    <p:anim calcmode="lin" valueType="num">
                                      <p:cBhvr>
                                        <p:cTn id="56" dur="450" fill="hold"/>
                                        <p:tgtEl>
                                          <p:spTgt spid="17"/>
                                        </p:tgtEl>
                                        <p:attrNameLst>
                                          <p:attrName>ppt_h</p:attrName>
                                        </p:attrNameLst>
                                      </p:cBhvr>
                                      <p:tavLst>
                                        <p:tav tm="0">
                                          <p:val>
                                            <p:str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anim calcmode="lin" valueType="num">
                                      <p:cBhvr>
                                        <p:cTn id="62" dur="450" fill="hold"/>
                                        <p:tgtEl>
                                          <p:spTgt spid="22"/>
                                        </p:tgtEl>
                                        <p:attrNameLst>
                                          <p:attrName>ppt_w</p:attrName>
                                        </p:attrNameLst>
                                      </p:cBhvr>
                                      <p:tavLst>
                                        <p:tav tm="0">
                                          <p:val>
                                            <p:strVal val="0"/>
                                          </p:val>
                                        </p:tav>
                                        <p:tav tm="100000">
                                          <p:val>
                                            <p:strVal val="#ppt_w"/>
                                          </p:val>
                                        </p:tav>
                                      </p:tavLst>
                                    </p:anim>
                                    <p:anim calcmode="lin" valueType="num">
                                      <p:cBhvr>
                                        <p:cTn id="63" dur="450" fill="hold"/>
                                        <p:tgtEl>
                                          <p:spTgt spid="22"/>
                                        </p:tgtEl>
                                        <p:attrNameLst>
                                          <p:attrName>ppt_h</p:attrName>
                                        </p:attrNameLst>
                                      </p:cBhvr>
                                      <p:tavLst>
                                        <p:tav tm="0">
                                          <p:val>
                                            <p:str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50"/>
                                        <p:tgtEl>
                                          <p:spTgt spid="27"/>
                                        </p:tgtEl>
                                      </p:cBhvr>
                                    </p:animEffect>
                                    <p:anim calcmode="lin" valueType="num">
                                      <p:cBhvr>
                                        <p:cTn id="69" dur="450" fill="hold"/>
                                        <p:tgtEl>
                                          <p:spTgt spid="27"/>
                                        </p:tgtEl>
                                        <p:attrNameLst>
                                          <p:attrName>ppt_w</p:attrName>
                                        </p:attrNameLst>
                                      </p:cBhvr>
                                      <p:tavLst>
                                        <p:tav tm="0">
                                          <p:val>
                                            <p:strVal val="0"/>
                                          </p:val>
                                        </p:tav>
                                        <p:tav tm="100000">
                                          <p:val>
                                            <p:strVal val="#ppt_w"/>
                                          </p:val>
                                        </p:tav>
                                      </p:tavLst>
                                    </p:anim>
                                    <p:anim calcmode="lin" valueType="num">
                                      <p:cBhvr>
                                        <p:cTn id="70" dur="450" fill="hold"/>
                                        <p:tgtEl>
                                          <p:spTgt spid="2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الارتفاع في درجة الغليان</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الثانية</a:t>
            </a:r>
          </a:p>
        </p:txBody>
      </p:sp>
      <p:sp>
        <p:nvSpPr>
          <p:cNvPr id="13" name="Card 4"/>
          <p:cNvSpPr/>
          <p:nvPr/>
        </p:nvSpPr>
        <p:spPr>
          <a:xfrm>
            <a:off x="708837" y="1452562"/>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4"/>
          <p:cNvSpPr/>
          <p:nvPr/>
        </p:nvSpPr>
        <p:spPr>
          <a:xfrm>
            <a:off x="14838325" y="164306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4</a:t>
            </a:r>
          </a:p>
        </p:txBody>
      </p:sp>
      <p:sp>
        <p:nvSpPr>
          <p:cNvPr id="15" name="Tag 4"/>
          <p:cNvSpPr txBox="1"/>
          <p:nvPr/>
        </p:nvSpPr>
        <p:spPr>
          <a:xfrm>
            <a:off x="1016000" y="161925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 بما يناسبه علمياً</a:t>
            </a:r>
          </a:p>
        </p:txBody>
      </p:sp>
      <p:sp>
        <p:nvSpPr>
          <p:cNvPr id="16" name="Question 4"/>
          <p:cNvSpPr txBox="1"/>
          <p:nvPr/>
        </p:nvSpPr>
        <p:spPr>
          <a:xfrm>
            <a:off x="1016000" y="2000250"/>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درجة غليان محلول السكروز الذي تركيزه ‪0.4 m‬ ............ درجة غليان نفس المحلول الذي تركيزه ‪0.1 m‬.</a:t>
            </a:r>
          </a:p>
        </p:txBody>
      </p:sp>
      <p:sp>
        <p:nvSpPr>
          <p:cNvPr id="17" name="Answer 4"/>
          <p:cNvSpPr/>
          <p:nvPr/>
        </p:nvSpPr>
        <p:spPr>
          <a:xfrm>
            <a:off x="12854504" y="3008466"/>
            <a:ext cx="1818425"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أكبر من</a:t>
            </a:r>
          </a:p>
        </p:txBody>
      </p:sp>
      <p:sp>
        <p:nvSpPr>
          <p:cNvPr id="18" name="Card 5"/>
          <p:cNvSpPr/>
          <p:nvPr/>
        </p:nvSpPr>
        <p:spPr>
          <a:xfrm>
            <a:off x="708837" y="4222903"/>
            <a:ext cx="14838325" cy="2413153"/>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5"/>
          <p:cNvSpPr/>
          <p:nvPr/>
        </p:nvSpPr>
        <p:spPr>
          <a:xfrm>
            <a:off x="14838325" y="4413403"/>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5</a:t>
            </a:r>
          </a:p>
        </p:txBody>
      </p:sp>
      <p:sp>
        <p:nvSpPr>
          <p:cNvPr id="20" name="Tag 5"/>
          <p:cNvSpPr txBox="1"/>
          <p:nvPr/>
        </p:nvSpPr>
        <p:spPr>
          <a:xfrm>
            <a:off x="1016000" y="4389591"/>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اختر الإجابة الصحيحة</a:t>
            </a:r>
          </a:p>
        </p:txBody>
      </p:sp>
      <p:sp>
        <p:nvSpPr>
          <p:cNvPr id="21" name="Question 5"/>
          <p:cNvSpPr txBox="1"/>
          <p:nvPr/>
        </p:nvSpPr>
        <p:spPr>
          <a:xfrm>
            <a:off x="1016000" y="4770591"/>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مقدار الارتفاع في درجة غليان محلول مائي لليوريا يكون أكبر ما يمكن عندما يكون تركيزه المولالي أحد ما يلي:</a:t>
            </a:r>
          </a:p>
        </p:txBody>
      </p:sp>
      <p:sp>
        <p:nvSpPr>
          <p:cNvPr id="22" name="Option 5.1"/>
          <p:cNvSpPr/>
          <p:nvPr/>
        </p:nvSpPr>
        <p:spPr>
          <a:xfrm>
            <a:off x="11400465" y="5778807"/>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0.1 m</a:t>
            </a:r>
          </a:p>
        </p:txBody>
      </p:sp>
      <p:sp>
        <p:nvSpPr>
          <p:cNvPr id="23" name="Option 5.2"/>
          <p:cNvSpPr/>
          <p:nvPr/>
        </p:nvSpPr>
        <p:spPr>
          <a:xfrm>
            <a:off x="7938976" y="5778807"/>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0.2 m</a:t>
            </a:r>
          </a:p>
        </p:txBody>
      </p:sp>
      <p:sp>
        <p:nvSpPr>
          <p:cNvPr id="24" name="Option 5.3"/>
          <p:cNvSpPr/>
          <p:nvPr/>
        </p:nvSpPr>
        <p:spPr>
          <a:xfrm>
            <a:off x="4477488" y="5778807"/>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1 m</a:t>
            </a:r>
          </a:p>
        </p:txBody>
      </p:sp>
      <p:sp>
        <p:nvSpPr>
          <p:cNvPr id="25" name="Option 5.4"/>
          <p:cNvSpPr/>
          <p:nvPr/>
        </p:nvSpPr>
        <p:spPr>
          <a:xfrm>
            <a:off x="1016000" y="5778807"/>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2 m</a:t>
            </a:r>
          </a:p>
        </p:txBody>
      </p:sp>
      <p:sp>
        <p:nvSpPr>
          <p:cNvPr id="26" name="Correct 5"/>
          <p:cNvSpPr/>
          <p:nvPr/>
        </p:nvSpPr>
        <p:spPr>
          <a:xfrm>
            <a:off x="1016000" y="5778807"/>
            <a:ext cx="3272465" cy="619125"/>
          </a:xfrm>
          <a:prstGeom prst="roundRect">
            <a:avLst>
              <a:gd name="adj" fmla="val 30000"/>
            </a:avLst>
          </a:prstGeom>
          <a:solidFill>
            <a:srgbClr val="2E8B57">
              <a:alpha val="20000"/>
            </a:srgbClr>
          </a:solidFill>
          <a:ln w="31750" cap="rnd">
            <a:solidFill>
              <a:srgbClr val="2E8B57">
                <a:alpha val="100000"/>
              </a:srgbClr>
            </a:solidFill>
            <a:round/>
          </a:ln>
        </p:spPr>
        <p:txBody>
          <a:bodyPr wrap="square" lIns="0" tIns="0" rIns="165395" bIns="0" rtlCol="0" anchor="ctr">
            <a:noAutofit/>
          </a:bodyPr>
          <a:lstStyle/>
          <a:p>
            <a:pPr algn="r" rtl="0">
              <a:lnSpc>
                <a:spcPct val="110000"/>
              </a:lnSpc>
              <a:buNone/>
            </a:pPr>
            <a:r>
              <a:rPr lang="ar-SA" sz="2400" b="1" i="0" dirty="0">
                <a:solidFill>
                  <a:srgbClr val="2E8B57"/>
                </a:solidFill>
                <a:latin typeface="Tahoma"/>
                <a:ea typeface="Tahoma"/>
                <a:cs typeface="Tahoma"/>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50"/>
                                        <p:tgtEl>
                                          <p:spTgt spid="2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50"/>
                                        <p:tgtEl>
                                          <p:spTgt spid="2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450"/>
                                        <p:tgtEl>
                                          <p:spTgt spid="2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450"/>
                                        <p:tgtEl>
                                          <p:spTgt spid="25"/>
                                        </p:tgtEl>
                                      </p:cBhvr>
                                    </p:animEffect>
                                  </p:childTnLst>
                                </p:cTn>
                              </p:par>
                            </p:childTnLst>
                          </p:cTn>
                        </p:par>
                      </p:childTnLst>
                    </p:cTn>
                  </p:par>
                  <p:par>
                    <p:cTn id="49" fill="hold">
                      <p:stCondLst>
                        <p:cond delay="indefinite"/>
                      </p:stCondLst>
                      <p:childTnLst>
                        <p:par>
                          <p:cTn id="50" fill="hold">
                            <p:stCondLst>
                              <p:cond delay="0"/>
                            </p:stCondLst>
                            <p:childTnLst>
                              <p:par>
                                <p:cTn id="51" presetID="53" presetClass="entr" presetSubtype="16" fill="hold" grpId="0" nodeType="click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50"/>
                                        <p:tgtEl>
                                          <p:spTgt spid="17"/>
                                        </p:tgtEl>
                                      </p:cBhvr>
                                    </p:animEffect>
                                    <p:anim calcmode="lin" valueType="num">
                                      <p:cBhvr>
                                        <p:cTn id="54" dur="450" fill="hold"/>
                                        <p:tgtEl>
                                          <p:spTgt spid="17"/>
                                        </p:tgtEl>
                                        <p:attrNameLst>
                                          <p:attrName>ppt_w</p:attrName>
                                        </p:attrNameLst>
                                      </p:cBhvr>
                                      <p:tavLst>
                                        <p:tav tm="0">
                                          <p:val>
                                            <p:strVal val="0"/>
                                          </p:val>
                                        </p:tav>
                                        <p:tav tm="100000">
                                          <p:val>
                                            <p:strVal val="#ppt_w"/>
                                          </p:val>
                                        </p:tav>
                                      </p:tavLst>
                                    </p:anim>
                                    <p:anim calcmode="lin" valueType="num">
                                      <p:cBhvr>
                                        <p:cTn id="55" dur="450" fill="hold"/>
                                        <p:tgtEl>
                                          <p:spTgt spid="17"/>
                                        </p:tgtEl>
                                        <p:attrNameLst>
                                          <p:attrName>ppt_h</p:attrName>
                                        </p:attrNameLst>
                                      </p:cBhvr>
                                      <p:tavLst>
                                        <p:tav tm="0">
                                          <p:val>
                                            <p:strVal val="0"/>
                                          </p:val>
                                        </p:tav>
                                        <p:tav tm="100000">
                                          <p:val>
                                            <p:strVal val="#ppt_h"/>
                                          </p:val>
                                        </p:tav>
                                      </p:tavLst>
                                    </p:anim>
                                  </p:childTnLst>
                                </p:cTn>
                              </p:par>
                            </p:childTnLst>
                          </p:cTn>
                        </p:par>
                      </p:childTnLst>
                    </p:cTn>
                  </p:par>
                  <p:par>
                    <p:cTn id="56" fill="hold">
                      <p:stCondLst>
                        <p:cond delay="indefinite"/>
                      </p:stCondLst>
                      <p:childTnLst>
                        <p:par>
                          <p:cTn id="57" fill="hold">
                            <p:stCondLst>
                              <p:cond delay="0"/>
                            </p:stCondLst>
                            <p:childTnLst>
                              <p:par>
                                <p:cTn id="58" presetID="53" presetClass="entr" presetSubtype="16"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fade">
                                      <p:cBhvr>
                                        <p:cTn id="60" dur="450"/>
                                        <p:tgtEl>
                                          <p:spTgt spid="26"/>
                                        </p:tgtEl>
                                      </p:cBhvr>
                                    </p:animEffect>
                                    <p:anim calcmode="lin" valueType="num">
                                      <p:cBhvr>
                                        <p:cTn id="61" dur="450" fill="hold"/>
                                        <p:tgtEl>
                                          <p:spTgt spid="26"/>
                                        </p:tgtEl>
                                        <p:attrNameLst>
                                          <p:attrName>ppt_w</p:attrName>
                                        </p:attrNameLst>
                                      </p:cBhvr>
                                      <p:tavLst>
                                        <p:tav tm="0">
                                          <p:val>
                                            <p:strVal val="0"/>
                                          </p:val>
                                        </p:tav>
                                        <p:tav tm="100000">
                                          <p:val>
                                            <p:strVal val="#ppt_w"/>
                                          </p:val>
                                        </p:tav>
                                      </p:tavLst>
                                    </p:anim>
                                    <p:anim calcmode="lin" valueType="num">
                                      <p:cBhvr>
                                        <p:cTn id="62" dur="450" fill="hold"/>
                                        <p:tgtEl>
                                          <p:spTgt spid="2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الارتفاع في درجة الغليان</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الثانية</a:t>
            </a:r>
          </a:p>
        </p:txBody>
      </p:sp>
      <p:sp>
        <p:nvSpPr>
          <p:cNvPr id="13" name="Card 6"/>
          <p:cNvSpPr/>
          <p:nvPr/>
        </p:nvSpPr>
        <p:spPr>
          <a:xfrm>
            <a:off x="708837" y="1452562"/>
            <a:ext cx="14838325" cy="2413153"/>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6"/>
          <p:cNvSpPr/>
          <p:nvPr/>
        </p:nvSpPr>
        <p:spPr>
          <a:xfrm>
            <a:off x="14838325" y="164306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6</a:t>
            </a:r>
          </a:p>
        </p:txBody>
      </p:sp>
      <p:sp>
        <p:nvSpPr>
          <p:cNvPr id="15" name="Tag 6"/>
          <p:cNvSpPr txBox="1"/>
          <p:nvPr/>
        </p:nvSpPr>
        <p:spPr>
          <a:xfrm>
            <a:off x="1016000" y="161925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اختر الإجابة الصحيحة</a:t>
            </a:r>
          </a:p>
        </p:txBody>
      </p:sp>
      <p:sp>
        <p:nvSpPr>
          <p:cNvPr id="16" name="Question 6"/>
          <p:cNvSpPr txBox="1"/>
          <p:nvPr/>
        </p:nvSpPr>
        <p:spPr>
          <a:xfrm>
            <a:off x="1016000" y="2000250"/>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محلول المادة غير الإلكتروليتية وغير المتطايرة الذي له أعلى درجة غليان هو الذي يكون تركيزه المولالي أحد ما يلي:</a:t>
            </a:r>
          </a:p>
        </p:txBody>
      </p:sp>
      <p:sp>
        <p:nvSpPr>
          <p:cNvPr id="17" name="Option 6.1"/>
          <p:cNvSpPr/>
          <p:nvPr/>
        </p:nvSpPr>
        <p:spPr>
          <a:xfrm>
            <a:off x="11400465" y="3008466"/>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2 m</a:t>
            </a:r>
          </a:p>
        </p:txBody>
      </p:sp>
      <p:sp>
        <p:nvSpPr>
          <p:cNvPr id="18" name="Correct 6"/>
          <p:cNvSpPr/>
          <p:nvPr/>
        </p:nvSpPr>
        <p:spPr>
          <a:xfrm>
            <a:off x="11400465" y="3008466"/>
            <a:ext cx="3272465" cy="619125"/>
          </a:xfrm>
          <a:prstGeom prst="roundRect">
            <a:avLst>
              <a:gd name="adj" fmla="val 30000"/>
            </a:avLst>
          </a:prstGeom>
          <a:solidFill>
            <a:srgbClr val="2E8B57">
              <a:alpha val="20000"/>
            </a:srgbClr>
          </a:solidFill>
          <a:ln w="31750" cap="rnd">
            <a:solidFill>
              <a:srgbClr val="2E8B57">
                <a:alpha val="100000"/>
              </a:srgbClr>
            </a:solidFill>
            <a:round/>
          </a:ln>
        </p:spPr>
        <p:txBody>
          <a:bodyPr wrap="square" lIns="0" tIns="0" rIns="165395" bIns="0" rtlCol="0" anchor="ctr">
            <a:noAutofit/>
          </a:bodyPr>
          <a:lstStyle/>
          <a:p>
            <a:pPr algn="r" rtl="0">
              <a:lnSpc>
                <a:spcPct val="110000"/>
              </a:lnSpc>
              <a:buNone/>
            </a:pPr>
            <a:r>
              <a:rPr lang="ar-SA" sz="2400" b="1" i="0" dirty="0">
                <a:solidFill>
                  <a:srgbClr val="2E8B57"/>
                </a:solidFill>
                <a:latin typeface="Tahoma"/>
                <a:ea typeface="Tahoma"/>
                <a:cs typeface="Tahoma"/>
              </a:rPr>
              <a:t>✓</a:t>
            </a:r>
          </a:p>
        </p:txBody>
      </p:sp>
      <p:sp>
        <p:nvSpPr>
          <p:cNvPr id="19" name="Option 6.2"/>
          <p:cNvSpPr/>
          <p:nvPr/>
        </p:nvSpPr>
        <p:spPr>
          <a:xfrm>
            <a:off x="7938976" y="3008466"/>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1 m</a:t>
            </a:r>
          </a:p>
        </p:txBody>
      </p:sp>
      <p:sp>
        <p:nvSpPr>
          <p:cNvPr id="20" name="Option 6.3"/>
          <p:cNvSpPr/>
          <p:nvPr/>
        </p:nvSpPr>
        <p:spPr>
          <a:xfrm>
            <a:off x="4477488" y="3008466"/>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0.2 m</a:t>
            </a:r>
          </a:p>
        </p:txBody>
      </p:sp>
      <p:sp>
        <p:nvSpPr>
          <p:cNvPr id="21" name="Option 6.4"/>
          <p:cNvSpPr/>
          <p:nvPr/>
        </p:nvSpPr>
        <p:spPr>
          <a:xfrm>
            <a:off x="1016000" y="3008466"/>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0.1 m</a:t>
            </a:r>
          </a:p>
        </p:txBody>
      </p:sp>
      <p:sp>
        <p:nvSpPr>
          <p:cNvPr id="22" name="Card 7"/>
          <p:cNvSpPr/>
          <p:nvPr/>
        </p:nvSpPr>
        <p:spPr>
          <a:xfrm>
            <a:off x="708837" y="4270528"/>
            <a:ext cx="14838325" cy="2413153"/>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23" name="Number 7"/>
          <p:cNvSpPr/>
          <p:nvPr/>
        </p:nvSpPr>
        <p:spPr>
          <a:xfrm>
            <a:off x="14838325" y="4461028"/>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7</a:t>
            </a:r>
          </a:p>
        </p:txBody>
      </p:sp>
      <p:sp>
        <p:nvSpPr>
          <p:cNvPr id="24" name="Tag 7"/>
          <p:cNvSpPr txBox="1"/>
          <p:nvPr/>
        </p:nvSpPr>
        <p:spPr>
          <a:xfrm>
            <a:off x="1016000" y="4437216"/>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اختر الإجابة الصحيحة</a:t>
            </a:r>
          </a:p>
        </p:txBody>
      </p:sp>
      <p:sp>
        <p:nvSpPr>
          <p:cNvPr id="25" name="Question 7"/>
          <p:cNvSpPr txBox="1"/>
          <p:nvPr/>
        </p:nvSpPr>
        <p:spPr>
          <a:xfrm>
            <a:off x="1016000" y="4818216"/>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درجة الحرارة السيليزية التي يغلي عندها محلول مائي للسكر تركيزه ‪(1 m)‬ إذا كان ‪K</a:t>
            </a:r>
            <a:r>
              <a:rPr lang="ar-SA" sz="2400" b="1" i="0" baseline="-25000" dirty="0">
                <a:solidFill>
                  <a:srgbClr val="2B3038"/>
                </a:solidFill>
                <a:latin typeface="Tahoma"/>
                <a:ea typeface="Tahoma"/>
                <a:cs typeface="Tahoma"/>
              </a:rPr>
              <a:t>bp</a:t>
            </a:r>
            <a:r>
              <a:rPr lang="ar-SA" sz="2400" b="1" i="0" dirty="0">
                <a:solidFill>
                  <a:srgbClr val="2B3038"/>
                </a:solidFill>
                <a:latin typeface="Tahoma"/>
                <a:ea typeface="Tahoma"/>
                <a:cs typeface="Tahoma"/>
              </a:rPr>
              <a:t>‬ للماء يساوي ‪0.512 °C/m‬ هي:</a:t>
            </a:r>
          </a:p>
        </p:txBody>
      </p:sp>
      <p:sp>
        <p:nvSpPr>
          <p:cNvPr id="26" name="Option 7.1"/>
          <p:cNvSpPr/>
          <p:nvPr/>
        </p:nvSpPr>
        <p:spPr>
          <a:xfrm>
            <a:off x="11400465" y="5826432"/>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99.488 °C</a:t>
            </a:r>
          </a:p>
        </p:txBody>
      </p:sp>
      <p:sp>
        <p:nvSpPr>
          <p:cNvPr id="27" name="Option 7.2"/>
          <p:cNvSpPr/>
          <p:nvPr/>
        </p:nvSpPr>
        <p:spPr>
          <a:xfrm>
            <a:off x="7938976" y="5826432"/>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100 °C</a:t>
            </a:r>
          </a:p>
        </p:txBody>
      </p:sp>
      <p:sp>
        <p:nvSpPr>
          <p:cNvPr id="28" name="Option 7.3"/>
          <p:cNvSpPr/>
          <p:nvPr/>
        </p:nvSpPr>
        <p:spPr>
          <a:xfrm>
            <a:off x="4477488" y="5826432"/>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100.512 °C</a:t>
            </a:r>
          </a:p>
        </p:txBody>
      </p:sp>
      <p:sp>
        <p:nvSpPr>
          <p:cNvPr id="29" name="Correct 7"/>
          <p:cNvSpPr/>
          <p:nvPr/>
        </p:nvSpPr>
        <p:spPr>
          <a:xfrm>
            <a:off x="4477488" y="5826432"/>
            <a:ext cx="3272465" cy="619125"/>
          </a:xfrm>
          <a:prstGeom prst="roundRect">
            <a:avLst>
              <a:gd name="adj" fmla="val 30000"/>
            </a:avLst>
          </a:prstGeom>
          <a:solidFill>
            <a:srgbClr val="2E8B57">
              <a:alpha val="20000"/>
            </a:srgbClr>
          </a:solidFill>
          <a:ln w="31750" cap="rnd">
            <a:solidFill>
              <a:srgbClr val="2E8B57">
                <a:alpha val="100000"/>
              </a:srgbClr>
            </a:solidFill>
            <a:round/>
          </a:ln>
        </p:spPr>
        <p:txBody>
          <a:bodyPr wrap="square" lIns="0" tIns="0" rIns="165395" bIns="0" rtlCol="0" anchor="ctr">
            <a:noAutofit/>
          </a:bodyPr>
          <a:lstStyle/>
          <a:p>
            <a:pPr algn="r" rtl="0">
              <a:lnSpc>
                <a:spcPct val="110000"/>
              </a:lnSpc>
              <a:buNone/>
            </a:pPr>
            <a:r>
              <a:rPr lang="ar-SA" sz="2400" b="1" i="0" dirty="0">
                <a:solidFill>
                  <a:srgbClr val="2E8B57"/>
                </a:solidFill>
                <a:latin typeface="Tahoma"/>
                <a:ea typeface="Tahoma"/>
                <a:cs typeface="Tahoma"/>
              </a:rPr>
              <a:t>✓</a:t>
            </a:r>
          </a:p>
        </p:txBody>
      </p:sp>
      <p:sp>
        <p:nvSpPr>
          <p:cNvPr id="30" name="Option 7.4"/>
          <p:cNvSpPr/>
          <p:nvPr/>
        </p:nvSpPr>
        <p:spPr>
          <a:xfrm>
            <a:off x="1016000" y="5826432"/>
            <a:ext cx="3272465" cy="619125"/>
          </a:xfrm>
          <a:prstGeom prst="roundRect">
            <a:avLst>
              <a:gd name="adj" fmla="val 30000"/>
            </a:avLst>
          </a:prstGeom>
          <a:solidFill>
            <a:srgbClr val="FFFFFF">
              <a:alpha val="92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wrap="square" lIns="0" tIns="0" rIns="0" bIns="0" rtlCol="0" anchor="ctr">
            <a:noAutofit/>
          </a:bodyPr>
          <a:lstStyle/>
          <a:p>
            <a:pPr algn="ctr" rtl="0">
              <a:lnSpc>
                <a:spcPct val="110000"/>
              </a:lnSpc>
              <a:buNone/>
            </a:pPr>
            <a:r>
              <a:rPr lang="ar-SA" sz="2200" b="1" i="0" dirty="0">
                <a:solidFill>
                  <a:srgbClr val="2B3038"/>
                </a:solidFill>
                <a:latin typeface="Tahoma"/>
                <a:ea typeface="Tahoma"/>
                <a:cs typeface="Tahoma"/>
              </a:rPr>
              <a:t>101 °C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5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45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450"/>
                                        <p:tgtEl>
                                          <p:spTgt spid="2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450"/>
                                        <p:tgtEl>
                                          <p:spTgt spid="21"/>
                                        </p:tgtEl>
                                      </p:cBhvr>
                                    </p:animEffect>
                                  </p:childTnLst>
                                </p:cTn>
                              </p:par>
                            </p:childTnLst>
                          </p:cTn>
                        </p:par>
                        <p:par>
                          <p:cTn id="36" fill="hold">
                            <p:stCondLst>
                              <p:cond delay="970"/>
                            </p:stCondLst>
                            <p:childTnLst>
                              <p:par>
                                <p:cTn id="37" presetID="10" presetClass="entr" presetSubtype="0" fill="hold" grpId="0" nodeType="after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450"/>
                                        <p:tgtEl>
                                          <p:spTgt spid="2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450"/>
                                        <p:tgtEl>
                                          <p:spTgt spid="2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450"/>
                                        <p:tgtEl>
                                          <p:spTgt spid="2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450"/>
                                        <p:tgtEl>
                                          <p:spTgt spid="2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45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45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450"/>
                                        <p:tgtEl>
                                          <p:spTgt spid="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450"/>
                                        <p:tgtEl>
                                          <p:spTgt spid="30"/>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450"/>
                                        <p:tgtEl>
                                          <p:spTgt spid="18"/>
                                        </p:tgtEl>
                                      </p:cBhvr>
                                    </p:animEffect>
                                    <p:anim calcmode="lin" valueType="num">
                                      <p:cBhvr>
                                        <p:cTn id="66" dur="450" fill="hold"/>
                                        <p:tgtEl>
                                          <p:spTgt spid="18"/>
                                        </p:tgtEl>
                                        <p:attrNameLst>
                                          <p:attrName>ppt_w</p:attrName>
                                        </p:attrNameLst>
                                      </p:cBhvr>
                                      <p:tavLst>
                                        <p:tav tm="0">
                                          <p:val>
                                            <p:strVal val="0"/>
                                          </p:val>
                                        </p:tav>
                                        <p:tav tm="100000">
                                          <p:val>
                                            <p:strVal val="#ppt_w"/>
                                          </p:val>
                                        </p:tav>
                                      </p:tavLst>
                                    </p:anim>
                                    <p:anim calcmode="lin" valueType="num">
                                      <p:cBhvr>
                                        <p:cTn id="67" dur="450" fill="hold"/>
                                        <p:tgtEl>
                                          <p:spTgt spid="18"/>
                                        </p:tgtEl>
                                        <p:attrNameLst>
                                          <p:attrName>ppt_h</p:attrName>
                                        </p:attrNameLst>
                                      </p:cBhvr>
                                      <p:tavLst>
                                        <p:tav tm="0">
                                          <p:val>
                                            <p:strVal val="0"/>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53" presetClass="entr" presetSubtype="16" fill="hold" grpId="0" nodeType="clickEffect">
                                  <p:stCondLst>
                                    <p:cond delay="0"/>
                                  </p:stCondLst>
                                  <p:childTnLst>
                                    <p:set>
                                      <p:cBhvr>
                                        <p:cTn id="71" dur="1" fill="hold">
                                          <p:stCondLst>
                                            <p:cond delay="0"/>
                                          </p:stCondLst>
                                        </p:cTn>
                                        <p:tgtEl>
                                          <p:spTgt spid="29"/>
                                        </p:tgtEl>
                                        <p:attrNameLst>
                                          <p:attrName>style.visibility</p:attrName>
                                        </p:attrNameLst>
                                      </p:cBhvr>
                                      <p:to>
                                        <p:strVal val="visible"/>
                                      </p:to>
                                    </p:set>
                                    <p:animEffect transition="in" filter="fade">
                                      <p:cBhvr>
                                        <p:cTn id="72" dur="450"/>
                                        <p:tgtEl>
                                          <p:spTgt spid="29"/>
                                        </p:tgtEl>
                                      </p:cBhvr>
                                    </p:animEffect>
                                    <p:anim calcmode="lin" valueType="num">
                                      <p:cBhvr>
                                        <p:cTn id="73" dur="450" fill="hold"/>
                                        <p:tgtEl>
                                          <p:spTgt spid="29"/>
                                        </p:tgtEl>
                                        <p:attrNameLst>
                                          <p:attrName>ppt_w</p:attrName>
                                        </p:attrNameLst>
                                      </p:cBhvr>
                                      <p:tavLst>
                                        <p:tav tm="0">
                                          <p:val>
                                            <p:strVal val="0"/>
                                          </p:val>
                                        </p:tav>
                                        <p:tav tm="100000">
                                          <p:val>
                                            <p:strVal val="#ppt_w"/>
                                          </p:val>
                                        </p:tav>
                                      </p:tavLst>
                                    </p:anim>
                                    <p:anim calcmode="lin" valueType="num">
                                      <p:cBhvr>
                                        <p:cTn id="74" dur="450" fill="hold"/>
                                        <p:tgtEl>
                                          <p:spTgt spid="2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الارتفاع في درجة الغليان</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الثانية</a:t>
            </a:r>
          </a:p>
        </p:txBody>
      </p:sp>
      <p:sp>
        <p:nvSpPr>
          <p:cNvPr id="13" name="Card 8"/>
          <p:cNvSpPr/>
          <p:nvPr/>
        </p:nvSpPr>
        <p:spPr>
          <a:xfrm>
            <a:off x="708837" y="1452562"/>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8"/>
          <p:cNvSpPr/>
          <p:nvPr/>
        </p:nvSpPr>
        <p:spPr>
          <a:xfrm>
            <a:off x="14838325" y="164306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8</a:t>
            </a:r>
          </a:p>
        </p:txBody>
      </p:sp>
      <p:sp>
        <p:nvSpPr>
          <p:cNvPr id="15" name="Tag 8"/>
          <p:cNvSpPr txBox="1"/>
          <p:nvPr/>
        </p:nvSpPr>
        <p:spPr>
          <a:xfrm>
            <a:off x="1016000" y="161925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 بما يناسبه علمياً</a:t>
            </a:r>
          </a:p>
        </p:txBody>
      </p:sp>
      <p:sp>
        <p:nvSpPr>
          <p:cNvPr id="16" name="Question 8"/>
          <p:cNvSpPr txBox="1"/>
          <p:nvPr/>
        </p:nvSpPr>
        <p:spPr>
          <a:xfrm>
            <a:off x="1016000" y="2000250"/>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إذا كان ثابت الغليان للماء ‪K</a:t>
            </a:r>
            <a:r>
              <a:rPr lang="ar-SA" sz="2400" b="1" i="0" baseline="-25000" dirty="0">
                <a:solidFill>
                  <a:srgbClr val="2B3038"/>
                </a:solidFill>
                <a:latin typeface="Tahoma"/>
                <a:ea typeface="Tahoma"/>
                <a:cs typeface="Tahoma"/>
              </a:rPr>
              <a:t>bp</a:t>
            </a:r>
            <a:r>
              <a:rPr lang="ar-SA" sz="2400" b="1" i="0" dirty="0">
                <a:solidFill>
                  <a:srgbClr val="2B3038"/>
                </a:solidFill>
                <a:latin typeface="Tahoma"/>
                <a:ea typeface="Tahoma"/>
                <a:cs typeface="Tahoma"/>
              </a:rPr>
              <a:t>‬ يساوي ‪(0.512 °C kg/mol)‬ وكانت درجة غليان محلول مائي لمادة غير إلكتروليتية تساوي ‪100.256 °C‬ فإن تركيز المحلول يساوي ............</a:t>
            </a:r>
          </a:p>
        </p:txBody>
      </p:sp>
      <p:sp>
        <p:nvSpPr>
          <p:cNvPr id="17" name="Answer 8"/>
          <p:cNvSpPr/>
          <p:nvPr/>
        </p:nvSpPr>
        <p:spPr>
          <a:xfrm>
            <a:off x="13140992" y="3008466"/>
            <a:ext cx="1531937"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‪0.5 m‬</a:t>
            </a:r>
          </a:p>
        </p:txBody>
      </p:sp>
      <p:sp>
        <p:nvSpPr>
          <p:cNvPr id="18" name="Card 9"/>
          <p:cNvSpPr/>
          <p:nvPr/>
        </p:nvSpPr>
        <p:spPr>
          <a:xfrm>
            <a:off x="708837" y="4222903"/>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9"/>
          <p:cNvSpPr/>
          <p:nvPr/>
        </p:nvSpPr>
        <p:spPr>
          <a:xfrm>
            <a:off x="14838325" y="4413403"/>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9</a:t>
            </a:r>
          </a:p>
        </p:txBody>
      </p:sp>
      <p:sp>
        <p:nvSpPr>
          <p:cNvPr id="20" name="Tag 9"/>
          <p:cNvSpPr txBox="1"/>
          <p:nvPr/>
        </p:nvSpPr>
        <p:spPr>
          <a:xfrm>
            <a:off x="1016000" y="4389591"/>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 بما يناسبه علمياً</a:t>
            </a:r>
          </a:p>
        </p:txBody>
      </p:sp>
      <p:sp>
        <p:nvSpPr>
          <p:cNvPr id="21" name="Question 9"/>
          <p:cNvSpPr txBox="1"/>
          <p:nvPr/>
        </p:nvSpPr>
        <p:spPr>
          <a:xfrm>
            <a:off x="1016000" y="4770591"/>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إذا كانت قيمة ثابت الغليان للماء ‪(0.512 °C/m)‬ فإن درجة غليان محلول مادة غير إلكتروليتية وغير متطايرة في الماء تركيزه ‪(0.2 m)‬ تساوي ............</a:t>
            </a:r>
          </a:p>
        </p:txBody>
      </p:sp>
      <p:sp>
        <p:nvSpPr>
          <p:cNvPr id="22" name="Answer 9"/>
          <p:cNvSpPr/>
          <p:nvPr/>
        </p:nvSpPr>
        <p:spPr>
          <a:xfrm>
            <a:off x="12090843" y="5778807"/>
            <a:ext cx="2582087"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‪100.1024 °C‬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50"/>
                                        <p:tgtEl>
                                          <p:spTgt spid="17"/>
                                        </p:tgtEl>
                                      </p:cBhvr>
                                    </p:animEffect>
                                    <p:anim calcmode="lin" valueType="num">
                                      <p:cBhvr>
                                        <p:cTn id="42" dur="450" fill="hold"/>
                                        <p:tgtEl>
                                          <p:spTgt spid="17"/>
                                        </p:tgtEl>
                                        <p:attrNameLst>
                                          <p:attrName>ppt_w</p:attrName>
                                        </p:attrNameLst>
                                      </p:cBhvr>
                                      <p:tavLst>
                                        <p:tav tm="0">
                                          <p:val>
                                            <p:strVal val="0"/>
                                          </p:val>
                                        </p:tav>
                                        <p:tav tm="100000">
                                          <p:val>
                                            <p:strVal val="#ppt_w"/>
                                          </p:val>
                                        </p:tav>
                                      </p:tavLst>
                                    </p:anim>
                                    <p:anim calcmode="lin" valueType="num">
                                      <p:cBhvr>
                                        <p:cTn id="43" dur="450" fill="hold"/>
                                        <p:tgtEl>
                                          <p:spTgt spid="17"/>
                                        </p:tgtEl>
                                        <p:attrNameLst>
                                          <p:attrName>ppt_h</p:attrName>
                                        </p:attrNameLst>
                                      </p:cBhvr>
                                      <p:tavLst>
                                        <p:tav tm="0">
                                          <p:val>
                                            <p:str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450"/>
                                        <p:tgtEl>
                                          <p:spTgt spid="22"/>
                                        </p:tgtEl>
                                      </p:cBhvr>
                                    </p:animEffect>
                                    <p:anim calcmode="lin" valueType="num">
                                      <p:cBhvr>
                                        <p:cTn id="49" dur="450" fill="hold"/>
                                        <p:tgtEl>
                                          <p:spTgt spid="22"/>
                                        </p:tgtEl>
                                        <p:attrNameLst>
                                          <p:attrName>ppt_w</p:attrName>
                                        </p:attrNameLst>
                                      </p:cBhvr>
                                      <p:tavLst>
                                        <p:tav tm="0">
                                          <p:val>
                                            <p:strVal val="0"/>
                                          </p:val>
                                        </p:tav>
                                        <p:tav tm="100000">
                                          <p:val>
                                            <p:strVal val="#ppt_w"/>
                                          </p:val>
                                        </p:tav>
                                      </p:tavLst>
                                    </p:anim>
                                    <p:anim calcmode="lin" valueType="num">
                                      <p:cBhvr>
                                        <p:cTn id="50" dur="450" fill="hold"/>
                                        <p:tgtEl>
                                          <p:spTgt spid="22"/>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الارتفاع في درجة الغليان</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الثانية</a:t>
            </a:r>
          </a:p>
        </p:txBody>
      </p:sp>
      <p:sp>
        <p:nvSpPr>
          <p:cNvPr id="13" name="Graph card"/>
          <p:cNvSpPr/>
          <p:nvPr/>
        </p:nvSpPr>
        <p:spPr>
          <a:xfrm>
            <a:off x="708837" y="1238250"/>
            <a:ext cx="7560930" cy="7429500"/>
          </a:xfrm>
          <a:prstGeom prst="roundRect">
            <a:avLst>
              <a:gd name="adj" fmla="val 5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Axes"/>
          <p:cNvSpPr/>
          <p:nvPr/>
        </p:nvSpPr>
        <p:spPr>
          <a:xfrm>
            <a:off x="1772093" y="1666875"/>
            <a:ext cx="5907094" cy="5715119"/>
          </a:xfrm>
          <a:custGeom>
            <a:avLst/>
            <a:gdLst/>
            <a:ahLst/>
            <a:cxnLst/>
            <a:rect l="0" t="0" r="r" b="b"/>
            <a:pathLst>
              <a:path w="5907094" h="5715119" fill="none">
                <a:moveTo>
                  <a:pt x="0" y="0"/>
                </a:moveTo>
                <a:lnTo>
                  <a:pt x="0" y="5715000"/>
                </a:lnTo>
                <a:lnTo>
                  <a:pt x="5906976" y="5715000"/>
                </a:lnTo>
              </a:path>
            </a:pathLst>
          </a:custGeom>
          <a:noFill/>
          <a:ln w="22225" cap="rnd">
            <a:solidFill>
              <a:srgbClr val="6B7380">
                <a:alpha val="100000"/>
              </a:srgbClr>
            </a:solidFill>
            <a:round/>
          </a:ln>
        </p:spPr>
        <p:txBody>
          <a:bodyPr rtlCol="0" anchor="ctr"/>
          <a:lstStyle/>
          <a:p>
            <a:endParaRPr lang="ar-SA"/>
          </a:p>
        </p:txBody>
      </p:sp>
      <p:sp>
        <p:nvSpPr>
          <p:cNvPr id="15" name="1 atm line"/>
          <p:cNvSpPr/>
          <p:nvPr/>
        </p:nvSpPr>
        <p:spPr>
          <a:xfrm>
            <a:off x="1772093" y="3236736"/>
            <a:ext cx="5788955" cy="119"/>
          </a:xfrm>
          <a:custGeom>
            <a:avLst/>
            <a:gdLst/>
            <a:ahLst/>
            <a:cxnLst/>
            <a:rect l="0" t="0" r="r" b="b"/>
            <a:pathLst>
              <a:path w="5788955" h="119" fill="none">
                <a:moveTo>
                  <a:pt x="0" y="0"/>
                </a:moveTo>
                <a:lnTo>
                  <a:pt x="5788837" y="0"/>
                </a:lnTo>
              </a:path>
            </a:pathLst>
          </a:custGeom>
          <a:noFill/>
          <a:ln w="15875" cap="rnd">
            <a:solidFill>
              <a:srgbClr val="6B7380">
                <a:alpha val="70000"/>
              </a:srgbClr>
            </a:solidFill>
            <a:prstDash val="dash"/>
            <a:round/>
          </a:ln>
        </p:spPr>
        <p:txBody>
          <a:bodyPr rtlCol="0" anchor="ctr"/>
          <a:lstStyle/>
          <a:p>
            <a:endParaRPr lang="ar-SA"/>
          </a:p>
        </p:txBody>
      </p:sp>
      <p:sp>
        <p:nvSpPr>
          <p:cNvPr id="16" name="Curve A"/>
          <p:cNvSpPr/>
          <p:nvPr/>
        </p:nvSpPr>
        <p:spPr>
          <a:xfrm>
            <a:off x="1091053" y="1828330"/>
            <a:ext cx="3303160" cy="4927449"/>
          </a:xfrm>
          <a:custGeom>
            <a:avLst/>
            <a:gdLst/>
            <a:ahLst/>
            <a:cxnLst/>
            <a:rect l="0" t="0" r="r" b="b"/>
            <a:pathLst>
              <a:path w="3303160" h="4927449" fill="none">
                <a:moveTo>
                  <a:pt x="0" y="4927330"/>
                </a:moveTo>
                <a:lnTo>
                  <a:pt x="84693" y="4891287"/>
                </a:lnTo>
                <a:lnTo>
                  <a:pt x="169386" y="4853169"/>
                </a:lnTo>
                <a:lnTo>
                  <a:pt x="254080" y="4812858"/>
                </a:lnTo>
                <a:lnTo>
                  <a:pt x="338773" y="4770226"/>
                </a:lnTo>
                <a:lnTo>
                  <a:pt x="423466" y="4725141"/>
                </a:lnTo>
                <a:lnTo>
                  <a:pt x="508160" y="4677461"/>
                </a:lnTo>
                <a:lnTo>
                  <a:pt x="592853" y="4627036"/>
                </a:lnTo>
                <a:lnTo>
                  <a:pt x="677547" y="4573709"/>
                </a:lnTo>
                <a:lnTo>
                  <a:pt x="762240" y="4517313"/>
                </a:lnTo>
                <a:lnTo>
                  <a:pt x="846933" y="4457670"/>
                </a:lnTo>
                <a:lnTo>
                  <a:pt x="931627" y="4394595"/>
                </a:lnTo>
                <a:lnTo>
                  <a:pt x="1016320" y="4327889"/>
                </a:lnTo>
                <a:lnTo>
                  <a:pt x="1101014" y="4257344"/>
                </a:lnTo>
                <a:lnTo>
                  <a:pt x="1185707" y="4182739"/>
                </a:lnTo>
                <a:lnTo>
                  <a:pt x="1270400" y="4103840"/>
                </a:lnTo>
                <a:lnTo>
                  <a:pt x="1355094" y="4020399"/>
                </a:lnTo>
                <a:lnTo>
                  <a:pt x="1439787" y="3932156"/>
                </a:lnTo>
                <a:lnTo>
                  <a:pt x="1524481" y="3838834"/>
                </a:lnTo>
                <a:lnTo>
                  <a:pt x="1609174" y="3740140"/>
                </a:lnTo>
                <a:lnTo>
                  <a:pt x="1693867" y="3635766"/>
                </a:lnTo>
                <a:lnTo>
                  <a:pt x="1778561" y="3525384"/>
                </a:lnTo>
                <a:lnTo>
                  <a:pt x="1863254" y="3408650"/>
                </a:lnTo>
                <a:lnTo>
                  <a:pt x="1947948" y="3285196"/>
                </a:lnTo>
                <a:lnTo>
                  <a:pt x="2032641" y="3154637"/>
                </a:lnTo>
                <a:lnTo>
                  <a:pt x="2117334" y="3016563"/>
                </a:lnTo>
                <a:lnTo>
                  <a:pt x="2202028" y="2870542"/>
                </a:lnTo>
                <a:lnTo>
                  <a:pt x="2286721" y="2716116"/>
                </a:lnTo>
                <a:lnTo>
                  <a:pt x="2371415" y="2552802"/>
                </a:lnTo>
                <a:lnTo>
                  <a:pt x="2456108" y="2380089"/>
                </a:lnTo>
                <a:lnTo>
                  <a:pt x="2540801" y="2197434"/>
                </a:lnTo>
                <a:lnTo>
                  <a:pt x="2625495" y="2004266"/>
                </a:lnTo>
                <a:lnTo>
                  <a:pt x="2710188" y="1799981"/>
                </a:lnTo>
                <a:lnTo>
                  <a:pt x="2794882" y="1583937"/>
                </a:lnTo>
                <a:lnTo>
                  <a:pt x="2879575" y="1355458"/>
                </a:lnTo>
                <a:lnTo>
                  <a:pt x="2964268" y="1113829"/>
                </a:lnTo>
                <a:lnTo>
                  <a:pt x="3048962" y="858292"/>
                </a:lnTo>
                <a:lnTo>
                  <a:pt x="3133655" y="588047"/>
                </a:lnTo>
                <a:lnTo>
                  <a:pt x="3218349" y="302248"/>
                </a:lnTo>
                <a:lnTo>
                  <a:pt x="3303042" y="0"/>
                </a:lnTo>
              </a:path>
            </a:pathLst>
          </a:custGeom>
          <a:noFill/>
          <a:ln w="31750" cap="rnd">
            <a:solidFill>
              <a:srgbClr val="2F7FC1">
                <a:alpha val="100000"/>
              </a:srgbClr>
            </a:solidFill>
            <a:round/>
          </a:ln>
        </p:spPr>
        <p:txBody>
          <a:bodyPr rtlCol="0" anchor="ctr"/>
          <a:lstStyle/>
          <a:p>
            <a:endParaRPr lang="ar-SA"/>
          </a:p>
        </p:txBody>
      </p:sp>
      <p:sp>
        <p:nvSpPr>
          <p:cNvPr id="17" name="Guide 52"/>
          <p:cNvSpPr/>
          <p:nvPr/>
        </p:nvSpPr>
        <p:spPr>
          <a:xfrm>
            <a:off x="3951419" y="3236736"/>
            <a:ext cx="118" cy="4145257"/>
          </a:xfrm>
          <a:custGeom>
            <a:avLst/>
            <a:gdLst/>
            <a:ahLst/>
            <a:cxnLst/>
            <a:rect l="0" t="0" r="r" b="b"/>
            <a:pathLst>
              <a:path w="118" h="4145257" fill="none">
                <a:moveTo>
                  <a:pt x="0" y="0"/>
                </a:moveTo>
                <a:lnTo>
                  <a:pt x="0" y="4145138"/>
                </a:lnTo>
              </a:path>
            </a:pathLst>
          </a:custGeom>
          <a:noFill/>
          <a:ln w="12700" cap="rnd">
            <a:solidFill>
              <a:srgbClr val="6B7380">
                <a:alpha val="55000"/>
              </a:srgbClr>
            </a:solidFill>
            <a:prstDash val="sysDash"/>
            <a:round/>
          </a:ln>
        </p:spPr>
        <p:txBody>
          <a:bodyPr rtlCol="0" anchor="ctr"/>
          <a:lstStyle/>
          <a:p>
            <a:endParaRPr lang="ar-SA"/>
          </a:p>
        </p:txBody>
      </p:sp>
      <p:sp>
        <p:nvSpPr>
          <p:cNvPr id="18" name="Label A"/>
          <p:cNvSpPr txBox="1"/>
          <p:nvPr/>
        </p:nvSpPr>
        <p:spPr>
          <a:xfrm>
            <a:off x="1197539" y="6148604"/>
            <a:ext cx="330790" cy="309562"/>
          </a:xfrm>
          <a:prstGeom prst="rect">
            <a:avLst/>
          </a:prstGeom>
          <a:noFill/>
          <a:ln>
            <a:noFill/>
          </a:ln>
        </p:spPr>
        <p:txBody>
          <a:bodyPr wrap="square" lIns="0" tIns="0" rIns="0" bIns="0" rtlCol="0" anchor="t">
            <a:noAutofit/>
          </a:bodyPr>
          <a:lstStyle/>
          <a:p>
            <a:pPr algn="ctr" rtl="0">
              <a:lnSpc>
                <a:spcPct val="110000"/>
              </a:lnSpc>
              <a:buNone/>
            </a:pPr>
            <a:r>
              <a:rPr lang="ar-SA" sz="1600" b="1" i="0" dirty="0">
                <a:solidFill>
                  <a:srgbClr val="2F7FC1"/>
                </a:solidFill>
                <a:latin typeface="Tahoma"/>
                <a:ea typeface="Tahoma"/>
                <a:cs typeface="Tahoma"/>
              </a:rPr>
              <a:t>A</a:t>
            </a:r>
          </a:p>
        </p:txBody>
      </p:sp>
      <p:sp>
        <p:nvSpPr>
          <p:cNvPr id="19" name="Tick 52"/>
          <p:cNvSpPr txBox="1"/>
          <p:nvPr/>
        </p:nvSpPr>
        <p:spPr>
          <a:xfrm>
            <a:off x="3597001" y="7453312"/>
            <a:ext cx="708837" cy="333375"/>
          </a:xfrm>
          <a:prstGeom prst="rect">
            <a:avLst/>
          </a:prstGeom>
          <a:noFill/>
          <a:ln>
            <a:noFill/>
          </a:ln>
        </p:spPr>
        <p:txBody>
          <a:bodyPr wrap="square" lIns="0" tIns="0" rIns="0" bIns="0" rtlCol="0" anchor="t">
            <a:noAutofit/>
          </a:bodyPr>
          <a:lstStyle/>
          <a:p>
            <a:pPr algn="ctr" rtl="0">
              <a:lnSpc>
                <a:spcPct val="110000"/>
              </a:lnSpc>
              <a:buNone/>
            </a:pPr>
            <a:r>
              <a:rPr lang="ar-SA" sz="1500" b="1" i="0" dirty="0">
                <a:solidFill>
                  <a:srgbClr val="2B3038"/>
                </a:solidFill>
                <a:latin typeface="Tahoma"/>
                <a:ea typeface="Tahoma"/>
                <a:cs typeface="Tahoma"/>
              </a:rPr>
              <a:t>52</a:t>
            </a:r>
          </a:p>
        </p:txBody>
      </p:sp>
      <p:sp>
        <p:nvSpPr>
          <p:cNvPr id="20" name="Curve B"/>
          <p:cNvSpPr/>
          <p:nvPr/>
        </p:nvSpPr>
        <p:spPr>
          <a:xfrm>
            <a:off x="2453132" y="1828330"/>
            <a:ext cx="3303160" cy="4927449"/>
          </a:xfrm>
          <a:custGeom>
            <a:avLst/>
            <a:gdLst/>
            <a:ahLst/>
            <a:cxnLst/>
            <a:rect l="0" t="0" r="r" b="b"/>
            <a:pathLst>
              <a:path w="3303160" h="4927449" fill="none">
                <a:moveTo>
                  <a:pt x="0" y="4927330"/>
                </a:moveTo>
                <a:lnTo>
                  <a:pt x="84693" y="4891287"/>
                </a:lnTo>
                <a:lnTo>
                  <a:pt x="169386" y="4853169"/>
                </a:lnTo>
                <a:lnTo>
                  <a:pt x="254080" y="4812858"/>
                </a:lnTo>
                <a:lnTo>
                  <a:pt x="338773" y="4770226"/>
                </a:lnTo>
                <a:lnTo>
                  <a:pt x="423466" y="4725141"/>
                </a:lnTo>
                <a:lnTo>
                  <a:pt x="508160" y="4677461"/>
                </a:lnTo>
                <a:lnTo>
                  <a:pt x="592853" y="4627036"/>
                </a:lnTo>
                <a:lnTo>
                  <a:pt x="677547" y="4573709"/>
                </a:lnTo>
                <a:lnTo>
                  <a:pt x="762240" y="4517313"/>
                </a:lnTo>
                <a:lnTo>
                  <a:pt x="846933" y="4457670"/>
                </a:lnTo>
                <a:lnTo>
                  <a:pt x="931627" y="4394595"/>
                </a:lnTo>
                <a:lnTo>
                  <a:pt x="1016320" y="4327889"/>
                </a:lnTo>
                <a:lnTo>
                  <a:pt x="1101014" y="4257344"/>
                </a:lnTo>
                <a:lnTo>
                  <a:pt x="1185707" y="4182739"/>
                </a:lnTo>
                <a:lnTo>
                  <a:pt x="1270400" y="4103840"/>
                </a:lnTo>
                <a:lnTo>
                  <a:pt x="1355094" y="4020399"/>
                </a:lnTo>
                <a:lnTo>
                  <a:pt x="1439787" y="3932156"/>
                </a:lnTo>
                <a:lnTo>
                  <a:pt x="1524481" y="3838834"/>
                </a:lnTo>
                <a:lnTo>
                  <a:pt x="1609174" y="3740140"/>
                </a:lnTo>
                <a:lnTo>
                  <a:pt x="1693867" y="3635766"/>
                </a:lnTo>
                <a:lnTo>
                  <a:pt x="1778561" y="3525384"/>
                </a:lnTo>
                <a:lnTo>
                  <a:pt x="1863254" y="3408650"/>
                </a:lnTo>
                <a:lnTo>
                  <a:pt x="1947948" y="3285196"/>
                </a:lnTo>
                <a:lnTo>
                  <a:pt x="2032641" y="3154637"/>
                </a:lnTo>
                <a:lnTo>
                  <a:pt x="2117334" y="3016563"/>
                </a:lnTo>
                <a:lnTo>
                  <a:pt x="2202028" y="2870542"/>
                </a:lnTo>
                <a:lnTo>
                  <a:pt x="2286721" y="2716116"/>
                </a:lnTo>
                <a:lnTo>
                  <a:pt x="2371415" y="2552802"/>
                </a:lnTo>
                <a:lnTo>
                  <a:pt x="2456108" y="2380089"/>
                </a:lnTo>
                <a:lnTo>
                  <a:pt x="2540801" y="2197434"/>
                </a:lnTo>
                <a:lnTo>
                  <a:pt x="2625495" y="2004266"/>
                </a:lnTo>
                <a:lnTo>
                  <a:pt x="2710188" y="1799981"/>
                </a:lnTo>
                <a:lnTo>
                  <a:pt x="2794882" y="1583937"/>
                </a:lnTo>
                <a:lnTo>
                  <a:pt x="2879575" y="1355458"/>
                </a:lnTo>
                <a:lnTo>
                  <a:pt x="2964268" y="1113829"/>
                </a:lnTo>
                <a:lnTo>
                  <a:pt x="3048962" y="858292"/>
                </a:lnTo>
                <a:lnTo>
                  <a:pt x="3133655" y="588047"/>
                </a:lnTo>
                <a:lnTo>
                  <a:pt x="3218349" y="302248"/>
                </a:lnTo>
                <a:lnTo>
                  <a:pt x="3303042" y="0"/>
                </a:lnTo>
              </a:path>
            </a:pathLst>
          </a:custGeom>
          <a:noFill/>
          <a:ln w="31750" cap="rnd">
            <a:solidFill>
              <a:srgbClr val="A86A12">
                <a:alpha val="100000"/>
              </a:srgbClr>
            </a:solidFill>
            <a:round/>
          </a:ln>
        </p:spPr>
        <p:txBody>
          <a:bodyPr rtlCol="0" anchor="ctr"/>
          <a:lstStyle/>
          <a:p>
            <a:endParaRPr lang="ar-SA"/>
          </a:p>
        </p:txBody>
      </p:sp>
      <p:sp>
        <p:nvSpPr>
          <p:cNvPr id="21" name="Guide 72"/>
          <p:cNvSpPr/>
          <p:nvPr/>
        </p:nvSpPr>
        <p:spPr>
          <a:xfrm>
            <a:off x="5313499" y="3236736"/>
            <a:ext cx="118" cy="4145257"/>
          </a:xfrm>
          <a:custGeom>
            <a:avLst/>
            <a:gdLst/>
            <a:ahLst/>
            <a:cxnLst/>
            <a:rect l="0" t="0" r="r" b="b"/>
            <a:pathLst>
              <a:path w="118" h="4145257" fill="none">
                <a:moveTo>
                  <a:pt x="0" y="0"/>
                </a:moveTo>
                <a:lnTo>
                  <a:pt x="0" y="4145138"/>
                </a:lnTo>
              </a:path>
            </a:pathLst>
          </a:custGeom>
          <a:noFill/>
          <a:ln w="12700" cap="rnd">
            <a:solidFill>
              <a:srgbClr val="6B7380">
                <a:alpha val="55000"/>
              </a:srgbClr>
            </a:solidFill>
            <a:prstDash val="sysDash"/>
            <a:round/>
          </a:ln>
        </p:spPr>
        <p:txBody>
          <a:bodyPr rtlCol="0" anchor="ctr"/>
          <a:lstStyle/>
          <a:p>
            <a:endParaRPr lang="ar-SA"/>
          </a:p>
        </p:txBody>
      </p:sp>
      <p:sp>
        <p:nvSpPr>
          <p:cNvPr id="22" name="Label B"/>
          <p:cNvSpPr txBox="1"/>
          <p:nvPr/>
        </p:nvSpPr>
        <p:spPr>
          <a:xfrm>
            <a:off x="2559618" y="6148604"/>
            <a:ext cx="330790" cy="309562"/>
          </a:xfrm>
          <a:prstGeom prst="rect">
            <a:avLst/>
          </a:prstGeom>
          <a:noFill/>
          <a:ln>
            <a:noFill/>
          </a:ln>
        </p:spPr>
        <p:txBody>
          <a:bodyPr wrap="square" lIns="0" tIns="0" rIns="0" bIns="0" rtlCol="0" anchor="t">
            <a:noAutofit/>
          </a:bodyPr>
          <a:lstStyle/>
          <a:p>
            <a:pPr algn="ctr" rtl="0">
              <a:lnSpc>
                <a:spcPct val="110000"/>
              </a:lnSpc>
              <a:buNone/>
            </a:pPr>
            <a:r>
              <a:rPr lang="ar-SA" sz="1600" b="1" i="0" dirty="0">
                <a:solidFill>
                  <a:srgbClr val="A86A12"/>
                </a:solidFill>
                <a:latin typeface="Tahoma"/>
                <a:ea typeface="Tahoma"/>
                <a:cs typeface="Tahoma"/>
              </a:rPr>
              <a:t>B</a:t>
            </a:r>
          </a:p>
        </p:txBody>
      </p:sp>
      <p:sp>
        <p:nvSpPr>
          <p:cNvPr id="23" name="Tick 72"/>
          <p:cNvSpPr txBox="1"/>
          <p:nvPr/>
        </p:nvSpPr>
        <p:spPr>
          <a:xfrm>
            <a:off x="4959080" y="7453312"/>
            <a:ext cx="708837" cy="333375"/>
          </a:xfrm>
          <a:prstGeom prst="rect">
            <a:avLst/>
          </a:prstGeom>
          <a:noFill/>
          <a:ln>
            <a:noFill/>
          </a:ln>
        </p:spPr>
        <p:txBody>
          <a:bodyPr wrap="square" lIns="0" tIns="0" rIns="0" bIns="0" rtlCol="0" anchor="t">
            <a:noAutofit/>
          </a:bodyPr>
          <a:lstStyle/>
          <a:p>
            <a:pPr algn="ctr" rtl="0">
              <a:lnSpc>
                <a:spcPct val="110000"/>
              </a:lnSpc>
              <a:buNone/>
            </a:pPr>
            <a:r>
              <a:rPr lang="ar-SA" sz="1500" b="1" i="0" dirty="0">
                <a:solidFill>
                  <a:srgbClr val="2B3038"/>
                </a:solidFill>
                <a:latin typeface="Tahoma"/>
                <a:ea typeface="Tahoma"/>
                <a:cs typeface="Tahoma"/>
              </a:rPr>
              <a:t>72</a:t>
            </a:r>
          </a:p>
        </p:txBody>
      </p:sp>
      <p:sp>
        <p:nvSpPr>
          <p:cNvPr id="24" name="Curve C"/>
          <p:cNvSpPr/>
          <p:nvPr/>
        </p:nvSpPr>
        <p:spPr>
          <a:xfrm>
            <a:off x="3815212" y="1828330"/>
            <a:ext cx="3303160" cy="4927449"/>
          </a:xfrm>
          <a:custGeom>
            <a:avLst/>
            <a:gdLst/>
            <a:ahLst/>
            <a:cxnLst/>
            <a:rect l="0" t="0" r="r" b="b"/>
            <a:pathLst>
              <a:path w="3303160" h="4927449" fill="none">
                <a:moveTo>
                  <a:pt x="0" y="4927330"/>
                </a:moveTo>
                <a:lnTo>
                  <a:pt x="84693" y="4891287"/>
                </a:lnTo>
                <a:lnTo>
                  <a:pt x="169386" y="4853169"/>
                </a:lnTo>
                <a:lnTo>
                  <a:pt x="254080" y="4812858"/>
                </a:lnTo>
                <a:lnTo>
                  <a:pt x="338773" y="4770226"/>
                </a:lnTo>
                <a:lnTo>
                  <a:pt x="423466" y="4725141"/>
                </a:lnTo>
                <a:lnTo>
                  <a:pt x="508160" y="4677461"/>
                </a:lnTo>
                <a:lnTo>
                  <a:pt x="592853" y="4627036"/>
                </a:lnTo>
                <a:lnTo>
                  <a:pt x="677547" y="4573709"/>
                </a:lnTo>
                <a:lnTo>
                  <a:pt x="762240" y="4517313"/>
                </a:lnTo>
                <a:lnTo>
                  <a:pt x="846933" y="4457670"/>
                </a:lnTo>
                <a:lnTo>
                  <a:pt x="931627" y="4394595"/>
                </a:lnTo>
                <a:lnTo>
                  <a:pt x="1016320" y="4327889"/>
                </a:lnTo>
                <a:lnTo>
                  <a:pt x="1101014" y="4257344"/>
                </a:lnTo>
                <a:lnTo>
                  <a:pt x="1185707" y="4182739"/>
                </a:lnTo>
                <a:lnTo>
                  <a:pt x="1270400" y="4103840"/>
                </a:lnTo>
                <a:lnTo>
                  <a:pt x="1355094" y="4020399"/>
                </a:lnTo>
                <a:lnTo>
                  <a:pt x="1439787" y="3932156"/>
                </a:lnTo>
                <a:lnTo>
                  <a:pt x="1524481" y="3838834"/>
                </a:lnTo>
                <a:lnTo>
                  <a:pt x="1609174" y="3740140"/>
                </a:lnTo>
                <a:lnTo>
                  <a:pt x="1693867" y="3635766"/>
                </a:lnTo>
                <a:lnTo>
                  <a:pt x="1778561" y="3525384"/>
                </a:lnTo>
                <a:lnTo>
                  <a:pt x="1863254" y="3408650"/>
                </a:lnTo>
                <a:lnTo>
                  <a:pt x="1947948" y="3285196"/>
                </a:lnTo>
                <a:lnTo>
                  <a:pt x="2032641" y="3154637"/>
                </a:lnTo>
                <a:lnTo>
                  <a:pt x="2117334" y="3016563"/>
                </a:lnTo>
                <a:lnTo>
                  <a:pt x="2202028" y="2870542"/>
                </a:lnTo>
                <a:lnTo>
                  <a:pt x="2286721" y="2716116"/>
                </a:lnTo>
                <a:lnTo>
                  <a:pt x="2371415" y="2552802"/>
                </a:lnTo>
                <a:lnTo>
                  <a:pt x="2456108" y="2380089"/>
                </a:lnTo>
                <a:lnTo>
                  <a:pt x="2540801" y="2197434"/>
                </a:lnTo>
                <a:lnTo>
                  <a:pt x="2625495" y="2004266"/>
                </a:lnTo>
                <a:lnTo>
                  <a:pt x="2710188" y="1799981"/>
                </a:lnTo>
                <a:lnTo>
                  <a:pt x="2794882" y="1583937"/>
                </a:lnTo>
                <a:lnTo>
                  <a:pt x="2879575" y="1355458"/>
                </a:lnTo>
                <a:lnTo>
                  <a:pt x="2964268" y="1113829"/>
                </a:lnTo>
                <a:lnTo>
                  <a:pt x="3048962" y="858292"/>
                </a:lnTo>
                <a:lnTo>
                  <a:pt x="3133655" y="588047"/>
                </a:lnTo>
                <a:lnTo>
                  <a:pt x="3218349" y="302248"/>
                </a:lnTo>
                <a:lnTo>
                  <a:pt x="3303042" y="0"/>
                </a:lnTo>
              </a:path>
            </a:pathLst>
          </a:custGeom>
          <a:noFill/>
          <a:ln w="31750" cap="rnd">
            <a:solidFill>
              <a:srgbClr val="C8453F">
                <a:alpha val="100000"/>
              </a:srgbClr>
            </a:solidFill>
            <a:round/>
          </a:ln>
        </p:spPr>
        <p:txBody>
          <a:bodyPr rtlCol="0" anchor="ctr"/>
          <a:lstStyle/>
          <a:p>
            <a:endParaRPr lang="ar-SA"/>
          </a:p>
        </p:txBody>
      </p:sp>
      <p:sp>
        <p:nvSpPr>
          <p:cNvPr id="25" name="Guide 92"/>
          <p:cNvSpPr/>
          <p:nvPr/>
        </p:nvSpPr>
        <p:spPr>
          <a:xfrm>
            <a:off x="6675578" y="3236736"/>
            <a:ext cx="118" cy="4145257"/>
          </a:xfrm>
          <a:custGeom>
            <a:avLst/>
            <a:gdLst/>
            <a:ahLst/>
            <a:cxnLst/>
            <a:rect l="0" t="0" r="r" b="b"/>
            <a:pathLst>
              <a:path w="118" h="4145257" fill="none">
                <a:moveTo>
                  <a:pt x="0" y="0"/>
                </a:moveTo>
                <a:lnTo>
                  <a:pt x="0" y="4145138"/>
                </a:lnTo>
              </a:path>
            </a:pathLst>
          </a:custGeom>
          <a:noFill/>
          <a:ln w="12700" cap="rnd">
            <a:solidFill>
              <a:srgbClr val="6B7380">
                <a:alpha val="55000"/>
              </a:srgbClr>
            </a:solidFill>
            <a:prstDash val="sysDash"/>
            <a:round/>
          </a:ln>
        </p:spPr>
        <p:txBody>
          <a:bodyPr rtlCol="0" anchor="ctr"/>
          <a:lstStyle/>
          <a:p>
            <a:endParaRPr lang="ar-SA"/>
          </a:p>
        </p:txBody>
      </p:sp>
      <p:sp>
        <p:nvSpPr>
          <p:cNvPr id="26" name="Label C"/>
          <p:cNvSpPr txBox="1"/>
          <p:nvPr/>
        </p:nvSpPr>
        <p:spPr>
          <a:xfrm>
            <a:off x="3921697" y="6148604"/>
            <a:ext cx="330790" cy="309562"/>
          </a:xfrm>
          <a:prstGeom prst="rect">
            <a:avLst/>
          </a:prstGeom>
          <a:noFill/>
          <a:ln>
            <a:noFill/>
          </a:ln>
        </p:spPr>
        <p:txBody>
          <a:bodyPr wrap="square" lIns="0" tIns="0" rIns="0" bIns="0" rtlCol="0" anchor="t">
            <a:noAutofit/>
          </a:bodyPr>
          <a:lstStyle/>
          <a:p>
            <a:pPr algn="ctr" rtl="0">
              <a:lnSpc>
                <a:spcPct val="110000"/>
              </a:lnSpc>
              <a:buNone/>
            </a:pPr>
            <a:r>
              <a:rPr lang="ar-SA" sz="1600" b="1" i="0" dirty="0">
                <a:solidFill>
                  <a:srgbClr val="C8453F"/>
                </a:solidFill>
                <a:latin typeface="Tahoma"/>
                <a:ea typeface="Tahoma"/>
                <a:cs typeface="Tahoma"/>
              </a:rPr>
              <a:t>C</a:t>
            </a:r>
          </a:p>
        </p:txBody>
      </p:sp>
      <p:sp>
        <p:nvSpPr>
          <p:cNvPr id="27" name="Tick 92"/>
          <p:cNvSpPr txBox="1"/>
          <p:nvPr/>
        </p:nvSpPr>
        <p:spPr>
          <a:xfrm>
            <a:off x="6321160" y="7453312"/>
            <a:ext cx="708837" cy="333375"/>
          </a:xfrm>
          <a:prstGeom prst="rect">
            <a:avLst/>
          </a:prstGeom>
          <a:noFill/>
          <a:ln>
            <a:noFill/>
          </a:ln>
        </p:spPr>
        <p:txBody>
          <a:bodyPr wrap="square" lIns="0" tIns="0" rIns="0" bIns="0" rtlCol="0" anchor="t">
            <a:noAutofit/>
          </a:bodyPr>
          <a:lstStyle/>
          <a:p>
            <a:pPr algn="ctr" rtl="0">
              <a:lnSpc>
                <a:spcPct val="110000"/>
              </a:lnSpc>
              <a:buNone/>
            </a:pPr>
            <a:r>
              <a:rPr lang="ar-SA" sz="1500" b="1" i="0" dirty="0">
                <a:solidFill>
                  <a:srgbClr val="2B3038"/>
                </a:solidFill>
                <a:latin typeface="Tahoma"/>
                <a:ea typeface="Tahoma"/>
                <a:cs typeface="Tahoma"/>
              </a:rPr>
              <a:t>92</a:t>
            </a:r>
          </a:p>
        </p:txBody>
      </p:sp>
      <p:sp>
        <p:nvSpPr>
          <p:cNvPr id="28" name="1 atm"/>
          <p:cNvSpPr txBox="1"/>
          <p:nvPr/>
        </p:nvSpPr>
        <p:spPr>
          <a:xfrm>
            <a:off x="921488" y="3070048"/>
            <a:ext cx="779720" cy="333375"/>
          </a:xfrm>
          <a:prstGeom prst="rect">
            <a:avLst/>
          </a:prstGeom>
          <a:noFill/>
          <a:ln>
            <a:noFill/>
          </a:ln>
        </p:spPr>
        <p:txBody>
          <a:bodyPr wrap="square" lIns="0" tIns="0" rIns="0" bIns="0" rtlCol="0" anchor="t">
            <a:noAutofit/>
          </a:bodyPr>
          <a:lstStyle/>
          <a:p>
            <a:pPr algn="r" rtl="0">
              <a:lnSpc>
                <a:spcPct val="110000"/>
              </a:lnSpc>
              <a:buNone/>
            </a:pPr>
            <a:r>
              <a:rPr lang="ar-SA" sz="1300" b="1" i="0" dirty="0">
                <a:solidFill>
                  <a:srgbClr val="5D6570"/>
                </a:solidFill>
                <a:latin typeface="Tahoma"/>
                <a:ea typeface="Tahoma"/>
                <a:cs typeface="Tahoma"/>
              </a:rPr>
              <a:t>1 atm</a:t>
            </a:r>
          </a:p>
        </p:txBody>
      </p:sp>
      <p:sp>
        <p:nvSpPr>
          <p:cNvPr id="29" name="x axis"/>
          <p:cNvSpPr txBox="1"/>
          <p:nvPr/>
        </p:nvSpPr>
        <p:spPr>
          <a:xfrm>
            <a:off x="1772093" y="7858125"/>
            <a:ext cx="5788837" cy="381000"/>
          </a:xfrm>
          <a:prstGeom prst="rect">
            <a:avLst/>
          </a:prstGeom>
          <a:noFill/>
          <a:ln>
            <a:noFill/>
          </a:ln>
        </p:spPr>
        <p:txBody>
          <a:bodyPr wrap="square" lIns="0" tIns="0" rIns="0" bIns="0" rtlCol="0" anchor="t">
            <a:noAutofit/>
          </a:bodyPr>
          <a:lstStyle/>
          <a:p>
            <a:pPr algn="ctr" rtl="1">
              <a:lnSpc>
                <a:spcPct val="110000"/>
              </a:lnSpc>
              <a:buNone/>
            </a:pPr>
            <a:r>
              <a:rPr lang="ar-SA" sz="1600" b="1" i="0" dirty="0">
                <a:solidFill>
                  <a:srgbClr val="5D6570"/>
                </a:solidFill>
                <a:latin typeface="Tahoma"/>
                <a:ea typeface="Tahoma"/>
                <a:cs typeface="Tahoma"/>
              </a:rPr>
              <a:t>درجة الحرارة ‪(°C)‬</a:t>
            </a:r>
          </a:p>
        </p:txBody>
      </p:sp>
      <p:sp>
        <p:nvSpPr>
          <p:cNvPr id="30" name="y axis"/>
          <p:cNvSpPr txBox="1"/>
          <p:nvPr/>
        </p:nvSpPr>
        <p:spPr>
          <a:xfrm rot="16200000">
            <a:off x="-295348" y="4393406"/>
            <a:ext cx="3426046" cy="381000"/>
          </a:xfrm>
          <a:prstGeom prst="rect">
            <a:avLst/>
          </a:prstGeom>
          <a:noFill/>
          <a:ln>
            <a:noFill/>
          </a:ln>
        </p:spPr>
        <p:txBody>
          <a:bodyPr wrap="square" lIns="0" tIns="0" rIns="0" bIns="0" rtlCol="0" anchor="t">
            <a:noAutofit/>
          </a:bodyPr>
          <a:lstStyle/>
          <a:p>
            <a:pPr algn="ctr" rtl="1">
              <a:lnSpc>
                <a:spcPct val="110000"/>
              </a:lnSpc>
              <a:buNone/>
            </a:pPr>
            <a:r>
              <a:rPr lang="ar-SA" sz="1600" b="1" i="0" dirty="0">
                <a:solidFill>
                  <a:srgbClr val="5D6570"/>
                </a:solidFill>
                <a:latin typeface="Tahoma"/>
                <a:ea typeface="Tahoma"/>
                <a:cs typeface="Tahoma"/>
              </a:rPr>
              <a:t>الضغط البخاري ‪(atm)‬</a:t>
            </a:r>
          </a:p>
        </p:txBody>
      </p:sp>
      <p:sp>
        <p:nvSpPr>
          <p:cNvPr id="31" name="Card 1"/>
          <p:cNvSpPr/>
          <p:nvPr/>
        </p:nvSpPr>
        <p:spPr>
          <a:xfrm>
            <a:off x="8506046" y="1238250"/>
            <a:ext cx="7041116" cy="24688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32" name="Number 1"/>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1</a:t>
            </a:r>
          </a:p>
        </p:txBody>
      </p:sp>
      <p:sp>
        <p:nvSpPr>
          <p:cNvPr id="33" name="Tag 1"/>
          <p:cNvSpPr txBox="1"/>
          <p:nvPr/>
        </p:nvSpPr>
        <p:spPr>
          <a:xfrm>
            <a:off x="8813209" y="1404937"/>
            <a:ext cx="585972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ادرس الرسم البياني المقابل ثم أكمل</a:t>
            </a:r>
          </a:p>
        </p:txBody>
      </p:sp>
      <p:sp>
        <p:nvSpPr>
          <p:cNvPr id="34" name="Question 1"/>
          <p:cNvSpPr txBox="1"/>
          <p:nvPr/>
        </p:nvSpPr>
        <p:spPr>
          <a:xfrm>
            <a:off x="8813209" y="1785937"/>
            <a:ext cx="5859720" cy="1683057"/>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الشكل المقابل يوضح العلاقة بين الضغط البخاري لمحلول ما ذي تراكيز مختلفة ودرجة الحرارة، ومن خلال الرسم فإن:</a:t>
            </a:r>
          </a:p>
        </p:txBody>
      </p:sp>
      <p:sp>
        <p:nvSpPr>
          <p:cNvPr id="35" name="Card 2"/>
          <p:cNvSpPr/>
          <p:nvPr/>
        </p:nvSpPr>
        <p:spPr>
          <a:xfrm>
            <a:off x="8506046" y="3897620"/>
            <a:ext cx="7041116"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36" name="Number 2"/>
          <p:cNvSpPr/>
          <p:nvPr/>
        </p:nvSpPr>
        <p:spPr>
          <a:xfrm>
            <a:off x="14838325" y="408812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2</a:t>
            </a:r>
          </a:p>
        </p:txBody>
      </p:sp>
      <p:sp>
        <p:nvSpPr>
          <p:cNvPr id="37" name="Tag 2"/>
          <p:cNvSpPr txBox="1"/>
          <p:nvPr/>
        </p:nvSpPr>
        <p:spPr>
          <a:xfrm>
            <a:off x="8813209" y="4064307"/>
            <a:ext cx="585972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a:t>
            </a:r>
          </a:p>
        </p:txBody>
      </p:sp>
      <p:sp>
        <p:nvSpPr>
          <p:cNvPr id="38" name="Question 2"/>
          <p:cNvSpPr txBox="1"/>
          <p:nvPr/>
        </p:nvSpPr>
        <p:spPr>
          <a:xfrm>
            <a:off x="8813209" y="4445307"/>
            <a:ext cx="585972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المحلول الذي تتحول جزيئاته للحالة الغازية أولاً هو ............</a:t>
            </a:r>
          </a:p>
        </p:txBody>
      </p:sp>
      <p:sp>
        <p:nvSpPr>
          <p:cNvPr id="39" name="Answer 2"/>
          <p:cNvSpPr/>
          <p:nvPr/>
        </p:nvSpPr>
        <p:spPr>
          <a:xfrm>
            <a:off x="13801097" y="5453524"/>
            <a:ext cx="871832"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A</a:t>
            </a:r>
          </a:p>
        </p:txBody>
      </p:sp>
      <p:sp>
        <p:nvSpPr>
          <p:cNvPr id="40" name="Card 3"/>
          <p:cNvSpPr/>
          <p:nvPr/>
        </p:nvSpPr>
        <p:spPr>
          <a:xfrm>
            <a:off x="8506046" y="6453649"/>
            <a:ext cx="7041116"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41" name="Number 3"/>
          <p:cNvSpPr/>
          <p:nvPr/>
        </p:nvSpPr>
        <p:spPr>
          <a:xfrm>
            <a:off x="14838325" y="6644149"/>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3</a:t>
            </a:r>
          </a:p>
        </p:txBody>
      </p:sp>
      <p:sp>
        <p:nvSpPr>
          <p:cNvPr id="42" name="Tag 3"/>
          <p:cNvSpPr txBox="1"/>
          <p:nvPr/>
        </p:nvSpPr>
        <p:spPr>
          <a:xfrm>
            <a:off x="8813209" y="6620336"/>
            <a:ext cx="585972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a:t>
            </a:r>
          </a:p>
        </p:txBody>
      </p:sp>
      <p:sp>
        <p:nvSpPr>
          <p:cNvPr id="43" name="Question 3"/>
          <p:cNvSpPr txBox="1"/>
          <p:nvPr/>
        </p:nvSpPr>
        <p:spPr>
          <a:xfrm>
            <a:off x="8813209" y="7001336"/>
            <a:ext cx="585972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المحلول الأعلى تركيزاً من بين المحاليل هو ............</a:t>
            </a:r>
          </a:p>
        </p:txBody>
      </p:sp>
      <p:sp>
        <p:nvSpPr>
          <p:cNvPr id="44" name="Answer 3"/>
          <p:cNvSpPr/>
          <p:nvPr/>
        </p:nvSpPr>
        <p:spPr>
          <a:xfrm>
            <a:off x="13806265" y="8009553"/>
            <a:ext cx="866664"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0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50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fade">
                                      <p:cBhvr>
                                        <p:cTn id="32" dur="500"/>
                                        <p:tgtEl>
                                          <p:spTgt spid="2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fade">
                                      <p:cBhvr>
                                        <p:cTn id="35" dur="500"/>
                                        <p:tgtEl>
                                          <p:spTgt spid="2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3"/>
                                        </p:tgtEl>
                                        <p:attrNameLst>
                                          <p:attrName>style.visibility</p:attrName>
                                        </p:attrNameLst>
                                      </p:cBhvr>
                                      <p:to>
                                        <p:strVal val="visible"/>
                                      </p:to>
                                    </p:set>
                                    <p:animEffect transition="in" filter="fade">
                                      <p:cBhvr>
                                        <p:cTn id="38" dur="500"/>
                                        <p:tgtEl>
                                          <p:spTgt spid="23"/>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500"/>
                                        <p:tgtEl>
                                          <p:spTgt spid="25"/>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fade">
                                      <p:cBhvr>
                                        <p:cTn id="44" dur="500"/>
                                        <p:tgtEl>
                                          <p:spTgt spid="2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00"/>
                                        <p:tgtEl>
                                          <p:spTgt spid="2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8"/>
                                        </p:tgtEl>
                                        <p:attrNameLst>
                                          <p:attrName>style.visibility</p:attrName>
                                        </p:attrNameLst>
                                      </p:cBhvr>
                                      <p:to>
                                        <p:strVal val="visible"/>
                                      </p:to>
                                    </p:set>
                                    <p:animEffect transition="in" filter="fade">
                                      <p:cBhvr>
                                        <p:cTn id="50" dur="500"/>
                                        <p:tgtEl>
                                          <p:spTgt spid="2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00"/>
                                        <p:tgtEl>
                                          <p:spTgt spid="2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fade">
                                      <p:cBhvr>
                                        <p:cTn id="56" dur="500"/>
                                        <p:tgtEl>
                                          <p:spTgt spid="30"/>
                                        </p:tgtEl>
                                      </p:cBhvr>
                                    </p:animEffect>
                                  </p:childTnLst>
                                </p:cTn>
                              </p:par>
                            </p:childTnLst>
                          </p:cTn>
                        </p:par>
                        <p:par>
                          <p:cTn id="57" fill="hold">
                            <p:stCondLst>
                              <p:cond delay="1020"/>
                            </p:stCondLst>
                            <p:childTnLst>
                              <p:par>
                                <p:cTn id="58" presetID="22" presetClass="entr" presetSubtype="2" fill="hold" grpId="0" nodeType="after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wipe(right)">
                                      <p:cBhvr>
                                        <p:cTn id="60" dur="700"/>
                                        <p:tgtEl>
                                          <p:spTgt spid="16"/>
                                        </p:tgtEl>
                                      </p:cBhvr>
                                    </p:animEffect>
                                  </p:childTnLst>
                                </p:cTn>
                              </p:par>
                            </p:childTnLst>
                          </p:cTn>
                        </p:par>
                        <p:par>
                          <p:cTn id="61" fill="hold">
                            <p:stCondLst>
                              <p:cond delay="1780"/>
                            </p:stCondLst>
                            <p:childTnLst>
                              <p:par>
                                <p:cTn id="62" presetID="22" presetClass="entr" presetSubtype="2" fill="hold" grpId="0" nodeType="after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wipe(right)">
                                      <p:cBhvr>
                                        <p:cTn id="64" dur="600"/>
                                        <p:tgtEl>
                                          <p:spTgt spid="20"/>
                                        </p:tgtEl>
                                      </p:cBhvr>
                                    </p:animEffect>
                                  </p:childTnLst>
                                </p:cTn>
                              </p:par>
                            </p:childTnLst>
                          </p:cTn>
                        </p:par>
                        <p:par>
                          <p:cTn id="65" fill="hold">
                            <p:stCondLst>
                              <p:cond delay="2440"/>
                            </p:stCondLst>
                            <p:childTnLst>
                              <p:par>
                                <p:cTn id="66" presetID="22" presetClass="entr" presetSubtype="2" fill="hold" grpId="0" nodeType="afterEffect">
                                  <p:stCondLst>
                                    <p:cond delay="0"/>
                                  </p:stCondLst>
                                  <p:childTnLst>
                                    <p:set>
                                      <p:cBhvr>
                                        <p:cTn id="67" dur="1" fill="hold">
                                          <p:stCondLst>
                                            <p:cond delay="0"/>
                                          </p:stCondLst>
                                        </p:cTn>
                                        <p:tgtEl>
                                          <p:spTgt spid="24"/>
                                        </p:tgtEl>
                                        <p:attrNameLst>
                                          <p:attrName>style.visibility</p:attrName>
                                        </p:attrNameLst>
                                      </p:cBhvr>
                                      <p:to>
                                        <p:strVal val="visible"/>
                                      </p:to>
                                    </p:set>
                                    <p:animEffect transition="in" filter="wipe(right)">
                                      <p:cBhvr>
                                        <p:cTn id="68" dur="600"/>
                                        <p:tgtEl>
                                          <p:spTgt spid="24"/>
                                        </p:tgtEl>
                                      </p:cBhvr>
                                    </p:animEffect>
                                  </p:childTnLst>
                                </p:cTn>
                              </p:par>
                            </p:childTnLst>
                          </p:cTn>
                        </p:par>
                        <p:par>
                          <p:cTn id="69" fill="hold">
                            <p:stCondLst>
                              <p:cond delay="3100"/>
                            </p:stCondLst>
                            <p:childTnLst>
                              <p:par>
                                <p:cTn id="70" presetID="10" presetClass="entr" presetSubtype="0" fill="hold" grpId="0" nodeType="after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450"/>
                                        <p:tgtEl>
                                          <p:spTgt spid="3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450"/>
                                        <p:tgtEl>
                                          <p:spTgt spid="3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fade">
                                      <p:cBhvr>
                                        <p:cTn id="78" dur="450"/>
                                        <p:tgtEl>
                                          <p:spTgt spid="3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4"/>
                                        </p:tgtEl>
                                        <p:attrNameLst>
                                          <p:attrName>style.visibility</p:attrName>
                                        </p:attrNameLst>
                                      </p:cBhvr>
                                      <p:to>
                                        <p:strVal val="visible"/>
                                      </p:to>
                                    </p:set>
                                    <p:animEffect transition="in" filter="fade">
                                      <p:cBhvr>
                                        <p:cTn id="81" dur="450"/>
                                        <p:tgtEl>
                                          <p:spTgt spid="34"/>
                                        </p:tgtEl>
                                      </p:cBhvr>
                                    </p:animEffect>
                                  </p:childTnLst>
                                </p:cTn>
                              </p:par>
                            </p:childTnLst>
                          </p:cTn>
                        </p:par>
                        <p:par>
                          <p:cTn id="82" fill="hold">
                            <p:stCondLst>
                              <p:cond delay="3610"/>
                            </p:stCondLst>
                            <p:childTnLst>
                              <p:par>
                                <p:cTn id="83" presetID="10" presetClass="entr" presetSubtype="0" fill="hold" grpId="0" nodeType="after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450"/>
                                        <p:tgtEl>
                                          <p:spTgt spid="35"/>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fade">
                                      <p:cBhvr>
                                        <p:cTn id="88" dur="450"/>
                                        <p:tgtEl>
                                          <p:spTgt spid="36"/>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7"/>
                                        </p:tgtEl>
                                        <p:attrNameLst>
                                          <p:attrName>style.visibility</p:attrName>
                                        </p:attrNameLst>
                                      </p:cBhvr>
                                      <p:to>
                                        <p:strVal val="visible"/>
                                      </p:to>
                                    </p:set>
                                    <p:animEffect transition="in" filter="fade">
                                      <p:cBhvr>
                                        <p:cTn id="91" dur="450"/>
                                        <p:tgtEl>
                                          <p:spTgt spid="37"/>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fade">
                                      <p:cBhvr>
                                        <p:cTn id="94" dur="450"/>
                                        <p:tgtEl>
                                          <p:spTgt spid="38"/>
                                        </p:tgtEl>
                                      </p:cBhvr>
                                    </p:animEffect>
                                  </p:childTnLst>
                                </p:cTn>
                              </p:par>
                            </p:childTnLst>
                          </p:cTn>
                        </p:par>
                        <p:par>
                          <p:cTn id="95" fill="hold">
                            <p:stCondLst>
                              <p:cond delay="4120"/>
                            </p:stCondLst>
                            <p:childTnLst>
                              <p:par>
                                <p:cTn id="96" presetID="10" presetClass="entr" presetSubtype="0" fill="hold" grpId="0" nodeType="afterEffect">
                                  <p:stCondLst>
                                    <p:cond delay="0"/>
                                  </p:stCondLst>
                                  <p:childTnLst>
                                    <p:set>
                                      <p:cBhvr>
                                        <p:cTn id="97" dur="1" fill="hold">
                                          <p:stCondLst>
                                            <p:cond delay="0"/>
                                          </p:stCondLst>
                                        </p:cTn>
                                        <p:tgtEl>
                                          <p:spTgt spid="40"/>
                                        </p:tgtEl>
                                        <p:attrNameLst>
                                          <p:attrName>style.visibility</p:attrName>
                                        </p:attrNameLst>
                                      </p:cBhvr>
                                      <p:to>
                                        <p:strVal val="visible"/>
                                      </p:to>
                                    </p:set>
                                    <p:animEffect transition="in" filter="fade">
                                      <p:cBhvr>
                                        <p:cTn id="98" dur="450"/>
                                        <p:tgtEl>
                                          <p:spTgt spid="4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1"/>
                                        </p:tgtEl>
                                        <p:attrNameLst>
                                          <p:attrName>style.visibility</p:attrName>
                                        </p:attrNameLst>
                                      </p:cBhvr>
                                      <p:to>
                                        <p:strVal val="visible"/>
                                      </p:to>
                                    </p:set>
                                    <p:animEffect transition="in" filter="fade">
                                      <p:cBhvr>
                                        <p:cTn id="101" dur="450"/>
                                        <p:tgtEl>
                                          <p:spTgt spid="4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2"/>
                                        </p:tgtEl>
                                        <p:attrNameLst>
                                          <p:attrName>style.visibility</p:attrName>
                                        </p:attrNameLst>
                                      </p:cBhvr>
                                      <p:to>
                                        <p:strVal val="visible"/>
                                      </p:to>
                                    </p:set>
                                    <p:animEffect transition="in" filter="fade">
                                      <p:cBhvr>
                                        <p:cTn id="104" dur="450"/>
                                        <p:tgtEl>
                                          <p:spTgt spid="4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3"/>
                                        </p:tgtEl>
                                        <p:attrNameLst>
                                          <p:attrName>style.visibility</p:attrName>
                                        </p:attrNameLst>
                                      </p:cBhvr>
                                      <p:to>
                                        <p:strVal val="visible"/>
                                      </p:to>
                                    </p:set>
                                    <p:animEffect transition="in" filter="fade">
                                      <p:cBhvr>
                                        <p:cTn id="107" dur="450"/>
                                        <p:tgtEl>
                                          <p:spTgt spid="43"/>
                                        </p:tgtEl>
                                      </p:cBhvr>
                                    </p:animEffect>
                                  </p:childTnLst>
                                </p:cTn>
                              </p:par>
                            </p:childTnLst>
                          </p:cTn>
                        </p:par>
                      </p:childTnLst>
                    </p:cTn>
                  </p:par>
                  <p:par>
                    <p:cTn id="108" fill="hold">
                      <p:stCondLst>
                        <p:cond delay="indefinite"/>
                      </p:stCondLst>
                      <p:childTnLst>
                        <p:par>
                          <p:cTn id="109" fill="hold">
                            <p:stCondLst>
                              <p:cond delay="0"/>
                            </p:stCondLst>
                            <p:childTnLst>
                              <p:par>
                                <p:cTn id="110" presetID="53" presetClass="entr" presetSubtype="16" fill="hold" grpId="0" nodeType="clickEffect">
                                  <p:stCondLst>
                                    <p:cond delay="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450"/>
                                        <p:tgtEl>
                                          <p:spTgt spid="39"/>
                                        </p:tgtEl>
                                      </p:cBhvr>
                                    </p:animEffect>
                                    <p:anim calcmode="lin" valueType="num">
                                      <p:cBhvr>
                                        <p:cTn id="113" dur="450" fill="hold"/>
                                        <p:tgtEl>
                                          <p:spTgt spid="39"/>
                                        </p:tgtEl>
                                        <p:attrNameLst>
                                          <p:attrName>ppt_w</p:attrName>
                                        </p:attrNameLst>
                                      </p:cBhvr>
                                      <p:tavLst>
                                        <p:tav tm="0">
                                          <p:val>
                                            <p:strVal val="0"/>
                                          </p:val>
                                        </p:tav>
                                        <p:tav tm="100000">
                                          <p:val>
                                            <p:strVal val="#ppt_w"/>
                                          </p:val>
                                        </p:tav>
                                      </p:tavLst>
                                    </p:anim>
                                    <p:anim calcmode="lin" valueType="num">
                                      <p:cBhvr>
                                        <p:cTn id="114" dur="450" fill="hold"/>
                                        <p:tgtEl>
                                          <p:spTgt spid="39"/>
                                        </p:tgtEl>
                                        <p:attrNameLst>
                                          <p:attrName>ppt_h</p:attrName>
                                        </p:attrNameLst>
                                      </p:cBhvr>
                                      <p:tavLst>
                                        <p:tav tm="0">
                                          <p:val>
                                            <p:strVal val="0"/>
                                          </p:val>
                                        </p:tav>
                                        <p:tav tm="100000">
                                          <p:val>
                                            <p:strVal val="#ppt_h"/>
                                          </p:val>
                                        </p:tav>
                                      </p:tavLst>
                                    </p:anim>
                                  </p:childTnLst>
                                </p:cTn>
                              </p:par>
                            </p:childTnLst>
                          </p:cTn>
                        </p:par>
                      </p:childTnLst>
                    </p:cTn>
                  </p:par>
                  <p:par>
                    <p:cTn id="115" fill="hold">
                      <p:stCondLst>
                        <p:cond delay="indefinite"/>
                      </p:stCondLst>
                      <p:childTnLst>
                        <p:par>
                          <p:cTn id="116" fill="hold">
                            <p:stCondLst>
                              <p:cond delay="0"/>
                            </p:stCondLst>
                            <p:childTnLst>
                              <p:par>
                                <p:cTn id="117" presetID="53" presetClass="entr" presetSubtype="16" fill="hold" grpId="0" nodeType="click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fade">
                                      <p:cBhvr>
                                        <p:cTn id="119" dur="450"/>
                                        <p:tgtEl>
                                          <p:spTgt spid="44"/>
                                        </p:tgtEl>
                                      </p:cBhvr>
                                    </p:animEffect>
                                    <p:anim calcmode="lin" valueType="num">
                                      <p:cBhvr>
                                        <p:cTn id="120" dur="450" fill="hold"/>
                                        <p:tgtEl>
                                          <p:spTgt spid="44"/>
                                        </p:tgtEl>
                                        <p:attrNameLst>
                                          <p:attrName>ppt_w</p:attrName>
                                        </p:attrNameLst>
                                      </p:cBhvr>
                                      <p:tavLst>
                                        <p:tav tm="0">
                                          <p:val>
                                            <p:strVal val="0"/>
                                          </p:val>
                                        </p:tav>
                                        <p:tav tm="100000">
                                          <p:val>
                                            <p:strVal val="#ppt_w"/>
                                          </p:val>
                                        </p:tav>
                                      </p:tavLst>
                                    </p:anim>
                                    <p:anim calcmode="lin" valueType="num">
                                      <p:cBhvr>
                                        <p:cTn id="121" dur="450" fill="hold"/>
                                        <p:tgtEl>
                                          <p:spTgt spid="44"/>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(5)</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p>
        </p:txBody>
      </p:sp>
      <p:sp>
        <p:nvSpPr>
          <p:cNvPr id="13" name="Card 5"/>
          <p:cNvSpPr/>
          <p:nvPr/>
        </p:nvSpPr>
        <p:spPr>
          <a:xfrm>
            <a:off x="708837" y="1238250"/>
            <a:ext cx="14838325" cy="1555903"/>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5"/>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5</a:t>
            </a:r>
          </a:p>
        </p:txBody>
      </p:sp>
      <p:sp>
        <p:nvSpPr>
          <p:cNvPr id="15" name="Tag 5"/>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p>
        </p:txBody>
      </p:sp>
      <p:sp>
        <p:nvSpPr>
          <p:cNvPr id="16" name="Question 5"/>
          <p:cNvSpPr txBox="1"/>
          <p:nvPr/>
        </p:nvSpPr>
        <p:spPr>
          <a:xfrm>
            <a:off x="1016000" y="1785937"/>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إذا علمت أن محلول اليوريا في الماء الذي تركيزه ‪(0.1 mol/kg)‬ يغلي عند ‪(100.052 °C)‬، فاحسب قيمة ثابت الغليان للماء.</a:t>
            </a:r>
          </a:p>
        </p:txBody>
      </p:sp>
      <p:sp>
        <p:nvSpPr>
          <p:cNvPr id="17" name="Solution panel 1"/>
          <p:cNvSpPr/>
          <p:nvPr/>
        </p:nvSpPr>
        <p:spPr>
          <a:xfrm>
            <a:off x="708837" y="2984653"/>
            <a:ext cx="14838325" cy="2274897"/>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127528"/>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p>
        </p:txBody>
      </p:sp>
      <p:sp>
        <p:nvSpPr>
          <p:cNvPr id="19" name="Solution 1"/>
          <p:cNvSpPr txBox="1"/>
          <p:nvPr/>
        </p:nvSpPr>
        <p:spPr>
          <a:xfrm>
            <a:off x="945116" y="3579966"/>
            <a:ext cx="14365767" cy="1560522"/>
          </a:xfrm>
          <a:prstGeom prst="rect">
            <a:avLst/>
          </a:prstGeom>
          <a:noFill/>
          <a:ln>
            <a:noFill/>
          </a:ln>
        </p:spPr>
        <p:txBody>
          <a:bodyPr wrap="square" lIns="0" tIns="0" rIns="0" bIns="0" rtlCol="0" anchor="t">
            <a:noAutofit/>
          </a:bodyPr>
          <a:lstStyle/>
          <a:p>
            <a:pPr rtl="0" algn="ctr">
              <a:lnSpc>
                <a:spcPct val="125000"/>
              </a:lnSpc>
              <a:buNone/>
            </a:pPr>
            <a:r>
              <a:rPr lang="en-US" sz="2400" b="1" i="0" dirty="0">
                <a:solidFill>
                  <a:srgbClr val="2B3038"/>
                </a:solidFill>
                <a:latin typeface="Tahoma"/>
                <a:ea typeface="Tahoma"/>
                <a:cs typeface="Tahoma"/>
              </a:rPr>
              <a:t>ΔT</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100.052 − 100 = 0.052 °C</a:t>
            </a:r>
          </a:p>
          <a:p>
            <a:pPr rtl="0" algn="ctr">
              <a:lnSpc>
                <a:spcPct val="125000"/>
              </a:lnSpc>
              <a:buNone/>
            </a:pPr>
            <a:r>
              <a:rPr lang="en-US" sz="2400" b="1" i="0" dirty="0">
                <a:solidFill>
                  <a:srgbClr val="2B3038"/>
                </a:solidFill>
                <a:latin typeface="Tahoma"/>
                <a:ea typeface="Tahoma"/>
                <a:cs typeface="Tahoma"/>
              </a:rPr>
              <a:t>ΔT</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K</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m</a:t>
            </a:r>
          </a:p>
          <a:p>
            <a:pPr rtl="0" algn="ctr">
              <a:lnSpc>
                <a:spcPct val="125000"/>
              </a:lnSpc>
              <a:buNone/>
            </a:pPr>
            <a:r>
              <a:rPr lang="en-US" sz="2400" b="1" i="0" dirty="0">
                <a:solidFill>
                  <a:srgbClr val="2B3038"/>
                </a:solidFill>
                <a:latin typeface="Tahoma"/>
                <a:ea typeface="Tahoma"/>
                <a:cs typeface="Tahoma"/>
              </a:rPr>
              <a:t>K</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ΔT</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m = 0.052 / 0.1 = 0.52 °C kg/mol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8" fill="hold">
                            <p:stCondLst>
                              <p:cond delay="460"/>
                            </p:stCondLst>
                            <p:childTnLst>
                              <p:par>
                                <p:cTn id="39"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4" fill="hold">
                            <p:stCondLst>
                              <p:cond delay="920"/>
                            </p:stCondLst>
                            <p:childTnLst>
                              <p:par>
                                <p:cTn id="45"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(1)</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p>
        </p:txBody>
      </p:sp>
      <p:sp>
        <p:nvSpPr>
          <p:cNvPr id="13" name="Card 1"/>
          <p:cNvSpPr/>
          <p:nvPr/>
        </p:nvSpPr>
        <p:spPr>
          <a:xfrm>
            <a:off x="708837" y="1238250"/>
            <a:ext cx="14838325" cy="1964762"/>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1"/>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1</a:t>
            </a:r>
          </a:p>
        </p:txBody>
      </p:sp>
      <p:sp>
        <p:nvSpPr>
          <p:cNvPr id="15" name="Tag 1"/>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p>
        </p:txBody>
      </p:sp>
      <p:sp>
        <p:nvSpPr>
          <p:cNvPr id="16" name="Question 1"/>
          <p:cNvSpPr txBox="1"/>
          <p:nvPr/>
        </p:nvSpPr>
        <p:spPr>
          <a:xfrm>
            <a:off x="1016000" y="1785937"/>
            <a:ext cx="13656930" cy="1274199"/>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أُذيب ‪(45 g)‬ من سكر الجلوكوز ‪C</a:t>
            </a:r>
            <a:r>
              <a:rPr lang="ar-SA" sz="2400" b="1" i="0" baseline="-25000" dirty="0">
                <a:solidFill>
                  <a:srgbClr val="2B3038"/>
                </a:solidFill>
                <a:latin typeface="Tahoma"/>
                <a:ea typeface="Tahoma"/>
                <a:cs typeface="Tahoma"/>
              </a:rPr>
              <a:t>6</a:t>
            </a:r>
            <a:r>
              <a:rPr lang="ar-SA" sz="2400" b="1" i="0" dirty="0">
                <a:solidFill>
                  <a:srgbClr val="2B3038"/>
                </a:solidFill>
                <a:latin typeface="Tahoma"/>
                <a:ea typeface="Tahoma"/>
                <a:cs typeface="Tahoma"/>
              </a:rPr>
              <a:t>H</a:t>
            </a:r>
            <a:r>
              <a:rPr lang="ar-SA" sz="2400" b="1" i="0" baseline="-25000" dirty="0">
                <a:solidFill>
                  <a:srgbClr val="2B3038"/>
                </a:solidFill>
                <a:latin typeface="Tahoma"/>
                <a:ea typeface="Tahoma"/>
                <a:cs typeface="Tahoma"/>
              </a:rPr>
              <a:t>12</a:t>
            </a:r>
            <a:r>
              <a:rPr lang="ar-SA" sz="2400" b="1" i="0" dirty="0">
                <a:solidFill>
                  <a:srgbClr val="2B3038"/>
                </a:solidFill>
                <a:latin typeface="Tahoma"/>
                <a:ea typeface="Tahoma"/>
                <a:cs typeface="Tahoma"/>
              </a:rPr>
              <a:t>O</a:t>
            </a:r>
            <a:r>
              <a:rPr lang="ar-SA" sz="2400" b="1" i="0" baseline="-25000" dirty="0">
                <a:solidFill>
                  <a:srgbClr val="2B3038"/>
                </a:solidFill>
                <a:latin typeface="Tahoma"/>
                <a:ea typeface="Tahoma"/>
                <a:cs typeface="Tahoma"/>
              </a:rPr>
              <a:t>6</a:t>
            </a:r>
            <a:r>
              <a:rPr lang="ar-SA" sz="2400" b="1" i="0" dirty="0">
                <a:solidFill>
                  <a:srgbClr val="2B3038"/>
                </a:solidFill>
                <a:latin typeface="Tahoma"/>
                <a:ea typeface="Tahoma"/>
                <a:cs typeface="Tahoma"/>
              </a:rPr>
              <a:t>‬ في ‪(500 g)‬ من الماء، فإذا كان ثابت الغليان للماء يساوي ‪(0.512 °C kg/mol)‬، احسب درجة غليان المحلول الناتج. ‪(C = 12 , H = 1 , O = 16)‬</a:t>
            </a:r>
          </a:p>
        </p:txBody>
      </p:sp>
      <p:sp>
        <p:nvSpPr>
          <p:cNvPr id="17" name="Solution panel 1"/>
          <p:cNvSpPr/>
          <p:nvPr/>
        </p:nvSpPr>
        <p:spPr>
          <a:xfrm>
            <a:off x="708837" y="3393512"/>
            <a:ext cx="14838325" cy="3204120"/>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536387"/>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p>
        </p:txBody>
      </p:sp>
      <p:sp>
        <p:nvSpPr>
          <p:cNvPr id="19" name="Solution 1"/>
          <p:cNvSpPr txBox="1"/>
          <p:nvPr/>
        </p:nvSpPr>
        <p:spPr>
          <a:xfrm>
            <a:off x="945116" y="3988824"/>
            <a:ext cx="14365767" cy="2489745"/>
          </a:xfrm>
          <a:prstGeom prst="rect">
            <a:avLst/>
          </a:prstGeom>
          <a:noFill/>
          <a:ln>
            <a:noFill/>
          </a:ln>
        </p:spPr>
        <p:txBody>
          <a:bodyPr wrap="square" lIns="0" tIns="0" rIns="0" bIns="0" rtlCol="0" anchor="t">
            <a:noAutofit/>
          </a:bodyPr>
          <a:lstStyle/>
          <a:p>
            <a:pPr rtl="0" algn="ctr">
              <a:lnSpc>
                <a:spcPct val="125000"/>
              </a:lnSpc>
              <a:buNone/>
            </a:pPr>
            <a:r>
              <a:rPr lang="en-US" sz="2400" b="1" i="0" dirty="0">
                <a:solidFill>
                  <a:srgbClr val="2B3038"/>
                </a:solidFill>
                <a:latin typeface="Tahoma"/>
                <a:ea typeface="Tahoma"/>
                <a:cs typeface="Tahoma"/>
              </a:rPr>
              <a:t>M</a:t>
            </a:r>
            <a:r>
              <a:rPr baseline="-25000" lang="en-US" sz="2400" b="1" i="0" dirty="0">
                <a:solidFill>
                  <a:srgbClr val="2B3038"/>
                </a:solidFill>
                <a:latin typeface="Tahoma"/>
                <a:ea typeface="Tahoma"/>
                <a:cs typeface="Tahoma"/>
              </a:rPr>
              <a:t>wt</a:t>
            </a:r>
            <a:r>
              <a:rPr lang="en-US" sz="2400" b="1" i="0" dirty="0">
                <a:solidFill>
                  <a:srgbClr val="2B3038"/>
                </a:solidFill>
                <a:latin typeface="Tahoma"/>
                <a:ea typeface="Tahoma"/>
                <a:cs typeface="Tahoma"/>
              </a:rPr>
              <a:t xml:space="preserve"> = (6 × 12) + (12 × 1) + (6 × 16) = 180 g/mol</a:t>
            </a:r>
          </a:p>
          <a:p>
            <a:pPr rtl="0" algn="ctr">
              <a:lnSpc>
                <a:spcPct val="125000"/>
              </a:lnSpc>
              <a:buNone/>
            </a:pPr>
            <a:r>
              <a:rPr lang="en-US" sz="2400" b="1" i="0" dirty="0">
                <a:solidFill>
                  <a:srgbClr val="2B3038"/>
                </a:solidFill>
                <a:latin typeface="Tahoma"/>
                <a:ea typeface="Tahoma"/>
                <a:cs typeface="Tahoma"/>
              </a:rPr>
              <a:t>n = m</a:t>
            </a:r>
            <a:r>
              <a:rPr baseline="-25000" lang="en-US" sz="2400" b="1" i="0" dirty="0">
                <a:solidFill>
                  <a:srgbClr val="2B3038"/>
                </a:solidFill>
                <a:latin typeface="Tahoma"/>
                <a:ea typeface="Tahoma"/>
                <a:cs typeface="Tahoma"/>
              </a:rPr>
              <a:t>s</a:t>
            </a:r>
            <a:r>
              <a:rPr lang="en-US" sz="2400" b="1" i="0" dirty="0">
                <a:solidFill>
                  <a:srgbClr val="2B3038"/>
                </a:solidFill>
                <a:latin typeface="Tahoma"/>
                <a:ea typeface="Tahoma"/>
                <a:cs typeface="Tahoma"/>
              </a:rPr>
              <a:t xml:space="preserve"> / M</a:t>
            </a:r>
            <a:r>
              <a:rPr baseline="-25000" lang="en-US" sz="2400" b="1" i="0" dirty="0">
                <a:solidFill>
                  <a:srgbClr val="2B3038"/>
                </a:solidFill>
                <a:latin typeface="Tahoma"/>
                <a:ea typeface="Tahoma"/>
                <a:cs typeface="Tahoma"/>
              </a:rPr>
              <a:t>wt</a:t>
            </a:r>
            <a:r>
              <a:rPr lang="en-US" sz="2400" b="1" i="0" dirty="0">
                <a:solidFill>
                  <a:srgbClr val="2B3038"/>
                </a:solidFill>
                <a:latin typeface="Tahoma"/>
                <a:ea typeface="Tahoma"/>
                <a:cs typeface="Tahoma"/>
              </a:rPr>
              <a:t xml:space="preserve"> = 45 / 180 = 0.25 mol</a:t>
            </a:r>
          </a:p>
          <a:p>
            <a:pPr rtl="0" algn="ctr">
              <a:lnSpc>
                <a:spcPct val="125000"/>
              </a:lnSpc>
              <a:buNone/>
            </a:pPr>
            <a:r>
              <a:rPr lang="en-US" sz="2400" b="1" i="0" dirty="0">
                <a:solidFill>
                  <a:srgbClr val="2B3038"/>
                </a:solidFill>
                <a:latin typeface="Tahoma"/>
                <a:ea typeface="Tahoma"/>
                <a:cs typeface="Tahoma"/>
              </a:rPr>
              <a:t>m = n / kg</a:t>
            </a:r>
            <a:r>
              <a:rPr baseline="-25000" lang="en-US" sz="2400" b="1" i="0" dirty="0">
                <a:solidFill>
                  <a:srgbClr val="2B3038"/>
                </a:solidFill>
                <a:latin typeface="Tahoma"/>
                <a:ea typeface="Tahoma"/>
                <a:cs typeface="Tahoma"/>
              </a:rPr>
              <a:t>solvent</a:t>
            </a:r>
            <a:r>
              <a:rPr lang="en-US" sz="2400" b="1" i="0" dirty="0">
                <a:solidFill>
                  <a:srgbClr val="2B3038"/>
                </a:solidFill>
                <a:latin typeface="Tahoma"/>
                <a:ea typeface="Tahoma"/>
                <a:cs typeface="Tahoma"/>
              </a:rPr>
              <a:t xml:space="preserve"> = 0.25 / 0.5 = 0.5 mol/kg</a:t>
            </a:r>
          </a:p>
          <a:p>
            <a:pPr rtl="0" algn="ctr">
              <a:lnSpc>
                <a:spcPct val="125000"/>
              </a:lnSpc>
              <a:buNone/>
            </a:pPr>
            <a:r>
              <a:rPr lang="en-US" sz="2400" b="1" i="0" dirty="0">
                <a:solidFill>
                  <a:srgbClr val="2B3038"/>
                </a:solidFill>
                <a:latin typeface="Tahoma"/>
                <a:ea typeface="Tahoma"/>
                <a:cs typeface="Tahoma"/>
              </a:rPr>
              <a:t>ΔT</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K</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m = 0.512 × 0.5 = 0.256 °C</a:t>
            </a:r>
          </a:p>
          <a:p>
            <a:pPr rtl="0" algn="ctr">
              <a:lnSpc>
                <a:spcPct val="125000"/>
              </a:lnSpc>
              <a:buNone/>
            </a:pPr>
            <a:r>
              <a:rPr lang="en-US" sz="2400" b="1" i="0" dirty="0">
                <a:solidFill>
                  <a:srgbClr val="2B3038"/>
                </a:solidFill>
                <a:latin typeface="Tahoma"/>
                <a:ea typeface="Tahoma"/>
                <a:cs typeface="Tahoma"/>
              </a:rPr>
              <a:t>T</a:t>
            </a:r>
            <a:r>
              <a:rPr baseline="-25000" lang="en-US" sz="2400" b="1" i="0" dirty="0">
                <a:solidFill>
                  <a:srgbClr val="2B3038"/>
                </a:solidFill>
                <a:latin typeface="Tahoma"/>
                <a:ea typeface="Tahoma"/>
                <a:cs typeface="Tahoma"/>
              </a:rPr>
              <a:t>b</a:t>
            </a:r>
            <a:r>
              <a:rPr lang="en-US" sz="2400" b="1" i="0" dirty="0">
                <a:solidFill>
                  <a:srgbClr val="2B3038"/>
                </a:solidFill>
                <a:latin typeface="Tahoma"/>
                <a:ea typeface="Tahoma"/>
                <a:cs typeface="Tahoma"/>
              </a:rPr>
              <a:t xml:space="preserve"> = 100 + ΔT</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100 + 0.256 = 100.256 °C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8" fill="hold">
                            <p:stCondLst>
                              <p:cond delay="460"/>
                            </p:stCondLst>
                            <p:childTnLst>
                              <p:par>
                                <p:cTn id="39"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4" fill="hold">
                            <p:stCondLst>
                              <p:cond delay="920"/>
                            </p:stCondLst>
                            <p:childTnLst>
                              <p:par>
                                <p:cTn id="45"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50" fill="hold">
                            <p:stCondLst>
                              <p:cond delay="1380"/>
                            </p:stCondLst>
                            <p:childTnLst>
                              <p:par>
                                <p:cTn id="51" presetID="42" presetClass="entr" presetSubtype="0" fill="hold" grpId="0" nodeType="afterEffect">
                                  <p:stCondLst>
                                    <p:cond delay="0"/>
                                  </p:stCondLst>
                                  <p:childTnLst>
                                    <p:set>
                                      <p:cBhvr>
                                        <p:cTn id="52" dur="1" fill="hold">
                                          <p:stCondLst>
                                            <p:cond delay="0"/>
                                          </p:stCondLst>
                                        </p:cTn>
                                        <p:tgtEl>
                                          <p:spTgt spid="19">
                                            <p:txEl>
                                              <p:pRg st="3" end="3"/>
                                            </p:txEl>
                                          </p:spTgt>
                                        </p:tgtEl>
                                        <p:attrNameLst>
                                          <p:attrName>style.visibility</p:attrName>
                                        </p:attrNameLst>
                                      </p:cBhvr>
                                      <p:to>
                                        <p:strVal val="visible"/>
                                      </p:to>
                                    </p:set>
                                    <p:animEffect transition="in" filter="fade">
                                      <p:cBhvr>
                                        <p:cTn id="53" dur="400"/>
                                        <p:tgtEl>
                                          <p:spTgt spid="19">
                                            <p:txEl>
                                              <p:pRg st="3" end="3"/>
                                            </p:txEl>
                                          </p:spTgt>
                                        </p:tgtEl>
                                      </p:cBhvr>
                                    </p:animEffect>
                                    <p:anim calcmode="lin" valueType="num">
                                      <p:cBhvr>
                                        <p:cTn id="54" dur="4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55" dur="4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par>
                          <p:cTn id="56" fill="hold">
                            <p:stCondLst>
                              <p:cond delay="1840"/>
                            </p:stCondLst>
                            <p:childTnLst>
                              <p:par>
                                <p:cTn id="57" presetID="42" presetClass="entr" presetSubtype="0" fill="hold" grpId="0" nodeType="afterEffect">
                                  <p:stCondLst>
                                    <p:cond delay="0"/>
                                  </p:stCondLst>
                                  <p:childTnLst>
                                    <p:set>
                                      <p:cBhvr>
                                        <p:cTn id="58" dur="1" fill="hold">
                                          <p:stCondLst>
                                            <p:cond delay="0"/>
                                          </p:stCondLst>
                                        </p:cTn>
                                        <p:tgtEl>
                                          <p:spTgt spid="19">
                                            <p:txEl>
                                              <p:pRg st="4" end="4"/>
                                            </p:txEl>
                                          </p:spTgt>
                                        </p:tgtEl>
                                        <p:attrNameLst>
                                          <p:attrName>style.visibility</p:attrName>
                                        </p:attrNameLst>
                                      </p:cBhvr>
                                      <p:to>
                                        <p:strVal val="visible"/>
                                      </p:to>
                                    </p:set>
                                    <p:animEffect transition="in" filter="fade">
                                      <p:cBhvr>
                                        <p:cTn id="59" dur="400"/>
                                        <p:tgtEl>
                                          <p:spTgt spid="19">
                                            <p:txEl>
                                              <p:pRg st="4" end="4"/>
                                            </p:txEl>
                                          </p:spTgt>
                                        </p:tgtEl>
                                      </p:cBhvr>
                                    </p:animEffect>
                                    <p:anim calcmode="lin" valueType="num">
                                      <p:cBhvr>
                                        <p:cTn id="60" dur="400" fill="hold"/>
                                        <p:tgtEl>
                                          <p:spTgt spid="19">
                                            <p:txEl>
                                              <p:pRg st="4" end="4"/>
                                            </p:txEl>
                                          </p:spTgt>
                                        </p:tgtEl>
                                        <p:attrNameLst>
                                          <p:attrName>ppt_x</p:attrName>
                                        </p:attrNameLst>
                                      </p:cBhvr>
                                      <p:tavLst>
                                        <p:tav tm="0">
                                          <p:val>
                                            <p:strVal val="#ppt_x"/>
                                          </p:val>
                                        </p:tav>
                                        <p:tav tm="100000">
                                          <p:val>
                                            <p:strVal val="#ppt_x"/>
                                          </p:val>
                                        </p:tav>
                                      </p:tavLst>
                                    </p:anim>
                                    <p:anim calcmode="lin" valueType="num">
                                      <p:cBhvr>
                                        <p:cTn id="61" dur="400" fill="hold"/>
                                        <p:tgtEl>
                                          <p:spTgt spid="1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(3)</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p>
        </p:txBody>
      </p:sp>
      <p:sp>
        <p:nvSpPr>
          <p:cNvPr id="13" name="Card 3"/>
          <p:cNvSpPr/>
          <p:nvPr/>
        </p:nvSpPr>
        <p:spPr>
          <a:xfrm>
            <a:off x="708837" y="1238250"/>
            <a:ext cx="14838325" cy="237362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3"/>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3</a:t>
            </a:r>
          </a:p>
        </p:txBody>
      </p:sp>
      <p:sp>
        <p:nvSpPr>
          <p:cNvPr id="15" name="Tag 3"/>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p>
        </p:txBody>
      </p:sp>
      <p:sp>
        <p:nvSpPr>
          <p:cNvPr id="16" name="Question 3"/>
          <p:cNvSpPr txBox="1"/>
          <p:nvPr/>
        </p:nvSpPr>
        <p:spPr>
          <a:xfrm>
            <a:off x="1016000" y="1785937"/>
            <a:ext cx="13656930" cy="1683057"/>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يُستخلص كحول اللورايل من زيت جوز الهند ويُستخدم في صناعة المنظفات الصناعية. محلول مكوّن من ‪(5 g)‬ من كحول اللورايل و‪(10 g)‬ من البنزين يغلي عند ‪(80.87 °C)‬، فإذا كانت درجة غليان البنزين النقي ‪(80.1 °C)‬ وثابت الغليان للبنزين ‪(2.53 °C kg/mol)‬، احسب الكتلة الجزيئية للكحول.</a:t>
            </a:r>
          </a:p>
        </p:txBody>
      </p:sp>
      <p:sp>
        <p:nvSpPr>
          <p:cNvPr id="17" name="Solution panel 1"/>
          <p:cNvSpPr/>
          <p:nvPr/>
        </p:nvSpPr>
        <p:spPr>
          <a:xfrm>
            <a:off x="708837" y="3802370"/>
            <a:ext cx="14838325" cy="3204120"/>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945245"/>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p>
        </p:txBody>
      </p:sp>
      <p:sp>
        <p:nvSpPr>
          <p:cNvPr id="19" name="Solution 1"/>
          <p:cNvSpPr txBox="1"/>
          <p:nvPr/>
        </p:nvSpPr>
        <p:spPr>
          <a:xfrm>
            <a:off x="945116" y="4397682"/>
            <a:ext cx="14365767" cy="2489745"/>
          </a:xfrm>
          <a:prstGeom prst="rect">
            <a:avLst/>
          </a:prstGeom>
          <a:noFill/>
          <a:ln>
            <a:noFill/>
          </a:ln>
        </p:spPr>
        <p:txBody>
          <a:bodyPr wrap="square" lIns="0" tIns="0" rIns="0" bIns="0" rtlCol="0" anchor="t">
            <a:noAutofit/>
          </a:bodyPr>
          <a:lstStyle/>
          <a:p>
            <a:pPr rtl="0" algn="ctr">
              <a:lnSpc>
                <a:spcPct val="125000"/>
              </a:lnSpc>
              <a:buNone/>
            </a:pPr>
            <a:r>
              <a:rPr lang="en-US" sz="2400" b="1" i="0" dirty="0">
                <a:solidFill>
                  <a:srgbClr val="2B3038"/>
                </a:solidFill>
                <a:latin typeface="Tahoma"/>
                <a:ea typeface="Tahoma"/>
                <a:cs typeface="Tahoma"/>
              </a:rPr>
              <a:t>ΔT</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80.87 − 80.1 = 0.77 °C</a:t>
            </a:r>
          </a:p>
          <a:p>
            <a:pPr rtl="0" algn="ctr">
              <a:lnSpc>
                <a:spcPct val="125000"/>
              </a:lnSpc>
              <a:buNone/>
            </a:pPr>
            <a:r>
              <a:rPr lang="en-US" sz="2400" b="1" i="0" dirty="0">
                <a:solidFill>
                  <a:srgbClr val="2B3038"/>
                </a:solidFill>
                <a:latin typeface="Tahoma"/>
                <a:ea typeface="Tahoma"/>
                <a:cs typeface="Tahoma"/>
              </a:rPr>
              <a:t>ΔT</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K</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m</a:t>
            </a:r>
          </a:p>
          <a:p>
            <a:pPr rtl="0" algn="ctr">
              <a:lnSpc>
                <a:spcPct val="125000"/>
              </a:lnSpc>
              <a:buNone/>
            </a:pPr>
            <a:r>
              <a:rPr lang="en-US" sz="2400" b="1" i="0" dirty="0">
                <a:solidFill>
                  <a:srgbClr val="2B3038"/>
                </a:solidFill>
                <a:latin typeface="Tahoma"/>
                <a:ea typeface="Tahoma"/>
                <a:cs typeface="Tahoma"/>
              </a:rPr>
              <a:t>m = ΔT</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K</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0.77 / 2.53 = 0.304 mol/kg</a:t>
            </a:r>
          </a:p>
          <a:p>
            <a:pPr rtl="0" algn="ctr">
              <a:lnSpc>
                <a:spcPct val="125000"/>
              </a:lnSpc>
              <a:buNone/>
            </a:pPr>
            <a:r>
              <a:rPr lang="en-US" sz="2400" b="1" i="0" dirty="0">
                <a:solidFill>
                  <a:srgbClr val="2B3038"/>
                </a:solidFill>
                <a:latin typeface="Tahoma"/>
                <a:ea typeface="Tahoma"/>
                <a:cs typeface="Tahoma"/>
              </a:rPr>
              <a:t>n = m × kg</a:t>
            </a:r>
            <a:r>
              <a:rPr baseline="-25000" lang="en-US" sz="2400" b="1" i="0" dirty="0">
                <a:solidFill>
                  <a:srgbClr val="2B3038"/>
                </a:solidFill>
                <a:latin typeface="Tahoma"/>
                <a:ea typeface="Tahoma"/>
                <a:cs typeface="Tahoma"/>
              </a:rPr>
              <a:t>solvent</a:t>
            </a:r>
            <a:r>
              <a:rPr lang="en-US" sz="2400" b="1" i="0" dirty="0">
                <a:solidFill>
                  <a:srgbClr val="2B3038"/>
                </a:solidFill>
                <a:latin typeface="Tahoma"/>
                <a:ea typeface="Tahoma"/>
                <a:cs typeface="Tahoma"/>
              </a:rPr>
              <a:t xml:space="preserve"> = 0.304 × 0.01 = 0.003 mol</a:t>
            </a:r>
          </a:p>
          <a:p>
            <a:pPr rtl="0" algn="ctr">
              <a:lnSpc>
                <a:spcPct val="125000"/>
              </a:lnSpc>
              <a:buNone/>
            </a:pPr>
            <a:r>
              <a:rPr lang="en-US" sz="2400" b="1" i="0" dirty="0">
                <a:solidFill>
                  <a:srgbClr val="2B3038"/>
                </a:solidFill>
                <a:latin typeface="Tahoma"/>
                <a:ea typeface="Tahoma"/>
                <a:cs typeface="Tahoma"/>
              </a:rPr>
              <a:t>M</a:t>
            </a:r>
            <a:r>
              <a:rPr baseline="-25000" lang="en-US" sz="2400" b="1" i="0" dirty="0">
                <a:solidFill>
                  <a:srgbClr val="2B3038"/>
                </a:solidFill>
                <a:latin typeface="Tahoma"/>
                <a:ea typeface="Tahoma"/>
                <a:cs typeface="Tahoma"/>
              </a:rPr>
              <a:t>wt</a:t>
            </a:r>
            <a:r>
              <a:rPr lang="en-US" sz="2400" b="1" i="0" dirty="0">
                <a:solidFill>
                  <a:srgbClr val="2B3038"/>
                </a:solidFill>
                <a:latin typeface="Tahoma"/>
                <a:ea typeface="Tahoma"/>
                <a:cs typeface="Tahoma"/>
              </a:rPr>
              <a:t xml:space="preserve"> = m</a:t>
            </a:r>
            <a:r>
              <a:rPr baseline="-25000" lang="en-US" sz="2400" b="1" i="0" dirty="0">
                <a:solidFill>
                  <a:srgbClr val="2B3038"/>
                </a:solidFill>
                <a:latin typeface="Tahoma"/>
                <a:ea typeface="Tahoma"/>
                <a:cs typeface="Tahoma"/>
              </a:rPr>
              <a:t>s</a:t>
            </a:r>
            <a:r>
              <a:rPr lang="en-US" sz="2400" b="1" i="0" dirty="0">
                <a:solidFill>
                  <a:srgbClr val="2B3038"/>
                </a:solidFill>
                <a:latin typeface="Tahoma"/>
                <a:ea typeface="Tahoma"/>
                <a:cs typeface="Tahoma"/>
              </a:rPr>
              <a:t xml:space="preserve"> / n = 5 / 0.003 = 1666.6 g/mol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8" fill="hold">
                            <p:stCondLst>
                              <p:cond delay="460"/>
                            </p:stCondLst>
                            <p:childTnLst>
                              <p:par>
                                <p:cTn id="39"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4" fill="hold">
                            <p:stCondLst>
                              <p:cond delay="920"/>
                            </p:stCondLst>
                            <p:childTnLst>
                              <p:par>
                                <p:cTn id="45"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50" fill="hold">
                            <p:stCondLst>
                              <p:cond delay="1380"/>
                            </p:stCondLst>
                            <p:childTnLst>
                              <p:par>
                                <p:cTn id="51" presetID="42" presetClass="entr" presetSubtype="0" fill="hold" grpId="0" nodeType="afterEffect">
                                  <p:stCondLst>
                                    <p:cond delay="0"/>
                                  </p:stCondLst>
                                  <p:childTnLst>
                                    <p:set>
                                      <p:cBhvr>
                                        <p:cTn id="52" dur="1" fill="hold">
                                          <p:stCondLst>
                                            <p:cond delay="0"/>
                                          </p:stCondLst>
                                        </p:cTn>
                                        <p:tgtEl>
                                          <p:spTgt spid="19">
                                            <p:txEl>
                                              <p:pRg st="3" end="3"/>
                                            </p:txEl>
                                          </p:spTgt>
                                        </p:tgtEl>
                                        <p:attrNameLst>
                                          <p:attrName>style.visibility</p:attrName>
                                        </p:attrNameLst>
                                      </p:cBhvr>
                                      <p:to>
                                        <p:strVal val="visible"/>
                                      </p:to>
                                    </p:set>
                                    <p:animEffect transition="in" filter="fade">
                                      <p:cBhvr>
                                        <p:cTn id="53" dur="400"/>
                                        <p:tgtEl>
                                          <p:spTgt spid="19">
                                            <p:txEl>
                                              <p:pRg st="3" end="3"/>
                                            </p:txEl>
                                          </p:spTgt>
                                        </p:tgtEl>
                                      </p:cBhvr>
                                    </p:animEffect>
                                    <p:anim calcmode="lin" valueType="num">
                                      <p:cBhvr>
                                        <p:cTn id="54" dur="4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55" dur="4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par>
                          <p:cTn id="56" fill="hold">
                            <p:stCondLst>
                              <p:cond delay="1840"/>
                            </p:stCondLst>
                            <p:childTnLst>
                              <p:par>
                                <p:cTn id="57" presetID="42" presetClass="entr" presetSubtype="0" fill="hold" grpId="0" nodeType="afterEffect">
                                  <p:stCondLst>
                                    <p:cond delay="0"/>
                                  </p:stCondLst>
                                  <p:childTnLst>
                                    <p:set>
                                      <p:cBhvr>
                                        <p:cTn id="58" dur="1" fill="hold">
                                          <p:stCondLst>
                                            <p:cond delay="0"/>
                                          </p:stCondLst>
                                        </p:cTn>
                                        <p:tgtEl>
                                          <p:spTgt spid="19">
                                            <p:txEl>
                                              <p:pRg st="4" end="4"/>
                                            </p:txEl>
                                          </p:spTgt>
                                        </p:tgtEl>
                                        <p:attrNameLst>
                                          <p:attrName>style.visibility</p:attrName>
                                        </p:attrNameLst>
                                      </p:cBhvr>
                                      <p:to>
                                        <p:strVal val="visible"/>
                                      </p:to>
                                    </p:set>
                                    <p:animEffect transition="in" filter="fade">
                                      <p:cBhvr>
                                        <p:cTn id="59" dur="400"/>
                                        <p:tgtEl>
                                          <p:spTgt spid="19">
                                            <p:txEl>
                                              <p:pRg st="4" end="4"/>
                                            </p:txEl>
                                          </p:spTgt>
                                        </p:tgtEl>
                                      </p:cBhvr>
                                    </p:animEffect>
                                    <p:anim calcmode="lin" valueType="num">
                                      <p:cBhvr>
                                        <p:cTn id="60" dur="400" fill="hold"/>
                                        <p:tgtEl>
                                          <p:spTgt spid="19">
                                            <p:txEl>
                                              <p:pRg st="4" end="4"/>
                                            </p:txEl>
                                          </p:spTgt>
                                        </p:tgtEl>
                                        <p:attrNameLst>
                                          <p:attrName>ppt_x</p:attrName>
                                        </p:attrNameLst>
                                      </p:cBhvr>
                                      <p:tavLst>
                                        <p:tav tm="0">
                                          <p:val>
                                            <p:strVal val="#ppt_x"/>
                                          </p:val>
                                        </p:tav>
                                        <p:tav tm="100000">
                                          <p:val>
                                            <p:strVal val="#ppt_x"/>
                                          </p:val>
                                        </p:tav>
                                      </p:tavLst>
                                    </p:anim>
                                    <p:anim calcmode="lin" valueType="num">
                                      <p:cBhvr>
                                        <p:cTn id="61" dur="400" fill="hold"/>
                                        <p:tgtEl>
                                          <p:spTgt spid="1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70883" y="421828"/>
            <a:ext cx="3804093" cy="507702"/>
          </a:xfrm>
          <a:prstGeom prst="rect">
            <a:avLst/>
          </a:prstGeom>
          <a:noFill/>
        </p:spPr>
        <p:txBody>
          <a:bodyPr wrap="none" lIns="0" tIns="0" rIns="0" bIns="0" rtlCol="0" anchor="ctr" anchorCtr="1">
            <a:noAutofit/>
          </a:bodyPr>
          <a:lstStyle/>
          <a:p>
            <a:pPr algn="ctr" rtl="1">
              <a:lnSpc>
                <a:spcPct val="100000"/>
              </a:lnSpc>
              <a:buNone/>
            </a:pPr>
            <a:r>
              <a:rPr lang="ar-SA" sz="3450" b="1" i="0" dirty="0">
                <a:solidFill>
                  <a:srgbClr val="1E1E1E"/>
                </a:solidFill>
                <a:latin typeface="Tahoma"/>
                <a:ea typeface="Tahoma"/>
                <a:cs typeface="Tahoma"/>
              </a:rPr>
              <a:t>المذيب النقي</a:t>
            </a:r>
          </a:p>
        </p:txBody>
      </p:sp>
      <p:sp>
        <p:nvSpPr>
          <p:cNvPr id="102" name="Text 2"/>
          <p:cNvSpPr txBox="1"/>
          <p:nvPr/>
        </p:nvSpPr>
        <p:spPr>
          <a:xfrm>
            <a:off x="11002113" y="941337"/>
            <a:ext cx="5100305" cy="2573932"/>
          </a:xfrm>
          <a:prstGeom prst="rect">
            <a:avLst/>
          </a:prstGeom>
          <a:noFill/>
        </p:spPr>
        <p:txBody>
          <a:bodyPr wrap="none" lIns="0" tIns="0" rIns="0" bIns="0" rtlCol="0" anchor="ctr" anchorCtr="1">
            <a:noAutofit/>
          </a:bodyPr>
          <a:lstStyle/>
          <a:p>
            <a:pPr algn="r" rtl="1">
              <a:lnSpc>
                <a:spcPct val="100000"/>
              </a:lnSpc>
              <a:buNone/>
            </a:pPr>
            <a:r>
              <a:rPr lang="ar-SA" sz="3730" b="1" i="0" dirty="0">
                <a:solidFill>
                  <a:srgbClr val="FFFFFF"/>
                </a:solidFill>
                <a:latin typeface="Tahoma"/>
                <a:ea typeface="Tahoma"/>
                <a:cs typeface="Tahoma"/>
              </a:rPr>
              <a:t>الانخفاض في درجة</a:t>
            </a:r>
          </a:p>
          <a:p>
            <a:pPr algn="r" rtl="1">
              <a:lnSpc>
                <a:spcPct val="100000"/>
              </a:lnSpc>
              <a:buNone/>
            </a:pPr>
            <a:r>
              <a:rPr lang="ar-SA" sz="3730" b="1" i="0" dirty="0">
                <a:solidFill>
                  <a:srgbClr val="FFFFFF"/>
                </a:solidFill>
                <a:latin typeface="Tahoma"/>
                <a:ea typeface="Tahoma"/>
                <a:cs typeface="Tahoma"/>
              </a:rPr>
              <a:t>التجمد</a:t>
            </a:r>
          </a:p>
          <a:p>
            <a:pPr algn="r" rtl="0">
              <a:lnSpc>
                <a:spcPct val="100000"/>
              </a:lnSpc>
              <a:buNone/>
            </a:pPr>
            <a:r>
              <a:rPr lang="ar-SA" sz="3730" b="1" i="0" dirty="0">
                <a:solidFill>
                  <a:srgbClr val="FFFFFF"/>
                </a:solidFill>
                <a:latin typeface="Tahoma"/>
                <a:ea typeface="Tahoma"/>
                <a:cs typeface="Tahoma"/>
              </a:rPr>
              <a:t>(Freezing-Point</a:t>
            </a:r>
          </a:p>
          <a:p>
            <a:pPr algn="r" rtl="0">
              <a:lnSpc>
                <a:spcPct val="100000"/>
              </a:lnSpc>
              <a:buNone/>
            </a:pPr>
            <a:r>
              <a:rPr lang="ar-SA" sz="3730" b="1" i="0" dirty="0">
                <a:solidFill>
                  <a:srgbClr val="FFFFFF"/>
                </a:solidFill>
                <a:latin typeface="Tahoma"/>
                <a:ea typeface="Tahoma"/>
                <a:cs typeface="Tahoma"/>
              </a:rPr>
              <a:t>Depression)</a:t>
            </a:r>
          </a:p>
        </p:txBody>
      </p:sp>
      <p:sp>
        <p:nvSpPr>
          <p:cNvPr id="103" name="Text 3"/>
          <p:cNvSpPr txBox="1"/>
          <p:nvPr/>
        </p:nvSpPr>
        <p:spPr>
          <a:xfrm>
            <a:off x="10514418" y="4052490"/>
            <a:ext cx="5375348" cy="3896320"/>
          </a:xfrm>
          <a:prstGeom prst="rect">
            <a:avLst/>
          </a:prstGeom>
          <a:noFill/>
        </p:spPr>
        <p:txBody>
          <a:bodyPr wrap="square" lIns="0" tIns="0" rIns="0" bIns="0" rtlCol="0" anchor="t">
            <a:noAutofit/>
          </a:bodyPr>
          <a:lstStyle/>
          <a:p>
            <a:pPr algn="r" rtl="1">
              <a:lnSpc>
                <a:spcPct val="100000"/>
              </a:lnSpc>
              <a:buNone/>
            </a:pPr>
            <a:r>
              <a:rPr lang="ar-SA" sz="2700" b="1" i="0" dirty="0">
                <a:solidFill>
                  <a:srgbClr val="FFFFFF"/>
                </a:solidFill>
                <a:latin typeface="Tahoma"/>
                <a:ea typeface="Tahoma"/>
                <a:cs typeface="Tahoma"/>
              </a:rPr>
              <a:t>حل لغز رش الملح: جسيمات المذاب تتدخل وتمنع جزيئات المذيب من التقارب والترتيب لتكوين الحالة الصلبة (الجليد).</a:t>
            </a:r>
          </a:p>
          <a:p>
            <a:pPr algn="r" rtl="1">
              <a:lnSpc>
                <a:spcPct val="100000"/>
              </a:lnSpc>
              <a:spcBef>
                <a:spcPts val="3000"/>
              </a:spcBef>
              <a:buNone/>
            </a:pPr>
            <a:r>
              <a:rPr lang="ar-SA" sz="2700" b="1" i="0" dirty="0">
                <a:solidFill>
                  <a:srgbClr val="FFFFFF"/>
                </a:solidFill>
                <a:latin typeface="Tahoma"/>
                <a:ea typeface="Tahoma"/>
                <a:cs typeface="Tahoma"/>
              </a:rPr>
              <a:t>النتيجة: يجب خفض درجة الحرارة أكثر بكثير لإجبار المحلول على التجمد.</a:t>
            </a:r>
          </a:p>
        </p:txBody>
      </p:sp>
      <p:sp>
        <p:nvSpPr>
          <p:cNvPr id="104" name="Text 4"/>
          <p:cNvSpPr txBox="1"/>
          <p:nvPr/>
        </p:nvSpPr>
        <p:spPr>
          <a:xfrm>
            <a:off x="8446976" y="8155433"/>
            <a:ext cx="2740837" cy="566737"/>
          </a:xfrm>
          <a:prstGeom prst="rect">
            <a:avLst/>
          </a:prstGeom>
          <a:noFill/>
        </p:spPr>
        <p:txBody>
          <a:bodyPr wrap="none" lIns="0" tIns="0" rIns="0" bIns="0" rtlCol="0" anchor="ctr" anchorCtr="1">
            <a:noAutofit/>
          </a:bodyPr>
          <a:lstStyle/>
          <a:p>
            <a:pPr algn="ctr" rtl="1">
              <a:lnSpc>
                <a:spcPct val="100000"/>
              </a:lnSpc>
              <a:buNone/>
            </a:pPr>
            <a:r>
              <a:rPr lang="ar-SA" sz="3450" b="1" i="0" dirty="0">
                <a:solidFill>
                  <a:srgbClr val="1E1E1E"/>
                </a:solidFill>
                <a:latin typeface="Tahoma"/>
                <a:ea typeface="Tahoma"/>
                <a:cs typeface="Tahoma"/>
              </a:rPr>
              <a:t>المحلول</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600"/>
                                        <p:tgtEl>
                                          <p:spTgt spid="101"/>
                                        </p:tgtEl>
                                      </p:cBhvr>
                                    </p:animEffect>
                                  </p:childTnLst>
                                </p:cTn>
                              </p:par>
                            </p:childTnLst>
                          </p:cTn>
                        </p:par>
                        <p:par>
                          <p:cTn id="8" fill="hold">
                            <p:stCondLst>
                              <p:cond delay="700"/>
                            </p:stCondLst>
                            <p:childTnLst>
                              <p:par>
                                <p:cTn id="9" presetID="42" presetClass="entr" presetSubtype="0" fill="hold" grpId="0" nodeType="afterEffect">
                                  <p:stCondLst>
                                    <p:cond delay="0"/>
                                  </p:stCondLst>
                                  <p:childTnLst>
                                    <p:set>
                                      <p:cBhvr>
                                        <p:cTn id="10" dur="1" fill="hold">
                                          <p:stCondLst>
                                            <p:cond delay="0"/>
                                          </p:stCondLst>
                                        </p:cTn>
                                        <p:tgtEl>
                                          <p:spTgt spid="102"/>
                                        </p:tgtEl>
                                        <p:attrNameLst>
                                          <p:attrName>style.visibility</p:attrName>
                                        </p:attrNameLst>
                                      </p:cBhvr>
                                      <p:to>
                                        <p:strVal val="visible"/>
                                      </p:to>
                                    </p:set>
                                    <p:animEffect transition="in" filter="fade">
                                      <p:cBhvr>
                                        <p:cTn id="11" dur="600"/>
                                        <p:tgtEl>
                                          <p:spTgt spid="102"/>
                                        </p:tgtEl>
                                      </p:cBhvr>
                                    </p:animEffect>
                                    <p:anim calcmode="lin" valueType="num">
                                      <p:cBhvr>
                                        <p:cTn id="12" dur="600" fill="hold"/>
                                        <p:tgtEl>
                                          <p:spTgt spid="102"/>
                                        </p:tgtEl>
                                        <p:attrNameLst>
                                          <p:attrName>ppt_x</p:attrName>
                                        </p:attrNameLst>
                                      </p:cBhvr>
                                      <p:tavLst>
                                        <p:tav tm="0">
                                          <p:val>
                                            <p:strVal val="#ppt_x"/>
                                          </p:val>
                                        </p:tav>
                                        <p:tav tm="100000">
                                          <p:val>
                                            <p:strVal val="#ppt_x"/>
                                          </p:val>
                                        </p:tav>
                                      </p:tavLst>
                                    </p:anim>
                                    <p:anim calcmode="lin" valueType="num">
                                      <p:cBhvr>
                                        <p:cTn id="13" dur="600" fill="hold"/>
                                        <p:tgtEl>
                                          <p:spTgt spid="102"/>
                                        </p:tgtEl>
                                        <p:attrNameLst>
                                          <p:attrName>ppt_y</p:attrName>
                                        </p:attrNameLst>
                                      </p:cBhvr>
                                      <p:tavLst>
                                        <p:tav tm="0">
                                          <p:val>
                                            <p:strVal val="#ppt_y+.1"/>
                                          </p:val>
                                        </p:tav>
                                        <p:tav tm="100000">
                                          <p:val>
                                            <p:strVal val="#ppt_y"/>
                                          </p:val>
                                        </p:tav>
                                      </p:tavLst>
                                    </p:anim>
                                  </p:childTnLst>
                                </p:cTn>
                              </p:par>
                            </p:childTnLst>
                          </p:cTn>
                        </p:par>
                        <p:par>
                          <p:cTn id="14" fill="hold">
                            <p:stCondLst>
                              <p:cond delay="1400"/>
                            </p:stCondLst>
                            <p:childTnLst>
                              <p:par>
                                <p:cTn id="15" presetID="42" presetClass="entr" presetSubtype="0" fill="hold" grpId="0" nodeType="afterEffect">
                                  <p:stCondLst>
                                    <p:cond delay="0"/>
                                  </p:stCondLst>
                                  <p:childTnLst>
                                    <p:set>
                                      <p:cBhvr>
                                        <p:cTn id="16" dur="1" fill="hold">
                                          <p:stCondLst>
                                            <p:cond delay="0"/>
                                          </p:stCondLst>
                                        </p:cTn>
                                        <p:tgtEl>
                                          <p:spTgt spid="103">
                                            <p:txEl>
                                              <p:pRg st="0" end="0"/>
                                            </p:txEl>
                                          </p:spTgt>
                                        </p:tgtEl>
                                        <p:attrNameLst>
                                          <p:attrName>style.visibility</p:attrName>
                                        </p:attrNameLst>
                                      </p:cBhvr>
                                      <p:to>
                                        <p:strVal val="visible"/>
                                      </p:to>
                                    </p:set>
                                    <p:animEffect transition="in" filter="fade">
                                      <p:cBhvr>
                                        <p:cTn id="17" dur="600"/>
                                        <p:tgtEl>
                                          <p:spTgt spid="103">
                                            <p:txEl>
                                              <p:pRg st="0" end="0"/>
                                            </p:txEl>
                                          </p:spTgt>
                                        </p:tgtEl>
                                      </p:cBhvr>
                                    </p:animEffect>
                                    <p:anim calcmode="lin" valueType="num">
                                      <p:cBhvr>
                                        <p:cTn id="18" dur="600" fill="hold"/>
                                        <p:tgtEl>
                                          <p:spTgt spid="103">
                                            <p:txEl>
                                              <p:pRg st="0" end="0"/>
                                            </p:txEl>
                                          </p:spTgt>
                                        </p:tgtEl>
                                        <p:attrNameLst>
                                          <p:attrName>ppt_x</p:attrName>
                                        </p:attrNameLst>
                                      </p:cBhvr>
                                      <p:tavLst>
                                        <p:tav tm="0">
                                          <p:val>
                                            <p:strVal val="#ppt_x"/>
                                          </p:val>
                                        </p:tav>
                                        <p:tav tm="100000">
                                          <p:val>
                                            <p:strVal val="#ppt_x"/>
                                          </p:val>
                                        </p:tav>
                                      </p:tavLst>
                                    </p:anim>
                                    <p:anim calcmode="lin" valueType="num">
                                      <p:cBhvr>
                                        <p:cTn id="19" dur="600" fill="hold"/>
                                        <p:tgtEl>
                                          <p:spTgt spid="103">
                                            <p:txEl>
                                              <p:pRg st="0" end="0"/>
                                            </p:txEl>
                                          </p:spTgt>
                                        </p:tgtEl>
                                        <p:attrNameLst>
                                          <p:attrName>ppt_y</p:attrName>
                                        </p:attrNameLst>
                                      </p:cBhvr>
                                      <p:tavLst>
                                        <p:tav tm="0">
                                          <p:val>
                                            <p:strVal val="#ppt_y+.1"/>
                                          </p:val>
                                        </p:tav>
                                        <p:tav tm="100000">
                                          <p:val>
                                            <p:strVal val="#ppt_y"/>
                                          </p:val>
                                        </p:tav>
                                      </p:tavLst>
                                    </p:anim>
                                  </p:childTnLst>
                                </p:cTn>
                              </p:par>
                            </p:childTnLst>
                          </p:cTn>
                        </p:par>
                        <p:par>
                          <p:cTn id="20" fill="hold">
                            <p:stCondLst>
                              <p:cond delay="2100"/>
                            </p:stCondLst>
                            <p:childTnLst>
                              <p:par>
                                <p:cTn id="21" presetID="42" presetClass="entr" presetSubtype="0" fill="hold" grpId="0" nodeType="afterEffect">
                                  <p:stCondLst>
                                    <p:cond delay="0"/>
                                  </p:stCondLst>
                                  <p:childTnLst>
                                    <p:set>
                                      <p:cBhvr>
                                        <p:cTn id="22" dur="1" fill="hold">
                                          <p:stCondLst>
                                            <p:cond delay="0"/>
                                          </p:stCondLst>
                                        </p:cTn>
                                        <p:tgtEl>
                                          <p:spTgt spid="103">
                                            <p:txEl>
                                              <p:pRg st="1" end="1"/>
                                            </p:txEl>
                                          </p:spTgt>
                                        </p:tgtEl>
                                        <p:attrNameLst>
                                          <p:attrName>style.visibility</p:attrName>
                                        </p:attrNameLst>
                                      </p:cBhvr>
                                      <p:to>
                                        <p:strVal val="visible"/>
                                      </p:to>
                                    </p:set>
                                    <p:animEffect transition="in" filter="fade">
                                      <p:cBhvr>
                                        <p:cTn id="23" dur="600"/>
                                        <p:tgtEl>
                                          <p:spTgt spid="103">
                                            <p:txEl>
                                              <p:pRg st="1" end="1"/>
                                            </p:txEl>
                                          </p:spTgt>
                                        </p:tgtEl>
                                      </p:cBhvr>
                                    </p:animEffect>
                                    <p:anim calcmode="lin" valueType="num">
                                      <p:cBhvr>
                                        <p:cTn id="24" dur="600" fill="hold"/>
                                        <p:tgtEl>
                                          <p:spTgt spid="103">
                                            <p:txEl>
                                              <p:pRg st="1" end="1"/>
                                            </p:txEl>
                                          </p:spTgt>
                                        </p:tgtEl>
                                        <p:attrNameLst>
                                          <p:attrName>ppt_x</p:attrName>
                                        </p:attrNameLst>
                                      </p:cBhvr>
                                      <p:tavLst>
                                        <p:tav tm="0">
                                          <p:val>
                                            <p:strVal val="#ppt_x"/>
                                          </p:val>
                                        </p:tav>
                                        <p:tav tm="100000">
                                          <p:val>
                                            <p:strVal val="#ppt_x"/>
                                          </p:val>
                                        </p:tav>
                                      </p:tavLst>
                                    </p:anim>
                                    <p:anim calcmode="lin" valueType="num">
                                      <p:cBhvr>
                                        <p:cTn id="25" dur="600" fill="hold"/>
                                        <p:tgtEl>
                                          <p:spTgt spid="103">
                                            <p:txEl>
                                              <p:pRg st="1" end="1"/>
                                            </p:txEl>
                                          </p:spTgt>
                                        </p:tgtEl>
                                        <p:attrNameLst>
                                          <p:attrName>ppt_y</p:attrName>
                                        </p:attrNameLst>
                                      </p:cBhvr>
                                      <p:tavLst>
                                        <p:tav tm="0">
                                          <p:val>
                                            <p:strVal val="#ppt_y+.1"/>
                                          </p:val>
                                        </p:tav>
                                        <p:tav tm="100000">
                                          <p:val>
                                            <p:strVal val="#ppt_y"/>
                                          </p:val>
                                        </p:tav>
                                      </p:tavLst>
                                    </p:anim>
                                  </p:childTnLst>
                                </p:cTn>
                              </p:par>
                            </p:childTnLst>
                          </p:cTn>
                        </p:par>
                        <p:par>
                          <p:cTn id="26" fill="hold">
                            <p:stCondLst>
                              <p:cond delay="2800"/>
                            </p:stCondLst>
                            <p:childTnLst>
                              <p:par>
                                <p:cTn id="27" presetID="10" presetClass="entr" presetSubtype="0" fill="hold" grpId="0" nodeType="afterEffect">
                                  <p:stCondLst>
                                    <p:cond delay="0"/>
                                  </p:stCondLst>
                                  <p:childTnLst>
                                    <p:set>
                                      <p:cBhvr>
                                        <p:cTn id="28" dur="1" fill="hold">
                                          <p:stCondLst>
                                            <p:cond delay="0"/>
                                          </p:stCondLst>
                                        </p:cTn>
                                        <p:tgtEl>
                                          <p:spTgt spid="104"/>
                                        </p:tgtEl>
                                        <p:attrNameLst>
                                          <p:attrName>style.visibility</p:attrName>
                                        </p:attrNameLst>
                                      </p:cBhvr>
                                      <p:to>
                                        <p:strVal val="visible"/>
                                      </p:to>
                                    </p:set>
                                    <p:animEffect transition="in" filter="fade">
                                      <p:cBhvr>
                                        <p:cTn id="29" dur="600"/>
                                        <p:tgtEl>
                                          <p:spTgt spid="1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build="p"/>
      <p:bldP spid="10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F4F6F8"/>
                </a:solidFill>
                <a:latin typeface="Tahoma"/>
                <a:ea typeface="Tahoma"/>
                <a:cs typeface="Tahoma"/>
              </a:rPr>
              <a:t>الانخفاض في درجة التجمد ‪(Freezing-Point Depression)‬</a:t>
            </a:r>
          </a:p>
        </p:txBody>
      </p:sp>
      <p:sp>
        <p:nvSpPr>
          <p:cNvPr id="12" name="Chip"/>
          <p:cNvSpPr/>
          <p:nvPr/>
        </p:nvSpPr>
        <p:spPr>
          <a:xfrm>
            <a:off x="708837" y="452437"/>
            <a:ext cx="2480930" cy="404812"/>
          </a:xfrm>
          <a:prstGeom prst="roundRect">
            <a:avLst>
              <a:gd name="adj" fmla="val 50000"/>
            </a:avLst>
          </a:prstGeom>
          <a:solidFill>
            <a:srgbClr val="E8A94E">
              <a:alpha val="12000"/>
            </a:srgbClr>
          </a:solidFill>
          <a:ln w="12700" cap="rnd">
            <a:solidFill>
              <a:srgbClr val="E8A94E">
                <a:alpha val="70000"/>
              </a:srgbClr>
            </a:solidFill>
            <a:round/>
          </a:ln>
        </p:spPr>
        <p:txBody>
          <a:bodyPr wrap="square" lIns="0" tIns="0" rIns="0" bIns="0" rtlCol="0" anchor="ctr">
            <a:noAutofit/>
          </a:bodyPr>
          <a:lstStyle/>
          <a:p>
            <a:pPr algn="ctr" rtl="1">
              <a:lnSpc>
                <a:spcPct val="110000"/>
              </a:lnSpc>
              <a:buNone/>
            </a:pPr>
            <a:r>
              <a:rPr lang="ar-SA" sz="1400" b="1" i="0" dirty="0">
                <a:solidFill>
                  <a:srgbClr val="E8A94E"/>
                </a:solidFill>
                <a:latin typeface="Tahoma"/>
                <a:ea typeface="Tahoma"/>
                <a:cs typeface="Tahoma"/>
              </a:rPr>
              <a:t>الحصة الثالثة</a:t>
            </a:r>
          </a:p>
        </p:txBody>
      </p:sp>
      <p:sp>
        <p:nvSpPr>
          <p:cNvPr id="13" name="Figure card"/>
          <p:cNvSpPr/>
          <p:nvPr/>
        </p:nvSpPr>
        <p:spPr>
          <a:xfrm>
            <a:off x="708837" y="1238250"/>
            <a:ext cx="6852093" cy="7429500"/>
          </a:xfrm>
          <a:prstGeom prst="roundRect">
            <a:avLst>
              <a:gd name="adj" fmla="val 5000"/>
            </a:avLst>
          </a:prstGeom>
          <a:solidFill>
            <a:srgbClr val="FFFFFF">
              <a:alpha val="5000"/>
            </a:srgbClr>
          </a:solidFill>
          <a:ln w="12700" cap="rnd">
            <a:solidFill>
              <a:srgbClr val="FFFFFF">
                <a:alpha val="22000"/>
              </a:srgbClr>
            </a:solidFill>
            <a:round/>
          </a:ln>
        </p:spPr>
        <p:txBody>
          <a:bodyPr rtlCol="0" anchor="ctr"/>
          <a:lstStyle/>
          <a:p>
            <a:endParaRPr lang="ar-SA"/>
          </a:p>
        </p:txBody>
      </p:sp>
      <p:sp>
        <p:nvSpPr>
          <p:cNvPr id="14" name="Axes"/>
          <p:cNvSpPr/>
          <p:nvPr/>
        </p:nvSpPr>
        <p:spPr>
          <a:xfrm>
            <a:off x="1535813" y="1547812"/>
            <a:ext cx="5812583" cy="5429369"/>
          </a:xfrm>
          <a:custGeom>
            <a:avLst/>
            <a:gdLst/>
            <a:ahLst/>
            <a:cxnLst/>
            <a:rect l="0" t="0" r="r" b="b"/>
            <a:pathLst>
              <a:path w="5812583" h="5429369" fill="none">
                <a:moveTo>
                  <a:pt x="0" y="0"/>
                </a:moveTo>
                <a:lnTo>
                  <a:pt x="0" y="5429250"/>
                </a:lnTo>
                <a:lnTo>
                  <a:pt x="5812465" y="5429250"/>
                </a:lnTo>
              </a:path>
            </a:pathLst>
          </a:custGeom>
          <a:noFill/>
          <a:ln w="22225" cap="rnd">
            <a:solidFill>
              <a:srgbClr val="D9DEE4">
                <a:alpha val="100000"/>
              </a:srgbClr>
            </a:solidFill>
            <a:round/>
          </a:ln>
        </p:spPr>
        <p:txBody>
          <a:bodyPr rtlCol="0" anchor="ctr"/>
          <a:lstStyle/>
          <a:p>
            <a:endParaRPr lang="ar-SA"/>
          </a:p>
        </p:txBody>
      </p:sp>
      <p:sp>
        <p:nvSpPr>
          <p:cNvPr id="15" name="1 atm line"/>
          <p:cNvSpPr/>
          <p:nvPr/>
        </p:nvSpPr>
        <p:spPr>
          <a:xfrm>
            <a:off x="1535813" y="2024567"/>
            <a:ext cx="5718071" cy="119"/>
          </a:xfrm>
          <a:custGeom>
            <a:avLst/>
            <a:gdLst/>
            <a:ahLst/>
            <a:cxnLst/>
            <a:rect l="0" t="0" r="r" b="b"/>
            <a:pathLst>
              <a:path w="5718071" h="119" fill="none">
                <a:moveTo>
                  <a:pt x="0" y="0"/>
                </a:moveTo>
                <a:lnTo>
                  <a:pt x="5717953" y="0"/>
                </a:lnTo>
              </a:path>
            </a:pathLst>
          </a:custGeom>
          <a:noFill/>
          <a:ln w="12700" cap="rnd">
            <a:solidFill>
              <a:srgbClr val="D9DEE4">
                <a:alpha val="70000"/>
              </a:srgbClr>
            </a:solidFill>
            <a:prstDash val="dash"/>
            <a:round/>
          </a:ln>
        </p:spPr>
        <p:txBody>
          <a:bodyPr rtlCol="0" anchor="ctr"/>
          <a:lstStyle/>
          <a:p>
            <a:endParaRPr lang="ar-SA"/>
          </a:p>
        </p:txBody>
      </p:sp>
      <p:sp>
        <p:nvSpPr>
          <p:cNvPr id="16" name="1 atm"/>
          <p:cNvSpPr txBox="1"/>
          <p:nvPr/>
        </p:nvSpPr>
        <p:spPr>
          <a:xfrm>
            <a:off x="902936" y="1878116"/>
            <a:ext cx="556917" cy="292902"/>
          </a:xfrm>
          <a:prstGeom prst="rect">
            <a:avLst/>
          </a:prstGeom>
          <a:noFill/>
          <a:ln>
            <a:noFill/>
          </a:ln>
        </p:spPr>
        <p:txBody>
          <a:bodyPr wrap="square" lIns="0" tIns="0" rIns="0" bIns="0" rtlCol="0" anchor="ctr">
            <a:noAutofit/>
          </a:bodyPr>
          <a:lstStyle/>
          <a:p>
            <a:pPr algn="ctr" rtl="0">
              <a:lnSpc>
                <a:spcPct val="110000"/>
              </a:lnSpc>
              <a:buNone/>
            </a:pPr>
            <a:r>
              <a:rPr lang="ar-SA" sz="1300" b="1" i="0" dirty="0">
                <a:solidFill>
                  <a:srgbClr val="B9C0C8"/>
                </a:solidFill>
                <a:latin typeface="Tahoma"/>
                <a:ea typeface="Tahoma"/>
                <a:cs typeface="Tahoma"/>
              </a:rPr>
              <a:t>1.00</a:t>
            </a:r>
          </a:p>
        </p:txBody>
      </p:sp>
      <p:sp>
        <p:nvSpPr>
          <p:cNvPr id="17" name="X axis"/>
          <p:cNvSpPr txBox="1"/>
          <p:nvPr/>
        </p:nvSpPr>
        <p:spPr>
          <a:xfrm>
            <a:off x="3480870" y="8051825"/>
            <a:ext cx="1827840" cy="326973"/>
          </a:xfrm>
          <a:prstGeom prst="rect">
            <a:avLst/>
          </a:prstGeom>
          <a:noFill/>
          <a:ln>
            <a:noFill/>
          </a:ln>
        </p:spPr>
        <p:txBody>
          <a:bodyPr wrap="square" lIns="0" tIns="0" rIns="0" bIns="0" rtlCol="0" anchor="ctr">
            <a:noAutofit/>
          </a:bodyPr>
          <a:lstStyle/>
          <a:p>
            <a:pPr algn="ctr" rtl="1">
              <a:lnSpc>
                <a:spcPct val="110000"/>
              </a:lnSpc>
              <a:buNone/>
            </a:pPr>
            <a:r>
              <a:rPr lang="ar-SA" sz="1500" b="1" i="0" dirty="0">
                <a:solidFill>
                  <a:srgbClr val="B9C0C8"/>
                </a:solidFill>
                <a:latin typeface="Tahoma"/>
                <a:ea typeface="Tahoma"/>
                <a:cs typeface="Tahoma"/>
              </a:rPr>
              <a:t>درجة الحرارة ‪(°C)‬</a:t>
            </a:r>
          </a:p>
        </p:txBody>
      </p:sp>
      <p:sp>
        <p:nvSpPr>
          <p:cNvPr id="18" name="Y axis"/>
          <p:cNvSpPr txBox="1"/>
          <p:nvPr/>
        </p:nvSpPr>
        <p:spPr>
          <a:xfrm rot="16200000">
            <a:off x="-826976" y="4131468"/>
            <a:ext cx="3307906" cy="357187"/>
          </a:xfrm>
          <a:prstGeom prst="rect">
            <a:avLst/>
          </a:prstGeom>
          <a:noFill/>
          <a:ln>
            <a:noFill/>
          </a:ln>
        </p:spPr>
        <p:txBody>
          <a:bodyPr wrap="square" lIns="0" tIns="0" rIns="0" bIns="0" rtlCol="0" anchor="t">
            <a:noAutofit/>
          </a:bodyPr>
          <a:lstStyle/>
          <a:p>
            <a:pPr algn="ctr" rtl="1">
              <a:lnSpc>
                <a:spcPct val="110000"/>
              </a:lnSpc>
              <a:buNone/>
            </a:pPr>
            <a:r>
              <a:rPr lang="ar-SA" sz="1500" b="1" i="0" dirty="0">
                <a:solidFill>
                  <a:srgbClr val="B9C0C8"/>
                </a:solidFill>
                <a:latin typeface="Tahoma"/>
                <a:ea typeface="Tahoma"/>
                <a:cs typeface="Tahoma"/>
              </a:rPr>
              <a:t>الضغط البخاري ‪(atm)‬</a:t>
            </a:r>
          </a:p>
        </p:txBody>
      </p:sp>
      <p:sp>
        <p:nvSpPr>
          <p:cNvPr id="19" name="Solvent liquid"/>
          <p:cNvSpPr/>
          <p:nvPr/>
        </p:nvSpPr>
        <p:spPr>
          <a:xfrm>
            <a:off x="2679404" y="1618791"/>
            <a:ext cx="3688198" cy="3625325"/>
          </a:xfrm>
          <a:custGeom>
            <a:avLst/>
            <a:gdLst/>
            <a:ahLst/>
            <a:cxnLst/>
            <a:rect l="0" t="0" r="r" b="b"/>
            <a:pathLst>
              <a:path w="3688198" h="3625325" fill="none">
                <a:moveTo>
                  <a:pt x="0" y="3625206"/>
                </a:moveTo>
                <a:lnTo>
                  <a:pt x="75266" y="3584820"/>
                </a:lnTo>
                <a:lnTo>
                  <a:pt x="150533" y="3543493"/>
                </a:lnTo>
                <a:lnTo>
                  <a:pt x="225800" y="3501204"/>
                </a:lnTo>
                <a:lnTo>
                  <a:pt x="301067" y="3457928"/>
                </a:lnTo>
                <a:lnTo>
                  <a:pt x="376334" y="3413644"/>
                </a:lnTo>
                <a:lnTo>
                  <a:pt x="451601" y="3368328"/>
                </a:lnTo>
                <a:lnTo>
                  <a:pt x="526868" y="3321957"/>
                </a:lnTo>
                <a:lnTo>
                  <a:pt x="602135" y="3274504"/>
                </a:lnTo>
                <a:lnTo>
                  <a:pt x="677402" y="3225946"/>
                </a:lnTo>
                <a:lnTo>
                  <a:pt x="752669" y="3176256"/>
                </a:lnTo>
                <a:lnTo>
                  <a:pt x="827936" y="3125409"/>
                </a:lnTo>
                <a:lnTo>
                  <a:pt x="903203" y="3073376"/>
                </a:lnTo>
                <a:lnTo>
                  <a:pt x="978470" y="3020131"/>
                </a:lnTo>
                <a:lnTo>
                  <a:pt x="1053737" y="2965645"/>
                </a:lnTo>
                <a:lnTo>
                  <a:pt x="1129004" y="2909890"/>
                </a:lnTo>
                <a:lnTo>
                  <a:pt x="1204271" y="2852835"/>
                </a:lnTo>
                <a:lnTo>
                  <a:pt x="1279537" y="2794450"/>
                </a:lnTo>
                <a:lnTo>
                  <a:pt x="1354804" y="2734705"/>
                </a:lnTo>
                <a:lnTo>
                  <a:pt x="1430071" y="2673568"/>
                </a:lnTo>
                <a:lnTo>
                  <a:pt x="1505338" y="2611006"/>
                </a:lnTo>
                <a:lnTo>
                  <a:pt x="1580605" y="2546987"/>
                </a:lnTo>
                <a:lnTo>
                  <a:pt x="1655872" y="2481475"/>
                </a:lnTo>
                <a:lnTo>
                  <a:pt x="1731139" y="2414437"/>
                </a:lnTo>
                <a:lnTo>
                  <a:pt x="1806406" y="2345836"/>
                </a:lnTo>
                <a:lnTo>
                  <a:pt x="1881673" y="2275637"/>
                </a:lnTo>
                <a:lnTo>
                  <a:pt x="1956940" y="2203802"/>
                </a:lnTo>
                <a:lnTo>
                  <a:pt x="2032207" y="2130294"/>
                </a:lnTo>
                <a:lnTo>
                  <a:pt x="2107474" y="2055072"/>
                </a:lnTo>
                <a:lnTo>
                  <a:pt x="2182741" y="1978097"/>
                </a:lnTo>
                <a:lnTo>
                  <a:pt x="2258008" y="1899329"/>
                </a:lnTo>
                <a:lnTo>
                  <a:pt x="2333275" y="1818725"/>
                </a:lnTo>
                <a:lnTo>
                  <a:pt x="2408542" y="1736242"/>
                </a:lnTo>
                <a:lnTo>
                  <a:pt x="2483808" y="1651838"/>
                </a:lnTo>
                <a:lnTo>
                  <a:pt x="2559075" y="1565466"/>
                </a:lnTo>
                <a:lnTo>
                  <a:pt x="2634342" y="1477082"/>
                </a:lnTo>
                <a:lnTo>
                  <a:pt x="2709609" y="1386639"/>
                </a:lnTo>
                <a:lnTo>
                  <a:pt x="2784876" y="1294087"/>
                </a:lnTo>
                <a:lnTo>
                  <a:pt x="2860143" y="1199379"/>
                </a:lnTo>
                <a:lnTo>
                  <a:pt x="2935410" y="1102464"/>
                </a:lnTo>
                <a:lnTo>
                  <a:pt x="3010677" y="1003291"/>
                </a:lnTo>
                <a:lnTo>
                  <a:pt x="3085944" y="901807"/>
                </a:lnTo>
                <a:lnTo>
                  <a:pt x="3161211" y="797957"/>
                </a:lnTo>
                <a:lnTo>
                  <a:pt x="3236478" y="691688"/>
                </a:lnTo>
                <a:lnTo>
                  <a:pt x="3311745" y="582942"/>
                </a:lnTo>
                <a:lnTo>
                  <a:pt x="3387012" y="471662"/>
                </a:lnTo>
                <a:lnTo>
                  <a:pt x="3462279" y="357789"/>
                </a:lnTo>
                <a:lnTo>
                  <a:pt x="3537546" y="241262"/>
                </a:lnTo>
                <a:lnTo>
                  <a:pt x="3612813" y="122020"/>
                </a:lnTo>
                <a:lnTo>
                  <a:pt x="3688080" y="0"/>
                </a:lnTo>
              </a:path>
            </a:pathLst>
          </a:custGeom>
          <a:noFill/>
          <a:ln w="34925" cap="rnd">
            <a:solidFill>
              <a:srgbClr val="F4F6F8">
                <a:alpha val="100000"/>
              </a:srgbClr>
            </a:solidFill>
            <a:round/>
          </a:ln>
        </p:spPr>
        <p:txBody>
          <a:bodyPr rtlCol="0" anchor="ctr"/>
          <a:lstStyle/>
          <a:p>
            <a:endParaRPr lang="ar-SA"/>
          </a:p>
        </p:txBody>
      </p:sp>
      <p:sp>
        <p:nvSpPr>
          <p:cNvPr id="20" name="Solution"/>
          <p:cNvSpPr/>
          <p:nvPr/>
        </p:nvSpPr>
        <p:spPr>
          <a:xfrm>
            <a:off x="2124015" y="1618791"/>
            <a:ext cx="4735502" cy="4100595"/>
          </a:xfrm>
          <a:custGeom>
            <a:avLst/>
            <a:gdLst/>
            <a:ahLst/>
            <a:cxnLst/>
            <a:rect l="0" t="0" r="r" b="b"/>
            <a:pathLst>
              <a:path w="4735502" h="4100595" fill="none">
                <a:moveTo>
                  <a:pt x="0" y="4100476"/>
                </a:moveTo>
                <a:lnTo>
                  <a:pt x="96640" y="4062718"/>
                </a:lnTo>
                <a:lnTo>
                  <a:pt x="193280" y="4023827"/>
                </a:lnTo>
                <a:lnTo>
                  <a:pt x="289921" y="3983769"/>
                </a:lnTo>
                <a:lnTo>
                  <a:pt x="386561" y="3942508"/>
                </a:lnTo>
                <a:lnTo>
                  <a:pt x="483202" y="3900008"/>
                </a:lnTo>
                <a:lnTo>
                  <a:pt x="579842" y="3856232"/>
                </a:lnTo>
                <a:lnTo>
                  <a:pt x="676483" y="3811143"/>
                </a:lnTo>
                <a:lnTo>
                  <a:pt x="773123" y="3764700"/>
                </a:lnTo>
                <a:lnTo>
                  <a:pt x="869764" y="3716862"/>
                </a:lnTo>
                <a:lnTo>
                  <a:pt x="966404" y="3667589"/>
                </a:lnTo>
                <a:lnTo>
                  <a:pt x="1063045" y="3616837"/>
                </a:lnTo>
                <a:lnTo>
                  <a:pt x="1159685" y="3564561"/>
                </a:lnTo>
                <a:lnTo>
                  <a:pt x="1256326" y="3510715"/>
                </a:lnTo>
                <a:lnTo>
                  <a:pt x="1352966" y="3455254"/>
                </a:lnTo>
                <a:lnTo>
                  <a:pt x="1449607" y="3398127"/>
                </a:lnTo>
                <a:lnTo>
                  <a:pt x="1546247" y="3339286"/>
                </a:lnTo>
                <a:lnTo>
                  <a:pt x="1642888" y="3278678"/>
                </a:lnTo>
                <a:lnTo>
                  <a:pt x="1739528" y="3216251"/>
                </a:lnTo>
                <a:lnTo>
                  <a:pt x="1836169" y="3151950"/>
                </a:lnTo>
                <a:lnTo>
                  <a:pt x="1932809" y="3085719"/>
                </a:lnTo>
                <a:lnTo>
                  <a:pt x="2029450" y="3017499"/>
                </a:lnTo>
                <a:lnTo>
                  <a:pt x="2126090" y="2947232"/>
                </a:lnTo>
                <a:lnTo>
                  <a:pt x="2222731" y="2874855"/>
                </a:lnTo>
                <a:lnTo>
                  <a:pt x="2319371" y="2800305"/>
                </a:lnTo>
                <a:lnTo>
                  <a:pt x="2416012" y="2723518"/>
                </a:lnTo>
                <a:lnTo>
                  <a:pt x="2512652" y="2644426"/>
                </a:lnTo>
                <a:lnTo>
                  <a:pt x="2609293" y="2562959"/>
                </a:lnTo>
                <a:lnTo>
                  <a:pt x="2705933" y="2479047"/>
                </a:lnTo>
                <a:lnTo>
                  <a:pt x="2802574" y="2392615"/>
                </a:lnTo>
                <a:lnTo>
                  <a:pt x="2899214" y="2303590"/>
                </a:lnTo>
                <a:lnTo>
                  <a:pt x="2995855" y="2211891"/>
                </a:lnTo>
                <a:lnTo>
                  <a:pt x="3092495" y="2117441"/>
                </a:lnTo>
                <a:lnTo>
                  <a:pt x="3189136" y="2020154"/>
                </a:lnTo>
                <a:lnTo>
                  <a:pt x="3285776" y="1919948"/>
                </a:lnTo>
                <a:lnTo>
                  <a:pt x="3382417" y="1816733"/>
                </a:lnTo>
                <a:lnTo>
                  <a:pt x="3479057" y="1710420"/>
                </a:lnTo>
                <a:lnTo>
                  <a:pt x="3575698" y="1600915"/>
                </a:lnTo>
                <a:lnTo>
                  <a:pt x="3672338" y="1488124"/>
                </a:lnTo>
                <a:lnTo>
                  <a:pt x="3768979" y="1371946"/>
                </a:lnTo>
                <a:lnTo>
                  <a:pt x="3865619" y="1252281"/>
                </a:lnTo>
                <a:lnTo>
                  <a:pt x="3962260" y="1129023"/>
                </a:lnTo>
                <a:lnTo>
                  <a:pt x="4058900" y="1002066"/>
                </a:lnTo>
                <a:lnTo>
                  <a:pt x="4155541" y="871297"/>
                </a:lnTo>
                <a:lnTo>
                  <a:pt x="4252181" y="736603"/>
                </a:lnTo>
                <a:lnTo>
                  <a:pt x="4348822" y="597866"/>
                </a:lnTo>
                <a:lnTo>
                  <a:pt x="4445462" y="454964"/>
                </a:lnTo>
                <a:lnTo>
                  <a:pt x="4542103" y="307772"/>
                </a:lnTo>
                <a:lnTo>
                  <a:pt x="4638743" y="156161"/>
                </a:lnTo>
                <a:lnTo>
                  <a:pt x="4735384" y="0"/>
                </a:lnTo>
              </a:path>
            </a:pathLst>
          </a:custGeom>
          <a:noFill/>
          <a:ln w="34925" cap="rnd">
            <a:solidFill>
              <a:srgbClr val="E8A94E">
                <a:alpha val="100000"/>
              </a:srgbClr>
            </a:solidFill>
            <a:round/>
          </a:ln>
        </p:spPr>
        <p:txBody>
          <a:bodyPr rtlCol="0" anchor="ctr"/>
          <a:lstStyle/>
          <a:p>
            <a:endParaRPr lang="ar-SA"/>
          </a:p>
        </p:txBody>
      </p:sp>
      <p:sp>
        <p:nvSpPr>
          <p:cNvPr id="21" name="Solvent solid"/>
          <p:cNvSpPr/>
          <p:nvPr/>
        </p:nvSpPr>
        <p:spPr>
          <a:xfrm>
            <a:off x="1723759" y="5243997"/>
            <a:ext cx="955763" cy="734822"/>
          </a:xfrm>
          <a:custGeom>
            <a:avLst/>
            <a:gdLst/>
            <a:ahLst/>
            <a:cxnLst/>
            <a:rect l="0" t="0" r="r" b="b"/>
            <a:pathLst>
              <a:path w="955763" h="734822" fill="none">
                <a:moveTo>
                  <a:pt x="0" y="734703"/>
                </a:moveTo>
                <a:lnTo>
                  <a:pt x="50297" y="705298"/>
                </a:lnTo>
                <a:lnTo>
                  <a:pt x="100594" y="675026"/>
                </a:lnTo>
                <a:lnTo>
                  <a:pt x="150891" y="643864"/>
                </a:lnTo>
                <a:lnTo>
                  <a:pt x="201188" y="611783"/>
                </a:lnTo>
                <a:lnTo>
                  <a:pt x="251485" y="578758"/>
                </a:lnTo>
                <a:lnTo>
                  <a:pt x="301782" y="544759"/>
                </a:lnTo>
                <a:lnTo>
                  <a:pt x="352079" y="509760"/>
                </a:lnTo>
                <a:lnTo>
                  <a:pt x="402377" y="473729"/>
                </a:lnTo>
                <a:lnTo>
                  <a:pt x="452674" y="436638"/>
                </a:lnTo>
                <a:lnTo>
                  <a:pt x="502971" y="398453"/>
                </a:lnTo>
                <a:lnTo>
                  <a:pt x="553268" y="359145"/>
                </a:lnTo>
                <a:lnTo>
                  <a:pt x="603565" y="318678"/>
                </a:lnTo>
                <a:lnTo>
                  <a:pt x="653862" y="277020"/>
                </a:lnTo>
                <a:lnTo>
                  <a:pt x="704159" y="234134"/>
                </a:lnTo>
                <a:lnTo>
                  <a:pt x="754456" y="189986"/>
                </a:lnTo>
                <a:lnTo>
                  <a:pt x="804754" y="144537"/>
                </a:lnTo>
                <a:lnTo>
                  <a:pt x="855051" y="97749"/>
                </a:lnTo>
                <a:lnTo>
                  <a:pt x="905348" y="49584"/>
                </a:lnTo>
                <a:lnTo>
                  <a:pt x="955645" y="0"/>
                </a:lnTo>
              </a:path>
            </a:pathLst>
          </a:custGeom>
          <a:noFill/>
          <a:ln w="34925" cap="rnd">
            <a:solidFill>
              <a:srgbClr val="7FC8F8">
                <a:alpha val="100000"/>
              </a:srgbClr>
            </a:solidFill>
            <a:round/>
          </a:ln>
        </p:spPr>
        <p:txBody>
          <a:bodyPr rtlCol="0" anchor="ctr"/>
          <a:lstStyle/>
          <a:p>
            <a:endParaRPr lang="ar-SA"/>
          </a:p>
        </p:txBody>
      </p:sp>
      <p:sp>
        <p:nvSpPr>
          <p:cNvPr id="22" name="Label liquid"/>
          <p:cNvSpPr txBox="1"/>
          <p:nvPr/>
        </p:nvSpPr>
        <p:spPr>
          <a:xfrm>
            <a:off x="2555985" y="3332129"/>
            <a:ext cx="2221577" cy="309938"/>
          </a:xfrm>
          <a:prstGeom prst="rect">
            <a:avLst/>
          </a:prstGeom>
          <a:noFill/>
          <a:ln>
            <a:noFill/>
          </a:ln>
        </p:spPr>
        <p:txBody>
          <a:bodyPr wrap="square" lIns="0" tIns="0" rIns="0" bIns="0" rtlCol="0" anchor="ctr">
            <a:noAutofit/>
          </a:bodyPr>
          <a:lstStyle/>
          <a:p>
            <a:pPr algn="r" rtl="1">
              <a:lnSpc>
                <a:spcPct val="110000"/>
              </a:lnSpc>
              <a:buNone/>
            </a:pPr>
            <a:r>
              <a:rPr lang="ar-SA" sz="1400" b="1" i="0" dirty="0">
                <a:solidFill>
                  <a:srgbClr val="F4F6F8"/>
                </a:solidFill>
                <a:latin typeface="Tahoma"/>
                <a:ea typeface="Tahoma"/>
                <a:cs typeface="Tahoma"/>
              </a:rPr>
              <a:t>مذيب في الحالة السائلة</a:t>
            </a:r>
          </a:p>
        </p:txBody>
      </p:sp>
      <p:sp>
        <p:nvSpPr>
          <p:cNvPr id="23" name="Label solution"/>
          <p:cNvSpPr txBox="1"/>
          <p:nvPr/>
        </p:nvSpPr>
        <p:spPr>
          <a:xfrm>
            <a:off x="5269968" y="3712976"/>
            <a:ext cx="763661" cy="309938"/>
          </a:xfrm>
          <a:prstGeom prst="rect">
            <a:avLst/>
          </a:prstGeom>
          <a:noFill/>
          <a:ln>
            <a:noFill/>
          </a:ln>
        </p:spPr>
        <p:txBody>
          <a:bodyPr wrap="square" lIns="0" tIns="0" rIns="0" bIns="0" rtlCol="0" anchor="ctr">
            <a:noAutofit/>
          </a:bodyPr>
          <a:lstStyle/>
          <a:p>
            <a:pPr algn="l" rtl="1">
              <a:lnSpc>
                <a:spcPct val="110000"/>
              </a:lnSpc>
              <a:buNone/>
            </a:pPr>
            <a:r>
              <a:rPr lang="ar-SA" sz="1400" b="1" i="0" dirty="0">
                <a:solidFill>
                  <a:srgbClr val="E8A94E"/>
                </a:solidFill>
                <a:latin typeface="Tahoma"/>
                <a:ea typeface="Tahoma"/>
                <a:cs typeface="Tahoma"/>
              </a:rPr>
              <a:t>محلول</a:t>
            </a:r>
          </a:p>
        </p:txBody>
      </p:sp>
      <p:sp>
        <p:nvSpPr>
          <p:cNvPr id="24" name="Label solid"/>
          <p:cNvSpPr txBox="1"/>
          <p:nvPr/>
        </p:nvSpPr>
        <p:spPr>
          <a:xfrm>
            <a:off x="1851822" y="6052173"/>
            <a:ext cx="1138200" cy="309938"/>
          </a:xfrm>
          <a:prstGeom prst="rect">
            <a:avLst/>
          </a:prstGeom>
          <a:noFill/>
          <a:ln>
            <a:noFill/>
          </a:ln>
        </p:spPr>
        <p:txBody>
          <a:bodyPr wrap="square" lIns="0" tIns="0" rIns="0" bIns="0" rtlCol="0" anchor="ctr">
            <a:noAutofit/>
          </a:bodyPr>
          <a:lstStyle/>
          <a:p>
            <a:pPr algn="l" rtl="1">
              <a:lnSpc>
                <a:spcPct val="110000"/>
              </a:lnSpc>
              <a:buNone/>
            </a:pPr>
            <a:r>
              <a:rPr lang="ar-SA" sz="1400" b="1" i="0" dirty="0">
                <a:solidFill>
                  <a:srgbClr val="7FC8F8"/>
                </a:solidFill>
                <a:latin typeface="Tahoma"/>
                <a:ea typeface="Tahoma"/>
                <a:cs typeface="Tahoma"/>
              </a:rPr>
              <a:t>مذيب صلب</a:t>
            </a:r>
          </a:p>
        </p:txBody>
      </p:sp>
      <p:sp>
        <p:nvSpPr>
          <p:cNvPr id="25" name="Drop fp solution"/>
          <p:cNvSpPr/>
          <p:nvPr/>
        </p:nvSpPr>
        <p:spPr>
          <a:xfrm>
            <a:off x="2124015" y="5719267"/>
            <a:ext cx="118" cy="1257914"/>
          </a:xfrm>
          <a:custGeom>
            <a:avLst/>
            <a:gdLst/>
            <a:ahLst/>
            <a:cxnLst/>
            <a:rect l="0" t="0" r="r" b="b"/>
            <a:pathLst>
              <a:path w="118" h="1257914" fill="none">
                <a:moveTo>
                  <a:pt x="0" y="0"/>
                </a:moveTo>
                <a:lnTo>
                  <a:pt x="0" y="1257795"/>
                </a:lnTo>
              </a:path>
            </a:pathLst>
          </a:custGeom>
          <a:noFill/>
          <a:ln w="15875" cap="rnd">
            <a:solidFill>
              <a:srgbClr val="D9DEE4">
                <a:alpha val="80000"/>
              </a:srgbClr>
            </a:solidFill>
            <a:prstDash val="sysDash"/>
            <a:round/>
          </a:ln>
        </p:spPr>
        <p:txBody>
          <a:bodyPr rtlCol="0" anchor="ctr"/>
          <a:lstStyle/>
          <a:p>
            <a:endParaRPr lang="ar-SA"/>
          </a:p>
        </p:txBody>
      </p:sp>
      <p:sp>
        <p:nvSpPr>
          <p:cNvPr id="26" name="Drop fp solvent"/>
          <p:cNvSpPr/>
          <p:nvPr/>
        </p:nvSpPr>
        <p:spPr>
          <a:xfrm>
            <a:off x="2679404" y="5243997"/>
            <a:ext cx="118" cy="1733183"/>
          </a:xfrm>
          <a:custGeom>
            <a:avLst/>
            <a:gdLst/>
            <a:ahLst/>
            <a:cxnLst/>
            <a:rect l="0" t="0" r="r" b="b"/>
            <a:pathLst>
              <a:path w="118" h="1733183" fill="none">
                <a:moveTo>
                  <a:pt x="0" y="0"/>
                </a:moveTo>
                <a:lnTo>
                  <a:pt x="0" y="1733064"/>
                </a:lnTo>
              </a:path>
            </a:pathLst>
          </a:custGeom>
          <a:noFill/>
          <a:ln w="15875" cap="rnd">
            <a:solidFill>
              <a:srgbClr val="D9DEE4">
                <a:alpha val="80000"/>
              </a:srgbClr>
            </a:solidFill>
            <a:prstDash val="sysDash"/>
            <a:round/>
          </a:ln>
        </p:spPr>
        <p:txBody>
          <a:bodyPr rtlCol="0" anchor="ctr"/>
          <a:lstStyle/>
          <a:p>
            <a:endParaRPr lang="ar-SA"/>
          </a:p>
        </p:txBody>
      </p:sp>
      <p:sp>
        <p:nvSpPr>
          <p:cNvPr id="27" name="Drop bp solvent"/>
          <p:cNvSpPr/>
          <p:nvPr/>
        </p:nvSpPr>
        <p:spPr>
          <a:xfrm>
            <a:off x="6110176" y="2024567"/>
            <a:ext cx="118" cy="4952613"/>
          </a:xfrm>
          <a:custGeom>
            <a:avLst/>
            <a:gdLst/>
            <a:ahLst/>
            <a:cxnLst/>
            <a:rect l="0" t="0" r="r" b="b"/>
            <a:pathLst>
              <a:path w="118" h="4952613" fill="none">
                <a:moveTo>
                  <a:pt x="0" y="0"/>
                </a:moveTo>
                <a:lnTo>
                  <a:pt x="0" y="4952494"/>
                </a:lnTo>
              </a:path>
            </a:pathLst>
          </a:custGeom>
          <a:noFill/>
          <a:ln w="15875" cap="rnd">
            <a:solidFill>
              <a:srgbClr val="D9DEE4">
                <a:alpha val="80000"/>
              </a:srgbClr>
            </a:solidFill>
            <a:prstDash val="sysDash"/>
            <a:round/>
          </a:ln>
        </p:spPr>
        <p:txBody>
          <a:bodyPr rtlCol="0" anchor="ctr"/>
          <a:lstStyle/>
          <a:p>
            <a:endParaRPr lang="ar-SA"/>
          </a:p>
        </p:txBody>
      </p:sp>
      <p:sp>
        <p:nvSpPr>
          <p:cNvPr id="28" name="Drop bp solution"/>
          <p:cNvSpPr/>
          <p:nvPr/>
        </p:nvSpPr>
        <p:spPr>
          <a:xfrm>
            <a:off x="6602092" y="2024567"/>
            <a:ext cx="118" cy="4952613"/>
          </a:xfrm>
          <a:custGeom>
            <a:avLst/>
            <a:gdLst/>
            <a:ahLst/>
            <a:cxnLst/>
            <a:rect l="0" t="0" r="r" b="b"/>
            <a:pathLst>
              <a:path w="118" h="4952613" fill="none">
                <a:moveTo>
                  <a:pt x="0" y="0"/>
                </a:moveTo>
                <a:lnTo>
                  <a:pt x="0" y="4952494"/>
                </a:lnTo>
              </a:path>
            </a:pathLst>
          </a:custGeom>
          <a:noFill/>
          <a:ln w="15875" cap="rnd">
            <a:solidFill>
              <a:srgbClr val="D9DEE4">
                <a:alpha val="80000"/>
              </a:srgbClr>
            </a:solidFill>
            <a:prstDash val="sysDash"/>
            <a:round/>
          </a:ln>
        </p:spPr>
        <p:txBody>
          <a:bodyPr rtlCol="0" anchor="ctr"/>
          <a:lstStyle/>
          <a:p>
            <a:endParaRPr lang="ar-SA"/>
          </a:p>
        </p:txBody>
      </p:sp>
      <p:sp>
        <p:nvSpPr>
          <p:cNvPr id="29" name="Bracket fp"/>
          <p:cNvSpPr/>
          <p:nvPr/>
        </p:nvSpPr>
        <p:spPr>
          <a:xfrm>
            <a:off x="2124015" y="7072312"/>
            <a:ext cx="555506" cy="95369"/>
          </a:xfrm>
          <a:custGeom>
            <a:avLst/>
            <a:gdLst/>
            <a:ahLst/>
            <a:cxnLst/>
            <a:rect l="0" t="0" r="r" b="b"/>
            <a:pathLst>
              <a:path w="555506" h="95369" fill="none">
                <a:moveTo>
                  <a:pt x="0" y="0"/>
                </a:moveTo>
                <a:lnTo>
                  <a:pt x="0" y="95250"/>
                </a:lnTo>
                <a:lnTo>
                  <a:pt x="555388" y="95250"/>
                </a:lnTo>
                <a:lnTo>
                  <a:pt x="555388" y="0"/>
                </a:lnTo>
              </a:path>
            </a:pathLst>
          </a:custGeom>
          <a:noFill/>
          <a:ln w="25400" cap="rnd">
            <a:solidFill>
              <a:srgbClr val="E8A94E">
                <a:alpha val="100000"/>
              </a:srgbClr>
            </a:solidFill>
            <a:round/>
          </a:ln>
        </p:spPr>
        <p:txBody>
          <a:bodyPr rtlCol="0" anchor="ctr"/>
          <a:lstStyle/>
          <a:p>
            <a:endParaRPr lang="ar-SA"/>
          </a:p>
        </p:txBody>
      </p:sp>
      <p:sp>
        <p:nvSpPr>
          <p:cNvPr id="30" name="Delta fp"/>
          <p:cNvSpPr txBox="1"/>
          <p:nvPr/>
        </p:nvSpPr>
        <p:spPr>
          <a:xfrm>
            <a:off x="1803167" y="7175798"/>
            <a:ext cx="1197085" cy="412152"/>
          </a:xfrm>
          <a:prstGeom prst="rect">
            <a:avLst/>
          </a:prstGeom>
          <a:noFill/>
          <a:ln>
            <a:noFill/>
          </a:ln>
        </p:spPr>
        <p:txBody>
          <a:bodyPr wrap="square" lIns="0" tIns="0" rIns="0" bIns="0" rtlCol="0" anchor="ctr">
            <a:noAutofit/>
          </a:bodyPr>
          <a:lstStyle/>
          <a:p>
            <a:pPr algn="ctr" rtl="0">
              <a:lnSpc>
                <a:spcPct val="110000"/>
              </a:lnSpc>
              <a:buNone/>
            </a:pPr>
            <a:r>
              <a:rPr lang="ar-SA" sz="2000" b="1" i="0" dirty="0">
                <a:solidFill>
                  <a:srgbClr val="E8A94E"/>
                </a:solidFill>
                <a:latin typeface="Tahoma"/>
                <a:ea typeface="Tahoma"/>
                <a:cs typeface="Tahoma"/>
              </a:rPr>
              <a:t>ΔT</a:t>
            </a:r>
            <a:r>
              <a:rPr lang="ar-SA" sz="2000" b="1" i="0" baseline="-25000" dirty="0">
                <a:solidFill>
                  <a:srgbClr val="E8A94E"/>
                </a:solidFill>
                <a:latin typeface="Tahoma"/>
                <a:ea typeface="Tahoma"/>
                <a:cs typeface="Tahoma"/>
              </a:rPr>
              <a:t>fp</a:t>
            </a:r>
            <a:endParaRPr lang="ar-SA" sz="2000" b="1" i="0" dirty="0">
              <a:solidFill>
                <a:srgbClr val="E8A94E"/>
              </a:solidFill>
              <a:latin typeface="Tahoma"/>
              <a:ea typeface="Tahoma"/>
              <a:cs typeface="Tahoma"/>
            </a:endParaRPr>
          </a:p>
        </p:txBody>
      </p:sp>
      <p:sp>
        <p:nvSpPr>
          <p:cNvPr id="31" name="Point fp 1"/>
          <p:cNvSpPr txBox="1"/>
          <p:nvPr/>
        </p:nvSpPr>
        <p:spPr>
          <a:xfrm>
            <a:off x="1310606" y="7529691"/>
            <a:ext cx="1626818" cy="275866"/>
          </a:xfrm>
          <a:prstGeom prst="rect">
            <a:avLst/>
          </a:prstGeom>
          <a:noFill/>
          <a:ln>
            <a:noFill/>
          </a:ln>
        </p:spPr>
        <p:txBody>
          <a:bodyPr wrap="square" lIns="0" tIns="0" rIns="0" bIns="0" rtlCol="0" anchor="ctr">
            <a:noAutofit/>
          </a:bodyPr>
          <a:lstStyle/>
          <a:p>
            <a:pPr algn="ctr" rtl="1">
              <a:lnSpc>
                <a:spcPct val="110000"/>
              </a:lnSpc>
              <a:buNone/>
            </a:pPr>
            <a:r>
              <a:rPr lang="ar-SA" sz="1200" b="1" i="0" dirty="0">
                <a:solidFill>
                  <a:srgbClr val="B9C0C8"/>
                </a:solidFill>
                <a:latin typeface="Tahoma"/>
                <a:ea typeface="Tahoma"/>
                <a:cs typeface="Tahoma"/>
              </a:rPr>
              <a:t>درجة تجمد المحلول</a:t>
            </a:r>
          </a:p>
        </p:txBody>
      </p:sp>
      <p:sp>
        <p:nvSpPr>
          <p:cNvPr id="32" name="Point fp 2"/>
          <p:cNvSpPr txBox="1"/>
          <p:nvPr/>
        </p:nvSpPr>
        <p:spPr>
          <a:xfrm>
            <a:off x="2679404" y="7767816"/>
            <a:ext cx="1532675" cy="275866"/>
          </a:xfrm>
          <a:prstGeom prst="rect">
            <a:avLst/>
          </a:prstGeom>
          <a:noFill/>
          <a:ln>
            <a:noFill/>
          </a:ln>
        </p:spPr>
        <p:txBody>
          <a:bodyPr wrap="square" lIns="0" tIns="0" rIns="0" bIns="0" rtlCol="0" anchor="ctr">
            <a:noAutofit/>
          </a:bodyPr>
          <a:lstStyle/>
          <a:p>
            <a:pPr algn="l" rtl="1">
              <a:lnSpc>
                <a:spcPct val="110000"/>
              </a:lnSpc>
              <a:buNone/>
            </a:pPr>
            <a:r>
              <a:rPr lang="ar-SA" sz="1200" b="1" i="0" dirty="0">
                <a:solidFill>
                  <a:srgbClr val="B9C0C8"/>
                </a:solidFill>
                <a:latin typeface="Tahoma"/>
                <a:ea typeface="Tahoma"/>
                <a:cs typeface="Tahoma"/>
              </a:rPr>
              <a:t>درجة تجمد المذيب</a:t>
            </a:r>
          </a:p>
        </p:txBody>
      </p:sp>
      <p:sp>
        <p:nvSpPr>
          <p:cNvPr id="33" name="Bracket bp"/>
          <p:cNvSpPr/>
          <p:nvPr/>
        </p:nvSpPr>
        <p:spPr>
          <a:xfrm>
            <a:off x="6110176" y="7072312"/>
            <a:ext cx="492033" cy="95369"/>
          </a:xfrm>
          <a:custGeom>
            <a:avLst/>
            <a:gdLst/>
            <a:ahLst/>
            <a:cxnLst/>
            <a:rect l="0" t="0" r="r" b="b"/>
            <a:pathLst>
              <a:path w="492033" h="95369" fill="none">
                <a:moveTo>
                  <a:pt x="0" y="0"/>
                </a:moveTo>
                <a:lnTo>
                  <a:pt x="0" y="95250"/>
                </a:lnTo>
                <a:lnTo>
                  <a:pt x="491915" y="95250"/>
                </a:lnTo>
                <a:lnTo>
                  <a:pt x="491915" y="0"/>
                </a:lnTo>
              </a:path>
            </a:pathLst>
          </a:custGeom>
          <a:noFill/>
          <a:ln w="15875" cap="rnd">
            <a:solidFill>
              <a:srgbClr val="B9C0C8">
                <a:alpha val="100000"/>
              </a:srgbClr>
            </a:solidFill>
            <a:round/>
          </a:ln>
        </p:spPr>
        <p:txBody>
          <a:bodyPr rtlCol="0" anchor="ctr"/>
          <a:lstStyle/>
          <a:p>
            <a:endParaRPr lang="ar-SA"/>
          </a:p>
        </p:txBody>
      </p:sp>
      <p:sp>
        <p:nvSpPr>
          <p:cNvPr id="34" name="Delta bp"/>
          <p:cNvSpPr txBox="1"/>
          <p:nvPr/>
        </p:nvSpPr>
        <p:spPr>
          <a:xfrm>
            <a:off x="5846565" y="7209870"/>
            <a:ext cx="1019138" cy="344009"/>
          </a:xfrm>
          <a:prstGeom prst="rect">
            <a:avLst/>
          </a:prstGeom>
          <a:noFill/>
          <a:ln>
            <a:noFill/>
          </a:ln>
        </p:spPr>
        <p:txBody>
          <a:bodyPr wrap="square" lIns="0" tIns="0" rIns="0" bIns="0" rtlCol="0" anchor="ctr">
            <a:noAutofit/>
          </a:bodyPr>
          <a:lstStyle/>
          <a:p>
            <a:pPr algn="ctr" rtl="0">
              <a:lnSpc>
                <a:spcPct val="110000"/>
              </a:lnSpc>
              <a:buNone/>
            </a:pPr>
            <a:r>
              <a:rPr lang="ar-SA" sz="1600" b="1" i="0" dirty="0">
                <a:solidFill>
                  <a:srgbClr val="B9C0C8"/>
                </a:solidFill>
                <a:latin typeface="Tahoma"/>
                <a:ea typeface="Tahoma"/>
                <a:cs typeface="Tahoma"/>
              </a:rPr>
              <a:t>ΔT</a:t>
            </a:r>
            <a:r>
              <a:rPr lang="ar-SA" sz="1600" b="1" i="0" baseline="-25000" dirty="0">
                <a:solidFill>
                  <a:srgbClr val="B9C0C8"/>
                </a:solidFill>
                <a:latin typeface="Tahoma"/>
                <a:ea typeface="Tahoma"/>
                <a:cs typeface="Tahoma"/>
              </a:rPr>
              <a:t>bp</a:t>
            </a:r>
            <a:endParaRPr lang="ar-SA" sz="1600" b="1" i="0" dirty="0">
              <a:solidFill>
                <a:srgbClr val="B9C0C8"/>
              </a:solidFill>
              <a:latin typeface="Tahoma"/>
              <a:ea typeface="Tahoma"/>
              <a:cs typeface="Tahoma"/>
            </a:endParaRPr>
          </a:p>
        </p:txBody>
      </p:sp>
      <p:sp>
        <p:nvSpPr>
          <p:cNvPr id="35" name="Point bp 1"/>
          <p:cNvSpPr txBox="1"/>
          <p:nvPr/>
        </p:nvSpPr>
        <p:spPr>
          <a:xfrm>
            <a:off x="4518615" y="7529691"/>
            <a:ext cx="1591561" cy="275866"/>
          </a:xfrm>
          <a:prstGeom prst="rect">
            <a:avLst/>
          </a:prstGeom>
          <a:noFill/>
          <a:ln>
            <a:noFill/>
          </a:ln>
        </p:spPr>
        <p:txBody>
          <a:bodyPr wrap="square" lIns="0" tIns="0" rIns="0" bIns="0" rtlCol="0" anchor="ctr">
            <a:noAutofit/>
          </a:bodyPr>
          <a:lstStyle/>
          <a:p>
            <a:pPr algn="r" rtl="1">
              <a:lnSpc>
                <a:spcPct val="110000"/>
              </a:lnSpc>
              <a:buNone/>
            </a:pPr>
            <a:r>
              <a:rPr lang="ar-SA" sz="1200" b="1" i="0" dirty="0">
                <a:solidFill>
                  <a:srgbClr val="B9C0C8"/>
                </a:solidFill>
                <a:latin typeface="Tahoma"/>
                <a:ea typeface="Tahoma"/>
                <a:cs typeface="Tahoma"/>
              </a:rPr>
              <a:t>درجة غليان المذيب</a:t>
            </a:r>
          </a:p>
        </p:txBody>
      </p:sp>
      <p:sp>
        <p:nvSpPr>
          <p:cNvPr id="36" name="Point bp 2"/>
          <p:cNvSpPr txBox="1"/>
          <p:nvPr/>
        </p:nvSpPr>
        <p:spPr>
          <a:xfrm>
            <a:off x="5759240" y="7767816"/>
            <a:ext cx="1685703" cy="275866"/>
          </a:xfrm>
          <a:prstGeom prst="rect">
            <a:avLst/>
          </a:prstGeom>
          <a:noFill/>
          <a:ln>
            <a:noFill/>
          </a:ln>
        </p:spPr>
        <p:txBody>
          <a:bodyPr wrap="square" lIns="0" tIns="0" rIns="0" bIns="0" rtlCol="0" anchor="ctr">
            <a:noAutofit/>
          </a:bodyPr>
          <a:lstStyle/>
          <a:p>
            <a:pPr algn="ctr" rtl="1">
              <a:lnSpc>
                <a:spcPct val="110000"/>
              </a:lnSpc>
              <a:buNone/>
            </a:pPr>
            <a:r>
              <a:rPr lang="ar-SA" sz="1200" b="1" i="0" dirty="0">
                <a:solidFill>
                  <a:srgbClr val="B9C0C8"/>
                </a:solidFill>
                <a:latin typeface="Tahoma"/>
                <a:ea typeface="Tahoma"/>
                <a:cs typeface="Tahoma"/>
              </a:rPr>
              <a:t>درجة غليان المحلول</a:t>
            </a:r>
          </a:p>
        </p:txBody>
      </p:sp>
      <p:sp>
        <p:nvSpPr>
          <p:cNvPr id="37" name="Caption"/>
          <p:cNvSpPr txBox="1"/>
          <p:nvPr/>
        </p:nvSpPr>
        <p:spPr>
          <a:xfrm>
            <a:off x="945116" y="8405812"/>
            <a:ext cx="6379534" cy="214312"/>
          </a:xfrm>
          <a:prstGeom prst="rect">
            <a:avLst/>
          </a:prstGeom>
          <a:noFill/>
          <a:ln>
            <a:noFill/>
          </a:ln>
        </p:spPr>
        <p:txBody>
          <a:bodyPr wrap="square" lIns="0" tIns="0" rIns="0" bIns="0" rtlCol="0" anchor="t">
            <a:noAutofit/>
          </a:bodyPr>
          <a:lstStyle/>
          <a:p>
            <a:pPr algn="ctr" rtl="1">
              <a:lnSpc>
                <a:spcPct val="110000"/>
              </a:lnSpc>
              <a:buNone/>
            </a:pPr>
            <a:r>
              <a:rPr lang="ar-SA" sz="1200" b="1" i="0" dirty="0">
                <a:solidFill>
                  <a:srgbClr val="B9C0C8"/>
                </a:solidFill>
                <a:latin typeface="Tahoma"/>
                <a:ea typeface="Tahoma"/>
                <a:cs typeface="Tahoma"/>
              </a:rPr>
              <a:t>شكل (47)</a:t>
            </a:r>
          </a:p>
        </p:txBody>
      </p:sp>
      <p:sp>
        <p:nvSpPr>
          <p:cNvPr id="38" name="Card"/>
          <p:cNvSpPr/>
          <p:nvPr/>
        </p:nvSpPr>
        <p:spPr>
          <a:xfrm>
            <a:off x="7844465" y="1238250"/>
            <a:ext cx="7702697" cy="1979432"/>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918964" rtlCol="0" anchor="t">
            <a:noAutofit/>
          </a:bodyPr>
          <a:lstStyle/>
          <a:p>
            <a:pPr algn="r" rtl="1">
              <a:lnSpc>
                <a:spcPct val="118000"/>
              </a:lnSpc>
              <a:buNone/>
            </a:pPr>
            <a:r>
              <a:rPr lang="ar-SA" sz="2100" b="1" i="0" dirty="0">
                <a:solidFill>
                  <a:srgbClr val="F4F6F8"/>
                </a:solidFill>
                <a:latin typeface="Tahoma"/>
                <a:ea typeface="Tahoma"/>
                <a:cs typeface="Tahoma"/>
              </a:rPr>
              <a:t>يمكنك أيضًا حساب الانخفاض في درجة تجمد المحلول باستخدام المعادلة التالية:</a:t>
            </a:r>
          </a:p>
        </p:txBody>
      </p:sp>
      <p:sp>
        <p:nvSpPr>
          <p:cNvPr id="39" name="Card equation"/>
          <p:cNvSpPr txBox="1"/>
          <p:nvPr/>
        </p:nvSpPr>
        <p:spPr>
          <a:xfrm>
            <a:off x="8104372" y="2410600"/>
            <a:ext cx="7182883" cy="688019"/>
          </a:xfrm>
          <a:prstGeom prst="rect">
            <a:avLst/>
          </a:prstGeom>
          <a:noFill/>
          <a:ln>
            <a:noFill/>
          </a:ln>
        </p:spPr>
        <p:txBody>
          <a:bodyPr wrap="square" lIns="0" tIns="0" rIns="0" bIns="0" rtlCol="0" anchor="ctr">
            <a:noAutofit/>
          </a:bodyPr>
          <a:lstStyle/>
          <a:p>
            <a:pPr algn="ctr" rtl="0">
              <a:lnSpc>
                <a:spcPct val="110000"/>
              </a:lnSpc>
              <a:buNone/>
            </a:pPr>
            <a:r>
              <a:rPr lang="ar-SA" sz="3200" b="1" i="0" dirty="0">
                <a:solidFill>
                  <a:srgbClr val="E8A94E"/>
                </a:solidFill>
                <a:latin typeface="Tahoma"/>
                <a:ea typeface="Tahoma"/>
                <a:cs typeface="Tahoma"/>
              </a:rPr>
              <a:t>ΔT</a:t>
            </a:r>
            <a:r>
              <a:rPr lang="ar-SA" sz="3200" b="1" i="0" baseline="-25000" dirty="0">
                <a:solidFill>
                  <a:srgbClr val="E8A94E"/>
                </a:solidFill>
                <a:latin typeface="Tahoma"/>
                <a:ea typeface="Tahoma"/>
                <a:cs typeface="Tahoma"/>
              </a:rPr>
              <a:t>fp</a:t>
            </a:r>
            <a:r>
              <a:rPr lang="ar-SA" sz="3200" b="1" i="0" dirty="0">
                <a:solidFill>
                  <a:srgbClr val="E8A94E"/>
                </a:solidFill>
                <a:latin typeface="Tahoma"/>
                <a:ea typeface="Tahoma"/>
                <a:cs typeface="Tahoma"/>
              </a:rPr>
              <a:t> = K</a:t>
            </a:r>
            <a:r>
              <a:rPr lang="ar-SA" sz="3200" b="1" i="0" baseline="-25000" dirty="0">
                <a:solidFill>
                  <a:srgbClr val="E8A94E"/>
                </a:solidFill>
                <a:latin typeface="Tahoma"/>
                <a:ea typeface="Tahoma"/>
                <a:cs typeface="Tahoma"/>
              </a:rPr>
              <a:t>fp</a:t>
            </a:r>
            <a:r>
              <a:rPr lang="ar-SA" sz="3200" b="1" i="0" dirty="0">
                <a:solidFill>
                  <a:srgbClr val="E8A94E"/>
                </a:solidFill>
                <a:latin typeface="Tahoma"/>
                <a:ea typeface="Tahoma"/>
                <a:cs typeface="Tahoma"/>
              </a:rPr>
              <a:t> × m</a:t>
            </a:r>
          </a:p>
        </p:txBody>
      </p:sp>
      <p:sp>
        <p:nvSpPr>
          <p:cNvPr id="40" name="Card"/>
          <p:cNvSpPr/>
          <p:nvPr/>
        </p:nvSpPr>
        <p:spPr>
          <a:xfrm>
            <a:off x="7844465" y="3408182"/>
            <a:ext cx="7702697" cy="2089908"/>
          </a:xfrm>
          <a:prstGeom prst="roundRect">
            <a:avLst>
              <a:gd name="adj" fmla="val 7000"/>
            </a:avLst>
          </a:prstGeom>
          <a:solidFill>
            <a:srgbClr val="E8A94E">
              <a:alpha val="9000"/>
            </a:srgbClr>
          </a:solidFill>
          <a:ln w="12700" cap="rnd">
            <a:solidFill>
              <a:srgbClr val="E8A94E">
                <a:alpha val="45000"/>
              </a:srgbClr>
            </a:solidFill>
            <a:round/>
          </a:ln>
        </p:spPr>
        <p:txBody>
          <a:bodyPr wrap="square" lIns="259906" tIns="165395" rIns="259906" bIns="165395" rtlCol="0" anchor="t">
            <a:noAutofit/>
          </a:bodyPr>
          <a:lstStyle/>
          <a:p>
            <a:pPr algn="r" rtl="1">
              <a:lnSpc>
                <a:spcPct val="118000"/>
              </a:lnSpc>
              <a:buNone/>
            </a:pPr>
            <a:r>
              <a:rPr lang="ar-SA" sz="2100" b="1" i="0" dirty="0">
                <a:solidFill>
                  <a:srgbClr val="E8A94E"/>
                </a:solidFill>
                <a:latin typeface="Tahoma"/>
                <a:ea typeface="Tahoma"/>
                <a:cs typeface="Tahoma"/>
              </a:rPr>
              <a:t>تعريف ‪ΔT</a:t>
            </a:r>
            <a:r>
              <a:rPr lang="ar-SA" sz="2100" b="1" i="0" baseline="-25000" dirty="0">
                <a:solidFill>
                  <a:srgbClr val="E8A94E"/>
                </a:solidFill>
                <a:latin typeface="Tahoma"/>
                <a:ea typeface="Tahoma"/>
                <a:cs typeface="Tahoma"/>
              </a:rPr>
              <a:t>fp</a:t>
            </a:r>
            <a:r>
              <a:rPr lang="ar-SA" sz="2100" b="1" i="0" dirty="0">
                <a:solidFill>
                  <a:srgbClr val="E8A94E"/>
                </a:solidFill>
                <a:latin typeface="Tahoma"/>
                <a:ea typeface="Tahoma"/>
                <a:cs typeface="Tahoma"/>
              </a:rPr>
              <a:t>‬</a:t>
            </a:r>
            <a:endParaRPr lang="ar-SA" sz="2100" b="1" i="0" dirty="0">
              <a:solidFill>
                <a:srgbClr val="F4F6F8"/>
              </a:solidFill>
              <a:latin typeface="Tahoma"/>
              <a:ea typeface="Tahoma"/>
              <a:cs typeface="Tahoma"/>
            </a:endParaRPr>
          </a:p>
          <a:p>
            <a:pPr algn="r" rtl="1">
              <a:lnSpc>
                <a:spcPct val="118000"/>
              </a:lnSpc>
              <a:spcBef>
                <a:spcPts val="800"/>
              </a:spcBef>
              <a:buNone/>
            </a:pPr>
            <a:r>
              <a:rPr lang="ar-SA" sz="2100" b="1" i="0" dirty="0">
                <a:solidFill>
                  <a:srgbClr val="F4F6F8"/>
                </a:solidFill>
                <a:latin typeface="Tahoma"/>
                <a:ea typeface="Tahoma"/>
                <a:cs typeface="Tahoma"/>
              </a:rPr>
              <a:t>يمثّل التغيّر في درجة التجمد ‪(ΔT</a:t>
            </a:r>
            <a:r>
              <a:rPr lang="ar-SA" sz="2100" b="1" i="0" baseline="-25000" dirty="0">
                <a:solidFill>
                  <a:srgbClr val="F4F6F8"/>
                </a:solidFill>
                <a:latin typeface="Tahoma"/>
                <a:ea typeface="Tahoma"/>
                <a:cs typeface="Tahoma"/>
              </a:rPr>
              <a:t>fp</a:t>
            </a:r>
            <a:r>
              <a:rPr lang="ar-SA" sz="2100" b="1" i="0" dirty="0">
                <a:solidFill>
                  <a:srgbClr val="F4F6F8"/>
                </a:solidFill>
                <a:latin typeface="Tahoma"/>
                <a:ea typeface="Tahoma"/>
                <a:cs typeface="Tahoma"/>
              </a:rPr>
              <a:t>)‬ الانخفاض في درجة تجمد المذيب، ويساوي الفرق بين درجة تجمد المحلول ودرجة تجمد المذيب.</a:t>
            </a:r>
          </a:p>
        </p:txBody>
      </p:sp>
      <p:sp>
        <p:nvSpPr>
          <p:cNvPr id="41" name="Card"/>
          <p:cNvSpPr/>
          <p:nvPr/>
        </p:nvSpPr>
        <p:spPr>
          <a:xfrm>
            <a:off x="7844465" y="5688590"/>
            <a:ext cx="7702697" cy="836206"/>
          </a:xfrm>
          <a:prstGeom prst="roundRect">
            <a:avLst>
              <a:gd name="adj" fmla="val 7000"/>
            </a:avLst>
          </a:prstGeom>
          <a:solidFill>
            <a:srgbClr val="FFFFFF">
              <a:alpha val="6000"/>
            </a:srgbClr>
          </a:solidFill>
          <a:ln w="12700" cap="rnd">
            <a:solidFill>
              <a:srgbClr val="FFFFFF">
                <a:alpha val="24000"/>
              </a:srgbClr>
            </a:solidFill>
            <a:round/>
          </a:ln>
        </p:spPr>
        <p:txBody>
          <a:bodyPr wrap="square" lIns="259906" tIns="165395" rIns="259906" bIns="165395" rtlCol="0" anchor="t">
            <a:noAutofit/>
          </a:bodyPr>
          <a:lstStyle/>
          <a:p>
            <a:pPr algn="r" rtl="1">
              <a:lnSpc>
                <a:spcPct val="118000"/>
              </a:lnSpc>
              <a:buNone/>
            </a:pPr>
            <a:r>
              <a:rPr lang="ar-SA" sz="2100" b="1" i="0" dirty="0">
                <a:solidFill>
                  <a:srgbClr val="F4F6F8"/>
                </a:solidFill>
                <a:latin typeface="Tahoma"/>
                <a:ea typeface="Tahoma"/>
                <a:cs typeface="Tahoma"/>
              </a:rPr>
              <a:t>والمقدار (m) هو التركيز المولالي للمحلول.</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450"/>
                                        <p:tgtEl>
                                          <p:spTgt spid="1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fade">
                                      <p:cBhvr>
                                        <p:cTn id="29" dur="450"/>
                                        <p:tgtEl>
                                          <p:spTgt spid="18"/>
                                        </p:tgtEl>
                                      </p:cBhvr>
                                    </p:animEffect>
                                  </p:childTnLst>
                                </p:cTn>
                              </p:par>
                            </p:childTnLst>
                          </p:cTn>
                        </p:par>
                        <p:par>
                          <p:cTn id="30" fill="hold">
                            <p:stCondLst>
                              <p:cond delay="970"/>
                            </p:stCondLst>
                            <p:childTnLst>
                              <p:par>
                                <p:cTn id="31" presetID="22" presetClass="entr" presetSubtype="2" fill="hold" grpId="0" nodeType="after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right)">
                                      <p:cBhvr>
                                        <p:cTn id="33" dur="500"/>
                                        <p:tgtEl>
                                          <p:spTgt spid="2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childTnLst>
                          </p:cTn>
                        </p:par>
                        <p:par>
                          <p:cTn id="37" fill="hold">
                            <p:stCondLst>
                              <p:cond delay="1530"/>
                            </p:stCondLst>
                            <p:childTnLst>
                              <p:par>
                                <p:cTn id="38" presetID="22" presetClass="entr" presetSubtype="2" fill="hold" grpId="0" nodeType="after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wipe(right)">
                                      <p:cBhvr>
                                        <p:cTn id="40" dur="650"/>
                                        <p:tgtEl>
                                          <p:spTgt spid="1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650"/>
                                        <p:tgtEl>
                                          <p:spTgt spid="22"/>
                                        </p:tgtEl>
                                      </p:cBhvr>
                                    </p:animEffect>
                                  </p:childTnLst>
                                </p:cTn>
                              </p:par>
                            </p:childTnLst>
                          </p:cTn>
                        </p:par>
                        <p:par>
                          <p:cTn id="44" fill="hold">
                            <p:stCondLst>
                              <p:cond delay="2240"/>
                            </p:stCondLst>
                            <p:childTnLst>
                              <p:par>
                                <p:cTn id="45" presetID="22" presetClass="entr" presetSubtype="2" fill="hold" grpId="0"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right)">
                                      <p:cBhvr>
                                        <p:cTn id="47" dur="65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650"/>
                                        <p:tgtEl>
                                          <p:spTgt spid="23"/>
                                        </p:tgtEl>
                                      </p:cBhvr>
                                    </p:animEffect>
                                  </p:childTnLst>
                                </p:cTn>
                              </p:par>
                            </p:childTnLst>
                          </p:cTn>
                        </p:par>
                        <p:par>
                          <p:cTn id="51" fill="hold">
                            <p:stCondLst>
                              <p:cond delay="2950"/>
                            </p:stCondLst>
                            <p:childTnLst>
                              <p:par>
                                <p:cTn id="52" presetID="10" presetClass="entr" presetSubtype="0" fill="hold" grpId="0" nodeType="after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450"/>
                                        <p:tgtEl>
                                          <p:spTgt spid="2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450"/>
                                        <p:tgtEl>
                                          <p:spTgt spid="2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450"/>
                                        <p:tgtEl>
                                          <p:spTgt spid="2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450"/>
                                        <p:tgtEl>
                                          <p:spTgt spid="28"/>
                                        </p:tgtEl>
                                      </p:cBhvr>
                                    </p:animEffect>
                                  </p:childTnLst>
                                </p:cTn>
                              </p:par>
                            </p:childTnLst>
                          </p:cTn>
                        </p:par>
                        <p:par>
                          <p:cTn id="64" fill="hold">
                            <p:stCondLst>
                              <p:cond delay="3460"/>
                            </p:stCondLst>
                            <p:childTnLst>
                              <p:par>
                                <p:cTn id="65" presetID="10" presetClass="entr" presetSubtype="0" fill="hold" grpId="0" nodeType="after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fade">
                                      <p:cBhvr>
                                        <p:cTn id="67" dur="450"/>
                                        <p:tgtEl>
                                          <p:spTgt spid="33"/>
                                        </p:tgtEl>
                                      </p:cBhvr>
                                    </p:animEffect>
                                  </p:childTnLst>
                                </p:cTn>
                              </p:par>
                              <p:par>
                                <p:cTn id="68" presetID="53" presetClass="entr" presetSubtype="16" fill="hold" grpId="0" nodeType="with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fade">
                                      <p:cBhvr>
                                        <p:cTn id="70" dur="450"/>
                                        <p:tgtEl>
                                          <p:spTgt spid="34"/>
                                        </p:tgtEl>
                                      </p:cBhvr>
                                    </p:animEffect>
                                    <p:anim calcmode="lin" valueType="num">
                                      <p:cBhvr>
                                        <p:cTn id="71" dur="450" fill="hold"/>
                                        <p:tgtEl>
                                          <p:spTgt spid="34"/>
                                        </p:tgtEl>
                                        <p:attrNameLst>
                                          <p:attrName>ppt_w</p:attrName>
                                        </p:attrNameLst>
                                      </p:cBhvr>
                                      <p:tavLst>
                                        <p:tav tm="0">
                                          <p:val>
                                            <p:strVal val="0"/>
                                          </p:val>
                                        </p:tav>
                                        <p:tav tm="100000">
                                          <p:val>
                                            <p:strVal val="#ppt_w"/>
                                          </p:val>
                                        </p:tav>
                                      </p:tavLst>
                                    </p:anim>
                                    <p:anim calcmode="lin" valueType="num">
                                      <p:cBhvr>
                                        <p:cTn id="72" dur="450" fill="hold"/>
                                        <p:tgtEl>
                                          <p:spTgt spid="34"/>
                                        </p:tgtEl>
                                        <p:attrNameLst>
                                          <p:attrName>ppt_h</p:attrName>
                                        </p:attrNameLst>
                                      </p:cBhvr>
                                      <p:tavLst>
                                        <p:tav tm="0">
                                          <p:val>
                                            <p:strVal val="0"/>
                                          </p:val>
                                        </p:tav>
                                        <p:tav tm="100000">
                                          <p:val>
                                            <p:strVal val="#ppt_h"/>
                                          </p:val>
                                        </p:tav>
                                      </p:tavLst>
                                    </p:anim>
                                  </p:childTnLst>
                                </p:cTn>
                              </p:par>
                              <p:par>
                                <p:cTn id="73" presetID="10" presetClass="entr" presetSubtype="0" fill="hold" grpId="0" nodeType="withEffect">
                                  <p:stCondLst>
                                    <p:cond delay="0"/>
                                  </p:stCondLst>
                                  <p:childTnLst>
                                    <p:set>
                                      <p:cBhvr>
                                        <p:cTn id="74" dur="1" fill="hold">
                                          <p:stCondLst>
                                            <p:cond delay="0"/>
                                          </p:stCondLst>
                                        </p:cTn>
                                        <p:tgtEl>
                                          <p:spTgt spid="35"/>
                                        </p:tgtEl>
                                        <p:attrNameLst>
                                          <p:attrName>style.visibility</p:attrName>
                                        </p:attrNameLst>
                                      </p:cBhvr>
                                      <p:to>
                                        <p:strVal val="visible"/>
                                      </p:to>
                                    </p:set>
                                    <p:animEffect transition="in" filter="fade">
                                      <p:cBhvr>
                                        <p:cTn id="75" dur="450"/>
                                        <p:tgtEl>
                                          <p:spTgt spid="3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6"/>
                                        </p:tgtEl>
                                        <p:attrNameLst>
                                          <p:attrName>style.visibility</p:attrName>
                                        </p:attrNameLst>
                                      </p:cBhvr>
                                      <p:to>
                                        <p:strVal val="visible"/>
                                      </p:to>
                                    </p:set>
                                    <p:animEffect transition="in" filter="fade">
                                      <p:cBhvr>
                                        <p:cTn id="78" dur="450"/>
                                        <p:tgtEl>
                                          <p:spTgt spid="36"/>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fade">
                                      <p:cBhvr>
                                        <p:cTn id="83" dur="450"/>
                                        <p:tgtEl>
                                          <p:spTgt spid="29"/>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30"/>
                                        </p:tgtEl>
                                        <p:attrNameLst>
                                          <p:attrName>style.visibility</p:attrName>
                                        </p:attrNameLst>
                                      </p:cBhvr>
                                      <p:to>
                                        <p:strVal val="visible"/>
                                      </p:to>
                                    </p:set>
                                    <p:animEffect transition="in" filter="fade">
                                      <p:cBhvr>
                                        <p:cTn id="86" dur="450"/>
                                        <p:tgtEl>
                                          <p:spTgt spid="30"/>
                                        </p:tgtEl>
                                      </p:cBhvr>
                                    </p:animEffect>
                                    <p:anim calcmode="lin" valueType="num">
                                      <p:cBhvr>
                                        <p:cTn id="87" dur="450" fill="hold"/>
                                        <p:tgtEl>
                                          <p:spTgt spid="30"/>
                                        </p:tgtEl>
                                        <p:attrNameLst>
                                          <p:attrName>ppt_w</p:attrName>
                                        </p:attrNameLst>
                                      </p:cBhvr>
                                      <p:tavLst>
                                        <p:tav tm="0">
                                          <p:val>
                                            <p:strVal val="0"/>
                                          </p:val>
                                        </p:tav>
                                        <p:tav tm="100000">
                                          <p:val>
                                            <p:strVal val="#ppt_w"/>
                                          </p:val>
                                        </p:tav>
                                      </p:tavLst>
                                    </p:anim>
                                    <p:anim calcmode="lin" valueType="num">
                                      <p:cBhvr>
                                        <p:cTn id="88" dur="450" fill="hold"/>
                                        <p:tgtEl>
                                          <p:spTgt spid="30"/>
                                        </p:tgtEl>
                                        <p:attrNameLst>
                                          <p:attrName>ppt_h</p:attrName>
                                        </p:attrNameLst>
                                      </p:cBhvr>
                                      <p:tavLst>
                                        <p:tav tm="0">
                                          <p:val>
                                            <p:strVal val="0"/>
                                          </p:val>
                                        </p:tav>
                                        <p:tav tm="100000">
                                          <p:val>
                                            <p:strVal val="#ppt_h"/>
                                          </p:val>
                                        </p:tav>
                                      </p:tavLst>
                                    </p:anim>
                                  </p:childTnLst>
                                </p:cTn>
                              </p:par>
                              <p:par>
                                <p:cTn id="89" presetID="10" presetClass="entr" presetSubtype="0" fill="hold" grpId="0" nodeType="with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450"/>
                                        <p:tgtEl>
                                          <p:spTgt spid="31"/>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2"/>
                                        </p:tgtEl>
                                        <p:attrNameLst>
                                          <p:attrName>style.visibility</p:attrName>
                                        </p:attrNameLst>
                                      </p:cBhvr>
                                      <p:to>
                                        <p:strVal val="visible"/>
                                      </p:to>
                                    </p:set>
                                    <p:animEffect transition="in" filter="fade">
                                      <p:cBhvr>
                                        <p:cTn id="94" dur="450"/>
                                        <p:tgtEl>
                                          <p:spTgt spid="32"/>
                                        </p:tgtEl>
                                      </p:cBhvr>
                                    </p:animEffect>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grpId="0" nodeType="clickEffect">
                                  <p:stCondLst>
                                    <p:cond delay="0"/>
                                  </p:stCondLst>
                                  <p:childTnLst>
                                    <p:set>
                                      <p:cBhvr>
                                        <p:cTn id="98" dur="1" fill="hold">
                                          <p:stCondLst>
                                            <p:cond delay="0"/>
                                          </p:stCondLst>
                                        </p:cTn>
                                        <p:tgtEl>
                                          <p:spTgt spid="38"/>
                                        </p:tgtEl>
                                        <p:attrNameLst>
                                          <p:attrName>style.visibility</p:attrName>
                                        </p:attrNameLst>
                                      </p:cBhvr>
                                      <p:to>
                                        <p:strVal val="visible"/>
                                      </p:to>
                                    </p:set>
                                    <p:animEffect transition="in" filter="fade">
                                      <p:cBhvr>
                                        <p:cTn id="99" dur="500"/>
                                        <p:tgtEl>
                                          <p:spTgt spid="38"/>
                                        </p:tgtEl>
                                      </p:cBhvr>
                                    </p:animEffect>
                                    <p:anim calcmode="lin" valueType="num">
                                      <p:cBhvr>
                                        <p:cTn id="100" dur="500" fill="hold"/>
                                        <p:tgtEl>
                                          <p:spTgt spid="38"/>
                                        </p:tgtEl>
                                        <p:attrNameLst>
                                          <p:attrName>ppt_x</p:attrName>
                                        </p:attrNameLst>
                                      </p:cBhvr>
                                      <p:tavLst>
                                        <p:tav tm="0">
                                          <p:val>
                                            <p:strVal val="#ppt_x"/>
                                          </p:val>
                                        </p:tav>
                                        <p:tav tm="100000">
                                          <p:val>
                                            <p:strVal val="#ppt_x"/>
                                          </p:val>
                                        </p:tav>
                                      </p:tavLst>
                                    </p:anim>
                                    <p:anim calcmode="lin" valueType="num">
                                      <p:cBhvr>
                                        <p:cTn id="101" dur="500" fill="hold"/>
                                        <p:tgtEl>
                                          <p:spTgt spid="38"/>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4" dur="500"/>
                                        <p:tgtEl>
                                          <p:spTgt spid="39"/>
                                        </p:tgtEl>
                                      </p:cBhvr>
                                    </p:animEffect>
                                    <p:anim calcmode="lin" valueType="num">
                                      <p:cBhvr>
                                        <p:cTn id="105" dur="500" fill="hold"/>
                                        <p:tgtEl>
                                          <p:spTgt spid="39"/>
                                        </p:tgtEl>
                                        <p:attrNameLst>
                                          <p:attrName>ppt_x</p:attrName>
                                        </p:attrNameLst>
                                      </p:cBhvr>
                                      <p:tavLst>
                                        <p:tav tm="0">
                                          <p:val>
                                            <p:strVal val="#ppt_x"/>
                                          </p:val>
                                        </p:tav>
                                        <p:tav tm="100000">
                                          <p:val>
                                            <p:strVal val="#ppt_x"/>
                                          </p:val>
                                        </p:tav>
                                      </p:tavLst>
                                    </p:anim>
                                    <p:anim calcmode="lin" valueType="num">
                                      <p:cBhvr>
                                        <p:cTn id="106" dur="500" fill="hold"/>
                                        <p:tgtEl>
                                          <p:spTgt spid="39"/>
                                        </p:tgtEl>
                                        <p:attrNameLst>
                                          <p:attrName>ppt_y</p:attrName>
                                        </p:attrNameLst>
                                      </p:cBhvr>
                                      <p:tavLst>
                                        <p:tav tm="0">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40"/>
                                        </p:tgtEl>
                                        <p:attrNameLst>
                                          <p:attrName>style.visibility</p:attrName>
                                        </p:attrNameLst>
                                      </p:cBhvr>
                                      <p:to>
                                        <p:strVal val="visible"/>
                                      </p:to>
                                    </p:set>
                                    <p:animEffect transition="in" filter="fade">
                                      <p:cBhvr>
                                        <p:cTn id="111" dur="500"/>
                                        <p:tgtEl>
                                          <p:spTgt spid="40"/>
                                        </p:tgtEl>
                                      </p:cBhvr>
                                    </p:animEffect>
                                    <p:anim calcmode="lin" valueType="num">
                                      <p:cBhvr>
                                        <p:cTn id="112" dur="500" fill="hold"/>
                                        <p:tgtEl>
                                          <p:spTgt spid="40"/>
                                        </p:tgtEl>
                                        <p:attrNameLst>
                                          <p:attrName>ppt_x</p:attrName>
                                        </p:attrNameLst>
                                      </p:cBhvr>
                                      <p:tavLst>
                                        <p:tav tm="0">
                                          <p:val>
                                            <p:strVal val="#ppt_x"/>
                                          </p:val>
                                        </p:tav>
                                        <p:tav tm="100000">
                                          <p:val>
                                            <p:strVal val="#ppt_x"/>
                                          </p:val>
                                        </p:tav>
                                      </p:tavLst>
                                    </p:anim>
                                    <p:anim calcmode="lin" valueType="num">
                                      <p:cBhvr>
                                        <p:cTn id="113" dur="5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42" presetClass="entr" presetSubtype="0" fill="hold" grpId="0" nodeType="clickEffect">
                                  <p:stCondLst>
                                    <p:cond delay="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500"/>
                                        <p:tgtEl>
                                          <p:spTgt spid="41"/>
                                        </p:tgtEl>
                                      </p:cBhvr>
                                    </p:animEffect>
                                    <p:anim calcmode="lin" valueType="num">
                                      <p:cBhvr>
                                        <p:cTn id="119" dur="500" fill="hold"/>
                                        <p:tgtEl>
                                          <p:spTgt spid="41"/>
                                        </p:tgtEl>
                                        <p:attrNameLst>
                                          <p:attrName>ppt_x</p:attrName>
                                        </p:attrNameLst>
                                      </p:cBhvr>
                                      <p:tavLst>
                                        <p:tav tm="0">
                                          <p:val>
                                            <p:strVal val="#ppt_x"/>
                                          </p:val>
                                        </p:tav>
                                        <p:tav tm="100000">
                                          <p:val>
                                            <p:strVal val="#ppt_x"/>
                                          </p:val>
                                        </p:tav>
                                      </p:tavLst>
                                    </p:anim>
                                    <p:anim calcmode="lin" valueType="num">
                                      <p:cBhvr>
                                        <p:cTn id="120" dur="5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8" grpId="0" animBg="1"/>
      <p:bldP spid="39" grpId="0" animBg="1"/>
      <p:bldP spid="40" grpId="0" animBg="1"/>
      <p:bldP spid="4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F4F6F8"/>
                </a:solidFill>
                <a:latin typeface="Tahoma"/>
                <a:ea typeface="Tahoma"/>
                <a:cs typeface="Tahoma"/>
              </a:rPr>
              <a:t>ثابت التجمد المولالي ‪K</a:t>
            </a:r>
            <a:r>
              <a:rPr lang="ar-SA" sz="3400" b="1" i="0" baseline="-25000" dirty="0">
                <a:solidFill>
                  <a:srgbClr val="F4F6F8"/>
                </a:solidFill>
                <a:latin typeface="Tahoma"/>
                <a:ea typeface="Tahoma"/>
                <a:cs typeface="Tahoma"/>
              </a:rPr>
              <a:t>fp</a:t>
            </a:r>
            <a:r>
              <a:rPr lang="ar-SA" sz="3400" b="1" i="0" dirty="0">
                <a:solidFill>
                  <a:srgbClr val="F4F6F8"/>
                </a:solidFill>
                <a:latin typeface="Tahoma"/>
                <a:ea typeface="Tahoma"/>
                <a:cs typeface="Tahoma"/>
              </a:rPr>
              <a:t>‬</a:t>
            </a:r>
          </a:p>
        </p:txBody>
      </p:sp>
      <p:sp>
        <p:nvSpPr>
          <p:cNvPr id="12" name="Chip"/>
          <p:cNvSpPr/>
          <p:nvPr/>
        </p:nvSpPr>
        <p:spPr>
          <a:xfrm>
            <a:off x="708837" y="452437"/>
            <a:ext cx="2480930" cy="404812"/>
          </a:xfrm>
          <a:prstGeom prst="roundRect">
            <a:avLst>
              <a:gd name="adj" fmla="val 50000"/>
            </a:avLst>
          </a:prstGeom>
          <a:solidFill>
            <a:srgbClr val="E8A94E">
              <a:alpha val="12000"/>
            </a:srgbClr>
          </a:solidFill>
          <a:ln w="12700" cap="rnd">
            <a:solidFill>
              <a:srgbClr val="E8A94E">
                <a:alpha val="70000"/>
              </a:srgbClr>
            </a:solidFill>
            <a:round/>
          </a:ln>
        </p:spPr>
        <p:txBody>
          <a:bodyPr wrap="square" lIns="0" tIns="0" rIns="0" bIns="0" rtlCol="0" anchor="ctr">
            <a:noAutofit/>
          </a:bodyPr>
          <a:lstStyle/>
          <a:p>
            <a:pPr algn="ctr" rtl="1">
              <a:lnSpc>
                <a:spcPct val="110000"/>
              </a:lnSpc>
              <a:buNone/>
            </a:pPr>
            <a:r>
              <a:rPr lang="ar-SA" sz="1400" b="1" i="0" dirty="0">
                <a:solidFill>
                  <a:srgbClr val="E8A94E"/>
                </a:solidFill>
                <a:latin typeface="Tahoma"/>
                <a:ea typeface="Tahoma"/>
                <a:cs typeface="Tahoma"/>
              </a:rPr>
              <a:t>الحصة الثالثة</a:t>
            </a:r>
          </a:p>
        </p:txBody>
      </p:sp>
      <p:sp>
        <p:nvSpPr>
          <p:cNvPr id="13" name="Equation"/>
          <p:cNvSpPr/>
          <p:nvPr/>
        </p:nvSpPr>
        <p:spPr>
          <a:xfrm>
            <a:off x="4534527" y="1428750"/>
            <a:ext cx="7186944" cy="1059135"/>
          </a:xfrm>
          <a:prstGeom prst="roundRect">
            <a:avLst>
              <a:gd name="adj" fmla="val 18000"/>
            </a:avLst>
          </a:prstGeom>
          <a:solidFill>
            <a:srgbClr val="E8A94E">
              <a:alpha val="10000"/>
            </a:srgbClr>
          </a:solidFill>
          <a:ln w="22225" cap="rnd">
            <a:solidFill>
              <a:srgbClr val="E8A94E">
                <a:alpha val="85000"/>
              </a:srgbClr>
            </a:solidFill>
            <a:round/>
          </a:ln>
        </p:spPr>
        <p:txBody>
          <a:bodyPr wrap="square" lIns="0" tIns="0" rIns="0" bIns="0" rtlCol="0" anchor="ctr">
            <a:noAutofit/>
          </a:bodyPr>
          <a:lstStyle/>
          <a:p>
            <a:pPr algn="ctr" rtl="0">
              <a:lnSpc>
                <a:spcPct val="110000"/>
              </a:lnSpc>
              <a:buNone/>
            </a:pPr>
            <a:r>
              <a:rPr lang="ar-SA" sz="4400" b="1" i="0" dirty="0">
                <a:solidFill>
                  <a:srgbClr val="E8A94E"/>
                </a:solidFill>
                <a:latin typeface="Tahoma"/>
                <a:ea typeface="Tahoma"/>
                <a:cs typeface="Tahoma"/>
              </a:rPr>
              <a:t>ΔT</a:t>
            </a:r>
            <a:r>
              <a:rPr lang="ar-SA" sz="4400" b="1" i="0" baseline="-25000" dirty="0">
                <a:solidFill>
                  <a:srgbClr val="E8A94E"/>
                </a:solidFill>
                <a:latin typeface="Tahoma"/>
                <a:ea typeface="Tahoma"/>
                <a:cs typeface="Tahoma"/>
              </a:rPr>
              <a:t>fp</a:t>
            </a:r>
            <a:r>
              <a:rPr lang="ar-SA" sz="4400" b="1" i="0" dirty="0">
                <a:solidFill>
                  <a:srgbClr val="E8A94E"/>
                </a:solidFill>
                <a:latin typeface="Tahoma"/>
                <a:ea typeface="Tahoma"/>
                <a:cs typeface="Tahoma"/>
              </a:rPr>
              <a:t> = K</a:t>
            </a:r>
            <a:r>
              <a:rPr lang="ar-SA" sz="4400" b="1" i="0" baseline="-25000" dirty="0">
                <a:solidFill>
                  <a:srgbClr val="E8A94E"/>
                </a:solidFill>
                <a:latin typeface="Tahoma"/>
                <a:ea typeface="Tahoma"/>
                <a:cs typeface="Tahoma"/>
              </a:rPr>
              <a:t>fp</a:t>
            </a:r>
            <a:r>
              <a:rPr lang="ar-SA" sz="4400" b="1" i="0" dirty="0">
                <a:solidFill>
                  <a:srgbClr val="E8A94E"/>
                </a:solidFill>
                <a:latin typeface="Tahoma"/>
                <a:ea typeface="Tahoma"/>
                <a:cs typeface="Tahoma"/>
              </a:rPr>
              <a:t> × m</a:t>
            </a:r>
          </a:p>
        </p:txBody>
      </p:sp>
      <p:sp>
        <p:nvSpPr>
          <p:cNvPr id="14" name="Definition card"/>
          <p:cNvSpPr/>
          <p:nvPr/>
        </p:nvSpPr>
        <p:spPr>
          <a:xfrm>
            <a:off x="708837" y="2845073"/>
            <a:ext cx="14838325" cy="2951567"/>
          </a:xfrm>
          <a:prstGeom prst="roundRect">
            <a:avLst>
              <a:gd name="adj" fmla="val 6000"/>
            </a:avLst>
          </a:prstGeom>
          <a:solidFill>
            <a:srgbClr val="E8A94E">
              <a:alpha val="7000"/>
            </a:srgbClr>
          </a:solidFill>
          <a:ln w="15875" cap="rnd">
            <a:solidFill>
              <a:srgbClr val="E8A94E">
                <a:alpha val="60000"/>
              </a:srgbClr>
            </a:solidFill>
            <a:round/>
          </a:ln>
        </p:spPr>
        <p:txBody>
          <a:bodyPr rtlCol="0" anchor="ctr"/>
          <a:lstStyle/>
          <a:p>
            <a:endParaRPr lang="ar-SA"/>
          </a:p>
        </p:txBody>
      </p:sp>
      <p:sp>
        <p:nvSpPr>
          <p:cNvPr id="15" name="Symbol"/>
          <p:cNvSpPr/>
          <p:nvPr/>
        </p:nvSpPr>
        <p:spPr>
          <a:xfrm>
            <a:off x="13231627" y="3083198"/>
            <a:ext cx="2008372" cy="976312"/>
          </a:xfrm>
          <a:prstGeom prst="roundRect">
            <a:avLst>
              <a:gd name="adj" fmla="val 22000"/>
            </a:avLst>
          </a:prstGeom>
          <a:solidFill>
            <a:srgbClr val="E8A94E"/>
          </a:solidFill>
          <a:ln>
            <a:noFill/>
          </a:ln>
        </p:spPr>
        <p:txBody>
          <a:bodyPr wrap="square" lIns="0" tIns="0" rIns="0" bIns="0" rtlCol="0" anchor="ctr">
            <a:noAutofit/>
          </a:bodyPr>
          <a:lstStyle/>
          <a:p>
            <a:pPr algn="ctr" rtl="0">
              <a:lnSpc>
                <a:spcPct val="110000"/>
              </a:lnSpc>
              <a:buNone/>
            </a:pPr>
            <a:r>
              <a:rPr lang="ar-SA" sz="4000" b="1" i="0" dirty="0">
                <a:solidFill>
                  <a:srgbClr val="1A1D22"/>
                </a:solidFill>
                <a:latin typeface="Tahoma"/>
                <a:ea typeface="Tahoma"/>
                <a:cs typeface="Tahoma"/>
              </a:rPr>
              <a:t>K</a:t>
            </a:r>
            <a:r>
              <a:rPr lang="ar-SA" sz="4000" b="1" i="0" baseline="-25000" dirty="0">
                <a:solidFill>
                  <a:srgbClr val="1A1D22"/>
                </a:solidFill>
                <a:latin typeface="Tahoma"/>
                <a:ea typeface="Tahoma"/>
                <a:cs typeface="Tahoma"/>
              </a:rPr>
              <a:t>fp</a:t>
            </a:r>
            <a:endParaRPr lang="ar-SA" sz="4000" b="1" i="0" dirty="0">
              <a:solidFill>
                <a:srgbClr val="1A1D22"/>
              </a:solidFill>
              <a:latin typeface="Tahoma"/>
              <a:ea typeface="Tahoma"/>
              <a:cs typeface="Tahoma"/>
            </a:endParaRPr>
          </a:p>
        </p:txBody>
      </p:sp>
      <p:sp>
        <p:nvSpPr>
          <p:cNvPr id="16" name="Name"/>
          <p:cNvSpPr txBox="1"/>
          <p:nvPr/>
        </p:nvSpPr>
        <p:spPr>
          <a:xfrm>
            <a:off x="1016000" y="3083198"/>
            <a:ext cx="11932093" cy="523875"/>
          </a:xfrm>
          <a:prstGeom prst="rect">
            <a:avLst/>
          </a:prstGeom>
          <a:noFill/>
          <a:ln>
            <a:noFill/>
          </a:ln>
        </p:spPr>
        <p:txBody>
          <a:bodyPr wrap="square" lIns="0" tIns="0" rIns="0" bIns="0" rtlCol="0" anchor="ctr">
            <a:noAutofit/>
          </a:bodyPr>
          <a:lstStyle/>
          <a:p>
            <a:pPr algn="r" rtl="1">
              <a:lnSpc>
                <a:spcPct val="110000"/>
              </a:lnSpc>
              <a:buNone/>
            </a:pPr>
            <a:r>
              <a:rPr lang="ar-SA" sz="3000" b="1" i="0" dirty="0">
                <a:solidFill>
                  <a:srgbClr val="F4F6F8"/>
                </a:solidFill>
                <a:latin typeface="Tahoma"/>
                <a:ea typeface="Tahoma"/>
                <a:cs typeface="Tahoma"/>
              </a:rPr>
              <a:t>ثابت التجمد المولالي (الجزيئي)</a:t>
            </a:r>
          </a:p>
        </p:txBody>
      </p:sp>
      <p:sp>
        <p:nvSpPr>
          <p:cNvPr id="17" name="English name"/>
          <p:cNvSpPr txBox="1"/>
          <p:nvPr/>
        </p:nvSpPr>
        <p:spPr>
          <a:xfrm>
            <a:off x="1016000" y="3607073"/>
            <a:ext cx="11932093" cy="452437"/>
          </a:xfrm>
          <a:prstGeom prst="rect">
            <a:avLst/>
          </a:prstGeom>
          <a:noFill/>
          <a:ln>
            <a:noFill/>
          </a:ln>
        </p:spPr>
        <p:txBody>
          <a:bodyPr wrap="square" lIns="0" tIns="0" rIns="0" bIns="0" rtlCol="0" anchor="ctr">
            <a:noAutofit/>
          </a:bodyPr>
          <a:lstStyle/>
          <a:p>
            <a:pPr algn="r" rtl="0">
              <a:lnSpc>
                <a:spcPct val="110000"/>
              </a:lnSpc>
              <a:buNone/>
            </a:pPr>
            <a:r>
              <a:rPr lang="ar-SA" sz="1800" b="1" i="0" dirty="0">
                <a:solidFill>
                  <a:srgbClr val="B9C0C8"/>
                </a:solidFill>
                <a:latin typeface="Tahoma"/>
                <a:ea typeface="Tahoma"/>
                <a:cs typeface="Tahoma"/>
              </a:rPr>
              <a:t>Molal Freezing-Point Depression Constant</a:t>
            </a:r>
          </a:p>
        </p:txBody>
      </p:sp>
      <p:sp>
        <p:nvSpPr>
          <p:cNvPr id="18" name="Definition"/>
          <p:cNvSpPr txBox="1"/>
          <p:nvPr/>
        </p:nvSpPr>
        <p:spPr>
          <a:xfrm>
            <a:off x="1016000" y="4297635"/>
            <a:ext cx="14224000" cy="498880"/>
          </a:xfrm>
          <a:prstGeom prst="rect">
            <a:avLst/>
          </a:prstGeom>
          <a:noFill/>
          <a:ln>
            <a:noFill/>
          </a:ln>
        </p:spPr>
        <p:txBody>
          <a:bodyPr wrap="square" lIns="0" tIns="0" rIns="0" bIns="0" rtlCol="0" anchor="t">
            <a:noAutofit/>
          </a:bodyPr>
          <a:lstStyle/>
          <a:p>
            <a:pPr algn="r" rtl="1">
              <a:lnSpc>
                <a:spcPct val="120000"/>
              </a:lnSpc>
              <a:buNone/>
            </a:pPr>
            <a:r>
              <a:rPr lang="ar-SA" sz="2300" b="1" i="0" dirty="0">
                <a:solidFill>
                  <a:srgbClr val="E8A94E"/>
                </a:solidFill>
                <a:latin typeface="Tahoma"/>
                <a:ea typeface="Tahoma"/>
                <a:cs typeface="Tahoma"/>
              </a:rPr>
              <a:t>التعريف:</a:t>
            </a:r>
            <a:r>
              <a:rPr lang="ar-SA" sz="2300" b="1" i="0" dirty="0">
                <a:solidFill>
                  <a:srgbClr val="F4F6F8"/>
                </a:solidFill>
                <a:latin typeface="Tahoma"/>
                <a:ea typeface="Tahoma"/>
                <a:cs typeface="Tahoma"/>
              </a:rPr>
              <a:t> يساوي التغيّر في درجة تجمد محلول تركيزه مولالي واحد لمذاب جزيئي وغير متطاير.</a:t>
            </a:r>
          </a:p>
        </p:txBody>
      </p:sp>
      <p:sp>
        <p:nvSpPr>
          <p:cNvPr id="19" name="Property 1"/>
          <p:cNvSpPr/>
          <p:nvPr/>
        </p:nvSpPr>
        <p:spPr>
          <a:xfrm>
            <a:off x="13017684" y="4939391"/>
            <a:ext cx="2222315" cy="547687"/>
          </a:xfrm>
          <a:prstGeom prst="roundRect">
            <a:avLst>
              <a:gd name="adj" fmla="val 50000"/>
            </a:avLst>
          </a:prstGeom>
          <a:solidFill>
            <a:srgbClr val="E8A94E">
              <a:alpha val="12000"/>
            </a:srgbClr>
          </a:solidFill>
          <a:ln w="12700" cap="rnd">
            <a:solidFill>
              <a:srgbClr val="E8A94E">
                <a:alpha val="80000"/>
              </a:srgbClr>
            </a:solidFill>
            <a:round/>
          </a:ln>
        </p:spPr>
        <p:txBody>
          <a:bodyPr wrap="square" lIns="0" tIns="0" rIns="0" bIns="0" rtlCol="0" anchor="ctr">
            <a:noAutofit/>
          </a:bodyPr>
          <a:lstStyle/>
          <a:p>
            <a:pPr algn="ctr" rtl="1">
              <a:lnSpc>
                <a:spcPct val="110000"/>
              </a:lnSpc>
              <a:buNone/>
            </a:pPr>
            <a:r>
              <a:rPr lang="ar-SA" sz="2000" b="1" i="0" dirty="0">
                <a:solidFill>
                  <a:srgbClr val="E8A94E"/>
                </a:solidFill>
                <a:latin typeface="Tahoma"/>
                <a:ea typeface="Tahoma"/>
                <a:cs typeface="Tahoma"/>
              </a:rPr>
              <a:t>وحدته: ‪°C/m‬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53" presetClass="entr" presetSubtype="16"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550"/>
                                        <p:tgtEl>
                                          <p:spTgt spid="13"/>
                                        </p:tgtEl>
                                      </p:cBhvr>
                                    </p:animEffect>
                                    <p:anim calcmode="lin" valueType="num">
                                      <p:cBhvr>
                                        <p:cTn id="15" dur="550" fill="hold"/>
                                        <p:tgtEl>
                                          <p:spTgt spid="13"/>
                                        </p:tgtEl>
                                        <p:attrNameLst>
                                          <p:attrName>ppt_w</p:attrName>
                                        </p:attrNameLst>
                                      </p:cBhvr>
                                      <p:tavLst>
                                        <p:tav tm="0">
                                          <p:val>
                                            <p:strVal val="0"/>
                                          </p:val>
                                        </p:tav>
                                        <p:tav tm="100000">
                                          <p:val>
                                            <p:strVal val="#ppt_w"/>
                                          </p:val>
                                        </p:tav>
                                      </p:tavLst>
                                    </p:anim>
                                    <p:anim calcmode="lin" valueType="num">
                                      <p:cBhvr>
                                        <p:cTn id="16" dur="550" fill="hold"/>
                                        <p:tgtEl>
                                          <p:spTgt spid="13"/>
                                        </p:tgtEl>
                                        <p:attrNameLst>
                                          <p:attrName>ppt_h</p:attrName>
                                        </p:attrNameLst>
                                      </p:cBhvr>
                                      <p:tavLst>
                                        <p:tav tm="0">
                                          <p:val>
                                            <p:strVal val="0"/>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anim calcmode="lin" valueType="num">
                                      <p:cBhvr>
                                        <p:cTn id="25" dur="500" fill="hold"/>
                                        <p:tgtEl>
                                          <p:spTgt spid="15"/>
                                        </p:tgtEl>
                                        <p:attrNameLst>
                                          <p:attrName>ppt_w</p:attrName>
                                        </p:attrNameLst>
                                      </p:cBhvr>
                                      <p:tavLst>
                                        <p:tav tm="0">
                                          <p:val>
                                            <p:strVal val="0"/>
                                          </p:val>
                                        </p:tav>
                                        <p:tav tm="100000">
                                          <p:val>
                                            <p:strVal val="#ppt_w"/>
                                          </p:val>
                                        </p:tav>
                                      </p:tavLst>
                                    </p:anim>
                                    <p:anim calcmode="lin" valueType="num">
                                      <p:cBhvr>
                                        <p:cTn id="26" dur="500" fill="hold"/>
                                        <p:tgtEl>
                                          <p:spTgt spid="15"/>
                                        </p:tgtEl>
                                        <p:attrNameLst>
                                          <p:attrName>ppt_h</p:attrName>
                                        </p:attrNameLst>
                                      </p:cBhvr>
                                      <p:tavLst>
                                        <p:tav tm="0">
                                          <p:val>
                                            <p:strVal val="0"/>
                                          </p:val>
                                        </p:tav>
                                        <p:tav tm="100000">
                                          <p:val>
                                            <p:strVal val="#ppt_h"/>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anim calcmode="lin" valueType="num">
                                      <p:cBhvr>
                                        <p:cTn id="30" dur="500" fill="hold"/>
                                        <p:tgtEl>
                                          <p:spTgt spid="16"/>
                                        </p:tgtEl>
                                        <p:attrNameLst>
                                          <p:attrName>ppt_x</p:attrName>
                                        </p:attrNameLst>
                                      </p:cBhvr>
                                      <p:tavLst>
                                        <p:tav tm="0">
                                          <p:val>
                                            <p:strVal val="#ppt_x"/>
                                          </p:val>
                                        </p:tav>
                                        <p:tav tm="100000">
                                          <p:val>
                                            <p:strVal val="#ppt_x"/>
                                          </p:val>
                                        </p:tav>
                                      </p:tavLst>
                                    </p:anim>
                                    <p:anim calcmode="lin" valueType="num">
                                      <p:cBhvr>
                                        <p:cTn id="31" dur="500" fill="hold"/>
                                        <p:tgtEl>
                                          <p:spTgt spid="16"/>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fade">
                                      <p:cBhvr>
                                        <p:cTn id="34" dur="500"/>
                                        <p:tgtEl>
                                          <p:spTgt spid="17"/>
                                        </p:tgtEl>
                                      </p:cBhvr>
                                    </p:animEffect>
                                    <p:anim calcmode="lin" valueType="num">
                                      <p:cBhvr>
                                        <p:cTn id="35" dur="500" fill="hold"/>
                                        <p:tgtEl>
                                          <p:spTgt spid="17"/>
                                        </p:tgtEl>
                                        <p:attrNameLst>
                                          <p:attrName>ppt_x</p:attrName>
                                        </p:attrNameLst>
                                      </p:cBhvr>
                                      <p:tavLst>
                                        <p:tav tm="0">
                                          <p:val>
                                            <p:strVal val="#ppt_x"/>
                                          </p:val>
                                        </p:tav>
                                        <p:tav tm="100000">
                                          <p:val>
                                            <p:strVal val="#ppt_x"/>
                                          </p:val>
                                        </p:tav>
                                      </p:tavLst>
                                    </p:anim>
                                    <p:anim calcmode="lin" valueType="num">
                                      <p:cBhvr>
                                        <p:cTn id="36"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500"/>
                                        <p:tgtEl>
                                          <p:spTgt spid="18"/>
                                        </p:tgtEl>
                                      </p:cBhvr>
                                    </p:animEffect>
                                    <p:anim calcmode="lin" valueType="num">
                                      <p:cBhvr>
                                        <p:cTn id="42" dur="500" fill="hold"/>
                                        <p:tgtEl>
                                          <p:spTgt spid="18"/>
                                        </p:tgtEl>
                                        <p:attrNameLst>
                                          <p:attrName>ppt_x</p:attrName>
                                        </p:attrNameLst>
                                      </p:cBhvr>
                                      <p:tavLst>
                                        <p:tav tm="0">
                                          <p:val>
                                            <p:strVal val="#ppt_x"/>
                                          </p:val>
                                        </p:tav>
                                        <p:tav tm="100000">
                                          <p:val>
                                            <p:strVal val="#ppt_x"/>
                                          </p:val>
                                        </p:tav>
                                      </p:tavLst>
                                    </p:anim>
                                    <p:anim calcmode="lin" valueType="num">
                                      <p:cBhvr>
                                        <p:cTn id="43"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50"/>
                                        <p:tgtEl>
                                          <p:spTgt spid="19"/>
                                        </p:tgtEl>
                                      </p:cBhvr>
                                    </p:animEffect>
                                    <p:anim calcmode="lin" valueType="num">
                                      <p:cBhvr>
                                        <p:cTn id="49" dur="450" fill="hold"/>
                                        <p:tgtEl>
                                          <p:spTgt spid="19"/>
                                        </p:tgtEl>
                                        <p:attrNameLst>
                                          <p:attrName>ppt_w</p:attrName>
                                        </p:attrNameLst>
                                      </p:cBhvr>
                                      <p:tavLst>
                                        <p:tav tm="0">
                                          <p:val>
                                            <p:strVal val="0"/>
                                          </p:val>
                                        </p:tav>
                                        <p:tav tm="100000">
                                          <p:val>
                                            <p:strVal val="#ppt_w"/>
                                          </p:val>
                                        </p:tav>
                                      </p:tavLst>
                                    </p:anim>
                                    <p:anim calcmode="lin" valueType="num">
                                      <p:cBhvr>
                                        <p:cTn id="50" dur="450" fill="hold"/>
                                        <p:tgtEl>
                                          <p:spTgt spid="19"/>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1291597" y="1632049"/>
            <a:ext cx="6245704" cy="1570335"/>
          </a:xfrm>
          <a:prstGeom prst="rect">
            <a:avLst/>
          </a:prstGeom>
          <a:noFill/>
        </p:spPr>
        <p:txBody>
          <a:bodyPr wrap="none" lIns="0" tIns="0" rIns="0" bIns="0" rtlCol="0" anchor="ctr" anchorCtr="1">
            <a:noAutofit/>
          </a:bodyPr>
          <a:lstStyle/>
          <a:p>
            <a:pPr algn="r" rtl="1">
              <a:lnSpc>
                <a:spcPct val="108000"/>
              </a:lnSpc>
              <a:buNone/>
            </a:pPr>
            <a:r>
              <a:rPr lang="ar-SA" sz="4420" b="1" i="0" dirty="0">
                <a:solidFill>
                  <a:srgbClr val="E4F4FF"/>
                </a:solidFill>
                <a:effectLst>
                  <a:glow rad="63500">
                    <a:srgbClr val="4FC3F7">
                      <a:alpha val="28000"/>
                    </a:srgbClr>
                  </a:glow>
                </a:effectLst>
                <a:latin typeface="Tahoma"/>
                <a:ea typeface="Tahoma"/>
                <a:cs typeface="Tahoma"/>
              </a:rPr>
              <a:t>قانون الانخفاض في</a:t>
            </a:r>
          </a:p>
          <a:p>
            <a:pPr algn="r" rtl="1">
              <a:lnSpc>
                <a:spcPct val="108000"/>
              </a:lnSpc>
              <a:buNone/>
            </a:pPr>
            <a:r>
              <a:rPr lang="ar-SA" sz="4420" b="1" i="0" dirty="0">
                <a:solidFill>
                  <a:srgbClr val="E4F4FF"/>
                </a:solidFill>
                <a:effectLst>
                  <a:glow rad="63500">
                    <a:srgbClr val="4FC3F7">
                      <a:alpha val="28000"/>
                    </a:srgbClr>
                  </a:glow>
                </a:effectLst>
                <a:latin typeface="Tahoma"/>
                <a:ea typeface="Tahoma"/>
                <a:cs typeface="Tahoma"/>
              </a:rPr>
              <a:t>درجة التجمد:</a:t>
            </a:r>
          </a:p>
        </p:txBody>
      </p:sp>
      <p:sp>
        <p:nvSpPr>
          <p:cNvPr id="102" name="Text 2"/>
          <p:cNvSpPr txBox="1"/>
          <p:nvPr/>
        </p:nvSpPr>
        <p:spPr>
          <a:xfrm>
            <a:off x="1606420" y="4087911"/>
            <a:ext cx="5151437" cy="944562"/>
          </a:xfrm>
          <a:prstGeom prst="rect">
            <a:avLst/>
          </a:prstGeom>
          <a:noFill/>
        </p:spPr>
        <p:txBody>
          <a:bodyPr wrap="none" lIns="0" tIns="0" rIns="0" bIns="0" rtlCol="0" anchor="ctr" anchorCtr="1">
            <a:noAutofit/>
          </a:bodyPr>
          <a:lstStyle/>
          <a:p>
            <a:pPr algn="ctr" rtl="0">
              <a:lnSpc>
                <a:spcPct val="100000"/>
              </a:lnSpc>
              <a:buNone/>
            </a:pPr>
            <a:r>
              <a:rPr lang="ar-SA" sz="4760" b="1" i="1" dirty="0">
                <a:solidFill>
                  <a:srgbClr val="D9E2EA"/>
                </a:solidFill>
                <a:latin typeface="Cambria"/>
                <a:ea typeface="Cambria"/>
                <a:cs typeface="Cambria"/>
              </a:rPr>
              <a:t>ΔT</a:t>
            </a:r>
            <a:r>
              <a:rPr lang="ar-SA" sz="4760" b="1" i="1" baseline="-25000" dirty="0">
                <a:solidFill>
                  <a:srgbClr val="D9E2EA"/>
                </a:solidFill>
                <a:latin typeface="Cambria"/>
                <a:ea typeface="Cambria"/>
                <a:cs typeface="Cambria"/>
              </a:rPr>
              <a:t>fp</a:t>
            </a:r>
            <a:r>
              <a:rPr lang="ar-SA" sz="4760" b="1" i="1" dirty="0">
                <a:solidFill>
                  <a:srgbClr val="D9E2EA"/>
                </a:solidFill>
                <a:latin typeface="Cambria"/>
                <a:ea typeface="Cambria"/>
                <a:cs typeface="Cambria"/>
              </a:rPr>
              <a:t> = K</a:t>
            </a:r>
            <a:r>
              <a:rPr lang="ar-SA" sz="4760" b="1" i="1" baseline="-25000" dirty="0">
                <a:solidFill>
                  <a:srgbClr val="D9E2EA"/>
                </a:solidFill>
                <a:latin typeface="Cambria"/>
                <a:ea typeface="Cambria"/>
                <a:cs typeface="Cambria"/>
              </a:rPr>
              <a:t>fp</a:t>
            </a:r>
            <a:r>
              <a:rPr lang="ar-SA" sz="4760" b="1" i="1" dirty="0">
                <a:solidFill>
                  <a:srgbClr val="D9E2EA"/>
                </a:solidFill>
                <a:latin typeface="Cambria"/>
                <a:ea typeface="Cambria"/>
                <a:cs typeface="Cambria"/>
              </a:rPr>
              <a:t> × m</a:t>
            </a:r>
            <a:endParaRPr lang="ar-SA" sz="4760" b="1" i="0" dirty="0">
              <a:solidFill>
                <a:srgbClr val="D9E2EA"/>
              </a:solidFill>
              <a:latin typeface="Tahoma"/>
              <a:ea typeface="Tahoma"/>
              <a:cs typeface="Tahoma"/>
            </a:endParaRPr>
          </a:p>
        </p:txBody>
      </p:sp>
      <p:sp>
        <p:nvSpPr>
          <p:cNvPr id="103" name="Text 3"/>
          <p:cNvSpPr txBox="1"/>
          <p:nvPr/>
        </p:nvSpPr>
        <p:spPr>
          <a:xfrm>
            <a:off x="1063255" y="5764510"/>
            <a:ext cx="6285023" cy="1782861"/>
          </a:xfrm>
          <a:prstGeom prst="rect">
            <a:avLst/>
          </a:prstGeom>
          <a:noFill/>
        </p:spPr>
        <p:txBody>
          <a:bodyPr wrap="none" lIns="0" tIns="0" rIns="0" bIns="0" rtlCol="0" anchor="t" anchorCtr="1">
            <a:noAutofit/>
          </a:bodyPr>
          <a:lstStyle/>
          <a:p>
            <a:pPr algn="r" rtl="1">
              <a:lnSpc>
                <a:spcPct val="125000"/>
              </a:lnSpc>
              <a:buNone/>
            </a:pPr>
            <a:r>
              <a:rPr lang="ar-SA" sz="2400" b="1" i="0" dirty="0">
                <a:solidFill>
                  <a:srgbClr val="FFFFFF"/>
                </a:solidFill>
                <a:latin typeface="Tahoma"/>
                <a:ea typeface="Tahoma"/>
                <a:cs typeface="Tahoma"/>
              </a:rPr>
              <a:t>ΔT</a:t>
            </a:r>
            <a:r>
              <a:rPr lang="ar-SA" sz="2400" b="1" i="1" baseline="-25000" dirty="0">
                <a:solidFill>
                  <a:srgbClr val="FFFFFF"/>
                </a:solidFill>
                <a:latin typeface="Cambria"/>
                <a:ea typeface="Cambria"/>
                <a:cs typeface="Cambria"/>
              </a:rPr>
              <a:t>fp</a:t>
            </a:r>
            <a:r>
              <a:rPr lang="ar-SA" sz="2400" b="1" i="0" dirty="0">
                <a:solidFill>
                  <a:srgbClr val="FFFFFF"/>
                </a:solidFill>
                <a:latin typeface="Tahoma"/>
                <a:ea typeface="Tahoma"/>
                <a:cs typeface="Tahoma"/>
              </a:rPr>
              <a:t>: مقدار الانخفاض في درجة التجمد.</a:t>
            </a:r>
          </a:p>
          <a:p>
            <a:pPr algn="r" rtl="1">
              <a:lnSpc>
                <a:spcPct val="125000"/>
              </a:lnSpc>
              <a:buNone/>
            </a:pPr>
            <a:r>
              <a:rPr lang="ar-SA" sz="2400" b="1" i="0" dirty="0">
                <a:solidFill>
                  <a:srgbClr val="FFFFFF"/>
                </a:solidFill>
                <a:latin typeface="Tahoma"/>
                <a:ea typeface="Tahoma"/>
                <a:cs typeface="Tahoma"/>
              </a:rPr>
              <a:t>K</a:t>
            </a:r>
            <a:r>
              <a:rPr lang="ar-SA" sz="2400" b="1" i="1" baseline="-25000" dirty="0">
                <a:solidFill>
                  <a:srgbClr val="FFFFFF"/>
                </a:solidFill>
                <a:latin typeface="Cambria"/>
                <a:ea typeface="Cambria"/>
                <a:cs typeface="Cambria"/>
              </a:rPr>
              <a:t>fp</a:t>
            </a:r>
            <a:r>
              <a:rPr lang="ar-SA" sz="2400" b="1" i="0" dirty="0">
                <a:solidFill>
                  <a:srgbClr val="FFFFFF"/>
                </a:solidFill>
                <a:latin typeface="Tahoma"/>
                <a:ea typeface="Tahoma"/>
                <a:cs typeface="Tahoma"/>
              </a:rPr>
              <a:t>: ثابت التجمد المولالي (الجزيئي).</a:t>
            </a:r>
          </a:p>
          <a:p>
            <a:pPr algn="r" rtl="1">
              <a:lnSpc>
                <a:spcPct val="125000"/>
              </a:lnSpc>
              <a:buNone/>
            </a:pPr>
            <a:r>
              <a:rPr lang="ar-SA" sz="2400" b="1" i="0" dirty="0">
                <a:solidFill>
                  <a:srgbClr val="FFFFFF"/>
                </a:solidFill>
                <a:latin typeface="Tahoma"/>
                <a:ea typeface="Tahoma"/>
                <a:cs typeface="Tahoma"/>
              </a:rPr>
              <a:t>m: التركيز المولالي.</a:t>
            </a:r>
          </a:p>
        </p:txBody>
      </p:sp>
      <p:sp>
        <p:nvSpPr>
          <p:cNvPr id="104" name="Text 4"/>
          <p:cNvSpPr txBox="1"/>
          <p:nvPr/>
        </p:nvSpPr>
        <p:spPr>
          <a:xfrm>
            <a:off x="12378623" y="2547094"/>
            <a:ext cx="1954101" cy="495895"/>
          </a:xfrm>
          <a:prstGeom prst="rect">
            <a:avLst/>
          </a:prstGeom>
          <a:noFill/>
        </p:spPr>
        <p:txBody>
          <a:bodyPr wrap="none" lIns="0" tIns="0" rIns="0" bIns="0" rtlCol="0" anchor="ctr" anchorCtr="1">
            <a:noAutofit/>
          </a:bodyPr>
          <a:lstStyle/>
          <a:p>
            <a:pPr algn="ctr" rtl="1">
              <a:lnSpc>
                <a:spcPct val="100000"/>
              </a:lnSpc>
              <a:buNone/>
            </a:pPr>
            <a:r>
              <a:rPr lang="ar-SA" sz="2880" b="1" i="0" dirty="0">
                <a:solidFill>
                  <a:srgbClr val="FFFFFF"/>
                </a:solidFill>
                <a:latin typeface="Tahoma"/>
                <a:ea typeface="Tahoma"/>
                <a:cs typeface="Tahoma"/>
              </a:rPr>
              <a:t>المذيب</a:t>
            </a:r>
          </a:p>
        </p:txBody>
      </p:sp>
      <p:sp>
        <p:nvSpPr>
          <p:cNvPr id="105" name="Text 5"/>
          <p:cNvSpPr txBox="1"/>
          <p:nvPr/>
        </p:nvSpPr>
        <p:spPr>
          <a:xfrm>
            <a:off x="9722699" y="2535287"/>
            <a:ext cx="1193578" cy="590351"/>
          </a:xfrm>
          <a:prstGeom prst="rect">
            <a:avLst/>
          </a:prstGeom>
          <a:noFill/>
        </p:spPr>
        <p:txBody>
          <a:bodyPr wrap="none" lIns="0" tIns="0" rIns="0" bIns="0" rtlCol="0" anchor="ctr" anchorCtr="1">
            <a:noAutofit/>
          </a:bodyPr>
          <a:lstStyle/>
          <a:p>
            <a:pPr algn="ctr" rtl="0">
              <a:lnSpc>
                <a:spcPct val="100000"/>
              </a:lnSpc>
              <a:buNone/>
            </a:pPr>
            <a:r>
              <a:rPr lang="ar-SA" sz="2800" b="1" i="0" dirty="0">
                <a:solidFill>
                  <a:srgbClr val="FFFFFF"/>
                </a:solidFill>
                <a:latin typeface="Tahoma"/>
                <a:ea typeface="Tahoma"/>
                <a:cs typeface="Tahoma"/>
              </a:rPr>
              <a:t>K</a:t>
            </a:r>
            <a:r>
              <a:rPr lang="ar-SA" sz="2800" b="1" i="0" baseline="-25000" dirty="0">
                <a:solidFill>
                  <a:srgbClr val="FFFFFF"/>
                </a:solidFill>
                <a:latin typeface="Tahoma"/>
                <a:ea typeface="Tahoma"/>
                <a:cs typeface="Tahoma"/>
              </a:rPr>
              <a:t>fp</a:t>
            </a:r>
            <a:endParaRPr lang="ar-SA" sz="2800" b="1" i="0" dirty="0">
              <a:solidFill>
                <a:srgbClr val="FFFFFF"/>
              </a:solidFill>
              <a:latin typeface="Tahoma"/>
              <a:ea typeface="Tahoma"/>
              <a:cs typeface="Tahoma"/>
            </a:endParaRPr>
          </a:p>
        </p:txBody>
      </p:sp>
      <p:sp>
        <p:nvSpPr>
          <p:cNvPr id="106" name="Text 6"/>
          <p:cNvSpPr txBox="1"/>
          <p:nvPr/>
        </p:nvSpPr>
        <p:spPr>
          <a:xfrm>
            <a:off x="12652744" y="3710086"/>
            <a:ext cx="1417674" cy="495895"/>
          </a:xfrm>
          <a:prstGeom prst="rect">
            <a:avLst/>
          </a:prstGeom>
          <a:noFill/>
        </p:spPr>
        <p:txBody>
          <a:bodyPr wrap="none" lIns="0" tIns="0" rIns="0" bIns="0" rtlCol="0" anchor="ctr" anchorCtr="1">
            <a:noAutofit/>
          </a:bodyPr>
          <a:lstStyle/>
          <a:p>
            <a:pPr algn="ctr" rtl="1">
              <a:lnSpc>
                <a:spcPct val="100000"/>
              </a:lnSpc>
              <a:buNone/>
            </a:pPr>
            <a:r>
              <a:rPr lang="ar-SA" sz="2460" b="1" i="0" dirty="0">
                <a:solidFill>
                  <a:srgbClr val="FFFFFF"/>
                </a:solidFill>
                <a:latin typeface="Tahoma"/>
                <a:ea typeface="Tahoma"/>
                <a:cs typeface="Tahoma"/>
              </a:rPr>
              <a:t>الماء</a:t>
            </a:r>
          </a:p>
        </p:txBody>
      </p:sp>
      <p:sp>
        <p:nvSpPr>
          <p:cNvPr id="107" name="Text 7"/>
          <p:cNvSpPr txBox="1"/>
          <p:nvPr/>
        </p:nvSpPr>
        <p:spPr>
          <a:xfrm>
            <a:off x="9609266" y="3721893"/>
            <a:ext cx="1444071" cy="495895"/>
          </a:xfrm>
          <a:prstGeom prst="rect">
            <a:avLst/>
          </a:prstGeom>
          <a:noFill/>
        </p:spPr>
        <p:txBody>
          <a:bodyPr wrap="none" lIns="0" tIns="0" rIns="0" bIns="0" rtlCol="0" anchor="ctr" anchorCtr="1">
            <a:noAutofit/>
          </a:bodyPr>
          <a:lstStyle/>
          <a:p>
            <a:pPr algn="ctr" rtl="0">
              <a:lnSpc>
                <a:spcPct val="100000"/>
              </a:lnSpc>
              <a:buNone/>
            </a:pPr>
            <a:r>
              <a:rPr lang="ar-SA" sz="2560" b="1" i="0" dirty="0">
                <a:solidFill>
                  <a:srgbClr val="FFFFFF"/>
                </a:solidFill>
                <a:latin typeface="Tahoma"/>
                <a:ea typeface="Tahoma"/>
                <a:cs typeface="Tahoma"/>
              </a:rPr>
              <a:t>1.86</a:t>
            </a:r>
          </a:p>
        </p:txBody>
      </p:sp>
      <p:sp>
        <p:nvSpPr>
          <p:cNvPr id="108" name="Text 8"/>
          <p:cNvSpPr txBox="1"/>
          <p:nvPr/>
        </p:nvSpPr>
        <p:spPr>
          <a:xfrm>
            <a:off x="11743069" y="4873079"/>
            <a:ext cx="3225209" cy="543123"/>
          </a:xfrm>
          <a:prstGeom prst="rect">
            <a:avLst/>
          </a:prstGeom>
          <a:noFill/>
        </p:spPr>
        <p:txBody>
          <a:bodyPr wrap="none" lIns="0" tIns="0" rIns="0" bIns="0" rtlCol="0" anchor="ctr" anchorCtr="1">
            <a:noAutofit/>
          </a:bodyPr>
          <a:lstStyle/>
          <a:p>
            <a:pPr algn="ctr" rtl="1">
              <a:lnSpc>
                <a:spcPct val="100000"/>
              </a:lnSpc>
              <a:buNone/>
            </a:pPr>
            <a:r>
              <a:rPr lang="ar-SA" sz="2730" b="1" i="0" dirty="0">
                <a:solidFill>
                  <a:srgbClr val="FFFFFF"/>
                </a:solidFill>
                <a:latin typeface="Tahoma"/>
                <a:ea typeface="Tahoma"/>
                <a:cs typeface="Tahoma"/>
              </a:rPr>
              <a:t>حمض الأسيتيك</a:t>
            </a:r>
          </a:p>
        </p:txBody>
      </p:sp>
      <p:sp>
        <p:nvSpPr>
          <p:cNvPr id="109" name="Text 9"/>
          <p:cNvSpPr txBox="1"/>
          <p:nvPr/>
        </p:nvSpPr>
        <p:spPr>
          <a:xfrm>
            <a:off x="9592930" y="4878982"/>
            <a:ext cx="1453116" cy="519509"/>
          </a:xfrm>
          <a:prstGeom prst="rect">
            <a:avLst/>
          </a:prstGeom>
          <a:noFill/>
        </p:spPr>
        <p:txBody>
          <a:bodyPr wrap="none" lIns="0" tIns="0" rIns="0" bIns="0" rtlCol="0" anchor="ctr" anchorCtr="1">
            <a:noAutofit/>
          </a:bodyPr>
          <a:lstStyle/>
          <a:p>
            <a:pPr algn="ctr" rtl="0">
              <a:lnSpc>
                <a:spcPct val="100000"/>
              </a:lnSpc>
              <a:buNone/>
            </a:pPr>
            <a:r>
              <a:rPr lang="ar-SA" sz="2640" b="1" i="0" dirty="0">
                <a:solidFill>
                  <a:srgbClr val="FFFFFF"/>
                </a:solidFill>
                <a:latin typeface="Tahoma"/>
                <a:ea typeface="Tahoma"/>
                <a:cs typeface="Tahoma"/>
              </a:rPr>
              <a:t>3.90</a:t>
            </a:r>
          </a:p>
        </p:txBody>
      </p:sp>
      <p:sp>
        <p:nvSpPr>
          <p:cNvPr id="110" name="Text 10"/>
          <p:cNvSpPr txBox="1"/>
          <p:nvPr/>
        </p:nvSpPr>
        <p:spPr>
          <a:xfrm>
            <a:off x="12514576" y="6065589"/>
            <a:ext cx="1682196" cy="531316"/>
          </a:xfrm>
          <a:prstGeom prst="rect">
            <a:avLst/>
          </a:prstGeom>
          <a:noFill/>
        </p:spPr>
        <p:txBody>
          <a:bodyPr wrap="none" lIns="0" tIns="0" rIns="0" bIns="0" rtlCol="0" anchor="ctr" anchorCtr="1">
            <a:noAutofit/>
          </a:bodyPr>
          <a:lstStyle/>
          <a:p>
            <a:pPr algn="ctr" rtl="1">
              <a:lnSpc>
                <a:spcPct val="100000"/>
              </a:lnSpc>
              <a:buNone/>
            </a:pPr>
            <a:r>
              <a:rPr lang="ar-SA" sz="2200" b="1" i="0" dirty="0">
                <a:solidFill>
                  <a:srgbClr val="FFFFFF"/>
                </a:solidFill>
                <a:latin typeface="Tahoma"/>
                <a:ea typeface="Tahoma"/>
                <a:cs typeface="Tahoma"/>
              </a:rPr>
              <a:t>البنزين</a:t>
            </a:r>
          </a:p>
        </p:txBody>
      </p:sp>
      <p:sp>
        <p:nvSpPr>
          <p:cNvPr id="111" name="Text 11"/>
          <p:cNvSpPr txBox="1"/>
          <p:nvPr/>
        </p:nvSpPr>
        <p:spPr>
          <a:xfrm>
            <a:off x="9597452" y="6030168"/>
            <a:ext cx="1444071" cy="519509"/>
          </a:xfrm>
          <a:prstGeom prst="rect">
            <a:avLst/>
          </a:prstGeom>
          <a:noFill/>
        </p:spPr>
        <p:txBody>
          <a:bodyPr wrap="none" lIns="0" tIns="0" rIns="0" bIns="0" rtlCol="0" anchor="ctr" anchorCtr="1">
            <a:noAutofit/>
          </a:bodyPr>
          <a:lstStyle/>
          <a:p>
            <a:pPr algn="ctr" rtl="0">
              <a:lnSpc>
                <a:spcPct val="100000"/>
              </a:lnSpc>
              <a:buNone/>
            </a:pPr>
            <a:r>
              <a:rPr lang="ar-SA" sz="2560" b="1" i="0" dirty="0">
                <a:solidFill>
                  <a:srgbClr val="FFFFFF"/>
                </a:solidFill>
                <a:latin typeface="Tahoma"/>
                <a:ea typeface="Tahoma"/>
                <a:cs typeface="Tahoma"/>
              </a:rPr>
              <a:t>5.12</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600"/>
                                        <p:tgtEl>
                                          <p:spTgt spid="101"/>
                                        </p:tgtEl>
                                      </p:cBhvr>
                                    </p:animEffect>
                                    <p:anim calcmode="lin" valueType="num">
                                      <p:cBhvr>
                                        <p:cTn id="8" dur="600" fill="hold"/>
                                        <p:tgtEl>
                                          <p:spTgt spid="101"/>
                                        </p:tgtEl>
                                        <p:attrNameLst>
                                          <p:attrName>ppt_w</p:attrName>
                                        </p:attrNameLst>
                                      </p:cBhvr>
                                      <p:tavLst>
                                        <p:tav tm="0">
                                          <p:val>
                                            <p:strVal val="0"/>
                                          </p:val>
                                        </p:tav>
                                        <p:tav tm="100000">
                                          <p:val>
                                            <p:strVal val="#ppt_w"/>
                                          </p:val>
                                        </p:tav>
                                      </p:tavLst>
                                    </p:anim>
                                    <p:anim calcmode="lin" valueType="num">
                                      <p:cBhvr>
                                        <p:cTn id="9"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1" presetID="53" presetClass="entr" presetSubtype="16" fill="hold" grpId="0" nodeType="after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600"/>
                                        <p:tgtEl>
                                          <p:spTgt spid="102"/>
                                        </p:tgtEl>
                                      </p:cBhvr>
                                    </p:animEffect>
                                    <p:anim calcmode="lin" valueType="num">
                                      <p:cBhvr>
                                        <p:cTn id="14" dur="600" fill="hold"/>
                                        <p:tgtEl>
                                          <p:spTgt spid="102"/>
                                        </p:tgtEl>
                                        <p:attrNameLst>
                                          <p:attrName>ppt_w</p:attrName>
                                        </p:attrNameLst>
                                      </p:cBhvr>
                                      <p:tavLst>
                                        <p:tav tm="0">
                                          <p:val>
                                            <p:strVal val="0"/>
                                          </p:val>
                                        </p:tav>
                                        <p:tav tm="100000">
                                          <p:val>
                                            <p:strVal val="#ppt_w"/>
                                          </p:val>
                                        </p:tav>
                                      </p:tavLst>
                                    </p:anim>
                                    <p:anim calcmode="lin" valueType="num">
                                      <p:cBhvr>
                                        <p:cTn id="15" dur="600" fill="hold"/>
                                        <p:tgtEl>
                                          <p:spTgt spid="102"/>
                                        </p:tgtEl>
                                        <p:attrNameLst>
                                          <p:attrName>ppt_h</p:attrName>
                                        </p:attrNameLst>
                                      </p:cBhvr>
                                      <p:tavLst>
                                        <p:tav tm="0">
                                          <p:val>
                                            <p:strVal val="0"/>
                                          </p:val>
                                        </p:tav>
                                        <p:tav tm="100000">
                                          <p:val>
                                            <p:strVal val="#ppt_h"/>
                                          </p:val>
                                        </p:tav>
                                      </p:tavLst>
                                    </p:anim>
                                  </p:childTnLst>
                                </p:cTn>
                              </p:par>
                            </p:childTnLst>
                          </p:cTn>
                        </p:par>
                        <p:par>
                          <p:cTn id="16" fill="hold">
                            <p:stCondLst>
                              <p:cond delay="1400"/>
                            </p:stCondLst>
                            <p:childTnLst>
                              <p:par>
                                <p:cTn id="17" presetID="42" presetClass="entr" presetSubtype="0" fill="hold" grpId="0" nodeType="afterEffect">
                                  <p:stCondLst>
                                    <p:cond delay="0"/>
                                  </p:stCondLst>
                                  <p:childTnLst>
                                    <p:set>
                                      <p:cBhvr>
                                        <p:cTn id="18" dur="1" fill="hold">
                                          <p:stCondLst>
                                            <p:cond delay="0"/>
                                          </p:stCondLst>
                                        </p:cTn>
                                        <p:tgtEl>
                                          <p:spTgt spid="103">
                                            <p:txEl>
                                              <p:pRg st="0" end="0"/>
                                            </p:txEl>
                                          </p:spTgt>
                                        </p:tgtEl>
                                        <p:attrNameLst>
                                          <p:attrName>style.visibility</p:attrName>
                                        </p:attrNameLst>
                                      </p:cBhvr>
                                      <p:to>
                                        <p:strVal val="visible"/>
                                      </p:to>
                                    </p:set>
                                    <p:animEffect transition="in" filter="fade">
                                      <p:cBhvr>
                                        <p:cTn id="19" dur="600"/>
                                        <p:tgtEl>
                                          <p:spTgt spid="103">
                                            <p:txEl>
                                              <p:pRg st="0" end="0"/>
                                            </p:txEl>
                                          </p:spTgt>
                                        </p:tgtEl>
                                      </p:cBhvr>
                                    </p:animEffect>
                                    <p:anim calcmode="lin" valueType="num">
                                      <p:cBhvr>
                                        <p:cTn id="20" dur="600" fill="hold"/>
                                        <p:tgtEl>
                                          <p:spTgt spid="103">
                                            <p:txEl>
                                              <p:pRg st="0" end="0"/>
                                            </p:txEl>
                                          </p:spTgt>
                                        </p:tgtEl>
                                        <p:attrNameLst>
                                          <p:attrName>ppt_x</p:attrName>
                                        </p:attrNameLst>
                                      </p:cBhvr>
                                      <p:tavLst>
                                        <p:tav tm="0">
                                          <p:val>
                                            <p:strVal val="#ppt_x"/>
                                          </p:val>
                                        </p:tav>
                                        <p:tav tm="100000">
                                          <p:val>
                                            <p:strVal val="#ppt_x"/>
                                          </p:val>
                                        </p:tav>
                                      </p:tavLst>
                                    </p:anim>
                                    <p:anim calcmode="lin" valueType="num">
                                      <p:cBhvr>
                                        <p:cTn id="21" dur="600" fill="hold"/>
                                        <p:tgtEl>
                                          <p:spTgt spid="103">
                                            <p:txEl>
                                              <p:pRg st="0" end="0"/>
                                            </p:txEl>
                                          </p:spTgt>
                                        </p:tgtEl>
                                        <p:attrNameLst>
                                          <p:attrName>ppt_y</p:attrName>
                                        </p:attrNameLst>
                                      </p:cBhvr>
                                      <p:tavLst>
                                        <p:tav tm="0">
                                          <p:val>
                                            <p:strVal val="#ppt_y+.1"/>
                                          </p:val>
                                        </p:tav>
                                        <p:tav tm="100000">
                                          <p:val>
                                            <p:strVal val="#ppt_y"/>
                                          </p:val>
                                        </p:tav>
                                      </p:tavLst>
                                    </p:anim>
                                  </p:childTnLst>
                                </p:cTn>
                              </p:par>
                            </p:childTnLst>
                          </p:cTn>
                        </p:par>
                        <p:par>
                          <p:cTn id="22" fill="hold">
                            <p:stCondLst>
                              <p:cond delay="2100"/>
                            </p:stCondLst>
                            <p:childTnLst>
                              <p:par>
                                <p:cTn id="23" presetID="42" presetClass="entr" presetSubtype="0" fill="hold" grpId="0" nodeType="afterEffect">
                                  <p:stCondLst>
                                    <p:cond delay="0"/>
                                  </p:stCondLst>
                                  <p:childTnLst>
                                    <p:set>
                                      <p:cBhvr>
                                        <p:cTn id="24" dur="1" fill="hold">
                                          <p:stCondLst>
                                            <p:cond delay="0"/>
                                          </p:stCondLst>
                                        </p:cTn>
                                        <p:tgtEl>
                                          <p:spTgt spid="103">
                                            <p:txEl>
                                              <p:pRg st="1" end="1"/>
                                            </p:txEl>
                                          </p:spTgt>
                                        </p:tgtEl>
                                        <p:attrNameLst>
                                          <p:attrName>style.visibility</p:attrName>
                                        </p:attrNameLst>
                                      </p:cBhvr>
                                      <p:to>
                                        <p:strVal val="visible"/>
                                      </p:to>
                                    </p:set>
                                    <p:animEffect transition="in" filter="fade">
                                      <p:cBhvr>
                                        <p:cTn id="25" dur="600"/>
                                        <p:tgtEl>
                                          <p:spTgt spid="103">
                                            <p:txEl>
                                              <p:pRg st="1" end="1"/>
                                            </p:txEl>
                                          </p:spTgt>
                                        </p:tgtEl>
                                      </p:cBhvr>
                                    </p:animEffect>
                                    <p:anim calcmode="lin" valueType="num">
                                      <p:cBhvr>
                                        <p:cTn id="26" dur="600" fill="hold"/>
                                        <p:tgtEl>
                                          <p:spTgt spid="103">
                                            <p:txEl>
                                              <p:pRg st="1" end="1"/>
                                            </p:txEl>
                                          </p:spTgt>
                                        </p:tgtEl>
                                        <p:attrNameLst>
                                          <p:attrName>ppt_x</p:attrName>
                                        </p:attrNameLst>
                                      </p:cBhvr>
                                      <p:tavLst>
                                        <p:tav tm="0">
                                          <p:val>
                                            <p:strVal val="#ppt_x"/>
                                          </p:val>
                                        </p:tav>
                                        <p:tav tm="100000">
                                          <p:val>
                                            <p:strVal val="#ppt_x"/>
                                          </p:val>
                                        </p:tav>
                                      </p:tavLst>
                                    </p:anim>
                                    <p:anim calcmode="lin" valueType="num">
                                      <p:cBhvr>
                                        <p:cTn id="27" dur="600" fill="hold"/>
                                        <p:tgtEl>
                                          <p:spTgt spid="103">
                                            <p:txEl>
                                              <p:pRg st="1" end="1"/>
                                            </p:txEl>
                                          </p:spTgt>
                                        </p:tgtEl>
                                        <p:attrNameLst>
                                          <p:attrName>ppt_y</p:attrName>
                                        </p:attrNameLst>
                                      </p:cBhvr>
                                      <p:tavLst>
                                        <p:tav tm="0">
                                          <p:val>
                                            <p:strVal val="#ppt_y+.1"/>
                                          </p:val>
                                        </p:tav>
                                        <p:tav tm="100000">
                                          <p:val>
                                            <p:strVal val="#ppt_y"/>
                                          </p:val>
                                        </p:tav>
                                      </p:tavLst>
                                    </p:anim>
                                  </p:childTnLst>
                                </p:cTn>
                              </p:par>
                            </p:childTnLst>
                          </p:cTn>
                        </p:par>
                        <p:par>
                          <p:cTn id="28" fill="hold">
                            <p:stCondLst>
                              <p:cond delay="2800"/>
                            </p:stCondLst>
                            <p:childTnLst>
                              <p:par>
                                <p:cTn id="29" presetID="42" presetClass="entr" presetSubtype="0" fill="hold" grpId="0" nodeType="afterEffect">
                                  <p:stCondLst>
                                    <p:cond delay="0"/>
                                  </p:stCondLst>
                                  <p:childTnLst>
                                    <p:set>
                                      <p:cBhvr>
                                        <p:cTn id="30" dur="1" fill="hold">
                                          <p:stCondLst>
                                            <p:cond delay="0"/>
                                          </p:stCondLst>
                                        </p:cTn>
                                        <p:tgtEl>
                                          <p:spTgt spid="103">
                                            <p:txEl>
                                              <p:pRg st="2" end="2"/>
                                            </p:txEl>
                                          </p:spTgt>
                                        </p:tgtEl>
                                        <p:attrNameLst>
                                          <p:attrName>style.visibility</p:attrName>
                                        </p:attrNameLst>
                                      </p:cBhvr>
                                      <p:to>
                                        <p:strVal val="visible"/>
                                      </p:to>
                                    </p:set>
                                    <p:animEffect transition="in" filter="fade">
                                      <p:cBhvr>
                                        <p:cTn id="31" dur="600"/>
                                        <p:tgtEl>
                                          <p:spTgt spid="103">
                                            <p:txEl>
                                              <p:pRg st="2" end="2"/>
                                            </p:txEl>
                                          </p:spTgt>
                                        </p:tgtEl>
                                      </p:cBhvr>
                                    </p:animEffect>
                                    <p:anim calcmode="lin" valueType="num">
                                      <p:cBhvr>
                                        <p:cTn id="32" dur="600" fill="hold"/>
                                        <p:tgtEl>
                                          <p:spTgt spid="103">
                                            <p:txEl>
                                              <p:pRg st="2" end="2"/>
                                            </p:txEl>
                                          </p:spTgt>
                                        </p:tgtEl>
                                        <p:attrNameLst>
                                          <p:attrName>ppt_x</p:attrName>
                                        </p:attrNameLst>
                                      </p:cBhvr>
                                      <p:tavLst>
                                        <p:tav tm="0">
                                          <p:val>
                                            <p:strVal val="#ppt_x"/>
                                          </p:val>
                                        </p:tav>
                                        <p:tav tm="100000">
                                          <p:val>
                                            <p:strVal val="#ppt_x"/>
                                          </p:val>
                                        </p:tav>
                                      </p:tavLst>
                                    </p:anim>
                                    <p:anim calcmode="lin" valueType="num">
                                      <p:cBhvr>
                                        <p:cTn id="33" dur="600" fill="hold"/>
                                        <p:tgtEl>
                                          <p:spTgt spid="103">
                                            <p:txEl>
                                              <p:pRg st="2" end="2"/>
                                            </p:txEl>
                                          </p:spTgt>
                                        </p:tgtEl>
                                        <p:attrNameLst>
                                          <p:attrName>ppt_y</p:attrName>
                                        </p:attrNameLst>
                                      </p:cBhvr>
                                      <p:tavLst>
                                        <p:tav tm="0">
                                          <p:val>
                                            <p:strVal val="#ppt_y+.1"/>
                                          </p:val>
                                        </p:tav>
                                        <p:tav tm="100000">
                                          <p:val>
                                            <p:strVal val="#ppt_y"/>
                                          </p:val>
                                        </p:tav>
                                      </p:tavLst>
                                    </p:anim>
                                  </p:childTnLst>
                                </p:cTn>
                              </p:par>
                            </p:childTnLst>
                          </p:cTn>
                        </p:par>
                        <p:par>
                          <p:cTn id="34" fill="hold">
                            <p:stCondLst>
                              <p:cond delay="3500"/>
                            </p:stCondLst>
                            <p:childTnLst>
                              <p:par>
                                <p:cTn id="35" presetID="10" presetClass="entr" presetSubtype="0" fill="hold" grpId="0" nodeType="afterEffect">
                                  <p:stCondLst>
                                    <p:cond delay="0"/>
                                  </p:stCondLst>
                                  <p:childTnLst>
                                    <p:set>
                                      <p:cBhvr>
                                        <p:cTn id="36" dur="1" fill="hold">
                                          <p:stCondLst>
                                            <p:cond delay="0"/>
                                          </p:stCondLst>
                                        </p:cTn>
                                        <p:tgtEl>
                                          <p:spTgt spid="104"/>
                                        </p:tgtEl>
                                        <p:attrNameLst>
                                          <p:attrName>style.visibility</p:attrName>
                                        </p:attrNameLst>
                                      </p:cBhvr>
                                      <p:to>
                                        <p:strVal val="visible"/>
                                      </p:to>
                                    </p:set>
                                    <p:animEffect transition="in" filter="fade">
                                      <p:cBhvr>
                                        <p:cTn id="37" dur="600"/>
                                        <p:tgtEl>
                                          <p:spTgt spid="104"/>
                                        </p:tgtEl>
                                      </p:cBhvr>
                                    </p:animEffect>
                                  </p:childTnLst>
                                </p:cTn>
                              </p:par>
                            </p:childTnLst>
                          </p:cTn>
                        </p:par>
                        <p:par>
                          <p:cTn id="38" fill="hold">
                            <p:stCondLst>
                              <p:cond delay="4200"/>
                            </p:stCondLst>
                            <p:childTnLst>
                              <p:par>
                                <p:cTn id="39" presetID="10" presetClass="entr" presetSubtype="0" fill="hold" grpId="0" nodeType="afterEffect">
                                  <p:stCondLst>
                                    <p:cond delay="0"/>
                                  </p:stCondLst>
                                  <p:childTnLst>
                                    <p:set>
                                      <p:cBhvr>
                                        <p:cTn id="40" dur="1" fill="hold">
                                          <p:stCondLst>
                                            <p:cond delay="0"/>
                                          </p:stCondLst>
                                        </p:cTn>
                                        <p:tgtEl>
                                          <p:spTgt spid="105"/>
                                        </p:tgtEl>
                                        <p:attrNameLst>
                                          <p:attrName>style.visibility</p:attrName>
                                        </p:attrNameLst>
                                      </p:cBhvr>
                                      <p:to>
                                        <p:strVal val="visible"/>
                                      </p:to>
                                    </p:set>
                                    <p:animEffect transition="in" filter="fade">
                                      <p:cBhvr>
                                        <p:cTn id="41" dur="600"/>
                                        <p:tgtEl>
                                          <p:spTgt spid="105"/>
                                        </p:tgtEl>
                                      </p:cBhvr>
                                    </p:animEffect>
                                  </p:childTnLst>
                                </p:cTn>
                              </p:par>
                            </p:childTnLst>
                          </p:cTn>
                        </p:par>
                        <p:par>
                          <p:cTn id="42" fill="hold">
                            <p:stCondLst>
                              <p:cond delay="4900"/>
                            </p:stCondLst>
                            <p:childTnLst>
                              <p:par>
                                <p:cTn id="43" presetID="42" presetClass="entr" presetSubtype="0" fill="hold" grpId="0" nodeType="afterEffect">
                                  <p:stCondLst>
                                    <p:cond delay="0"/>
                                  </p:stCondLst>
                                  <p:childTnLst>
                                    <p:set>
                                      <p:cBhvr>
                                        <p:cTn id="44" dur="1" fill="hold">
                                          <p:stCondLst>
                                            <p:cond delay="0"/>
                                          </p:stCondLst>
                                        </p:cTn>
                                        <p:tgtEl>
                                          <p:spTgt spid="106"/>
                                        </p:tgtEl>
                                        <p:attrNameLst>
                                          <p:attrName>style.visibility</p:attrName>
                                        </p:attrNameLst>
                                      </p:cBhvr>
                                      <p:to>
                                        <p:strVal val="visible"/>
                                      </p:to>
                                    </p:set>
                                    <p:animEffect transition="in" filter="fade">
                                      <p:cBhvr>
                                        <p:cTn id="45" dur="600"/>
                                        <p:tgtEl>
                                          <p:spTgt spid="106"/>
                                        </p:tgtEl>
                                      </p:cBhvr>
                                    </p:animEffect>
                                    <p:anim calcmode="lin" valueType="num">
                                      <p:cBhvr>
                                        <p:cTn id="46" dur="600" fill="hold"/>
                                        <p:tgtEl>
                                          <p:spTgt spid="106"/>
                                        </p:tgtEl>
                                        <p:attrNameLst>
                                          <p:attrName>ppt_x</p:attrName>
                                        </p:attrNameLst>
                                      </p:cBhvr>
                                      <p:tavLst>
                                        <p:tav tm="0">
                                          <p:val>
                                            <p:strVal val="#ppt_x"/>
                                          </p:val>
                                        </p:tav>
                                        <p:tav tm="100000">
                                          <p:val>
                                            <p:strVal val="#ppt_x"/>
                                          </p:val>
                                        </p:tav>
                                      </p:tavLst>
                                    </p:anim>
                                    <p:anim calcmode="lin" valueType="num">
                                      <p:cBhvr>
                                        <p:cTn id="47" dur="600" fill="hold"/>
                                        <p:tgtEl>
                                          <p:spTgt spid="106"/>
                                        </p:tgtEl>
                                        <p:attrNameLst>
                                          <p:attrName>ppt_y</p:attrName>
                                        </p:attrNameLst>
                                      </p:cBhvr>
                                      <p:tavLst>
                                        <p:tav tm="0">
                                          <p:val>
                                            <p:strVal val="#ppt_y+.1"/>
                                          </p:val>
                                        </p:tav>
                                        <p:tav tm="100000">
                                          <p:val>
                                            <p:strVal val="#ppt_y"/>
                                          </p:val>
                                        </p:tav>
                                      </p:tavLst>
                                    </p:anim>
                                  </p:childTnLst>
                                </p:cTn>
                              </p:par>
                            </p:childTnLst>
                          </p:cTn>
                        </p:par>
                        <p:par>
                          <p:cTn id="48" fill="hold">
                            <p:stCondLst>
                              <p:cond delay="5600"/>
                            </p:stCondLst>
                            <p:childTnLst>
                              <p:par>
                                <p:cTn id="49" presetID="42" presetClass="entr" presetSubtype="0" fill="hold" grpId="0" nodeType="afterEffect">
                                  <p:stCondLst>
                                    <p:cond delay="0"/>
                                  </p:stCondLst>
                                  <p:childTnLst>
                                    <p:set>
                                      <p:cBhvr>
                                        <p:cTn id="50" dur="1" fill="hold">
                                          <p:stCondLst>
                                            <p:cond delay="0"/>
                                          </p:stCondLst>
                                        </p:cTn>
                                        <p:tgtEl>
                                          <p:spTgt spid="107"/>
                                        </p:tgtEl>
                                        <p:attrNameLst>
                                          <p:attrName>style.visibility</p:attrName>
                                        </p:attrNameLst>
                                      </p:cBhvr>
                                      <p:to>
                                        <p:strVal val="visible"/>
                                      </p:to>
                                    </p:set>
                                    <p:animEffect transition="in" filter="fade">
                                      <p:cBhvr>
                                        <p:cTn id="51" dur="600"/>
                                        <p:tgtEl>
                                          <p:spTgt spid="107"/>
                                        </p:tgtEl>
                                      </p:cBhvr>
                                    </p:animEffect>
                                    <p:anim calcmode="lin" valueType="num">
                                      <p:cBhvr>
                                        <p:cTn id="52" dur="600" fill="hold"/>
                                        <p:tgtEl>
                                          <p:spTgt spid="107"/>
                                        </p:tgtEl>
                                        <p:attrNameLst>
                                          <p:attrName>ppt_x</p:attrName>
                                        </p:attrNameLst>
                                      </p:cBhvr>
                                      <p:tavLst>
                                        <p:tav tm="0">
                                          <p:val>
                                            <p:strVal val="#ppt_x"/>
                                          </p:val>
                                        </p:tav>
                                        <p:tav tm="100000">
                                          <p:val>
                                            <p:strVal val="#ppt_x"/>
                                          </p:val>
                                        </p:tav>
                                      </p:tavLst>
                                    </p:anim>
                                    <p:anim calcmode="lin" valueType="num">
                                      <p:cBhvr>
                                        <p:cTn id="53" dur="600" fill="hold"/>
                                        <p:tgtEl>
                                          <p:spTgt spid="107"/>
                                        </p:tgtEl>
                                        <p:attrNameLst>
                                          <p:attrName>ppt_y</p:attrName>
                                        </p:attrNameLst>
                                      </p:cBhvr>
                                      <p:tavLst>
                                        <p:tav tm="0">
                                          <p:val>
                                            <p:strVal val="#ppt_y+.1"/>
                                          </p:val>
                                        </p:tav>
                                        <p:tav tm="100000">
                                          <p:val>
                                            <p:strVal val="#ppt_y"/>
                                          </p:val>
                                        </p:tav>
                                      </p:tavLst>
                                    </p:anim>
                                  </p:childTnLst>
                                </p:cTn>
                              </p:par>
                            </p:childTnLst>
                          </p:cTn>
                        </p:par>
                        <p:par>
                          <p:cTn id="54" fill="hold">
                            <p:stCondLst>
                              <p:cond delay="6300"/>
                            </p:stCondLst>
                            <p:childTnLst>
                              <p:par>
                                <p:cTn id="55" presetID="42" presetClass="entr" presetSubtype="0" fill="hold" grpId="0" nodeType="afterEffect">
                                  <p:stCondLst>
                                    <p:cond delay="0"/>
                                  </p:stCondLst>
                                  <p:childTnLst>
                                    <p:set>
                                      <p:cBhvr>
                                        <p:cTn id="56" dur="1" fill="hold">
                                          <p:stCondLst>
                                            <p:cond delay="0"/>
                                          </p:stCondLst>
                                        </p:cTn>
                                        <p:tgtEl>
                                          <p:spTgt spid="108"/>
                                        </p:tgtEl>
                                        <p:attrNameLst>
                                          <p:attrName>style.visibility</p:attrName>
                                        </p:attrNameLst>
                                      </p:cBhvr>
                                      <p:to>
                                        <p:strVal val="visible"/>
                                      </p:to>
                                    </p:set>
                                    <p:animEffect transition="in" filter="fade">
                                      <p:cBhvr>
                                        <p:cTn id="57" dur="600"/>
                                        <p:tgtEl>
                                          <p:spTgt spid="108"/>
                                        </p:tgtEl>
                                      </p:cBhvr>
                                    </p:animEffect>
                                    <p:anim calcmode="lin" valueType="num">
                                      <p:cBhvr>
                                        <p:cTn id="58" dur="600" fill="hold"/>
                                        <p:tgtEl>
                                          <p:spTgt spid="108"/>
                                        </p:tgtEl>
                                        <p:attrNameLst>
                                          <p:attrName>ppt_x</p:attrName>
                                        </p:attrNameLst>
                                      </p:cBhvr>
                                      <p:tavLst>
                                        <p:tav tm="0">
                                          <p:val>
                                            <p:strVal val="#ppt_x"/>
                                          </p:val>
                                        </p:tav>
                                        <p:tav tm="100000">
                                          <p:val>
                                            <p:strVal val="#ppt_x"/>
                                          </p:val>
                                        </p:tav>
                                      </p:tavLst>
                                    </p:anim>
                                    <p:anim calcmode="lin" valueType="num">
                                      <p:cBhvr>
                                        <p:cTn id="59" dur="600" fill="hold"/>
                                        <p:tgtEl>
                                          <p:spTgt spid="108"/>
                                        </p:tgtEl>
                                        <p:attrNameLst>
                                          <p:attrName>ppt_y</p:attrName>
                                        </p:attrNameLst>
                                      </p:cBhvr>
                                      <p:tavLst>
                                        <p:tav tm="0">
                                          <p:val>
                                            <p:strVal val="#ppt_y+.1"/>
                                          </p:val>
                                        </p:tav>
                                        <p:tav tm="100000">
                                          <p:val>
                                            <p:strVal val="#ppt_y"/>
                                          </p:val>
                                        </p:tav>
                                      </p:tavLst>
                                    </p:anim>
                                  </p:childTnLst>
                                </p:cTn>
                              </p:par>
                            </p:childTnLst>
                          </p:cTn>
                        </p:par>
                        <p:par>
                          <p:cTn id="60" fill="hold">
                            <p:stCondLst>
                              <p:cond delay="7000"/>
                            </p:stCondLst>
                            <p:childTnLst>
                              <p:par>
                                <p:cTn id="61" presetID="42" presetClass="entr" presetSubtype="0" fill="hold" grpId="0" nodeType="afterEffect">
                                  <p:stCondLst>
                                    <p:cond delay="0"/>
                                  </p:stCondLst>
                                  <p:childTnLst>
                                    <p:set>
                                      <p:cBhvr>
                                        <p:cTn id="62" dur="1" fill="hold">
                                          <p:stCondLst>
                                            <p:cond delay="0"/>
                                          </p:stCondLst>
                                        </p:cTn>
                                        <p:tgtEl>
                                          <p:spTgt spid="109"/>
                                        </p:tgtEl>
                                        <p:attrNameLst>
                                          <p:attrName>style.visibility</p:attrName>
                                        </p:attrNameLst>
                                      </p:cBhvr>
                                      <p:to>
                                        <p:strVal val="visible"/>
                                      </p:to>
                                    </p:set>
                                    <p:animEffect transition="in" filter="fade">
                                      <p:cBhvr>
                                        <p:cTn id="63" dur="600"/>
                                        <p:tgtEl>
                                          <p:spTgt spid="109"/>
                                        </p:tgtEl>
                                      </p:cBhvr>
                                    </p:animEffect>
                                    <p:anim calcmode="lin" valueType="num">
                                      <p:cBhvr>
                                        <p:cTn id="64" dur="600" fill="hold"/>
                                        <p:tgtEl>
                                          <p:spTgt spid="109"/>
                                        </p:tgtEl>
                                        <p:attrNameLst>
                                          <p:attrName>ppt_x</p:attrName>
                                        </p:attrNameLst>
                                      </p:cBhvr>
                                      <p:tavLst>
                                        <p:tav tm="0">
                                          <p:val>
                                            <p:strVal val="#ppt_x"/>
                                          </p:val>
                                        </p:tav>
                                        <p:tav tm="100000">
                                          <p:val>
                                            <p:strVal val="#ppt_x"/>
                                          </p:val>
                                        </p:tav>
                                      </p:tavLst>
                                    </p:anim>
                                    <p:anim calcmode="lin" valueType="num">
                                      <p:cBhvr>
                                        <p:cTn id="65" dur="600" fill="hold"/>
                                        <p:tgtEl>
                                          <p:spTgt spid="109"/>
                                        </p:tgtEl>
                                        <p:attrNameLst>
                                          <p:attrName>ppt_y</p:attrName>
                                        </p:attrNameLst>
                                      </p:cBhvr>
                                      <p:tavLst>
                                        <p:tav tm="0">
                                          <p:val>
                                            <p:strVal val="#ppt_y+.1"/>
                                          </p:val>
                                        </p:tav>
                                        <p:tav tm="100000">
                                          <p:val>
                                            <p:strVal val="#ppt_y"/>
                                          </p:val>
                                        </p:tav>
                                      </p:tavLst>
                                    </p:anim>
                                  </p:childTnLst>
                                </p:cTn>
                              </p:par>
                            </p:childTnLst>
                          </p:cTn>
                        </p:par>
                        <p:par>
                          <p:cTn id="66" fill="hold">
                            <p:stCondLst>
                              <p:cond delay="7700"/>
                            </p:stCondLst>
                            <p:childTnLst>
                              <p:par>
                                <p:cTn id="67" presetID="42" presetClass="entr" presetSubtype="0" fill="hold" grpId="0" nodeType="afterEffect">
                                  <p:stCondLst>
                                    <p:cond delay="0"/>
                                  </p:stCondLst>
                                  <p:childTnLst>
                                    <p:set>
                                      <p:cBhvr>
                                        <p:cTn id="68" dur="1" fill="hold">
                                          <p:stCondLst>
                                            <p:cond delay="0"/>
                                          </p:stCondLst>
                                        </p:cTn>
                                        <p:tgtEl>
                                          <p:spTgt spid="110"/>
                                        </p:tgtEl>
                                        <p:attrNameLst>
                                          <p:attrName>style.visibility</p:attrName>
                                        </p:attrNameLst>
                                      </p:cBhvr>
                                      <p:to>
                                        <p:strVal val="visible"/>
                                      </p:to>
                                    </p:set>
                                    <p:animEffect transition="in" filter="fade">
                                      <p:cBhvr>
                                        <p:cTn id="69" dur="600"/>
                                        <p:tgtEl>
                                          <p:spTgt spid="110"/>
                                        </p:tgtEl>
                                      </p:cBhvr>
                                    </p:animEffect>
                                    <p:anim calcmode="lin" valueType="num">
                                      <p:cBhvr>
                                        <p:cTn id="70" dur="600" fill="hold"/>
                                        <p:tgtEl>
                                          <p:spTgt spid="110"/>
                                        </p:tgtEl>
                                        <p:attrNameLst>
                                          <p:attrName>ppt_x</p:attrName>
                                        </p:attrNameLst>
                                      </p:cBhvr>
                                      <p:tavLst>
                                        <p:tav tm="0">
                                          <p:val>
                                            <p:strVal val="#ppt_x"/>
                                          </p:val>
                                        </p:tav>
                                        <p:tav tm="100000">
                                          <p:val>
                                            <p:strVal val="#ppt_x"/>
                                          </p:val>
                                        </p:tav>
                                      </p:tavLst>
                                    </p:anim>
                                    <p:anim calcmode="lin" valueType="num">
                                      <p:cBhvr>
                                        <p:cTn id="71" dur="600" fill="hold"/>
                                        <p:tgtEl>
                                          <p:spTgt spid="110"/>
                                        </p:tgtEl>
                                        <p:attrNameLst>
                                          <p:attrName>ppt_y</p:attrName>
                                        </p:attrNameLst>
                                      </p:cBhvr>
                                      <p:tavLst>
                                        <p:tav tm="0">
                                          <p:val>
                                            <p:strVal val="#ppt_y+.1"/>
                                          </p:val>
                                        </p:tav>
                                        <p:tav tm="100000">
                                          <p:val>
                                            <p:strVal val="#ppt_y"/>
                                          </p:val>
                                        </p:tav>
                                      </p:tavLst>
                                    </p:anim>
                                  </p:childTnLst>
                                </p:cTn>
                              </p:par>
                            </p:childTnLst>
                          </p:cTn>
                        </p:par>
                        <p:par>
                          <p:cTn id="72" fill="hold">
                            <p:stCondLst>
                              <p:cond delay="8400"/>
                            </p:stCondLst>
                            <p:childTnLst>
                              <p:par>
                                <p:cTn id="73" presetID="42" presetClass="entr" presetSubtype="0" fill="hold" grpId="0" nodeType="afterEffect">
                                  <p:stCondLst>
                                    <p:cond delay="0"/>
                                  </p:stCondLst>
                                  <p:childTnLst>
                                    <p:set>
                                      <p:cBhvr>
                                        <p:cTn id="74" dur="1" fill="hold">
                                          <p:stCondLst>
                                            <p:cond delay="0"/>
                                          </p:stCondLst>
                                        </p:cTn>
                                        <p:tgtEl>
                                          <p:spTgt spid="111"/>
                                        </p:tgtEl>
                                        <p:attrNameLst>
                                          <p:attrName>style.visibility</p:attrName>
                                        </p:attrNameLst>
                                      </p:cBhvr>
                                      <p:to>
                                        <p:strVal val="visible"/>
                                      </p:to>
                                    </p:set>
                                    <p:animEffect transition="in" filter="fade">
                                      <p:cBhvr>
                                        <p:cTn id="75" dur="600"/>
                                        <p:tgtEl>
                                          <p:spTgt spid="111"/>
                                        </p:tgtEl>
                                      </p:cBhvr>
                                    </p:animEffect>
                                    <p:anim calcmode="lin" valueType="num">
                                      <p:cBhvr>
                                        <p:cTn id="76" dur="600" fill="hold"/>
                                        <p:tgtEl>
                                          <p:spTgt spid="111"/>
                                        </p:tgtEl>
                                        <p:attrNameLst>
                                          <p:attrName>ppt_x</p:attrName>
                                        </p:attrNameLst>
                                      </p:cBhvr>
                                      <p:tavLst>
                                        <p:tav tm="0">
                                          <p:val>
                                            <p:strVal val="#ppt_x"/>
                                          </p:val>
                                        </p:tav>
                                        <p:tav tm="100000">
                                          <p:val>
                                            <p:strVal val="#ppt_x"/>
                                          </p:val>
                                        </p:tav>
                                      </p:tavLst>
                                    </p:anim>
                                    <p:anim calcmode="lin" valueType="num">
                                      <p:cBhvr>
                                        <p:cTn id="77" dur="600" fill="hold"/>
                                        <p:tgtEl>
                                          <p:spTgt spid="1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build="p"/>
      <p:bldP spid="104" grpId="0"/>
      <p:bldP spid="105" grpId="0"/>
      <p:bldP spid="106" grpId="0"/>
      <p:bldP spid="107" grpId="0"/>
      <p:bldP spid="108" grpId="0"/>
      <p:bldP spid="109" grpId="0"/>
      <p:bldP spid="110" grpId="0"/>
      <p:bldP spid="11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Divider card"/>
          <p:cNvSpPr/>
          <p:nvPr/>
        </p:nvSpPr>
        <p:spPr>
          <a:xfrm>
            <a:off x="3520558" y="2500312"/>
            <a:ext cx="9214883" cy="4167187"/>
          </a:xfrm>
          <a:prstGeom prst="roundRect">
            <a:avLst>
              <a:gd name="adj" fmla="val 8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3" name="Title"/>
          <p:cNvSpPr txBox="1"/>
          <p:nvPr/>
        </p:nvSpPr>
        <p:spPr>
          <a:xfrm>
            <a:off x="3756837" y="3786187"/>
            <a:ext cx="8742325" cy="1333500"/>
          </a:xfrm>
          <a:prstGeom prst="rect">
            <a:avLst/>
          </a:prstGeom>
          <a:noFill/>
          <a:ln>
            <a:noFill/>
          </a:ln>
        </p:spPr>
        <p:txBody>
          <a:bodyPr wrap="square" lIns="0" tIns="0" rIns="0" bIns="0" rtlCol="0" anchor="ctr">
            <a:noAutofit/>
          </a:bodyPr>
          <a:lstStyle/>
          <a:p>
            <a:pPr algn="ctr" rtl="1">
              <a:lnSpc>
                <a:spcPct val="110000"/>
              </a:lnSpc>
              <a:buNone/>
            </a:pPr>
            <a:r>
              <a:rPr lang="ar-SA" sz="4400" b="1" i="0" dirty="0">
                <a:solidFill>
                  <a:srgbClr val="2B3038"/>
                </a:solidFill>
                <a:latin typeface="Tahoma"/>
                <a:ea typeface="Tahoma"/>
                <a:cs typeface="Tahoma"/>
              </a:rPr>
              <a:t>الانخفاض في درجة التجمد</a:t>
            </a:r>
          </a:p>
        </p:txBody>
      </p:sp>
      <p:sp>
        <p:nvSpPr>
          <p:cNvPr id="14" name="Subtitle"/>
          <p:cNvSpPr txBox="1"/>
          <p:nvPr/>
        </p:nvSpPr>
        <p:spPr>
          <a:xfrm>
            <a:off x="3756837" y="5238750"/>
            <a:ext cx="8742325" cy="714375"/>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5D6570"/>
                </a:solidFill>
                <a:latin typeface="Tahoma"/>
                <a:ea typeface="Tahoma"/>
                <a:cs typeface="Tahoma"/>
              </a:rPr>
              <a:t>اختبر فهمك: السؤال أولاً، ثم اضغط لإظهار الإجابة</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id="9" presetID="53" presetClass="entr" presetSubtype="16"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600"/>
                                        <p:tgtEl>
                                          <p:spTgt spid="13"/>
                                        </p:tgtEl>
                                      </p:cBhvr>
                                    </p:animEffect>
                                    <p:anim calcmode="lin" valueType="num">
                                      <p:cBhvr>
                                        <p:cTn id="12" dur="600" fill="hold"/>
                                        <p:tgtEl>
                                          <p:spTgt spid="13"/>
                                        </p:tgtEl>
                                        <p:attrNameLst>
                                          <p:attrName>ppt_w</p:attrName>
                                        </p:attrNameLst>
                                      </p:cBhvr>
                                      <p:tavLst>
                                        <p:tav tm="0">
                                          <p:val>
                                            <p:strVal val="0"/>
                                          </p:val>
                                        </p:tav>
                                        <p:tav tm="100000">
                                          <p:val>
                                            <p:strVal val="#ppt_w"/>
                                          </p:val>
                                        </p:tav>
                                      </p:tavLst>
                                    </p:anim>
                                    <p:anim calcmode="lin" valueType="num">
                                      <p:cBhvr>
                                        <p:cTn id="13" dur="600" fill="hold"/>
                                        <p:tgtEl>
                                          <p:spTgt spid="13"/>
                                        </p:tgtEl>
                                        <p:attrNameLst>
                                          <p:attrName>ppt_h</p:attrName>
                                        </p:attrNameLst>
                                      </p:cBhvr>
                                      <p:tavLst>
                                        <p:tav tm="0">
                                          <p:val>
                                            <p:strVal val="0"/>
                                          </p:val>
                                        </p:tav>
                                        <p:tav tm="100000">
                                          <p:val>
                                            <p:strVal val="#ppt_h"/>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anim calcmode="lin" valueType="num">
                                      <p:cBhvr>
                                        <p:cTn id="18" dur="500" fill="hold"/>
                                        <p:tgtEl>
                                          <p:spTgt spid="14"/>
                                        </p:tgtEl>
                                        <p:attrNameLst>
                                          <p:attrName>ppt_x</p:attrName>
                                        </p:attrNameLst>
                                      </p:cBhvr>
                                      <p:tavLst>
                                        <p:tav tm="0">
                                          <p:val>
                                            <p:strVal val="#ppt_x"/>
                                          </p:val>
                                        </p:tav>
                                        <p:tav tm="100000">
                                          <p:val>
                                            <p:strVal val="#ppt_x"/>
                                          </p:val>
                                        </p:tav>
                                      </p:tavLst>
                                    </p:anim>
                                    <p:anim calcmode="lin" valueType="num">
                                      <p:cBhvr>
                                        <p:cTn id="1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درجة التجمد</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الثالثة</a:t>
            </a:r>
          </a:p>
        </p:txBody>
      </p:sp>
      <p:sp>
        <p:nvSpPr>
          <p:cNvPr id="13" name="Card 1"/>
          <p:cNvSpPr/>
          <p:nvPr/>
        </p:nvSpPr>
        <p:spPr>
          <a:xfrm>
            <a:off x="708837" y="1328442"/>
            <a:ext cx="14838325" cy="19566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1"/>
          <p:cNvSpPr/>
          <p:nvPr/>
        </p:nvSpPr>
        <p:spPr>
          <a:xfrm>
            <a:off x="14838325" y="151894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1</a:t>
            </a:r>
          </a:p>
        </p:txBody>
      </p:sp>
      <p:sp>
        <p:nvSpPr>
          <p:cNvPr id="15" name="Tag 1"/>
          <p:cNvSpPr txBox="1"/>
          <p:nvPr/>
        </p:nvSpPr>
        <p:spPr>
          <a:xfrm>
            <a:off x="1016000" y="149513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اكتب الاسم أو المصطلح العلمي</a:t>
            </a:r>
          </a:p>
        </p:txBody>
      </p:sp>
      <p:sp>
        <p:nvSpPr>
          <p:cNvPr id="16" name="Question 1"/>
          <p:cNvSpPr txBox="1"/>
          <p:nvPr/>
        </p:nvSpPr>
        <p:spPr>
          <a:xfrm>
            <a:off x="1016000" y="1876130"/>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التغير في درجة تجمد محلول تركيزه المولالي واحد لمذاب جزيئي وغير متطاير.</a:t>
            </a:r>
          </a:p>
        </p:txBody>
      </p:sp>
      <p:sp>
        <p:nvSpPr>
          <p:cNvPr id="17" name="Answer 1"/>
          <p:cNvSpPr/>
          <p:nvPr/>
        </p:nvSpPr>
        <p:spPr>
          <a:xfrm>
            <a:off x="9655691" y="2475488"/>
            <a:ext cx="5017238"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ثابت التجمد المولالي ‪(K</a:t>
            </a:r>
            <a:r>
              <a:rPr lang="ar-SA" sz="2400" b="1" i="0" baseline="-25000" dirty="0">
                <a:solidFill>
                  <a:srgbClr val="A86A12"/>
                </a:solidFill>
                <a:latin typeface="Tahoma"/>
                <a:ea typeface="Tahoma"/>
                <a:cs typeface="Tahoma"/>
              </a:rPr>
              <a:t>fp</a:t>
            </a:r>
            <a:r>
              <a:rPr lang="ar-SA" sz="2400" b="1" i="0" dirty="0">
                <a:solidFill>
                  <a:srgbClr val="A86A12"/>
                </a:solidFill>
                <a:latin typeface="Tahoma"/>
                <a:ea typeface="Tahoma"/>
                <a:cs typeface="Tahoma"/>
              </a:rPr>
              <a:t>)‬</a:t>
            </a:r>
          </a:p>
        </p:txBody>
      </p:sp>
      <p:sp>
        <p:nvSpPr>
          <p:cNvPr id="18" name="Card 2"/>
          <p:cNvSpPr/>
          <p:nvPr/>
        </p:nvSpPr>
        <p:spPr>
          <a:xfrm>
            <a:off x="708837" y="3565806"/>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2"/>
          <p:cNvSpPr/>
          <p:nvPr/>
        </p:nvSpPr>
        <p:spPr>
          <a:xfrm>
            <a:off x="14838325" y="3756306"/>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2</a:t>
            </a:r>
          </a:p>
        </p:txBody>
      </p:sp>
      <p:sp>
        <p:nvSpPr>
          <p:cNvPr id="20" name="Tag 2"/>
          <p:cNvSpPr txBox="1"/>
          <p:nvPr/>
        </p:nvSpPr>
        <p:spPr>
          <a:xfrm>
            <a:off x="1016000" y="3732493"/>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ضع كلمة (صحيحة) أو (خطأ)</a:t>
            </a:r>
          </a:p>
        </p:txBody>
      </p:sp>
      <p:sp>
        <p:nvSpPr>
          <p:cNvPr id="21" name="Question 2"/>
          <p:cNvSpPr txBox="1"/>
          <p:nvPr/>
        </p:nvSpPr>
        <p:spPr>
          <a:xfrm>
            <a:off x="1016000" y="4113493"/>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عند إذابة مذاب جزيئي غير متطاير في ماء نقي فإن مقدار الانخفاض في درجة تجمد المحلول يزداد بزيادة التركيز المولالي للمحلول.</a:t>
            </a:r>
          </a:p>
        </p:txBody>
      </p:sp>
      <p:sp>
        <p:nvSpPr>
          <p:cNvPr id="22" name="Answer 2"/>
          <p:cNvSpPr/>
          <p:nvPr/>
        </p:nvSpPr>
        <p:spPr>
          <a:xfrm>
            <a:off x="12563031" y="5121710"/>
            <a:ext cx="2109898" cy="571500"/>
          </a:xfrm>
          <a:prstGeom prst="roundRect">
            <a:avLst>
              <a:gd name="adj" fmla="val 50000"/>
            </a:avLst>
          </a:prstGeom>
          <a:solidFill>
            <a:srgbClr val="2E8B57">
              <a:alpha val="14000"/>
            </a:srgbClr>
          </a:solidFill>
          <a:ln w="15875" cap="rnd">
            <a:solidFill>
              <a:srgbClr val="2E8B57">
                <a:alpha val="85000"/>
              </a:srgbClr>
            </a:solidFill>
            <a:round/>
          </a:ln>
        </p:spPr>
        <p:txBody>
          <a:bodyPr wrap="square" lIns="0" tIns="0" rIns="0" bIns="0" rtlCol="0" anchor="ctr">
            <a:noAutofit/>
          </a:bodyPr>
          <a:lstStyle/>
          <a:p>
            <a:pPr algn="ctr" rtl="1">
              <a:lnSpc>
                <a:spcPct val="110000"/>
              </a:lnSpc>
              <a:buNone/>
            </a:pPr>
            <a:r>
              <a:rPr lang="ar-SA" sz="2400" b="1" i="0" dirty="0">
                <a:solidFill>
                  <a:srgbClr val="2E8B57"/>
                </a:solidFill>
                <a:latin typeface="Tahoma"/>
                <a:ea typeface="Tahoma"/>
                <a:cs typeface="Tahoma"/>
              </a:rPr>
              <a:t>صحيحة ✓</a:t>
            </a:r>
          </a:p>
        </p:txBody>
      </p:sp>
      <p:sp>
        <p:nvSpPr>
          <p:cNvPr id="23" name="Card 3"/>
          <p:cNvSpPr/>
          <p:nvPr/>
        </p:nvSpPr>
        <p:spPr>
          <a:xfrm>
            <a:off x="708837" y="6212028"/>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24" name="Number 3"/>
          <p:cNvSpPr/>
          <p:nvPr/>
        </p:nvSpPr>
        <p:spPr>
          <a:xfrm>
            <a:off x="14838325" y="6402528"/>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3</a:t>
            </a:r>
          </a:p>
        </p:txBody>
      </p:sp>
      <p:sp>
        <p:nvSpPr>
          <p:cNvPr id="25" name="Tag 3"/>
          <p:cNvSpPr txBox="1"/>
          <p:nvPr/>
        </p:nvSpPr>
        <p:spPr>
          <a:xfrm>
            <a:off x="1016000" y="6378715"/>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ضع كلمة (صحيحة) أو (خطأ)</a:t>
            </a:r>
          </a:p>
        </p:txBody>
      </p:sp>
      <p:sp>
        <p:nvSpPr>
          <p:cNvPr id="26" name="Question 3"/>
          <p:cNvSpPr txBox="1"/>
          <p:nvPr/>
        </p:nvSpPr>
        <p:spPr>
          <a:xfrm>
            <a:off x="1016000" y="6759715"/>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عند إذابة مذاب جزيئي غير متطاير في ماء نقي فإن مقدار الانخفاض في الضغط البخاري للمحلول يتناسب طردياً مع مقدار الانخفاض في درجة تجمد المحلول.</a:t>
            </a:r>
          </a:p>
        </p:txBody>
      </p:sp>
      <p:sp>
        <p:nvSpPr>
          <p:cNvPr id="27" name="Answer 3"/>
          <p:cNvSpPr/>
          <p:nvPr/>
        </p:nvSpPr>
        <p:spPr>
          <a:xfrm>
            <a:off x="12563031" y="7767932"/>
            <a:ext cx="2109898" cy="571500"/>
          </a:xfrm>
          <a:prstGeom prst="roundRect">
            <a:avLst>
              <a:gd name="adj" fmla="val 50000"/>
            </a:avLst>
          </a:prstGeom>
          <a:solidFill>
            <a:srgbClr val="2E8B57">
              <a:alpha val="14000"/>
            </a:srgbClr>
          </a:solidFill>
          <a:ln w="15875" cap="rnd">
            <a:solidFill>
              <a:srgbClr val="2E8B57">
                <a:alpha val="85000"/>
              </a:srgbClr>
            </a:solidFill>
            <a:round/>
          </a:ln>
        </p:spPr>
        <p:txBody>
          <a:bodyPr wrap="square" lIns="0" tIns="0" rIns="0" bIns="0" rtlCol="0" anchor="ctr">
            <a:noAutofit/>
          </a:bodyPr>
          <a:lstStyle/>
          <a:p>
            <a:pPr algn="ctr" rtl="1">
              <a:lnSpc>
                <a:spcPct val="110000"/>
              </a:lnSpc>
              <a:buNone/>
            </a:pPr>
            <a:r>
              <a:rPr lang="ar-SA" sz="2400" b="1" i="0" dirty="0">
                <a:solidFill>
                  <a:srgbClr val="2E8B57"/>
                </a:solidFill>
                <a:latin typeface="Tahoma"/>
                <a:ea typeface="Tahoma"/>
                <a:cs typeface="Tahoma"/>
              </a:rPr>
              <a:t>صحيحة ✓</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par>
                          <p:cTn id="37" fill="hold">
                            <p:stCondLst>
                              <p:cond delay="1480"/>
                            </p:stCondLst>
                            <p:childTnLst>
                              <p:par>
                                <p:cTn id="38" presetID="10" presetClass="entr" presetSubtype="0"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5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5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50"/>
                                        <p:tgtEl>
                                          <p:spTgt spid="2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50"/>
                                        <p:tgtEl>
                                          <p:spTgt spid="26"/>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50"/>
                                        <p:tgtEl>
                                          <p:spTgt spid="17"/>
                                        </p:tgtEl>
                                      </p:cBhvr>
                                    </p:animEffect>
                                    <p:anim calcmode="lin" valueType="num">
                                      <p:cBhvr>
                                        <p:cTn id="55" dur="450" fill="hold"/>
                                        <p:tgtEl>
                                          <p:spTgt spid="17"/>
                                        </p:tgtEl>
                                        <p:attrNameLst>
                                          <p:attrName>ppt_w</p:attrName>
                                        </p:attrNameLst>
                                      </p:cBhvr>
                                      <p:tavLst>
                                        <p:tav tm="0">
                                          <p:val>
                                            <p:strVal val="0"/>
                                          </p:val>
                                        </p:tav>
                                        <p:tav tm="100000">
                                          <p:val>
                                            <p:strVal val="#ppt_w"/>
                                          </p:val>
                                        </p:tav>
                                      </p:tavLst>
                                    </p:anim>
                                    <p:anim calcmode="lin" valueType="num">
                                      <p:cBhvr>
                                        <p:cTn id="56" dur="450" fill="hold"/>
                                        <p:tgtEl>
                                          <p:spTgt spid="17"/>
                                        </p:tgtEl>
                                        <p:attrNameLst>
                                          <p:attrName>ppt_h</p:attrName>
                                        </p:attrNameLst>
                                      </p:cBhvr>
                                      <p:tavLst>
                                        <p:tav tm="0">
                                          <p:val>
                                            <p:str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anim calcmode="lin" valueType="num">
                                      <p:cBhvr>
                                        <p:cTn id="62" dur="450" fill="hold"/>
                                        <p:tgtEl>
                                          <p:spTgt spid="22"/>
                                        </p:tgtEl>
                                        <p:attrNameLst>
                                          <p:attrName>ppt_w</p:attrName>
                                        </p:attrNameLst>
                                      </p:cBhvr>
                                      <p:tavLst>
                                        <p:tav tm="0">
                                          <p:val>
                                            <p:strVal val="0"/>
                                          </p:val>
                                        </p:tav>
                                        <p:tav tm="100000">
                                          <p:val>
                                            <p:strVal val="#ppt_w"/>
                                          </p:val>
                                        </p:tav>
                                      </p:tavLst>
                                    </p:anim>
                                    <p:anim calcmode="lin" valueType="num">
                                      <p:cBhvr>
                                        <p:cTn id="63" dur="450" fill="hold"/>
                                        <p:tgtEl>
                                          <p:spTgt spid="22"/>
                                        </p:tgtEl>
                                        <p:attrNameLst>
                                          <p:attrName>ppt_h</p:attrName>
                                        </p:attrNameLst>
                                      </p:cBhvr>
                                      <p:tavLst>
                                        <p:tav tm="0">
                                          <p:val>
                                            <p:str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50"/>
                                        <p:tgtEl>
                                          <p:spTgt spid="27"/>
                                        </p:tgtEl>
                                      </p:cBhvr>
                                    </p:animEffect>
                                    <p:anim calcmode="lin" valueType="num">
                                      <p:cBhvr>
                                        <p:cTn id="69" dur="450" fill="hold"/>
                                        <p:tgtEl>
                                          <p:spTgt spid="27"/>
                                        </p:tgtEl>
                                        <p:attrNameLst>
                                          <p:attrName>ppt_w</p:attrName>
                                        </p:attrNameLst>
                                      </p:cBhvr>
                                      <p:tavLst>
                                        <p:tav tm="0">
                                          <p:val>
                                            <p:strVal val="0"/>
                                          </p:val>
                                        </p:tav>
                                        <p:tav tm="100000">
                                          <p:val>
                                            <p:strVal val="#ppt_w"/>
                                          </p:val>
                                        </p:tav>
                                      </p:tavLst>
                                    </p:anim>
                                    <p:anim calcmode="lin" valueType="num">
                                      <p:cBhvr>
                                        <p:cTn id="70" dur="450" fill="hold"/>
                                        <p:tgtEl>
                                          <p:spTgt spid="2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درجة التجمد</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الثالثة</a:t>
            </a:r>
          </a:p>
        </p:txBody>
      </p:sp>
      <p:sp>
        <p:nvSpPr>
          <p:cNvPr id="13" name="Card 4"/>
          <p:cNvSpPr/>
          <p:nvPr/>
        </p:nvSpPr>
        <p:spPr>
          <a:xfrm>
            <a:off x="708837" y="1328442"/>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4"/>
          <p:cNvSpPr/>
          <p:nvPr/>
        </p:nvSpPr>
        <p:spPr>
          <a:xfrm>
            <a:off x="14838325" y="151894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4</a:t>
            </a:r>
          </a:p>
        </p:txBody>
      </p:sp>
      <p:sp>
        <p:nvSpPr>
          <p:cNvPr id="15" name="Tag 4"/>
          <p:cNvSpPr txBox="1"/>
          <p:nvPr/>
        </p:nvSpPr>
        <p:spPr>
          <a:xfrm>
            <a:off x="1016000" y="149513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ضع كلمة (صحيحة) أو (خطأ)</a:t>
            </a:r>
          </a:p>
        </p:txBody>
      </p:sp>
      <p:sp>
        <p:nvSpPr>
          <p:cNvPr id="16" name="Question 4"/>
          <p:cNvSpPr txBox="1"/>
          <p:nvPr/>
        </p:nvSpPr>
        <p:spPr>
          <a:xfrm>
            <a:off x="1016000" y="1876130"/>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مقدار الانخفاض في درجة تجمد محلول السكر الذي تركيزه ‪2 m‬ يساوي مقدار الانخفاض في درجة تجمد محلول اليوريا الذي له نفس التركيز المولالي.</a:t>
            </a:r>
          </a:p>
        </p:txBody>
      </p:sp>
      <p:sp>
        <p:nvSpPr>
          <p:cNvPr id="17" name="Answer 4"/>
          <p:cNvSpPr/>
          <p:nvPr/>
        </p:nvSpPr>
        <p:spPr>
          <a:xfrm>
            <a:off x="12563031" y="2884346"/>
            <a:ext cx="2109898" cy="571500"/>
          </a:xfrm>
          <a:prstGeom prst="roundRect">
            <a:avLst>
              <a:gd name="adj" fmla="val 50000"/>
            </a:avLst>
          </a:prstGeom>
          <a:solidFill>
            <a:srgbClr val="2E8B57">
              <a:alpha val="14000"/>
            </a:srgbClr>
          </a:solidFill>
          <a:ln w="15875" cap="rnd">
            <a:solidFill>
              <a:srgbClr val="2E8B57">
                <a:alpha val="85000"/>
              </a:srgbClr>
            </a:solidFill>
            <a:round/>
          </a:ln>
        </p:spPr>
        <p:txBody>
          <a:bodyPr wrap="square" lIns="0" tIns="0" rIns="0" bIns="0" rtlCol="0" anchor="ctr">
            <a:noAutofit/>
          </a:bodyPr>
          <a:lstStyle/>
          <a:p>
            <a:pPr algn="ctr" rtl="1">
              <a:lnSpc>
                <a:spcPct val="110000"/>
              </a:lnSpc>
              <a:buNone/>
            </a:pPr>
            <a:r>
              <a:rPr lang="ar-SA" sz="2400" b="1" i="0" dirty="0">
                <a:solidFill>
                  <a:srgbClr val="2E8B57"/>
                </a:solidFill>
                <a:latin typeface="Tahoma"/>
                <a:ea typeface="Tahoma"/>
                <a:cs typeface="Tahoma"/>
              </a:rPr>
              <a:t>صحيحة ✓</a:t>
            </a:r>
          </a:p>
        </p:txBody>
      </p:sp>
      <p:sp>
        <p:nvSpPr>
          <p:cNvPr id="18" name="Card 5"/>
          <p:cNvSpPr/>
          <p:nvPr/>
        </p:nvSpPr>
        <p:spPr>
          <a:xfrm>
            <a:off x="708837" y="3974664"/>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5"/>
          <p:cNvSpPr/>
          <p:nvPr/>
        </p:nvSpPr>
        <p:spPr>
          <a:xfrm>
            <a:off x="14838325" y="4165164"/>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5</a:t>
            </a:r>
          </a:p>
        </p:txBody>
      </p:sp>
      <p:sp>
        <p:nvSpPr>
          <p:cNvPr id="20" name="Tag 5"/>
          <p:cNvSpPr txBox="1"/>
          <p:nvPr/>
        </p:nvSpPr>
        <p:spPr>
          <a:xfrm>
            <a:off x="1016000" y="4141352"/>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ضع كلمة (صحيحة) أو (خطأ)</a:t>
            </a:r>
          </a:p>
        </p:txBody>
      </p:sp>
      <p:sp>
        <p:nvSpPr>
          <p:cNvPr id="21" name="Question 5"/>
          <p:cNvSpPr txBox="1"/>
          <p:nvPr/>
        </p:nvSpPr>
        <p:spPr>
          <a:xfrm>
            <a:off x="1016000" y="4522352"/>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تضاف مادة مضادة للتجمد (جليكول الإيثيلين) إلى مبرد السيارات في المناطق المتجمدة لتجنب تجمد المياه في المبرد.</a:t>
            </a:r>
          </a:p>
        </p:txBody>
      </p:sp>
      <p:sp>
        <p:nvSpPr>
          <p:cNvPr id="22" name="Answer 5"/>
          <p:cNvSpPr/>
          <p:nvPr/>
        </p:nvSpPr>
        <p:spPr>
          <a:xfrm>
            <a:off x="12563031" y="5530568"/>
            <a:ext cx="2109898" cy="571500"/>
          </a:xfrm>
          <a:prstGeom prst="roundRect">
            <a:avLst>
              <a:gd name="adj" fmla="val 50000"/>
            </a:avLst>
          </a:prstGeom>
          <a:solidFill>
            <a:srgbClr val="2E8B57">
              <a:alpha val="14000"/>
            </a:srgbClr>
          </a:solidFill>
          <a:ln w="15875" cap="rnd">
            <a:solidFill>
              <a:srgbClr val="2E8B57">
                <a:alpha val="85000"/>
              </a:srgbClr>
            </a:solidFill>
            <a:round/>
          </a:ln>
        </p:spPr>
        <p:txBody>
          <a:bodyPr wrap="square" lIns="0" tIns="0" rIns="0" bIns="0" rtlCol="0" anchor="ctr">
            <a:noAutofit/>
          </a:bodyPr>
          <a:lstStyle/>
          <a:p>
            <a:pPr algn="ctr" rtl="1">
              <a:lnSpc>
                <a:spcPct val="110000"/>
              </a:lnSpc>
              <a:buNone/>
            </a:pPr>
            <a:r>
              <a:rPr lang="ar-SA" sz="2400" b="1" i="0" dirty="0">
                <a:solidFill>
                  <a:srgbClr val="2E8B57"/>
                </a:solidFill>
                <a:latin typeface="Tahoma"/>
                <a:ea typeface="Tahoma"/>
                <a:cs typeface="Tahoma"/>
              </a:rPr>
              <a:t>صحيحة ✓</a:t>
            </a:r>
          </a:p>
        </p:txBody>
      </p:sp>
      <p:sp>
        <p:nvSpPr>
          <p:cNvPr id="23" name="Card 6"/>
          <p:cNvSpPr/>
          <p:nvPr/>
        </p:nvSpPr>
        <p:spPr>
          <a:xfrm>
            <a:off x="708837" y="6620886"/>
            <a:ext cx="14838325" cy="1956670"/>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24" name="Number 6"/>
          <p:cNvSpPr/>
          <p:nvPr/>
        </p:nvSpPr>
        <p:spPr>
          <a:xfrm>
            <a:off x="14838325" y="6811386"/>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6</a:t>
            </a:r>
          </a:p>
        </p:txBody>
      </p:sp>
      <p:sp>
        <p:nvSpPr>
          <p:cNvPr id="25" name="Tag 6"/>
          <p:cNvSpPr txBox="1"/>
          <p:nvPr/>
        </p:nvSpPr>
        <p:spPr>
          <a:xfrm>
            <a:off x="1016000" y="6787573"/>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 بما يناسبه علمياً</a:t>
            </a:r>
          </a:p>
        </p:txBody>
      </p:sp>
      <p:sp>
        <p:nvSpPr>
          <p:cNvPr id="26" name="Question 6"/>
          <p:cNvSpPr txBox="1"/>
          <p:nvPr/>
        </p:nvSpPr>
        <p:spPr>
          <a:xfrm>
            <a:off x="1016000" y="7168573"/>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درجة تجمد المحلول المائي للسكروز ............ درجة تجمد الماء النقي.</a:t>
            </a:r>
          </a:p>
        </p:txBody>
      </p:sp>
      <p:sp>
        <p:nvSpPr>
          <p:cNvPr id="27" name="Answer 6"/>
          <p:cNvSpPr/>
          <p:nvPr/>
        </p:nvSpPr>
        <p:spPr>
          <a:xfrm>
            <a:off x="12874255" y="7767932"/>
            <a:ext cx="1798674"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أقل من</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par>
                          <p:cTn id="37" fill="hold">
                            <p:stCondLst>
                              <p:cond delay="1480"/>
                            </p:stCondLst>
                            <p:childTnLst>
                              <p:par>
                                <p:cTn id="38" presetID="10" presetClass="entr" presetSubtype="0" fill="hold" grpId="0"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450"/>
                                        <p:tgtEl>
                                          <p:spTgt spid="2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fade">
                                      <p:cBhvr>
                                        <p:cTn id="43" dur="450"/>
                                        <p:tgtEl>
                                          <p:spTgt spid="2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animEffect transition="in" filter="fade">
                                      <p:cBhvr>
                                        <p:cTn id="46" dur="450"/>
                                        <p:tgtEl>
                                          <p:spTgt spid="2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6"/>
                                        </p:tgtEl>
                                        <p:attrNameLst>
                                          <p:attrName>style.visibility</p:attrName>
                                        </p:attrNameLst>
                                      </p:cBhvr>
                                      <p:to>
                                        <p:strVal val="visible"/>
                                      </p:to>
                                    </p:set>
                                    <p:animEffect transition="in" filter="fade">
                                      <p:cBhvr>
                                        <p:cTn id="49" dur="450"/>
                                        <p:tgtEl>
                                          <p:spTgt spid="26"/>
                                        </p:tgtEl>
                                      </p:cBhvr>
                                    </p:animEffect>
                                  </p:childTnLst>
                                </p:cTn>
                              </p:par>
                            </p:childTnLst>
                          </p:cTn>
                        </p:par>
                      </p:childTnLst>
                    </p:cTn>
                  </p:par>
                  <p:par>
                    <p:cTn id="50" fill="hold">
                      <p:stCondLst>
                        <p:cond delay="indefinite"/>
                      </p:stCondLst>
                      <p:childTnLst>
                        <p:par>
                          <p:cTn id="51" fill="hold">
                            <p:stCondLst>
                              <p:cond delay="0"/>
                            </p:stCondLst>
                            <p:childTnLst>
                              <p:par>
                                <p:cTn id="52" presetID="53" presetClass="entr" presetSubtype="16" fill="hold" grpId="0"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450"/>
                                        <p:tgtEl>
                                          <p:spTgt spid="17"/>
                                        </p:tgtEl>
                                      </p:cBhvr>
                                    </p:animEffect>
                                    <p:anim calcmode="lin" valueType="num">
                                      <p:cBhvr>
                                        <p:cTn id="55" dur="450" fill="hold"/>
                                        <p:tgtEl>
                                          <p:spTgt spid="17"/>
                                        </p:tgtEl>
                                        <p:attrNameLst>
                                          <p:attrName>ppt_w</p:attrName>
                                        </p:attrNameLst>
                                      </p:cBhvr>
                                      <p:tavLst>
                                        <p:tav tm="0">
                                          <p:val>
                                            <p:strVal val="0"/>
                                          </p:val>
                                        </p:tav>
                                        <p:tav tm="100000">
                                          <p:val>
                                            <p:strVal val="#ppt_w"/>
                                          </p:val>
                                        </p:tav>
                                      </p:tavLst>
                                    </p:anim>
                                    <p:anim calcmode="lin" valueType="num">
                                      <p:cBhvr>
                                        <p:cTn id="56" dur="450" fill="hold"/>
                                        <p:tgtEl>
                                          <p:spTgt spid="17"/>
                                        </p:tgtEl>
                                        <p:attrNameLst>
                                          <p:attrName>ppt_h</p:attrName>
                                        </p:attrNameLst>
                                      </p:cBhvr>
                                      <p:tavLst>
                                        <p:tav tm="0">
                                          <p:val>
                                            <p:str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53" presetClass="entr" presetSubtype="16" fill="hold" grpId="0" nodeType="click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50"/>
                                        <p:tgtEl>
                                          <p:spTgt spid="22"/>
                                        </p:tgtEl>
                                      </p:cBhvr>
                                    </p:animEffect>
                                    <p:anim calcmode="lin" valueType="num">
                                      <p:cBhvr>
                                        <p:cTn id="62" dur="450" fill="hold"/>
                                        <p:tgtEl>
                                          <p:spTgt spid="22"/>
                                        </p:tgtEl>
                                        <p:attrNameLst>
                                          <p:attrName>ppt_w</p:attrName>
                                        </p:attrNameLst>
                                      </p:cBhvr>
                                      <p:tavLst>
                                        <p:tav tm="0">
                                          <p:val>
                                            <p:strVal val="0"/>
                                          </p:val>
                                        </p:tav>
                                        <p:tav tm="100000">
                                          <p:val>
                                            <p:strVal val="#ppt_w"/>
                                          </p:val>
                                        </p:tav>
                                      </p:tavLst>
                                    </p:anim>
                                    <p:anim calcmode="lin" valueType="num">
                                      <p:cBhvr>
                                        <p:cTn id="63" dur="450" fill="hold"/>
                                        <p:tgtEl>
                                          <p:spTgt spid="22"/>
                                        </p:tgtEl>
                                        <p:attrNameLst>
                                          <p:attrName>ppt_h</p:attrName>
                                        </p:attrNameLst>
                                      </p:cBhvr>
                                      <p:tavLst>
                                        <p:tav tm="0">
                                          <p:val>
                                            <p:str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6" presetID="53" presetClass="entr" presetSubtype="16" fill="hold" grpId="0" nodeType="click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450"/>
                                        <p:tgtEl>
                                          <p:spTgt spid="27"/>
                                        </p:tgtEl>
                                      </p:cBhvr>
                                    </p:animEffect>
                                    <p:anim calcmode="lin" valueType="num">
                                      <p:cBhvr>
                                        <p:cTn id="69" dur="450" fill="hold"/>
                                        <p:tgtEl>
                                          <p:spTgt spid="27"/>
                                        </p:tgtEl>
                                        <p:attrNameLst>
                                          <p:attrName>ppt_w</p:attrName>
                                        </p:attrNameLst>
                                      </p:cBhvr>
                                      <p:tavLst>
                                        <p:tav tm="0">
                                          <p:val>
                                            <p:strVal val="0"/>
                                          </p:val>
                                        </p:tav>
                                        <p:tav tm="100000">
                                          <p:val>
                                            <p:strVal val="#ppt_w"/>
                                          </p:val>
                                        </p:tav>
                                      </p:tavLst>
                                    </p:anim>
                                    <p:anim calcmode="lin" valueType="num">
                                      <p:cBhvr>
                                        <p:cTn id="70" dur="450" fill="hold"/>
                                        <p:tgtEl>
                                          <p:spTgt spid="27"/>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درجة التجمد</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الثالثة</a:t>
            </a:r>
          </a:p>
        </p:txBody>
      </p:sp>
      <p:sp>
        <p:nvSpPr>
          <p:cNvPr id="13" name="Card 7"/>
          <p:cNvSpPr/>
          <p:nvPr/>
        </p:nvSpPr>
        <p:spPr>
          <a:xfrm>
            <a:off x="708837" y="1452562"/>
            <a:ext cx="14838325" cy="2365528"/>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7"/>
          <p:cNvSpPr/>
          <p:nvPr/>
        </p:nvSpPr>
        <p:spPr>
          <a:xfrm>
            <a:off x="14838325" y="164306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7</a:t>
            </a:r>
          </a:p>
        </p:txBody>
      </p:sp>
      <p:sp>
        <p:nvSpPr>
          <p:cNvPr id="15" name="Tag 7"/>
          <p:cNvSpPr txBox="1"/>
          <p:nvPr/>
        </p:nvSpPr>
        <p:spPr>
          <a:xfrm>
            <a:off x="1016000" y="161925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 بما يناسبه علمياً</a:t>
            </a:r>
          </a:p>
        </p:txBody>
      </p:sp>
      <p:sp>
        <p:nvSpPr>
          <p:cNvPr id="16" name="Question 7"/>
          <p:cNvSpPr txBox="1"/>
          <p:nvPr/>
        </p:nvSpPr>
        <p:spPr>
          <a:xfrm>
            <a:off x="1016000" y="2000250"/>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إذا كان ثابت التجمد للماء ‪K</a:t>
            </a:r>
            <a:r>
              <a:rPr lang="ar-SA" sz="2400" b="1" i="0" baseline="-25000" dirty="0">
                <a:solidFill>
                  <a:srgbClr val="2B3038"/>
                </a:solidFill>
                <a:latin typeface="Tahoma"/>
                <a:ea typeface="Tahoma"/>
                <a:cs typeface="Tahoma"/>
              </a:rPr>
              <a:t>fp</a:t>
            </a:r>
            <a:r>
              <a:rPr lang="ar-SA" sz="2400" b="1" i="0" dirty="0">
                <a:solidFill>
                  <a:srgbClr val="2B3038"/>
                </a:solidFill>
                <a:latin typeface="Tahoma"/>
                <a:ea typeface="Tahoma"/>
                <a:cs typeface="Tahoma"/>
              </a:rPr>
              <a:t>‬ يساوي ‪(1.86 °C kg/mol)‬ فإن درجة تجمد محلول مائي للسكر تركيزه ‪0.1 m‬ تساوي ............</a:t>
            </a:r>
          </a:p>
        </p:txBody>
      </p:sp>
      <p:sp>
        <p:nvSpPr>
          <p:cNvPr id="17" name="Answer 7"/>
          <p:cNvSpPr/>
          <p:nvPr/>
        </p:nvSpPr>
        <p:spPr>
          <a:xfrm>
            <a:off x="12426433" y="3008466"/>
            <a:ext cx="2246497" cy="571500"/>
          </a:xfrm>
          <a:prstGeom prst="roundRect">
            <a:avLst>
              <a:gd name="adj" fmla="val 50000"/>
            </a:avLst>
          </a:prstGeom>
          <a:solidFill>
            <a:srgbClr val="A86A12">
              <a:alpha val="14000"/>
            </a:srgbClr>
          </a:solidFill>
          <a:ln w="15875" cap="rnd">
            <a:solidFill>
              <a:srgbClr val="A86A12">
                <a:alpha val="85000"/>
              </a:srgbClr>
            </a:solidFill>
            <a:round/>
          </a:ln>
        </p:spPr>
        <p:txBody>
          <a:bodyPr wrap="square" lIns="0" tIns="0" rIns="0" bIns="0" rtlCol="0" anchor="ctr">
            <a:noAutofit/>
          </a:bodyPr>
          <a:lstStyle/>
          <a:p>
            <a:pPr algn="ctr" rtl="1">
              <a:lnSpc>
                <a:spcPct val="110000"/>
              </a:lnSpc>
              <a:buNone/>
            </a:pPr>
            <a:r>
              <a:rPr lang="ar-SA" sz="2400" b="1" i="0" dirty="0">
                <a:solidFill>
                  <a:srgbClr val="A86A12"/>
                </a:solidFill>
                <a:latin typeface="Tahoma"/>
                <a:ea typeface="Tahoma"/>
                <a:cs typeface="Tahoma"/>
              </a:rPr>
              <a:t>‪−0.186 °C‬</a:t>
            </a:r>
          </a:p>
        </p:txBody>
      </p:sp>
      <p:sp>
        <p:nvSpPr>
          <p:cNvPr id="18" name="Card 8"/>
          <p:cNvSpPr/>
          <p:nvPr/>
        </p:nvSpPr>
        <p:spPr>
          <a:xfrm>
            <a:off x="708837" y="4222903"/>
            <a:ext cx="14838325" cy="2430753"/>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9" name="Number 8"/>
          <p:cNvSpPr/>
          <p:nvPr/>
        </p:nvSpPr>
        <p:spPr>
          <a:xfrm>
            <a:off x="14838325" y="4413403"/>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8</a:t>
            </a:r>
          </a:p>
        </p:txBody>
      </p:sp>
      <p:sp>
        <p:nvSpPr>
          <p:cNvPr id="20" name="Tag 8"/>
          <p:cNvSpPr txBox="1"/>
          <p:nvPr/>
        </p:nvSpPr>
        <p:spPr>
          <a:xfrm>
            <a:off x="1016000" y="4389591"/>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علّل (فسّر) ما يلي</a:t>
            </a:r>
          </a:p>
        </p:txBody>
      </p:sp>
      <p:sp>
        <p:nvSpPr>
          <p:cNvPr id="21" name="Question 8"/>
          <p:cNvSpPr txBox="1"/>
          <p:nvPr/>
        </p:nvSpPr>
        <p:spPr>
          <a:xfrm>
            <a:off x="1016000" y="4770591"/>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يُضاف جليكول الإيثيلين (مادة مضادة للتجمد) إلى نظام تبريد السيارات.</a:t>
            </a:r>
          </a:p>
        </p:txBody>
      </p:sp>
      <p:sp>
        <p:nvSpPr>
          <p:cNvPr id="22" name="Answer 8"/>
          <p:cNvSpPr/>
          <p:nvPr/>
        </p:nvSpPr>
        <p:spPr>
          <a:xfrm>
            <a:off x="1016000" y="5369949"/>
            <a:ext cx="13656930" cy="1045582"/>
          </a:xfrm>
          <a:prstGeom prst="roundRect">
            <a:avLst>
              <a:gd name="adj" fmla="val 9000"/>
            </a:avLst>
          </a:prstGeom>
          <a:solidFill>
            <a:srgbClr val="A86A12">
              <a:alpha val="10000"/>
            </a:srgbClr>
          </a:solidFill>
          <a:ln w="12700" cap="rnd">
            <a:solidFill>
              <a:srgbClr val="A86A12">
                <a:alpha val="70000"/>
              </a:srgbClr>
            </a:solidFill>
            <a:round/>
          </a:ln>
        </p:spPr>
        <p:txBody>
          <a:bodyPr wrap="square" lIns="212651" tIns="118139" rIns="212651" bIns="118139" rtlCol="0" anchor="t">
            <a:noAutofit/>
          </a:bodyPr>
          <a:lstStyle/>
          <a:p>
            <a:pPr algn="r" rtl="1">
              <a:lnSpc>
                <a:spcPct val="110000"/>
              </a:lnSpc>
              <a:buNone/>
            </a:pPr>
            <a:r>
              <a:rPr lang="ar-SA" sz="2300" b="1" i="0" dirty="0">
                <a:solidFill>
                  <a:srgbClr val="A86A12"/>
                </a:solidFill>
                <a:latin typeface="Tahoma"/>
                <a:ea typeface="Tahoma"/>
                <a:cs typeface="Tahoma"/>
              </a:rPr>
              <a:t>التفسير:</a:t>
            </a:r>
            <a:r>
              <a:rPr lang="ar-SA" sz="2300" b="1" i="0" dirty="0">
                <a:solidFill>
                  <a:srgbClr val="2B3038"/>
                </a:solidFill>
                <a:latin typeface="Tahoma"/>
                <a:ea typeface="Tahoma"/>
                <a:cs typeface="Tahoma"/>
              </a:rPr>
              <a:t> لأنه مادة غير متطايرة وغير إلكتروليتية تعمل على خفض درجة تجمد المحلول ورفع درجة غليانه، مما يزيد من كفاءة التبريد.</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450"/>
                                        <p:tgtEl>
                                          <p:spTgt spid="1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45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45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450"/>
                                        <p:tgtEl>
                                          <p:spTgt spid="17"/>
                                        </p:tgtEl>
                                      </p:cBhvr>
                                    </p:animEffect>
                                    <p:anim calcmode="lin" valueType="num">
                                      <p:cBhvr>
                                        <p:cTn id="42" dur="450" fill="hold"/>
                                        <p:tgtEl>
                                          <p:spTgt spid="17"/>
                                        </p:tgtEl>
                                        <p:attrNameLst>
                                          <p:attrName>ppt_w</p:attrName>
                                        </p:attrNameLst>
                                      </p:cBhvr>
                                      <p:tavLst>
                                        <p:tav tm="0">
                                          <p:val>
                                            <p:strVal val="0"/>
                                          </p:val>
                                        </p:tav>
                                        <p:tav tm="100000">
                                          <p:val>
                                            <p:strVal val="#ppt_w"/>
                                          </p:val>
                                        </p:tav>
                                      </p:tavLst>
                                    </p:anim>
                                    <p:anim calcmode="lin" valueType="num">
                                      <p:cBhvr>
                                        <p:cTn id="43" dur="450" fill="hold"/>
                                        <p:tgtEl>
                                          <p:spTgt spid="17"/>
                                        </p:tgtEl>
                                        <p:attrNameLst>
                                          <p:attrName>ppt_h</p:attrName>
                                        </p:attrNameLst>
                                      </p:cBhvr>
                                      <p:tavLst>
                                        <p:tav tm="0">
                                          <p:val>
                                            <p:str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fade">
                                      <p:cBhvr>
                                        <p:cTn id="48" dur="500"/>
                                        <p:tgtEl>
                                          <p:spTgt spid="22"/>
                                        </p:tgtEl>
                                      </p:cBhvr>
                                    </p:animEffect>
                                    <p:anim calcmode="lin" valueType="num">
                                      <p:cBhvr>
                                        <p:cTn id="49" dur="500" fill="hold"/>
                                        <p:tgtEl>
                                          <p:spTgt spid="22"/>
                                        </p:tgtEl>
                                        <p:attrNameLst>
                                          <p:attrName>ppt_x</p:attrName>
                                        </p:attrNameLst>
                                      </p:cBhvr>
                                      <p:tavLst>
                                        <p:tav tm="0">
                                          <p:val>
                                            <p:strVal val="#ppt_x"/>
                                          </p:val>
                                        </p:tav>
                                        <p:tav tm="100000">
                                          <p:val>
                                            <p:strVal val="#ppt_x"/>
                                          </p:val>
                                        </p:tav>
                                      </p:tavLst>
                                    </p:anim>
                                    <p:anim calcmode="lin" valueType="num">
                                      <p:cBhvr>
                                        <p:cTn id="50" dur="5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درجة التجمد</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الثالثة</a:t>
            </a:r>
          </a:p>
        </p:txBody>
      </p:sp>
      <p:sp>
        <p:nvSpPr>
          <p:cNvPr id="13" name="Card 9"/>
          <p:cNvSpPr/>
          <p:nvPr/>
        </p:nvSpPr>
        <p:spPr>
          <a:xfrm>
            <a:off x="708837" y="2309812"/>
            <a:ext cx="14838325" cy="2430753"/>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9"/>
          <p:cNvSpPr/>
          <p:nvPr/>
        </p:nvSpPr>
        <p:spPr>
          <a:xfrm>
            <a:off x="14838325" y="250031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9</a:t>
            </a:r>
          </a:p>
        </p:txBody>
      </p:sp>
      <p:sp>
        <p:nvSpPr>
          <p:cNvPr id="15" name="Tag 9"/>
          <p:cNvSpPr txBox="1"/>
          <p:nvPr/>
        </p:nvSpPr>
        <p:spPr>
          <a:xfrm>
            <a:off x="1016000" y="247650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علّل (فسّر) ما يلي</a:t>
            </a:r>
          </a:p>
        </p:txBody>
      </p:sp>
      <p:sp>
        <p:nvSpPr>
          <p:cNvPr id="16" name="Question 9"/>
          <p:cNvSpPr txBox="1"/>
          <p:nvPr/>
        </p:nvSpPr>
        <p:spPr>
          <a:xfrm>
            <a:off x="1016000" y="2857500"/>
            <a:ext cx="13656930" cy="456483"/>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يتم رش الطرقات بالملح شتاءً في المناطق الباردة جداً.</a:t>
            </a:r>
          </a:p>
        </p:txBody>
      </p:sp>
      <p:sp>
        <p:nvSpPr>
          <p:cNvPr id="17" name="Answer 9"/>
          <p:cNvSpPr/>
          <p:nvPr/>
        </p:nvSpPr>
        <p:spPr>
          <a:xfrm>
            <a:off x="1016000" y="3456858"/>
            <a:ext cx="13656930" cy="1045582"/>
          </a:xfrm>
          <a:prstGeom prst="roundRect">
            <a:avLst>
              <a:gd name="adj" fmla="val 9000"/>
            </a:avLst>
          </a:prstGeom>
          <a:solidFill>
            <a:srgbClr val="A86A12">
              <a:alpha val="10000"/>
            </a:srgbClr>
          </a:solidFill>
          <a:ln w="12700" cap="rnd">
            <a:solidFill>
              <a:srgbClr val="A86A12">
                <a:alpha val="70000"/>
              </a:srgbClr>
            </a:solidFill>
            <a:round/>
          </a:ln>
        </p:spPr>
        <p:txBody>
          <a:bodyPr wrap="square" lIns="212651" tIns="118139" rIns="212651" bIns="118139" rtlCol="0" anchor="t">
            <a:noAutofit/>
          </a:bodyPr>
          <a:lstStyle/>
          <a:p>
            <a:pPr algn="r" rtl="1">
              <a:lnSpc>
                <a:spcPct val="110000"/>
              </a:lnSpc>
              <a:buNone/>
            </a:pPr>
            <a:r>
              <a:rPr lang="ar-SA" sz="2300" b="1" i="0" dirty="0">
                <a:solidFill>
                  <a:srgbClr val="A86A12"/>
                </a:solidFill>
                <a:latin typeface="Tahoma"/>
                <a:ea typeface="Tahoma"/>
                <a:cs typeface="Tahoma"/>
              </a:rPr>
              <a:t>التفسير:</a:t>
            </a:r>
            <a:r>
              <a:rPr lang="ar-SA" sz="2300" b="1" i="0" dirty="0">
                <a:solidFill>
                  <a:srgbClr val="2B3038"/>
                </a:solidFill>
                <a:latin typeface="Tahoma"/>
                <a:ea typeface="Tahoma"/>
                <a:cs typeface="Tahoma"/>
              </a:rPr>
              <a:t> لكي يمنع تكوّن الجليد عليها للحد من حوادث الطرق، حيث يعمل الملح على خفض درجة تجمد الماء.</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anim calcmode="lin" valueType="num">
                                      <p:cBhvr>
                                        <p:cTn id="29" dur="500" fill="hold"/>
                                        <p:tgtEl>
                                          <p:spTgt spid="17"/>
                                        </p:tgtEl>
                                        <p:attrNameLst>
                                          <p:attrName>ppt_x</p:attrName>
                                        </p:attrNameLst>
                                      </p:cBhvr>
                                      <p:tavLst>
                                        <p:tav tm="0">
                                          <p:val>
                                            <p:strVal val="#ppt_x"/>
                                          </p:val>
                                        </p:tav>
                                        <p:tav tm="100000">
                                          <p:val>
                                            <p:strVal val="#ppt_x"/>
                                          </p:val>
                                        </p:tav>
                                      </p:tavLst>
                                    </p:anim>
                                    <p:anim calcmode="lin" valueType="num">
                                      <p:cBhvr>
                                        <p:cTn id="30"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(9)</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p>
        </p:txBody>
      </p:sp>
      <p:sp>
        <p:nvSpPr>
          <p:cNvPr id="13" name="Card 9"/>
          <p:cNvSpPr/>
          <p:nvPr/>
        </p:nvSpPr>
        <p:spPr>
          <a:xfrm>
            <a:off x="708837" y="1238250"/>
            <a:ext cx="14838325" cy="1964762"/>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9"/>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9</a:t>
            </a:r>
          </a:p>
        </p:txBody>
      </p:sp>
      <p:sp>
        <p:nvSpPr>
          <p:cNvPr id="15" name="Tag 9"/>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p>
        </p:txBody>
      </p:sp>
      <p:sp>
        <p:nvSpPr>
          <p:cNvPr id="16" name="Question 9"/>
          <p:cNvSpPr txBox="1"/>
          <p:nvPr/>
        </p:nvSpPr>
        <p:spPr>
          <a:xfrm>
            <a:off x="1016000" y="1785937"/>
            <a:ext cx="13656930" cy="1274199"/>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أُذيب ‪(49.63 g)‬ من مركب غير إلكتروليتي وغير متطاير في ‪(1 kg)‬ من الماء، فإذا علمت أن درجة تجمد المحلول ‪(−0.27 °C)‬، احسب الكتلة المولية للمركب علماً بأن ‪K</a:t>
            </a:r>
            <a:r>
              <a:rPr lang="ar-SA" sz="2400" b="1" i="0" baseline="-25000" dirty="0">
                <a:solidFill>
                  <a:srgbClr val="2B3038"/>
                </a:solidFill>
                <a:latin typeface="Tahoma"/>
                <a:ea typeface="Tahoma"/>
                <a:cs typeface="Tahoma"/>
              </a:rPr>
              <a:t>fp</a:t>
            </a:r>
            <a:r>
              <a:rPr lang="ar-SA" sz="2400" b="1" i="0" dirty="0">
                <a:solidFill>
                  <a:srgbClr val="2B3038"/>
                </a:solidFill>
                <a:latin typeface="Tahoma"/>
                <a:ea typeface="Tahoma"/>
                <a:cs typeface="Tahoma"/>
              </a:rPr>
              <a:t>‬ للماء ‪(1.86 °C kg/mol)‬.</a:t>
            </a:r>
          </a:p>
        </p:txBody>
      </p:sp>
      <p:sp>
        <p:nvSpPr>
          <p:cNvPr id="17" name="Solution panel 1"/>
          <p:cNvSpPr/>
          <p:nvPr/>
        </p:nvSpPr>
        <p:spPr>
          <a:xfrm>
            <a:off x="708837" y="3393512"/>
            <a:ext cx="14838325" cy="2274897"/>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536387"/>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p>
        </p:txBody>
      </p:sp>
      <p:sp>
        <p:nvSpPr>
          <p:cNvPr id="19" name="Solution 1"/>
          <p:cNvSpPr txBox="1"/>
          <p:nvPr/>
        </p:nvSpPr>
        <p:spPr>
          <a:xfrm>
            <a:off x="945116" y="3988824"/>
            <a:ext cx="14365767" cy="1560522"/>
          </a:xfrm>
          <a:prstGeom prst="rect">
            <a:avLst/>
          </a:prstGeom>
          <a:noFill/>
          <a:ln>
            <a:noFill/>
          </a:ln>
        </p:spPr>
        <p:txBody>
          <a:bodyPr wrap="square" lIns="0" tIns="0" rIns="0" bIns="0" rtlCol="0" anchor="t">
            <a:noAutofit/>
          </a:bodyPr>
          <a:lstStyle/>
          <a:p>
            <a:pPr rtl="0" algn="ctr">
              <a:lnSpc>
                <a:spcPct val="125000"/>
              </a:lnSpc>
              <a:buNone/>
            </a:pPr>
            <a:r>
              <a:rPr lang="en-US" sz="2400" b="1" i="0" dirty="0">
                <a:solidFill>
                  <a:srgbClr val="2B3038"/>
                </a:solidFill>
                <a:latin typeface="Tahoma"/>
                <a:ea typeface="Tahoma"/>
                <a:cs typeface="Tahoma"/>
              </a:rPr>
              <a:t>ΔT</a:t>
            </a:r>
            <a:r>
              <a:rPr baseline="-25000" lang="en-US" sz="2400" b="1" i="0" dirty="0">
                <a:solidFill>
                  <a:srgbClr val="2B3038"/>
                </a:solidFill>
                <a:latin typeface="Tahoma"/>
                <a:ea typeface="Tahoma"/>
                <a:cs typeface="Tahoma"/>
              </a:rPr>
              <a:t>fp</a:t>
            </a:r>
            <a:r>
              <a:rPr lang="en-US" sz="2400" b="1" i="0" dirty="0">
                <a:solidFill>
                  <a:srgbClr val="2B3038"/>
                </a:solidFill>
                <a:latin typeface="Tahoma"/>
                <a:ea typeface="Tahoma"/>
                <a:cs typeface="Tahoma"/>
              </a:rPr>
              <a:t xml:space="preserve"> = 0 − (−0.27) = 0.27 °C</a:t>
            </a:r>
          </a:p>
          <a:p>
            <a:pPr rtl="0" algn="ctr">
              <a:lnSpc>
                <a:spcPct val="125000"/>
              </a:lnSpc>
              <a:buNone/>
            </a:pPr>
            <a:r>
              <a:rPr lang="en-US" sz="2400" b="1" i="0" dirty="0">
                <a:solidFill>
                  <a:srgbClr val="2B3038"/>
                </a:solidFill>
                <a:latin typeface="Tahoma"/>
                <a:ea typeface="Tahoma"/>
                <a:cs typeface="Tahoma"/>
              </a:rPr>
              <a:t>M</a:t>
            </a:r>
            <a:r>
              <a:rPr baseline="-25000" lang="en-US" sz="2400" b="1" i="0" dirty="0">
                <a:solidFill>
                  <a:srgbClr val="2B3038"/>
                </a:solidFill>
                <a:latin typeface="Tahoma"/>
                <a:ea typeface="Tahoma"/>
                <a:cs typeface="Tahoma"/>
              </a:rPr>
              <a:t>wt</a:t>
            </a:r>
            <a:r>
              <a:rPr lang="en-US" sz="2400" b="1" i="0" dirty="0">
                <a:solidFill>
                  <a:srgbClr val="2B3038"/>
                </a:solidFill>
                <a:latin typeface="Tahoma"/>
                <a:ea typeface="Tahoma"/>
                <a:cs typeface="Tahoma"/>
              </a:rPr>
              <a:t xml:space="preserve"> = (m</a:t>
            </a:r>
            <a:r>
              <a:rPr baseline="-25000" lang="en-US" sz="2400" b="1" i="0" dirty="0">
                <a:solidFill>
                  <a:srgbClr val="2B3038"/>
                </a:solidFill>
                <a:latin typeface="Tahoma"/>
                <a:ea typeface="Tahoma"/>
                <a:cs typeface="Tahoma"/>
              </a:rPr>
              <a:t>s</a:t>
            </a:r>
            <a:r>
              <a:rPr lang="en-US" sz="2400" b="1" i="0" dirty="0">
                <a:solidFill>
                  <a:srgbClr val="2B3038"/>
                </a:solidFill>
                <a:latin typeface="Tahoma"/>
                <a:ea typeface="Tahoma"/>
                <a:cs typeface="Tahoma"/>
              </a:rPr>
              <a:t xml:space="preserve"> × K</a:t>
            </a:r>
            <a:r>
              <a:rPr baseline="-25000" lang="en-US" sz="2400" b="1" i="0" dirty="0">
                <a:solidFill>
                  <a:srgbClr val="2B3038"/>
                </a:solidFill>
                <a:latin typeface="Tahoma"/>
                <a:ea typeface="Tahoma"/>
                <a:cs typeface="Tahoma"/>
              </a:rPr>
              <a:t>fp</a:t>
            </a:r>
            <a:r>
              <a:rPr lang="en-US" sz="2400" b="1" i="0" dirty="0">
                <a:solidFill>
                  <a:srgbClr val="2B3038"/>
                </a:solidFill>
                <a:latin typeface="Tahoma"/>
                <a:ea typeface="Tahoma"/>
                <a:cs typeface="Tahoma"/>
              </a:rPr>
              <a:t>) / (kg</a:t>
            </a:r>
            <a:r>
              <a:rPr baseline="-25000" lang="en-US" sz="2400" b="1" i="0" dirty="0">
                <a:solidFill>
                  <a:srgbClr val="2B3038"/>
                </a:solidFill>
                <a:latin typeface="Tahoma"/>
                <a:ea typeface="Tahoma"/>
                <a:cs typeface="Tahoma"/>
              </a:rPr>
              <a:t>solvent</a:t>
            </a:r>
            <a:r>
              <a:rPr lang="en-US" sz="2400" b="1" i="0" dirty="0">
                <a:solidFill>
                  <a:srgbClr val="2B3038"/>
                </a:solidFill>
                <a:latin typeface="Tahoma"/>
                <a:ea typeface="Tahoma"/>
                <a:cs typeface="Tahoma"/>
              </a:rPr>
              <a:t xml:space="preserve"> × ΔT</a:t>
            </a:r>
            <a:r>
              <a:rPr baseline="-25000" lang="en-US" sz="2400" b="1" i="0" dirty="0">
                <a:solidFill>
                  <a:srgbClr val="2B3038"/>
                </a:solidFill>
                <a:latin typeface="Tahoma"/>
                <a:ea typeface="Tahoma"/>
                <a:cs typeface="Tahoma"/>
              </a:rPr>
              <a:t>fp</a:t>
            </a:r>
            <a:r>
              <a:rPr lang="en-US" sz="2400" b="1" i="0" dirty="0">
                <a:solidFill>
                  <a:srgbClr val="2B3038"/>
                </a:solidFill>
                <a:latin typeface="Tahoma"/>
                <a:ea typeface="Tahoma"/>
                <a:cs typeface="Tahoma"/>
              </a:rPr>
              <a:t>)</a:t>
            </a:r>
          </a:p>
          <a:p>
            <a:pPr rtl="0" algn="ctr">
              <a:lnSpc>
                <a:spcPct val="125000"/>
              </a:lnSpc>
              <a:buNone/>
            </a:pPr>
            <a:r>
              <a:rPr lang="en-US" sz="2400" b="1" i="0" dirty="0">
                <a:solidFill>
                  <a:srgbClr val="2B3038"/>
                </a:solidFill>
                <a:latin typeface="Tahoma"/>
                <a:ea typeface="Tahoma"/>
                <a:cs typeface="Tahoma"/>
              </a:rPr>
              <a:t>M</a:t>
            </a:r>
            <a:r>
              <a:rPr baseline="-25000" lang="en-US" sz="2400" b="1" i="0" dirty="0">
                <a:solidFill>
                  <a:srgbClr val="2B3038"/>
                </a:solidFill>
                <a:latin typeface="Tahoma"/>
                <a:ea typeface="Tahoma"/>
                <a:cs typeface="Tahoma"/>
              </a:rPr>
              <a:t>wt</a:t>
            </a:r>
            <a:r>
              <a:rPr lang="en-US" sz="2400" b="1" i="0" dirty="0">
                <a:solidFill>
                  <a:srgbClr val="2B3038"/>
                </a:solidFill>
                <a:latin typeface="Tahoma"/>
                <a:ea typeface="Tahoma"/>
                <a:cs typeface="Tahoma"/>
              </a:rPr>
              <a:t xml:space="preserve"> = (49.63 × 1.86) / (1 × 0.27) = 341.895 g/mol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8" fill="hold">
                            <p:stCondLst>
                              <p:cond delay="460"/>
                            </p:stCondLst>
                            <p:childTnLst>
                              <p:par>
                                <p:cTn id="39"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4" fill="hold">
                            <p:stCondLst>
                              <p:cond delay="920"/>
                            </p:stCondLst>
                            <p:childTnLst>
                              <p:par>
                                <p:cTn id="45"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(7)</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p>
        </p:txBody>
      </p:sp>
      <p:sp>
        <p:nvSpPr>
          <p:cNvPr id="13" name="Card 7"/>
          <p:cNvSpPr/>
          <p:nvPr/>
        </p:nvSpPr>
        <p:spPr>
          <a:xfrm>
            <a:off x="708837" y="1238250"/>
            <a:ext cx="14838325" cy="1964762"/>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7"/>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7</a:t>
            </a:r>
          </a:p>
        </p:txBody>
      </p:sp>
      <p:sp>
        <p:nvSpPr>
          <p:cNvPr id="15" name="Tag 7"/>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p>
        </p:txBody>
      </p:sp>
      <p:sp>
        <p:nvSpPr>
          <p:cNvPr id="16" name="Question 7"/>
          <p:cNvSpPr txBox="1"/>
          <p:nvPr/>
        </p:nvSpPr>
        <p:spPr>
          <a:xfrm>
            <a:off x="1016000" y="1785937"/>
            <a:ext cx="13656930" cy="1274199"/>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أُذيب ‪(2.5 g)‬ من مادة صلبة غير إلكتروليتية وغير متطايرة في ‪(72 g)‬ من مذيب، فتجمد المحلول عند ‪(4.79 °C)‬. احسب الكتلة الجزيئية للمذاب علماً بأن درجة تجمد المذيب النقي ‪(5.5 °C)‬ وأن ثابت التجمد لهذا المذيب يساوي ‪(5.1 °C kg/mol)‬.</a:t>
            </a:r>
          </a:p>
        </p:txBody>
      </p:sp>
      <p:sp>
        <p:nvSpPr>
          <p:cNvPr id="17" name="Solution panel 1"/>
          <p:cNvSpPr/>
          <p:nvPr/>
        </p:nvSpPr>
        <p:spPr>
          <a:xfrm>
            <a:off x="708837" y="3393512"/>
            <a:ext cx="14838325" cy="3204120"/>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536387"/>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p>
        </p:txBody>
      </p:sp>
      <p:sp>
        <p:nvSpPr>
          <p:cNvPr id="19" name="Solution 1"/>
          <p:cNvSpPr txBox="1"/>
          <p:nvPr/>
        </p:nvSpPr>
        <p:spPr>
          <a:xfrm>
            <a:off x="945116" y="3988824"/>
            <a:ext cx="14365767" cy="2489745"/>
          </a:xfrm>
          <a:prstGeom prst="rect">
            <a:avLst/>
          </a:prstGeom>
          <a:noFill/>
          <a:ln>
            <a:noFill/>
          </a:ln>
        </p:spPr>
        <p:txBody>
          <a:bodyPr wrap="square" lIns="0" tIns="0" rIns="0" bIns="0" rtlCol="0" anchor="t">
            <a:noAutofit/>
          </a:bodyPr>
          <a:lstStyle/>
          <a:p>
            <a:pPr rtl="0" algn="ctr">
              <a:lnSpc>
                <a:spcPct val="125000"/>
              </a:lnSpc>
              <a:buNone/>
            </a:pPr>
            <a:r>
              <a:rPr lang="en-US" sz="2400" b="1" i="0" dirty="0">
                <a:solidFill>
                  <a:srgbClr val="2B3038"/>
                </a:solidFill>
                <a:latin typeface="Tahoma"/>
                <a:ea typeface="Tahoma"/>
                <a:cs typeface="Tahoma"/>
              </a:rPr>
              <a:t>ΔT</a:t>
            </a:r>
            <a:r>
              <a:rPr baseline="-25000" lang="en-US" sz="2400" b="1" i="0" dirty="0">
                <a:solidFill>
                  <a:srgbClr val="2B3038"/>
                </a:solidFill>
                <a:latin typeface="Tahoma"/>
                <a:ea typeface="Tahoma"/>
                <a:cs typeface="Tahoma"/>
              </a:rPr>
              <a:t>fp</a:t>
            </a:r>
            <a:r>
              <a:rPr lang="en-US" sz="2400" b="1" i="0" dirty="0">
                <a:solidFill>
                  <a:srgbClr val="2B3038"/>
                </a:solidFill>
                <a:latin typeface="Tahoma"/>
                <a:ea typeface="Tahoma"/>
                <a:cs typeface="Tahoma"/>
              </a:rPr>
              <a:t xml:space="preserve"> = 5.5 − 4.79 = 0.71 °C</a:t>
            </a:r>
          </a:p>
          <a:p>
            <a:pPr rtl="0" algn="ctr">
              <a:lnSpc>
                <a:spcPct val="125000"/>
              </a:lnSpc>
              <a:buNone/>
            </a:pPr>
            <a:r>
              <a:rPr lang="en-US" sz="2400" b="1" i="0" dirty="0">
                <a:solidFill>
                  <a:srgbClr val="2B3038"/>
                </a:solidFill>
                <a:latin typeface="Tahoma"/>
                <a:ea typeface="Tahoma"/>
                <a:cs typeface="Tahoma"/>
              </a:rPr>
              <a:t>ΔT</a:t>
            </a:r>
            <a:r>
              <a:rPr baseline="-25000" lang="en-US" sz="2400" b="1" i="0" dirty="0">
                <a:solidFill>
                  <a:srgbClr val="2B3038"/>
                </a:solidFill>
                <a:latin typeface="Tahoma"/>
                <a:ea typeface="Tahoma"/>
                <a:cs typeface="Tahoma"/>
              </a:rPr>
              <a:t>fp</a:t>
            </a:r>
            <a:r>
              <a:rPr lang="en-US" sz="2400" b="1" i="0" dirty="0">
                <a:solidFill>
                  <a:srgbClr val="2B3038"/>
                </a:solidFill>
                <a:latin typeface="Tahoma"/>
                <a:ea typeface="Tahoma"/>
                <a:cs typeface="Tahoma"/>
              </a:rPr>
              <a:t xml:space="preserve"> = K</a:t>
            </a:r>
            <a:r>
              <a:rPr baseline="-25000" lang="en-US" sz="2400" b="1" i="0" dirty="0">
                <a:solidFill>
                  <a:srgbClr val="2B3038"/>
                </a:solidFill>
                <a:latin typeface="Tahoma"/>
                <a:ea typeface="Tahoma"/>
                <a:cs typeface="Tahoma"/>
              </a:rPr>
              <a:t>fp</a:t>
            </a:r>
            <a:r>
              <a:rPr lang="en-US" sz="2400" b="1" i="0" dirty="0">
                <a:solidFill>
                  <a:srgbClr val="2B3038"/>
                </a:solidFill>
                <a:latin typeface="Tahoma"/>
                <a:ea typeface="Tahoma"/>
                <a:cs typeface="Tahoma"/>
              </a:rPr>
              <a:t xml:space="preserve"> × m</a:t>
            </a:r>
          </a:p>
          <a:p>
            <a:pPr rtl="0" algn="ctr">
              <a:lnSpc>
                <a:spcPct val="125000"/>
              </a:lnSpc>
              <a:buNone/>
            </a:pPr>
            <a:r>
              <a:rPr lang="en-US" sz="2400" b="1" i="0" dirty="0">
                <a:solidFill>
                  <a:srgbClr val="2B3038"/>
                </a:solidFill>
                <a:latin typeface="Tahoma"/>
                <a:ea typeface="Tahoma"/>
                <a:cs typeface="Tahoma"/>
              </a:rPr>
              <a:t>m = ΔT</a:t>
            </a:r>
            <a:r>
              <a:rPr baseline="-25000" lang="en-US" sz="2400" b="1" i="0" dirty="0">
                <a:solidFill>
                  <a:srgbClr val="2B3038"/>
                </a:solidFill>
                <a:latin typeface="Tahoma"/>
                <a:ea typeface="Tahoma"/>
                <a:cs typeface="Tahoma"/>
              </a:rPr>
              <a:t>fp</a:t>
            </a:r>
            <a:r>
              <a:rPr lang="en-US" sz="2400" b="1" i="0" dirty="0">
                <a:solidFill>
                  <a:srgbClr val="2B3038"/>
                </a:solidFill>
                <a:latin typeface="Tahoma"/>
                <a:ea typeface="Tahoma"/>
                <a:cs typeface="Tahoma"/>
              </a:rPr>
              <a:t xml:space="preserve"> / K</a:t>
            </a:r>
            <a:r>
              <a:rPr baseline="-25000" lang="en-US" sz="2400" b="1" i="0" dirty="0">
                <a:solidFill>
                  <a:srgbClr val="2B3038"/>
                </a:solidFill>
                <a:latin typeface="Tahoma"/>
                <a:ea typeface="Tahoma"/>
                <a:cs typeface="Tahoma"/>
              </a:rPr>
              <a:t>fp</a:t>
            </a:r>
            <a:r>
              <a:rPr lang="en-US" sz="2400" b="1" i="0" dirty="0">
                <a:solidFill>
                  <a:srgbClr val="2B3038"/>
                </a:solidFill>
                <a:latin typeface="Tahoma"/>
                <a:ea typeface="Tahoma"/>
                <a:cs typeface="Tahoma"/>
              </a:rPr>
              <a:t xml:space="preserve"> = 0.71 / 5.1 = 0.14 mol/kg</a:t>
            </a:r>
          </a:p>
          <a:p>
            <a:pPr rtl="0" algn="ctr">
              <a:lnSpc>
                <a:spcPct val="125000"/>
              </a:lnSpc>
              <a:buNone/>
            </a:pPr>
            <a:r>
              <a:rPr lang="en-US" sz="2400" b="1" i="0" dirty="0">
                <a:solidFill>
                  <a:srgbClr val="2B3038"/>
                </a:solidFill>
                <a:latin typeface="Tahoma"/>
                <a:ea typeface="Tahoma"/>
                <a:cs typeface="Tahoma"/>
              </a:rPr>
              <a:t>M</a:t>
            </a:r>
            <a:r>
              <a:rPr baseline="-25000" lang="en-US" sz="2400" b="1" i="0" dirty="0">
                <a:solidFill>
                  <a:srgbClr val="2B3038"/>
                </a:solidFill>
                <a:latin typeface="Tahoma"/>
                <a:ea typeface="Tahoma"/>
                <a:cs typeface="Tahoma"/>
              </a:rPr>
              <a:t>wt</a:t>
            </a:r>
            <a:r>
              <a:rPr lang="en-US" sz="2400" b="1" i="0" dirty="0">
                <a:solidFill>
                  <a:srgbClr val="2B3038"/>
                </a:solidFill>
                <a:latin typeface="Tahoma"/>
                <a:ea typeface="Tahoma"/>
                <a:cs typeface="Tahoma"/>
              </a:rPr>
              <a:t xml:space="preserve"> = m</a:t>
            </a:r>
            <a:r>
              <a:rPr baseline="-25000" lang="en-US" sz="2400" b="1" i="0" dirty="0">
                <a:solidFill>
                  <a:srgbClr val="2B3038"/>
                </a:solidFill>
                <a:latin typeface="Tahoma"/>
                <a:ea typeface="Tahoma"/>
                <a:cs typeface="Tahoma"/>
              </a:rPr>
              <a:t>s</a:t>
            </a:r>
            <a:r>
              <a:rPr lang="en-US" sz="2400" b="1" i="0" dirty="0">
                <a:solidFill>
                  <a:srgbClr val="2B3038"/>
                </a:solidFill>
                <a:latin typeface="Tahoma"/>
                <a:ea typeface="Tahoma"/>
                <a:cs typeface="Tahoma"/>
              </a:rPr>
              <a:t xml:space="preserve"> / (m × kg</a:t>
            </a:r>
            <a:r>
              <a:rPr baseline="-25000" lang="en-US" sz="2400" b="1" i="0" dirty="0">
                <a:solidFill>
                  <a:srgbClr val="2B3038"/>
                </a:solidFill>
                <a:latin typeface="Tahoma"/>
                <a:ea typeface="Tahoma"/>
                <a:cs typeface="Tahoma"/>
              </a:rPr>
              <a:t>solvent</a:t>
            </a:r>
            <a:r>
              <a:rPr lang="en-US" sz="2400" b="1" i="0" dirty="0">
                <a:solidFill>
                  <a:srgbClr val="2B3038"/>
                </a:solidFill>
                <a:latin typeface="Tahoma"/>
                <a:ea typeface="Tahoma"/>
                <a:cs typeface="Tahoma"/>
              </a:rPr>
              <a:t>)</a:t>
            </a:r>
            <a:endParaRPr lang="ar-SA" sz="2400" b="1" i="0" dirty="0">
              <a:solidFill>
                <a:srgbClr val="2B3038"/>
              </a:solidFill>
              <a:latin typeface="Tahoma"/>
              <a:ea typeface="Tahoma"/>
              <a:cs typeface="Tahoma"/>
            </a:endParaRPr>
          </a:p>
          <a:p>
            <a:pPr rtl="0" algn="ctr">
              <a:lnSpc>
                <a:spcPct val="125000"/>
              </a:lnSpc>
              <a:buNone/>
            </a:pPr>
            <a:r>
              <a:rPr lang="en-US" sz="2400" b="1" i="0" dirty="0">
                <a:solidFill>
                  <a:srgbClr val="2B3038"/>
                </a:solidFill>
                <a:latin typeface="Tahoma"/>
                <a:ea typeface="Tahoma"/>
                <a:cs typeface="Tahoma"/>
              </a:rPr>
              <a:t>M</a:t>
            </a:r>
            <a:r>
              <a:rPr baseline="-25000" lang="en-US" sz="2400" b="1" i="0" dirty="0">
                <a:solidFill>
                  <a:srgbClr val="2B3038"/>
                </a:solidFill>
                <a:latin typeface="Tahoma"/>
                <a:ea typeface="Tahoma"/>
                <a:cs typeface="Tahoma"/>
              </a:rPr>
              <a:t>wt</a:t>
            </a:r>
            <a:r>
              <a:rPr lang="en-US" sz="2400" b="1" i="0" dirty="0">
                <a:solidFill>
                  <a:srgbClr val="2B3038"/>
                </a:solidFill>
                <a:latin typeface="Tahoma"/>
                <a:ea typeface="Tahoma"/>
                <a:cs typeface="Tahoma"/>
              </a:rPr>
              <a:t xml:space="preserve"> = 2.5 / (0.14 × 0.072) = 248 g/mol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8" fill="hold">
                            <p:stCondLst>
                              <p:cond delay="460"/>
                            </p:stCondLst>
                            <p:childTnLst>
                              <p:par>
                                <p:cTn id="39"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4" fill="hold">
                            <p:stCondLst>
                              <p:cond delay="920"/>
                            </p:stCondLst>
                            <p:childTnLst>
                              <p:par>
                                <p:cTn id="45"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50" fill="hold">
                            <p:stCondLst>
                              <p:cond delay="1380"/>
                            </p:stCondLst>
                            <p:childTnLst>
                              <p:par>
                                <p:cTn id="51" presetID="42" presetClass="entr" presetSubtype="0" fill="hold" grpId="0" nodeType="afterEffect">
                                  <p:stCondLst>
                                    <p:cond delay="0"/>
                                  </p:stCondLst>
                                  <p:childTnLst>
                                    <p:set>
                                      <p:cBhvr>
                                        <p:cTn id="52" dur="1" fill="hold">
                                          <p:stCondLst>
                                            <p:cond delay="0"/>
                                          </p:stCondLst>
                                        </p:cTn>
                                        <p:tgtEl>
                                          <p:spTgt spid="19">
                                            <p:txEl>
                                              <p:pRg st="3" end="3"/>
                                            </p:txEl>
                                          </p:spTgt>
                                        </p:tgtEl>
                                        <p:attrNameLst>
                                          <p:attrName>style.visibility</p:attrName>
                                        </p:attrNameLst>
                                      </p:cBhvr>
                                      <p:to>
                                        <p:strVal val="visible"/>
                                      </p:to>
                                    </p:set>
                                    <p:animEffect transition="in" filter="fade">
                                      <p:cBhvr>
                                        <p:cTn id="53" dur="400"/>
                                        <p:tgtEl>
                                          <p:spTgt spid="19">
                                            <p:txEl>
                                              <p:pRg st="3" end="3"/>
                                            </p:txEl>
                                          </p:spTgt>
                                        </p:tgtEl>
                                      </p:cBhvr>
                                    </p:animEffect>
                                    <p:anim calcmode="lin" valueType="num">
                                      <p:cBhvr>
                                        <p:cTn id="54" dur="4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55" dur="4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par>
                          <p:cTn id="56" fill="hold">
                            <p:stCondLst>
                              <p:cond delay="1840"/>
                            </p:stCondLst>
                            <p:childTnLst>
                              <p:par>
                                <p:cTn id="57" presetID="42" presetClass="entr" presetSubtype="0" fill="hold" grpId="0" nodeType="afterEffect">
                                  <p:stCondLst>
                                    <p:cond delay="0"/>
                                  </p:stCondLst>
                                  <p:childTnLst>
                                    <p:set>
                                      <p:cBhvr>
                                        <p:cTn id="58" dur="1" fill="hold">
                                          <p:stCondLst>
                                            <p:cond delay="0"/>
                                          </p:stCondLst>
                                        </p:cTn>
                                        <p:tgtEl>
                                          <p:spTgt spid="19">
                                            <p:txEl>
                                              <p:pRg st="4" end="4"/>
                                            </p:txEl>
                                          </p:spTgt>
                                        </p:tgtEl>
                                        <p:attrNameLst>
                                          <p:attrName>style.visibility</p:attrName>
                                        </p:attrNameLst>
                                      </p:cBhvr>
                                      <p:to>
                                        <p:strVal val="visible"/>
                                      </p:to>
                                    </p:set>
                                    <p:animEffect transition="in" filter="fade">
                                      <p:cBhvr>
                                        <p:cTn id="59" dur="400"/>
                                        <p:tgtEl>
                                          <p:spTgt spid="19">
                                            <p:txEl>
                                              <p:pRg st="4" end="4"/>
                                            </p:txEl>
                                          </p:spTgt>
                                        </p:tgtEl>
                                      </p:cBhvr>
                                    </p:animEffect>
                                    <p:anim calcmode="lin" valueType="num">
                                      <p:cBhvr>
                                        <p:cTn id="60" dur="400" fill="hold"/>
                                        <p:tgtEl>
                                          <p:spTgt spid="19">
                                            <p:txEl>
                                              <p:pRg st="4" end="4"/>
                                            </p:txEl>
                                          </p:spTgt>
                                        </p:tgtEl>
                                        <p:attrNameLst>
                                          <p:attrName>ppt_x</p:attrName>
                                        </p:attrNameLst>
                                      </p:cBhvr>
                                      <p:tavLst>
                                        <p:tav tm="0">
                                          <p:val>
                                            <p:strVal val="#ppt_x"/>
                                          </p:val>
                                        </p:tav>
                                        <p:tav tm="100000">
                                          <p:val>
                                            <p:strVal val="#ppt_x"/>
                                          </p:val>
                                        </p:tav>
                                      </p:tavLst>
                                    </p:anim>
                                    <p:anim calcmode="lin" valueType="num">
                                      <p:cBhvr>
                                        <p:cTn id="61" dur="400" fill="hold"/>
                                        <p:tgtEl>
                                          <p:spTgt spid="1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1892447" y="522188"/>
            <a:ext cx="12412034" cy="755650"/>
          </a:xfrm>
          <a:prstGeom prst="rect">
            <a:avLst/>
          </a:prstGeom>
          <a:noFill/>
        </p:spPr>
        <p:txBody>
          <a:bodyPr wrap="none" lIns="0" tIns="0" rIns="0" bIns="0" rtlCol="0" anchor="ctr" anchorCtr="1">
            <a:noAutofit/>
          </a:bodyPr>
          <a:lstStyle/>
          <a:p>
            <a:pPr algn="ctr" rtl="1">
              <a:lnSpc>
                <a:spcPct val="100000"/>
              </a:lnSpc>
              <a:buNone/>
            </a:pPr>
            <a:r>
              <a:rPr lang="ar-SA" sz="4000" b="1" i="0" dirty="0">
                <a:solidFill>
                  <a:srgbClr val="FFFFFF"/>
                </a:solidFill>
                <a:latin typeface="Tahoma"/>
                <a:ea typeface="Tahoma"/>
                <a:cs typeface="Tahoma"/>
              </a:rPr>
              <a:t>خلاصة الخواص المجمعة (The Synthesis Matrix)</a:t>
            </a:r>
          </a:p>
        </p:txBody>
      </p:sp>
      <p:sp>
        <p:nvSpPr>
          <p:cNvPr id="102" name="Text 2"/>
          <p:cNvSpPr txBox="1"/>
          <p:nvPr/>
        </p:nvSpPr>
        <p:spPr>
          <a:xfrm>
            <a:off x="11861209" y="1667470"/>
            <a:ext cx="2563627" cy="495895"/>
          </a:xfrm>
          <a:prstGeom prst="rect">
            <a:avLst/>
          </a:prstGeom>
          <a:noFill/>
        </p:spPr>
        <p:txBody>
          <a:bodyPr wrap="none" lIns="0" tIns="0" rIns="0" bIns="0" rtlCol="0" anchor="ctr" anchorCtr="1">
            <a:noAutofit/>
          </a:bodyPr>
          <a:lstStyle/>
          <a:p>
            <a:pPr algn="ctr" rtl="1">
              <a:lnSpc>
                <a:spcPct val="100000"/>
              </a:lnSpc>
              <a:buNone/>
            </a:pPr>
            <a:r>
              <a:rPr lang="ar-SA" sz="2520" b="1" i="0" dirty="0">
                <a:solidFill>
                  <a:srgbClr val="F0F0F0"/>
                </a:solidFill>
                <a:latin typeface="Tahoma"/>
                <a:ea typeface="Tahoma"/>
                <a:cs typeface="Tahoma"/>
              </a:rPr>
              <a:t>درجة التجمد</a:t>
            </a:r>
          </a:p>
        </p:txBody>
      </p:sp>
      <p:sp>
        <p:nvSpPr>
          <p:cNvPr id="103" name="Text 3"/>
          <p:cNvSpPr txBox="1"/>
          <p:nvPr/>
        </p:nvSpPr>
        <p:spPr>
          <a:xfrm>
            <a:off x="6834648" y="1673373"/>
            <a:ext cx="2563074" cy="495895"/>
          </a:xfrm>
          <a:prstGeom prst="rect">
            <a:avLst/>
          </a:prstGeom>
          <a:noFill/>
        </p:spPr>
        <p:txBody>
          <a:bodyPr wrap="none" lIns="0" tIns="0" rIns="0" bIns="0" rtlCol="0" anchor="ctr" anchorCtr="1">
            <a:noAutofit/>
          </a:bodyPr>
          <a:lstStyle/>
          <a:p>
            <a:pPr algn="ctr" rtl="1">
              <a:lnSpc>
                <a:spcPct val="100000"/>
              </a:lnSpc>
              <a:buNone/>
            </a:pPr>
            <a:r>
              <a:rPr lang="ar-SA" sz="2380" b="1" i="0" dirty="0">
                <a:solidFill>
                  <a:srgbClr val="F0F0F0"/>
                </a:solidFill>
                <a:latin typeface="Tahoma"/>
                <a:ea typeface="Tahoma"/>
                <a:cs typeface="Tahoma"/>
              </a:rPr>
              <a:t>درجة الغليان</a:t>
            </a:r>
          </a:p>
        </p:txBody>
      </p:sp>
      <p:sp>
        <p:nvSpPr>
          <p:cNvPr id="104" name="Text 4"/>
          <p:cNvSpPr txBox="1"/>
          <p:nvPr/>
        </p:nvSpPr>
        <p:spPr>
          <a:xfrm>
            <a:off x="1618419" y="1708794"/>
            <a:ext cx="2965486" cy="495895"/>
          </a:xfrm>
          <a:prstGeom prst="rect">
            <a:avLst/>
          </a:prstGeom>
          <a:noFill/>
        </p:spPr>
        <p:txBody>
          <a:bodyPr wrap="none" lIns="0" tIns="0" rIns="0" bIns="0" rtlCol="0" anchor="ctr" anchorCtr="1">
            <a:noAutofit/>
          </a:bodyPr>
          <a:lstStyle/>
          <a:p>
            <a:pPr algn="ctr" rtl="1">
              <a:lnSpc>
                <a:spcPct val="100000"/>
              </a:lnSpc>
              <a:buNone/>
            </a:pPr>
            <a:r>
              <a:rPr lang="ar-SA" sz="2380" b="1" i="0" dirty="0">
                <a:solidFill>
                  <a:srgbClr val="F0F0F0"/>
                </a:solidFill>
                <a:latin typeface="Tahoma"/>
                <a:ea typeface="Tahoma"/>
                <a:cs typeface="Tahoma"/>
              </a:rPr>
              <a:t>الضغط البخاري</a:t>
            </a:r>
          </a:p>
        </p:txBody>
      </p:sp>
      <p:sp>
        <p:nvSpPr>
          <p:cNvPr id="105" name="Text 5"/>
          <p:cNvSpPr txBox="1"/>
          <p:nvPr/>
        </p:nvSpPr>
        <p:spPr>
          <a:xfrm>
            <a:off x="11922678" y="5079702"/>
            <a:ext cx="2428875" cy="472281"/>
          </a:xfrm>
          <a:prstGeom prst="rect">
            <a:avLst/>
          </a:prstGeom>
          <a:noFill/>
        </p:spPr>
        <p:txBody>
          <a:bodyPr wrap="none" lIns="0" tIns="0" rIns="0" bIns="0" rtlCol="0" anchor="ctr" anchorCtr="1">
            <a:noAutofit/>
          </a:bodyPr>
          <a:lstStyle/>
          <a:p>
            <a:pPr algn="ctr" rtl="1">
              <a:lnSpc>
                <a:spcPct val="100000"/>
              </a:lnSpc>
              <a:buNone/>
            </a:pPr>
            <a:r>
              <a:rPr lang="ar-SA" sz="2110" b="1" i="0" dirty="0">
                <a:solidFill>
                  <a:srgbClr val="FFFFFF"/>
                </a:solidFill>
                <a:latin typeface="Tahoma"/>
                <a:ea typeface="Tahoma"/>
                <a:cs typeface="Tahoma"/>
              </a:rPr>
              <a:t>الأثر: تنخفض</a:t>
            </a:r>
          </a:p>
        </p:txBody>
      </p:sp>
      <p:sp>
        <p:nvSpPr>
          <p:cNvPr id="106" name="Text 6"/>
          <p:cNvSpPr txBox="1"/>
          <p:nvPr/>
        </p:nvSpPr>
        <p:spPr>
          <a:xfrm>
            <a:off x="11518604" y="5906194"/>
            <a:ext cx="3237023" cy="991790"/>
          </a:xfrm>
          <a:prstGeom prst="rect">
            <a:avLst/>
          </a:prstGeom>
          <a:noFill/>
        </p:spPr>
        <p:txBody>
          <a:bodyPr wrap="none" lIns="0" tIns="0" rIns="0" bIns="0" rtlCol="0" anchor="ctr" anchorCtr="1">
            <a:noAutofit/>
          </a:bodyPr>
          <a:lstStyle/>
          <a:p>
            <a:pPr algn="ctr" rtl="1">
              <a:lnSpc>
                <a:spcPct val="110000"/>
              </a:lnSpc>
              <a:buNone/>
            </a:pPr>
            <a:r>
              <a:rPr lang="ar-SA" sz="2340" b="1" i="0" dirty="0">
                <a:solidFill>
                  <a:srgbClr val="FFFFFF"/>
                </a:solidFill>
                <a:latin typeface="Tahoma"/>
                <a:ea typeface="Tahoma"/>
                <a:cs typeface="Tahoma"/>
              </a:rPr>
              <a:t>القانون الرياضي:</a:t>
            </a:r>
          </a:p>
          <a:p>
            <a:pPr algn="ctr" rtl="0">
              <a:lnSpc>
                <a:spcPct val="110000"/>
              </a:lnSpc>
              <a:buNone/>
            </a:pPr>
            <a:r>
              <a:rPr lang="ar-SA" sz="2340" b="1" i="1" dirty="0">
                <a:solidFill>
                  <a:srgbClr val="FFFFFF"/>
                </a:solidFill>
                <a:latin typeface="Cambria"/>
                <a:ea typeface="Cambria"/>
                <a:cs typeface="Cambria"/>
              </a:rPr>
              <a:t>ΔT</a:t>
            </a:r>
            <a:r>
              <a:rPr lang="ar-SA" sz="2340" b="1" i="1" baseline="-25000" dirty="0">
                <a:solidFill>
                  <a:srgbClr val="FFFFFF"/>
                </a:solidFill>
                <a:latin typeface="Cambria"/>
                <a:ea typeface="Cambria"/>
                <a:cs typeface="Cambria"/>
              </a:rPr>
              <a:t>fp</a:t>
            </a:r>
            <a:r>
              <a:rPr lang="ar-SA" sz="2340" b="1" i="1" dirty="0">
                <a:solidFill>
                  <a:srgbClr val="FFFFFF"/>
                </a:solidFill>
                <a:latin typeface="Cambria"/>
                <a:ea typeface="Cambria"/>
                <a:cs typeface="Cambria"/>
              </a:rPr>
              <a:t> = K</a:t>
            </a:r>
            <a:r>
              <a:rPr lang="ar-SA" sz="2340" b="1" i="1" baseline="-25000" dirty="0">
                <a:solidFill>
                  <a:srgbClr val="FFFFFF"/>
                </a:solidFill>
                <a:latin typeface="Cambria"/>
                <a:ea typeface="Cambria"/>
                <a:cs typeface="Cambria"/>
              </a:rPr>
              <a:t>fp</a:t>
            </a:r>
            <a:r>
              <a:rPr lang="ar-SA" sz="2340" b="1" i="1" dirty="0">
                <a:solidFill>
                  <a:srgbClr val="FFFFFF"/>
                </a:solidFill>
                <a:latin typeface="Cambria"/>
                <a:ea typeface="Cambria"/>
                <a:cs typeface="Cambria"/>
              </a:rPr>
              <a:t> × m</a:t>
            </a:r>
            <a:endParaRPr lang="ar-SA" sz="2340" b="1" i="0" dirty="0">
              <a:solidFill>
                <a:srgbClr val="FFFFFF"/>
              </a:solidFill>
              <a:latin typeface="Tahoma"/>
              <a:ea typeface="Tahoma"/>
              <a:cs typeface="Tahoma"/>
            </a:endParaRPr>
          </a:p>
        </p:txBody>
      </p:sp>
      <p:sp>
        <p:nvSpPr>
          <p:cNvPr id="107" name="Text 7"/>
          <p:cNvSpPr txBox="1"/>
          <p:nvPr/>
        </p:nvSpPr>
        <p:spPr>
          <a:xfrm>
            <a:off x="7044623" y="5085605"/>
            <a:ext cx="2143125" cy="472281"/>
          </a:xfrm>
          <a:prstGeom prst="rect">
            <a:avLst/>
          </a:prstGeom>
          <a:noFill/>
        </p:spPr>
        <p:txBody>
          <a:bodyPr wrap="none" lIns="0" tIns="0" rIns="0" bIns="0" rtlCol="0" anchor="ctr" anchorCtr="1">
            <a:noAutofit/>
          </a:bodyPr>
          <a:lstStyle/>
          <a:p>
            <a:pPr algn="ctr" rtl="1">
              <a:lnSpc>
                <a:spcPct val="100000"/>
              </a:lnSpc>
              <a:buNone/>
            </a:pPr>
            <a:r>
              <a:rPr lang="ar-SA" sz="2020" b="1" i="0" dirty="0">
                <a:solidFill>
                  <a:srgbClr val="FFFFFF"/>
                </a:solidFill>
                <a:latin typeface="Tahoma"/>
                <a:ea typeface="Tahoma"/>
                <a:cs typeface="Tahoma"/>
              </a:rPr>
              <a:t>الأثر: ترتفع</a:t>
            </a:r>
          </a:p>
        </p:txBody>
      </p:sp>
      <p:sp>
        <p:nvSpPr>
          <p:cNvPr id="108" name="Text 8"/>
          <p:cNvSpPr txBox="1"/>
          <p:nvPr/>
        </p:nvSpPr>
        <p:spPr>
          <a:xfrm>
            <a:off x="6485860" y="5900291"/>
            <a:ext cx="3272465" cy="991790"/>
          </a:xfrm>
          <a:prstGeom prst="rect">
            <a:avLst/>
          </a:prstGeom>
          <a:noFill/>
        </p:spPr>
        <p:txBody>
          <a:bodyPr wrap="none" lIns="0" tIns="0" rIns="0" bIns="0" rtlCol="0" anchor="ctr" anchorCtr="1">
            <a:noAutofit/>
          </a:bodyPr>
          <a:lstStyle/>
          <a:p>
            <a:pPr algn="ctr" rtl="1">
              <a:lnSpc>
                <a:spcPct val="110000"/>
              </a:lnSpc>
              <a:buNone/>
            </a:pPr>
            <a:r>
              <a:rPr lang="ar-SA" sz="2370" b="1" i="0" dirty="0">
                <a:solidFill>
                  <a:srgbClr val="FFFFFF"/>
                </a:solidFill>
                <a:latin typeface="Tahoma"/>
                <a:ea typeface="Tahoma"/>
                <a:cs typeface="Tahoma"/>
              </a:rPr>
              <a:t>القانون الرياضي:</a:t>
            </a:r>
          </a:p>
          <a:p>
            <a:pPr algn="ctr" rtl="0">
              <a:lnSpc>
                <a:spcPct val="110000"/>
              </a:lnSpc>
              <a:buNone/>
            </a:pPr>
            <a:r>
              <a:rPr lang="ar-SA" sz="2370" b="1" i="1" dirty="0">
                <a:solidFill>
                  <a:srgbClr val="FFFFFF"/>
                </a:solidFill>
                <a:latin typeface="Cambria"/>
                <a:ea typeface="Cambria"/>
                <a:cs typeface="Cambria"/>
              </a:rPr>
              <a:t>ΔT</a:t>
            </a:r>
            <a:r>
              <a:rPr lang="ar-SA" sz="2370" b="1" i="1" baseline="-25000" dirty="0">
                <a:solidFill>
                  <a:srgbClr val="FFFFFF"/>
                </a:solidFill>
                <a:latin typeface="Cambria"/>
                <a:ea typeface="Cambria"/>
                <a:cs typeface="Cambria"/>
              </a:rPr>
              <a:t>bp</a:t>
            </a:r>
            <a:r>
              <a:rPr lang="ar-SA" sz="2370" b="1" i="1" dirty="0">
                <a:solidFill>
                  <a:srgbClr val="FFFFFF"/>
                </a:solidFill>
                <a:latin typeface="Cambria"/>
                <a:ea typeface="Cambria"/>
                <a:cs typeface="Cambria"/>
              </a:rPr>
              <a:t> = K</a:t>
            </a:r>
            <a:r>
              <a:rPr lang="ar-SA" sz="2370" b="1" i="1" baseline="-25000" dirty="0">
                <a:solidFill>
                  <a:srgbClr val="FFFFFF"/>
                </a:solidFill>
                <a:latin typeface="Cambria"/>
                <a:ea typeface="Cambria"/>
                <a:cs typeface="Cambria"/>
              </a:rPr>
              <a:t>bp</a:t>
            </a:r>
            <a:r>
              <a:rPr lang="ar-SA" sz="2370" b="1" i="1" dirty="0">
                <a:solidFill>
                  <a:srgbClr val="FFFFFF"/>
                </a:solidFill>
                <a:latin typeface="Cambria"/>
                <a:ea typeface="Cambria"/>
                <a:cs typeface="Cambria"/>
              </a:rPr>
              <a:t> × m</a:t>
            </a:r>
            <a:endParaRPr lang="ar-SA" sz="2370" b="1" i="0" dirty="0">
              <a:solidFill>
                <a:srgbClr val="FFFFFF"/>
              </a:solidFill>
              <a:latin typeface="Tahoma"/>
              <a:ea typeface="Tahoma"/>
              <a:cs typeface="Tahoma"/>
            </a:endParaRPr>
          </a:p>
        </p:txBody>
      </p:sp>
      <p:sp>
        <p:nvSpPr>
          <p:cNvPr id="109" name="Text 9"/>
          <p:cNvSpPr txBox="1"/>
          <p:nvPr/>
        </p:nvSpPr>
        <p:spPr>
          <a:xfrm>
            <a:off x="1886725" y="5079702"/>
            <a:ext cx="2428875" cy="472281"/>
          </a:xfrm>
          <a:prstGeom prst="rect">
            <a:avLst/>
          </a:prstGeom>
          <a:noFill/>
        </p:spPr>
        <p:txBody>
          <a:bodyPr wrap="none" lIns="0" tIns="0" rIns="0" bIns="0" rtlCol="0" anchor="ctr" anchorCtr="1">
            <a:noAutofit/>
          </a:bodyPr>
          <a:lstStyle/>
          <a:p>
            <a:pPr algn="ctr" rtl="1">
              <a:lnSpc>
                <a:spcPct val="100000"/>
              </a:lnSpc>
              <a:buNone/>
            </a:pPr>
            <a:r>
              <a:rPr lang="ar-SA" sz="2100" b="1" i="0" dirty="0">
                <a:solidFill>
                  <a:srgbClr val="FFFFFF"/>
                </a:solidFill>
                <a:latin typeface="Tahoma"/>
                <a:ea typeface="Tahoma"/>
                <a:cs typeface="Tahoma"/>
              </a:rPr>
              <a:t>الأثر: ينخفض</a:t>
            </a:r>
          </a:p>
        </p:txBody>
      </p:sp>
      <p:sp>
        <p:nvSpPr>
          <p:cNvPr id="110" name="Text 10"/>
          <p:cNvSpPr txBox="1"/>
          <p:nvPr/>
        </p:nvSpPr>
        <p:spPr>
          <a:xfrm>
            <a:off x="859649" y="5770413"/>
            <a:ext cx="4931956" cy="885527"/>
          </a:xfrm>
          <a:prstGeom prst="rect">
            <a:avLst/>
          </a:prstGeom>
          <a:noFill/>
        </p:spPr>
        <p:txBody>
          <a:bodyPr wrap="none" lIns="0" tIns="0" rIns="0" bIns="0" rtlCol="0" anchor="ctr" anchorCtr="1">
            <a:noAutofit/>
          </a:bodyPr>
          <a:lstStyle/>
          <a:p>
            <a:pPr algn="ctr" rtl="1">
              <a:lnSpc>
                <a:spcPct val="110000"/>
              </a:lnSpc>
              <a:buNone/>
            </a:pPr>
            <a:r>
              <a:rPr lang="ar-SA" sz="2010" b="1" i="0" dirty="0">
                <a:solidFill>
                  <a:srgbClr val="FFFFFF"/>
                </a:solidFill>
                <a:latin typeface="Tahoma"/>
                <a:ea typeface="Tahoma"/>
                <a:cs typeface="Tahoma"/>
              </a:rPr>
              <a:t>السبب الجزيئي: إعاقة جسيمات</a:t>
            </a:r>
          </a:p>
          <a:p>
            <a:pPr algn="ctr" rtl="1">
              <a:lnSpc>
                <a:spcPct val="110000"/>
              </a:lnSpc>
              <a:buNone/>
            </a:pPr>
            <a:r>
              <a:rPr lang="ar-SA" sz="2010" b="1" i="0" dirty="0">
                <a:solidFill>
                  <a:srgbClr val="FFFFFF"/>
                </a:solidFill>
                <a:latin typeface="Tahoma"/>
                <a:ea typeface="Tahoma"/>
                <a:cs typeface="Tahoma"/>
              </a:rPr>
              <a:t>المذاب لعملية التبخر على السطح.</a:t>
            </a:r>
          </a:p>
        </p:txBody>
      </p:sp>
      <p:sp>
        <p:nvSpPr>
          <p:cNvPr id="111" name="Text 11"/>
          <p:cNvSpPr txBox="1"/>
          <p:nvPr/>
        </p:nvSpPr>
        <p:spPr>
          <a:xfrm>
            <a:off x="1309318" y="7937003"/>
            <a:ext cx="13649177" cy="472281"/>
          </a:xfrm>
          <a:prstGeom prst="rect">
            <a:avLst/>
          </a:prstGeom>
          <a:noFill/>
        </p:spPr>
        <p:txBody>
          <a:bodyPr wrap="none" lIns="0" tIns="0" rIns="0" bIns="0" rtlCol="0" anchor="ctr" anchorCtr="1">
            <a:noAutofit/>
          </a:bodyPr>
          <a:lstStyle/>
          <a:p>
            <a:pPr algn="ctr" rtl="1">
              <a:lnSpc>
                <a:spcPct val="100000"/>
              </a:lnSpc>
              <a:buNone/>
            </a:pPr>
            <a:r>
              <a:rPr lang="ar-SA" sz="2190" b="1" i="0" dirty="0">
                <a:solidFill>
                  <a:srgbClr val="FFFFFF"/>
                </a:solidFill>
                <a:latin typeface="Tahoma"/>
                <a:ea typeface="Tahoma"/>
                <a:cs typeface="Tahoma"/>
              </a:rPr>
              <a:t>القاسم المشترك: جميع هذه الخواص تعتمد حصرياً على عدد جسيمات المذاب، وليس على نوعها!</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600"/>
                                        <p:tgtEl>
                                          <p:spTgt spid="101"/>
                                        </p:tgtEl>
                                      </p:cBhvr>
                                    </p:animEffect>
                                    <p:anim calcmode="lin" valueType="num">
                                      <p:cBhvr>
                                        <p:cTn id="8" dur="600" fill="hold"/>
                                        <p:tgtEl>
                                          <p:spTgt spid="101"/>
                                        </p:tgtEl>
                                        <p:attrNameLst>
                                          <p:attrName>ppt_w</p:attrName>
                                        </p:attrNameLst>
                                      </p:cBhvr>
                                      <p:tavLst>
                                        <p:tav tm="0">
                                          <p:val>
                                            <p:strVal val="0"/>
                                          </p:val>
                                        </p:tav>
                                        <p:tav tm="100000">
                                          <p:val>
                                            <p:strVal val="#ppt_w"/>
                                          </p:val>
                                        </p:tav>
                                      </p:tavLst>
                                    </p:anim>
                                    <p:anim calcmode="lin" valueType="num">
                                      <p:cBhvr>
                                        <p:cTn id="9"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1" presetID="10" presetClass="entr" presetSubtype="0" fill="hold" grpId="0" nodeType="after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600"/>
                                        <p:tgtEl>
                                          <p:spTgt spid="102"/>
                                        </p:tgtEl>
                                      </p:cBhvr>
                                    </p:animEffect>
                                  </p:childTnLst>
                                </p:cTn>
                              </p:par>
                            </p:childTnLst>
                          </p:cTn>
                        </p:par>
                        <p:par>
                          <p:cTn id="14" fill="hold">
                            <p:stCondLst>
                              <p:cond delay="1400"/>
                            </p:stCondLst>
                            <p:childTnLst>
                              <p:par>
                                <p:cTn id="15" presetID="10" presetClass="entr" presetSubtype="0" fill="hold" grpId="0" nodeType="afterEffect">
                                  <p:stCondLst>
                                    <p:cond delay="0"/>
                                  </p:stCondLst>
                                  <p:childTnLst>
                                    <p:set>
                                      <p:cBhvr>
                                        <p:cTn id="16" dur="1" fill="hold">
                                          <p:stCondLst>
                                            <p:cond delay="0"/>
                                          </p:stCondLst>
                                        </p:cTn>
                                        <p:tgtEl>
                                          <p:spTgt spid="103"/>
                                        </p:tgtEl>
                                        <p:attrNameLst>
                                          <p:attrName>style.visibility</p:attrName>
                                        </p:attrNameLst>
                                      </p:cBhvr>
                                      <p:to>
                                        <p:strVal val="visible"/>
                                      </p:to>
                                    </p:set>
                                    <p:animEffect transition="in" filter="fade">
                                      <p:cBhvr>
                                        <p:cTn id="17" dur="600"/>
                                        <p:tgtEl>
                                          <p:spTgt spid="103"/>
                                        </p:tgtEl>
                                      </p:cBhvr>
                                    </p:animEffect>
                                  </p:childTnLst>
                                </p:cTn>
                              </p:par>
                            </p:childTnLst>
                          </p:cTn>
                        </p:par>
                        <p:par>
                          <p:cTn id="18" fill="hold">
                            <p:stCondLst>
                              <p:cond delay="2100"/>
                            </p:stCondLst>
                            <p:childTnLst>
                              <p:par>
                                <p:cTn id="19" presetID="10" presetClass="entr" presetSubtype="0" fill="hold" grpId="0" nodeType="afterEffect">
                                  <p:stCondLst>
                                    <p:cond delay="0"/>
                                  </p:stCondLst>
                                  <p:childTnLst>
                                    <p:set>
                                      <p:cBhvr>
                                        <p:cTn id="20" dur="1" fill="hold">
                                          <p:stCondLst>
                                            <p:cond delay="0"/>
                                          </p:stCondLst>
                                        </p:cTn>
                                        <p:tgtEl>
                                          <p:spTgt spid="104"/>
                                        </p:tgtEl>
                                        <p:attrNameLst>
                                          <p:attrName>style.visibility</p:attrName>
                                        </p:attrNameLst>
                                      </p:cBhvr>
                                      <p:to>
                                        <p:strVal val="visible"/>
                                      </p:to>
                                    </p:set>
                                    <p:animEffect transition="in" filter="fade">
                                      <p:cBhvr>
                                        <p:cTn id="21" dur="600"/>
                                        <p:tgtEl>
                                          <p:spTgt spid="104"/>
                                        </p:tgtEl>
                                      </p:cBhvr>
                                    </p:animEffect>
                                  </p:childTnLst>
                                </p:cTn>
                              </p:par>
                            </p:childTnLst>
                          </p:cTn>
                        </p:par>
                        <p:par>
                          <p:cTn id="22" fill="hold">
                            <p:stCondLst>
                              <p:cond delay="2800"/>
                            </p:stCondLst>
                            <p:childTnLst>
                              <p:par>
                                <p:cTn id="23" presetID="53" presetClass="entr" presetSubtype="16" fill="hold" grpId="0" nodeType="afterEffect">
                                  <p:stCondLst>
                                    <p:cond delay="0"/>
                                  </p:stCondLst>
                                  <p:childTnLst>
                                    <p:set>
                                      <p:cBhvr>
                                        <p:cTn id="24" dur="1" fill="hold">
                                          <p:stCondLst>
                                            <p:cond delay="0"/>
                                          </p:stCondLst>
                                        </p:cTn>
                                        <p:tgtEl>
                                          <p:spTgt spid="105"/>
                                        </p:tgtEl>
                                        <p:attrNameLst>
                                          <p:attrName>style.visibility</p:attrName>
                                        </p:attrNameLst>
                                      </p:cBhvr>
                                      <p:to>
                                        <p:strVal val="visible"/>
                                      </p:to>
                                    </p:set>
                                    <p:animEffect transition="in" filter="fade">
                                      <p:cBhvr>
                                        <p:cTn id="25" dur="600"/>
                                        <p:tgtEl>
                                          <p:spTgt spid="105"/>
                                        </p:tgtEl>
                                      </p:cBhvr>
                                    </p:animEffect>
                                    <p:anim calcmode="lin" valueType="num">
                                      <p:cBhvr>
                                        <p:cTn id="26" dur="600" fill="hold"/>
                                        <p:tgtEl>
                                          <p:spTgt spid="105"/>
                                        </p:tgtEl>
                                        <p:attrNameLst>
                                          <p:attrName>ppt_w</p:attrName>
                                        </p:attrNameLst>
                                      </p:cBhvr>
                                      <p:tavLst>
                                        <p:tav tm="0">
                                          <p:val>
                                            <p:strVal val="0"/>
                                          </p:val>
                                        </p:tav>
                                        <p:tav tm="100000">
                                          <p:val>
                                            <p:strVal val="#ppt_w"/>
                                          </p:val>
                                        </p:tav>
                                      </p:tavLst>
                                    </p:anim>
                                    <p:anim calcmode="lin" valueType="num">
                                      <p:cBhvr>
                                        <p:cTn id="27" dur="600" fill="hold"/>
                                        <p:tgtEl>
                                          <p:spTgt spid="105"/>
                                        </p:tgtEl>
                                        <p:attrNameLst>
                                          <p:attrName>ppt_h</p:attrName>
                                        </p:attrNameLst>
                                      </p:cBhvr>
                                      <p:tavLst>
                                        <p:tav tm="0">
                                          <p:val>
                                            <p:strVal val="0"/>
                                          </p:val>
                                        </p:tav>
                                        <p:tav tm="100000">
                                          <p:val>
                                            <p:strVal val="#ppt_h"/>
                                          </p:val>
                                        </p:tav>
                                      </p:tavLst>
                                    </p:anim>
                                  </p:childTnLst>
                                </p:cTn>
                              </p:par>
                            </p:childTnLst>
                          </p:cTn>
                        </p:par>
                        <p:par>
                          <p:cTn id="28" fill="hold">
                            <p:stCondLst>
                              <p:cond delay="3500"/>
                            </p:stCondLst>
                            <p:childTnLst>
                              <p:par>
                                <p:cTn id="29" presetID="42" presetClass="entr" presetSubtype="0" fill="hold" grpId="0" nodeType="afterEffect">
                                  <p:stCondLst>
                                    <p:cond delay="0"/>
                                  </p:stCondLst>
                                  <p:childTnLst>
                                    <p:set>
                                      <p:cBhvr>
                                        <p:cTn id="30" dur="1" fill="hold">
                                          <p:stCondLst>
                                            <p:cond delay="0"/>
                                          </p:stCondLst>
                                        </p:cTn>
                                        <p:tgtEl>
                                          <p:spTgt spid="106"/>
                                        </p:tgtEl>
                                        <p:attrNameLst>
                                          <p:attrName>style.visibility</p:attrName>
                                        </p:attrNameLst>
                                      </p:cBhvr>
                                      <p:to>
                                        <p:strVal val="visible"/>
                                      </p:to>
                                    </p:set>
                                    <p:animEffect transition="in" filter="fade">
                                      <p:cBhvr>
                                        <p:cTn id="31" dur="600"/>
                                        <p:tgtEl>
                                          <p:spTgt spid="106"/>
                                        </p:tgtEl>
                                      </p:cBhvr>
                                    </p:animEffect>
                                    <p:anim calcmode="lin" valueType="num">
                                      <p:cBhvr>
                                        <p:cTn id="32" dur="600" fill="hold"/>
                                        <p:tgtEl>
                                          <p:spTgt spid="106"/>
                                        </p:tgtEl>
                                        <p:attrNameLst>
                                          <p:attrName>ppt_x</p:attrName>
                                        </p:attrNameLst>
                                      </p:cBhvr>
                                      <p:tavLst>
                                        <p:tav tm="0">
                                          <p:val>
                                            <p:strVal val="#ppt_x"/>
                                          </p:val>
                                        </p:tav>
                                        <p:tav tm="100000">
                                          <p:val>
                                            <p:strVal val="#ppt_x"/>
                                          </p:val>
                                        </p:tav>
                                      </p:tavLst>
                                    </p:anim>
                                    <p:anim calcmode="lin" valueType="num">
                                      <p:cBhvr>
                                        <p:cTn id="33" dur="600" fill="hold"/>
                                        <p:tgtEl>
                                          <p:spTgt spid="106"/>
                                        </p:tgtEl>
                                        <p:attrNameLst>
                                          <p:attrName>ppt_y</p:attrName>
                                        </p:attrNameLst>
                                      </p:cBhvr>
                                      <p:tavLst>
                                        <p:tav tm="0">
                                          <p:val>
                                            <p:strVal val="#ppt_y+.1"/>
                                          </p:val>
                                        </p:tav>
                                        <p:tav tm="100000">
                                          <p:val>
                                            <p:strVal val="#ppt_y"/>
                                          </p:val>
                                        </p:tav>
                                      </p:tavLst>
                                    </p:anim>
                                  </p:childTnLst>
                                </p:cTn>
                              </p:par>
                            </p:childTnLst>
                          </p:cTn>
                        </p:par>
                        <p:par>
                          <p:cTn id="34" fill="hold">
                            <p:stCondLst>
                              <p:cond delay="4200"/>
                            </p:stCondLst>
                            <p:childTnLst>
                              <p:par>
                                <p:cTn id="35" presetID="53" presetClass="entr" presetSubtype="16" fill="hold" grpId="0" nodeType="afterEffect">
                                  <p:stCondLst>
                                    <p:cond delay="0"/>
                                  </p:stCondLst>
                                  <p:childTnLst>
                                    <p:set>
                                      <p:cBhvr>
                                        <p:cTn id="36" dur="1" fill="hold">
                                          <p:stCondLst>
                                            <p:cond delay="0"/>
                                          </p:stCondLst>
                                        </p:cTn>
                                        <p:tgtEl>
                                          <p:spTgt spid="107"/>
                                        </p:tgtEl>
                                        <p:attrNameLst>
                                          <p:attrName>style.visibility</p:attrName>
                                        </p:attrNameLst>
                                      </p:cBhvr>
                                      <p:to>
                                        <p:strVal val="visible"/>
                                      </p:to>
                                    </p:set>
                                    <p:animEffect transition="in" filter="fade">
                                      <p:cBhvr>
                                        <p:cTn id="37" dur="600"/>
                                        <p:tgtEl>
                                          <p:spTgt spid="107"/>
                                        </p:tgtEl>
                                      </p:cBhvr>
                                    </p:animEffect>
                                    <p:anim calcmode="lin" valueType="num">
                                      <p:cBhvr>
                                        <p:cTn id="38" dur="600" fill="hold"/>
                                        <p:tgtEl>
                                          <p:spTgt spid="107"/>
                                        </p:tgtEl>
                                        <p:attrNameLst>
                                          <p:attrName>ppt_w</p:attrName>
                                        </p:attrNameLst>
                                      </p:cBhvr>
                                      <p:tavLst>
                                        <p:tav tm="0">
                                          <p:val>
                                            <p:strVal val="0"/>
                                          </p:val>
                                        </p:tav>
                                        <p:tav tm="100000">
                                          <p:val>
                                            <p:strVal val="#ppt_w"/>
                                          </p:val>
                                        </p:tav>
                                      </p:tavLst>
                                    </p:anim>
                                    <p:anim calcmode="lin" valueType="num">
                                      <p:cBhvr>
                                        <p:cTn id="39" dur="600" fill="hold"/>
                                        <p:tgtEl>
                                          <p:spTgt spid="107"/>
                                        </p:tgtEl>
                                        <p:attrNameLst>
                                          <p:attrName>ppt_h</p:attrName>
                                        </p:attrNameLst>
                                      </p:cBhvr>
                                      <p:tavLst>
                                        <p:tav tm="0">
                                          <p:val>
                                            <p:strVal val="0"/>
                                          </p:val>
                                        </p:tav>
                                        <p:tav tm="100000">
                                          <p:val>
                                            <p:strVal val="#ppt_h"/>
                                          </p:val>
                                        </p:tav>
                                      </p:tavLst>
                                    </p:anim>
                                  </p:childTnLst>
                                </p:cTn>
                              </p:par>
                            </p:childTnLst>
                          </p:cTn>
                        </p:par>
                        <p:par>
                          <p:cTn id="40" fill="hold">
                            <p:stCondLst>
                              <p:cond delay="4900"/>
                            </p:stCondLst>
                            <p:childTnLst>
                              <p:par>
                                <p:cTn id="41" presetID="42" presetClass="entr" presetSubtype="0" fill="hold" grpId="0" nodeType="afterEffect">
                                  <p:stCondLst>
                                    <p:cond delay="0"/>
                                  </p:stCondLst>
                                  <p:childTnLst>
                                    <p:set>
                                      <p:cBhvr>
                                        <p:cTn id="42" dur="1" fill="hold">
                                          <p:stCondLst>
                                            <p:cond delay="0"/>
                                          </p:stCondLst>
                                        </p:cTn>
                                        <p:tgtEl>
                                          <p:spTgt spid="108"/>
                                        </p:tgtEl>
                                        <p:attrNameLst>
                                          <p:attrName>style.visibility</p:attrName>
                                        </p:attrNameLst>
                                      </p:cBhvr>
                                      <p:to>
                                        <p:strVal val="visible"/>
                                      </p:to>
                                    </p:set>
                                    <p:animEffect transition="in" filter="fade">
                                      <p:cBhvr>
                                        <p:cTn id="43" dur="600"/>
                                        <p:tgtEl>
                                          <p:spTgt spid="108"/>
                                        </p:tgtEl>
                                      </p:cBhvr>
                                    </p:animEffect>
                                    <p:anim calcmode="lin" valueType="num">
                                      <p:cBhvr>
                                        <p:cTn id="44" dur="600" fill="hold"/>
                                        <p:tgtEl>
                                          <p:spTgt spid="108"/>
                                        </p:tgtEl>
                                        <p:attrNameLst>
                                          <p:attrName>ppt_x</p:attrName>
                                        </p:attrNameLst>
                                      </p:cBhvr>
                                      <p:tavLst>
                                        <p:tav tm="0">
                                          <p:val>
                                            <p:strVal val="#ppt_x"/>
                                          </p:val>
                                        </p:tav>
                                        <p:tav tm="100000">
                                          <p:val>
                                            <p:strVal val="#ppt_x"/>
                                          </p:val>
                                        </p:tav>
                                      </p:tavLst>
                                    </p:anim>
                                    <p:anim calcmode="lin" valueType="num">
                                      <p:cBhvr>
                                        <p:cTn id="45" dur="600" fill="hold"/>
                                        <p:tgtEl>
                                          <p:spTgt spid="108"/>
                                        </p:tgtEl>
                                        <p:attrNameLst>
                                          <p:attrName>ppt_y</p:attrName>
                                        </p:attrNameLst>
                                      </p:cBhvr>
                                      <p:tavLst>
                                        <p:tav tm="0">
                                          <p:val>
                                            <p:strVal val="#ppt_y+.1"/>
                                          </p:val>
                                        </p:tav>
                                        <p:tav tm="100000">
                                          <p:val>
                                            <p:strVal val="#ppt_y"/>
                                          </p:val>
                                        </p:tav>
                                      </p:tavLst>
                                    </p:anim>
                                  </p:childTnLst>
                                </p:cTn>
                              </p:par>
                            </p:childTnLst>
                          </p:cTn>
                        </p:par>
                        <p:par>
                          <p:cTn id="46" fill="hold">
                            <p:stCondLst>
                              <p:cond delay="5600"/>
                            </p:stCondLst>
                            <p:childTnLst>
                              <p:par>
                                <p:cTn id="47" presetID="53" presetClass="entr" presetSubtype="16" fill="hold" grpId="0" nodeType="afterEffect">
                                  <p:stCondLst>
                                    <p:cond delay="0"/>
                                  </p:stCondLst>
                                  <p:childTnLst>
                                    <p:set>
                                      <p:cBhvr>
                                        <p:cTn id="48" dur="1" fill="hold">
                                          <p:stCondLst>
                                            <p:cond delay="0"/>
                                          </p:stCondLst>
                                        </p:cTn>
                                        <p:tgtEl>
                                          <p:spTgt spid="109"/>
                                        </p:tgtEl>
                                        <p:attrNameLst>
                                          <p:attrName>style.visibility</p:attrName>
                                        </p:attrNameLst>
                                      </p:cBhvr>
                                      <p:to>
                                        <p:strVal val="visible"/>
                                      </p:to>
                                    </p:set>
                                    <p:animEffect transition="in" filter="fade">
                                      <p:cBhvr>
                                        <p:cTn id="49" dur="600"/>
                                        <p:tgtEl>
                                          <p:spTgt spid="109"/>
                                        </p:tgtEl>
                                      </p:cBhvr>
                                    </p:animEffect>
                                    <p:anim calcmode="lin" valueType="num">
                                      <p:cBhvr>
                                        <p:cTn id="50" dur="600" fill="hold"/>
                                        <p:tgtEl>
                                          <p:spTgt spid="109"/>
                                        </p:tgtEl>
                                        <p:attrNameLst>
                                          <p:attrName>ppt_w</p:attrName>
                                        </p:attrNameLst>
                                      </p:cBhvr>
                                      <p:tavLst>
                                        <p:tav tm="0">
                                          <p:val>
                                            <p:strVal val="0"/>
                                          </p:val>
                                        </p:tav>
                                        <p:tav tm="100000">
                                          <p:val>
                                            <p:strVal val="#ppt_w"/>
                                          </p:val>
                                        </p:tav>
                                      </p:tavLst>
                                    </p:anim>
                                    <p:anim calcmode="lin" valueType="num">
                                      <p:cBhvr>
                                        <p:cTn id="51" dur="600" fill="hold"/>
                                        <p:tgtEl>
                                          <p:spTgt spid="109"/>
                                        </p:tgtEl>
                                        <p:attrNameLst>
                                          <p:attrName>ppt_h</p:attrName>
                                        </p:attrNameLst>
                                      </p:cBhvr>
                                      <p:tavLst>
                                        <p:tav tm="0">
                                          <p:val>
                                            <p:strVal val="0"/>
                                          </p:val>
                                        </p:tav>
                                        <p:tav tm="100000">
                                          <p:val>
                                            <p:strVal val="#ppt_h"/>
                                          </p:val>
                                        </p:tav>
                                      </p:tavLst>
                                    </p:anim>
                                  </p:childTnLst>
                                </p:cTn>
                              </p:par>
                            </p:childTnLst>
                          </p:cTn>
                        </p:par>
                        <p:par>
                          <p:cTn id="52" fill="hold">
                            <p:stCondLst>
                              <p:cond delay="6300"/>
                            </p:stCondLst>
                            <p:childTnLst>
                              <p:par>
                                <p:cTn id="53" presetID="42" presetClass="entr" presetSubtype="0" fill="hold" grpId="0" nodeType="afterEffect">
                                  <p:stCondLst>
                                    <p:cond delay="0"/>
                                  </p:stCondLst>
                                  <p:childTnLst>
                                    <p:set>
                                      <p:cBhvr>
                                        <p:cTn id="54" dur="1" fill="hold">
                                          <p:stCondLst>
                                            <p:cond delay="0"/>
                                          </p:stCondLst>
                                        </p:cTn>
                                        <p:tgtEl>
                                          <p:spTgt spid="110"/>
                                        </p:tgtEl>
                                        <p:attrNameLst>
                                          <p:attrName>style.visibility</p:attrName>
                                        </p:attrNameLst>
                                      </p:cBhvr>
                                      <p:to>
                                        <p:strVal val="visible"/>
                                      </p:to>
                                    </p:set>
                                    <p:animEffect transition="in" filter="fade">
                                      <p:cBhvr>
                                        <p:cTn id="55" dur="600"/>
                                        <p:tgtEl>
                                          <p:spTgt spid="110"/>
                                        </p:tgtEl>
                                      </p:cBhvr>
                                    </p:animEffect>
                                    <p:anim calcmode="lin" valueType="num">
                                      <p:cBhvr>
                                        <p:cTn id="56" dur="600" fill="hold"/>
                                        <p:tgtEl>
                                          <p:spTgt spid="110"/>
                                        </p:tgtEl>
                                        <p:attrNameLst>
                                          <p:attrName>ppt_x</p:attrName>
                                        </p:attrNameLst>
                                      </p:cBhvr>
                                      <p:tavLst>
                                        <p:tav tm="0">
                                          <p:val>
                                            <p:strVal val="#ppt_x"/>
                                          </p:val>
                                        </p:tav>
                                        <p:tav tm="100000">
                                          <p:val>
                                            <p:strVal val="#ppt_x"/>
                                          </p:val>
                                        </p:tav>
                                      </p:tavLst>
                                    </p:anim>
                                    <p:anim calcmode="lin" valueType="num">
                                      <p:cBhvr>
                                        <p:cTn id="57" dur="600" fill="hold"/>
                                        <p:tgtEl>
                                          <p:spTgt spid="110"/>
                                        </p:tgtEl>
                                        <p:attrNameLst>
                                          <p:attrName>ppt_y</p:attrName>
                                        </p:attrNameLst>
                                      </p:cBhvr>
                                      <p:tavLst>
                                        <p:tav tm="0">
                                          <p:val>
                                            <p:strVal val="#ppt_y+.1"/>
                                          </p:val>
                                        </p:tav>
                                        <p:tav tm="100000">
                                          <p:val>
                                            <p:strVal val="#ppt_y"/>
                                          </p:val>
                                        </p:tav>
                                      </p:tavLst>
                                    </p:anim>
                                  </p:childTnLst>
                                </p:cTn>
                              </p:par>
                            </p:childTnLst>
                          </p:cTn>
                        </p:par>
                        <p:par>
                          <p:cTn id="58" fill="hold">
                            <p:stCondLst>
                              <p:cond delay="7000"/>
                            </p:stCondLst>
                            <p:childTnLst>
                              <p:par>
                                <p:cTn id="59" presetID="22" presetClass="entr" presetSubtype="2" fill="hold" grpId="0" nodeType="afterEffect">
                                  <p:stCondLst>
                                    <p:cond delay="0"/>
                                  </p:stCondLst>
                                  <p:childTnLst>
                                    <p:set>
                                      <p:cBhvr>
                                        <p:cTn id="60" dur="1" fill="hold">
                                          <p:stCondLst>
                                            <p:cond delay="0"/>
                                          </p:stCondLst>
                                        </p:cTn>
                                        <p:tgtEl>
                                          <p:spTgt spid="111"/>
                                        </p:tgtEl>
                                        <p:attrNameLst>
                                          <p:attrName>style.visibility</p:attrName>
                                        </p:attrNameLst>
                                      </p:cBhvr>
                                      <p:to>
                                        <p:strVal val="visible"/>
                                      </p:to>
                                    </p:set>
                                    <p:animEffect transition="in" filter="wipe(right)">
                                      <p:cBhvr>
                                        <p:cTn id="61" dur="7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P spid="104" grpId="0"/>
      <p:bldP spid="105" grpId="0"/>
      <p:bldP spid="106" grpId="0"/>
      <p:bldP spid="107" grpId="0"/>
      <p:bldP spid="108" grpId="0"/>
      <p:bldP spid="109" grpId="0"/>
      <p:bldP spid="110" grpId="0"/>
      <p:bldP spid="111"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Divider card"/>
          <p:cNvSpPr/>
          <p:nvPr/>
        </p:nvSpPr>
        <p:spPr>
          <a:xfrm>
            <a:off x="3520558" y="2500312"/>
            <a:ext cx="9214883" cy="4167187"/>
          </a:xfrm>
          <a:prstGeom prst="roundRect">
            <a:avLst>
              <a:gd name="adj" fmla="val 8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3" name="Title"/>
          <p:cNvSpPr txBox="1"/>
          <p:nvPr/>
        </p:nvSpPr>
        <p:spPr>
          <a:xfrm>
            <a:off x="3756837" y="3786187"/>
            <a:ext cx="8742325" cy="1333500"/>
          </a:xfrm>
          <a:prstGeom prst="rect">
            <a:avLst/>
          </a:prstGeom>
          <a:noFill/>
          <a:ln>
            <a:noFill/>
          </a:ln>
        </p:spPr>
        <p:txBody>
          <a:bodyPr wrap="square" lIns="0" tIns="0" rIns="0" bIns="0" rtlCol="0" anchor="ctr">
            <a:noAutofit/>
          </a:bodyPr>
          <a:lstStyle/>
          <a:p>
            <a:pPr algn="ctr" rtl="1">
              <a:lnSpc>
                <a:spcPct val="110000"/>
              </a:lnSpc>
              <a:buNone/>
            </a:pPr>
            <a:r>
              <a:rPr lang="ar-SA" sz="4400" b="1" i="0" dirty="0">
                <a:solidFill>
                  <a:srgbClr val="2B3038"/>
                </a:solidFill>
                <a:latin typeface="Tahoma"/>
                <a:ea typeface="Tahoma"/>
                <a:cs typeface="Tahoma"/>
              </a:rPr>
              <a:t>مسائل تطبيقية</a:t>
            </a:r>
          </a:p>
        </p:txBody>
      </p:sp>
      <p:sp>
        <p:nvSpPr>
          <p:cNvPr id="14" name="Subtitle"/>
          <p:cNvSpPr txBox="1"/>
          <p:nvPr/>
        </p:nvSpPr>
        <p:spPr>
          <a:xfrm>
            <a:off x="3756837" y="5238750"/>
            <a:ext cx="8742325" cy="714375"/>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5D6570"/>
                </a:solidFill>
                <a:latin typeface="Tahoma"/>
                <a:ea typeface="Tahoma"/>
                <a:cs typeface="Tahoma"/>
              </a:rPr>
              <a:t>درجة الغليان ودرجة التجمد وحساب الكتلة المولية</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400"/>
                            </p:stCondLst>
                            <p:childTnLst>
                              <p:par>
                                <p:cTn id="9" presetID="53" presetClass="entr" presetSubtype="16"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600"/>
                                        <p:tgtEl>
                                          <p:spTgt spid="13"/>
                                        </p:tgtEl>
                                      </p:cBhvr>
                                    </p:animEffect>
                                    <p:anim calcmode="lin" valueType="num">
                                      <p:cBhvr>
                                        <p:cTn id="12" dur="600" fill="hold"/>
                                        <p:tgtEl>
                                          <p:spTgt spid="13"/>
                                        </p:tgtEl>
                                        <p:attrNameLst>
                                          <p:attrName>ppt_w</p:attrName>
                                        </p:attrNameLst>
                                      </p:cBhvr>
                                      <p:tavLst>
                                        <p:tav tm="0">
                                          <p:val>
                                            <p:strVal val="0"/>
                                          </p:val>
                                        </p:tav>
                                        <p:tav tm="100000">
                                          <p:val>
                                            <p:strVal val="#ppt_w"/>
                                          </p:val>
                                        </p:tav>
                                      </p:tavLst>
                                    </p:anim>
                                    <p:anim calcmode="lin" valueType="num">
                                      <p:cBhvr>
                                        <p:cTn id="13" dur="600" fill="hold"/>
                                        <p:tgtEl>
                                          <p:spTgt spid="13"/>
                                        </p:tgtEl>
                                        <p:attrNameLst>
                                          <p:attrName>ppt_h</p:attrName>
                                        </p:attrNameLst>
                                      </p:cBhvr>
                                      <p:tavLst>
                                        <p:tav tm="0">
                                          <p:val>
                                            <p:strVal val="0"/>
                                          </p:val>
                                        </p:tav>
                                        <p:tav tm="100000">
                                          <p:val>
                                            <p:strVal val="#ppt_h"/>
                                          </p:val>
                                        </p:tav>
                                      </p:tavLst>
                                    </p:anim>
                                  </p:childTnLst>
                                </p:cTn>
                              </p:par>
                            </p:childTnLst>
                          </p:cTn>
                        </p:par>
                        <p:par>
                          <p:cTn id="14" fill="hold">
                            <p:stCondLst>
                              <p:cond delay="1000"/>
                            </p:stCondLst>
                            <p:childTnLst>
                              <p:par>
                                <p:cTn id="15" presetID="42" presetClass="entr" presetSubtype="0" fill="hold" grpId="0" nodeType="after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anim calcmode="lin" valueType="num">
                                      <p:cBhvr>
                                        <p:cTn id="18" dur="500" fill="hold"/>
                                        <p:tgtEl>
                                          <p:spTgt spid="14"/>
                                        </p:tgtEl>
                                        <p:attrNameLst>
                                          <p:attrName>ppt_x</p:attrName>
                                        </p:attrNameLst>
                                      </p:cBhvr>
                                      <p:tavLst>
                                        <p:tav tm="0">
                                          <p:val>
                                            <p:strVal val="#ppt_x"/>
                                          </p:val>
                                        </p:tav>
                                        <p:tav tm="100000">
                                          <p:val>
                                            <p:strVal val="#ppt_x"/>
                                          </p:val>
                                        </p:tav>
                                      </p:tavLst>
                                    </p:anim>
                                    <p:anim calcmode="lin" valueType="num">
                                      <p:cBhvr>
                                        <p:cTn id="19" dur="5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(2)</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p>
        </p:txBody>
      </p:sp>
      <p:sp>
        <p:nvSpPr>
          <p:cNvPr id="13" name="Card 2"/>
          <p:cNvSpPr/>
          <p:nvPr/>
        </p:nvSpPr>
        <p:spPr>
          <a:xfrm>
            <a:off x="708837" y="1238250"/>
            <a:ext cx="14838325" cy="3191336"/>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2"/>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2</a:t>
            </a:r>
          </a:p>
        </p:txBody>
      </p:sp>
      <p:sp>
        <p:nvSpPr>
          <p:cNvPr id="15" name="Tag 2"/>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p>
        </p:txBody>
      </p:sp>
      <p:sp>
        <p:nvSpPr>
          <p:cNvPr id="16" name="Question 2"/>
          <p:cNvSpPr txBox="1"/>
          <p:nvPr/>
        </p:nvSpPr>
        <p:spPr>
          <a:xfrm>
            <a:off x="1016000" y="1785937"/>
            <a:ext cx="13656930" cy="2500774"/>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حُضّر محلول بإذابة ‪(20.8 g)‬ من النفثالين ‪(C</a:t>
            </a:r>
            <a:r>
              <a:rPr lang="ar-SA" sz="2400" b="1" i="0" baseline="-25000" dirty="0">
                <a:solidFill>
                  <a:srgbClr val="2B3038"/>
                </a:solidFill>
                <a:latin typeface="Tahoma"/>
                <a:ea typeface="Tahoma"/>
                <a:cs typeface="Tahoma"/>
              </a:rPr>
              <a:t>10</a:t>
            </a:r>
            <a:r>
              <a:rPr lang="ar-SA" sz="2400" b="1" i="0" dirty="0">
                <a:solidFill>
                  <a:srgbClr val="2B3038"/>
                </a:solidFill>
                <a:latin typeface="Tahoma"/>
                <a:ea typeface="Tahoma"/>
                <a:cs typeface="Tahoma"/>
              </a:rPr>
              <a:t>H</a:t>
            </a:r>
            <a:r>
              <a:rPr lang="ar-SA" sz="2400" b="1" i="0" baseline="-25000" dirty="0">
                <a:solidFill>
                  <a:srgbClr val="2B3038"/>
                </a:solidFill>
                <a:latin typeface="Tahoma"/>
                <a:ea typeface="Tahoma"/>
                <a:cs typeface="Tahoma"/>
              </a:rPr>
              <a:t>8</a:t>
            </a:r>
            <a:r>
              <a:rPr lang="ar-SA" sz="2400" b="1" i="0" dirty="0">
                <a:solidFill>
                  <a:srgbClr val="2B3038"/>
                </a:solidFill>
                <a:latin typeface="Tahoma"/>
                <a:ea typeface="Tahoma"/>
                <a:cs typeface="Tahoma"/>
              </a:rPr>
              <a:t> = 128)‬ في ‪(100 g)‬ من البنزين ‪C</a:t>
            </a:r>
            <a:r>
              <a:rPr lang="ar-SA" sz="2400" b="1" i="0" baseline="-25000" dirty="0">
                <a:solidFill>
                  <a:srgbClr val="2B3038"/>
                </a:solidFill>
                <a:latin typeface="Tahoma"/>
                <a:ea typeface="Tahoma"/>
                <a:cs typeface="Tahoma"/>
              </a:rPr>
              <a:t>6</a:t>
            </a:r>
            <a:r>
              <a:rPr lang="ar-SA" sz="2400" b="1" i="0" dirty="0">
                <a:solidFill>
                  <a:srgbClr val="2B3038"/>
                </a:solidFill>
                <a:latin typeface="Tahoma"/>
                <a:ea typeface="Tahoma"/>
                <a:cs typeface="Tahoma"/>
              </a:rPr>
              <a:t>H</a:t>
            </a:r>
            <a:r>
              <a:rPr lang="ar-SA" sz="2400" b="1" i="0" baseline="-25000" dirty="0">
                <a:solidFill>
                  <a:srgbClr val="2B3038"/>
                </a:solidFill>
                <a:latin typeface="Tahoma"/>
                <a:ea typeface="Tahoma"/>
                <a:cs typeface="Tahoma"/>
              </a:rPr>
              <a:t>6</a:t>
            </a:r>
            <a:r>
              <a:rPr lang="ar-SA" sz="2400" b="1" i="0" dirty="0">
                <a:solidFill>
                  <a:srgbClr val="2B3038"/>
                </a:solidFill>
                <a:latin typeface="Tahoma"/>
                <a:ea typeface="Tahoma"/>
                <a:cs typeface="Tahoma"/>
              </a:rPr>
              <a:t>‬، فإذا علمت أن درجة غليان البنزين النقي ‪(80.1 °C)‬ ودرجة تجمد البنزين النقي ‪(5.5 °C)‬، فالمطلوب:</a:t>
            </a:r>
          </a:p>
          <a:p>
            <a:pPr algn="r" rtl="1">
              <a:lnSpc>
                <a:spcPct val="110000"/>
              </a:lnSpc>
              <a:buNone/>
            </a:pPr>
            <a:r>
              <a:rPr lang="ar-SA" sz="2400" b="1" i="0" dirty="0">
                <a:solidFill>
                  <a:srgbClr val="2B3038"/>
                </a:solidFill>
                <a:latin typeface="Tahoma"/>
                <a:ea typeface="Tahoma"/>
                <a:cs typeface="Tahoma"/>
              </a:rPr>
              <a:t>أولاً: حساب درجة تجمد المحلول إذا علمت أن ثابت تجمد البنزين ‪(K</a:t>
            </a:r>
            <a:r>
              <a:rPr lang="ar-SA" sz="2400" b="1" i="0" baseline="-25000" dirty="0">
                <a:solidFill>
                  <a:srgbClr val="2B3038"/>
                </a:solidFill>
                <a:latin typeface="Tahoma"/>
                <a:ea typeface="Tahoma"/>
                <a:cs typeface="Tahoma"/>
              </a:rPr>
              <a:t>fp</a:t>
            </a:r>
            <a:r>
              <a:rPr lang="ar-SA" sz="2400" b="1" i="0" dirty="0">
                <a:solidFill>
                  <a:srgbClr val="2B3038"/>
                </a:solidFill>
                <a:latin typeface="Tahoma"/>
                <a:ea typeface="Tahoma"/>
                <a:cs typeface="Tahoma"/>
              </a:rPr>
              <a:t> = 5.2 °C kg/mol)‬</a:t>
            </a:r>
          </a:p>
          <a:p>
            <a:pPr algn="r" rtl="1">
              <a:lnSpc>
                <a:spcPct val="110000"/>
              </a:lnSpc>
              <a:buNone/>
            </a:pPr>
            <a:r>
              <a:rPr lang="ar-SA" sz="2400" b="1" i="0" dirty="0">
                <a:solidFill>
                  <a:srgbClr val="2B3038"/>
                </a:solidFill>
                <a:latin typeface="Tahoma"/>
                <a:ea typeface="Tahoma"/>
                <a:cs typeface="Tahoma"/>
              </a:rPr>
              <a:t>ثانياً: حساب درجة غليان المحلول إذا علمت أن ثابت غليان البنزين ‪(K</a:t>
            </a:r>
            <a:r>
              <a:rPr lang="ar-SA" sz="2400" b="1" i="0" baseline="-25000" dirty="0">
                <a:solidFill>
                  <a:srgbClr val="2B3038"/>
                </a:solidFill>
                <a:latin typeface="Tahoma"/>
                <a:ea typeface="Tahoma"/>
                <a:cs typeface="Tahoma"/>
              </a:rPr>
              <a:t>bp</a:t>
            </a:r>
            <a:r>
              <a:rPr lang="ar-SA" sz="2400" b="1" i="0" dirty="0">
                <a:solidFill>
                  <a:srgbClr val="2B3038"/>
                </a:solidFill>
                <a:latin typeface="Tahoma"/>
                <a:ea typeface="Tahoma"/>
                <a:cs typeface="Tahoma"/>
              </a:rPr>
              <a:t> = 2.53 °C kg/mol)‬</a:t>
            </a:r>
          </a:p>
        </p:txBody>
      </p:sp>
      <p:sp>
        <p:nvSpPr>
          <p:cNvPr id="17" name="Solution panel 1"/>
          <p:cNvSpPr/>
          <p:nvPr/>
        </p:nvSpPr>
        <p:spPr>
          <a:xfrm>
            <a:off x="8246139" y="4620086"/>
            <a:ext cx="7301023" cy="2352332"/>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8482418" y="4762961"/>
            <a:ext cx="6828465"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أولاً: درجة تجمد المحلول</a:t>
            </a:r>
          </a:p>
        </p:txBody>
      </p:sp>
      <p:sp>
        <p:nvSpPr>
          <p:cNvPr id="19" name="Solution 1"/>
          <p:cNvSpPr txBox="1"/>
          <p:nvPr/>
        </p:nvSpPr>
        <p:spPr>
          <a:xfrm>
            <a:off x="8482418" y="5215399"/>
            <a:ext cx="6828465" cy="1637957"/>
          </a:xfrm>
          <a:prstGeom prst="rect">
            <a:avLst/>
          </a:prstGeom>
          <a:noFill/>
          <a:ln>
            <a:noFill/>
          </a:ln>
        </p:spPr>
        <p:txBody>
          <a:bodyPr wrap="square" lIns="0" tIns="0" rIns="0" bIns="0" rtlCol="0" anchor="t">
            <a:noAutofit/>
          </a:bodyPr>
          <a:lstStyle/>
          <a:p>
            <a:pPr rtl="0" algn="ctr">
              <a:lnSpc>
                <a:spcPct val="125000"/>
              </a:lnSpc>
              <a:buNone/>
            </a:pPr>
            <a:r>
              <a:rPr lang="en-US" sz="1900" b="1" i="0" dirty="0">
                <a:solidFill>
                  <a:srgbClr val="2B3038"/>
                </a:solidFill>
                <a:latin typeface="Tahoma"/>
                <a:ea typeface="Tahoma"/>
                <a:cs typeface="Tahoma"/>
              </a:rPr>
              <a:t>n = m</a:t>
            </a:r>
            <a:r>
              <a:rPr baseline="-25000" lang="en-US" sz="1900" b="1" i="0" dirty="0">
                <a:solidFill>
                  <a:srgbClr val="2B3038"/>
                </a:solidFill>
                <a:latin typeface="Tahoma"/>
                <a:ea typeface="Tahoma"/>
                <a:cs typeface="Tahoma"/>
              </a:rPr>
              <a:t>s</a:t>
            </a:r>
            <a:r>
              <a:rPr lang="en-US" sz="1900" b="1" i="0" dirty="0">
                <a:solidFill>
                  <a:srgbClr val="2B3038"/>
                </a:solidFill>
                <a:latin typeface="Tahoma"/>
                <a:ea typeface="Tahoma"/>
                <a:cs typeface="Tahoma"/>
              </a:rPr>
              <a:t xml:space="preserve"> / M</a:t>
            </a:r>
            <a:r>
              <a:rPr baseline="-25000" lang="en-US" sz="1900" b="1" i="0" dirty="0">
                <a:solidFill>
                  <a:srgbClr val="2B3038"/>
                </a:solidFill>
                <a:latin typeface="Tahoma"/>
                <a:ea typeface="Tahoma"/>
                <a:cs typeface="Tahoma"/>
              </a:rPr>
              <a:t>wt</a:t>
            </a:r>
            <a:r>
              <a:rPr lang="en-US" sz="1900" b="1" i="0" dirty="0">
                <a:solidFill>
                  <a:srgbClr val="2B3038"/>
                </a:solidFill>
                <a:latin typeface="Tahoma"/>
                <a:ea typeface="Tahoma"/>
                <a:cs typeface="Tahoma"/>
              </a:rPr>
              <a:t xml:space="preserve"> = 20.8 / 128 = 0.1625 mol</a:t>
            </a:r>
          </a:p>
          <a:p>
            <a:pPr rtl="0" algn="ctr">
              <a:lnSpc>
                <a:spcPct val="125000"/>
              </a:lnSpc>
              <a:buNone/>
            </a:pPr>
            <a:r>
              <a:rPr lang="en-US" sz="1900" b="1" i="0" dirty="0">
                <a:solidFill>
                  <a:srgbClr val="2B3038"/>
                </a:solidFill>
                <a:latin typeface="Tahoma"/>
                <a:ea typeface="Tahoma"/>
                <a:cs typeface="Tahoma"/>
              </a:rPr>
              <a:t>m = n / kg</a:t>
            </a:r>
            <a:r>
              <a:rPr baseline="-25000" lang="en-US" sz="1900" b="1" i="0" dirty="0">
                <a:solidFill>
                  <a:srgbClr val="2B3038"/>
                </a:solidFill>
                <a:latin typeface="Tahoma"/>
                <a:ea typeface="Tahoma"/>
                <a:cs typeface="Tahoma"/>
              </a:rPr>
              <a:t>solvent</a:t>
            </a:r>
            <a:r>
              <a:rPr lang="en-US" sz="1900" b="1" i="0" dirty="0">
                <a:solidFill>
                  <a:srgbClr val="2B3038"/>
                </a:solidFill>
                <a:latin typeface="Tahoma"/>
                <a:ea typeface="Tahoma"/>
                <a:cs typeface="Tahoma"/>
              </a:rPr>
              <a:t xml:space="preserve"> = 0.1625 / 0.1 = 1.625 mol/kg</a:t>
            </a:r>
          </a:p>
          <a:p>
            <a:pPr rtl="0" algn="ctr">
              <a:lnSpc>
                <a:spcPct val="125000"/>
              </a:lnSpc>
              <a:buNone/>
            </a:pPr>
            <a:r>
              <a:rPr lang="en-US" sz="1900" b="1" i="0" dirty="0">
                <a:solidFill>
                  <a:srgbClr val="2B3038"/>
                </a:solidFill>
                <a:latin typeface="Tahoma"/>
                <a:ea typeface="Tahoma"/>
                <a:cs typeface="Tahoma"/>
              </a:rPr>
              <a:t>ΔT</a:t>
            </a:r>
            <a:r>
              <a:rPr baseline="-25000" lang="en-US" sz="1900" b="1" i="0" dirty="0">
                <a:solidFill>
                  <a:srgbClr val="2B3038"/>
                </a:solidFill>
                <a:latin typeface="Tahoma"/>
                <a:ea typeface="Tahoma"/>
                <a:cs typeface="Tahoma"/>
              </a:rPr>
              <a:t>fp</a:t>
            </a:r>
            <a:r>
              <a:rPr lang="en-US" sz="1900" b="1" i="0" dirty="0">
                <a:solidFill>
                  <a:srgbClr val="2B3038"/>
                </a:solidFill>
                <a:latin typeface="Tahoma"/>
                <a:ea typeface="Tahoma"/>
                <a:cs typeface="Tahoma"/>
              </a:rPr>
              <a:t xml:space="preserve"> = K</a:t>
            </a:r>
            <a:r>
              <a:rPr baseline="-25000" lang="en-US" sz="1900" b="1" i="0" dirty="0">
                <a:solidFill>
                  <a:srgbClr val="2B3038"/>
                </a:solidFill>
                <a:latin typeface="Tahoma"/>
                <a:ea typeface="Tahoma"/>
                <a:cs typeface="Tahoma"/>
              </a:rPr>
              <a:t>fp</a:t>
            </a:r>
            <a:r>
              <a:rPr lang="en-US" sz="1900" b="1" i="0" dirty="0">
                <a:solidFill>
                  <a:srgbClr val="2B3038"/>
                </a:solidFill>
                <a:latin typeface="Tahoma"/>
                <a:ea typeface="Tahoma"/>
                <a:cs typeface="Tahoma"/>
              </a:rPr>
              <a:t xml:space="preserve"> × m = 5.2 × 1.625 = 8.45 °C</a:t>
            </a:r>
          </a:p>
          <a:p>
            <a:pPr rtl="0" algn="ctr">
              <a:lnSpc>
                <a:spcPct val="125000"/>
              </a:lnSpc>
              <a:buNone/>
            </a:pPr>
            <a:r>
              <a:rPr lang="en-US" sz="1900" b="1" i="0" dirty="0">
                <a:solidFill>
                  <a:srgbClr val="2B3038"/>
                </a:solidFill>
                <a:latin typeface="Tahoma"/>
                <a:ea typeface="Tahoma"/>
                <a:cs typeface="Tahoma"/>
              </a:rPr>
              <a:t>T</a:t>
            </a:r>
            <a:r>
              <a:rPr baseline="-25000" lang="en-US" sz="1900" b="1" i="0" dirty="0">
                <a:solidFill>
                  <a:srgbClr val="2B3038"/>
                </a:solidFill>
                <a:latin typeface="Tahoma"/>
                <a:ea typeface="Tahoma"/>
                <a:cs typeface="Tahoma"/>
              </a:rPr>
              <a:t>f</a:t>
            </a:r>
            <a:r>
              <a:rPr lang="en-US" sz="1900" b="1" i="0" dirty="0">
                <a:solidFill>
                  <a:srgbClr val="2B3038"/>
                </a:solidFill>
                <a:latin typeface="Tahoma"/>
                <a:ea typeface="Tahoma"/>
                <a:cs typeface="Tahoma"/>
              </a:rPr>
              <a:t xml:space="preserve"> = 5.5 − ΔT</a:t>
            </a:r>
            <a:r>
              <a:rPr baseline="-25000" lang="en-US" sz="1900" b="1" i="0" dirty="0">
                <a:solidFill>
                  <a:srgbClr val="2B3038"/>
                </a:solidFill>
                <a:latin typeface="Tahoma"/>
                <a:ea typeface="Tahoma"/>
                <a:cs typeface="Tahoma"/>
              </a:rPr>
              <a:t>fp</a:t>
            </a:r>
            <a:r>
              <a:rPr lang="en-US" sz="1900" b="1" i="0" dirty="0">
                <a:solidFill>
                  <a:srgbClr val="2B3038"/>
                </a:solidFill>
                <a:latin typeface="Tahoma"/>
                <a:ea typeface="Tahoma"/>
                <a:cs typeface="Tahoma"/>
              </a:rPr>
              <a:t xml:space="preserve"> = 5.5 − 8.45 = −2.95 °C</a:t>
            </a:r>
          </a:p>
        </p:txBody>
      </p:sp>
      <p:sp>
        <p:nvSpPr>
          <p:cNvPr id="20" name="Solution panel 2"/>
          <p:cNvSpPr/>
          <p:nvPr/>
        </p:nvSpPr>
        <p:spPr>
          <a:xfrm>
            <a:off x="708837" y="4620086"/>
            <a:ext cx="7301023" cy="2352332"/>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21" name="Solution label 2"/>
          <p:cNvSpPr txBox="1"/>
          <p:nvPr/>
        </p:nvSpPr>
        <p:spPr>
          <a:xfrm>
            <a:off x="945116" y="4762961"/>
            <a:ext cx="6828465"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ثانياً: درجة غليان المحلول</a:t>
            </a:r>
          </a:p>
        </p:txBody>
      </p:sp>
      <p:sp>
        <p:nvSpPr>
          <p:cNvPr id="22" name="Solution 2"/>
          <p:cNvSpPr txBox="1"/>
          <p:nvPr/>
        </p:nvSpPr>
        <p:spPr>
          <a:xfrm>
            <a:off x="945116" y="5215399"/>
            <a:ext cx="6828465" cy="1637957"/>
          </a:xfrm>
          <a:prstGeom prst="rect">
            <a:avLst/>
          </a:prstGeom>
          <a:noFill/>
          <a:ln>
            <a:noFill/>
          </a:ln>
        </p:spPr>
        <p:txBody>
          <a:bodyPr wrap="square" lIns="0" tIns="0" rIns="0" bIns="0" rtlCol="0" anchor="t">
            <a:noAutofit/>
          </a:bodyPr>
          <a:lstStyle/>
          <a:p>
            <a:pPr rtl="0" algn="ctr">
              <a:lnSpc>
                <a:spcPct val="125000"/>
              </a:lnSpc>
              <a:buNone/>
            </a:pPr>
            <a:r>
              <a:rPr lang="en-US" sz="1900" b="1" i="0" dirty="0">
                <a:solidFill>
                  <a:srgbClr val="2B3038"/>
                </a:solidFill>
                <a:latin typeface="Tahoma"/>
                <a:ea typeface="Tahoma"/>
                <a:cs typeface="Tahoma"/>
              </a:rPr>
              <a:t>ΔT</a:t>
            </a:r>
            <a:r>
              <a:rPr baseline="-25000" lang="en-US" sz="1900" b="1" i="0" dirty="0">
                <a:solidFill>
                  <a:srgbClr val="2B3038"/>
                </a:solidFill>
                <a:latin typeface="Tahoma"/>
                <a:ea typeface="Tahoma"/>
                <a:cs typeface="Tahoma"/>
              </a:rPr>
              <a:t>bp</a:t>
            </a:r>
            <a:r>
              <a:rPr lang="en-US" sz="1900" b="1" i="0" dirty="0">
                <a:solidFill>
                  <a:srgbClr val="2B3038"/>
                </a:solidFill>
                <a:latin typeface="Tahoma"/>
                <a:ea typeface="Tahoma"/>
                <a:cs typeface="Tahoma"/>
              </a:rPr>
              <a:t xml:space="preserve"> = K</a:t>
            </a:r>
            <a:r>
              <a:rPr baseline="-25000" lang="en-US" sz="1900" b="1" i="0" dirty="0">
                <a:solidFill>
                  <a:srgbClr val="2B3038"/>
                </a:solidFill>
                <a:latin typeface="Tahoma"/>
                <a:ea typeface="Tahoma"/>
                <a:cs typeface="Tahoma"/>
              </a:rPr>
              <a:t>bp</a:t>
            </a:r>
            <a:r>
              <a:rPr lang="en-US" sz="1900" b="1" i="0" dirty="0">
                <a:solidFill>
                  <a:srgbClr val="2B3038"/>
                </a:solidFill>
                <a:latin typeface="Tahoma"/>
                <a:ea typeface="Tahoma"/>
                <a:cs typeface="Tahoma"/>
              </a:rPr>
              <a:t xml:space="preserve"> × m = 2.53 × 1.625 = 4.11 °C</a:t>
            </a:r>
          </a:p>
          <a:p>
            <a:pPr rtl="0" algn="ctr">
              <a:lnSpc>
                <a:spcPct val="125000"/>
              </a:lnSpc>
              <a:buNone/>
            </a:pPr>
            <a:r>
              <a:rPr lang="en-US" sz="1900" b="1" i="0" dirty="0">
                <a:solidFill>
                  <a:srgbClr val="2B3038"/>
                </a:solidFill>
                <a:latin typeface="Tahoma"/>
                <a:ea typeface="Tahoma"/>
                <a:cs typeface="Tahoma"/>
              </a:rPr>
              <a:t>T</a:t>
            </a:r>
            <a:r>
              <a:rPr baseline="-25000" lang="en-US" sz="1900" b="1" i="0" dirty="0">
                <a:solidFill>
                  <a:srgbClr val="2B3038"/>
                </a:solidFill>
                <a:latin typeface="Tahoma"/>
                <a:ea typeface="Tahoma"/>
                <a:cs typeface="Tahoma"/>
              </a:rPr>
              <a:t>b</a:t>
            </a:r>
            <a:r>
              <a:rPr lang="en-US" sz="1900" b="1" i="0" dirty="0">
                <a:solidFill>
                  <a:srgbClr val="2B3038"/>
                </a:solidFill>
                <a:latin typeface="Tahoma"/>
                <a:ea typeface="Tahoma"/>
                <a:cs typeface="Tahoma"/>
              </a:rPr>
              <a:t xml:space="preserve"> = 80.1 + ΔT</a:t>
            </a:r>
            <a:r>
              <a:rPr baseline="-25000" lang="en-US" sz="1900" b="1" i="0" dirty="0">
                <a:solidFill>
                  <a:srgbClr val="2B3038"/>
                </a:solidFill>
                <a:latin typeface="Tahoma"/>
                <a:ea typeface="Tahoma"/>
                <a:cs typeface="Tahoma"/>
              </a:rPr>
              <a:t>bp</a:t>
            </a:r>
            <a:r>
              <a:rPr lang="en-US" sz="1900" b="1" i="0" dirty="0">
                <a:solidFill>
                  <a:srgbClr val="2B3038"/>
                </a:solidFill>
                <a:latin typeface="Tahoma"/>
                <a:ea typeface="Tahoma"/>
                <a:cs typeface="Tahoma"/>
              </a:rPr>
              <a:t xml:space="preserve"> = 80.1 + 4.11 = 84.21 °C</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par>
                          <p:cTn id="31" fill="hold">
                            <p:stCondLst>
                              <p:cond delay="1430"/>
                            </p:stCondLst>
                            <p:childTnLst>
                              <p:par>
                                <p:cTn id="32" presetID="10" presetClass="entr" presetSubtype="0"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00"/>
                                        <p:tgtEl>
                                          <p:spTgt spid="2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9">
                                            <p:txEl>
                                              <p:pRg st="0" end="0"/>
                                            </p:txEl>
                                          </p:spTgt>
                                        </p:tgtEl>
                                        <p:attrNameLst>
                                          <p:attrName>style.visibility</p:attrName>
                                        </p:attrNameLst>
                                      </p:cBhvr>
                                      <p:to>
                                        <p:strVal val="visible"/>
                                      </p:to>
                                    </p:set>
                                    <p:animEffect transition="in" filter="fade">
                                      <p:cBhvr>
                                        <p:cTn id="42" dur="400"/>
                                        <p:tgtEl>
                                          <p:spTgt spid="19">
                                            <p:txEl>
                                              <p:pRg st="0" end="0"/>
                                            </p:txEl>
                                          </p:spTgt>
                                        </p:tgtEl>
                                      </p:cBhvr>
                                    </p:animEffect>
                                    <p:anim calcmode="lin" valueType="num">
                                      <p:cBhvr>
                                        <p:cTn id="43"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44"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45" fill="hold">
                            <p:stCondLst>
                              <p:cond delay="460"/>
                            </p:stCondLst>
                            <p:childTnLst>
                              <p:par>
                                <p:cTn id="46" presetID="42" presetClass="entr" presetSubtype="0" fill="hold" grpId="0" nodeType="afterEffect">
                                  <p:stCondLst>
                                    <p:cond delay="0"/>
                                  </p:stCondLst>
                                  <p:childTnLst>
                                    <p:set>
                                      <p:cBhvr>
                                        <p:cTn id="47" dur="1" fill="hold">
                                          <p:stCondLst>
                                            <p:cond delay="0"/>
                                          </p:stCondLst>
                                        </p:cTn>
                                        <p:tgtEl>
                                          <p:spTgt spid="19">
                                            <p:txEl>
                                              <p:pRg st="1" end="1"/>
                                            </p:txEl>
                                          </p:spTgt>
                                        </p:tgtEl>
                                        <p:attrNameLst>
                                          <p:attrName>style.visibility</p:attrName>
                                        </p:attrNameLst>
                                      </p:cBhvr>
                                      <p:to>
                                        <p:strVal val="visible"/>
                                      </p:to>
                                    </p:set>
                                    <p:animEffect transition="in" filter="fade">
                                      <p:cBhvr>
                                        <p:cTn id="48" dur="400"/>
                                        <p:tgtEl>
                                          <p:spTgt spid="19">
                                            <p:txEl>
                                              <p:pRg st="1" end="1"/>
                                            </p:txEl>
                                          </p:spTgt>
                                        </p:tgtEl>
                                      </p:cBhvr>
                                    </p:animEffect>
                                    <p:anim calcmode="lin" valueType="num">
                                      <p:cBhvr>
                                        <p:cTn id="49"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50"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51" fill="hold">
                            <p:stCondLst>
                              <p:cond delay="920"/>
                            </p:stCondLst>
                            <p:childTnLst>
                              <p:par>
                                <p:cTn id="52" presetID="42" presetClass="entr" presetSubtype="0" fill="hold" grpId="0" nodeType="afterEffect">
                                  <p:stCondLst>
                                    <p:cond delay="0"/>
                                  </p:stCondLst>
                                  <p:childTnLst>
                                    <p:set>
                                      <p:cBhvr>
                                        <p:cTn id="53" dur="1" fill="hold">
                                          <p:stCondLst>
                                            <p:cond delay="0"/>
                                          </p:stCondLst>
                                        </p:cTn>
                                        <p:tgtEl>
                                          <p:spTgt spid="19">
                                            <p:txEl>
                                              <p:pRg st="2" end="2"/>
                                            </p:txEl>
                                          </p:spTgt>
                                        </p:tgtEl>
                                        <p:attrNameLst>
                                          <p:attrName>style.visibility</p:attrName>
                                        </p:attrNameLst>
                                      </p:cBhvr>
                                      <p:to>
                                        <p:strVal val="visible"/>
                                      </p:to>
                                    </p:set>
                                    <p:animEffect transition="in" filter="fade">
                                      <p:cBhvr>
                                        <p:cTn id="54" dur="400"/>
                                        <p:tgtEl>
                                          <p:spTgt spid="19">
                                            <p:txEl>
                                              <p:pRg st="2" end="2"/>
                                            </p:txEl>
                                          </p:spTgt>
                                        </p:tgtEl>
                                      </p:cBhvr>
                                    </p:animEffect>
                                    <p:anim calcmode="lin" valueType="num">
                                      <p:cBhvr>
                                        <p:cTn id="55"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56"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57" fill="hold">
                            <p:stCondLst>
                              <p:cond delay="1380"/>
                            </p:stCondLst>
                            <p:childTnLst>
                              <p:par>
                                <p:cTn id="58" presetID="42" presetClass="entr" presetSubtype="0" fill="hold" grpId="0" nodeType="afterEffect">
                                  <p:stCondLst>
                                    <p:cond delay="0"/>
                                  </p:stCondLst>
                                  <p:childTnLst>
                                    <p:set>
                                      <p:cBhvr>
                                        <p:cTn id="59" dur="1" fill="hold">
                                          <p:stCondLst>
                                            <p:cond delay="0"/>
                                          </p:stCondLst>
                                        </p:cTn>
                                        <p:tgtEl>
                                          <p:spTgt spid="19">
                                            <p:txEl>
                                              <p:pRg st="3" end="3"/>
                                            </p:txEl>
                                          </p:spTgt>
                                        </p:tgtEl>
                                        <p:attrNameLst>
                                          <p:attrName>style.visibility</p:attrName>
                                        </p:attrNameLst>
                                      </p:cBhvr>
                                      <p:to>
                                        <p:strVal val="visible"/>
                                      </p:to>
                                    </p:set>
                                    <p:animEffect transition="in" filter="fade">
                                      <p:cBhvr>
                                        <p:cTn id="60" dur="400"/>
                                        <p:tgtEl>
                                          <p:spTgt spid="19">
                                            <p:txEl>
                                              <p:pRg st="3" end="3"/>
                                            </p:txEl>
                                          </p:spTgt>
                                        </p:tgtEl>
                                      </p:cBhvr>
                                    </p:animEffect>
                                    <p:anim calcmode="lin" valueType="num">
                                      <p:cBhvr>
                                        <p:cTn id="61" dur="4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62" dur="4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22">
                                            <p:txEl>
                                              <p:pRg st="0" end="0"/>
                                            </p:txEl>
                                          </p:spTgt>
                                        </p:tgtEl>
                                        <p:attrNameLst>
                                          <p:attrName>style.visibility</p:attrName>
                                        </p:attrNameLst>
                                      </p:cBhvr>
                                      <p:to>
                                        <p:strVal val="visible"/>
                                      </p:to>
                                    </p:set>
                                    <p:animEffect transition="in" filter="fade">
                                      <p:cBhvr>
                                        <p:cTn id="67" dur="400"/>
                                        <p:tgtEl>
                                          <p:spTgt spid="22">
                                            <p:txEl>
                                              <p:pRg st="0" end="0"/>
                                            </p:txEl>
                                          </p:spTgt>
                                        </p:tgtEl>
                                      </p:cBhvr>
                                    </p:animEffect>
                                    <p:anim calcmode="lin" valueType="num">
                                      <p:cBhvr>
                                        <p:cTn id="68" dur="400" fill="hold"/>
                                        <p:tgtEl>
                                          <p:spTgt spid="22">
                                            <p:txEl>
                                              <p:pRg st="0" end="0"/>
                                            </p:txEl>
                                          </p:spTgt>
                                        </p:tgtEl>
                                        <p:attrNameLst>
                                          <p:attrName>ppt_x</p:attrName>
                                        </p:attrNameLst>
                                      </p:cBhvr>
                                      <p:tavLst>
                                        <p:tav tm="0">
                                          <p:val>
                                            <p:strVal val="#ppt_x"/>
                                          </p:val>
                                        </p:tav>
                                        <p:tav tm="100000">
                                          <p:val>
                                            <p:strVal val="#ppt_x"/>
                                          </p:val>
                                        </p:tav>
                                      </p:tavLst>
                                    </p:anim>
                                    <p:anim calcmode="lin" valueType="num">
                                      <p:cBhvr>
                                        <p:cTn id="69" dur="400" fill="hold"/>
                                        <p:tgtEl>
                                          <p:spTgt spid="22">
                                            <p:txEl>
                                              <p:pRg st="0" end="0"/>
                                            </p:txEl>
                                          </p:spTgt>
                                        </p:tgtEl>
                                        <p:attrNameLst>
                                          <p:attrName>ppt_y</p:attrName>
                                        </p:attrNameLst>
                                      </p:cBhvr>
                                      <p:tavLst>
                                        <p:tav tm="0">
                                          <p:val>
                                            <p:strVal val="#ppt_y+.1"/>
                                          </p:val>
                                        </p:tav>
                                        <p:tav tm="100000">
                                          <p:val>
                                            <p:strVal val="#ppt_y"/>
                                          </p:val>
                                        </p:tav>
                                      </p:tavLst>
                                    </p:anim>
                                  </p:childTnLst>
                                </p:cTn>
                              </p:par>
                            </p:childTnLst>
                          </p:cTn>
                        </p:par>
                        <p:par>
                          <p:cTn id="70" fill="hold">
                            <p:stCondLst>
                              <p:cond delay="460"/>
                            </p:stCondLst>
                            <p:childTnLst>
                              <p:par>
                                <p:cTn id="71" presetID="42" presetClass="entr" presetSubtype="0" fill="hold" grpId="0" nodeType="afterEffect">
                                  <p:stCondLst>
                                    <p:cond delay="0"/>
                                  </p:stCondLst>
                                  <p:childTnLst>
                                    <p:set>
                                      <p:cBhvr>
                                        <p:cTn id="72" dur="1" fill="hold">
                                          <p:stCondLst>
                                            <p:cond delay="0"/>
                                          </p:stCondLst>
                                        </p:cTn>
                                        <p:tgtEl>
                                          <p:spTgt spid="22">
                                            <p:txEl>
                                              <p:pRg st="1" end="1"/>
                                            </p:txEl>
                                          </p:spTgt>
                                        </p:tgtEl>
                                        <p:attrNameLst>
                                          <p:attrName>style.visibility</p:attrName>
                                        </p:attrNameLst>
                                      </p:cBhvr>
                                      <p:to>
                                        <p:strVal val="visible"/>
                                      </p:to>
                                    </p:set>
                                    <p:animEffect transition="in" filter="fade">
                                      <p:cBhvr>
                                        <p:cTn id="73" dur="400"/>
                                        <p:tgtEl>
                                          <p:spTgt spid="22">
                                            <p:txEl>
                                              <p:pRg st="1" end="1"/>
                                            </p:txEl>
                                          </p:spTgt>
                                        </p:tgtEl>
                                      </p:cBhvr>
                                    </p:animEffect>
                                    <p:anim calcmode="lin" valueType="num">
                                      <p:cBhvr>
                                        <p:cTn id="74" dur="400" fill="hold"/>
                                        <p:tgtEl>
                                          <p:spTgt spid="22">
                                            <p:txEl>
                                              <p:pRg st="1" end="1"/>
                                            </p:txEl>
                                          </p:spTgt>
                                        </p:tgtEl>
                                        <p:attrNameLst>
                                          <p:attrName>ppt_x</p:attrName>
                                        </p:attrNameLst>
                                      </p:cBhvr>
                                      <p:tavLst>
                                        <p:tav tm="0">
                                          <p:val>
                                            <p:strVal val="#ppt_x"/>
                                          </p:val>
                                        </p:tav>
                                        <p:tav tm="100000">
                                          <p:val>
                                            <p:strVal val="#ppt_x"/>
                                          </p:val>
                                        </p:tav>
                                      </p:tavLst>
                                    </p:anim>
                                    <p:anim calcmode="lin" valueType="num">
                                      <p:cBhvr>
                                        <p:cTn id="75" dur="400" fill="hold"/>
                                        <p:tgtEl>
                                          <p:spTgt spid="2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P spid="20" grpId="0" animBg="1"/>
      <p:bldP spid="21" grpId="0" animBg="1"/>
      <p:bldP spid="22"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(4)</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p>
        </p:txBody>
      </p:sp>
      <p:sp>
        <p:nvSpPr>
          <p:cNvPr id="13" name="Card 4"/>
          <p:cNvSpPr/>
          <p:nvPr/>
        </p:nvSpPr>
        <p:spPr>
          <a:xfrm>
            <a:off x="708837" y="1238250"/>
            <a:ext cx="14838325" cy="1964762"/>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4"/>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4</a:t>
            </a:r>
          </a:p>
        </p:txBody>
      </p:sp>
      <p:sp>
        <p:nvSpPr>
          <p:cNvPr id="15" name="Tag 4"/>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p>
        </p:txBody>
      </p:sp>
      <p:sp>
        <p:nvSpPr>
          <p:cNvPr id="16" name="Question 4"/>
          <p:cNvSpPr txBox="1"/>
          <p:nvPr/>
        </p:nvSpPr>
        <p:spPr>
          <a:xfrm>
            <a:off x="1016000" y="1785937"/>
            <a:ext cx="13656930" cy="1274199"/>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مادة كتلتها الجزيئية ‪(254 g/mol)‬ أُذيبت كتلة معينة منها في ‪(45 g)‬ إيثر، فكان الارتفاع في درجة الغليان ‪(0.585 °C)‬. احسب كتلة هذه المادة إذا علمت أن ثابت الغليان للإيثر ‪(2.16 °C kg/mol)‬.</a:t>
            </a:r>
          </a:p>
        </p:txBody>
      </p:sp>
      <p:sp>
        <p:nvSpPr>
          <p:cNvPr id="17" name="Solution panel 1"/>
          <p:cNvSpPr/>
          <p:nvPr/>
        </p:nvSpPr>
        <p:spPr>
          <a:xfrm>
            <a:off x="708837" y="3393512"/>
            <a:ext cx="14838325" cy="2739509"/>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536387"/>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p>
        </p:txBody>
      </p:sp>
      <p:sp>
        <p:nvSpPr>
          <p:cNvPr id="19" name="Solution 1"/>
          <p:cNvSpPr txBox="1"/>
          <p:nvPr/>
        </p:nvSpPr>
        <p:spPr>
          <a:xfrm>
            <a:off x="945116" y="3988824"/>
            <a:ext cx="14365767" cy="2025134"/>
          </a:xfrm>
          <a:prstGeom prst="rect">
            <a:avLst/>
          </a:prstGeom>
          <a:noFill/>
          <a:ln>
            <a:noFill/>
          </a:ln>
        </p:spPr>
        <p:txBody>
          <a:bodyPr wrap="square" lIns="0" tIns="0" rIns="0" bIns="0" rtlCol="0" anchor="t">
            <a:noAutofit/>
          </a:bodyPr>
          <a:lstStyle/>
          <a:p>
            <a:pPr rtl="0" algn="ctr">
              <a:lnSpc>
                <a:spcPct val="125000"/>
              </a:lnSpc>
              <a:buNone/>
            </a:pPr>
            <a:r>
              <a:rPr lang="en-US" sz="2400" b="1" i="0" dirty="0">
                <a:solidFill>
                  <a:srgbClr val="2B3038"/>
                </a:solidFill>
                <a:latin typeface="Tahoma"/>
                <a:ea typeface="Tahoma"/>
                <a:cs typeface="Tahoma"/>
              </a:rPr>
              <a:t>ΔT</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K</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m</a:t>
            </a:r>
          </a:p>
          <a:p>
            <a:pPr rtl="0" algn="ctr">
              <a:lnSpc>
                <a:spcPct val="125000"/>
              </a:lnSpc>
              <a:buNone/>
            </a:pPr>
            <a:r>
              <a:rPr lang="en-US" sz="2400" b="1" i="0" dirty="0">
                <a:solidFill>
                  <a:srgbClr val="2B3038"/>
                </a:solidFill>
                <a:latin typeface="Tahoma"/>
                <a:ea typeface="Tahoma"/>
                <a:cs typeface="Tahoma"/>
              </a:rPr>
              <a:t>m = ΔT</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K</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0.585 / 2.16 = 0.27 mol/kg</a:t>
            </a:r>
          </a:p>
          <a:p>
            <a:pPr rtl="0" algn="ctr">
              <a:lnSpc>
                <a:spcPct val="125000"/>
              </a:lnSpc>
              <a:buNone/>
            </a:pPr>
            <a:r>
              <a:rPr lang="en-US" sz="2400" b="1" i="0" dirty="0">
                <a:solidFill>
                  <a:srgbClr val="2B3038"/>
                </a:solidFill>
                <a:latin typeface="Tahoma"/>
                <a:ea typeface="Tahoma"/>
                <a:cs typeface="Tahoma"/>
              </a:rPr>
              <a:t>m</a:t>
            </a:r>
            <a:r>
              <a:rPr baseline="-25000" lang="en-US" sz="2400" b="1" i="0" dirty="0">
                <a:solidFill>
                  <a:srgbClr val="2B3038"/>
                </a:solidFill>
                <a:latin typeface="Tahoma"/>
                <a:ea typeface="Tahoma"/>
                <a:cs typeface="Tahoma"/>
              </a:rPr>
              <a:t>s</a:t>
            </a:r>
            <a:r>
              <a:rPr lang="en-US" sz="2400" b="1" i="0" dirty="0">
                <a:solidFill>
                  <a:srgbClr val="2B3038"/>
                </a:solidFill>
                <a:latin typeface="Tahoma"/>
                <a:ea typeface="Tahoma"/>
                <a:cs typeface="Tahoma"/>
              </a:rPr>
              <a:t xml:space="preserve"> = m × M</a:t>
            </a:r>
            <a:r>
              <a:rPr baseline="-25000" lang="en-US" sz="2400" b="1" i="0" dirty="0">
                <a:solidFill>
                  <a:srgbClr val="2B3038"/>
                </a:solidFill>
                <a:latin typeface="Tahoma"/>
                <a:ea typeface="Tahoma"/>
                <a:cs typeface="Tahoma"/>
              </a:rPr>
              <a:t>wt</a:t>
            </a:r>
            <a:r>
              <a:rPr lang="en-US" sz="2400" b="1" i="0" dirty="0">
                <a:solidFill>
                  <a:srgbClr val="2B3038"/>
                </a:solidFill>
                <a:latin typeface="Tahoma"/>
                <a:ea typeface="Tahoma"/>
                <a:cs typeface="Tahoma"/>
              </a:rPr>
              <a:t xml:space="preserve"> × kg</a:t>
            </a:r>
            <a:r>
              <a:rPr baseline="-25000" lang="en-US" sz="2400" b="1" i="0" dirty="0">
                <a:solidFill>
                  <a:srgbClr val="2B3038"/>
                </a:solidFill>
                <a:latin typeface="Tahoma"/>
                <a:ea typeface="Tahoma"/>
                <a:cs typeface="Tahoma"/>
              </a:rPr>
              <a:t>solvent</a:t>
            </a:r>
            <a:endParaRPr lang="ar-SA" sz="2400" b="1" i="0" dirty="0">
              <a:solidFill>
                <a:srgbClr val="2B3038"/>
              </a:solidFill>
              <a:latin typeface="Tahoma"/>
              <a:ea typeface="Tahoma"/>
              <a:cs typeface="Tahoma"/>
            </a:endParaRPr>
          </a:p>
          <a:p>
            <a:pPr rtl="0" algn="ctr">
              <a:lnSpc>
                <a:spcPct val="125000"/>
              </a:lnSpc>
              <a:buNone/>
            </a:pPr>
            <a:r>
              <a:rPr lang="en-US" sz="2400" b="1" i="0" dirty="0">
                <a:solidFill>
                  <a:srgbClr val="2B3038"/>
                </a:solidFill>
                <a:latin typeface="Tahoma"/>
                <a:ea typeface="Tahoma"/>
                <a:cs typeface="Tahoma"/>
              </a:rPr>
              <a:t>m</a:t>
            </a:r>
            <a:r>
              <a:rPr baseline="-25000" lang="en-US" sz="2400" b="1" i="0" dirty="0">
                <a:solidFill>
                  <a:srgbClr val="2B3038"/>
                </a:solidFill>
                <a:latin typeface="Tahoma"/>
                <a:ea typeface="Tahoma"/>
                <a:cs typeface="Tahoma"/>
              </a:rPr>
              <a:t>s</a:t>
            </a:r>
            <a:r>
              <a:rPr lang="en-US" sz="2400" b="1" i="0" dirty="0">
                <a:solidFill>
                  <a:srgbClr val="2B3038"/>
                </a:solidFill>
                <a:latin typeface="Tahoma"/>
                <a:ea typeface="Tahoma"/>
                <a:cs typeface="Tahoma"/>
              </a:rPr>
              <a:t xml:space="preserve"> = 0.27 × 254 × 0.045 = 3.1 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8" fill="hold">
                            <p:stCondLst>
                              <p:cond delay="460"/>
                            </p:stCondLst>
                            <p:childTnLst>
                              <p:par>
                                <p:cTn id="39"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4" fill="hold">
                            <p:stCondLst>
                              <p:cond delay="920"/>
                            </p:stCondLst>
                            <p:childTnLst>
                              <p:par>
                                <p:cTn id="45"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50" fill="hold">
                            <p:stCondLst>
                              <p:cond delay="1380"/>
                            </p:stCondLst>
                            <p:childTnLst>
                              <p:par>
                                <p:cTn id="51" presetID="42" presetClass="entr" presetSubtype="0" fill="hold" grpId="0" nodeType="afterEffect">
                                  <p:stCondLst>
                                    <p:cond delay="0"/>
                                  </p:stCondLst>
                                  <p:childTnLst>
                                    <p:set>
                                      <p:cBhvr>
                                        <p:cTn id="52" dur="1" fill="hold">
                                          <p:stCondLst>
                                            <p:cond delay="0"/>
                                          </p:stCondLst>
                                        </p:cTn>
                                        <p:tgtEl>
                                          <p:spTgt spid="19">
                                            <p:txEl>
                                              <p:pRg st="3" end="3"/>
                                            </p:txEl>
                                          </p:spTgt>
                                        </p:tgtEl>
                                        <p:attrNameLst>
                                          <p:attrName>style.visibility</p:attrName>
                                        </p:attrNameLst>
                                      </p:cBhvr>
                                      <p:to>
                                        <p:strVal val="visible"/>
                                      </p:to>
                                    </p:set>
                                    <p:animEffect transition="in" filter="fade">
                                      <p:cBhvr>
                                        <p:cTn id="53" dur="400"/>
                                        <p:tgtEl>
                                          <p:spTgt spid="19">
                                            <p:txEl>
                                              <p:pRg st="3" end="3"/>
                                            </p:txEl>
                                          </p:spTgt>
                                        </p:tgtEl>
                                      </p:cBhvr>
                                    </p:animEffect>
                                    <p:anim calcmode="lin" valueType="num">
                                      <p:cBhvr>
                                        <p:cTn id="54" dur="4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55" dur="4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(6)</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p>
        </p:txBody>
      </p:sp>
      <p:sp>
        <p:nvSpPr>
          <p:cNvPr id="13" name="Card 6"/>
          <p:cNvSpPr/>
          <p:nvPr/>
        </p:nvSpPr>
        <p:spPr>
          <a:xfrm>
            <a:off x="708837" y="1238250"/>
            <a:ext cx="14838325" cy="1964762"/>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6"/>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6</a:t>
            </a:r>
          </a:p>
        </p:txBody>
      </p:sp>
      <p:sp>
        <p:nvSpPr>
          <p:cNvPr id="15" name="Tag 6"/>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p>
        </p:txBody>
      </p:sp>
      <p:sp>
        <p:nvSpPr>
          <p:cNvPr id="16" name="Question 6"/>
          <p:cNvSpPr txBox="1"/>
          <p:nvPr/>
        </p:nvSpPr>
        <p:spPr>
          <a:xfrm>
            <a:off x="1016000" y="1785937"/>
            <a:ext cx="13656930" cy="1274199"/>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احسب كتلة الجليسرول ‪C</a:t>
            </a:r>
            <a:r>
              <a:rPr lang="ar-SA" sz="2400" b="1" i="0" baseline="-25000" dirty="0">
                <a:solidFill>
                  <a:srgbClr val="2B3038"/>
                </a:solidFill>
                <a:latin typeface="Tahoma"/>
                <a:ea typeface="Tahoma"/>
                <a:cs typeface="Tahoma"/>
              </a:rPr>
              <a:t>3</a:t>
            </a:r>
            <a:r>
              <a:rPr lang="ar-SA" sz="2400" b="1" i="0" dirty="0">
                <a:solidFill>
                  <a:srgbClr val="2B3038"/>
                </a:solidFill>
                <a:latin typeface="Tahoma"/>
                <a:ea typeface="Tahoma"/>
                <a:cs typeface="Tahoma"/>
              </a:rPr>
              <a:t>H</a:t>
            </a:r>
            <a:r>
              <a:rPr lang="ar-SA" sz="2400" b="1" i="0" baseline="-25000" dirty="0">
                <a:solidFill>
                  <a:srgbClr val="2B3038"/>
                </a:solidFill>
                <a:latin typeface="Tahoma"/>
                <a:ea typeface="Tahoma"/>
                <a:cs typeface="Tahoma"/>
              </a:rPr>
              <a:t>8</a:t>
            </a:r>
            <a:r>
              <a:rPr lang="ar-SA" sz="2400" b="1" i="0" dirty="0">
                <a:solidFill>
                  <a:srgbClr val="2B3038"/>
                </a:solidFill>
                <a:latin typeface="Tahoma"/>
                <a:ea typeface="Tahoma"/>
                <a:cs typeface="Tahoma"/>
              </a:rPr>
              <a:t>O</a:t>
            </a:r>
            <a:r>
              <a:rPr lang="ar-SA" sz="2400" b="1" i="0" baseline="-25000" dirty="0">
                <a:solidFill>
                  <a:srgbClr val="2B3038"/>
                </a:solidFill>
                <a:latin typeface="Tahoma"/>
                <a:ea typeface="Tahoma"/>
                <a:cs typeface="Tahoma"/>
              </a:rPr>
              <a:t>3</a:t>
            </a:r>
            <a:r>
              <a:rPr lang="ar-SA" sz="2400" b="1" i="0" dirty="0">
                <a:solidFill>
                  <a:srgbClr val="2B3038"/>
                </a:solidFill>
                <a:latin typeface="Tahoma"/>
                <a:ea typeface="Tahoma"/>
                <a:cs typeface="Tahoma"/>
              </a:rPr>
              <a:t>‬ اللازم إذابتها في ‪(500 g)‬ من الماء لكي يغلي المحلول الناتج عند ‪(100.208 °C)‬، علماً بأن ثابت غليان الماء ‪(0.52 °C kg/mol)‬. ‪(C = 12 , O = 16 , H = 1)‬</a:t>
            </a:r>
          </a:p>
        </p:txBody>
      </p:sp>
      <p:sp>
        <p:nvSpPr>
          <p:cNvPr id="17" name="Solution panel 1"/>
          <p:cNvSpPr/>
          <p:nvPr/>
        </p:nvSpPr>
        <p:spPr>
          <a:xfrm>
            <a:off x="708837" y="3393512"/>
            <a:ext cx="14838325" cy="3204120"/>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536387"/>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p>
        </p:txBody>
      </p:sp>
      <p:sp>
        <p:nvSpPr>
          <p:cNvPr id="19" name="Solution 1"/>
          <p:cNvSpPr txBox="1"/>
          <p:nvPr/>
        </p:nvSpPr>
        <p:spPr>
          <a:xfrm>
            <a:off x="945116" y="3988824"/>
            <a:ext cx="14365767" cy="2489745"/>
          </a:xfrm>
          <a:prstGeom prst="rect">
            <a:avLst/>
          </a:prstGeom>
          <a:noFill/>
          <a:ln>
            <a:noFill/>
          </a:ln>
        </p:spPr>
        <p:txBody>
          <a:bodyPr wrap="square" lIns="0" tIns="0" rIns="0" bIns="0" rtlCol="0" anchor="t">
            <a:noAutofit/>
          </a:bodyPr>
          <a:lstStyle/>
          <a:p>
            <a:pPr rtl="0" algn="ctr">
              <a:lnSpc>
                <a:spcPct val="125000"/>
              </a:lnSpc>
              <a:buNone/>
            </a:pPr>
            <a:r>
              <a:rPr lang="en-US" sz="2400" b="1" i="0" dirty="0">
                <a:solidFill>
                  <a:srgbClr val="2B3038"/>
                </a:solidFill>
                <a:latin typeface="Tahoma"/>
                <a:ea typeface="Tahoma"/>
                <a:cs typeface="Tahoma"/>
              </a:rPr>
              <a:t>M</a:t>
            </a:r>
            <a:r>
              <a:rPr baseline="-25000" lang="en-US" sz="2400" b="1" i="0" dirty="0">
                <a:solidFill>
                  <a:srgbClr val="2B3038"/>
                </a:solidFill>
                <a:latin typeface="Tahoma"/>
                <a:ea typeface="Tahoma"/>
                <a:cs typeface="Tahoma"/>
              </a:rPr>
              <a:t>wt</a:t>
            </a:r>
            <a:r>
              <a:rPr lang="en-US" sz="2400" b="1" i="0" dirty="0">
                <a:solidFill>
                  <a:srgbClr val="2B3038"/>
                </a:solidFill>
                <a:latin typeface="Tahoma"/>
                <a:ea typeface="Tahoma"/>
                <a:cs typeface="Tahoma"/>
              </a:rPr>
              <a:t xml:space="preserve"> = (3 × 12) + (8 × 1) + (3 × 16) = 92 g/mol</a:t>
            </a:r>
          </a:p>
          <a:p>
            <a:pPr rtl="0" algn="ctr">
              <a:lnSpc>
                <a:spcPct val="125000"/>
              </a:lnSpc>
              <a:buNone/>
            </a:pPr>
            <a:r>
              <a:rPr lang="en-US" sz="2400" b="1" i="0" dirty="0">
                <a:solidFill>
                  <a:srgbClr val="2B3038"/>
                </a:solidFill>
                <a:latin typeface="Tahoma"/>
                <a:ea typeface="Tahoma"/>
                <a:cs typeface="Tahoma"/>
              </a:rPr>
              <a:t>ΔT</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100.208 − 100 = 0.208 °C</a:t>
            </a:r>
          </a:p>
          <a:p>
            <a:pPr rtl="0" algn="ctr">
              <a:lnSpc>
                <a:spcPct val="125000"/>
              </a:lnSpc>
              <a:buNone/>
            </a:pPr>
            <a:r>
              <a:rPr lang="en-US" sz="2400" b="1" i="0" dirty="0">
                <a:solidFill>
                  <a:srgbClr val="2B3038"/>
                </a:solidFill>
                <a:latin typeface="Tahoma"/>
                <a:ea typeface="Tahoma"/>
                <a:cs typeface="Tahoma"/>
              </a:rPr>
              <a:t>m = ΔT</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K</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0.208 / 0.52 = 0.4 mol/kg</a:t>
            </a:r>
          </a:p>
          <a:p>
            <a:pPr rtl="0" algn="ctr">
              <a:lnSpc>
                <a:spcPct val="125000"/>
              </a:lnSpc>
              <a:buNone/>
            </a:pPr>
            <a:r>
              <a:rPr lang="en-US" sz="2400" b="1" i="0" dirty="0">
                <a:solidFill>
                  <a:srgbClr val="2B3038"/>
                </a:solidFill>
                <a:latin typeface="Tahoma"/>
                <a:ea typeface="Tahoma"/>
                <a:cs typeface="Tahoma"/>
              </a:rPr>
              <a:t>m</a:t>
            </a:r>
            <a:r>
              <a:rPr baseline="-25000" lang="en-US" sz="2400" b="1" i="0" dirty="0">
                <a:solidFill>
                  <a:srgbClr val="2B3038"/>
                </a:solidFill>
                <a:latin typeface="Tahoma"/>
                <a:ea typeface="Tahoma"/>
                <a:cs typeface="Tahoma"/>
              </a:rPr>
              <a:t>s</a:t>
            </a:r>
            <a:r>
              <a:rPr lang="en-US" sz="2400" b="1" i="0" dirty="0">
                <a:solidFill>
                  <a:srgbClr val="2B3038"/>
                </a:solidFill>
                <a:latin typeface="Tahoma"/>
                <a:ea typeface="Tahoma"/>
                <a:cs typeface="Tahoma"/>
              </a:rPr>
              <a:t xml:space="preserve"> = m × M</a:t>
            </a:r>
            <a:r>
              <a:rPr baseline="-25000" lang="en-US" sz="2400" b="1" i="0" dirty="0">
                <a:solidFill>
                  <a:srgbClr val="2B3038"/>
                </a:solidFill>
                <a:latin typeface="Tahoma"/>
                <a:ea typeface="Tahoma"/>
                <a:cs typeface="Tahoma"/>
              </a:rPr>
              <a:t>wt</a:t>
            </a:r>
            <a:r>
              <a:rPr lang="en-US" sz="2400" b="1" i="0" dirty="0">
                <a:solidFill>
                  <a:srgbClr val="2B3038"/>
                </a:solidFill>
                <a:latin typeface="Tahoma"/>
                <a:ea typeface="Tahoma"/>
                <a:cs typeface="Tahoma"/>
              </a:rPr>
              <a:t xml:space="preserve"> × kg</a:t>
            </a:r>
            <a:r>
              <a:rPr baseline="-25000" lang="en-US" sz="2400" b="1" i="0" dirty="0">
                <a:solidFill>
                  <a:srgbClr val="2B3038"/>
                </a:solidFill>
                <a:latin typeface="Tahoma"/>
                <a:ea typeface="Tahoma"/>
                <a:cs typeface="Tahoma"/>
              </a:rPr>
              <a:t>solvent</a:t>
            </a:r>
          </a:p>
          <a:p>
            <a:pPr rtl="0" algn="ctr">
              <a:lnSpc>
                <a:spcPct val="125000"/>
              </a:lnSpc>
              <a:buNone/>
            </a:pPr>
            <a:r>
              <a:rPr lang="en-US" sz="2400" b="1" i="0" dirty="0">
                <a:solidFill>
                  <a:srgbClr val="2B3038"/>
                </a:solidFill>
                <a:latin typeface="Tahoma"/>
                <a:ea typeface="Tahoma"/>
                <a:cs typeface="Tahoma"/>
              </a:rPr>
              <a:t>m</a:t>
            </a:r>
            <a:r>
              <a:rPr baseline="-25000" lang="en-US" sz="2400" b="1" i="0" dirty="0">
                <a:solidFill>
                  <a:srgbClr val="2B3038"/>
                </a:solidFill>
                <a:latin typeface="Tahoma"/>
                <a:ea typeface="Tahoma"/>
                <a:cs typeface="Tahoma"/>
              </a:rPr>
              <a:t>s</a:t>
            </a:r>
            <a:r>
              <a:rPr lang="en-US" sz="2400" b="1" i="0" dirty="0">
                <a:solidFill>
                  <a:srgbClr val="2B3038"/>
                </a:solidFill>
                <a:latin typeface="Tahoma"/>
                <a:ea typeface="Tahoma"/>
                <a:cs typeface="Tahoma"/>
              </a:rPr>
              <a:t xml:space="preserve"> = 0.4 × 92 × 0.5 = 18.4 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8" fill="hold">
                            <p:stCondLst>
                              <p:cond delay="460"/>
                            </p:stCondLst>
                            <p:childTnLst>
                              <p:par>
                                <p:cTn id="39"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4" fill="hold">
                            <p:stCondLst>
                              <p:cond delay="920"/>
                            </p:stCondLst>
                            <p:childTnLst>
                              <p:par>
                                <p:cTn id="45"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50" fill="hold">
                            <p:stCondLst>
                              <p:cond delay="1380"/>
                            </p:stCondLst>
                            <p:childTnLst>
                              <p:par>
                                <p:cTn id="51" presetID="42" presetClass="entr" presetSubtype="0" fill="hold" grpId="0" nodeType="afterEffect">
                                  <p:stCondLst>
                                    <p:cond delay="0"/>
                                  </p:stCondLst>
                                  <p:childTnLst>
                                    <p:set>
                                      <p:cBhvr>
                                        <p:cTn id="52" dur="1" fill="hold">
                                          <p:stCondLst>
                                            <p:cond delay="0"/>
                                          </p:stCondLst>
                                        </p:cTn>
                                        <p:tgtEl>
                                          <p:spTgt spid="19">
                                            <p:txEl>
                                              <p:pRg st="3" end="3"/>
                                            </p:txEl>
                                          </p:spTgt>
                                        </p:tgtEl>
                                        <p:attrNameLst>
                                          <p:attrName>style.visibility</p:attrName>
                                        </p:attrNameLst>
                                      </p:cBhvr>
                                      <p:to>
                                        <p:strVal val="visible"/>
                                      </p:to>
                                    </p:set>
                                    <p:animEffect transition="in" filter="fade">
                                      <p:cBhvr>
                                        <p:cTn id="53" dur="400"/>
                                        <p:tgtEl>
                                          <p:spTgt spid="19">
                                            <p:txEl>
                                              <p:pRg st="3" end="3"/>
                                            </p:txEl>
                                          </p:spTgt>
                                        </p:tgtEl>
                                      </p:cBhvr>
                                    </p:animEffect>
                                    <p:anim calcmode="lin" valueType="num">
                                      <p:cBhvr>
                                        <p:cTn id="54" dur="4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55" dur="4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par>
                          <p:cTn id="56" fill="hold">
                            <p:stCondLst>
                              <p:cond delay="1840"/>
                            </p:stCondLst>
                            <p:childTnLst>
                              <p:par>
                                <p:cTn id="57" presetID="42" presetClass="entr" presetSubtype="0" fill="hold" grpId="0" nodeType="afterEffect">
                                  <p:stCondLst>
                                    <p:cond delay="0"/>
                                  </p:stCondLst>
                                  <p:childTnLst>
                                    <p:set>
                                      <p:cBhvr>
                                        <p:cTn id="58" dur="1" fill="hold">
                                          <p:stCondLst>
                                            <p:cond delay="0"/>
                                          </p:stCondLst>
                                        </p:cTn>
                                        <p:tgtEl>
                                          <p:spTgt spid="19">
                                            <p:txEl>
                                              <p:pRg st="4" end="4"/>
                                            </p:txEl>
                                          </p:spTgt>
                                        </p:tgtEl>
                                        <p:attrNameLst>
                                          <p:attrName>style.visibility</p:attrName>
                                        </p:attrNameLst>
                                      </p:cBhvr>
                                      <p:to>
                                        <p:strVal val="visible"/>
                                      </p:to>
                                    </p:set>
                                    <p:animEffect transition="in" filter="fade">
                                      <p:cBhvr>
                                        <p:cTn id="59" dur="400"/>
                                        <p:tgtEl>
                                          <p:spTgt spid="19">
                                            <p:txEl>
                                              <p:pRg st="4" end="4"/>
                                            </p:txEl>
                                          </p:spTgt>
                                        </p:tgtEl>
                                      </p:cBhvr>
                                    </p:animEffect>
                                    <p:anim calcmode="lin" valueType="num">
                                      <p:cBhvr>
                                        <p:cTn id="60" dur="400" fill="hold"/>
                                        <p:tgtEl>
                                          <p:spTgt spid="19">
                                            <p:txEl>
                                              <p:pRg st="4" end="4"/>
                                            </p:txEl>
                                          </p:spTgt>
                                        </p:tgtEl>
                                        <p:attrNameLst>
                                          <p:attrName>ppt_x</p:attrName>
                                        </p:attrNameLst>
                                      </p:cBhvr>
                                      <p:tavLst>
                                        <p:tav tm="0">
                                          <p:val>
                                            <p:strVal val="#ppt_x"/>
                                          </p:val>
                                        </p:tav>
                                        <p:tav tm="100000">
                                          <p:val>
                                            <p:strVal val="#ppt_x"/>
                                          </p:val>
                                        </p:tav>
                                      </p:tavLst>
                                    </p:anim>
                                    <p:anim calcmode="lin" valueType="num">
                                      <p:cBhvr>
                                        <p:cTn id="61" dur="400" fill="hold"/>
                                        <p:tgtEl>
                                          <p:spTgt spid="1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مسائل تطبيقية: المسألة (8)</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الرابعة</a:t>
            </a:r>
          </a:p>
        </p:txBody>
      </p:sp>
      <p:sp>
        <p:nvSpPr>
          <p:cNvPr id="13" name="Card 8"/>
          <p:cNvSpPr/>
          <p:nvPr/>
        </p:nvSpPr>
        <p:spPr>
          <a:xfrm>
            <a:off x="708837" y="1238250"/>
            <a:ext cx="14838325" cy="1964762"/>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8"/>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8</a:t>
            </a:r>
          </a:p>
        </p:txBody>
      </p:sp>
      <p:sp>
        <p:nvSpPr>
          <p:cNvPr id="15" name="Tag 8"/>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p>
        </p:txBody>
      </p:sp>
      <p:sp>
        <p:nvSpPr>
          <p:cNvPr id="16" name="Question 8"/>
          <p:cNvSpPr txBox="1"/>
          <p:nvPr/>
        </p:nvSpPr>
        <p:spPr>
          <a:xfrm>
            <a:off x="1016000" y="1785937"/>
            <a:ext cx="13656930" cy="1274199"/>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أُذيب ‪(6.67 g)‬ من مادة غير إلكتروليتية وغير متطايرة في ‪(20 g)‬ من الماء، فكانت درجة غليان المحلول تساوي ‪(100.5 °C)‬. فما الكتلة المولية لهذه المادة؟ علماً بأن ثابت الغليان للماء يساوي ‪(0.512 °C/m)‬.</a:t>
            </a:r>
          </a:p>
        </p:txBody>
      </p:sp>
      <p:sp>
        <p:nvSpPr>
          <p:cNvPr id="17" name="Solution panel 1"/>
          <p:cNvSpPr/>
          <p:nvPr/>
        </p:nvSpPr>
        <p:spPr>
          <a:xfrm>
            <a:off x="708837" y="3393512"/>
            <a:ext cx="14838325" cy="3204120"/>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536387"/>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p>
        </p:txBody>
      </p:sp>
      <p:sp>
        <p:nvSpPr>
          <p:cNvPr id="19" name="Solution 1"/>
          <p:cNvSpPr txBox="1"/>
          <p:nvPr/>
        </p:nvSpPr>
        <p:spPr>
          <a:xfrm>
            <a:off x="945116" y="3988824"/>
            <a:ext cx="14365767" cy="2489745"/>
          </a:xfrm>
          <a:prstGeom prst="rect">
            <a:avLst/>
          </a:prstGeom>
          <a:noFill/>
          <a:ln>
            <a:noFill/>
          </a:ln>
        </p:spPr>
        <p:txBody>
          <a:bodyPr wrap="square" lIns="0" tIns="0" rIns="0" bIns="0" rtlCol="0" anchor="t">
            <a:noAutofit/>
          </a:bodyPr>
          <a:lstStyle/>
          <a:p>
            <a:pPr rtl="0" algn="ctr">
              <a:lnSpc>
                <a:spcPct val="125000"/>
              </a:lnSpc>
              <a:buNone/>
            </a:pPr>
            <a:r>
              <a:rPr lang="en-US" sz="2400" b="1" i="0" dirty="0">
                <a:solidFill>
                  <a:srgbClr val="2B3038"/>
                </a:solidFill>
                <a:latin typeface="Tahoma"/>
                <a:ea typeface="Tahoma"/>
                <a:cs typeface="Tahoma"/>
              </a:rPr>
              <a:t>ΔT</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100.5 − 100 = 0.5 °C</a:t>
            </a:r>
          </a:p>
          <a:p>
            <a:pPr rtl="0" algn="ctr">
              <a:lnSpc>
                <a:spcPct val="125000"/>
              </a:lnSpc>
              <a:buNone/>
            </a:pPr>
            <a:r>
              <a:rPr lang="en-US" sz="2400" b="1" i="0" dirty="0">
                <a:solidFill>
                  <a:srgbClr val="2B3038"/>
                </a:solidFill>
                <a:latin typeface="Tahoma"/>
                <a:ea typeface="Tahoma"/>
                <a:cs typeface="Tahoma"/>
              </a:rPr>
              <a:t>ΔT</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K</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m</a:t>
            </a:r>
          </a:p>
          <a:p>
            <a:pPr rtl="0" algn="ctr">
              <a:lnSpc>
                <a:spcPct val="125000"/>
              </a:lnSpc>
              <a:buNone/>
            </a:pPr>
            <a:r>
              <a:rPr lang="en-US" sz="2400" b="1" i="0" dirty="0">
                <a:solidFill>
                  <a:srgbClr val="2B3038"/>
                </a:solidFill>
                <a:latin typeface="Tahoma"/>
                <a:ea typeface="Tahoma"/>
                <a:cs typeface="Tahoma"/>
              </a:rPr>
              <a:t>m = ΔT</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K</a:t>
            </a:r>
            <a:r>
              <a:rPr baseline="-25000" lang="en-US" sz="2400" b="1" i="0" dirty="0">
                <a:solidFill>
                  <a:srgbClr val="2B3038"/>
                </a:solidFill>
                <a:latin typeface="Tahoma"/>
                <a:ea typeface="Tahoma"/>
                <a:cs typeface="Tahoma"/>
              </a:rPr>
              <a:t>bp</a:t>
            </a:r>
            <a:r>
              <a:rPr lang="en-US" sz="2400" b="1" i="0" dirty="0">
                <a:solidFill>
                  <a:srgbClr val="2B3038"/>
                </a:solidFill>
                <a:latin typeface="Tahoma"/>
                <a:ea typeface="Tahoma"/>
                <a:cs typeface="Tahoma"/>
              </a:rPr>
              <a:t xml:space="preserve"> = 0.5 / 0.512 = 0.976 mol/kg</a:t>
            </a:r>
          </a:p>
          <a:p>
            <a:pPr rtl="0" algn="ctr">
              <a:lnSpc>
                <a:spcPct val="125000"/>
              </a:lnSpc>
              <a:buNone/>
            </a:pPr>
            <a:r>
              <a:rPr lang="en-US" sz="2400" b="1" i="0" dirty="0">
                <a:solidFill>
                  <a:srgbClr val="2B3038"/>
                </a:solidFill>
                <a:latin typeface="Tahoma"/>
                <a:ea typeface="Tahoma"/>
                <a:cs typeface="Tahoma"/>
              </a:rPr>
              <a:t>M</a:t>
            </a:r>
            <a:r>
              <a:rPr baseline="-25000" lang="en-US" sz="2400" b="1" i="0" dirty="0">
                <a:solidFill>
                  <a:srgbClr val="2B3038"/>
                </a:solidFill>
                <a:latin typeface="Tahoma"/>
                <a:ea typeface="Tahoma"/>
                <a:cs typeface="Tahoma"/>
              </a:rPr>
              <a:t>wt</a:t>
            </a:r>
            <a:r>
              <a:rPr lang="en-US" sz="2400" b="1" i="0" dirty="0">
                <a:solidFill>
                  <a:srgbClr val="2B3038"/>
                </a:solidFill>
                <a:latin typeface="Tahoma"/>
                <a:ea typeface="Tahoma"/>
                <a:cs typeface="Tahoma"/>
              </a:rPr>
              <a:t xml:space="preserve"> = m</a:t>
            </a:r>
            <a:r>
              <a:rPr baseline="-25000" lang="en-US" sz="2400" b="1" i="0" dirty="0">
                <a:solidFill>
                  <a:srgbClr val="2B3038"/>
                </a:solidFill>
                <a:latin typeface="Tahoma"/>
                <a:ea typeface="Tahoma"/>
                <a:cs typeface="Tahoma"/>
              </a:rPr>
              <a:t>s</a:t>
            </a:r>
            <a:r>
              <a:rPr lang="en-US" sz="2400" b="1" i="0" dirty="0">
                <a:solidFill>
                  <a:srgbClr val="2B3038"/>
                </a:solidFill>
                <a:latin typeface="Tahoma"/>
                <a:ea typeface="Tahoma"/>
                <a:cs typeface="Tahoma"/>
              </a:rPr>
              <a:t xml:space="preserve"> / (m × kg</a:t>
            </a:r>
            <a:r>
              <a:rPr baseline="-25000" lang="en-US" sz="2400" b="1" i="0" dirty="0">
                <a:solidFill>
                  <a:srgbClr val="2B3038"/>
                </a:solidFill>
                <a:latin typeface="Tahoma"/>
                <a:ea typeface="Tahoma"/>
                <a:cs typeface="Tahoma"/>
              </a:rPr>
              <a:t>solvent</a:t>
            </a:r>
            <a:r>
              <a:rPr lang="en-US" sz="2400" b="1" i="0" dirty="0">
                <a:solidFill>
                  <a:srgbClr val="2B3038"/>
                </a:solidFill>
                <a:latin typeface="Tahoma"/>
                <a:ea typeface="Tahoma"/>
                <a:cs typeface="Tahoma"/>
              </a:rPr>
              <a:t>)</a:t>
            </a:r>
            <a:endParaRPr lang="ar-SA" sz="2400" b="1" i="0" dirty="0">
              <a:solidFill>
                <a:srgbClr val="2B3038"/>
              </a:solidFill>
              <a:latin typeface="Tahoma"/>
              <a:ea typeface="Tahoma"/>
              <a:cs typeface="Tahoma"/>
            </a:endParaRPr>
          </a:p>
          <a:p>
            <a:pPr rtl="0" algn="ctr">
              <a:lnSpc>
                <a:spcPct val="125000"/>
              </a:lnSpc>
              <a:buNone/>
            </a:pPr>
            <a:r>
              <a:rPr lang="en-US" sz="2400" b="1" i="0" dirty="0">
                <a:solidFill>
                  <a:srgbClr val="2B3038"/>
                </a:solidFill>
                <a:latin typeface="Tahoma"/>
                <a:ea typeface="Tahoma"/>
                <a:cs typeface="Tahoma"/>
              </a:rPr>
              <a:t>M</a:t>
            </a:r>
            <a:r>
              <a:rPr baseline="-25000" lang="en-US" sz="2400" b="1" i="0" dirty="0">
                <a:solidFill>
                  <a:srgbClr val="2B3038"/>
                </a:solidFill>
                <a:latin typeface="Tahoma"/>
                <a:ea typeface="Tahoma"/>
                <a:cs typeface="Tahoma"/>
              </a:rPr>
              <a:t>wt</a:t>
            </a:r>
            <a:r>
              <a:rPr lang="en-US" sz="2400" b="1" i="0" dirty="0">
                <a:solidFill>
                  <a:srgbClr val="2B3038"/>
                </a:solidFill>
                <a:latin typeface="Tahoma"/>
                <a:ea typeface="Tahoma"/>
                <a:cs typeface="Tahoma"/>
              </a:rPr>
              <a:t xml:space="preserve"> = 6.67 / (0.976 × 0.02) = 341.5 g/mol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8" fill="hold">
                            <p:stCondLst>
                              <p:cond delay="460"/>
                            </p:stCondLst>
                            <p:childTnLst>
                              <p:par>
                                <p:cTn id="39"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4" fill="hold">
                            <p:stCondLst>
                              <p:cond delay="920"/>
                            </p:stCondLst>
                            <p:childTnLst>
                              <p:par>
                                <p:cTn id="45"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50" fill="hold">
                            <p:stCondLst>
                              <p:cond delay="1380"/>
                            </p:stCondLst>
                            <p:childTnLst>
                              <p:par>
                                <p:cTn id="51" presetID="42" presetClass="entr" presetSubtype="0" fill="hold" grpId="0" nodeType="afterEffect">
                                  <p:stCondLst>
                                    <p:cond delay="0"/>
                                  </p:stCondLst>
                                  <p:childTnLst>
                                    <p:set>
                                      <p:cBhvr>
                                        <p:cTn id="52" dur="1" fill="hold">
                                          <p:stCondLst>
                                            <p:cond delay="0"/>
                                          </p:stCondLst>
                                        </p:cTn>
                                        <p:tgtEl>
                                          <p:spTgt spid="19">
                                            <p:txEl>
                                              <p:pRg st="3" end="3"/>
                                            </p:txEl>
                                          </p:spTgt>
                                        </p:tgtEl>
                                        <p:attrNameLst>
                                          <p:attrName>style.visibility</p:attrName>
                                        </p:attrNameLst>
                                      </p:cBhvr>
                                      <p:to>
                                        <p:strVal val="visible"/>
                                      </p:to>
                                    </p:set>
                                    <p:animEffect transition="in" filter="fade">
                                      <p:cBhvr>
                                        <p:cTn id="53" dur="400"/>
                                        <p:tgtEl>
                                          <p:spTgt spid="19">
                                            <p:txEl>
                                              <p:pRg st="3" end="3"/>
                                            </p:txEl>
                                          </p:spTgt>
                                        </p:tgtEl>
                                      </p:cBhvr>
                                    </p:animEffect>
                                    <p:anim calcmode="lin" valueType="num">
                                      <p:cBhvr>
                                        <p:cTn id="54" dur="4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55" dur="4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par>
                          <p:cTn id="56" fill="hold">
                            <p:stCondLst>
                              <p:cond delay="1840"/>
                            </p:stCondLst>
                            <p:childTnLst>
                              <p:par>
                                <p:cTn id="57" presetID="42" presetClass="entr" presetSubtype="0" fill="hold" grpId="0" nodeType="afterEffect">
                                  <p:stCondLst>
                                    <p:cond delay="0"/>
                                  </p:stCondLst>
                                  <p:childTnLst>
                                    <p:set>
                                      <p:cBhvr>
                                        <p:cTn id="58" dur="1" fill="hold">
                                          <p:stCondLst>
                                            <p:cond delay="0"/>
                                          </p:stCondLst>
                                        </p:cTn>
                                        <p:tgtEl>
                                          <p:spTgt spid="19">
                                            <p:txEl>
                                              <p:pRg st="4" end="4"/>
                                            </p:txEl>
                                          </p:spTgt>
                                        </p:tgtEl>
                                        <p:attrNameLst>
                                          <p:attrName>style.visibility</p:attrName>
                                        </p:attrNameLst>
                                      </p:cBhvr>
                                      <p:to>
                                        <p:strVal val="visible"/>
                                      </p:to>
                                    </p:set>
                                    <p:animEffect transition="in" filter="fade">
                                      <p:cBhvr>
                                        <p:cTn id="59" dur="400"/>
                                        <p:tgtEl>
                                          <p:spTgt spid="19">
                                            <p:txEl>
                                              <p:pRg st="4" end="4"/>
                                            </p:txEl>
                                          </p:spTgt>
                                        </p:tgtEl>
                                      </p:cBhvr>
                                    </p:animEffect>
                                    <p:anim calcmode="lin" valueType="num">
                                      <p:cBhvr>
                                        <p:cTn id="60" dur="400" fill="hold"/>
                                        <p:tgtEl>
                                          <p:spTgt spid="19">
                                            <p:txEl>
                                              <p:pRg st="4" end="4"/>
                                            </p:txEl>
                                          </p:spTgt>
                                        </p:tgtEl>
                                        <p:attrNameLst>
                                          <p:attrName>ppt_x</p:attrName>
                                        </p:attrNameLst>
                                      </p:cBhvr>
                                      <p:tavLst>
                                        <p:tav tm="0">
                                          <p:val>
                                            <p:strVal val="#ppt_x"/>
                                          </p:val>
                                        </p:tav>
                                        <p:tav tm="100000">
                                          <p:val>
                                            <p:strVal val="#ppt_x"/>
                                          </p:val>
                                        </p:tav>
                                      </p:tavLst>
                                    </p:anim>
                                    <p:anim calcmode="lin" valueType="num">
                                      <p:cBhvr>
                                        <p:cTn id="61" dur="400" fill="hold"/>
                                        <p:tgtEl>
                                          <p:spTgt spid="1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أسئلة: الانخفاض في درجة التجمد</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الحصة الثالثة</a:t>
            </a:r>
          </a:p>
        </p:txBody>
      </p:sp>
      <p:sp>
        <p:nvSpPr>
          <p:cNvPr id="13" name="Card 1"/>
          <p:cNvSpPr/>
          <p:nvPr/>
        </p:nvSpPr>
        <p:spPr>
          <a:xfrm>
            <a:off x="708837" y="1190625"/>
            <a:ext cx="14838325" cy="1651153"/>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1"/>
          <p:cNvSpPr/>
          <p:nvPr/>
        </p:nvSpPr>
        <p:spPr>
          <a:xfrm>
            <a:off x="14838325" y="1381125"/>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1</a:t>
            </a:r>
          </a:p>
        </p:txBody>
      </p:sp>
      <p:sp>
        <p:nvSpPr>
          <p:cNvPr id="15" name="Tag 1"/>
          <p:cNvSpPr txBox="1"/>
          <p:nvPr/>
        </p:nvSpPr>
        <p:spPr>
          <a:xfrm>
            <a:off x="1016000" y="1357312"/>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أكمل الفراغات في الجدول التالي</a:t>
            </a:r>
          </a:p>
        </p:txBody>
      </p:sp>
      <p:sp>
        <p:nvSpPr>
          <p:cNvPr id="16" name="Question 1"/>
          <p:cNvSpPr txBox="1"/>
          <p:nvPr/>
        </p:nvSpPr>
        <p:spPr>
          <a:xfrm>
            <a:off x="1016000" y="1738312"/>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أمامك إناءان حجمهما متساوٍ، أُذيبت كتل متساوية من السكروز في حجمين مختلفين من الماء لعمل محلولين عند درجة حرارة معينة. لاحظ الإناءين جيداً ثم أكمل الجدول:</a:t>
            </a:r>
          </a:p>
        </p:txBody>
      </p:sp>
      <p:sp>
        <p:nvSpPr>
          <p:cNvPr id="17" name="Head 0"/>
          <p:cNvSpPr/>
          <p:nvPr/>
        </p:nvSpPr>
        <p:spPr>
          <a:xfrm>
            <a:off x="9994604" y="3008466"/>
            <a:ext cx="5552558" cy="1666875"/>
          </a:xfrm>
          <a:prstGeom prst="rect">
            <a:avLst/>
          </a:prstGeom>
          <a:solidFill>
            <a:srgbClr val="FFFFFF">
              <a:alpha val="92000"/>
            </a:srgbClr>
          </a:solidFill>
          <a:ln w="12700" cap="rnd">
            <a:solidFill>
              <a:srgbClr val="9AA3AE">
                <a:alpha val="70000"/>
              </a:srgbClr>
            </a:solidFill>
            <a:round/>
          </a:ln>
        </p:spPr>
        <p:txBody>
          <a:bodyPr wrap="square" lIns="0" tIns="0" rIns="0" bIns="0" rtlCol="0" anchor="ctr">
            <a:noAutofit/>
          </a:bodyPr>
          <a:lstStyle/>
          <a:p>
            <a:pPr algn="ctr" rtl="1">
              <a:lnSpc>
                <a:spcPct val="110000"/>
              </a:lnSpc>
              <a:buNone/>
            </a:pPr>
            <a:r>
              <a:rPr lang="ar-SA" sz="2200" b="1" i="0" dirty="0">
                <a:solidFill>
                  <a:srgbClr val="A86A12"/>
                </a:solidFill>
                <a:latin typeface="Tahoma"/>
                <a:ea typeface="Tahoma"/>
                <a:cs typeface="Tahoma"/>
              </a:rPr>
              <a:t>وجه المقارنة</a:t>
            </a:r>
          </a:p>
        </p:txBody>
      </p:sp>
      <p:sp>
        <p:nvSpPr>
          <p:cNvPr id="18" name="Head 1"/>
          <p:cNvSpPr/>
          <p:nvPr/>
        </p:nvSpPr>
        <p:spPr>
          <a:xfrm>
            <a:off x="5387162" y="3008466"/>
            <a:ext cx="4607441" cy="1666875"/>
          </a:xfrm>
          <a:prstGeom prst="rect">
            <a:avLst/>
          </a:prstGeom>
          <a:noFill/>
          <a:ln w="12700" cap="rnd">
            <a:solidFill>
              <a:srgbClr val="FFFFFF">
                <a:alpha val="92000"/>
              </a:srgbClr>
            </a:solidFill>
            <a:round/>
          </a:ln>
        </p:spPr>
        <p:txBody>
          <a:bodyPr rtlCol="0" anchor="ctr"/>
          <a:lstStyle/>
          <a:p>
            <a:endParaRPr lang="ar-SA"/>
          </a:p>
        </p:txBody>
      </p:sp>
      <p:sp>
        <p:nvSpPr>
          <p:cNvPr id="19" name="Head label 1"/>
          <p:cNvSpPr txBox="1"/>
          <p:nvPr/>
        </p:nvSpPr>
        <p:spPr>
          <a:xfrm>
            <a:off x="5505302" y="3079903"/>
            <a:ext cx="4371162" cy="333375"/>
          </a:xfrm>
          <a:prstGeom prst="rect">
            <a:avLst/>
          </a:prstGeom>
          <a:noFill/>
          <a:ln>
            <a:noFill/>
          </a:ln>
        </p:spPr>
        <p:txBody>
          <a:bodyPr wrap="square" lIns="0" tIns="0" rIns="0" bIns="0" rtlCol="0" anchor="t">
            <a:noAutofit/>
          </a:bodyPr>
          <a:lstStyle/>
          <a:p>
            <a:pPr algn="ctr" rtl="1">
              <a:lnSpc>
                <a:spcPct val="110000"/>
              </a:lnSpc>
              <a:buNone/>
            </a:pPr>
            <a:r>
              <a:rPr lang="ar-SA" sz="1600" b="1" i="0" dirty="0">
                <a:solidFill>
                  <a:srgbClr val="A86A12"/>
                </a:solidFill>
                <a:latin typeface="Tahoma"/>
                <a:ea typeface="Tahoma"/>
                <a:cs typeface="Tahoma"/>
              </a:rPr>
              <a:t>الإناء (1)</a:t>
            </a:r>
          </a:p>
        </p:txBody>
      </p:sp>
      <p:sp>
        <p:nvSpPr>
          <p:cNvPr id="20" name="Head 2"/>
          <p:cNvSpPr/>
          <p:nvPr/>
        </p:nvSpPr>
        <p:spPr>
          <a:xfrm>
            <a:off x="708837" y="3008466"/>
            <a:ext cx="4678325" cy="1666875"/>
          </a:xfrm>
          <a:prstGeom prst="rect">
            <a:avLst/>
          </a:prstGeom>
          <a:noFill/>
          <a:ln w="12700" cap="rnd">
            <a:solidFill>
              <a:srgbClr val="FFFFFF">
                <a:alpha val="92000"/>
              </a:srgbClr>
            </a:solidFill>
            <a:round/>
          </a:ln>
        </p:spPr>
        <p:txBody>
          <a:bodyPr rtlCol="0" anchor="ctr"/>
          <a:lstStyle/>
          <a:p>
            <a:endParaRPr lang="ar-SA"/>
          </a:p>
        </p:txBody>
      </p:sp>
      <p:sp>
        <p:nvSpPr>
          <p:cNvPr id="21" name="Head label 2"/>
          <p:cNvSpPr txBox="1"/>
          <p:nvPr/>
        </p:nvSpPr>
        <p:spPr>
          <a:xfrm>
            <a:off x="826976" y="3079903"/>
            <a:ext cx="4442046" cy="333375"/>
          </a:xfrm>
          <a:prstGeom prst="rect">
            <a:avLst/>
          </a:prstGeom>
          <a:noFill/>
          <a:ln>
            <a:noFill/>
          </a:ln>
        </p:spPr>
        <p:txBody>
          <a:bodyPr wrap="square" lIns="0" tIns="0" rIns="0" bIns="0" rtlCol="0" anchor="t">
            <a:noAutofit/>
          </a:bodyPr>
          <a:lstStyle/>
          <a:p>
            <a:pPr algn="ctr" rtl="1">
              <a:lnSpc>
                <a:spcPct val="110000"/>
              </a:lnSpc>
              <a:buNone/>
            </a:pPr>
            <a:r>
              <a:rPr lang="ar-SA" sz="1600" b="1" i="0" dirty="0">
                <a:solidFill>
                  <a:srgbClr val="A86A12"/>
                </a:solidFill>
                <a:latin typeface="Tahoma"/>
                <a:ea typeface="Tahoma"/>
                <a:cs typeface="Tahoma"/>
              </a:rPr>
              <a:t>الإناء (2)</a:t>
            </a:r>
          </a:p>
        </p:txBody>
      </p:sp>
      <p:sp>
        <p:nvSpPr>
          <p:cNvPr id="22" name="Row 1"/>
          <p:cNvSpPr/>
          <p:nvPr/>
        </p:nvSpPr>
        <p:spPr>
          <a:xfrm>
            <a:off x="9994604" y="4675341"/>
            <a:ext cx="5552558" cy="798481"/>
          </a:xfrm>
          <a:prstGeom prst="rect">
            <a:avLst/>
          </a:prstGeom>
          <a:solidFill>
            <a:srgbClr val="FFFFFF">
              <a:alpha val="78000"/>
            </a:srgbClr>
          </a:solidFill>
          <a:ln w="12700" cap="rnd">
            <a:solidFill>
              <a:srgbClr val="9AA3AE">
                <a:alpha val="70000"/>
              </a:srgbClr>
            </a:solidFill>
            <a:round/>
          </a:ln>
        </p:spPr>
        <p:txBody>
          <a:bodyPr wrap="square" lIns="0" tIns="0" rIns="0" bIns="0" rtlCol="0" anchor="ctr">
            <a:noAutofit/>
          </a:bodyPr>
          <a:lstStyle/>
          <a:p>
            <a:pPr algn="ctr" rtl="1">
              <a:lnSpc>
                <a:spcPct val="110000"/>
              </a:lnSpc>
              <a:buNone/>
            </a:pPr>
            <a:r>
              <a:rPr lang="ar-SA" sz="1900" b="1" i="0" dirty="0">
                <a:solidFill>
                  <a:srgbClr val="2B3038"/>
                </a:solidFill>
                <a:latin typeface="Tahoma"/>
                <a:ea typeface="Tahoma"/>
                <a:cs typeface="Tahoma"/>
              </a:rPr>
              <a:t>حجم المحلول (أكبر – أقل)</a:t>
            </a:r>
          </a:p>
        </p:txBody>
      </p:sp>
      <p:sp>
        <p:nvSpPr>
          <p:cNvPr id="23" name="Cell 1.1"/>
          <p:cNvSpPr/>
          <p:nvPr/>
        </p:nvSpPr>
        <p:spPr>
          <a:xfrm>
            <a:off x="5387162" y="4675341"/>
            <a:ext cx="4607441"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24" name="Cell 1.2"/>
          <p:cNvSpPr/>
          <p:nvPr/>
        </p:nvSpPr>
        <p:spPr>
          <a:xfrm>
            <a:off x="708837" y="4675341"/>
            <a:ext cx="4678325"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25" name="Answer 1.1"/>
          <p:cNvSpPr txBox="1"/>
          <p:nvPr/>
        </p:nvSpPr>
        <p:spPr>
          <a:xfrm>
            <a:off x="5481674" y="4722966"/>
            <a:ext cx="4418418"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أكبر</a:t>
            </a:r>
          </a:p>
        </p:txBody>
      </p:sp>
      <p:sp>
        <p:nvSpPr>
          <p:cNvPr id="26" name="Answer 1.2"/>
          <p:cNvSpPr txBox="1"/>
          <p:nvPr/>
        </p:nvSpPr>
        <p:spPr>
          <a:xfrm>
            <a:off x="803348" y="4722966"/>
            <a:ext cx="4489302"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أقل</a:t>
            </a:r>
          </a:p>
        </p:txBody>
      </p:sp>
      <p:sp>
        <p:nvSpPr>
          <p:cNvPr id="27" name="Row 2"/>
          <p:cNvSpPr/>
          <p:nvPr/>
        </p:nvSpPr>
        <p:spPr>
          <a:xfrm>
            <a:off x="9994604" y="5473823"/>
            <a:ext cx="5552558" cy="798481"/>
          </a:xfrm>
          <a:prstGeom prst="rect">
            <a:avLst/>
          </a:prstGeom>
          <a:solidFill>
            <a:srgbClr val="FFFFFF">
              <a:alpha val="78000"/>
            </a:srgbClr>
          </a:solidFill>
          <a:ln w="12700" cap="rnd">
            <a:solidFill>
              <a:srgbClr val="9AA3AE">
                <a:alpha val="70000"/>
              </a:srgbClr>
            </a:solidFill>
            <a:round/>
          </a:ln>
        </p:spPr>
        <p:txBody>
          <a:bodyPr wrap="square" lIns="0" tIns="0" rIns="0" bIns="0" rtlCol="0" anchor="ctr">
            <a:noAutofit/>
          </a:bodyPr>
          <a:lstStyle/>
          <a:p>
            <a:pPr algn="ctr" rtl="1">
              <a:lnSpc>
                <a:spcPct val="110000"/>
              </a:lnSpc>
              <a:buNone/>
            </a:pPr>
            <a:r>
              <a:rPr lang="ar-SA" sz="1900" b="1" i="0" dirty="0">
                <a:solidFill>
                  <a:srgbClr val="2B3038"/>
                </a:solidFill>
                <a:latin typeface="Tahoma"/>
                <a:ea typeface="Tahoma"/>
                <a:cs typeface="Tahoma"/>
              </a:rPr>
              <a:t>تركيز المحلول (أكبر – أقل)</a:t>
            </a:r>
          </a:p>
        </p:txBody>
      </p:sp>
      <p:sp>
        <p:nvSpPr>
          <p:cNvPr id="28" name="Cell 2.1"/>
          <p:cNvSpPr/>
          <p:nvPr/>
        </p:nvSpPr>
        <p:spPr>
          <a:xfrm>
            <a:off x="5387162" y="5473823"/>
            <a:ext cx="4607441"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29" name="Cell 2.2"/>
          <p:cNvSpPr/>
          <p:nvPr/>
        </p:nvSpPr>
        <p:spPr>
          <a:xfrm>
            <a:off x="708837" y="5473823"/>
            <a:ext cx="4678325"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30" name="Answer 2.1"/>
          <p:cNvSpPr txBox="1"/>
          <p:nvPr/>
        </p:nvSpPr>
        <p:spPr>
          <a:xfrm>
            <a:off x="5481674" y="5521448"/>
            <a:ext cx="4418418"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أقل</a:t>
            </a:r>
          </a:p>
        </p:txBody>
      </p:sp>
      <p:sp>
        <p:nvSpPr>
          <p:cNvPr id="31" name="Answer 2.2"/>
          <p:cNvSpPr txBox="1"/>
          <p:nvPr/>
        </p:nvSpPr>
        <p:spPr>
          <a:xfrm>
            <a:off x="803348" y="5521448"/>
            <a:ext cx="4489302"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أكبر</a:t>
            </a:r>
          </a:p>
        </p:txBody>
      </p:sp>
      <p:sp>
        <p:nvSpPr>
          <p:cNvPr id="32" name="Row 3"/>
          <p:cNvSpPr/>
          <p:nvPr/>
        </p:nvSpPr>
        <p:spPr>
          <a:xfrm>
            <a:off x="9994604" y="6272304"/>
            <a:ext cx="5552558" cy="798481"/>
          </a:xfrm>
          <a:prstGeom prst="rect">
            <a:avLst/>
          </a:prstGeom>
          <a:solidFill>
            <a:srgbClr val="FFFFFF">
              <a:alpha val="78000"/>
            </a:srgbClr>
          </a:solidFill>
          <a:ln w="12700" cap="rnd">
            <a:solidFill>
              <a:srgbClr val="9AA3AE">
                <a:alpha val="70000"/>
              </a:srgbClr>
            </a:solidFill>
            <a:round/>
          </a:ln>
        </p:spPr>
        <p:txBody>
          <a:bodyPr wrap="square" lIns="0" tIns="0" rIns="0" bIns="0" rtlCol="0" anchor="ctr">
            <a:noAutofit/>
          </a:bodyPr>
          <a:lstStyle/>
          <a:p>
            <a:pPr algn="ctr" rtl="1">
              <a:lnSpc>
                <a:spcPct val="110000"/>
              </a:lnSpc>
              <a:buNone/>
            </a:pPr>
            <a:r>
              <a:rPr lang="ar-SA" sz="1900" b="1" i="0" dirty="0">
                <a:solidFill>
                  <a:srgbClr val="2B3038"/>
                </a:solidFill>
                <a:latin typeface="Tahoma"/>
                <a:ea typeface="Tahoma"/>
                <a:cs typeface="Tahoma"/>
              </a:rPr>
              <a:t>نوع المحلول (مركز – مخفف)</a:t>
            </a:r>
          </a:p>
        </p:txBody>
      </p:sp>
      <p:sp>
        <p:nvSpPr>
          <p:cNvPr id="33" name="Cell 3.1"/>
          <p:cNvSpPr/>
          <p:nvPr/>
        </p:nvSpPr>
        <p:spPr>
          <a:xfrm>
            <a:off x="5387162" y="6272304"/>
            <a:ext cx="4607441"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34" name="Cell 3.2"/>
          <p:cNvSpPr/>
          <p:nvPr/>
        </p:nvSpPr>
        <p:spPr>
          <a:xfrm>
            <a:off x="708837" y="6272304"/>
            <a:ext cx="4678325"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35" name="Answer 3.1"/>
          <p:cNvSpPr txBox="1"/>
          <p:nvPr/>
        </p:nvSpPr>
        <p:spPr>
          <a:xfrm>
            <a:off x="5481674" y="6319929"/>
            <a:ext cx="4418418"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مخفف</a:t>
            </a:r>
          </a:p>
        </p:txBody>
      </p:sp>
      <p:sp>
        <p:nvSpPr>
          <p:cNvPr id="36" name="Answer 3.2"/>
          <p:cNvSpPr txBox="1"/>
          <p:nvPr/>
        </p:nvSpPr>
        <p:spPr>
          <a:xfrm>
            <a:off x="803348" y="6319929"/>
            <a:ext cx="4489302"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مركز</a:t>
            </a:r>
          </a:p>
        </p:txBody>
      </p:sp>
      <p:sp>
        <p:nvSpPr>
          <p:cNvPr id="37" name="Row 4"/>
          <p:cNvSpPr/>
          <p:nvPr/>
        </p:nvSpPr>
        <p:spPr>
          <a:xfrm>
            <a:off x="9994604" y="7070786"/>
            <a:ext cx="5552558" cy="798481"/>
          </a:xfrm>
          <a:prstGeom prst="rect">
            <a:avLst/>
          </a:prstGeom>
          <a:solidFill>
            <a:srgbClr val="FFFFFF">
              <a:alpha val="78000"/>
            </a:srgbClr>
          </a:solidFill>
          <a:ln w="12700" cap="rnd">
            <a:solidFill>
              <a:srgbClr val="9AA3AE">
                <a:alpha val="70000"/>
              </a:srgbClr>
            </a:solidFill>
            <a:round/>
          </a:ln>
        </p:spPr>
        <p:txBody>
          <a:bodyPr wrap="square" lIns="0" tIns="0" rIns="0" bIns="0" rtlCol="0" anchor="ctr">
            <a:noAutofit/>
          </a:bodyPr>
          <a:lstStyle/>
          <a:p>
            <a:pPr algn="ctr" rtl="1">
              <a:lnSpc>
                <a:spcPct val="110000"/>
              </a:lnSpc>
              <a:buNone/>
            </a:pPr>
            <a:r>
              <a:rPr lang="ar-SA" sz="1900" b="1" i="0" dirty="0">
                <a:solidFill>
                  <a:srgbClr val="2B3038"/>
                </a:solidFill>
                <a:latin typeface="Tahoma"/>
                <a:ea typeface="Tahoma"/>
                <a:cs typeface="Tahoma"/>
              </a:rPr>
              <a:t>درجة الغليان (أكبر – أقل)</a:t>
            </a:r>
          </a:p>
        </p:txBody>
      </p:sp>
      <p:sp>
        <p:nvSpPr>
          <p:cNvPr id="38" name="Cell 4.1"/>
          <p:cNvSpPr/>
          <p:nvPr/>
        </p:nvSpPr>
        <p:spPr>
          <a:xfrm>
            <a:off x="5387162" y="7070786"/>
            <a:ext cx="4607441"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39" name="Cell 4.2"/>
          <p:cNvSpPr/>
          <p:nvPr/>
        </p:nvSpPr>
        <p:spPr>
          <a:xfrm>
            <a:off x="708837" y="7070786"/>
            <a:ext cx="4678325"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40" name="Answer 4.1"/>
          <p:cNvSpPr txBox="1"/>
          <p:nvPr/>
        </p:nvSpPr>
        <p:spPr>
          <a:xfrm>
            <a:off x="5481674" y="7118411"/>
            <a:ext cx="4418418"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أقل</a:t>
            </a:r>
          </a:p>
        </p:txBody>
      </p:sp>
      <p:sp>
        <p:nvSpPr>
          <p:cNvPr id="41" name="Answer 4.2"/>
          <p:cNvSpPr txBox="1"/>
          <p:nvPr/>
        </p:nvSpPr>
        <p:spPr>
          <a:xfrm>
            <a:off x="803348" y="7118411"/>
            <a:ext cx="4489302"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أكبر</a:t>
            </a:r>
          </a:p>
        </p:txBody>
      </p:sp>
      <p:sp>
        <p:nvSpPr>
          <p:cNvPr id="42" name="Row 5"/>
          <p:cNvSpPr/>
          <p:nvPr/>
        </p:nvSpPr>
        <p:spPr>
          <a:xfrm>
            <a:off x="9994604" y="7869268"/>
            <a:ext cx="5552558" cy="798481"/>
          </a:xfrm>
          <a:prstGeom prst="rect">
            <a:avLst/>
          </a:prstGeom>
          <a:solidFill>
            <a:srgbClr val="FFFFFF">
              <a:alpha val="78000"/>
            </a:srgbClr>
          </a:solidFill>
          <a:ln w="12700" cap="rnd">
            <a:solidFill>
              <a:srgbClr val="9AA3AE">
                <a:alpha val="70000"/>
              </a:srgbClr>
            </a:solidFill>
            <a:round/>
          </a:ln>
        </p:spPr>
        <p:txBody>
          <a:bodyPr wrap="square" lIns="0" tIns="0" rIns="0" bIns="0" rtlCol="0" anchor="ctr">
            <a:noAutofit/>
          </a:bodyPr>
          <a:lstStyle/>
          <a:p>
            <a:pPr algn="ctr" rtl="1">
              <a:lnSpc>
                <a:spcPct val="110000"/>
              </a:lnSpc>
              <a:buNone/>
            </a:pPr>
            <a:r>
              <a:rPr lang="ar-SA" sz="1900" b="1" i="0" dirty="0">
                <a:solidFill>
                  <a:srgbClr val="2B3038"/>
                </a:solidFill>
                <a:latin typeface="Tahoma"/>
                <a:ea typeface="Tahoma"/>
                <a:cs typeface="Tahoma"/>
              </a:rPr>
              <a:t>درجة التجمد (أكبر – أقل)</a:t>
            </a:r>
          </a:p>
        </p:txBody>
      </p:sp>
      <p:sp>
        <p:nvSpPr>
          <p:cNvPr id="43" name="Cell 5.1"/>
          <p:cNvSpPr/>
          <p:nvPr/>
        </p:nvSpPr>
        <p:spPr>
          <a:xfrm>
            <a:off x="5387162" y="7869268"/>
            <a:ext cx="4607441"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44" name="Cell 5.2"/>
          <p:cNvSpPr/>
          <p:nvPr/>
        </p:nvSpPr>
        <p:spPr>
          <a:xfrm>
            <a:off x="708837" y="7869268"/>
            <a:ext cx="4678325" cy="798481"/>
          </a:xfrm>
          <a:prstGeom prst="rect">
            <a:avLst/>
          </a:prstGeom>
          <a:solidFill>
            <a:srgbClr val="FFFFFF">
              <a:alpha val="78000"/>
            </a:srgbClr>
          </a:solidFill>
          <a:ln w="12700" cap="rnd">
            <a:solidFill>
              <a:srgbClr val="9AA3AE">
                <a:alpha val="70000"/>
              </a:srgbClr>
            </a:solidFill>
            <a:round/>
          </a:ln>
        </p:spPr>
        <p:txBody>
          <a:bodyPr rtlCol="0" anchor="ctr"/>
          <a:lstStyle/>
          <a:p>
            <a:endParaRPr lang="ar-SA"/>
          </a:p>
        </p:txBody>
      </p:sp>
      <p:sp>
        <p:nvSpPr>
          <p:cNvPr id="45" name="Answer 5.1"/>
          <p:cNvSpPr txBox="1"/>
          <p:nvPr/>
        </p:nvSpPr>
        <p:spPr>
          <a:xfrm>
            <a:off x="5481674" y="7916893"/>
            <a:ext cx="4418418"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أكبر</a:t>
            </a:r>
          </a:p>
        </p:txBody>
      </p:sp>
      <p:sp>
        <p:nvSpPr>
          <p:cNvPr id="46" name="Answer 5.2"/>
          <p:cNvSpPr txBox="1"/>
          <p:nvPr/>
        </p:nvSpPr>
        <p:spPr>
          <a:xfrm>
            <a:off x="803348" y="7916893"/>
            <a:ext cx="4489302" cy="703231"/>
          </a:xfrm>
          <a:prstGeom prst="rect">
            <a:avLst/>
          </a:prstGeom>
          <a:noFill/>
          <a:ln>
            <a:noFill/>
          </a:ln>
        </p:spPr>
        <p:txBody>
          <a:bodyPr wrap="square" lIns="0" tIns="0" rIns="0" bIns="0" rtlCol="0" anchor="ctr">
            <a:noAutofit/>
          </a:bodyPr>
          <a:lstStyle/>
          <a:p>
            <a:pPr algn="ctr" rtl="1">
              <a:lnSpc>
                <a:spcPct val="110000"/>
              </a:lnSpc>
              <a:buNone/>
            </a:pPr>
            <a:r>
              <a:rPr lang="ar-SA" sz="2100" b="1" i="0" dirty="0">
                <a:solidFill>
                  <a:srgbClr val="A86A12"/>
                </a:solidFill>
                <a:latin typeface="Tahoma"/>
                <a:ea typeface="Tahoma"/>
                <a:cs typeface="Tahoma"/>
              </a:rPr>
              <a:t>أقل</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50"/>
                                        <p:tgtEl>
                                          <p:spTgt spid="1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450"/>
                                        <p:tgtEl>
                                          <p:spTgt spid="2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45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450"/>
                                        <p:tgtEl>
                                          <p:spTgt spid="19"/>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50"/>
                                        <p:tgtEl>
                                          <p:spTgt spid="21"/>
                                        </p:tgtEl>
                                      </p:cBhvr>
                                    </p:animEffect>
                                  </p:childTnLst>
                                </p:cTn>
                              </p:par>
                            </p:childTnLst>
                          </p:cTn>
                        </p:par>
                        <p:par>
                          <p:cTn id="40" fill="hold">
                            <p:stCondLst>
                              <p:cond delay="1480"/>
                            </p:stCondLst>
                            <p:childTnLst>
                              <p:par>
                                <p:cTn id="41" presetID="10" presetClass="entr" presetSubtype="0" fill="hold" grpId="0" nodeType="after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3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fade">
                                      <p:cBhvr>
                                        <p:cTn id="46" dur="300"/>
                                        <p:tgtEl>
                                          <p:spTgt spid="2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fade">
                                      <p:cBhvr>
                                        <p:cTn id="49" dur="300"/>
                                        <p:tgtEl>
                                          <p:spTgt spid="24"/>
                                        </p:tgtEl>
                                      </p:cBhvr>
                                    </p:animEffect>
                                  </p:childTnLst>
                                </p:cTn>
                              </p:par>
                            </p:childTnLst>
                          </p:cTn>
                        </p:par>
                        <p:par>
                          <p:cTn id="50" fill="hold">
                            <p:stCondLst>
                              <p:cond delay="1840"/>
                            </p:stCondLst>
                            <p:childTnLst>
                              <p:par>
                                <p:cTn id="51" presetID="10" presetClass="entr" presetSubtype="0" fill="hold" grpId="0" nodeType="afterEffect">
                                  <p:stCondLst>
                                    <p:cond delay="0"/>
                                  </p:stCondLst>
                                  <p:childTnLst>
                                    <p:set>
                                      <p:cBhvr>
                                        <p:cTn id="52" dur="1" fill="hold">
                                          <p:stCondLst>
                                            <p:cond delay="0"/>
                                          </p:stCondLst>
                                        </p:cTn>
                                        <p:tgtEl>
                                          <p:spTgt spid="27"/>
                                        </p:tgtEl>
                                        <p:attrNameLst>
                                          <p:attrName>style.visibility</p:attrName>
                                        </p:attrNameLst>
                                      </p:cBhvr>
                                      <p:to>
                                        <p:strVal val="visible"/>
                                      </p:to>
                                    </p:set>
                                    <p:animEffect transition="in" filter="fade">
                                      <p:cBhvr>
                                        <p:cTn id="53" dur="300"/>
                                        <p:tgtEl>
                                          <p:spTgt spid="2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8"/>
                                        </p:tgtEl>
                                        <p:attrNameLst>
                                          <p:attrName>style.visibility</p:attrName>
                                        </p:attrNameLst>
                                      </p:cBhvr>
                                      <p:to>
                                        <p:strVal val="visible"/>
                                      </p:to>
                                    </p:set>
                                    <p:animEffect transition="in" filter="fade">
                                      <p:cBhvr>
                                        <p:cTn id="56" dur="300"/>
                                        <p:tgtEl>
                                          <p:spTgt spid="2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300"/>
                                        <p:tgtEl>
                                          <p:spTgt spid="29"/>
                                        </p:tgtEl>
                                      </p:cBhvr>
                                    </p:animEffect>
                                  </p:childTnLst>
                                </p:cTn>
                              </p:par>
                            </p:childTnLst>
                          </p:cTn>
                        </p:par>
                        <p:par>
                          <p:cTn id="60" fill="hold">
                            <p:stCondLst>
                              <p:cond delay="2200"/>
                            </p:stCondLst>
                            <p:childTnLst>
                              <p:par>
                                <p:cTn id="61" presetID="10" presetClass="entr" presetSubtype="0" fill="hold" grpId="0" nodeType="afterEffect">
                                  <p:stCondLst>
                                    <p:cond delay="0"/>
                                  </p:stCondLst>
                                  <p:childTnLst>
                                    <p:set>
                                      <p:cBhvr>
                                        <p:cTn id="62" dur="1" fill="hold">
                                          <p:stCondLst>
                                            <p:cond delay="0"/>
                                          </p:stCondLst>
                                        </p:cTn>
                                        <p:tgtEl>
                                          <p:spTgt spid="32"/>
                                        </p:tgtEl>
                                        <p:attrNameLst>
                                          <p:attrName>style.visibility</p:attrName>
                                        </p:attrNameLst>
                                      </p:cBhvr>
                                      <p:to>
                                        <p:strVal val="visible"/>
                                      </p:to>
                                    </p:set>
                                    <p:animEffect transition="in" filter="fade">
                                      <p:cBhvr>
                                        <p:cTn id="63" dur="300"/>
                                        <p:tgtEl>
                                          <p:spTgt spid="3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3"/>
                                        </p:tgtEl>
                                        <p:attrNameLst>
                                          <p:attrName>style.visibility</p:attrName>
                                        </p:attrNameLst>
                                      </p:cBhvr>
                                      <p:to>
                                        <p:strVal val="visible"/>
                                      </p:to>
                                    </p:set>
                                    <p:animEffect transition="in" filter="fade">
                                      <p:cBhvr>
                                        <p:cTn id="66" dur="300"/>
                                        <p:tgtEl>
                                          <p:spTgt spid="3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4"/>
                                        </p:tgtEl>
                                        <p:attrNameLst>
                                          <p:attrName>style.visibility</p:attrName>
                                        </p:attrNameLst>
                                      </p:cBhvr>
                                      <p:to>
                                        <p:strVal val="visible"/>
                                      </p:to>
                                    </p:set>
                                    <p:animEffect transition="in" filter="fade">
                                      <p:cBhvr>
                                        <p:cTn id="69" dur="300"/>
                                        <p:tgtEl>
                                          <p:spTgt spid="34"/>
                                        </p:tgtEl>
                                      </p:cBhvr>
                                    </p:animEffect>
                                  </p:childTnLst>
                                </p:cTn>
                              </p:par>
                            </p:childTnLst>
                          </p:cTn>
                        </p:par>
                        <p:par>
                          <p:cTn id="70" fill="hold">
                            <p:stCondLst>
                              <p:cond delay="2560"/>
                            </p:stCondLst>
                            <p:childTnLst>
                              <p:par>
                                <p:cTn id="71" presetID="10" presetClass="entr" presetSubtype="0" fill="hold" grpId="0" nodeType="afterEffect">
                                  <p:stCondLst>
                                    <p:cond delay="0"/>
                                  </p:stCondLst>
                                  <p:childTnLst>
                                    <p:set>
                                      <p:cBhvr>
                                        <p:cTn id="72" dur="1" fill="hold">
                                          <p:stCondLst>
                                            <p:cond delay="0"/>
                                          </p:stCondLst>
                                        </p:cTn>
                                        <p:tgtEl>
                                          <p:spTgt spid="37"/>
                                        </p:tgtEl>
                                        <p:attrNameLst>
                                          <p:attrName>style.visibility</p:attrName>
                                        </p:attrNameLst>
                                      </p:cBhvr>
                                      <p:to>
                                        <p:strVal val="visible"/>
                                      </p:to>
                                    </p:set>
                                    <p:animEffect transition="in" filter="fade">
                                      <p:cBhvr>
                                        <p:cTn id="73" dur="300"/>
                                        <p:tgtEl>
                                          <p:spTgt spid="3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8"/>
                                        </p:tgtEl>
                                        <p:attrNameLst>
                                          <p:attrName>style.visibility</p:attrName>
                                        </p:attrNameLst>
                                      </p:cBhvr>
                                      <p:to>
                                        <p:strVal val="visible"/>
                                      </p:to>
                                    </p:set>
                                    <p:animEffect transition="in" filter="fade">
                                      <p:cBhvr>
                                        <p:cTn id="76" dur="300"/>
                                        <p:tgtEl>
                                          <p:spTgt spid="3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9"/>
                                        </p:tgtEl>
                                        <p:attrNameLst>
                                          <p:attrName>style.visibility</p:attrName>
                                        </p:attrNameLst>
                                      </p:cBhvr>
                                      <p:to>
                                        <p:strVal val="visible"/>
                                      </p:to>
                                    </p:set>
                                    <p:animEffect transition="in" filter="fade">
                                      <p:cBhvr>
                                        <p:cTn id="79" dur="300"/>
                                        <p:tgtEl>
                                          <p:spTgt spid="39"/>
                                        </p:tgtEl>
                                      </p:cBhvr>
                                    </p:animEffect>
                                  </p:childTnLst>
                                </p:cTn>
                              </p:par>
                            </p:childTnLst>
                          </p:cTn>
                        </p:par>
                        <p:par>
                          <p:cTn id="80" fill="hold">
                            <p:stCondLst>
                              <p:cond delay="2920"/>
                            </p:stCondLst>
                            <p:childTnLst>
                              <p:par>
                                <p:cTn id="81" presetID="10" presetClass="entr" presetSubtype="0" fill="hold" grpId="0" nodeType="afterEffect">
                                  <p:stCondLst>
                                    <p:cond delay="0"/>
                                  </p:stCondLst>
                                  <p:childTnLst>
                                    <p:set>
                                      <p:cBhvr>
                                        <p:cTn id="82" dur="1" fill="hold">
                                          <p:stCondLst>
                                            <p:cond delay="0"/>
                                          </p:stCondLst>
                                        </p:cTn>
                                        <p:tgtEl>
                                          <p:spTgt spid="42"/>
                                        </p:tgtEl>
                                        <p:attrNameLst>
                                          <p:attrName>style.visibility</p:attrName>
                                        </p:attrNameLst>
                                      </p:cBhvr>
                                      <p:to>
                                        <p:strVal val="visible"/>
                                      </p:to>
                                    </p:set>
                                    <p:animEffect transition="in" filter="fade">
                                      <p:cBhvr>
                                        <p:cTn id="83" dur="300"/>
                                        <p:tgtEl>
                                          <p:spTgt spid="4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3"/>
                                        </p:tgtEl>
                                        <p:attrNameLst>
                                          <p:attrName>style.visibility</p:attrName>
                                        </p:attrNameLst>
                                      </p:cBhvr>
                                      <p:to>
                                        <p:strVal val="visible"/>
                                      </p:to>
                                    </p:set>
                                    <p:animEffect transition="in" filter="fade">
                                      <p:cBhvr>
                                        <p:cTn id="86" dur="300"/>
                                        <p:tgtEl>
                                          <p:spTgt spid="4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44"/>
                                        </p:tgtEl>
                                        <p:attrNameLst>
                                          <p:attrName>style.visibility</p:attrName>
                                        </p:attrNameLst>
                                      </p:cBhvr>
                                      <p:to>
                                        <p:strVal val="visible"/>
                                      </p:to>
                                    </p:set>
                                    <p:animEffect transition="in" filter="fade">
                                      <p:cBhvr>
                                        <p:cTn id="89" dur="300"/>
                                        <p:tgtEl>
                                          <p:spTgt spid="44"/>
                                        </p:tgtEl>
                                      </p:cBhvr>
                                    </p:animEffect>
                                  </p:childTnLst>
                                </p:cTn>
                              </p:par>
                            </p:childTnLst>
                          </p:cTn>
                        </p:par>
                      </p:childTnLst>
                    </p:cTn>
                  </p:par>
                  <p:par>
                    <p:cTn id="90" fill="hold">
                      <p:stCondLst>
                        <p:cond delay="indefinite"/>
                      </p:stCondLst>
                      <p:childTnLst>
                        <p:par>
                          <p:cTn id="91" fill="hold">
                            <p:stCondLst>
                              <p:cond delay="0"/>
                            </p:stCondLst>
                            <p:childTnLst>
                              <p:par>
                                <p:cTn id="92" presetID="53" presetClass="entr" presetSubtype="16" fill="hold" grpId="0" nodeType="click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400"/>
                                        <p:tgtEl>
                                          <p:spTgt spid="25"/>
                                        </p:tgtEl>
                                      </p:cBhvr>
                                    </p:animEffect>
                                    <p:anim calcmode="lin" valueType="num">
                                      <p:cBhvr>
                                        <p:cTn id="95" dur="400" fill="hold"/>
                                        <p:tgtEl>
                                          <p:spTgt spid="25"/>
                                        </p:tgtEl>
                                        <p:attrNameLst>
                                          <p:attrName>ppt_w</p:attrName>
                                        </p:attrNameLst>
                                      </p:cBhvr>
                                      <p:tavLst>
                                        <p:tav tm="0">
                                          <p:val>
                                            <p:strVal val="0"/>
                                          </p:val>
                                        </p:tav>
                                        <p:tav tm="100000">
                                          <p:val>
                                            <p:strVal val="#ppt_w"/>
                                          </p:val>
                                        </p:tav>
                                      </p:tavLst>
                                    </p:anim>
                                    <p:anim calcmode="lin" valueType="num">
                                      <p:cBhvr>
                                        <p:cTn id="96" dur="400" fill="hold"/>
                                        <p:tgtEl>
                                          <p:spTgt spid="25"/>
                                        </p:tgtEl>
                                        <p:attrNameLst>
                                          <p:attrName>ppt_h</p:attrName>
                                        </p:attrNameLst>
                                      </p:cBhvr>
                                      <p:tavLst>
                                        <p:tav tm="0">
                                          <p:val>
                                            <p:strVal val="0"/>
                                          </p:val>
                                        </p:tav>
                                        <p:tav tm="100000">
                                          <p:val>
                                            <p:strVal val="#ppt_h"/>
                                          </p:val>
                                        </p:tav>
                                      </p:tavLst>
                                    </p:anim>
                                  </p:childTnLst>
                                </p:cTn>
                              </p:par>
                              <p:par>
                                <p:cTn id="97" presetID="53" presetClass="entr" presetSubtype="16" fill="hold" grpId="0" nodeType="withEffect">
                                  <p:stCondLst>
                                    <p:cond delay="0"/>
                                  </p:stCondLst>
                                  <p:childTnLst>
                                    <p:set>
                                      <p:cBhvr>
                                        <p:cTn id="98" dur="1" fill="hold">
                                          <p:stCondLst>
                                            <p:cond delay="0"/>
                                          </p:stCondLst>
                                        </p:cTn>
                                        <p:tgtEl>
                                          <p:spTgt spid="26"/>
                                        </p:tgtEl>
                                        <p:attrNameLst>
                                          <p:attrName>style.visibility</p:attrName>
                                        </p:attrNameLst>
                                      </p:cBhvr>
                                      <p:to>
                                        <p:strVal val="visible"/>
                                      </p:to>
                                    </p:set>
                                    <p:animEffect transition="in" filter="fade">
                                      <p:cBhvr>
                                        <p:cTn id="99" dur="400"/>
                                        <p:tgtEl>
                                          <p:spTgt spid="26"/>
                                        </p:tgtEl>
                                      </p:cBhvr>
                                    </p:animEffect>
                                    <p:anim calcmode="lin" valueType="num">
                                      <p:cBhvr>
                                        <p:cTn id="100" dur="400" fill="hold"/>
                                        <p:tgtEl>
                                          <p:spTgt spid="26"/>
                                        </p:tgtEl>
                                        <p:attrNameLst>
                                          <p:attrName>ppt_w</p:attrName>
                                        </p:attrNameLst>
                                      </p:cBhvr>
                                      <p:tavLst>
                                        <p:tav tm="0">
                                          <p:val>
                                            <p:strVal val="0"/>
                                          </p:val>
                                        </p:tav>
                                        <p:tav tm="100000">
                                          <p:val>
                                            <p:strVal val="#ppt_w"/>
                                          </p:val>
                                        </p:tav>
                                      </p:tavLst>
                                    </p:anim>
                                    <p:anim calcmode="lin" valueType="num">
                                      <p:cBhvr>
                                        <p:cTn id="101" dur="400" fill="hold"/>
                                        <p:tgtEl>
                                          <p:spTgt spid="26"/>
                                        </p:tgtEl>
                                        <p:attrNameLst>
                                          <p:attrName>ppt_h</p:attrName>
                                        </p:attrNameLst>
                                      </p:cBhvr>
                                      <p:tavLst>
                                        <p:tav tm="0">
                                          <p:val>
                                            <p:strVal val="0"/>
                                          </p:val>
                                        </p:tav>
                                        <p:tav tm="100000">
                                          <p:val>
                                            <p:strVal val="#ppt_h"/>
                                          </p:val>
                                        </p:tav>
                                      </p:tavLst>
                                    </p:anim>
                                  </p:childTnLst>
                                </p:cTn>
                              </p:par>
                            </p:childTnLst>
                          </p:cTn>
                        </p:par>
                      </p:childTnLst>
                    </p:cTn>
                  </p:par>
                  <p:par>
                    <p:cTn id="102" fill="hold">
                      <p:stCondLst>
                        <p:cond delay="indefinite"/>
                      </p:stCondLst>
                      <p:childTnLst>
                        <p:par>
                          <p:cTn id="103" fill="hold">
                            <p:stCondLst>
                              <p:cond delay="0"/>
                            </p:stCondLst>
                            <p:childTnLst>
                              <p:par>
                                <p:cTn id="104" presetID="53" presetClass="entr" presetSubtype="16" fill="hold" grpId="0" nodeType="clickEffect">
                                  <p:stCondLst>
                                    <p:cond delay="0"/>
                                  </p:stCondLst>
                                  <p:childTnLst>
                                    <p:set>
                                      <p:cBhvr>
                                        <p:cTn id="105" dur="1" fill="hold">
                                          <p:stCondLst>
                                            <p:cond delay="0"/>
                                          </p:stCondLst>
                                        </p:cTn>
                                        <p:tgtEl>
                                          <p:spTgt spid="30"/>
                                        </p:tgtEl>
                                        <p:attrNameLst>
                                          <p:attrName>style.visibility</p:attrName>
                                        </p:attrNameLst>
                                      </p:cBhvr>
                                      <p:to>
                                        <p:strVal val="visible"/>
                                      </p:to>
                                    </p:set>
                                    <p:animEffect transition="in" filter="fade">
                                      <p:cBhvr>
                                        <p:cTn id="106" dur="400"/>
                                        <p:tgtEl>
                                          <p:spTgt spid="30"/>
                                        </p:tgtEl>
                                      </p:cBhvr>
                                    </p:animEffect>
                                    <p:anim calcmode="lin" valueType="num">
                                      <p:cBhvr>
                                        <p:cTn id="107" dur="400" fill="hold"/>
                                        <p:tgtEl>
                                          <p:spTgt spid="30"/>
                                        </p:tgtEl>
                                        <p:attrNameLst>
                                          <p:attrName>ppt_w</p:attrName>
                                        </p:attrNameLst>
                                      </p:cBhvr>
                                      <p:tavLst>
                                        <p:tav tm="0">
                                          <p:val>
                                            <p:strVal val="0"/>
                                          </p:val>
                                        </p:tav>
                                        <p:tav tm="100000">
                                          <p:val>
                                            <p:strVal val="#ppt_w"/>
                                          </p:val>
                                        </p:tav>
                                      </p:tavLst>
                                    </p:anim>
                                    <p:anim calcmode="lin" valueType="num">
                                      <p:cBhvr>
                                        <p:cTn id="108" dur="400" fill="hold"/>
                                        <p:tgtEl>
                                          <p:spTgt spid="30"/>
                                        </p:tgtEl>
                                        <p:attrNameLst>
                                          <p:attrName>ppt_h</p:attrName>
                                        </p:attrNameLst>
                                      </p:cBhvr>
                                      <p:tavLst>
                                        <p:tav tm="0">
                                          <p:val>
                                            <p:strVal val="0"/>
                                          </p:val>
                                        </p:tav>
                                        <p:tav tm="100000">
                                          <p:val>
                                            <p:strVal val="#ppt_h"/>
                                          </p:val>
                                        </p:tav>
                                      </p:tavLst>
                                    </p:anim>
                                  </p:childTnLst>
                                </p:cTn>
                              </p:par>
                              <p:par>
                                <p:cTn id="109" presetID="53" presetClass="entr" presetSubtype="16" fill="hold" grpId="0" nodeType="withEffect">
                                  <p:stCondLst>
                                    <p:cond delay="0"/>
                                  </p:stCondLst>
                                  <p:childTnLst>
                                    <p:set>
                                      <p:cBhvr>
                                        <p:cTn id="110" dur="1" fill="hold">
                                          <p:stCondLst>
                                            <p:cond delay="0"/>
                                          </p:stCondLst>
                                        </p:cTn>
                                        <p:tgtEl>
                                          <p:spTgt spid="31"/>
                                        </p:tgtEl>
                                        <p:attrNameLst>
                                          <p:attrName>style.visibility</p:attrName>
                                        </p:attrNameLst>
                                      </p:cBhvr>
                                      <p:to>
                                        <p:strVal val="visible"/>
                                      </p:to>
                                    </p:set>
                                    <p:animEffect transition="in" filter="fade">
                                      <p:cBhvr>
                                        <p:cTn id="111" dur="400"/>
                                        <p:tgtEl>
                                          <p:spTgt spid="31"/>
                                        </p:tgtEl>
                                      </p:cBhvr>
                                    </p:animEffect>
                                    <p:anim calcmode="lin" valueType="num">
                                      <p:cBhvr>
                                        <p:cTn id="112" dur="400" fill="hold"/>
                                        <p:tgtEl>
                                          <p:spTgt spid="31"/>
                                        </p:tgtEl>
                                        <p:attrNameLst>
                                          <p:attrName>ppt_w</p:attrName>
                                        </p:attrNameLst>
                                      </p:cBhvr>
                                      <p:tavLst>
                                        <p:tav tm="0">
                                          <p:val>
                                            <p:strVal val="0"/>
                                          </p:val>
                                        </p:tav>
                                        <p:tav tm="100000">
                                          <p:val>
                                            <p:strVal val="#ppt_w"/>
                                          </p:val>
                                        </p:tav>
                                      </p:tavLst>
                                    </p:anim>
                                    <p:anim calcmode="lin" valueType="num">
                                      <p:cBhvr>
                                        <p:cTn id="113" dur="400" fill="hold"/>
                                        <p:tgtEl>
                                          <p:spTgt spid="31"/>
                                        </p:tgtEl>
                                        <p:attrNameLst>
                                          <p:attrName>ppt_h</p:attrName>
                                        </p:attrNameLst>
                                      </p:cBhvr>
                                      <p:tavLst>
                                        <p:tav tm="0">
                                          <p:val>
                                            <p:strVal val="0"/>
                                          </p:val>
                                        </p:tav>
                                        <p:tav tm="100000">
                                          <p:val>
                                            <p:strVal val="#ppt_h"/>
                                          </p:val>
                                        </p:tav>
                                      </p:tavLst>
                                    </p:anim>
                                  </p:childTnLst>
                                </p:cTn>
                              </p:par>
                            </p:childTnLst>
                          </p:cTn>
                        </p:par>
                      </p:childTnLst>
                    </p:cTn>
                  </p:par>
                  <p:par>
                    <p:cTn id="114" fill="hold">
                      <p:stCondLst>
                        <p:cond delay="indefinite"/>
                      </p:stCondLst>
                      <p:childTnLst>
                        <p:par>
                          <p:cTn id="115" fill="hold">
                            <p:stCondLst>
                              <p:cond delay="0"/>
                            </p:stCondLst>
                            <p:childTnLst>
                              <p:par>
                                <p:cTn id="116" presetID="53" presetClass="entr" presetSubtype="16" fill="hold" grpId="0" nodeType="clickEffect">
                                  <p:stCondLst>
                                    <p:cond delay="0"/>
                                  </p:stCondLst>
                                  <p:childTnLst>
                                    <p:set>
                                      <p:cBhvr>
                                        <p:cTn id="117" dur="1" fill="hold">
                                          <p:stCondLst>
                                            <p:cond delay="0"/>
                                          </p:stCondLst>
                                        </p:cTn>
                                        <p:tgtEl>
                                          <p:spTgt spid="35"/>
                                        </p:tgtEl>
                                        <p:attrNameLst>
                                          <p:attrName>style.visibility</p:attrName>
                                        </p:attrNameLst>
                                      </p:cBhvr>
                                      <p:to>
                                        <p:strVal val="visible"/>
                                      </p:to>
                                    </p:set>
                                    <p:animEffect transition="in" filter="fade">
                                      <p:cBhvr>
                                        <p:cTn id="118" dur="400"/>
                                        <p:tgtEl>
                                          <p:spTgt spid="35"/>
                                        </p:tgtEl>
                                      </p:cBhvr>
                                    </p:animEffect>
                                    <p:anim calcmode="lin" valueType="num">
                                      <p:cBhvr>
                                        <p:cTn id="119" dur="400" fill="hold"/>
                                        <p:tgtEl>
                                          <p:spTgt spid="35"/>
                                        </p:tgtEl>
                                        <p:attrNameLst>
                                          <p:attrName>ppt_w</p:attrName>
                                        </p:attrNameLst>
                                      </p:cBhvr>
                                      <p:tavLst>
                                        <p:tav tm="0">
                                          <p:val>
                                            <p:strVal val="0"/>
                                          </p:val>
                                        </p:tav>
                                        <p:tav tm="100000">
                                          <p:val>
                                            <p:strVal val="#ppt_w"/>
                                          </p:val>
                                        </p:tav>
                                      </p:tavLst>
                                    </p:anim>
                                    <p:anim calcmode="lin" valueType="num">
                                      <p:cBhvr>
                                        <p:cTn id="120" dur="400" fill="hold"/>
                                        <p:tgtEl>
                                          <p:spTgt spid="35"/>
                                        </p:tgtEl>
                                        <p:attrNameLst>
                                          <p:attrName>ppt_h</p:attrName>
                                        </p:attrNameLst>
                                      </p:cBhvr>
                                      <p:tavLst>
                                        <p:tav tm="0">
                                          <p:val>
                                            <p:strVal val="0"/>
                                          </p:val>
                                        </p:tav>
                                        <p:tav tm="100000">
                                          <p:val>
                                            <p:strVal val="#ppt_h"/>
                                          </p:val>
                                        </p:tav>
                                      </p:tavLst>
                                    </p:anim>
                                  </p:childTnLst>
                                </p:cTn>
                              </p:par>
                              <p:par>
                                <p:cTn id="121" presetID="53" presetClass="entr" presetSubtype="16" fill="hold" grpId="0" nodeType="withEffect">
                                  <p:stCondLst>
                                    <p:cond delay="0"/>
                                  </p:stCondLst>
                                  <p:childTnLst>
                                    <p:set>
                                      <p:cBhvr>
                                        <p:cTn id="122" dur="1" fill="hold">
                                          <p:stCondLst>
                                            <p:cond delay="0"/>
                                          </p:stCondLst>
                                        </p:cTn>
                                        <p:tgtEl>
                                          <p:spTgt spid="36"/>
                                        </p:tgtEl>
                                        <p:attrNameLst>
                                          <p:attrName>style.visibility</p:attrName>
                                        </p:attrNameLst>
                                      </p:cBhvr>
                                      <p:to>
                                        <p:strVal val="visible"/>
                                      </p:to>
                                    </p:set>
                                    <p:animEffect transition="in" filter="fade">
                                      <p:cBhvr>
                                        <p:cTn id="123" dur="400"/>
                                        <p:tgtEl>
                                          <p:spTgt spid="36"/>
                                        </p:tgtEl>
                                      </p:cBhvr>
                                    </p:animEffect>
                                    <p:anim calcmode="lin" valueType="num">
                                      <p:cBhvr>
                                        <p:cTn id="124" dur="400" fill="hold"/>
                                        <p:tgtEl>
                                          <p:spTgt spid="36"/>
                                        </p:tgtEl>
                                        <p:attrNameLst>
                                          <p:attrName>ppt_w</p:attrName>
                                        </p:attrNameLst>
                                      </p:cBhvr>
                                      <p:tavLst>
                                        <p:tav tm="0">
                                          <p:val>
                                            <p:strVal val="0"/>
                                          </p:val>
                                        </p:tav>
                                        <p:tav tm="100000">
                                          <p:val>
                                            <p:strVal val="#ppt_w"/>
                                          </p:val>
                                        </p:tav>
                                      </p:tavLst>
                                    </p:anim>
                                    <p:anim calcmode="lin" valueType="num">
                                      <p:cBhvr>
                                        <p:cTn id="125" dur="400" fill="hold"/>
                                        <p:tgtEl>
                                          <p:spTgt spid="36"/>
                                        </p:tgtEl>
                                        <p:attrNameLst>
                                          <p:attrName>ppt_h</p:attrName>
                                        </p:attrNameLst>
                                      </p:cBhvr>
                                      <p:tavLst>
                                        <p:tav tm="0">
                                          <p:val>
                                            <p:strVal val="0"/>
                                          </p:val>
                                        </p:tav>
                                        <p:tav tm="100000">
                                          <p:val>
                                            <p:strVal val="#ppt_h"/>
                                          </p:val>
                                        </p:tav>
                                      </p:tavLst>
                                    </p:anim>
                                  </p:childTnLst>
                                </p:cTn>
                              </p:par>
                            </p:childTnLst>
                          </p:cTn>
                        </p:par>
                      </p:childTnLst>
                    </p:cTn>
                  </p:par>
                  <p:par>
                    <p:cTn id="126" fill="hold">
                      <p:stCondLst>
                        <p:cond delay="indefinite"/>
                      </p:stCondLst>
                      <p:childTnLst>
                        <p:par>
                          <p:cTn id="127" fill="hold">
                            <p:stCondLst>
                              <p:cond delay="0"/>
                            </p:stCondLst>
                            <p:childTnLst>
                              <p:par>
                                <p:cTn id="128" presetID="53" presetClass="entr" presetSubtype="16" fill="hold" grpId="0" nodeType="clickEffect">
                                  <p:stCondLst>
                                    <p:cond delay="0"/>
                                  </p:stCondLst>
                                  <p:childTnLst>
                                    <p:set>
                                      <p:cBhvr>
                                        <p:cTn id="129" dur="1" fill="hold">
                                          <p:stCondLst>
                                            <p:cond delay="0"/>
                                          </p:stCondLst>
                                        </p:cTn>
                                        <p:tgtEl>
                                          <p:spTgt spid="40"/>
                                        </p:tgtEl>
                                        <p:attrNameLst>
                                          <p:attrName>style.visibility</p:attrName>
                                        </p:attrNameLst>
                                      </p:cBhvr>
                                      <p:to>
                                        <p:strVal val="visible"/>
                                      </p:to>
                                    </p:set>
                                    <p:animEffect transition="in" filter="fade">
                                      <p:cBhvr>
                                        <p:cTn id="130" dur="400"/>
                                        <p:tgtEl>
                                          <p:spTgt spid="40"/>
                                        </p:tgtEl>
                                      </p:cBhvr>
                                    </p:animEffect>
                                    <p:anim calcmode="lin" valueType="num">
                                      <p:cBhvr>
                                        <p:cTn id="131" dur="400" fill="hold"/>
                                        <p:tgtEl>
                                          <p:spTgt spid="40"/>
                                        </p:tgtEl>
                                        <p:attrNameLst>
                                          <p:attrName>ppt_w</p:attrName>
                                        </p:attrNameLst>
                                      </p:cBhvr>
                                      <p:tavLst>
                                        <p:tav tm="0">
                                          <p:val>
                                            <p:strVal val="0"/>
                                          </p:val>
                                        </p:tav>
                                        <p:tav tm="100000">
                                          <p:val>
                                            <p:strVal val="#ppt_w"/>
                                          </p:val>
                                        </p:tav>
                                      </p:tavLst>
                                    </p:anim>
                                    <p:anim calcmode="lin" valueType="num">
                                      <p:cBhvr>
                                        <p:cTn id="132" dur="400" fill="hold"/>
                                        <p:tgtEl>
                                          <p:spTgt spid="40"/>
                                        </p:tgtEl>
                                        <p:attrNameLst>
                                          <p:attrName>ppt_h</p:attrName>
                                        </p:attrNameLst>
                                      </p:cBhvr>
                                      <p:tavLst>
                                        <p:tav tm="0">
                                          <p:val>
                                            <p:strVal val="0"/>
                                          </p:val>
                                        </p:tav>
                                        <p:tav tm="100000">
                                          <p:val>
                                            <p:strVal val="#ppt_h"/>
                                          </p:val>
                                        </p:tav>
                                      </p:tavLst>
                                    </p:anim>
                                  </p:childTnLst>
                                </p:cTn>
                              </p:par>
                              <p:par>
                                <p:cTn id="133" presetID="53" presetClass="entr" presetSubtype="16" fill="hold" grpId="0" nodeType="withEffect">
                                  <p:stCondLst>
                                    <p:cond delay="0"/>
                                  </p:stCondLst>
                                  <p:childTnLst>
                                    <p:set>
                                      <p:cBhvr>
                                        <p:cTn id="134" dur="1" fill="hold">
                                          <p:stCondLst>
                                            <p:cond delay="0"/>
                                          </p:stCondLst>
                                        </p:cTn>
                                        <p:tgtEl>
                                          <p:spTgt spid="41"/>
                                        </p:tgtEl>
                                        <p:attrNameLst>
                                          <p:attrName>style.visibility</p:attrName>
                                        </p:attrNameLst>
                                      </p:cBhvr>
                                      <p:to>
                                        <p:strVal val="visible"/>
                                      </p:to>
                                    </p:set>
                                    <p:animEffect transition="in" filter="fade">
                                      <p:cBhvr>
                                        <p:cTn id="135" dur="400"/>
                                        <p:tgtEl>
                                          <p:spTgt spid="41"/>
                                        </p:tgtEl>
                                      </p:cBhvr>
                                    </p:animEffect>
                                    <p:anim calcmode="lin" valueType="num">
                                      <p:cBhvr>
                                        <p:cTn id="136" dur="400" fill="hold"/>
                                        <p:tgtEl>
                                          <p:spTgt spid="41"/>
                                        </p:tgtEl>
                                        <p:attrNameLst>
                                          <p:attrName>ppt_w</p:attrName>
                                        </p:attrNameLst>
                                      </p:cBhvr>
                                      <p:tavLst>
                                        <p:tav tm="0">
                                          <p:val>
                                            <p:strVal val="0"/>
                                          </p:val>
                                        </p:tav>
                                        <p:tav tm="100000">
                                          <p:val>
                                            <p:strVal val="#ppt_w"/>
                                          </p:val>
                                        </p:tav>
                                      </p:tavLst>
                                    </p:anim>
                                    <p:anim calcmode="lin" valueType="num">
                                      <p:cBhvr>
                                        <p:cTn id="137" dur="400" fill="hold"/>
                                        <p:tgtEl>
                                          <p:spTgt spid="41"/>
                                        </p:tgtEl>
                                        <p:attrNameLst>
                                          <p:attrName>ppt_h</p:attrName>
                                        </p:attrNameLst>
                                      </p:cBhvr>
                                      <p:tavLst>
                                        <p:tav tm="0">
                                          <p:val>
                                            <p:strVal val="0"/>
                                          </p:val>
                                        </p:tav>
                                        <p:tav tm="100000">
                                          <p:val>
                                            <p:strVal val="#ppt_h"/>
                                          </p:val>
                                        </p:tav>
                                      </p:tavLst>
                                    </p:anim>
                                  </p:childTnLst>
                                </p:cTn>
                              </p:par>
                            </p:childTnLst>
                          </p:cTn>
                        </p:par>
                      </p:childTnLst>
                    </p:cTn>
                  </p:par>
                  <p:par>
                    <p:cTn id="138" fill="hold">
                      <p:stCondLst>
                        <p:cond delay="indefinite"/>
                      </p:stCondLst>
                      <p:childTnLst>
                        <p:par>
                          <p:cTn id="139" fill="hold">
                            <p:stCondLst>
                              <p:cond delay="0"/>
                            </p:stCondLst>
                            <p:childTnLst>
                              <p:par>
                                <p:cTn id="140" presetID="53" presetClass="entr" presetSubtype="16" fill="hold" grpId="0" nodeType="clickEffect">
                                  <p:stCondLst>
                                    <p:cond delay="0"/>
                                  </p:stCondLst>
                                  <p:childTnLst>
                                    <p:set>
                                      <p:cBhvr>
                                        <p:cTn id="141" dur="1" fill="hold">
                                          <p:stCondLst>
                                            <p:cond delay="0"/>
                                          </p:stCondLst>
                                        </p:cTn>
                                        <p:tgtEl>
                                          <p:spTgt spid="45"/>
                                        </p:tgtEl>
                                        <p:attrNameLst>
                                          <p:attrName>style.visibility</p:attrName>
                                        </p:attrNameLst>
                                      </p:cBhvr>
                                      <p:to>
                                        <p:strVal val="visible"/>
                                      </p:to>
                                    </p:set>
                                    <p:animEffect transition="in" filter="fade">
                                      <p:cBhvr>
                                        <p:cTn id="142" dur="400"/>
                                        <p:tgtEl>
                                          <p:spTgt spid="45"/>
                                        </p:tgtEl>
                                      </p:cBhvr>
                                    </p:animEffect>
                                    <p:anim calcmode="lin" valueType="num">
                                      <p:cBhvr>
                                        <p:cTn id="143" dur="400" fill="hold"/>
                                        <p:tgtEl>
                                          <p:spTgt spid="45"/>
                                        </p:tgtEl>
                                        <p:attrNameLst>
                                          <p:attrName>ppt_w</p:attrName>
                                        </p:attrNameLst>
                                      </p:cBhvr>
                                      <p:tavLst>
                                        <p:tav tm="0">
                                          <p:val>
                                            <p:strVal val="0"/>
                                          </p:val>
                                        </p:tav>
                                        <p:tav tm="100000">
                                          <p:val>
                                            <p:strVal val="#ppt_w"/>
                                          </p:val>
                                        </p:tav>
                                      </p:tavLst>
                                    </p:anim>
                                    <p:anim calcmode="lin" valueType="num">
                                      <p:cBhvr>
                                        <p:cTn id="144" dur="400" fill="hold"/>
                                        <p:tgtEl>
                                          <p:spTgt spid="45"/>
                                        </p:tgtEl>
                                        <p:attrNameLst>
                                          <p:attrName>ppt_h</p:attrName>
                                        </p:attrNameLst>
                                      </p:cBhvr>
                                      <p:tavLst>
                                        <p:tav tm="0">
                                          <p:val>
                                            <p:strVal val="0"/>
                                          </p:val>
                                        </p:tav>
                                        <p:tav tm="100000">
                                          <p:val>
                                            <p:strVal val="#ppt_h"/>
                                          </p:val>
                                        </p:tav>
                                      </p:tavLst>
                                    </p:anim>
                                  </p:childTnLst>
                                </p:cTn>
                              </p:par>
                              <p:par>
                                <p:cTn id="145" presetID="53" presetClass="entr" presetSubtype="16" fill="hold" grpId="0" nodeType="withEffect">
                                  <p:stCondLst>
                                    <p:cond delay="0"/>
                                  </p:stCondLst>
                                  <p:childTnLst>
                                    <p:set>
                                      <p:cBhvr>
                                        <p:cTn id="146" dur="1" fill="hold">
                                          <p:stCondLst>
                                            <p:cond delay="0"/>
                                          </p:stCondLst>
                                        </p:cTn>
                                        <p:tgtEl>
                                          <p:spTgt spid="46"/>
                                        </p:tgtEl>
                                        <p:attrNameLst>
                                          <p:attrName>style.visibility</p:attrName>
                                        </p:attrNameLst>
                                      </p:cBhvr>
                                      <p:to>
                                        <p:strVal val="visible"/>
                                      </p:to>
                                    </p:set>
                                    <p:animEffect transition="in" filter="fade">
                                      <p:cBhvr>
                                        <p:cTn id="147" dur="400"/>
                                        <p:tgtEl>
                                          <p:spTgt spid="46"/>
                                        </p:tgtEl>
                                      </p:cBhvr>
                                    </p:animEffect>
                                    <p:anim calcmode="lin" valueType="num">
                                      <p:cBhvr>
                                        <p:cTn id="148" dur="400" fill="hold"/>
                                        <p:tgtEl>
                                          <p:spTgt spid="46"/>
                                        </p:tgtEl>
                                        <p:attrNameLst>
                                          <p:attrName>ppt_w</p:attrName>
                                        </p:attrNameLst>
                                      </p:cBhvr>
                                      <p:tavLst>
                                        <p:tav tm="0">
                                          <p:val>
                                            <p:strVal val="0"/>
                                          </p:val>
                                        </p:tav>
                                        <p:tav tm="100000">
                                          <p:val>
                                            <p:strVal val="#ppt_w"/>
                                          </p:val>
                                        </p:tav>
                                      </p:tavLst>
                                    </p:anim>
                                    <p:anim calcmode="lin" valueType="num">
                                      <p:cBhvr>
                                        <p:cTn id="149" dur="400" fill="hold"/>
                                        <p:tgtEl>
                                          <p:spTgt spid="46"/>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3768651" y="593030"/>
            <a:ext cx="8730511" cy="755650"/>
          </a:xfrm>
          <a:prstGeom prst="rect">
            <a:avLst/>
          </a:prstGeom>
          <a:noFill/>
        </p:spPr>
        <p:txBody>
          <a:bodyPr wrap="none" lIns="0" tIns="0" rIns="0" bIns="0" rtlCol="0" anchor="ctr" anchorCtr="1">
            <a:noAutofit/>
          </a:bodyPr>
          <a:lstStyle/>
          <a:p>
            <a:pPr algn="ctr" rtl="1">
              <a:lnSpc>
                <a:spcPct val="100000"/>
              </a:lnSpc>
              <a:buNone/>
            </a:pPr>
            <a:r>
              <a:rPr lang="ar-SA" sz="3900" b="1" i="0" dirty="0">
                <a:solidFill>
                  <a:srgbClr val="FFFFFF"/>
                </a:solidFill>
                <a:latin typeface="Tahoma"/>
                <a:ea typeface="Tahoma"/>
                <a:cs typeface="Tahoma"/>
              </a:rPr>
              <a:t>تحدي حسابي: إيجاد الكتلة المولية</a:t>
            </a:r>
          </a:p>
        </p:txBody>
      </p:sp>
      <p:sp>
        <p:nvSpPr>
          <p:cNvPr id="102" name="Text 2"/>
          <p:cNvSpPr txBox="1"/>
          <p:nvPr/>
        </p:nvSpPr>
        <p:spPr>
          <a:xfrm>
            <a:off x="1890232" y="1384101"/>
            <a:ext cx="12534604" cy="838299"/>
          </a:xfrm>
          <a:prstGeom prst="rect">
            <a:avLst/>
          </a:prstGeom>
          <a:noFill/>
        </p:spPr>
        <p:txBody>
          <a:bodyPr wrap="none" lIns="0" tIns="0" rIns="0" bIns="0" rtlCol="0" anchor="ctr" anchorCtr="1">
            <a:noAutofit/>
          </a:bodyPr>
          <a:lstStyle/>
          <a:p>
            <a:pPr algn="ctr" rtl="1">
              <a:lnSpc>
                <a:spcPct val="112000"/>
              </a:lnSpc>
              <a:buNone/>
            </a:pPr>
            <a:r>
              <a:rPr lang="ar-SA" sz="1830" b="1" i="0" dirty="0">
                <a:solidFill>
                  <a:srgbClr val="FFFFFF"/>
                </a:solidFill>
                <a:latin typeface="Tahoma"/>
                <a:ea typeface="Tahoma"/>
                <a:cs typeface="Tahoma"/>
              </a:rPr>
              <a:t>تنخفض درجة تجمد الماء إلى 0.390‎ °C عندما يُذاب 3.9‎ g من مذاب غير متطاير في 475‎ g من الماء. احسب</a:t>
            </a:r>
          </a:p>
          <a:p>
            <a:pPr algn="ctr" rtl="1">
              <a:lnSpc>
                <a:spcPct val="112000"/>
              </a:lnSpc>
              <a:buNone/>
            </a:pPr>
            <a:r>
              <a:rPr lang="ar-SA" sz="1830" b="1" i="0" dirty="0">
                <a:solidFill>
                  <a:srgbClr val="FFFFFF"/>
                </a:solidFill>
                <a:latin typeface="Tahoma"/>
                <a:ea typeface="Tahoma"/>
                <a:cs typeface="Tahoma"/>
              </a:rPr>
              <a:t>الكتلة المولية للمذاب. (</a:t>
            </a:r>
            <a:r>
              <a:rPr lang="ar-SA" sz="1830" b="1" i="1" dirty="0">
                <a:solidFill>
                  <a:srgbClr val="FFFFFF"/>
                </a:solidFill>
                <a:latin typeface="Cambria"/>
                <a:ea typeface="Cambria"/>
                <a:cs typeface="Cambria"/>
              </a:rPr>
              <a:t>K</a:t>
            </a:r>
            <a:r>
              <a:rPr lang="ar-SA" sz="1830" b="1" i="1" baseline="-25000" dirty="0">
                <a:solidFill>
                  <a:srgbClr val="FFFFFF"/>
                </a:solidFill>
                <a:latin typeface="Cambria"/>
                <a:ea typeface="Cambria"/>
                <a:cs typeface="Cambria"/>
              </a:rPr>
              <a:t>fp</a:t>
            </a:r>
            <a:r>
              <a:rPr lang="ar-SA" sz="1830" b="1" i="0" dirty="0">
                <a:solidFill>
                  <a:srgbClr val="FFFFFF"/>
                </a:solidFill>
                <a:latin typeface="Tahoma"/>
                <a:ea typeface="Tahoma"/>
                <a:cs typeface="Tahoma"/>
              </a:rPr>
              <a:t> = 1.86)</a:t>
            </a:r>
          </a:p>
        </p:txBody>
      </p:sp>
      <p:sp>
        <p:nvSpPr>
          <p:cNvPr id="103" name="Text 3"/>
          <p:cNvSpPr txBox="1"/>
          <p:nvPr/>
        </p:nvSpPr>
        <p:spPr>
          <a:xfrm>
            <a:off x="6828465" y="2635646"/>
            <a:ext cx="2587255" cy="425053"/>
          </a:xfrm>
          <a:prstGeom prst="rect">
            <a:avLst/>
          </a:prstGeom>
          <a:noFill/>
        </p:spPr>
        <p:txBody>
          <a:bodyPr wrap="none" lIns="0" tIns="0" rIns="0" bIns="0" rtlCol="0" anchor="ctr" anchorCtr="1">
            <a:noAutofit/>
          </a:bodyPr>
          <a:lstStyle/>
          <a:p>
            <a:pPr algn="ctr" rtl="1">
              <a:lnSpc>
                <a:spcPct val="100000"/>
              </a:lnSpc>
              <a:buNone/>
            </a:pPr>
            <a:r>
              <a:rPr lang="ar-SA" sz="1850" b="1" i="0" dirty="0">
                <a:solidFill>
                  <a:srgbClr val="FFFFFF"/>
                </a:solidFill>
                <a:latin typeface="Tahoma"/>
                <a:ea typeface="Tahoma"/>
                <a:cs typeface="Tahoma"/>
              </a:rPr>
              <a:t>حساب المولالية:</a:t>
            </a:r>
          </a:p>
        </p:txBody>
      </p:sp>
      <p:sp>
        <p:nvSpPr>
          <p:cNvPr id="104" name="Text 4"/>
          <p:cNvSpPr txBox="1"/>
          <p:nvPr/>
        </p:nvSpPr>
        <p:spPr>
          <a:xfrm>
            <a:off x="5488042" y="3113831"/>
            <a:ext cx="5279914" cy="873720"/>
          </a:xfrm>
          <a:prstGeom prst="rect">
            <a:avLst/>
          </a:prstGeom>
          <a:noFill/>
        </p:spPr>
        <p:txBody>
          <a:bodyPr wrap="none" lIns="0" tIns="0" rIns="0" bIns="0" rtlCol="0" anchor="ctr" anchorCtr="1">
            <a:noAutofit/>
          </a:bodyPr>
          <a:lstStyle/>
          <a:p>
            <a:pPr rtl="0" algn="ctr">
              <a:lnSpc>
                <a:spcPct val="100000"/>
              </a:lnSpc>
              <a:buNone/>
            </a:pPr>
            <a:r>
              <a:rPr lang="en-US" sz="1800" b="1" i="1" dirty="0">
                <a:solidFill>
                  <a:srgbClr val="FFFFFF"/>
                </a:solidFill>
                <a:latin typeface="Cambria"/>
                <a:ea typeface="Cambria"/>
                <a:cs typeface="Cambria"/>
              </a:rPr>
              <a:t>m = ΔT</a:t>
            </a:r>
            <a:r>
              <a:rPr baseline="-25000" lang="en-US" sz="1800" b="1" i="1" dirty="0">
                <a:solidFill>
                  <a:srgbClr val="FFFFFF"/>
                </a:solidFill>
                <a:latin typeface="Cambria"/>
                <a:ea typeface="Cambria"/>
                <a:cs typeface="Cambria"/>
              </a:rPr>
              <a:t>fp</a:t>
            </a:r>
            <a:r>
              <a:rPr lang="en-US" sz="1800" b="1" i="1" dirty="0">
                <a:solidFill>
                  <a:srgbClr val="FFFFFF"/>
                </a:solidFill>
                <a:latin typeface="Cambria"/>
                <a:ea typeface="Cambria"/>
                <a:cs typeface="Cambria"/>
              </a:rPr>
              <a:t xml:space="preserve"> / K</a:t>
            </a:r>
            <a:r>
              <a:rPr baseline="-25000" lang="en-US" sz="1800" b="1" i="1" dirty="0">
                <a:solidFill>
                  <a:srgbClr val="FFFFFF"/>
                </a:solidFill>
                <a:latin typeface="Cambria"/>
                <a:ea typeface="Cambria"/>
                <a:cs typeface="Cambria"/>
              </a:rPr>
              <a:t>fp</a:t>
            </a:r>
            <a:r>
              <a:rPr lang="en-US" sz="1800" b="1" i="1" dirty="0">
                <a:solidFill>
                  <a:srgbClr val="FFFFFF"/>
                </a:solidFill>
                <a:latin typeface="Cambria"/>
                <a:ea typeface="Cambria"/>
                <a:cs typeface="Cambria"/>
              </a:rPr>
              <a:t xml:space="preserve"> = 0.390 / 1.86 = 0.210 mol/kg</a:t>
            </a:r>
          </a:p>
        </p:txBody>
      </p:sp>
      <p:sp>
        <p:nvSpPr>
          <p:cNvPr id="105" name="Text 5"/>
          <p:cNvSpPr txBox="1"/>
          <p:nvPr/>
        </p:nvSpPr>
        <p:spPr>
          <a:xfrm>
            <a:off x="6615813" y="4766816"/>
            <a:ext cx="3012558" cy="425053"/>
          </a:xfrm>
          <a:prstGeom prst="rect">
            <a:avLst/>
          </a:prstGeom>
          <a:noFill/>
        </p:spPr>
        <p:txBody>
          <a:bodyPr wrap="none" lIns="0" tIns="0" rIns="0" bIns="0" rtlCol="0" anchor="ctr" anchorCtr="1">
            <a:noAutofit/>
          </a:bodyPr>
          <a:lstStyle/>
          <a:p>
            <a:pPr algn="ctr" rtl="1">
              <a:lnSpc>
                <a:spcPct val="100000"/>
              </a:lnSpc>
              <a:buNone/>
            </a:pPr>
            <a:r>
              <a:rPr lang="ar-SA" sz="1870" b="1" i="0" dirty="0">
                <a:solidFill>
                  <a:srgbClr val="FFFFFF"/>
                </a:solidFill>
                <a:latin typeface="Tahoma"/>
                <a:ea typeface="Tahoma"/>
                <a:cs typeface="Tahoma"/>
              </a:rPr>
              <a:t>حساب عدد المولات:</a:t>
            </a:r>
          </a:p>
        </p:txBody>
      </p:sp>
      <p:sp>
        <p:nvSpPr>
          <p:cNvPr id="106" name="Text 6"/>
          <p:cNvSpPr txBox="1"/>
          <p:nvPr/>
        </p:nvSpPr>
        <p:spPr>
          <a:xfrm>
            <a:off x="5304465" y="5197772"/>
            <a:ext cx="5635255" cy="909141"/>
          </a:xfrm>
          <a:prstGeom prst="rect">
            <a:avLst/>
          </a:prstGeom>
          <a:noFill/>
        </p:spPr>
        <p:txBody>
          <a:bodyPr wrap="none" lIns="0" tIns="0" rIns="0" bIns="0" rtlCol="0" anchor="ctr" anchorCtr="1">
            <a:noAutofit/>
          </a:bodyPr>
          <a:lstStyle/>
          <a:p>
            <a:pPr algn="ctr" rtl="1">
              <a:lnSpc>
                <a:spcPct val="118000"/>
              </a:lnSpc>
              <a:buNone/>
            </a:pPr>
            <a:r>
              <a:rPr lang="ar-SA" sz="1840" b="1" i="0" dirty="0">
                <a:solidFill>
                  <a:srgbClr val="FFFFFF"/>
                </a:solidFill>
                <a:latin typeface="Tahoma"/>
                <a:ea typeface="Tahoma"/>
                <a:cs typeface="Tahoma"/>
              </a:rPr>
              <a:t>التركيز المولالي × كتلة المذيب بالكيلوجرام</a:t>
            </a:r>
          </a:p>
          <a:p>
            <a:pPr rtl="0" algn="ctr">
              <a:lnSpc>
                <a:spcPct val="118000"/>
              </a:lnSpc>
              <a:buNone/>
            </a:pPr>
            <a:r>
              <a:rPr lang="en-US" sz="1840" b="1" i="0" dirty="0">
                <a:solidFill>
                  <a:srgbClr val="FFFFFF"/>
                </a:solidFill>
                <a:latin typeface="Tahoma"/>
                <a:ea typeface="Tahoma"/>
                <a:cs typeface="Tahoma"/>
              </a:rPr>
              <a:t>n = m × kg</a:t>
            </a:r>
            <a:r>
              <a:rPr baseline="-25000" lang="en-US" sz="1840" b="1" i="0" dirty="0">
                <a:solidFill>
                  <a:srgbClr val="FFFFFF"/>
                </a:solidFill>
                <a:latin typeface="Tahoma"/>
                <a:ea typeface="Tahoma"/>
                <a:cs typeface="Tahoma"/>
              </a:rPr>
              <a:t>solvent</a:t>
            </a:r>
            <a:r>
              <a:rPr lang="en-US" sz="1840" b="1" i="0" dirty="0">
                <a:solidFill>
                  <a:srgbClr val="FFFFFF"/>
                </a:solidFill>
                <a:latin typeface="Tahoma"/>
                <a:ea typeface="Tahoma"/>
                <a:cs typeface="Tahoma"/>
              </a:rPr>
              <a:t xml:space="preserve"> = 0.210 × 0.475 = 0.0997 mol</a:t>
            </a:r>
          </a:p>
        </p:txBody>
      </p:sp>
      <p:sp>
        <p:nvSpPr>
          <p:cNvPr id="107" name="Text 7"/>
          <p:cNvSpPr txBox="1"/>
          <p:nvPr/>
        </p:nvSpPr>
        <p:spPr>
          <a:xfrm>
            <a:off x="6506073" y="6927502"/>
            <a:ext cx="3243853" cy="425053"/>
          </a:xfrm>
          <a:prstGeom prst="rect">
            <a:avLst/>
          </a:prstGeom>
          <a:noFill/>
        </p:spPr>
        <p:txBody>
          <a:bodyPr wrap="none" lIns="0" tIns="0" rIns="0" bIns="0" rtlCol="0" anchor="ctr" anchorCtr="1">
            <a:noAutofit/>
          </a:bodyPr>
          <a:lstStyle/>
          <a:p>
            <a:pPr algn="ctr" rtl="1">
              <a:lnSpc>
                <a:spcPct val="100000"/>
              </a:lnSpc>
              <a:buNone/>
            </a:pPr>
            <a:r>
              <a:rPr lang="ar-SA" sz="1840" b="1" i="0" dirty="0">
                <a:solidFill>
                  <a:srgbClr val="FFFFFF"/>
                </a:solidFill>
                <a:latin typeface="Tahoma"/>
                <a:ea typeface="Tahoma"/>
                <a:cs typeface="Tahoma"/>
              </a:rPr>
              <a:t>استنتاج الكتلة المولية:</a:t>
            </a:r>
          </a:p>
        </p:txBody>
      </p:sp>
      <p:sp>
        <p:nvSpPr>
          <p:cNvPr id="108" name="Text 8"/>
          <p:cNvSpPr txBox="1"/>
          <p:nvPr/>
        </p:nvSpPr>
        <p:spPr>
          <a:xfrm>
            <a:off x="5711123" y="7352555"/>
            <a:ext cx="4821938" cy="897334"/>
          </a:xfrm>
          <a:prstGeom prst="rect">
            <a:avLst/>
          </a:prstGeom>
          <a:noFill/>
        </p:spPr>
        <p:txBody>
          <a:bodyPr wrap="none" lIns="0" tIns="0" rIns="0" bIns="0" rtlCol="0" anchor="ctr" anchorCtr="1">
            <a:noAutofit/>
          </a:bodyPr>
          <a:lstStyle/>
          <a:p>
            <a:pPr algn="ctr" rtl="1">
              <a:lnSpc>
                <a:spcPct val="118000"/>
              </a:lnSpc>
              <a:buNone/>
            </a:pPr>
            <a:r>
              <a:rPr lang="ar-SA" sz="1910" b="1" i="0" dirty="0">
                <a:solidFill>
                  <a:srgbClr val="FFFFFF"/>
                </a:solidFill>
                <a:latin typeface="Tahoma"/>
                <a:ea typeface="Tahoma"/>
                <a:cs typeface="Tahoma"/>
              </a:rPr>
              <a:t>الكتلة (g) ÷ عدد المولات (mol)</a:t>
            </a:r>
          </a:p>
          <a:p>
            <a:pPr rtl="0" algn="ctr">
              <a:lnSpc>
                <a:spcPct val="118000"/>
              </a:lnSpc>
              <a:buNone/>
            </a:pPr>
            <a:r>
              <a:rPr lang="en-US" sz="1910" b="1" i="0" dirty="0">
                <a:solidFill>
                  <a:srgbClr val="FFFFFF"/>
                </a:solidFill>
                <a:latin typeface="Tahoma"/>
                <a:ea typeface="Tahoma"/>
                <a:cs typeface="Tahoma"/>
              </a:rPr>
              <a:t>M</a:t>
            </a:r>
            <a:r>
              <a:rPr baseline="-25000" lang="en-US" sz="1910" b="1" i="0" dirty="0">
                <a:solidFill>
                  <a:srgbClr val="FFFFFF"/>
                </a:solidFill>
                <a:latin typeface="Tahoma"/>
                <a:ea typeface="Tahoma"/>
                <a:cs typeface="Tahoma"/>
              </a:rPr>
              <a:t>wt</a:t>
            </a:r>
            <a:r>
              <a:rPr lang="en-US" sz="1910" b="1" i="0" dirty="0">
                <a:solidFill>
                  <a:srgbClr val="FFFFFF"/>
                </a:solidFill>
                <a:latin typeface="Tahoma"/>
                <a:ea typeface="Tahoma"/>
                <a:cs typeface="Tahoma"/>
              </a:rPr>
              <a:t xml:space="preserve"> = m</a:t>
            </a:r>
            <a:r>
              <a:rPr baseline="-25000" lang="en-US" sz="1910" b="1" i="0" dirty="0">
                <a:solidFill>
                  <a:srgbClr val="FFFFFF"/>
                </a:solidFill>
                <a:latin typeface="Tahoma"/>
                <a:ea typeface="Tahoma"/>
                <a:cs typeface="Tahoma"/>
              </a:rPr>
              <a:t>s</a:t>
            </a:r>
            <a:r>
              <a:rPr lang="en-US" sz="1910" b="1" i="0" dirty="0">
                <a:solidFill>
                  <a:srgbClr val="FFFFFF"/>
                </a:solidFill>
                <a:latin typeface="Tahoma"/>
                <a:ea typeface="Tahoma"/>
                <a:cs typeface="Tahoma"/>
              </a:rPr>
              <a:t xml:space="preserve"> / n = 3.9 / 0.0997 = 39.2 g/mol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600"/>
                                        <p:tgtEl>
                                          <p:spTgt spid="101"/>
                                        </p:tgtEl>
                                      </p:cBhvr>
                                    </p:animEffect>
                                    <p:anim calcmode="lin" valueType="num">
                                      <p:cBhvr>
                                        <p:cTn id="8" dur="600" fill="hold"/>
                                        <p:tgtEl>
                                          <p:spTgt spid="101"/>
                                        </p:tgtEl>
                                        <p:attrNameLst>
                                          <p:attrName>ppt_w</p:attrName>
                                        </p:attrNameLst>
                                      </p:cBhvr>
                                      <p:tavLst>
                                        <p:tav tm="0">
                                          <p:val>
                                            <p:strVal val="0"/>
                                          </p:val>
                                        </p:tav>
                                        <p:tav tm="100000">
                                          <p:val>
                                            <p:strVal val="#ppt_w"/>
                                          </p:val>
                                        </p:tav>
                                      </p:tavLst>
                                    </p:anim>
                                    <p:anim calcmode="lin" valueType="num">
                                      <p:cBhvr>
                                        <p:cTn id="9"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1" presetID="42" presetClass="entr" presetSubtype="0" fill="hold" grpId="0" nodeType="after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600"/>
                                        <p:tgtEl>
                                          <p:spTgt spid="102"/>
                                        </p:tgtEl>
                                      </p:cBhvr>
                                    </p:animEffect>
                                    <p:anim calcmode="lin" valueType="num">
                                      <p:cBhvr>
                                        <p:cTn id="14" dur="600" fill="hold"/>
                                        <p:tgtEl>
                                          <p:spTgt spid="102"/>
                                        </p:tgtEl>
                                        <p:attrNameLst>
                                          <p:attrName>ppt_x</p:attrName>
                                        </p:attrNameLst>
                                      </p:cBhvr>
                                      <p:tavLst>
                                        <p:tav tm="0">
                                          <p:val>
                                            <p:strVal val="#ppt_x"/>
                                          </p:val>
                                        </p:tav>
                                        <p:tav tm="100000">
                                          <p:val>
                                            <p:strVal val="#ppt_x"/>
                                          </p:val>
                                        </p:tav>
                                      </p:tavLst>
                                    </p:anim>
                                    <p:anim calcmode="lin" valueType="num">
                                      <p:cBhvr>
                                        <p:cTn id="15" dur="600" fill="hold"/>
                                        <p:tgtEl>
                                          <p:spTgt spid="102"/>
                                        </p:tgtEl>
                                        <p:attrNameLst>
                                          <p:attrName>ppt_y</p:attrName>
                                        </p:attrNameLst>
                                      </p:cBhvr>
                                      <p:tavLst>
                                        <p:tav tm="0">
                                          <p:val>
                                            <p:strVal val="#ppt_y+.1"/>
                                          </p:val>
                                        </p:tav>
                                        <p:tav tm="100000">
                                          <p:val>
                                            <p:strVal val="#ppt_y"/>
                                          </p:val>
                                        </p:tav>
                                      </p:tavLst>
                                    </p:anim>
                                  </p:childTnLst>
                                </p:cTn>
                              </p:par>
                            </p:childTnLst>
                          </p:cTn>
                        </p:par>
                        <p:par>
                          <p:cTn id="16" fill="hold">
                            <p:stCondLst>
                              <p:cond delay="1400"/>
                            </p:stCondLst>
                            <p:childTnLst>
                              <p:par>
                                <p:cTn id="17" presetID="42" presetClass="entr" presetSubtype="0" fill="hold" grpId="0" nodeType="afterEffect">
                                  <p:stCondLst>
                                    <p:cond delay="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600"/>
                                        <p:tgtEl>
                                          <p:spTgt spid="103"/>
                                        </p:tgtEl>
                                      </p:cBhvr>
                                    </p:animEffect>
                                    <p:anim calcmode="lin" valueType="num">
                                      <p:cBhvr>
                                        <p:cTn id="20" dur="600" fill="hold"/>
                                        <p:tgtEl>
                                          <p:spTgt spid="103"/>
                                        </p:tgtEl>
                                        <p:attrNameLst>
                                          <p:attrName>ppt_x</p:attrName>
                                        </p:attrNameLst>
                                      </p:cBhvr>
                                      <p:tavLst>
                                        <p:tav tm="0">
                                          <p:val>
                                            <p:strVal val="#ppt_x"/>
                                          </p:val>
                                        </p:tav>
                                        <p:tav tm="100000">
                                          <p:val>
                                            <p:strVal val="#ppt_x"/>
                                          </p:val>
                                        </p:tav>
                                      </p:tavLst>
                                    </p:anim>
                                    <p:anim calcmode="lin" valueType="num">
                                      <p:cBhvr>
                                        <p:cTn id="21" dur="600" fill="hold"/>
                                        <p:tgtEl>
                                          <p:spTgt spid="103"/>
                                        </p:tgtEl>
                                        <p:attrNameLst>
                                          <p:attrName>ppt_y</p:attrName>
                                        </p:attrNameLst>
                                      </p:cBhvr>
                                      <p:tavLst>
                                        <p:tav tm="0">
                                          <p:val>
                                            <p:strVal val="#ppt_y+.1"/>
                                          </p:val>
                                        </p:tav>
                                        <p:tav tm="100000">
                                          <p:val>
                                            <p:strVal val="#ppt_y"/>
                                          </p:val>
                                        </p:tav>
                                      </p:tavLst>
                                    </p:anim>
                                  </p:childTnLst>
                                </p:cTn>
                              </p:par>
                            </p:childTnLst>
                          </p:cTn>
                        </p:par>
                        <p:par>
                          <p:cTn id="22" fill="hold">
                            <p:stCondLst>
                              <p:cond delay="2100"/>
                            </p:stCondLst>
                            <p:childTnLst>
                              <p:par>
                                <p:cTn id="23" presetID="22" presetClass="entr" presetSubtype="2" fill="hold" grpId="0" nodeType="afterEffect">
                                  <p:stCondLst>
                                    <p:cond delay="0"/>
                                  </p:stCondLst>
                                  <p:childTnLst>
                                    <p:set>
                                      <p:cBhvr>
                                        <p:cTn id="24" dur="1" fill="hold">
                                          <p:stCondLst>
                                            <p:cond delay="0"/>
                                          </p:stCondLst>
                                        </p:cTn>
                                        <p:tgtEl>
                                          <p:spTgt spid="104"/>
                                        </p:tgtEl>
                                        <p:attrNameLst>
                                          <p:attrName>style.visibility</p:attrName>
                                        </p:attrNameLst>
                                      </p:cBhvr>
                                      <p:to>
                                        <p:strVal val="visible"/>
                                      </p:to>
                                    </p:set>
                                    <p:animEffect transition="in" filter="wipe(right)">
                                      <p:cBhvr>
                                        <p:cTn id="25" dur="700"/>
                                        <p:tgtEl>
                                          <p:spTgt spid="104"/>
                                        </p:tgtEl>
                                      </p:cBhvr>
                                    </p:animEffect>
                                  </p:childTnLst>
                                </p:cTn>
                              </p:par>
                            </p:childTnLst>
                          </p:cTn>
                        </p:par>
                        <p:par>
                          <p:cTn id="26" fill="hold">
                            <p:stCondLst>
                              <p:cond delay="2900"/>
                            </p:stCondLst>
                            <p:childTnLst>
                              <p:par>
                                <p:cTn id="27" presetID="42" presetClass="entr" presetSubtype="0" fill="hold" grpId="0" nodeType="afterEffect">
                                  <p:stCondLst>
                                    <p:cond delay="0"/>
                                  </p:stCondLst>
                                  <p:childTnLst>
                                    <p:set>
                                      <p:cBhvr>
                                        <p:cTn id="28" dur="1" fill="hold">
                                          <p:stCondLst>
                                            <p:cond delay="0"/>
                                          </p:stCondLst>
                                        </p:cTn>
                                        <p:tgtEl>
                                          <p:spTgt spid="105"/>
                                        </p:tgtEl>
                                        <p:attrNameLst>
                                          <p:attrName>style.visibility</p:attrName>
                                        </p:attrNameLst>
                                      </p:cBhvr>
                                      <p:to>
                                        <p:strVal val="visible"/>
                                      </p:to>
                                    </p:set>
                                    <p:animEffect transition="in" filter="fade">
                                      <p:cBhvr>
                                        <p:cTn id="29" dur="600"/>
                                        <p:tgtEl>
                                          <p:spTgt spid="105"/>
                                        </p:tgtEl>
                                      </p:cBhvr>
                                    </p:animEffect>
                                    <p:anim calcmode="lin" valueType="num">
                                      <p:cBhvr>
                                        <p:cTn id="30" dur="600" fill="hold"/>
                                        <p:tgtEl>
                                          <p:spTgt spid="105"/>
                                        </p:tgtEl>
                                        <p:attrNameLst>
                                          <p:attrName>ppt_x</p:attrName>
                                        </p:attrNameLst>
                                      </p:cBhvr>
                                      <p:tavLst>
                                        <p:tav tm="0">
                                          <p:val>
                                            <p:strVal val="#ppt_x"/>
                                          </p:val>
                                        </p:tav>
                                        <p:tav tm="100000">
                                          <p:val>
                                            <p:strVal val="#ppt_x"/>
                                          </p:val>
                                        </p:tav>
                                      </p:tavLst>
                                    </p:anim>
                                    <p:anim calcmode="lin" valueType="num">
                                      <p:cBhvr>
                                        <p:cTn id="31" dur="600" fill="hold"/>
                                        <p:tgtEl>
                                          <p:spTgt spid="105"/>
                                        </p:tgtEl>
                                        <p:attrNameLst>
                                          <p:attrName>ppt_y</p:attrName>
                                        </p:attrNameLst>
                                      </p:cBhvr>
                                      <p:tavLst>
                                        <p:tav tm="0">
                                          <p:val>
                                            <p:strVal val="#ppt_y+.1"/>
                                          </p:val>
                                        </p:tav>
                                        <p:tav tm="100000">
                                          <p:val>
                                            <p:strVal val="#ppt_y"/>
                                          </p:val>
                                        </p:tav>
                                      </p:tavLst>
                                    </p:anim>
                                  </p:childTnLst>
                                </p:cTn>
                              </p:par>
                            </p:childTnLst>
                          </p:cTn>
                        </p:par>
                        <p:par>
                          <p:cTn id="32" fill="hold">
                            <p:stCondLst>
                              <p:cond delay="3600"/>
                            </p:stCondLst>
                            <p:childTnLst>
                              <p:par>
                                <p:cTn id="33" presetID="42" presetClass="entr" presetSubtype="0" fill="hold" grpId="0" nodeType="afterEffect">
                                  <p:stCondLst>
                                    <p:cond delay="0"/>
                                  </p:stCondLst>
                                  <p:childTnLst>
                                    <p:set>
                                      <p:cBhvr>
                                        <p:cTn id="34" dur="1" fill="hold">
                                          <p:stCondLst>
                                            <p:cond delay="0"/>
                                          </p:stCondLst>
                                        </p:cTn>
                                        <p:tgtEl>
                                          <p:spTgt spid="106">
                                            <p:txEl>
                                              <p:pRg st="0" end="0"/>
                                            </p:txEl>
                                          </p:spTgt>
                                        </p:tgtEl>
                                        <p:attrNameLst>
                                          <p:attrName>style.visibility</p:attrName>
                                        </p:attrNameLst>
                                      </p:cBhvr>
                                      <p:to>
                                        <p:strVal val="visible"/>
                                      </p:to>
                                    </p:set>
                                    <p:animEffect transition="in" filter="fade">
                                      <p:cBhvr>
                                        <p:cTn id="35" dur="600"/>
                                        <p:tgtEl>
                                          <p:spTgt spid="106">
                                            <p:txEl>
                                              <p:pRg st="0" end="0"/>
                                            </p:txEl>
                                          </p:spTgt>
                                        </p:tgtEl>
                                      </p:cBhvr>
                                    </p:animEffect>
                                    <p:anim calcmode="lin" valueType="num">
                                      <p:cBhvr>
                                        <p:cTn id="36" dur="600" fill="hold"/>
                                        <p:tgtEl>
                                          <p:spTgt spid="106">
                                            <p:txEl>
                                              <p:pRg st="0" end="0"/>
                                            </p:txEl>
                                          </p:spTgt>
                                        </p:tgtEl>
                                        <p:attrNameLst>
                                          <p:attrName>ppt_x</p:attrName>
                                        </p:attrNameLst>
                                      </p:cBhvr>
                                      <p:tavLst>
                                        <p:tav tm="0">
                                          <p:val>
                                            <p:strVal val="#ppt_x"/>
                                          </p:val>
                                        </p:tav>
                                        <p:tav tm="100000">
                                          <p:val>
                                            <p:strVal val="#ppt_x"/>
                                          </p:val>
                                        </p:tav>
                                      </p:tavLst>
                                    </p:anim>
                                    <p:anim calcmode="lin" valueType="num">
                                      <p:cBhvr>
                                        <p:cTn id="37" dur="600" fill="hold"/>
                                        <p:tgtEl>
                                          <p:spTgt spid="106">
                                            <p:txEl>
                                              <p:pRg st="0" end="0"/>
                                            </p:txEl>
                                          </p:spTgt>
                                        </p:tgtEl>
                                        <p:attrNameLst>
                                          <p:attrName>ppt_y</p:attrName>
                                        </p:attrNameLst>
                                      </p:cBhvr>
                                      <p:tavLst>
                                        <p:tav tm="0">
                                          <p:val>
                                            <p:strVal val="#ppt_y+.1"/>
                                          </p:val>
                                        </p:tav>
                                        <p:tav tm="100000">
                                          <p:val>
                                            <p:strVal val="#ppt_y"/>
                                          </p:val>
                                        </p:tav>
                                      </p:tavLst>
                                    </p:anim>
                                  </p:childTnLst>
                                </p:cTn>
                              </p:par>
                            </p:childTnLst>
                          </p:cTn>
                        </p:par>
                        <p:par>
                          <p:cTn id="38" fill="hold">
                            <p:stCondLst>
                              <p:cond delay="4300"/>
                            </p:stCondLst>
                            <p:childTnLst>
                              <p:par>
                                <p:cTn id="39" presetID="42" presetClass="entr" presetSubtype="0" fill="hold" grpId="0" nodeType="afterEffect">
                                  <p:stCondLst>
                                    <p:cond delay="0"/>
                                  </p:stCondLst>
                                  <p:childTnLst>
                                    <p:set>
                                      <p:cBhvr>
                                        <p:cTn id="40" dur="1" fill="hold">
                                          <p:stCondLst>
                                            <p:cond delay="0"/>
                                          </p:stCondLst>
                                        </p:cTn>
                                        <p:tgtEl>
                                          <p:spTgt spid="106">
                                            <p:txEl>
                                              <p:pRg st="1" end="1"/>
                                            </p:txEl>
                                          </p:spTgt>
                                        </p:tgtEl>
                                        <p:attrNameLst>
                                          <p:attrName>style.visibility</p:attrName>
                                        </p:attrNameLst>
                                      </p:cBhvr>
                                      <p:to>
                                        <p:strVal val="visible"/>
                                      </p:to>
                                    </p:set>
                                    <p:animEffect transition="in" filter="fade">
                                      <p:cBhvr>
                                        <p:cTn id="41" dur="600"/>
                                        <p:tgtEl>
                                          <p:spTgt spid="106">
                                            <p:txEl>
                                              <p:pRg st="1" end="1"/>
                                            </p:txEl>
                                          </p:spTgt>
                                        </p:tgtEl>
                                      </p:cBhvr>
                                    </p:animEffect>
                                    <p:anim calcmode="lin" valueType="num">
                                      <p:cBhvr>
                                        <p:cTn id="42" dur="600" fill="hold"/>
                                        <p:tgtEl>
                                          <p:spTgt spid="106">
                                            <p:txEl>
                                              <p:pRg st="1" end="1"/>
                                            </p:txEl>
                                          </p:spTgt>
                                        </p:tgtEl>
                                        <p:attrNameLst>
                                          <p:attrName>ppt_x</p:attrName>
                                        </p:attrNameLst>
                                      </p:cBhvr>
                                      <p:tavLst>
                                        <p:tav tm="0">
                                          <p:val>
                                            <p:strVal val="#ppt_x"/>
                                          </p:val>
                                        </p:tav>
                                        <p:tav tm="100000">
                                          <p:val>
                                            <p:strVal val="#ppt_x"/>
                                          </p:val>
                                        </p:tav>
                                      </p:tavLst>
                                    </p:anim>
                                    <p:anim calcmode="lin" valueType="num">
                                      <p:cBhvr>
                                        <p:cTn id="43" dur="600" fill="hold"/>
                                        <p:tgtEl>
                                          <p:spTgt spid="106">
                                            <p:txEl>
                                              <p:pRg st="1" end="1"/>
                                            </p:txEl>
                                          </p:spTgt>
                                        </p:tgtEl>
                                        <p:attrNameLst>
                                          <p:attrName>ppt_y</p:attrName>
                                        </p:attrNameLst>
                                      </p:cBhvr>
                                      <p:tavLst>
                                        <p:tav tm="0">
                                          <p:val>
                                            <p:strVal val="#ppt_y+.1"/>
                                          </p:val>
                                        </p:tav>
                                        <p:tav tm="100000">
                                          <p:val>
                                            <p:strVal val="#ppt_y"/>
                                          </p:val>
                                        </p:tav>
                                      </p:tavLst>
                                    </p:anim>
                                  </p:childTnLst>
                                </p:cTn>
                              </p:par>
                            </p:childTnLst>
                          </p:cTn>
                        </p:par>
                        <p:par>
                          <p:cTn id="44" fill="hold">
                            <p:stCondLst>
                              <p:cond delay="5000"/>
                            </p:stCondLst>
                            <p:childTnLst>
                              <p:par>
                                <p:cTn id="45" presetID="42" presetClass="entr" presetSubtype="0" fill="hold" grpId="0" nodeType="afterEffect">
                                  <p:stCondLst>
                                    <p:cond delay="0"/>
                                  </p:stCondLst>
                                  <p:childTnLst>
                                    <p:set>
                                      <p:cBhvr>
                                        <p:cTn id="46" dur="1" fill="hold">
                                          <p:stCondLst>
                                            <p:cond delay="0"/>
                                          </p:stCondLst>
                                        </p:cTn>
                                        <p:tgtEl>
                                          <p:spTgt spid="107"/>
                                        </p:tgtEl>
                                        <p:attrNameLst>
                                          <p:attrName>style.visibility</p:attrName>
                                        </p:attrNameLst>
                                      </p:cBhvr>
                                      <p:to>
                                        <p:strVal val="visible"/>
                                      </p:to>
                                    </p:set>
                                    <p:animEffect transition="in" filter="fade">
                                      <p:cBhvr>
                                        <p:cTn id="47" dur="600"/>
                                        <p:tgtEl>
                                          <p:spTgt spid="107"/>
                                        </p:tgtEl>
                                      </p:cBhvr>
                                    </p:animEffect>
                                    <p:anim calcmode="lin" valueType="num">
                                      <p:cBhvr>
                                        <p:cTn id="48" dur="600" fill="hold"/>
                                        <p:tgtEl>
                                          <p:spTgt spid="107"/>
                                        </p:tgtEl>
                                        <p:attrNameLst>
                                          <p:attrName>ppt_x</p:attrName>
                                        </p:attrNameLst>
                                      </p:cBhvr>
                                      <p:tavLst>
                                        <p:tav tm="0">
                                          <p:val>
                                            <p:strVal val="#ppt_x"/>
                                          </p:val>
                                        </p:tav>
                                        <p:tav tm="100000">
                                          <p:val>
                                            <p:strVal val="#ppt_x"/>
                                          </p:val>
                                        </p:tav>
                                      </p:tavLst>
                                    </p:anim>
                                    <p:anim calcmode="lin" valueType="num">
                                      <p:cBhvr>
                                        <p:cTn id="49" dur="600" fill="hold"/>
                                        <p:tgtEl>
                                          <p:spTgt spid="107"/>
                                        </p:tgtEl>
                                        <p:attrNameLst>
                                          <p:attrName>ppt_y</p:attrName>
                                        </p:attrNameLst>
                                      </p:cBhvr>
                                      <p:tavLst>
                                        <p:tav tm="0">
                                          <p:val>
                                            <p:strVal val="#ppt_y+.1"/>
                                          </p:val>
                                        </p:tav>
                                        <p:tav tm="100000">
                                          <p:val>
                                            <p:strVal val="#ppt_y"/>
                                          </p:val>
                                        </p:tav>
                                      </p:tavLst>
                                    </p:anim>
                                  </p:childTnLst>
                                </p:cTn>
                              </p:par>
                            </p:childTnLst>
                          </p:cTn>
                        </p:par>
                        <p:par>
                          <p:cTn id="50" fill="hold">
                            <p:stCondLst>
                              <p:cond delay="5700"/>
                            </p:stCondLst>
                            <p:childTnLst>
                              <p:par>
                                <p:cTn id="51" presetID="42" presetClass="entr" presetSubtype="0" fill="hold" grpId="0" nodeType="afterEffect">
                                  <p:stCondLst>
                                    <p:cond delay="0"/>
                                  </p:stCondLst>
                                  <p:childTnLst>
                                    <p:set>
                                      <p:cBhvr>
                                        <p:cTn id="52" dur="1" fill="hold">
                                          <p:stCondLst>
                                            <p:cond delay="0"/>
                                          </p:stCondLst>
                                        </p:cTn>
                                        <p:tgtEl>
                                          <p:spTgt spid="108">
                                            <p:txEl>
                                              <p:pRg st="0" end="0"/>
                                            </p:txEl>
                                          </p:spTgt>
                                        </p:tgtEl>
                                        <p:attrNameLst>
                                          <p:attrName>style.visibility</p:attrName>
                                        </p:attrNameLst>
                                      </p:cBhvr>
                                      <p:to>
                                        <p:strVal val="visible"/>
                                      </p:to>
                                    </p:set>
                                    <p:animEffect transition="in" filter="fade">
                                      <p:cBhvr>
                                        <p:cTn id="53" dur="600"/>
                                        <p:tgtEl>
                                          <p:spTgt spid="108">
                                            <p:txEl>
                                              <p:pRg st="0" end="0"/>
                                            </p:txEl>
                                          </p:spTgt>
                                        </p:tgtEl>
                                      </p:cBhvr>
                                    </p:animEffect>
                                    <p:anim calcmode="lin" valueType="num">
                                      <p:cBhvr>
                                        <p:cTn id="54" dur="600" fill="hold"/>
                                        <p:tgtEl>
                                          <p:spTgt spid="108">
                                            <p:txEl>
                                              <p:pRg st="0" end="0"/>
                                            </p:txEl>
                                          </p:spTgt>
                                        </p:tgtEl>
                                        <p:attrNameLst>
                                          <p:attrName>ppt_x</p:attrName>
                                        </p:attrNameLst>
                                      </p:cBhvr>
                                      <p:tavLst>
                                        <p:tav tm="0">
                                          <p:val>
                                            <p:strVal val="#ppt_x"/>
                                          </p:val>
                                        </p:tav>
                                        <p:tav tm="100000">
                                          <p:val>
                                            <p:strVal val="#ppt_x"/>
                                          </p:val>
                                        </p:tav>
                                      </p:tavLst>
                                    </p:anim>
                                    <p:anim calcmode="lin" valueType="num">
                                      <p:cBhvr>
                                        <p:cTn id="55" dur="600" fill="hold"/>
                                        <p:tgtEl>
                                          <p:spTgt spid="108">
                                            <p:txEl>
                                              <p:pRg st="0" end="0"/>
                                            </p:txEl>
                                          </p:spTgt>
                                        </p:tgtEl>
                                        <p:attrNameLst>
                                          <p:attrName>ppt_y</p:attrName>
                                        </p:attrNameLst>
                                      </p:cBhvr>
                                      <p:tavLst>
                                        <p:tav tm="0">
                                          <p:val>
                                            <p:strVal val="#ppt_y+.1"/>
                                          </p:val>
                                        </p:tav>
                                        <p:tav tm="100000">
                                          <p:val>
                                            <p:strVal val="#ppt_y"/>
                                          </p:val>
                                        </p:tav>
                                      </p:tavLst>
                                    </p:anim>
                                  </p:childTnLst>
                                </p:cTn>
                              </p:par>
                            </p:childTnLst>
                          </p:cTn>
                        </p:par>
                        <p:par>
                          <p:cTn id="56" fill="hold">
                            <p:stCondLst>
                              <p:cond delay="6400"/>
                            </p:stCondLst>
                            <p:childTnLst>
                              <p:par>
                                <p:cTn id="57" presetID="42" presetClass="entr" presetSubtype="0" fill="hold" grpId="0" nodeType="afterEffect">
                                  <p:stCondLst>
                                    <p:cond delay="0"/>
                                  </p:stCondLst>
                                  <p:childTnLst>
                                    <p:set>
                                      <p:cBhvr>
                                        <p:cTn id="58" dur="1" fill="hold">
                                          <p:stCondLst>
                                            <p:cond delay="0"/>
                                          </p:stCondLst>
                                        </p:cTn>
                                        <p:tgtEl>
                                          <p:spTgt spid="108">
                                            <p:txEl>
                                              <p:pRg st="1" end="1"/>
                                            </p:txEl>
                                          </p:spTgt>
                                        </p:tgtEl>
                                        <p:attrNameLst>
                                          <p:attrName>style.visibility</p:attrName>
                                        </p:attrNameLst>
                                      </p:cBhvr>
                                      <p:to>
                                        <p:strVal val="visible"/>
                                      </p:to>
                                    </p:set>
                                    <p:animEffect transition="in" filter="fade">
                                      <p:cBhvr>
                                        <p:cTn id="59" dur="600"/>
                                        <p:tgtEl>
                                          <p:spTgt spid="108">
                                            <p:txEl>
                                              <p:pRg st="1" end="1"/>
                                            </p:txEl>
                                          </p:spTgt>
                                        </p:tgtEl>
                                      </p:cBhvr>
                                    </p:animEffect>
                                    <p:anim calcmode="lin" valueType="num">
                                      <p:cBhvr>
                                        <p:cTn id="60" dur="600" fill="hold"/>
                                        <p:tgtEl>
                                          <p:spTgt spid="108">
                                            <p:txEl>
                                              <p:pRg st="1" end="1"/>
                                            </p:txEl>
                                          </p:spTgt>
                                        </p:tgtEl>
                                        <p:attrNameLst>
                                          <p:attrName>ppt_x</p:attrName>
                                        </p:attrNameLst>
                                      </p:cBhvr>
                                      <p:tavLst>
                                        <p:tav tm="0">
                                          <p:val>
                                            <p:strVal val="#ppt_x"/>
                                          </p:val>
                                        </p:tav>
                                        <p:tav tm="100000">
                                          <p:val>
                                            <p:strVal val="#ppt_x"/>
                                          </p:val>
                                        </p:tav>
                                      </p:tavLst>
                                    </p:anim>
                                    <p:anim calcmode="lin" valueType="num">
                                      <p:cBhvr>
                                        <p:cTn id="61" dur="600" fill="hold"/>
                                        <p:tgtEl>
                                          <p:spTgt spid="10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P spid="104" grpId="0"/>
      <p:bldP spid="105" grpId="0"/>
      <p:bldP spid="106" grpId="0" build="p"/>
      <p:bldP spid="107" grpId="0"/>
      <p:bldP spid="108"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38100"/>
            <a:ext cx="16256000" cy="9067800"/>
          </a:xfrm>
          <a:prstGeom prst="rect">
            <a:avLst/>
          </a:prstGeom>
        </p:spPr>
      </p:pic>
      <p:sp>
        <p:nvSpPr>
          <p:cNvPr id="101" name="Text 1"/>
          <p:cNvSpPr txBox="1"/>
          <p:nvPr/>
        </p:nvSpPr>
        <p:spPr>
          <a:xfrm>
            <a:off x="2919430" y="770135"/>
            <a:ext cx="10428952" cy="873720"/>
          </a:xfrm>
          <a:prstGeom prst="rect">
            <a:avLst/>
          </a:prstGeom>
          <a:noFill/>
        </p:spPr>
        <p:txBody>
          <a:bodyPr wrap="none" lIns="0" tIns="0" rIns="0" bIns="0" rtlCol="0" anchor="ctr" anchorCtr="1">
            <a:noAutofit/>
          </a:bodyPr>
          <a:lstStyle/>
          <a:p>
            <a:pPr algn="ctr" rtl="1">
              <a:lnSpc>
                <a:spcPct val="100000"/>
              </a:lnSpc>
              <a:buNone/>
            </a:pPr>
            <a:r>
              <a:rPr lang="ar-SA" sz="4730" b="1" i="0" dirty="0">
                <a:solidFill>
                  <a:srgbClr val="FFFFFF"/>
                </a:solidFill>
                <a:latin typeface="Tahoma"/>
                <a:ea typeface="Tahoma"/>
                <a:cs typeface="Tahoma"/>
              </a:rPr>
              <a:t>اختبر إتقانك (مراجعة الدرس ‪4-2‬‏)</a:t>
            </a:r>
          </a:p>
        </p:txBody>
      </p:sp>
      <p:sp>
        <p:nvSpPr>
          <p:cNvPr id="102" name="Text 2"/>
          <p:cNvSpPr txBox="1"/>
          <p:nvPr/>
        </p:nvSpPr>
        <p:spPr>
          <a:xfrm>
            <a:off x="10058196" y="2688778"/>
            <a:ext cx="3452443" cy="519509"/>
          </a:xfrm>
          <a:prstGeom prst="rect">
            <a:avLst/>
          </a:prstGeom>
          <a:noFill/>
        </p:spPr>
        <p:txBody>
          <a:bodyPr wrap="none" lIns="0" tIns="0" rIns="0" bIns="0" rtlCol="0" anchor="ctr" anchorCtr="1">
            <a:noAutofit/>
          </a:bodyPr>
          <a:lstStyle/>
          <a:p>
            <a:pPr algn="ctr" rtl="1">
              <a:lnSpc>
                <a:spcPct val="100000"/>
              </a:lnSpc>
              <a:buNone/>
            </a:pPr>
            <a:r>
              <a:rPr lang="ar-SA" sz="2960" b="1" i="0" dirty="0">
                <a:solidFill>
                  <a:srgbClr val="EDEDED"/>
                </a:solidFill>
                <a:latin typeface="Tahoma"/>
                <a:ea typeface="Tahoma"/>
                <a:cs typeface="Tahoma"/>
              </a:rPr>
              <a:t>التحدي الشامل</a:t>
            </a:r>
          </a:p>
        </p:txBody>
      </p:sp>
      <p:sp>
        <p:nvSpPr>
          <p:cNvPr id="103" name="Text 3"/>
          <p:cNvSpPr txBox="1"/>
          <p:nvPr/>
        </p:nvSpPr>
        <p:spPr>
          <a:xfrm>
            <a:off x="2929860" y="2612032"/>
            <a:ext cx="3118883" cy="519509"/>
          </a:xfrm>
          <a:prstGeom prst="rect">
            <a:avLst/>
          </a:prstGeom>
          <a:noFill/>
        </p:spPr>
        <p:txBody>
          <a:bodyPr wrap="none" lIns="0" tIns="0" rIns="0" bIns="0" rtlCol="0" anchor="ctr" anchorCtr="1">
            <a:noAutofit/>
          </a:bodyPr>
          <a:lstStyle/>
          <a:p>
            <a:pPr algn="ctr" rtl="1">
              <a:lnSpc>
                <a:spcPct val="100000"/>
              </a:lnSpc>
              <a:buNone/>
            </a:pPr>
            <a:r>
              <a:rPr lang="ar-SA" sz="2730" b="1" i="0" dirty="0">
                <a:solidFill>
                  <a:srgbClr val="EDEDED"/>
                </a:solidFill>
                <a:latin typeface="Tahoma"/>
                <a:ea typeface="Tahoma"/>
                <a:cs typeface="Tahoma"/>
              </a:rPr>
              <a:t>تحدي المفهوم</a:t>
            </a:r>
          </a:p>
        </p:txBody>
      </p:sp>
      <p:sp>
        <p:nvSpPr>
          <p:cNvPr id="104" name="Text 4"/>
          <p:cNvSpPr txBox="1"/>
          <p:nvPr/>
        </p:nvSpPr>
        <p:spPr>
          <a:xfrm>
            <a:off x="8446976" y="3438525"/>
            <a:ext cx="6261395" cy="1180703"/>
          </a:xfrm>
          <a:prstGeom prst="rect">
            <a:avLst/>
          </a:prstGeom>
          <a:noFill/>
        </p:spPr>
        <p:txBody>
          <a:bodyPr wrap="square" lIns="0" tIns="0" rIns="0" bIns="0" rtlCol="0" anchor="t">
            <a:noAutofit/>
          </a:bodyPr>
          <a:lstStyle/>
          <a:p>
            <a:pPr algn="r" rtl="1">
              <a:lnSpc>
                <a:spcPct val="100000"/>
              </a:lnSpc>
              <a:buNone/>
            </a:pPr>
            <a:r>
              <a:rPr lang="ar-SA" sz="2100" b="1" i="0" dirty="0">
                <a:solidFill>
                  <a:srgbClr val="FFFFFF"/>
                </a:solidFill>
                <a:latin typeface="Tahoma"/>
                <a:ea typeface="Tahoma"/>
                <a:cs typeface="Tahoma"/>
              </a:rPr>
              <a:t>أُذيب 49.63‎ g من مركب غير إلكتروليتي في 1‎ kg من الماء، علماً أن درجة تجمد هذا المحلول هي 0.27°C-. احسب الكتلة المولية لهذا المركب.</a:t>
            </a:r>
          </a:p>
        </p:txBody>
      </p:sp>
      <p:sp>
        <p:nvSpPr>
          <p:cNvPr id="105" name="Text 5"/>
          <p:cNvSpPr txBox="1"/>
          <p:nvPr/>
        </p:nvSpPr>
        <p:spPr>
          <a:xfrm>
            <a:off x="11589488" y="4814044"/>
            <a:ext cx="3355162" cy="425053"/>
          </a:xfrm>
          <a:prstGeom prst="rect">
            <a:avLst/>
          </a:prstGeom>
          <a:noFill/>
        </p:spPr>
        <p:txBody>
          <a:bodyPr wrap="none" lIns="0" tIns="0" rIns="0" bIns="0" rtlCol="0" anchor="ctr" anchorCtr="1">
            <a:noAutofit/>
          </a:bodyPr>
          <a:lstStyle/>
          <a:p>
            <a:pPr algn="r" rtl="1">
              <a:lnSpc>
                <a:spcPct val="100000"/>
              </a:lnSpc>
              <a:buNone/>
            </a:pPr>
            <a:r>
              <a:rPr lang="ar-SA" sz="1640" b="1" i="0" dirty="0">
                <a:solidFill>
                  <a:srgbClr val="FFFFFF"/>
                </a:solidFill>
                <a:latin typeface="Tahoma"/>
                <a:ea typeface="Tahoma"/>
                <a:cs typeface="Tahoma"/>
              </a:rPr>
              <a:t>(علماً أن K</a:t>
            </a:r>
            <a:r>
              <a:rPr lang="ar-SA" sz="1640" b="1" i="0" baseline="-25000" dirty="0">
                <a:solidFill>
                  <a:srgbClr val="FFFFFF"/>
                </a:solidFill>
                <a:latin typeface="Tahoma"/>
                <a:ea typeface="Tahoma"/>
                <a:cs typeface="Tahoma"/>
              </a:rPr>
              <a:t>fp</a:t>
            </a:r>
            <a:r>
              <a:rPr lang="ar-SA" sz="1640" b="1" i="0" dirty="0">
                <a:solidFill>
                  <a:srgbClr val="FFFFFF"/>
                </a:solidFill>
                <a:latin typeface="Tahoma"/>
                <a:ea typeface="Tahoma"/>
                <a:cs typeface="Tahoma"/>
              </a:rPr>
              <a:t> للماء = 1.86)</a:t>
            </a:r>
          </a:p>
        </p:txBody>
      </p:sp>
      <p:sp>
        <p:nvSpPr>
          <p:cNvPr id="106" name="Text 10"/>
          <p:cNvSpPr txBox="1"/>
          <p:nvPr/>
        </p:nvSpPr>
        <p:spPr>
          <a:xfrm>
            <a:off x="11754883" y="5422106"/>
            <a:ext cx="3012558" cy="991790"/>
          </a:xfrm>
          <a:prstGeom prst="rect">
            <a:avLst/>
          </a:prstGeom>
          <a:noFill/>
        </p:spPr>
        <p:txBody>
          <a:bodyPr wrap="square" lIns="0" tIns="0" rIns="0" bIns="0" rtlCol="0" anchor="ctr">
            <a:noAutofit/>
          </a:bodyPr>
          <a:lstStyle/>
          <a:p>
            <a:pPr algn="ctr" rtl="0">
              <a:lnSpc>
                <a:spcPct val="118000"/>
              </a:lnSpc>
              <a:buNone/>
            </a:pPr>
            <a:r>
              <a:rPr lang="ar-SA" sz="1900" b="1" i="0" dirty="0">
                <a:solidFill>
                  <a:srgbClr val="FFFFFF"/>
                </a:solidFill>
                <a:latin typeface="Tahoma"/>
                <a:ea typeface="Tahoma"/>
                <a:cs typeface="Tahoma"/>
              </a:rPr>
              <a:t>m = ΔT</a:t>
            </a:r>
            <a:r>
              <a:rPr lang="ar-SA" sz="1900" b="1" i="0" baseline="-25000" dirty="0">
                <a:solidFill>
                  <a:srgbClr val="FFFFFF"/>
                </a:solidFill>
                <a:latin typeface="Tahoma"/>
                <a:ea typeface="Tahoma"/>
                <a:cs typeface="Tahoma"/>
              </a:rPr>
              <a:t>fp</a:t>
            </a:r>
            <a:r>
              <a:rPr lang="ar-SA" sz="1900" b="1" i="0" dirty="0">
                <a:solidFill>
                  <a:srgbClr val="FFFFFF"/>
                </a:solidFill>
                <a:latin typeface="Tahoma"/>
                <a:ea typeface="Tahoma"/>
                <a:cs typeface="Tahoma"/>
              </a:rPr>
              <a:t> / K</a:t>
            </a:r>
            <a:r>
              <a:rPr lang="ar-SA" sz="1900" b="1" i="0" baseline="-25000" dirty="0">
                <a:solidFill>
                  <a:srgbClr val="FFFFFF"/>
                </a:solidFill>
                <a:latin typeface="Tahoma"/>
                <a:ea typeface="Tahoma"/>
                <a:cs typeface="Tahoma"/>
              </a:rPr>
              <a:t>fp</a:t>
            </a:r>
            <a:endParaRPr lang="ar-SA" sz="1900" b="1" i="0" dirty="0">
              <a:solidFill>
                <a:srgbClr val="FFFFFF"/>
              </a:solidFill>
              <a:latin typeface="Tahoma"/>
              <a:ea typeface="Tahoma"/>
              <a:cs typeface="Tahoma"/>
            </a:endParaRPr>
          </a:p>
          <a:p>
            <a:pPr algn="ctr" rtl="0">
              <a:lnSpc>
                <a:spcPct val="118000"/>
              </a:lnSpc>
              <a:buNone/>
            </a:pPr>
            <a:r>
              <a:rPr lang="ar-SA" sz="1900" b="1" i="0" dirty="0">
                <a:solidFill>
                  <a:srgbClr val="FFFFFF"/>
                </a:solidFill>
                <a:latin typeface="Tahoma"/>
                <a:ea typeface="Tahoma"/>
                <a:cs typeface="Tahoma"/>
              </a:rPr>
              <a:t>M</a:t>
            </a:r>
            <a:r>
              <a:rPr lang="ar-SA" sz="1900" b="1" i="0" baseline="-25000" dirty="0">
                <a:solidFill>
                  <a:srgbClr val="FFFFFF"/>
                </a:solidFill>
                <a:latin typeface="Tahoma"/>
                <a:ea typeface="Tahoma"/>
                <a:cs typeface="Tahoma"/>
              </a:rPr>
              <a:t>wt</a:t>
            </a:r>
            <a:r>
              <a:rPr lang="ar-SA" sz="1900" b="1" i="0" dirty="0">
                <a:solidFill>
                  <a:srgbClr val="FFFFFF"/>
                </a:solidFill>
                <a:latin typeface="Tahoma"/>
                <a:ea typeface="Tahoma"/>
                <a:cs typeface="Tahoma"/>
              </a:rPr>
              <a:t> = m</a:t>
            </a:r>
            <a:r>
              <a:rPr lang="ar-SA" sz="1900" b="1" i="0" baseline="-25000" dirty="0">
                <a:solidFill>
                  <a:srgbClr val="FFFFFF"/>
                </a:solidFill>
                <a:latin typeface="Tahoma"/>
                <a:ea typeface="Tahoma"/>
                <a:cs typeface="Tahoma"/>
              </a:rPr>
              <a:t>s</a:t>
            </a:r>
            <a:r>
              <a:rPr lang="ar-SA" sz="1900" b="1" i="0" dirty="0">
                <a:solidFill>
                  <a:srgbClr val="FFFFFF"/>
                </a:solidFill>
                <a:latin typeface="Tahoma"/>
                <a:ea typeface="Tahoma"/>
                <a:cs typeface="Tahoma"/>
              </a:rPr>
              <a:t> / n</a:t>
            </a:r>
          </a:p>
        </p:txBody>
      </p:sp>
      <p:sp>
        <p:nvSpPr>
          <p:cNvPr id="107" name="Text 11"/>
          <p:cNvSpPr txBox="1"/>
          <p:nvPr/>
        </p:nvSpPr>
        <p:spPr>
          <a:xfrm>
            <a:off x="1772093" y="3462139"/>
            <a:ext cx="5458046" cy="1534914"/>
          </a:xfrm>
          <a:prstGeom prst="rect">
            <a:avLst/>
          </a:prstGeom>
          <a:noFill/>
        </p:spPr>
        <p:txBody>
          <a:bodyPr wrap="square" lIns="0" tIns="0" rIns="0" bIns="0" rtlCol="0" anchor="t">
            <a:noAutofit/>
          </a:bodyPr>
          <a:lstStyle/>
          <a:p>
            <a:pPr algn="r" rtl="1">
              <a:lnSpc>
                <a:spcPct val="100000"/>
              </a:lnSpc>
              <a:buNone/>
            </a:pPr>
            <a:r>
              <a:rPr lang="ar-SA" sz="2100" b="1" i="0" dirty="0">
                <a:solidFill>
                  <a:srgbClr val="FFFFFF"/>
                </a:solidFill>
                <a:latin typeface="Tahoma"/>
                <a:ea typeface="Tahoma"/>
                <a:cs typeface="Tahoma"/>
              </a:rPr>
              <a:t>وضّح كيف يرتبط كلٌ من الارتفاع في درجة الغليان والانخفاض في درجة التجمد بالمولالية؟</a:t>
            </a:r>
          </a:p>
          <a:p>
            <a:pPr algn="r" rtl="1">
              <a:lnSpc>
                <a:spcPct val="100000"/>
              </a:lnSpc>
              <a:spcBef>
                <a:spcPts val="2000"/>
              </a:spcBef>
              <a:buNone/>
            </a:pPr>
            <a:r>
              <a:rPr lang="ar-SA" sz="2100" b="1" i="0" dirty="0">
                <a:solidFill>
                  <a:srgbClr val="FFFFFF"/>
                </a:solidFill>
                <a:latin typeface="Tahoma"/>
                <a:ea typeface="Tahoma"/>
                <a:cs typeface="Tahoma"/>
              </a:rPr>
              <a:t>(تلميح: تذكر المعادلة الخطية والعلاقة الطردية).</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01"/>
                                        </p:tgtEl>
                                        <p:attrNameLst>
                                          <p:attrName>style.visibility</p:attrName>
                                        </p:attrNameLst>
                                      </p:cBhvr>
                                      <p:to>
                                        <p:strVal val="visible"/>
                                      </p:to>
                                    </p:set>
                                    <p:animEffect transition="in" filter="fade">
                                      <p:cBhvr>
                                        <p:cTn id="7" dur="600"/>
                                        <p:tgtEl>
                                          <p:spTgt spid="101"/>
                                        </p:tgtEl>
                                      </p:cBhvr>
                                    </p:animEffect>
                                    <p:anim calcmode="lin" valueType="num">
                                      <p:cBhvr>
                                        <p:cTn id="8" dur="600" fill="hold"/>
                                        <p:tgtEl>
                                          <p:spTgt spid="101"/>
                                        </p:tgtEl>
                                        <p:attrNameLst>
                                          <p:attrName>ppt_w</p:attrName>
                                        </p:attrNameLst>
                                      </p:cBhvr>
                                      <p:tavLst>
                                        <p:tav tm="0">
                                          <p:val>
                                            <p:strVal val="0"/>
                                          </p:val>
                                        </p:tav>
                                        <p:tav tm="100000">
                                          <p:val>
                                            <p:strVal val="#ppt_w"/>
                                          </p:val>
                                        </p:tav>
                                      </p:tavLst>
                                    </p:anim>
                                    <p:anim calcmode="lin" valueType="num">
                                      <p:cBhvr>
                                        <p:cTn id="9" dur="600" fill="hold"/>
                                        <p:tgtEl>
                                          <p:spTgt spid="101"/>
                                        </p:tgtEl>
                                        <p:attrNameLst>
                                          <p:attrName>ppt_h</p:attrName>
                                        </p:attrNameLst>
                                      </p:cBhvr>
                                      <p:tavLst>
                                        <p:tav tm="0">
                                          <p:val>
                                            <p:strVal val="0"/>
                                          </p:val>
                                        </p:tav>
                                        <p:tav tm="100000">
                                          <p:val>
                                            <p:strVal val="#ppt_h"/>
                                          </p:val>
                                        </p:tav>
                                      </p:tavLst>
                                    </p:anim>
                                  </p:childTnLst>
                                </p:cTn>
                              </p:par>
                            </p:childTnLst>
                          </p:cTn>
                        </p:par>
                        <p:par>
                          <p:cTn id="10" fill="hold">
                            <p:stCondLst>
                              <p:cond delay="700"/>
                            </p:stCondLst>
                            <p:childTnLst>
                              <p:par>
                                <p:cTn id="11" presetID="53" presetClass="entr" presetSubtype="16" fill="hold" grpId="0" nodeType="afterEffect">
                                  <p:stCondLst>
                                    <p:cond delay="0"/>
                                  </p:stCondLst>
                                  <p:childTnLst>
                                    <p:set>
                                      <p:cBhvr>
                                        <p:cTn id="12" dur="1" fill="hold">
                                          <p:stCondLst>
                                            <p:cond delay="0"/>
                                          </p:stCondLst>
                                        </p:cTn>
                                        <p:tgtEl>
                                          <p:spTgt spid="102"/>
                                        </p:tgtEl>
                                        <p:attrNameLst>
                                          <p:attrName>style.visibility</p:attrName>
                                        </p:attrNameLst>
                                      </p:cBhvr>
                                      <p:to>
                                        <p:strVal val="visible"/>
                                      </p:to>
                                    </p:set>
                                    <p:animEffect transition="in" filter="fade">
                                      <p:cBhvr>
                                        <p:cTn id="13" dur="600"/>
                                        <p:tgtEl>
                                          <p:spTgt spid="102"/>
                                        </p:tgtEl>
                                      </p:cBhvr>
                                    </p:animEffect>
                                    <p:anim calcmode="lin" valueType="num">
                                      <p:cBhvr>
                                        <p:cTn id="14" dur="600" fill="hold"/>
                                        <p:tgtEl>
                                          <p:spTgt spid="102"/>
                                        </p:tgtEl>
                                        <p:attrNameLst>
                                          <p:attrName>ppt_w</p:attrName>
                                        </p:attrNameLst>
                                      </p:cBhvr>
                                      <p:tavLst>
                                        <p:tav tm="0">
                                          <p:val>
                                            <p:strVal val="0"/>
                                          </p:val>
                                        </p:tav>
                                        <p:tav tm="100000">
                                          <p:val>
                                            <p:strVal val="#ppt_w"/>
                                          </p:val>
                                        </p:tav>
                                      </p:tavLst>
                                    </p:anim>
                                    <p:anim calcmode="lin" valueType="num">
                                      <p:cBhvr>
                                        <p:cTn id="15" dur="600" fill="hold"/>
                                        <p:tgtEl>
                                          <p:spTgt spid="102"/>
                                        </p:tgtEl>
                                        <p:attrNameLst>
                                          <p:attrName>ppt_h</p:attrName>
                                        </p:attrNameLst>
                                      </p:cBhvr>
                                      <p:tavLst>
                                        <p:tav tm="0">
                                          <p:val>
                                            <p:strVal val="0"/>
                                          </p:val>
                                        </p:tav>
                                        <p:tav tm="100000">
                                          <p:val>
                                            <p:strVal val="#ppt_h"/>
                                          </p:val>
                                        </p:tav>
                                      </p:tavLst>
                                    </p:anim>
                                  </p:childTnLst>
                                </p:cTn>
                              </p:par>
                            </p:childTnLst>
                          </p:cTn>
                        </p:par>
                        <p:par>
                          <p:cTn id="16" fill="hold">
                            <p:stCondLst>
                              <p:cond delay="1400"/>
                            </p:stCondLst>
                            <p:childTnLst>
                              <p:par>
                                <p:cTn id="17" presetID="53" presetClass="entr" presetSubtype="16" fill="hold" grpId="0" nodeType="afterEffect">
                                  <p:stCondLst>
                                    <p:cond delay="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600"/>
                                        <p:tgtEl>
                                          <p:spTgt spid="103"/>
                                        </p:tgtEl>
                                      </p:cBhvr>
                                    </p:animEffect>
                                    <p:anim calcmode="lin" valueType="num">
                                      <p:cBhvr>
                                        <p:cTn id="20" dur="600" fill="hold"/>
                                        <p:tgtEl>
                                          <p:spTgt spid="103"/>
                                        </p:tgtEl>
                                        <p:attrNameLst>
                                          <p:attrName>ppt_w</p:attrName>
                                        </p:attrNameLst>
                                      </p:cBhvr>
                                      <p:tavLst>
                                        <p:tav tm="0">
                                          <p:val>
                                            <p:strVal val="0"/>
                                          </p:val>
                                        </p:tav>
                                        <p:tav tm="100000">
                                          <p:val>
                                            <p:strVal val="#ppt_w"/>
                                          </p:val>
                                        </p:tav>
                                      </p:tavLst>
                                    </p:anim>
                                    <p:anim calcmode="lin" valueType="num">
                                      <p:cBhvr>
                                        <p:cTn id="21" dur="600" fill="hold"/>
                                        <p:tgtEl>
                                          <p:spTgt spid="103"/>
                                        </p:tgtEl>
                                        <p:attrNameLst>
                                          <p:attrName>ppt_h</p:attrName>
                                        </p:attrNameLst>
                                      </p:cBhvr>
                                      <p:tavLst>
                                        <p:tav tm="0">
                                          <p:val>
                                            <p:strVal val="0"/>
                                          </p:val>
                                        </p:tav>
                                        <p:tav tm="100000">
                                          <p:val>
                                            <p:strVal val="#ppt_h"/>
                                          </p:val>
                                        </p:tav>
                                      </p:tavLst>
                                    </p:anim>
                                  </p:childTnLst>
                                </p:cTn>
                              </p:par>
                            </p:childTnLst>
                          </p:cTn>
                        </p:par>
                        <p:par>
                          <p:cTn id="22" fill="hold">
                            <p:stCondLst>
                              <p:cond delay="2100"/>
                            </p:stCondLst>
                            <p:childTnLst>
                              <p:par>
                                <p:cTn id="23" presetID="42" presetClass="entr" presetSubtype="0" fill="hold" grpId="0" nodeType="afterEffect">
                                  <p:stCondLst>
                                    <p:cond delay="0"/>
                                  </p:stCondLst>
                                  <p:childTnLst>
                                    <p:set>
                                      <p:cBhvr>
                                        <p:cTn id="24" dur="1" fill="hold">
                                          <p:stCondLst>
                                            <p:cond delay="0"/>
                                          </p:stCondLst>
                                        </p:cTn>
                                        <p:tgtEl>
                                          <p:spTgt spid="104"/>
                                        </p:tgtEl>
                                        <p:attrNameLst>
                                          <p:attrName>style.visibility</p:attrName>
                                        </p:attrNameLst>
                                      </p:cBhvr>
                                      <p:to>
                                        <p:strVal val="visible"/>
                                      </p:to>
                                    </p:set>
                                    <p:animEffect transition="in" filter="fade">
                                      <p:cBhvr>
                                        <p:cTn id="25" dur="600"/>
                                        <p:tgtEl>
                                          <p:spTgt spid="104"/>
                                        </p:tgtEl>
                                      </p:cBhvr>
                                    </p:animEffect>
                                    <p:anim calcmode="lin" valueType="num">
                                      <p:cBhvr>
                                        <p:cTn id="26" dur="600" fill="hold"/>
                                        <p:tgtEl>
                                          <p:spTgt spid="104"/>
                                        </p:tgtEl>
                                        <p:attrNameLst>
                                          <p:attrName>ppt_x</p:attrName>
                                        </p:attrNameLst>
                                      </p:cBhvr>
                                      <p:tavLst>
                                        <p:tav tm="0">
                                          <p:val>
                                            <p:strVal val="#ppt_x"/>
                                          </p:val>
                                        </p:tav>
                                        <p:tav tm="100000">
                                          <p:val>
                                            <p:strVal val="#ppt_x"/>
                                          </p:val>
                                        </p:tav>
                                      </p:tavLst>
                                    </p:anim>
                                    <p:anim calcmode="lin" valueType="num">
                                      <p:cBhvr>
                                        <p:cTn id="27" dur="600" fill="hold"/>
                                        <p:tgtEl>
                                          <p:spTgt spid="104"/>
                                        </p:tgtEl>
                                        <p:attrNameLst>
                                          <p:attrName>ppt_y</p:attrName>
                                        </p:attrNameLst>
                                      </p:cBhvr>
                                      <p:tavLst>
                                        <p:tav tm="0">
                                          <p:val>
                                            <p:strVal val="#ppt_y+.1"/>
                                          </p:val>
                                        </p:tav>
                                        <p:tav tm="100000">
                                          <p:val>
                                            <p:strVal val="#ppt_y"/>
                                          </p:val>
                                        </p:tav>
                                      </p:tavLst>
                                    </p:anim>
                                  </p:childTnLst>
                                </p:cTn>
                              </p:par>
                            </p:childTnLst>
                          </p:cTn>
                        </p:par>
                        <p:par>
                          <p:cTn id="28" fill="hold">
                            <p:stCondLst>
                              <p:cond delay="2800"/>
                            </p:stCondLst>
                            <p:childTnLst>
                              <p:par>
                                <p:cTn id="29" presetID="42" presetClass="entr" presetSubtype="0" fill="hold" grpId="0" nodeType="afterEffect">
                                  <p:stCondLst>
                                    <p:cond delay="0"/>
                                  </p:stCondLst>
                                  <p:childTnLst>
                                    <p:set>
                                      <p:cBhvr>
                                        <p:cTn id="30" dur="1" fill="hold">
                                          <p:stCondLst>
                                            <p:cond delay="0"/>
                                          </p:stCondLst>
                                        </p:cTn>
                                        <p:tgtEl>
                                          <p:spTgt spid="105"/>
                                        </p:tgtEl>
                                        <p:attrNameLst>
                                          <p:attrName>style.visibility</p:attrName>
                                        </p:attrNameLst>
                                      </p:cBhvr>
                                      <p:to>
                                        <p:strVal val="visible"/>
                                      </p:to>
                                    </p:set>
                                    <p:animEffect transition="in" filter="fade">
                                      <p:cBhvr>
                                        <p:cTn id="31" dur="600"/>
                                        <p:tgtEl>
                                          <p:spTgt spid="105"/>
                                        </p:tgtEl>
                                      </p:cBhvr>
                                    </p:animEffect>
                                    <p:anim calcmode="lin" valueType="num">
                                      <p:cBhvr>
                                        <p:cTn id="32" dur="600" fill="hold"/>
                                        <p:tgtEl>
                                          <p:spTgt spid="105"/>
                                        </p:tgtEl>
                                        <p:attrNameLst>
                                          <p:attrName>ppt_x</p:attrName>
                                        </p:attrNameLst>
                                      </p:cBhvr>
                                      <p:tavLst>
                                        <p:tav tm="0">
                                          <p:val>
                                            <p:strVal val="#ppt_x"/>
                                          </p:val>
                                        </p:tav>
                                        <p:tav tm="100000">
                                          <p:val>
                                            <p:strVal val="#ppt_x"/>
                                          </p:val>
                                        </p:tav>
                                      </p:tavLst>
                                    </p:anim>
                                    <p:anim calcmode="lin" valueType="num">
                                      <p:cBhvr>
                                        <p:cTn id="33" dur="600" fill="hold"/>
                                        <p:tgtEl>
                                          <p:spTgt spid="105"/>
                                        </p:tgtEl>
                                        <p:attrNameLst>
                                          <p:attrName>ppt_y</p:attrName>
                                        </p:attrNameLst>
                                      </p:cBhvr>
                                      <p:tavLst>
                                        <p:tav tm="0">
                                          <p:val>
                                            <p:strVal val="#ppt_y+.1"/>
                                          </p:val>
                                        </p:tav>
                                        <p:tav tm="100000">
                                          <p:val>
                                            <p:strVal val="#ppt_y"/>
                                          </p:val>
                                        </p:tav>
                                      </p:tavLst>
                                    </p:anim>
                                  </p:childTnLst>
                                </p:cTn>
                              </p:par>
                            </p:childTnLst>
                          </p:cTn>
                        </p:par>
                        <p:par>
                          <p:cTn id="34" fill="hold">
                            <p:stCondLst>
                              <p:cond delay="3500"/>
                            </p:stCondLst>
                            <p:childTnLst>
                              <p:par>
                                <p:cTn id="35" presetID="42" presetClass="entr" presetSubtype="0" fill="hold" grpId="0" nodeType="afterEffect">
                                  <p:stCondLst>
                                    <p:cond delay="0"/>
                                  </p:stCondLst>
                                  <p:childTnLst>
                                    <p:set>
                                      <p:cBhvr>
                                        <p:cTn id="36" dur="1" fill="hold">
                                          <p:stCondLst>
                                            <p:cond delay="0"/>
                                          </p:stCondLst>
                                        </p:cTn>
                                        <p:tgtEl>
                                          <p:spTgt spid="106">
                                            <p:txEl>
                                              <p:pRg st="0" end="0"/>
                                            </p:txEl>
                                          </p:spTgt>
                                        </p:tgtEl>
                                        <p:attrNameLst>
                                          <p:attrName>style.visibility</p:attrName>
                                        </p:attrNameLst>
                                      </p:cBhvr>
                                      <p:to>
                                        <p:strVal val="visible"/>
                                      </p:to>
                                    </p:set>
                                    <p:animEffect transition="in" filter="fade">
                                      <p:cBhvr>
                                        <p:cTn id="37" dur="600"/>
                                        <p:tgtEl>
                                          <p:spTgt spid="106">
                                            <p:txEl>
                                              <p:pRg st="0" end="0"/>
                                            </p:txEl>
                                          </p:spTgt>
                                        </p:tgtEl>
                                      </p:cBhvr>
                                    </p:animEffect>
                                    <p:anim calcmode="lin" valueType="num">
                                      <p:cBhvr>
                                        <p:cTn id="38" dur="600" fill="hold"/>
                                        <p:tgtEl>
                                          <p:spTgt spid="106">
                                            <p:txEl>
                                              <p:pRg st="0" end="0"/>
                                            </p:txEl>
                                          </p:spTgt>
                                        </p:tgtEl>
                                        <p:attrNameLst>
                                          <p:attrName>ppt_x</p:attrName>
                                        </p:attrNameLst>
                                      </p:cBhvr>
                                      <p:tavLst>
                                        <p:tav tm="0">
                                          <p:val>
                                            <p:strVal val="#ppt_x"/>
                                          </p:val>
                                        </p:tav>
                                        <p:tav tm="100000">
                                          <p:val>
                                            <p:strVal val="#ppt_x"/>
                                          </p:val>
                                        </p:tav>
                                      </p:tavLst>
                                    </p:anim>
                                    <p:anim calcmode="lin" valueType="num">
                                      <p:cBhvr>
                                        <p:cTn id="39" dur="600" fill="hold"/>
                                        <p:tgtEl>
                                          <p:spTgt spid="106">
                                            <p:txEl>
                                              <p:pRg st="0" end="0"/>
                                            </p:txEl>
                                          </p:spTgt>
                                        </p:tgtEl>
                                        <p:attrNameLst>
                                          <p:attrName>ppt_y</p:attrName>
                                        </p:attrNameLst>
                                      </p:cBhvr>
                                      <p:tavLst>
                                        <p:tav tm="0">
                                          <p:val>
                                            <p:strVal val="#ppt_y+.1"/>
                                          </p:val>
                                        </p:tav>
                                        <p:tav tm="100000">
                                          <p:val>
                                            <p:strVal val="#ppt_y"/>
                                          </p:val>
                                        </p:tav>
                                      </p:tavLst>
                                    </p:anim>
                                  </p:childTnLst>
                                </p:cTn>
                              </p:par>
                            </p:childTnLst>
                          </p:cTn>
                        </p:par>
                        <p:par>
                          <p:cTn id="40" fill="hold">
                            <p:stCondLst>
                              <p:cond delay="4200"/>
                            </p:stCondLst>
                            <p:childTnLst>
                              <p:par>
                                <p:cTn id="41" presetID="42" presetClass="entr" presetSubtype="0" fill="hold" grpId="0" nodeType="afterEffect">
                                  <p:stCondLst>
                                    <p:cond delay="0"/>
                                  </p:stCondLst>
                                  <p:childTnLst>
                                    <p:set>
                                      <p:cBhvr>
                                        <p:cTn id="42" dur="1" fill="hold">
                                          <p:stCondLst>
                                            <p:cond delay="0"/>
                                          </p:stCondLst>
                                        </p:cTn>
                                        <p:tgtEl>
                                          <p:spTgt spid="106">
                                            <p:txEl>
                                              <p:pRg st="1" end="1"/>
                                            </p:txEl>
                                          </p:spTgt>
                                        </p:tgtEl>
                                        <p:attrNameLst>
                                          <p:attrName>style.visibility</p:attrName>
                                        </p:attrNameLst>
                                      </p:cBhvr>
                                      <p:to>
                                        <p:strVal val="visible"/>
                                      </p:to>
                                    </p:set>
                                    <p:animEffect transition="in" filter="fade">
                                      <p:cBhvr>
                                        <p:cTn id="43" dur="600"/>
                                        <p:tgtEl>
                                          <p:spTgt spid="106">
                                            <p:txEl>
                                              <p:pRg st="1" end="1"/>
                                            </p:txEl>
                                          </p:spTgt>
                                        </p:tgtEl>
                                      </p:cBhvr>
                                    </p:animEffect>
                                    <p:anim calcmode="lin" valueType="num">
                                      <p:cBhvr>
                                        <p:cTn id="44" dur="600" fill="hold"/>
                                        <p:tgtEl>
                                          <p:spTgt spid="106">
                                            <p:txEl>
                                              <p:pRg st="1" end="1"/>
                                            </p:txEl>
                                          </p:spTgt>
                                        </p:tgtEl>
                                        <p:attrNameLst>
                                          <p:attrName>ppt_x</p:attrName>
                                        </p:attrNameLst>
                                      </p:cBhvr>
                                      <p:tavLst>
                                        <p:tav tm="0">
                                          <p:val>
                                            <p:strVal val="#ppt_x"/>
                                          </p:val>
                                        </p:tav>
                                        <p:tav tm="100000">
                                          <p:val>
                                            <p:strVal val="#ppt_x"/>
                                          </p:val>
                                        </p:tav>
                                      </p:tavLst>
                                    </p:anim>
                                    <p:anim calcmode="lin" valueType="num">
                                      <p:cBhvr>
                                        <p:cTn id="45" dur="600" fill="hold"/>
                                        <p:tgtEl>
                                          <p:spTgt spid="106">
                                            <p:txEl>
                                              <p:pRg st="1" end="1"/>
                                            </p:txEl>
                                          </p:spTgt>
                                        </p:tgtEl>
                                        <p:attrNameLst>
                                          <p:attrName>ppt_y</p:attrName>
                                        </p:attrNameLst>
                                      </p:cBhvr>
                                      <p:tavLst>
                                        <p:tav tm="0">
                                          <p:val>
                                            <p:strVal val="#ppt_y+.1"/>
                                          </p:val>
                                        </p:tav>
                                        <p:tav tm="100000">
                                          <p:val>
                                            <p:strVal val="#ppt_y"/>
                                          </p:val>
                                        </p:tav>
                                      </p:tavLst>
                                    </p:anim>
                                  </p:childTnLst>
                                </p:cTn>
                              </p:par>
                            </p:childTnLst>
                          </p:cTn>
                        </p:par>
                        <p:par>
                          <p:cTn id="46" fill="hold">
                            <p:stCondLst>
                              <p:cond delay="4900"/>
                            </p:stCondLst>
                            <p:childTnLst>
                              <p:par>
                                <p:cTn id="47" presetID="42" presetClass="entr" presetSubtype="0" fill="hold" grpId="0" nodeType="afterEffect">
                                  <p:stCondLst>
                                    <p:cond delay="0"/>
                                  </p:stCondLst>
                                  <p:childTnLst>
                                    <p:set>
                                      <p:cBhvr>
                                        <p:cTn id="48" dur="1" fill="hold">
                                          <p:stCondLst>
                                            <p:cond delay="0"/>
                                          </p:stCondLst>
                                        </p:cTn>
                                        <p:tgtEl>
                                          <p:spTgt spid="107">
                                            <p:txEl>
                                              <p:pRg st="0" end="0"/>
                                            </p:txEl>
                                          </p:spTgt>
                                        </p:tgtEl>
                                        <p:attrNameLst>
                                          <p:attrName>style.visibility</p:attrName>
                                        </p:attrNameLst>
                                      </p:cBhvr>
                                      <p:to>
                                        <p:strVal val="visible"/>
                                      </p:to>
                                    </p:set>
                                    <p:animEffect transition="in" filter="fade">
                                      <p:cBhvr>
                                        <p:cTn id="49" dur="600"/>
                                        <p:tgtEl>
                                          <p:spTgt spid="107">
                                            <p:txEl>
                                              <p:pRg st="0" end="0"/>
                                            </p:txEl>
                                          </p:spTgt>
                                        </p:tgtEl>
                                      </p:cBhvr>
                                    </p:animEffect>
                                    <p:anim calcmode="lin" valueType="num">
                                      <p:cBhvr>
                                        <p:cTn id="50" dur="600" fill="hold"/>
                                        <p:tgtEl>
                                          <p:spTgt spid="107">
                                            <p:txEl>
                                              <p:pRg st="0" end="0"/>
                                            </p:txEl>
                                          </p:spTgt>
                                        </p:tgtEl>
                                        <p:attrNameLst>
                                          <p:attrName>ppt_x</p:attrName>
                                        </p:attrNameLst>
                                      </p:cBhvr>
                                      <p:tavLst>
                                        <p:tav tm="0">
                                          <p:val>
                                            <p:strVal val="#ppt_x"/>
                                          </p:val>
                                        </p:tav>
                                        <p:tav tm="100000">
                                          <p:val>
                                            <p:strVal val="#ppt_x"/>
                                          </p:val>
                                        </p:tav>
                                      </p:tavLst>
                                    </p:anim>
                                    <p:anim calcmode="lin" valueType="num">
                                      <p:cBhvr>
                                        <p:cTn id="51" dur="600" fill="hold"/>
                                        <p:tgtEl>
                                          <p:spTgt spid="107">
                                            <p:txEl>
                                              <p:pRg st="0" end="0"/>
                                            </p:txEl>
                                          </p:spTgt>
                                        </p:tgtEl>
                                        <p:attrNameLst>
                                          <p:attrName>ppt_y</p:attrName>
                                        </p:attrNameLst>
                                      </p:cBhvr>
                                      <p:tavLst>
                                        <p:tav tm="0">
                                          <p:val>
                                            <p:strVal val="#ppt_y+.1"/>
                                          </p:val>
                                        </p:tav>
                                        <p:tav tm="100000">
                                          <p:val>
                                            <p:strVal val="#ppt_y"/>
                                          </p:val>
                                        </p:tav>
                                      </p:tavLst>
                                    </p:anim>
                                  </p:childTnLst>
                                </p:cTn>
                              </p:par>
                            </p:childTnLst>
                          </p:cTn>
                        </p:par>
                        <p:par>
                          <p:cTn id="52" fill="hold">
                            <p:stCondLst>
                              <p:cond delay="5600"/>
                            </p:stCondLst>
                            <p:childTnLst>
                              <p:par>
                                <p:cTn id="53" presetID="42" presetClass="entr" presetSubtype="0" fill="hold" grpId="0" nodeType="afterEffect">
                                  <p:stCondLst>
                                    <p:cond delay="0"/>
                                  </p:stCondLst>
                                  <p:childTnLst>
                                    <p:set>
                                      <p:cBhvr>
                                        <p:cTn id="54" dur="1" fill="hold">
                                          <p:stCondLst>
                                            <p:cond delay="0"/>
                                          </p:stCondLst>
                                        </p:cTn>
                                        <p:tgtEl>
                                          <p:spTgt spid="107">
                                            <p:txEl>
                                              <p:pRg st="1" end="1"/>
                                            </p:txEl>
                                          </p:spTgt>
                                        </p:tgtEl>
                                        <p:attrNameLst>
                                          <p:attrName>style.visibility</p:attrName>
                                        </p:attrNameLst>
                                      </p:cBhvr>
                                      <p:to>
                                        <p:strVal val="visible"/>
                                      </p:to>
                                    </p:set>
                                    <p:animEffect transition="in" filter="fade">
                                      <p:cBhvr>
                                        <p:cTn id="55" dur="600"/>
                                        <p:tgtEl>
                                          <p:spTgt spid="107">
                                            <p:txEl>
                                              <p:pRg st="1" end="1"/>
                                            </p:txEl>
                                          </p:spTgt>
                                        </p:tgtEl>
                                      </p:cBhvr>
                                    </p:animEffect>
                                    <p:anim calcmode="lin" valueType="num">
                                      <p:cBhvr>
                                        <p:cTn id="56" dur="600" fill="hold"/>
                                        <p:tgtEl>
                                          <p:spTgt spid="107">
                                            <p:txEl>
                                              <p:pRg st="1" end="1"/>
                                            </p:txEl>
                                          </p:spTgt>
                                        </p:tgtEl>
                                        <p:attrNameLst>
                                          <p:attrName>ppt_x</p:attrName>
                                        </p:attrNameLst>
                                      </p:cBhvr>
                                      <p:tavLst>
                                        <p:tav tm="0">
                                          <p:val>
                                            <p:strVal val="#ppt_x"/>
                                          </p:val>
                                        </p:tav>
                                        <p:tav tm="100000">
                                          <p:val>
                                            <p:strVal val="#ppt_x"/>
                                          </p:val>
                                        </p:tav>
                                      </p:tavLst>
                                    </p:anim>
                                    <p:anim calcmode="lin" valueType="num">
                                      <p:cBhvr>
                                        <p:cTn id="57" dur="600" fill="hold"/>
                                        <p:tgtEl>
                                          <p:spTgt spid="107">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0"/>
      <p:bldP spid="102" grpId="0"/>
      <p:bldP spid="103" grpId="0"/>
      <p:bldP spid="104" grpId="0"/>
      <p:bldP spid="105" grpId="0"/>
      <p:bldP spid="106" grpId="0" build="p"/>
      <p:bldP spid="107"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حل مراجعة الدرس: تحدي المفهوم</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مراجعة الدرس</a:t>
            </a:r>
          </a:p>
        </p:txBody>
      </p:sp>
      <p:sp>
        <p:nvSpPr>
          <p:cNvPr id="13" name="Card 1"/>
          <p:cNvSpPr/>
          <p:nvPr/>
        </p:nvSpPr>
        <p:spPr>
          <a:xfrm>
            <a:off x="708837" y="2309812"/>
            <a:ext cx="14838325" cy="3813756"/>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1"/>
          <p:cNvSpPr/>
          <p:nvPr/>
        </p:nvSpPr>
        <p:spPr>
          <a:xfrm>
            <a:off x="14838325" y="2500312"/>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1</a:t>
            </a:r>
          </a:p>
        </p:txBody>
      </p:sp>
      <p:sp>
        <p:nvSpPr>
          <p:cNvPr id="15" name="Tag 1"/>
          <p:cNvSpPr txBox="1"/>
          <p:nvPr/>
        </p:nvSpPr>
        <p:spPr>
          <a:xfrm>
            <a:off x="1016000" y="2476500"/>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تحدي المفهوم</a:t>
            </a:r>
          </a:p>
        </p:txBody>
      </p:sp>
      <p:sp>
        <p:nvSpPr>
          <p:cNvPr id="16" name="Question 1"/>
          <p:cNvSpPr txBox="1"/>
          <p:nvPr/>
        </p:nvSpPr>
        <p:spPr>
          <a:xfrm>
            <a:off x="1016000" y="2857500"/>
            <a:ext cx="13656930" cy="865341"/>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وضّح كيف يرتبط كلٌّ من الارتفاع في درجة الغليان والانخفاض في درجة التجمد بالمولالية؟ (تلميح: تذكّر المعادلة الخطية والعلاقة الطردية).</a:t>
            </a:r>
          </a:p>
        </p:txBody>
      </p:sp>
      <p:sp>
        <p:nvSpPr>
          <p:cNvPr id="17" name="Answer 1"/>
          <p:cNvSpPr/>
          <p:nvPr/>
        </p:nvSpPr>
        <p:spPr>
          <a:xfrm>
            <a:off x="1016000" y="3865716"/>
            <a:ext cx="13656930" cy="2019727"/>
          </a:xfrm>
          <a:prstGeom prst="roundRect">
            <a:avLst>
              <a:gd name="adj" fmla="val 9000"/>
            </a:avLst>
          </a:prstGeom>
          <a:solidFill>
            <a:srgbClr val="A86A12">
              <a:alpha val="10000"/>
            </a:srgbClr>
          </a:solidFill>
          <a:ln w="12700" cap="rnd">
            <a:solidFill>
              <a:srgbClr val="A86A12">
                <a:alpha val="70000"/>
              </a:srgbClr>
            </a:solidFill>
            <a:round/>
          </a:ln>
        </p:spPr>
        <p:txBody>
          <a:bodyPr wrap="square" lIns="212651" tIns="118139" rIns="212651" bIns="118139" rtlCol="0" anchor="t">
            <a:noAutofit/>
          </a:bodyPr>
          <a:lstStyle/>
          <a:p>
            <a:pPr algn="r" rtl="1">
              <a:lnSpc>
                <a:spcPct val="110000"/>
              </a:lnSpc>
              <a:buNone/>
            </a:pPr>
            <a:r>
              <a:rPr lang="ar-SA" sz="2300" b="1" i="0" dirty="0">
                <a:solidFill>
                  <a:srgbClr val="2B3038"/>
                </a:solidFill>
                <a:latin typeface="Tahoma"/>
                <a:ea typeface="Tahoma"/>
                <a:cs typeface="Tahoma"/>
              </a:rPr>
              <a:t>كلاهما يتناسب </a:t>
            </a:r>
            <a:r>
              <a:rPr lang="ar-SA" sz="2300" b="1" i="0" dirty="0">
                <a:solidFill>
                  <a:srgbClr val="A86A12"/>
                </a:solidFill>
                <a:latin typeface="Tahoma"/>
                <a:ea typeface="Tahoma"/>
                <a:cs typeface="Tahoma"/>
              </a:rPr>
              <a:t>طردياً</a:t>
            </a:r>
            <a:r>
              <a:rPr lang="ar-SA" sz="2300" b="1" i="0" dirty="0">
                <a:solidFill>
                  <a:srgbClr val="2B3038"/>
                </a:solidFill>
                <a:latin typeface="Tahoma"/>
                <a:ea typeface="Tahoma"/>
                <a:cs typeface="Tahoma"/>
              </a:rPr>
              <a:t> مع التركيز المولالي ‪(m)‬ للمحلول، والعلاقة خطية:</a:t>
            </a:r>
          </a:p>
          <a:p>
            <a:pPr algn="ctr" rtl="0">
              <a:lnSpc>
                <a:spcPct val="110000"/>
              </a:lnSpc>
              <a:spcBef>
                <a:spcPts val="800"/>
              </a:spcBef>
              <a:buNone/>
            </a:pPr>
            <a:r>
              <a:rPr lang="ar-SA" sz="2300" b="1" i="0" dirty="0">
                <a:solidFill>
                  <a:srgbClr val="2B3038"/>
                </a:solidFill>
                <a:latin typeface="Tahoma"/>
                <a:ea typeface="Tahoma"/>
                <a:cs typeface="Tahoma"/>
              </a:rPr>
              <a:t>ΔT</a:t>
            </a:r>
            <a:r>
              <a:rPr lang="ar-SA" sz="2300" b="1" i="0" baseline="-25000" dirty="0">
                <a:solidFill>
                  <a:srgbClr val="2B3038"/>
                </a:solidFill>
                <a:latin typeface="Tahoma"/>
                <a:ea typeface="Tahoma"/>
                <a:cs typeface="Tahoma"/>
              </a:rPr>
              <a:t>bp</a:t>
            </a:r>
            <a:r>
              <a:rPr lang="ar-SA" sz="2300" b="1" i="0" dirty="0">
                <a:solidFill>
                  <a:srgbClr val="2B3038"/>
                </a:solidFill>
                <a:latin typeface="Tahoma"/>
                <a:ea typeface="Tahoma"/>
                <a:cs typeface="Tahoma"/>
              </a:rPr>
              <a:t> = K</a:t>
            </a:r>
            <a:r>
              <a:rPr lang="ar-SA" sz="2300" b="1" i="0" baseline="-25000" dirty="0">
                <a:solidFill>
                  <a:srgbClr val="2B3038"/>
                </a:solidFill>
                <a:latin typeface="Tahoma"/>
                <a:ea typeface="Tahoma"/>
                <a:cs typeface="Tahoma"/>
              </a:rPr>
              <a:t>bp</a:t>
            </a:r>
            <a:r>
              <a:rPr lang="ar-SA" sz="2300" b="1" i="0" dirty="0">
                <a:solidFill>
                  <a:srgbClr val="2B3038"/>
                </a:solidFill>
                <a:latin typeface="Tahoma"/>
                <a:ea typeface="Tahoma"/>
                <a:cs typeface="Tahoma"/>
              </a:rPr>
              <a:t> × m          ΔT</a:t>
            </a:r>
            <a:r>
              <a:rPr lang="ar-SA" sz="2300" b="1" i="0" baseline="-25000" dirty="0">
                <a:solidFill>
                  <a:srgbClr val="2B3038"/>
                </a:solidFill>
                <a:latin typeface="Tahoma"/>
                <a:ea typeface="Tahoma"/>
                <a:cs typeface="Tahoma"/>
              </a:rPr>
              <a:t>fp</a:t>
            </a:r>
            <a:r>
              <a:rPr lang="ar-SA" sz="2300" b="1" i="0" dirty="0">
                <a:solidFill>
                  <a:srgbClr val="2B3038"/>
                </a:solidFill>
                <a:latin typeface="Tahoma"/>
                <a:ea typeface="Tahoma"/>
                <a:cs typeface="Tahoma"/>
              </a:rPr>
              <a:t> = K</a:t>
            </a:r>
            <a:r>
              <a:rPr lang="ar-SA" sz="2300" b="1" i="0" baseline="-25000" dirty="0">
                <a:solidFill>
                  <a:srgbClr val="2B3038"/>
                </a:solidFill>
                <a:latin typeface="Tahoma"/>
                <a:ea typeface="Tahoma"/>
                <a:cs typeface="Tahoma"/>
              </a:rPr>
              <a:t>fp</a:t>
            </a:r>
            <a:r>
              <a:rPr lang="ar-SA" sz="2300" b="1" i="0" dirty="0">
                <a:solidFill>
                  <a:srgbClr val="2B3038"/>
                </a:solidFill>
                <a:latin typeface="Tahoma"/>
                <a:ea typeface="Tahoma"/>
                <a:cs typeface="Tahoma"/>
              </a:rPr>
              <a:t> × m</a:t>
            </a:r>
          </a:p>
          <a:p>
            <a:pPr algn="r" rtl="1">
              <a:lnSpc>
                <a:spcPct val="110000"/>
              </a:lnSpc>
              <a:spcBef>
                <a:spcPts val="800"/>
              </a:spcBef>
              <a:buNone/>
            </a:pPr>
            <a:r>
              <a:rPr lang="ar-SA" sz="2300" b="1" i="0" dirty="0">
                <a:solidFill>
                  <a:srgbClr val="2B3038"/>
                </a:solidFill>
                <a:latin typeface="Tahoma"/>
                <a:ea typeface="Tahoma"/>
                <a:cs typeface="Tahoma"/>
              </a:rPr>
              <a:t>فكلما زادت المولالية زاد الارتفاع في درجة الغليان وزاد الانخفاض في درجة التجمد، ويمثّل الثابت ‪(K)‬ ميل الخط المستقيم ويعتمد على نوع المذيب.</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anim calcmode="lin" valueType="num">
                                      <p:cBhvr>
                                        <p:cTn id="29" dur="500" fill="hold"/>
                                        <p:tgtEl>
                                          <p:spTgt spid="17"/>
                                        </p:tgtEl>
                                        <p:attrNameLst>
                                          <p:attrName>ppt_x</p:attrName>
                                        </p:attrNameLst>
                                      </p:cBhvr>
                                      <p:tavLst>
                                        <p:tav tm="0">
                                          <p:val>
                                            <p:strVal val="#ppt_x"/>
                                          </p:val>
                                        </p:tav>
                                        <p:tav tm="100000">
                                          <p:val>
                                            <p:strVal val="#ppt_x"/>
                                          </p:val>
                                        </p:tav>
                                      </p:tavLst>
                                    </p:anim>
                                    <p:anim calcmode="lin" valueType="num">
                                      <p:cBhvr>
                                        <p:cTn id="30" dur="5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a:fillRect/>
          </a:stretch>
        </p:blipFill>
        <p:spPr>
          <a:xfrm>
            <a:off x="0" y="0"/>
            <a:ext cx="16256000" cy="9144000"/>
          </a:xfrm>
          <a:prstGeom prst="rect">
            <a:avLst/>
          </a:prstGeom>
        </p:spPr>
      </p:pic>
      <p:sp>
        <p:nvSpPr>
          <p:cNvPr id="11" name="Title"/>
          <p:cNvSpPr txBox="1"/>
          <p:nvPr/>
        </p:nvSpPr>
        <p:spPr>
          <a:xfrm>
            <a:off x="3662325" y="309562"/>
            <a:ext cx="11884837" cy="690562"/>
          </a:xfrm>
          <a:prstGeom prst="rect">
            <a:avLst/>
          </a:prstGeom>
          <a:noFill/>
          <a:ln>
            <a:noFill/>
          </a:ln>
        </p:spPr>
        <p:txBody>
          <a:bodyPr wrap="square" lIns="0" tIns="0" rIns="0" bIns="0" rtlCol="0" anchor="ctr">
            <a:noAutofit/>
          </a:bodyPr>
          <a:lstStyle/>
          <a:p>
            <a:pPr algn="r" rtl="1">
              <a:lnSpc>
                <a:spcPct val="110000"/>
              </a:lnSpc>
              <a:buNone/>
            </a:pPr>
            <a:r>
              <a:rPr lang="ar-SA" sz="3400" b="1" i="0" dirty="0">
                <a:solidFill>
                  <a:srgbClr val="2B3038"/>
                </a:solidFill>
                <a:latin typeface="Tahoma"/>
                <a:ea typeface="Tahoma"/>
                <a:cs typeface="Tahoma"/>
              </a:rPr>
              <a:t>حل مراجعة الدرس: التحدي الشامل</a:t>
            </a:r>
          </a:p>
        </p:txBody>
      </p:sp>
      <p:sp>
        <p:nvSpPr>
          <p:cNvPr id="12" name="Chip"/>
          <p:cNvSpPr/>
          <p:nvPr/>
        </p:nvSpPr>
        <p:spPr>
          <a:xfrm>
            <a:off x="708837" y="452437"/>
            <a:ext cx="2480930" cy="404812"/>
          </a:xfrm>
          <a:prstGeom prst="roundRect">
            <a:avLst>
              <a:gd name="adj" fmla="val 50000"/>
            </a:avLst>
          </a:prstGeom>
          <a:solidFill>
            <a:srgbClr val="A86A12">
              <a:alpha val="12000"/>
            </a:srgbClr>
          </a:solidFill>
          <a:ln w="12700" cap="rnd">
            <a:solidFill>
              <a:srgbClr val="A86A12">
                <a:alpha val="70000"/>
              </a:srgbClr>
            </a:solidFill>
            <a:round/>
          </a:ln>
        </p:spPr>
        <p:txBody>
          <a:bodyPr wrap="square" lIns="0" tIns="0" rIns="0" bIns="0" rtlCol="0" anchor="ctr">
            <a:noAutofit/>
          </a:bodyPr>
          <a:lstStyle/>
          <a:p>
            <a:pPr algn="ctr" rtl="1">
              <a:lnSpc>
                <a:spcPct val="110000"/>
              </a:lnSpc>
              <a:buNone/>
            </a:pPr>
            <a:r>
              <a:rPr lang="ar-SA" sz="1400" b="1" i="0" dirty="0">
                <a:solidFill>
                  <a:srgbClr val="A86A12"/>
                </a:solidFill>
                <a:latin typeface="Tahoma"/>
                <a:ea typeface="Tahoma"/>
                <a:cs typeface="Tahoma"/>
              </a:rPr>
              <a:t>مراجعة الدرس</a:t>
            </a:r>
          </a:p>
        </p:txBody>
      </p:sp>
      <p:sp>
        <p:nvSpPr>
          <p:cNvPr id="13" name="Card 2"/>
          <p:cNvSpPr/>
          <p:nvPr/>
        </p:nvSpPr>
        <p:spPr>
          <a:xfrm>
            <a:off x="708837" y="1238250"/>
            <a:ext cx="14838325" cy="1964762"/>
          </a:xfrm>
          <a:prstGeom prst="roundRect">
            <a:avLst>
              <a:gd name="adj" fmla="val 7000"/>
            </a:avLst>
          </a:prstGeom>
          <a:solidFill>
            <a:srgbClr val="FFFFFF">
              <a:alpha val="78000"/>
            </a:srgbClr>
          </a:solidFill>
          <a:ln w="12700" cap="rnd">
            <a:solidFill>
              <a:srgbClr val="FFFFFF">
                <a:alpha val="100000"/>
              </a:srgbClr>
            </a:solidFill>
            <a:round/>
          </a:ln>
          <a:effectLst>
            <a:outerShdw blurRad="88900" dist="25400" dir="5400000" algn="t" rotWithShape="0">
              <a:srgbClr val="5A6470">
                <a:alpha val="20000"/>
              </a:srgbClr>
            </a:outerShdw>
          </a:effectLst>
        </p:spPr>
        <p:txBody>
          <a:bodyPr rtlCol="0" anchor="ctr"/>
          <a:lstStyle/>
          <a:p>
            <a:endParaRPr lang="ar-SA"/>
          </a:p>
        </p:txBody>
      </p:sp>
      <p:sp>
        <p:nvSpPr>
          <p:cNvPr id="14" name="Number 2"/>
          <p:cNvSpPr/>
          <p:nvPr/>
        </p:nvSpPr>
        <p:spPr>
          <a:xfrm>
            <a:off x="14838325" y="1428750"/>
            <a:ext cx="448930" cy="452437"/>
          </a:xfrm>
          <a:prstGeom prst="ellipse">
            <a:avLst/>
          </a:prstGeom>
          <a:solidFill>
            <a:srgbClr val="A86A12"/>
          </a:solidFill>
          <a:ln>
            <a:noFill/>
          </a:ln>
        </p:spPr>
        <p:txBody>
          <a:bodyPr wrap="square" lIns="0" tIns="0" rIns="0" bIns="0" rtlCol="0" anchor="ctr">
            <a:noAutofit/>
          </a:bodyPr>
          <a:lstStyle/>
          <a:p>
            <a:pPr algn="ctr" rtl="0">
              <a:lnSpc>
                <a:spcPct val="110000"/>
              </a:lnSpc>
              <a:buNone/>
            </a:pPr>
            <a:r>
              <a:rPr lang="ar-SA" sz="1700" b="1" i="0" dirty="0">
                <a:solidFill>
                  <a:srgbClr val="FFFFFF"/>
                </a:solidFill>
                <a:latin typeface="Tahoma"/>
                <a:ea typeface="Tahoma"/>
                <a:cs typeface="Tahoma"/>
              </a:rPr>
              <a:t>2</a:t>
            </a:r>
          </a:p>
        </p:txBody>
      </p:sp>
      <p:sp>
        <p:nvSpPr>
          <p:cNvPr id="15" name="Tag 2"/>
          <p:cNvSpPr txBox="1"/>
          <p:nvPr/>
        </p:nvSpPr>
        <p:spPr>
          <a:xfrm>
            <a:off x="1016000" y="1404937"/>
            <a:ext cx="13656930" cy="333375"/>
          </a:xfrm>
          <a:prstGeom prst="rect">
            <a:avLst/>
          </a:prstGeom>
          <a:noFill/>
          <a:ln>
            <a:noFill/>
          </a:ln>
        </p:spPr>
        <p:txBody>
          <a:bodyPr wrap="square" lIns="0" tIns="0" rIns="0" bIns="0" rtlCol="0" anchor="t">
            <a:noAutofit/>
          </a:bodyPr>
          <a:lstStyle/>
          <a:p>
            <a:pPr algn="r" rtl="1">
              <a:lnSpc>
                <a:spcPct val="110000"/>
              </a:lnSpc>
              <a:buNone/>
            </a:pPr>
            <a:r>
              <a:rPr lang="ar-SA" sz="1500" b="1" i="0" dirty="0">
                <a:solidFill>
                  <a:srgbClr val="A86A12"/>
                </a:solidFill>
                <a:latin typeface="Tahoma"/>
                <a:ea typeface="Tahoma"/>
                <a:cs typeface="Tahoma"/>
              </a:rPr>
              <a:t>حل المسألة التالية</a:t>
            </a:r>
          </a:p>
        </p:txBody>
      </p:sp>
      <p:sp>
        <p:nvSpPr>
          <p:cNvPr id="16" name="Question 2"/>
          <p:cNvSpPr txBox="1"/>
          <p:nvPr/>
        </p:nvSpPr>
        <p:spPr>
          <a:xfrm>
            <a:off x="1016000" y="1785937"/>
            <a:ext cx="13656930" cy="1274199"/>
          </a:xfrm>
          <a:prstGeom prst="rect">
            <a:avLst/>
          </a:prstGeom>
          <a:noFill/>
          <a:ln>
            <a:noFill/>
          </a:ln>
        </p:spPr>
        <p:txBody>
          <a:bodyPr wrap="square" lIns="0" tIns="0" rIns="0" bIns="0" rtlCol="0" anchor="t">
            <a:noAutofit/>
          </a:bodyPr>
          <a:lstStyle/>
          <a:p>
            <a:pPr algn="r" rtl="1">
              <a:lnSpc>
                <a:spcPct val="110000"/>
              </a:lnSpc>
              <a:buNone/>
            </a:pPr>
            <a:r>
              <a:rPr lang="ar-SA" sz="2400" b="1" i="0" dirty="0">
                <a:solidFill>
                  <a:srgbClr val="2B3038"/>
                </a:solidFill>
                <a:latin typeface="Tahoma"/>
                <a:ea typeface="Tahoma"/>
                <a:cs typeface="Tahoma"/>
              </a:rPr>
              <a:t>أُذيب ‪(49.63 g)‬ من مركب غير إلكتروليتي في ‪(1 kg)‬ من الماء، علماً أن درجة تجمد هذا المحلول هي ‪(−0.27 °C)‬. احسب الكتلة المولية لهذا المركب. (علماً أن ‪K</a:t>
            </a:r>
            <a:r>
              <a:rPr lang="ar-SA" sz="2400" b="1" i="0" baseline="-25000" dirty="0">
                <a:solidFill>
                  <a:srgbClr val="2B3038"/>
                </a:solidFill>
                <a:latin typeface="Tahoma"/>
                <a:ea typeface="Tahoma"/>
                <a:cs typeface="Tahoma"/>
              </a:rPr>
              <a:t>fp</a:t>
            </a:r>
            <a:r>
              <a:rPr lang="ar-SA" sz="2400" b="1" i="0" dirty="0">
                <a:solidFill>
                  <a:srgbClr val="2B3038"/>
                </a:solidFill>
                <a:latin typeface="Tahoma"/>
                <a:ea typeface="Tahoma"/>
                <a:cs typeface="Tahoma"/>
              </a:rPr>
              <a:t>‬ للماء ‪= 1.86 °C/m‬)</a:t>
            </a:r>
          </a:p>
        </p:txBody>
      </p:sp>
      <p:sp>
        <p:nvSpPr>
          <p:cNvPr id="17" name="Solution panel 1"/>
          <p:cNvSpPr/>
          <p:nvPr/>
        </p:nvSpPr>
        <p:spPr>
          <a:xfrm>
            <a:off x="708837" y="3393512"/>
            <a:ext cx="14838325" cy="2739509"/>
          </a:xfrm>
          <a:prstGeom prst="roundRect">
            <a:avLst>
              <a:gd name="adj" fmla="val 6000"/>
            </a:avLst>
          </a:prstGeom>
          <a:solidFill>
            <a:srgbClr val="A86A12">
              <a:alpha val="6000"/>
            </a:srgbClr>
          </a:solidFill>
          <a:ln w="12700" cap="rnd">
            <a:solidFill>
              <a:srgbClr val="A86A12">
                <a:alpha val="55000"/>
              </a:srgbClr>
            </a:solidFill>
            <a:round/>
          </a:ln>
        </p:spPr>
        <p:txBody>
          <a:bodyPr rtlCol="0" anchor="ctr"/>
          <a:lstStyle/>
          <a:p>
            <a:endParaRPr lang="ar-SA"/>
          </a:p>
        </p:txBody>
      </p:sp>
      <p:sp>
        <p:nvSpPr>
          <p:cNvPr id="18" name="Solution label 1"/>
          <p:cNvSpPr txBox="1"/>
          <p:nvPr/>
        </p:nvSpPr>
        <p:spPr>
          <a:xfrm>
            <a:off x="945116" y="3536387"/>
            <a:ext cx="14365767" cy="381000"/>
          </a:xfrm>
          <a:prstGeom prst="rect">
            <a:avLst/>
          </a:prstGeom>
          <a:noFill/>
          <a:ln>
            <a:noFill/>
          </a:ln>
        </p:spPr>
        <p:txBody>
          <a:bodyPr wrap="square" lIns="0" tIns="0" rIns="0" bIns="0" rtlCol="0" anchor="t">
            <a:noAutofit/>
          </a:bodyPr>
          <a:lstStyle/>
          <a:p>
            <a:pPr algn="r" rtl="1">
              <a:lnSpc>
                <a:spcPct val="110000"/>
              </a:lnSpc>
              <a:buNone/>
            </a:pPr>
            <a:r>
              <a:rPr lang="ar-SA" sz="1800" b="1" i="0" dirty="0">
                <a:solidFill>
                  <a:srgbClr val="A86A12"/>
                </a:solidFill>
                <a:latin typeface="Tahoma"/>
                <a:ea typeface="Tahoma"/>
                <a:cs typeface="Tahoma"/>
              </a:rPr>
              <a:t>الحل</a:t>
            </a:r>
          </a:p>
        </p:txBody>
      </p:sp>
      <p:sp>
        <p:nvSpPr>
          <p:cNvPr id="19" name="Solution 1"/>
          <p:cNvSpPr txBox="1"/>
          <p:nvPr/>
        </p:nvSpPr>
        <p:spPr>
          <a:xfrm>
            <a:off x="945116" y="3988824"/>
            <a:ext cx="14365767" cy="2025134"/>
          </a:xfrm>
          <a:prstGeom prst="rect">
            <a:avLst/>
          </a:prstGeom>
          <a:noFill/>
          <a:ln>
            <a:noFill/>
          </a:ln>
        </p:spPr>
        <p:txBody>
          <a:bodyPr wrap="square" lIns="0" tIns="0" rIns="0" bIns="0" rtlCol="0" anchor="t">
            <a:noAutofit/>
          </a:bodyPr>
          <a:lstStyle/>
          <a:p>
            <a:pPr rtl="0" algn="ctr">
              <a:lnSpc>
                <a:spcPct val="125000"/>
              </a:lnSpc>
              <a:buNone/>
            </a:pPr>
            <a:r>
              <a:rPr lang="en-US" sz="2400" b="1" i="0" dirty="0">
                <a:solidFill>
                  <a:srgbClr val="2B3038"/>
                </a:solidFill>
                <a:latin typeface="Tahoma"/>
                <a:ea typeface="Tahoma"/>
                <a:cs typeface="Tahoma"/>
              </a:rPr>
              <a:t>ΔT</a:t>
            </a:r>
            <a:r>
              <a:rPr baseline="-25000" lang="en-US" sz="2400" b="1" i="0" dirty="0">
                <a:solidFill>
                  <a:srgbClr val="2B3038"/>
                </a:solidFill>
                <a:latin typeface="Tahoma"/>
                <a:ea typeface="Tahoma"/>
                <a:cs typeface="Tahoma"/>
              </a:rPr>
              <a:t>fp</a:t>
            </a:r>
            <a:r>
              <a:rPr lang="en-US" sz="2400" b="1" i="0" dirty="0">
                <a:solidFill>
                  <a:srgbClr val="2B3038"/>
                </a:solidFill>
                <a:latin typeface="Tahoma"/>
                <a:ea typeface="Tahoma"/>
                <a:cs typeface="Tahoma"/>
              </a:rPr>
              <a:t xml:space="preserve"> = 0 − (−0.27) = 0.27 °C</a:t>
            </a:r>
          </a:p>
          <a:p>
            <a:pPr rtl="0" algn="ctr">
              <a:lnSpc>
                <a:spcPct val="125000"/>
              </a:lnSpc>
              <a:buNone/>
            </a:pPr>
            <a:r>
              <a:rPr lang="en-US" sz="2400" b="1" i="0" dirty="0">
                <a:solidFill>
                  <a:srgbClr val="2B3038"/>
                </a:solidFill>
                <a:latin typeface="Tahoma"/>
                <a:ea typeface="Tahoma"/>
                <a:cs typeface="Tahoma"/>
              </a:rPr>
              <a:t>m = ΔT</a:t>
            </a:r>
            <a:r>
              <a:rPr baseline="-25000" lang="en-US" sz="2400" b="1" i="0" dirty="0">
                <a:solidFill>
                  <a:srgbClr val="2B3038"/>
                </a:solidFill>
                <a:latin typeface="Tahoma"/>
                <a:ea typeface="Tahoma"/>
                <a:cs typeface="Tahoma"/>
              </a:rPr>
              <a:t>fp</a:t>
            </a:r>
            <a:r>
              <a:rPr lang="en-US" sz="2400" b="1" i="0" dirty="0">
                <a:solidFill>
                  <a:srgbClr val="2B3038"/>
                </a:solidFill>
                <a:latin typeface="Tahoma"/>
                <a:ea typeface="Tahoma"/>
                <a:cs typeface="Tahoma"/>
              </a:rPr>
              <a:t xml:space="preserve"> / K</a:t>
            </a:r>
            <a:r>
              <a:rPr baseline="-25000" lang="en-US" sz="2400" b="1" i="0" dirty="0">
                <a:solidFill>
                  <a:srgbClr val="2B3038"/>
                </a:solidFill>
                <a:latin typeface="Tahoma"/>
                <a:ea typeface="Tahoma"/>
                <a:cs typeface="Tahoma"/>
              </a:rPr>
              <a:t>fp</a:t>
            </a:r>
            <a:r>
              <a:rPr lang="en-US" sz="2400" b="1" i="0" dirty="0">
                <a:solidFill>
                  <a:srgbClr val="2B3038"/>
                </a:solidFill>
                <a:latin typeface="Tahoma"/>
                <a:ea typeface="Tahoma"/>
                <a:cs typeface="Tahoma"/>
              </a:rPr>
              <a:t xml:space="preserve"> = 0.27 / 1.86 = 0.1452 mol/kg</a:t>
            </a:r>
          </a:p>
          <a:p>
            <a:pPr rtl="0" algn="ctr">
              <a:lnSpc>
                <a:spcPct val="125000"/>
              </a:lnSpc>
              <a:buNone/>
            </a:pPr>
            <a:r>
              <a:rPr lang="en-US" sz="2400" b="1" i="0" dirty="0">
                <a:solidFill>
                  <a:srgbClr val="2B3038"/>
                </a:solidFill>
                <a:latin typeface="Tahoma"/>
                <a:ea typeface="Tahoma"/>
                <a:cs typeface="Tahoma"/>
              </a:rPr>
              <a:t>n = m × kg</a:t>
            </a:r>
            <a:r>
              <a:rPr baseline="-25000" lang="en-US" sz="2400" b="1" i="0" dirty="0">
                <a:solidFill>
                  <a:srgbClr val="2B3038"/>
                </a:solidFill>
                <a:latin typeface="Tahoma"/>
                <a:ea typeface="Tahoma"/>
                <a:cs typeface="Tahoma"/>
              </a:rPr>
              <a:t>solvent</a:t>
            </a:r>
            <a:r>
              <a:rPr lang="en-US" sz="2400" b="1" i="0" dirty="0">
                <a:solidFill>
                  <a:srgbClr val="2B3038"/>
                </a:solidFill>
                <a:latin typeface="Tahoma"/>
                <a:ea typeface="Tahoma"/>
                <a:cs typeface="Tahoma"/>
              </a:rPr>
              <a:t xml:space="preserve"> = 0.1452 × 1 = 0.1452 mol</a:t>
            </a:r>
          </a:p>
          <a:p>
            <a:pPr rtl="0" algn="ctr">
              <a:lnSpc>
                <a:spcPct val="125000"/>
              </a:lnSpc>
              <a:buNone/>
            </a:pPr>
            <a:r>
              <a:rPr lang="en-US" sz="2400" b="1" i="0" dirty="0">
                <a:solidFill>
                  <a:srgbClr val="2B3038"/>
                </a:solidFill>
                <a:latin typeface="Tahoma"/>
                <a:ea typeface="Tahoma"/>
                <a:cs typeface="Tahoma"/>
              </a:rPr>
              <a:t>M</a:t>
            </a:r>
            <a:r>
              <a:rPr baseline="-25000" lang="en-US" sz="2400" b="1" i="0" dirty="0">
                <a:solidFill>
                  <a:srgbClr val="2B3038"/>
                </a:solidFill>
                <a:latin typeface="Tahoma"/>
                <a:ea typeface="Tahoma"/>
                <a:cs typeface="Tahoma"/>
              </a:rPr>
              <a:t>wt</a:t>
            </a:r>
            <a:r>
              <a:rPr lang="en-US" sz="2400" b="1" i="0" dirty="0">
                <a:solidFill>
                  <a:srgbClr val="2B3038"/>
                </a:solidFill>
                <a:latin typeface="Tahoma"/>
                <a:ea typeface="Tahoma"/>
                <a:cs typeface="Tahoma"/>
              </a:rPr>
              <a:t xml:space="preserve"> = m</a:t>
            </a:r>
            <a:r>
              <a:rPr baseline="-25000" lang="en-US" sz="2400" b="1" i="0" dirty="0">
                <a:solidFill>
                  <a:srgbClr val="2B3038"/>
                </a:solidFill>
                <a:latin typeface="Tahoma"/>
                <a:ea typeface="Tahoma"/>
                <a:cs typeface="Tahoma"/>
              </a:rPr>
              <a:t>s</a:t>
            </a:r>
            <a:r>
              <a:rPr lang="en-US" sz="2400" b="1" i="0" dirty="0">
                <a:solidFill>
                  <a:srgbClr val="2B3038"/>
                </a:solidFill>
                <a:latin typeface="Tahoma"/>
                <a:ea typeface="Tahoma"/>
                <a:cs typeface="Tahoma"/>
              </a:rPr>
              <a:t xml:space="preserve"> / n = 49.63 / 0.1452 = 341.9 g/mol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childTnLst>
                          </p:cTn>
                        </p:par>
                        <p:par>
                          <p:cTn id="11" fill="hold">
                            <p:stCondLst>
                              <p:cond delay="460"/>
                            </p:stCondLst>
                            <p:childTnLst>
                              <p:par>
                                <p:cTn id="12" presetID="10" presetClass="entr" presetSubtype="0" fill="hold" grpId="0" nodeType="after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fade">
                                      <p:cBhvr>
                                        <p:cTn id="14" dur="450"/>
                                        <p:tgtEl>
                                          <p:spTgt spid="13"/>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450"/>
                                        <p:tgtEl>
                                          <p:spTgt spid="1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450"/>
                                        <p:tgtEl>
                                          <p:spTgt spid="15"/>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450"/>
                                        <p:tgtEl>
                                          <p:spTgt spid="16"/>
                                        </p:tgtEl>
                                      </p:cBhvr>
                                    </p:animEffect>
                                  </p:childTnLst>
                                </p:cTn>
                              </p:par>
                            </p:childTnLst>
                          </p:cTn>
                        </p:par>
                        <p:par>
                          <p:cTn id="24" fill="hold">
                            <p:stCondLst>
                              <p:cond delay="970"/>
                            </p:stCondLst>
                            <p:childTnLst>
                              <p:par>
                                <p:cTn id="25" presetID="10" presetClass="entr" presetSubtype="0"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9">
                                            <p:txEl>
                                              <p:pRg st="0" end="0"/>
                                            </p:txEl>
                                          </p:spTgt>
                                        </p:tgtEl>
                                        <p:attrNameLst>
                                          <p:attrName>style.visibility</p:attrName>
                                        </p:attrNameLst>
                                      </p:cBhvr>
                                      <p:to>
                                        <p:strVal val="visible"/>
                                      </p:to>
                                    </p:set>
                                    <p:animEffect transition="in" filter="fade">
                                      <p:cBhvr>
                                        <p:cTn id="35" dur="400"/>
                                        <p:tgtEl>
                                          <p:spTgt spid="19">
                                            <p:txEl>
                                              <p:pRg st="0" end="0"/>
                                            </p:txEl>
                                          </p:spTgt>
                                        </p:tgtEl>
                                      </p:cBhvr>
                                    </p:animEffect>
                                    <p:anim calcmode="lin" valueType="num">
                                      <p:cBhvr>
                                        <p:cTn id="36" dur="4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37" dur="400" fill="hold"/>
                                        <p:tgtEl>
                                          <p:spTgt spid="19">
                                            <p:txEl>
                                              <p:pRg st="0" end="0"/>
                                            </p:txEl>
                                          </p:spTgt>
                                        </p:tgtEl>
                                        <p:attrNameLst>
                                          <p:attrName>ppt_y</p:attrName>
                                        </p:attrNameLst>
                                      </p:cBhvr>
                                      <p:tavLst>
                                        <p:tav tm="0">
                                          <p:val>
                                            <p:strVal val="#ppt_y+.1"/>
                                          </p:val>
                                        </p:tav>
                                        <p:tav tm="100000">
                                          <p:val>
                                            <p:strVal val="#ppt_y"/>
                                          </p:val>
                                        </p:tav>
                                      </p:tavLst>
                                    </p:anim>
                                  </p:childTnLst>
                                </p:cTn>
                              </p:par>
                            </p:childTnLst>
                          </p:cTn>
                        </p:par>
                        <p:par>
                          <p:cTn id="38" fill="hold">
                            <p:stCondLst>
                              <p:cond delay="460"/>
                            </p:stCondLst>
                            <p:childTnLst>
                              <p:par>
                                <p:cTn id="39" presetID="42" presetClass="entr" presetSubtype="0" fill="hold" grpId="0" nodeType="afterEffect">
                                  <p:stCondLst>
                                    <p:cond delay="0"/>
                                  </p:stCondLst>
                                  <p:childTnLst>
                                    <p:set>
                                      <p:cBhvr>
                                        <p:cTn id="40" dur="1" fill="hold">
                                          <p:stCondLst>
                                            <p:cond delay="0"/>
                                          </p:stCondLst>
                                        </p:cTn>
                                        <p:tgtEl>
                                          <p:spTgt spid="19">
                                            <p:txEl>
                                              <p:pRg st="1" end="1"/>
                                            </p:txEl>
                                          </p:spTgt>
                                        </p:tgtEl>
                                        <p:attrNameLst>
                                          <p:attrName>style.visibility</p:attrName>
                                        </p:attrNameLst>
                                      </p:cBhvr>
                                      <p:to>
                                        <p:strVal val="visible"/>
                                      </p:to>
                                    </p:set>
                                    <p:animEffect transition="in" filter="fade">
                                      <p:cBhvr>
                                        <p:cTn id="41" dur="400"/>
                                        <p:tgtEl>
                                          <p:spTgt spid="19">
                                            <p:txEl>
                                              <p:pRg st="1" end="1"/>
                                            </p:txEl>
                                          </p:spTgt>
                                        </p:tgtEl>
                                      </p:cBhvr>
                                    </p:animEffect>
                                    <p:anim calcmode="lin" valueType="num">
                                      <p:cBhvr>
                                        <p:cTn id="42" dur="4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43" dur="400" fill="hold"/>
                                        <p:tgtEl>
                                          <p:spTgt spid="19">
                                            <p:txEl>
                                              <p:pRg st="1" end="1"/>
                                            </p:txEl>
                                          </p:spTgt>
                                        </p:tgtEl>
                                        <p:attrNameLst>
                                          <p:attrName>ppt_y</p:attrName>
                                        </p:attrNameLst>
                                      </p:cBhvr>
                                      <p:tavLst>
                                        <p:tav tm="0">
                                          <p:val>
                                            <p:strVal val="#ppt_y+.1"/>
                                          </p:val>
                                        </p:tav>
                                        <p:tav tm="100000">
                                          <p:val>
                                            <p:strVal val="#ppt_y"/>
                                          </p:val>
                                        </p:tav>
                                      </p:tavLst>
                                    </p:anim>
                                  </p:childTnLst>
                                </p:cTn>
                              </p:par>
                            </p:childTnLst>
                          </p:cTn>
                        </p:par>
                        <p:par>
                          <p:cTn id="44" fill="hold">
                            <p:stCondLst>
                              <p:cond delay="920"/>
                            </p:stCondLst>
                            <p:childTnLst>
                              <p:par>
                                <p:cTn id="45" presetID="42" presetClass="entr" presetSubtype="0" fill="hold" grpId="0" nodeType="afterEffect">
                                  <p:stCondLst>
                                    <p:cond delay="0"/>
                                  </p:stCondLst>
                                  <p:childTnLst>
                                    <p:set>
                                      <p:cBhvr>
                                        <p:cTn id="46" dur="1" fill="hold">
                                          <p:stCondLst>
                                            <p:cond delay="0"/>
                                          </p:stCondLst>
                                        </p:cTn>
                                        <p:tgtEl>
                                          <p:spTgt spid="19">
                                            <p:txEl>
                                              <p:pRg st="2" end="2"/>
                                            </p:txEl>
                                          </p:spTgt>
                                        </p:tgtEl>
                                        <p:attrNameLst>
                                          <p:attrName>style.visibility</p:attrName>
                                        </p:attrNameLst>
                                      </p:cBhvr>
                                      <p:to>
                                        <p:strVal val="visible"/>
                                      </p:to>
                                    </p:set>
                                    <p:animEffect transition="in" filter="fade">
                                      <p:cBhvr>
                                        <p:cTn id="47" dur="400"/>
                                        <p:tgtEl>
                                          <p:spTgt spid="19">
                                            <p:txEl>
                                              <p:pRg st="2" end="2"/>
                                            </p:txEl>
                                          </p:spTgt>
                                        </p:tgtEl>
                                      </p:cBhvr>
                                    </p:animEffect>
                                    <p:anim calcmode="lin" valueType="num">
                                      <p:cBhvr>
                                        <p:cTn id="48" dur="4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49" dur="4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par>
                          <p:cTn id="50" fill="hold">
                            <p:stCondLst>
                              <p:cond delay="1380"/>
                            </p:stCondLst>
                            <p:childTnLst>
                              <p:par>
                                <p:cTn id="51" presetID="42" presetClass="entr" presetSubtype="0" fill="hold" grpId="0" nodeType="afterEffect">
                                  <p:stCondLst>
                                    <p:cond delay="0"/>
                                  </p:stCondLst>
                                  <p:childTnLst>
                                    <p:set>
                                      <p:cBhvr>
                                        <p:cTn id="52" dur="1" fill="hold">
                                          <p:stCondLst>
                                            <p:cond delay="0"/>
                                          </p:stCondLst>
                                        </p:cTn>
                                        <p:tgtEl>
                                          <p:spTgt spid="19">
                                            <p:txEl>
                                              <p:pRg st="3" end="3"/>
                                            </p:txEl>
                                          </p:spTgt>
                                        </p:tgtEl>
                                        <p:attrNameLst>
                                          <p:attrName>style.visibility</p:attrName>
                                        </p:attrNameLst>
                                      </p:cBhvr>
                                      <p:to>
                                        <p:strVal val="visible"/>
                                      </p:to>
                                    </p:set>
                                    <p:animEffect transition="in" filter="fade">
                                      <p:cBhvr>
                                        <p:cTn id="53" dur="400"/>
                                        <p:tgtEl>
                                          <p:spTgt spid="19">
                                            <p:txEl>
                                              <p:pRg st="3" end="3"/>
                                            </p:txEl>
                                          </p:spTgt>
                                        </p:tgtEl>
                                      </p:cBhvr>
                                    </p:animEffect>
                                    <p:anim calcmode="lin" valueType="num">
                                      <p:cBhvr>
                                        <p:cTn id="54" dur="400" fill="hold"/>
                                        <p:tgtEl>
                                          <p:spTgt spid="19">
                                            <p:txEl>
                                              <p:pRg st="3" end="3"/>
                                            </p:txEl>
                                          </p:spTgt>
                                        </p:tgtEl>
                                        <p:attrNameLst>
                                          <p:attrName>ppt_x</p:attrName>
                                        </p:attrNameLst>
                                      </p:cBhvr>
                                      <p:tavLst>
                                        <p:tav tm="0">
                                          <p:val>
                                            <p:strVal val="#ppt_x"/>
                                          </p:val>
                                        </p:tav>
                                        <p:tav tm="100000">
                                          <p:val>
                                            <p:strVal val="#ppt_x"/>
                                          </p:val>
                                        </p:tav>
                                      </p:tavLst>
                                    </p:anim>
                                    <p:anim calcmode="lin" valueType="num">
                                      <p:cBhvr>
                                        <p:cTn id="55" dur="400" fill="hold"/>
                                        <p:tgtEl>
                                          <p:spTgt spid="1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16" grpId="0" animBg="1"/>
      <p:bldP spid="17" grpId="0" animBg="1"/>
      <p:bldP spid="18" grpId="0" animBg="1"/>
      <p:bldP spid="19"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50</Slides>
  <Notes>0</Notes>
  <HiddenSlides>0</HiddenSlides>
  <MMClips>0</MMClip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خلود فيصل محمود البلوشي</cp:lastModifiedBy>
  <cp:revision>5</cp:revision>
  <dcterms:created xsi:type="dcterms:W3CDTF">2006-08-16T00:00:00Z</dcterms:created>
  <dcterms:modified xsi:type="dcterms:W3CDTF">2026-10-24T08:18:21Z</dcterms:modified>
</cp:coreProperties>
</file>