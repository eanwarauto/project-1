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c0f441ee-da2c-5ed4-7ce0-4cb20cfaf2ba}">
          <p14:sldIdLst>
            <p14:sldId id="256"/>
            <p14:sldId id="257"/>
            <p14:sldId id="258"/>
            <p14:sldId id="259"/>
            <p14:sldId id="260"/>
            <p14:sldId id="261"/>
          </p14:sldIdLst>
        </p14:section>
        <p14:section name="نصف القطر الذري" id="{2d868b36-16be-bed1-f5de-bed7ae75138b}">
          <p14:sldIdLst>
            <p14:sldId id="262"/>
            <p14:sldId id="263"/>
            <p14:sldId id="264"/>
            <p14:sldId id="265"/>
            <p14:sldId id="266"/>
            <p14:sldId id="267"/>
            <p14:sldId id="268"/>
            <p14:sldId id="269"/>
            <p14:sldId id="270"/>
            <p14:sldId id="271"/>
            <p14:sldId id="272"/>
            <p14:sldId id="273"/>
            <p14:sldId id="274"/>
            <p14:sldId id="275"/>
          </p14:sldIdLst>
        </p14:section>
        <p14:section name="طاقة التأين" id="{1fb91514-e695-ea64-57c2-5d6212c6bc22}">
          <p14:sldIdLst>
            <p14:sldId id="276"/>
            <p14:sldId id="277"/>
            <p14:sldId id="278"/>
            <p14:sldId id="279"/>
            <p14:sldId id="280"/>
            <p14:sldId id="281"/>
            <p14:sldId id="282"/>
            <p14:sldId id="283"/>
            <p14:sldId id="284"/>
          </p14:sldIdLst>
        </p14:section>
        <p14:section name="طاقة الميل الإلكتروني" id="{520f75b7-0538-eaff-ce14-263924142adb}">
          <p14:sldIdLst>
            <p14:sldId id="285"/>
            <p14:sldId id="286"/>
            <p14:sldId id="287"/>
            <p14:sldId id="288"/>
            <p14:sldId id="289"/>
            <p14:sldId id="290"/>
            <p14:sldId id="291"/>
            <p14:sldId id="292"/>
            <p14:sldId id="293"/>
          </p14:sldIdLst>
        </p14:section>
        <p14:section name="السالبية الكهربائية" id="{4a6dd6ee-9a8f-2705-246b-dafa5d866838}">
          <p14:sldIdLst>
            <p14:sldId id="294"/>
            <p14:sldId id="295"/>
            <p14:sldId id="296"/>
            <p14:sldId id="297"/>
            <p14:sldId id="298"/>
            <p14:sldId id="299"/>
            <p14:sldId id="300"/>
            <p14:sldId id="301"/>
          </p14:sldIdLst>
        </p14:section>
        <p14:section name="المراجعة والتقويم" id="{e4393fa7-08e0-1a7a-3e3e-bb6b156946dd}">
          <p14:sldIdLst>
            <p14:sldId id="302"/>
            <p14:sldId id="303"/>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jpg"/><Relationship Id="rId2" Type="http://schemas.openxmlformats.org/officeDocument/2006/relationships/image" Target="../media/image-1005-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gen">
    <p:bg>
      <p:bgPr>
        <a:solidFill>
          <a:srgbClr val="EAF6FB"/>
        </a:solidFill>
      </p:bgPr>
    </p:bg>
    <p:spTree>
      <p:nvGrpSpPr>
        <p:cNvPr id="1" name=""/>
        <p:cNvGrpSpPr/>
        <p:nvPr/>
      </p:nvGrpSpPr>
      <p:grpSpPr>
        <a:xfrm>
          <a:off x="0" y="0"/>
          <a:ext cx="0" cy="0"/>
          <a:chOff x="0" y="0"/>
          <a:chExt cx="0" cy="0"/>
        </a:xfrm>
      </p:grpSpPr>
      <p:pic>
        <p:nvPicPr>
          <p:cNvPr id="2" name="Image 0" descr="/tmp/claude-0/-home-user-Project-1/c7d0d2a1-f360-54f1-afe5-e7480b814ba9/scratchpad/build/a/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365760" y="201168"/>
            <a:ext cx="11457432" cy="914400"/>
          </a:xfrm>
          <a:prstGeom prst="roundRect">
            <a:avLst>
              <a:gd name="adj" fmla="val 20000"/>
            </a:avLst>
          </a:prstGeom>
          <a:solidFill>
            <a:srgbClr val="FFFFFF">
              <a:alpha val="82000"/>
            </a:srgbClr>
          </a:solidFill>
          <a:ln w="19050">
            <a:solidFill>
              <a:srgbClr val="00B4D8"/>
            </a:solidFill>
          </a:ln>
        </p:spPr>
        <p:txBody>
          <a:bodyPr wrap="square" rtlCol="0" anchor="ctr"/>
          <a:lstStyle/>
          <a:p>
            <a:pPr indent="0" marL="0">
              <a:buNone/>
            </a:pPr>
            <a:endParaRPr lang="en-US" dirty="0"/>
          </a:p>
        </p:txBody>
      </p:sp>
      <p:pic>
        <p:nvPicPr>
          <p:cNvPr id="4" name="Image 1" descr="/tmp/claude-0/-home-user-Project-1/c7d0d2a1-f360-54f1-afe5-e7480b814ba9/scratchpad/build/a/h_atom.png">    </p:cNvPr>
          <p:cNvPicPr>
            <a:picLocks noChangeAspect="1"/>
          </p:cNvPicPr>
          <p:nvPr/>
        </p:nvPicPr>
        <p:blipFill>
          <a:blip r:embed="rId2"/>
          <a:stretch>
            <a:fillRect/>
          </a:stretch>
        </p:blipFill>
        <p:spPr>
          <a:xfrm>
            <a:off x="11018520" y="292608"/>
            <a:ext cx="969264" cy="676656"/>
          </a:xfrm>
          <a:prstGeom prst="rect">
            <a:avLst/>
          </a:prstGeom>
        </p:spPr>
      </p:pic>
      <p:sp>
        <p:nvSpPr>
          <p:cNvPr id="5" name="Text 1"/>
          <p:cNvSpPr/>
          <p:nvPr>
            <p:ph idx="103" type="title" hasCustomPrompt="1"/>
          </p:nvPr>
        </p:nvSpPr>
        <p:spPr>
          <a:xfrm>
            <a:off x="640080" y="292608"/>
            <a:ext cx="10287000" cy="731520"/>
          </a:xfrm>
          <a:prstGeom prst="rect">
            <a:avLst/>
          </a:prstGeom>
          <a:noFill/>
          <a:ln/>
        </p:spPr>
        <p:txBody>
          <a:bodyPr wrap="square" rtlCol="0"/>
          <a:lstStyle>
            <a:lvl1pPr algn="r" indent="0" marL="0">
              <a:buNone/>
              <a:defRPr lang="en-US" sz="2800" b="1" dirty="0">
                <a:solidFill>
                  <a:srgbClr val="0B2545"/>
                </a:solidFill>
                <a:latin typeface="Segoe UI" pitchFamily="34" charset="0"/>
                <a:ea typeface="Segoe UI" pitchFamily="34" charset="-122"/>
                <a:cs typeface="Segoe UI" pitchFamily="34" charset="-120"/>
              </a:defRPr>
            </a:lvl1pPr>
          </a:lstStyle>
          <a:p>
            <a:pPr algn="r"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rad">
    <p:bg>
      <p:bgPr>
        <a:solidFill>
          <a:srgbClr val="EAF6FB"/>
        </a:solidFill>
      </p:bgPr>
    </p:bg>
    <p:spTree>
      <p:nvGrpSpPr>
        <p:cNvPr id="1" name=""/>
        <p:cNvGrpSpPr/>
        <p:nvPr/>
      </p:nvGrpSpPr>
      <p:grpSpPr>
        <a:xfrm>
          <a:off x="0" y="0"/>
          <a:ext cx="0" cy="0"/>
          <a:chOff x="0" y="0"/>
          <a:chExt cx="0" cy="0"/>
        </a:xfrm>
      </p:grpSpPr>
      <p:pic>
        <p:nvPicPr>
          <p:cNvPr id="2" name="Image 0" descr="/tmp/claude-0/-home-user-Project-1/c7d0d2a1-f360-54f1-afe5-e7480b814ba9/scratchpad/build/a/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365760" y="201168"/>
            <a:ext cx="11457432" cy="914400"/>
          </a:xfrm>
          <a:prstGeom prst="roundRect">
            <a:avLst>
              <a:gd name="adj" fmla="val 20000"/>
            </a:avLst>
          </a:prstGeom>
          <a:solidFill>
            <a:srgbClr val="FFFFFF">
              <a:alpha val="82000"/>
            </a:srgbClr>
          </a:solidFill>
          <a:ln w="19050">
            <a:solidFill>
              <a:srgbClr val="00B4D8"/>
            </a:solidFill>
          </a:ln>
        </p:spPr>
        <p:txBody>
          <a:bodyPr wrap="square" rtlCol="0" anchor="ctr"/>
          <a:lstStyle/>
          <a:p>
            <a:pPr indent="0" marL="0">
              <a:buNone/>
            </a:pPr>
            <a:endParaRPr lang="en-US" dirty="0"/>
          </a:p>
        </p:txBody>
      </p:sp>
      <p:pic>
        <p:nvPicPr>
          <p:cNvPr id="4" name="Image 1" descr="/tmp/claude-0/-home-user-Project-1/c7d0d2a1-f360-54f1-afe5-e7480b814ba9/scratchpad/build/a/l/badge_radius.png">    </p:cNvPr>
          <p:cNvPicPr>
            <a:picLocks noChangeAspect="1"/>
          </p:cNvPicPr>
          <p:nvPr/>
        </p:nvPicPr>
        <p:blipFill>
          <a:blip r:embed="rId2"/>
          <a:stretch>
            <a:fillRect/>
          </a:stretch>
        </p:blipFill>
        <p:spPr>
          <a:xfrm>
            <a:off x="11155680" y="274320"/>
            <a:ext cx="713232" cy="758952"/>
          </a:xfrm>
          <a:prstGeom prst="rect">
            <a:avLst/>
          </a:prstGeom>
        </p:spPr>
      </p:pic>
      <p:sp>
        <p:nvSpPr>
          <p:cNvPr id="5" name="Text 1"/>
          <p:cNvSpPr/>
          <p:nvPr>
            <p:ph idx="103" type="title" hasCustomPrompt="1"/>
          </p:nvPr>
        </p:nvSpPr>
        <p:spPr>
          <a:xfrm>
            <a:off x="640080" y="292608"/>
            <a:ext cx="10287000" cy="731520"/>
          </a:xfrm>
          <a:prstGeom prst="rect">
            <a:avLst/>
          </a:prstGeom>
          <a:noFill/>
          <a:ln/>
        </p:spPr>
        <p:txBody>
          <a:bodyPr wrap="square" rtlCol="0"/>
          <a:lstStyle>
            <a:lvl1pPr algn="r" indent="0" marL="0">
              <a:buNone/>
              <a:defRPr lang="en-US" sz="2800" b="1" dirty="0">
                <a:solidFill>
                  <a:srgbClr val="0B2545"/>
                </a:solidFill>
                <a:latin typeface="Segoe UI" pitchFamily="34" charset="0"/>
                <a:ea typeface="Segoe UI" pitchFamily="34" charset="-122"/>
                <a:cs typeface="Segoe UI" pitchFamily="34" charset="-120"/>
              </a:defRPr>
            </a:lvl1pPr>
          </a:lstStyle>
          <a:p>
            <a:pPr algn="r"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ie">
    <p:bg>
      <p:bgPr>
        <a:solidFill>
          <a:srgbClr val="EAF6FB"/>
        </a:solidFill>
      </p:bgPr>
    </p:bg>
    <p:spTree>
      <p:nvGrpSpPr>
        <p:cNvPr id="1" name=""/>
        <p:cNvGrpSpPr/>
        <p:nvPr/>
      </p:nvGrpSpPr>
      <p:grpSpPr>
        <a:xfrm>
          <a:off x="0" y="0"/>
          <a:ext cx="0" cy="0"/>
          <a:chOff x="0" y="0"/>
          <a:chExt cx="0" cy="0"/>
        </a:xfrm>
      </p:grpSpPr>
      <p:pic>
        <p:nvPicPr>
          <p:cNvPr id="2" name="Image 0" descr="/tmp/claude-0/-home-user-Project-1/c7d0d2a1-f360-54f1-afe5-e7480b814ba9/scratchpad/build/a/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365760" y="201168"/>
            <a:ext cx="11457432" cy="914400"/>
          </a:xfrm>
          <a:prstGeom prst="roundRect">
            <a:avLst>
              <a:gd name="adj" fmla="val 20000"/>
            </a:avLst>
          </a:prstGeom>
          <a:solidFill>
            <a:srgbClr val="FFFFFF">
              <a:alpha val="82000"/>
            </a:srgbClr>
          </a:solidFill>
          <a:ln w="19050">
            <a:solidFill>
              <a:srgbClr val="00B4D8"/>
            </a:solidFill>
          </a:ln>
        </p:spPr>
        <p:txBody>
          <a:bodyPr wrap="square" rtlCol="0" anchor="ctr"/>
          <a:lstStyle/>
          <a:p>
            <a:pPr indent="0" marL="0">
              <a:buNone/>
            </a:pPr>
            <a:endParaRPr lang="en-US" dirty="0"/>
          </a:p>
        </p:txBody>
      </p:sp>
      <p:pic>
        <p:nvPicPr>
          <p:cNvPr id="4" name="Image 1" descr="/tmp/claude-0/-home-user-Project-1/c7d0d2a1-f360-54f1-afe5-e7480b814ba9/scratchpad/build/a/l/badge_ie.png">    </p:cNvPr>
          <p:cNvPicPr>
            <a:picLocks noChangeAspect="1"/>
          </p:cNvPicPr>
          <p:nvPr/>
        </p:nvPicPr>
        <p:blipFill>
          <a:blip r:embed="rId2"/>
          <a:stretch>
            <a:fillRect/>
          </a:stretch>
        </p:blipFill>
        <p:spPr>
          <a:xfrm>
            <a:off x="11155680" y="274320"/>
            <a:ext cx="713232" cy="758952"/>
          </a:xfrm>
          <a:prstGeom prst="rect">
            <a:avLst/>
          </a:prstGeom>
        </p:spPr>
      </p:pic>
      <p:sp>
        <p:nvSpPr>
          <p:cNvPr id="5" name="Text 1"/>
          <p:cNvSpPr/>
          <p:nvPr>
            <p:ph idx="103" type="title" hasCustomPrompt="1"/>
          </p:nvPr>
        </p:nvSpPr>
        <p:spPr>
          <a:xfrm>
            <a:off x="640080" y="292608"/>
            <a:ext cx="10287000" cy="731520"/>
          </a:xfrm>
          <a:prstGeom prst="rect">
            <a:avLst/>
          </a:prstGeom>
          <a:noFill/>
          <a:ln/>
        </p:spPr>
        <p:txBody>
          <a:bodyPr wrap="square" rtlCol="0"/>
          <a:lstStyle>
            <a:lvl1pPr algn="r" indent="0" marL="0">
              <a:buNone/>
              <a:defRPr lang="en-US" sz="2800" b="1" dirty="0">
                <a:solidFill>
                  <a:srgbClr val="0B2545"/>
                </a:solidFill>
                <a:latin typeface="Segoe UI" pitchFamily="34" charset="0"/>
                <a:ea typeface="Segoe UI" pitchFamily="34" charset="-122"/>
                <a:cs typeface="Segoe UI" pitchFamily="34" charset="-120"/>
              </a:defRPr>
            </a:lvl1pPr>
          </a:lstStyle>
          <a:p>
            <a:pPr algn="r"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ea">
    <p:bg>
      <p:bgPr>
        <a:solidFill>
          <a:srgbClr val="EAF6FB"/>
        </a:solidFill>
      </p:bgPr>
    </p:bg>
    <p:spTree>
      <p:nvGrpSpPr>
        <p:cNvPr id="1" name=""/>
        <p:cNvGrpSpPr/>
        <p:nvPr/>
      </p:nvGrpSpPr>
      <p:grpSpPr>
        <a:xfrm>
          <a:off x="0" y="0"/>
          <a:ext cx="0" cy="0"/>
          <a:chOff x="0" y="0"/>
          <a:chExt cx="0" cy="0"/>
        </a:xfrm>
      </p:grpSpPr>
      <p:pic>
        <p:nvPicPr>
          <p:cNvPr id="2" name="Image 0" descr="/tmp/claude-0/-home-user-Project-1/c7d0d2a1-f360-54f1-afe5-e7480b814ba9/scratchpad/build/a/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365760" y="201168"/>
            <a:ext cx="11457432" cy="914400"/>
          </a:xfrm>
          <a:prstGeom prst="roundRect">
            <a:avLst>
              <a:gd name="adj" fmla="val 20000"/>
            </a:avLst>
          </a:prstGeom>
          <a:solidFill>
            <a:srgbClr val="FFFFFF">
              <a:alpha val="82000"/>
            </a:srgbClr>
          </a:solidFill>
          <a:ln w="19050">
            <a:solidFill>
              <a:srgbClr val="00B4D8"/>
            </a:solidFill>
          </a:ln>
        </p:spPr>
        <p:txBody>
          <a:bodyPr wrap="square" rtlCol="0" anchor="ctr"/>
          <a:lstStyle/>
          <a:p>
            <a:pPr indent="0" marL="0">
              <a:buNone/>
            </a:pPr>
            <a:endParaRPr lang="en-US" dirty="0"/>
          </a:p>
        </p:txBody>
      </p:sp>
      <p:pic>
        <p:nvPicPr>
          <p:cNvPr id="4" name="Image 1" descr="/tmp/claude-0/-home-user-Project-1/c7d0d2a1-f360-54f1-afe5-e7480b814ba9/scratchpad/build/a/l/badge_ea.png">    </p:cNvPr>
          <p:cNvPicPr>
            <a:picLocks noChangeAspect="1"/>
          </p:cNvPicPr>
          <p:nvPr/>
        </p:nvPicPr>
        <p:blipFill>
          <a:blip r:embed="rId2"/>
          <a:stretch>
            <a:fillRect/>
          </a:stretch>
        </p:blipFill>
        <p:spPr>
          <a:xfrm>
            <a:off x="11155680" y="274320"/>
            <a:ext cx="713232" cy="758952"/>
          </a:xfrm>
          <a:prstGeom prst="rect">
            <a:avLst/>
          </a:prstGeom>
        </p:spPr>
      </p:pic>
      <p:sp>
        <p:nvSpPr>
          <p:cNvPr id="5" name="Text 1"/>
          <p:cNvSpPr/>
          <p:nvPr>
            <p:ph idx="103" type="title" hasCustomPrompt="1"/>
          </p:nvPr>
        </p:nvSpPr>
        <p:spPr>
          <a:xfrm>
            <a:off x="640080" y="292608"/>
            <a:ext cx="10287000" cy="731520"/>
          </a:xfrm>
          <a:prstGeom prst="rect">
            <a:avLst/>
          </a:prstGeom>
          <a:noFill/>
          <a:ln/>
        </p:spPr>
        <p:txBody>
          <a:bodyPr wrap="square" rtlCol="0"/>
          <a:lstStyle>
            <a:lvl1pPr algn="r" indent="0" marL="0">
              <a:buNone/>
              <a:defRPr lang="en-US" sz="2800" b="1" dirty="0">
                <a:solidFill>
                  <a:srgbClr val="0B2545"/>
                </a:solidFill>
                <a:latin typeface="Segoe UI" pitchFamily="34" charset="0"/>
                <a:ea typeface="Segoe UI" pitchFamily="34" charset="-122"/>
                <a:cs typeface="Segoe UI" pitchFamily="34" charset="-120"/>
              </a:defRPr>
            </a:lvl1pPr>
          </a:lstStyle>
          <a:p>
            <a:pPr algn="r" indent="0" marL="0">
              <a:buNone/>
            </a:pPr>
            <a:endParaRPr lang="en-US" sz="28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en">
    <p:bg>
      <p:bgPr>
        <a:solidFill>
          <a:srgbClr val="EAF6FB"/>
        </a:solidFill>
      </p:bgPr>
    </p:bg>
    <p:spTree>
      <p:nvGrpSpPr>
        <p:cNvPr id="1" name=""/>
        <p:cNvGrpSpPr/>
        <p:nvPr/>
      </p:nvGrpSpPr>
      <p:grpSpPr>
        <a:xfrm>
          <a:off x="0" y="0"/>
          <a:ext cx="0" cy="0"/>
          <a:chOff x="0" y="0"/>
          <a:chExt cx="0" cy="0"/>
        </a:xfrm>
      </p:grpSpPr>
      <p:pic>
        <p:nvPicPr>
          <p:cNvPr id="2" name="Image 0" descr="/tmp/claude-0/-home-user-Project-1/c7d0d2a1-f360-54f1-afe5-e7480b814ba9/scratchpad/build/a/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365760" y="201168"/>
            <a:ext cx="11457432" cy="914400"/>
          </a:xfrm>
          <a:prstGeom prst="roundRect">
            <a:avLst>
              <a:gd name="adj" fmla="val 20000"/>
            </a:avLst>
          </a:prstGeom>
          <a:solidFill>
            <a:srgbClr val="FFFFFF">
              <a:alpha val="82000"/>
            </a:srgbClr>
          </a:solidFill>
          <a:ln w="19050">
            <a:solidFill>
              <a:srgbClr val="00B4D8"/>
            </a:solidFill>
          </a:ln>
        </p:spPr>
        <p:txBody>
          <a:bodyPr wrap="square" rtlCol="0" anchor="ctr"/>
          <a:lstStyle/>
          <a:p>
            <a:pPr indent="0" marL="0">
              <a:buNone/>
            </a:pPr>
            <a:endParaRPr lang="en-US" dirty="0"/>
          </a:p>
        </p:txBody>
      </p:sp>
      <p:pic>
        <p:nvPicPr>
          <p:cNvPr id="4" name="Image 1" descr="/tmp/claude-0/-home-user-Project-1/c7d0d2a1-f360-54f1-afe5-e7480b814ba9/scratchpad/build/a/l/badge_en.png">    </p:cNvPr>
          <p:cNvPicPr>
            <a:picLocks noChangeAspect="1"/>
          </p:cNvPicPr>
          <p:nvPr/>
        </p:nvPicPr>
        <p:blipFill>
          <a:blip r:embed="rId2"/>
          <a:stretch>
            <a:fillRect/>
          </a:stretch>
        </p:blipFill>
        <p:spPr>
          <a:xfrm>
            <a:off x="11155680" y="274320"/>
            <a:ext cx="713232" cy="758952"/>
          </a:xfrm>
          <a:prstGeom prst="rect">
            <a:avLst/>
          </a:prstGeom>
        </p:spPr>
      </p:pic>
      <p:sp>
        <p:nvSpPr>
          <p:cNvPr id="5" name="Text 1"/>
          <p:cNvSpPr/>
          <p:nvPr>
            <p:ph idx="103" type="title" hasCustomPrompt="1"/>
          </p:nvPr>
        </p:nvSpPr>
        <p:spPr>
          <a:xfrm>
            <a:off x="640080" y="292608"/>
            <a:ext cx="10287000" cy="731520"/>
          </a:xfrm>
          <a:prstGeom prst="rect">
            <a:avLst/>
          </a:prstGeom>
          <a:noFill/>
          <a:ln/>
        </p:spPr>
        <p:txBody>
          <a:bodyPr wrap="square" rtlCol="0"/>
          <a:lstStyle>
            <a:lvl1pPr algn="r" indent="0" marL="0">
              <a:buNone/>
              <a:defRPr lang="en-US" sz="2800" b="1" dirty="0">
                <a:solidFill>
                  <a:srgbClr val="0B2545"/>
                </a:solidFill>
                <a:latin typeface="Segoe UI" pitchFamily="34" charset="0"/>
                <a:ea typeface="Segoe UI" pitchFamily="34" charset="-122"/>
                <a:cs typeface="Segoe UI" pitchFamily="34" charset="-120"/>
              </a:defRPr>
            </a:lvl1pPr>
          </a:lstStyle>
          <a:p>
            <a:pPr algn="r" indent="0" marL="0">
              <a:buNone/>
            </a:pPr>
            <a:endParaRPr lang="en-US" sz="2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343400"/>
            <a:ext cx="6583680" cy="1005840"/>
          </a:xfrm>
          <a:prstGeom prst="rect">
            <a:avLst/>
          </a:prstGeom>
          <a:noFill/>
          <a:ln/>
        </p:spPr>
        <p:txBody>
          <a:bodyPr wrap="square" rtlCol="0"/>
          <a:lstStyle>
            <a:lvl1pPr algn="r" indent="0" marL="0">
              <a:buNone/>
              <a:defRPr lang="en-US" sz="4800" b="1" dirty="0">
                <a:solidFill>
                  <a:srgbClr val="FFFFFF"/>
                </a:solidFill>
                <a:latin typeface="Segoe UI" pitchFamily="34" charset="0"/>
                <a:ea typeface="Segoe UI" pitchFamily="34" charset="-122"/>
                <a:cs typeface="Segoe UI" pitchFamily="34" charset="-120"/>
              </a:defRPr>
            </a:lvl1pPr>
          </a:lstStyle>
          <a:p>
            <a:pPr algn="r" indent="0" marL="0">
              <a:buNone/>
            </a:pPr>
            <a:endParaRPr lang="en-US" sz="48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_BG">
    <p:bg>
      <p:bgPr>
        <a:solidFill>
          <a:srgbClr val="EAF6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8.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7.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7.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7.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5.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5.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5.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5.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7.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6.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6.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6.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6.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6.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2.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8.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g" descr="/tmp/claude-0/-home-user-Project-1/c7d0d2a1-f360-54f1-afe5-e7480b814ba9/scratchpad/build/a/title.jpg">    </p:cNvPr>
          <p:cNvPicPr>
            <a:picLocks noChangeAspect="1"/>
          </p:cNvPicPr>
          <p:nvPr/>
        </p:nvPicPr>
        <p:blipFill>
          <a:blip r:embed="rId1"/>
          <a:stretch>
            <a:fillRect/>
          </a:stretch>
        </p:blipFill>
        <p:spPr>
          <a:xfrm>
            <a:off x="0" y="0"/>
            <a:ext cx="12191695" cy="6858000"/>
          </a:xfrm>
          <a:prstGeom prst="rect">
            <a:avLst/>
          </a:prstGeom>
        </p:spPr>
      </p:pic>
      <p:sp>
        <p:nvSpPr>
          <p:cNvPr id="3" name="zoom:a:1"/>
          <p:cNvSpPr/>
          <p:nvPr/>
        </p:nvSpPr>
        <p:spPr>
          <a:xfrm>
            <a:off x="5166360" y="320040"/>
            <a:ext cx="1828800" cy="502920"/>
          </a:xfrm>
          <a:prstGeom prst="roundRect">
            <a:avLst>
              <a:gd name="adj" fmla="val 50000"/>
            </a:avLst>
          </a:prstGeom>
          <a:solidFill>
            <a:srgbClr val="F59E0B"/>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الدرس [3-2]</a:t>
            </a:r>
            <a:endParaRPr lang="ar-SA" sz="1800" dirty="0"/>
          </a:p>
        </p:txBody>
      </p:sp>
      <p:sp>
        <p:nvSpPr>
          <p:cNvPr id="4" name="float:a:2"/>
          <p:cNvSpPr txBox="1"/>
          <p:nvPr/>
        </p:nvSpPr>
        <p:spPr>
          <a:xfrm>
            <a:off x="2011680" y="777240"/>
            <a:ext cx="8138160" cy="1188720"/>
          </a:xfrm>
          <a:prstGeom prst="rect">
            <a:avLst/>
          </a:prstGeom>
          <a:noFill/>
          <a:ln/>
        </p:spPr>
        <p:txBody>
          <a:bodyPr wrap="square" lIns="0" tIns="0" rIns="0" bIns="0" rtlCol="0" anchor="ctr"/>
          <a:lstStyle/>
          <a:p>
            <a:pPr rtl="1" algn="ctr" indent="0" marL="0">
              <a:lnSpc>
                <a:spcPct val="105000"/>
              </a:lnSpc>
              <a:buNone/>
            </a:pPr>
            <a:r>
              <a:rPr lang="ar-SA" altLang="en-US" sz="6600" b="1" dirty="0">
                <a:solidFill>
                  <a:srgbClr val="0B2545"/>
                </a:solidFill>
                <a:latin typeface="Segoe UI" pitchFamily="34" charset="0"/>
                <a:ea typeface="Segoe UI" pitchFamily="34" charset="-122"/>
                <a:cs typeface="Segoe UI" pitchFamily="34" charset="-120"/>
              </a:rPr>
              <a:t>الميول الدورية</a:t>
            </a:r>
            <a:endParaRPr lang="ar-SA" sz="6600" dirty="0"/>
          </a:p>
        </p:txBody>
      </p:sp>
      <p:sp>
        <p:nvSpPr>
          <p:cNvPr id="5" name="fade:a:3"/>
          <p:cNvSpPr txBox="1"/>
          <p:nvPr/>
        </p:nvSpPr>
        <p:spPr>
          <a:xfrm>
            <a:off x="2468880" y="1965960"/>
            <a:ext cx="7223760" cy="548640"/>
          </a:xfrm>
          <a:prstGeom prst="rect">
            <a:avLst/>
          </a:prstGeom>
          <a:noFill/>
          <a:ln/>
        </p:spPr>
        <p:txBody>
          <a:bodyPr wrap="square" lIns="0" tIns="0" rIns="0" bIns="0" rtlCol="0" anchor="ctr"/>
          <a:lstStyle/>
          <a:p>
            <a:pPr rtl="1" algn="ctr" indent="0" marL="0">
              <a:lnSpc>
                <a:spcPct val="105000"/>
              </a:lnSpc>
              <a:buNone/>
            </a:pPr>
            <a:r>
              <a:rPr lang="ar-SA" altLang="en-US" sz="2400" dirty="0">
                <a:solidFill>
                  <a:srgbClr val="0B2545"/>
                </a:solidFill>
                <a:latin typeface="Segoe UI" pitchFamily="34" charset="0"/>
                <a:ea typeface="Segoe UI" pitchFamily="34" charset="-122"/>
                <a:cs typeface="Segoe UI" pitchFamily="34" charset="-120"/>
              </a:rPr>
              <a:t>(التدرج في الخواص)   </a:t>
            </a:r>
            <a:pPr rtl="1" algn="ctr" indent="0" marL="0">
              <a:lnSpc>
                <a:spcPct val="105000"/>
              </a:lnSpc>
              <a:buNone/>
            </a:pPr>
            <a:r>
              <a:rPr lang="ar-SA" altLang="en-US" sz="2400" b="1" dirty="0">
                <a:solidFill>
                  <a:srgbClr val="0077B6"/>
                </a:solidFill>
                <a:latin typeface="Segoe UI" pitchFamily="34" charset="0"/>
                <a:ea typeface="Segoe UI" pitchFamily="34" charset="-122"/>
                <a:cs typeface="Segoe UI" pitchFamily="34" charset="-120"/>
              </a:rPr>
              <a:t>Periodic Trends</a:t>
            </a:r>
            <a:endParaRPr lang="ar-SA" sz="2400" dirty="0"/>
          </a:p>
        </p:txBody>
      </p:sp>
      <p:pic>
        <p:nvPicPr>
          <p:cNvPr id="6" name="zoom:a:4" descr="l/badge_radius.png">    </p:cNvPr>
          <p:cNvPicPr>
            <a:picLocks noChangeAspect="1"/>
          </p:cNvPicPr>
          <p:nvPr/>
        </p:nvPicPr>
        <p:blipFill>
          <a:blip r:embed="rId2"/>
          <a:stretch>
            <a:fillRect/>
          </a:stretch>
        </p:blipFill>
        <p:spPr>
          <a:xfrm>
            <a:off x="502920" y="2105794"/>
            <a:ext cx="914400" cy="973060"/>
          </a:xfrm>
          <a:prstGeom prst="rect">
            <a:avLst/>
          </a:prstGeom>
        </p:spPr>
      </p:pic>
      <p:pic>
        <p:nvPicPr>
          <p:cNvPr id="7" name="zoom:w:5" descr="l/badge_ie.png">    </p:cNvPr>
          <p:cNvPicPr>
            <a:picLocks noChangeAspect="1"/>
          </p:cNvPicPr>
          <p:nvPr/>
        </p:nvPicPr>
        <p:blipFill>
          <a:blip r:embed="rId3"/>
          <a:stretch>
            <a:fillRect/>
          </a:stretch>
        </p:blipFill>
        <p:spPr>
          <a:xfrm>
            <a:off x="1600200" y="2654434"/>
            <a:ext cx="914400" cy="973060"/>
          </a:xfrm>
          <a:prstGeom prst="rect">
            <a:avLst/>
          </a:prstGeom>
        </p:spPr>
      </p:pic>
      <p:pic>
        <p:nvPicPr>
          <p:cNvPr id="8" name="zoom:w:6" descr="l/badge_ea.png">    </p:cNvPr>
          <p:cNvPicPr>
            <a:picLocks noChangeAspect="1"/>
          </p:cNvPicPr>
          <p:nvPr/>
        </p:nvPicPr>
        <p:blipFill>
          <a:blip r:embed="rId4"/>
          <a:stretch>
            <a:fillRect/>
          </a:stretch>
        </p:blipFill>
        <p:spPr>
          <a:xfrm>
            <a:off x="9738360" y="2105794"/>
            <a:ext cx="914400" cy="973060"/>
          </a:xfrm>
          <a:prstGeom prst="rect">
            <a:avLst/>
          </a:prstGeom>
        </p:spPr>
      </p:pic>
      <p:pic>
        <p:nvPicPr>
          <p:cNvPr id="9" name="zoom:w:7" descr="l/badge_en.png">    </p:cNvPr>
          <p:cNvPicPr>
            <a:picLocks noChangeAspect="1"/>
          </p:cNvPicPr>
          <p:nvPr/>
        </p:nvPicPr>
        <p:blipFill>
          <a:blip r:embed="rId5"/>
          <a:stretch>
            <a:fillRect/>
          </a:stretch>
        </p:blipFill>
        <p:spPr>
          <a:xfrm>
            <a:off x="10835640" y="2654434"/>
            <a:ext cx="914400" cy="973060"/>
          </a:xfrm>
          <a:prstGeom prst="rect">
            <a:avLst/>
          </a:prstGeom>
        </p:spPr>
      </p:pic>
      <p:sp>
        <p:nvSpPr>
          <p:cNvPr id="10" name="float:a:8"/>
          <p:cNvSpPr/>
          <p:nvPr/>
        </p:nvSpPr>
        <p:spPr>
          <a:xfrm>
            <a:off x="3520440" y="5440680"/>
            <a:ext cx="5120640" cy="685800"/>
          </a:xfrm>
          <a:prstGeom prst="roundRect">
            <a:avLst>
              <a:gd name="adj" fmla="val 49333"/>
            </a:avLst>
          </a:prstGeom>
          <a:solidFill>
            <a:srgbClr val="0B2545">
              <a:alpha val="80000"/>
            </a:srgbClr>
          </a:solidFill>
          <a:ln w="25400">
            <a:solidFill>
              <a:srgbClr val="00B4D8"/>
            </a:solidFill>
          </a:ln>
        </p:spPr>
        <p:txBody>
          <a:bodyPr wrap="square" lIns="76200" tIns="152400" rIns="152400" bIns="76200" rtlCol="0" anchor="ctr"/>
          <a:lstStyle/>
          <a:p>
            <a:pPr rtl="1" algn="ctr" indent="0" marL="0">
              <a:lnSpc>
                <a:spcPct val="105000"/>
              </a:lnSpc>
              <a:buNone/>
            </a:pPr>
            <a:r>
              <a:rPr lang="ar-SA" altLang="en-US" sz="2200" b="1" dirty="0">
                <a:solidFill>
                  <a:srgbClr val="FFFFFF"/>
                </a:solidFill>
                <a:latin typeface="Segoe UI" pitchFamily="34" charset="0"/>
                <a:ea typeface="Segoe UI" pitchFamily="34" charset="-122"/>
                <a:cs typeface="Segoe UI" pitchFamily="34" charset="-120"/>
              </a:rPr>
              <a:t>إعداد: م. انوار الفضلي</a:t>
            </a:r>
            <a:endParaRPr lang="ar-SA" sz="22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childTnLst>
                          </p:cTn>
                        </p:par>
                        <p:par>
                          <p:cTn id="14" fill="hold">
                            <p:stCondLst>
                              <p:cond delay="275"/>
                            </p:stCondLst>
                            <p:childTnLst>
                              <p:par>
                                <p:cTn id="13" presetID="42"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660"/>
                            </p:stCondLst>
                            <p:childTnLst>
                              <p:par>
                                <p:cTn id="17"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par>
                          <p:cTn id="39" fill="hold">
                            <p:stCondLst>
                              <p:cond delay="990"/>
                            </p:stCondLst>
                            <p:childTnLst>
                              <p:par>
                                <p:cTn id="23" presetID="53" presetClass="entr" presetSubtype="1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ppt_w</p:attrName>
                                        </p:attrNameLst>
                                      </p:cBhvr>
                                      <p:tavLst>
                                        <p:tav tm="0">
                                          <p:val>
                                            <p:strVal val="0"/>
                                          </p:val>
                                        </p:tav>
                                        <p:tav tm="100000">
                                          <p:val>
                                            <p:strVal val="#ppt_w"/>
                                          </p:val>
                                        </p:tav>
                                      </p:tavLst>
                                    </p:anim>
                                    <p:anim calcmode="lin" valueType="num">
                                      <p:cBhvr additive="base">
                                        <p:cTn id="21" dur="500" fill="hold"/>
                                        <p:tgtEl>
                                          <p:spTgt spid="6"/>
                                        </p:tgtEl>
                                        <p:attrNameLst>
                                          <p:attrName>ppt_h</p:attrName>
                                        </p:attrNameLst>
                                      </p:cBhvr>
                                      <p:tavLst>
                                        <p:tav tm="0">
                                          <p:val>
                                            <p:strVal val="0"/>
                                          </p:val>
                                        </p:tav>
                                        <p:tav tm="100000">
                                          <p:val>
                                            <p:strVal val="#ppt_h"/>
                                          </p:val>
                                        </p:tav>
                                      </p:tavLst>
                                    </p:anim>
                                    <p:animEffect transition="in" filter="fade">
                                      <p:cBhvr>
                                        <p:cTn id="22" dur="500"/>
                                        <p:tgtEl>
                                          <p:spTgt spid="6"/>
                                        </p:tgtEl>
                                      </p:cBhvr>
                                    </p:animEffect>
                                  </p:childTnLst>
                                </p:cTn>
                              </p:par>
                              <p:par>
                                <p:cTn id="28" presetID="53" presetClass="entr" presetSubtype="16"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ppt_w</p:attrName>
                                        </p:attrNameLst>
                                      </p:cBhvr>
                                      <p:tavLst>
                                        <p:tav tm="0">
                                          <p:val>
                                            <p:strVal val="0"/>
                                          </p:val>
                                        </p:tav>
                                        <p:tav tm="100000">
                                          <p:val>
                                            <p:strVal val="#ppt_w"/>
                                          </p:val>
                                        </p:tav>
                                      </p:tavLst>
                                    </p:anim>
                                    <p:anim calcmode="lin" valueType="num">
                                      <p:cBhvr additive="base">
                                        <p:cTn id="26" dur="500" fill="hold"/>
                                        <p:tgtEl>
                                          <p:spTgt spid="7"/>
                                        </p:tgtEl>
                                        <p:attrNameLst>
                                          <p:attrName>ppt_h</p:attrName>
                                        </p:attrNameLst>
                                      </p:cBhvr>
                                      <p:tavLst>
                                        <p:tav tm="0">
                                          <p:val>
                                            <p:strVal val="0"/>
                                          </p:val>
                                        </p:tav>
                                        <p:tav tm="100000">
                                          <p:val>
                                            <p:strVal val="#ppt_h"/>
                                          </p:val>
                                        </p:tav>
                                      </p:tavLst>
                                    </p:anim>
                                    <p:animEffect transition="in" filter="fade">
                                      <p:cBhvr>
                                        <p:cTn id="27" dur="500"/>
                                        <p:tgtEl>
                                          <p:spTgt spid="7"/>
                                        </p:tgtEl>
                                      </p:cBhvr>
                                    </p:animEffect>
                                  </p:childTnLst>
                                </p:cTn>
                              </p:par>
                              <p:par>
                                <p:cTn id="33" presetID="53" presetClass="entr" presetSubtype="16"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ppt_w</p:attrName>
                                        </p:attrNameLst>
                                      </p:cBhvr>
                                      <p:tavLst>
                                        <p:tav tm="0">
                                          <p:val>
                                            <p:strVal val="0"/>
                                          </p:val>
                                        </p:tav>
                                        <p:tav tm="100000">
                                          <p:val>
                                            <p:strVal val="#ppt_w"/>
                                          </p:val>
                                        </p:tav>
                                      </p:tavLst>
                                    </p:anim>
                                    <p:anim calcmode="lin" valueType="num">
                                      <p:cBhvr additive="base">
                                        <p:cTn id="31" dur="500" fill="hold"/>
                                        <p:tgtEl>
                                          <p:spTgt spid="8"/>
                                        </p:tgtEl>
                                        <p:attrNameLst>
                                          <p:attrName>ppt_h</p:attrName>
                                        </p:attrNameLst>
                                      </p:cBhvr>
                                      <p:tavLst>
                                        <p:tav tm="0">
                                          <p:val>
                                            <p:strVal val="0"/>
                                          </p:val>
                                        </p:tav>
                                        <p:tav tm="100000">
                                          <p:val>
                                            <p:strVal val="#ppt_h"/>
                                          </p:val>
                                        </p:tav>
                                      </p:tavLst>
                                    </p:anim>
                                    <p:animEffect transition="in" filter="fade">
                                      <p:cBhvr>
                                        <p:cTn id="32" dur="500"/>
                                        <p:tgtEl>
                                          <p:spTgt spid="8"/>
                                        </p:tgtEl>
                                      </p:cBhvr>
                                    </p:animEffect>
                                  </p:childTnLst>
                                </p:cTn>
                              </p:par>
                              <p:par>
                                <p:cTn id="38" presetID="53" presetClass="entr" presetSubtype="16"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strVal val="0"/>
                                          </p:val>
                                        </p:tav>
                                        <p:tav tm="100000">
                                          <p:val>
                                            <p:strVal val="#ppt_w"/>
                                          </p:val>
                                        </p:tav>
                                      </p:tavLst>
                                    </p:anim>
                                    <p:anim calcmode="lin" valueType="num">
                                      <p:cBhvr additive="base">
                                        <p:cTn id="36" dur="500" fill="hold"/>
                                        <p:tgtEl>
                                          <p:spTgt spid="9"/>
                                        </p:tgtEl>
                                        <p:attrNameLst>
                                          <p:attrName>ppt_h</p:attrName>
                                        </p:attrNameLst>
                                      </p:cBhvr>
                                      <p:tavLst>
                                        <p:tav tm="0">
                                          <p:val>
                                            <p:strVal val="0"/>
                                          </p:val>
                                        </p:tav>
                                        <p:tav tm="100000">
                                          <p:val>
                                            <p:strVal val="#ppt_h"/>
                                          </p:val>
                                        </p:tav>
                                      </p:tavLst>
                                    </p:anim>
                                    <p:animEffect transition="in" filter="fade">
                                      <p:cBhvr>
                                        <p:cTn id="37" dur="500"/>
                                        <p:tgtEl>
                                          <p:spTgt spid="9"/>
                                        </p:tgtEl>
                                      </p:cBhvr>
                                    </p:animEffect>
                                  </p:childTnLst>
                                </p:cTn>
                              </p:par>
                            </p:childTnLst>
                          </p:cTn>
                        </p:par>
                        <p:par>
                          <p:cTn id="45" fill="hold">
                            <p:stCondLst>
                              <p:cond delay="1265"/>
                            </p:stCondLst>
                            <p:childTnLst>
                              <p:par>
                                <p:cTn id="44" presetID="42" presetClass="entr" presetSubtype="0"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700"/>
                                        <p:tgtEl>
                                          <p:spTgt spid="10"/>
                                        </p:tgtEl>
                                      </p:cBhvr>
                                    </p:animEffect>
                                    <p:anim calcmode="lin" valueType="num">
                                      <p:cBhvr additive="base">
                                        <p:cTn id="42" dur="700" fill="hold"/>
                                        <p:tgtEl>
                                          <p:spTgt spid="10"/>
                                        </p:tgtEl>
                                        <p:attrNameLst>
                                          <p:attrName>ppt_x</p:attrName>
                                        </p:attrNameLst>
                                      </p:cBhvr>
                                      <p:tavLst>
                                        <p:tav tm="0">
                                          <p:val>
                                            <p:strVal val="#ppt_x"/>
                                          </p:val>
                                        </p:tav>
                                        <p:tav tm="100000">
                                          <p:val>
                                            <p:strVal val="#ppt_x"/>
                                          </p:val>
                                        </p:tav>
                                      </p:tavLst>
                                    </p:anim>
                                    <p:anim calcmode="lin" valueType="num">
                                      <p:cBhvr additive="base">
                                        <p:cTn id="43" dur="7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ماذا سأتعلم؟</a:t>
            </a:r>
            <a:endParaRPr lang="en-US" sz="2800" dirty="0"/>
          </a:p>
        </p:txBody>
      </p:sp>
      <p:sp>
        <p:nvSpPr>
          <p:cNvPr id="3" name="float:a:2"/>
          <p:cNvSpPr/>
          <p:nvPr/>
        </p:nvSpPr>
        <p:spPr>
          <a:xfrm>
            <a:off x="9006840" y="1371600"/>
            <a:ext cx="2697480" cy="2743200"/>
          </a:xfrm>
          <a:prstGeom prst="roundRect">
            <a:avLst>
              <a:gd name="adj" fmla="val 474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4" name="zoom:w:3" descr="h_cl2.png">    </p:cNvPr>
          <p:cNvPicPr>
            <a:picLocks noChangeAspect="1"/>
          </p:cNvPicPr>
          <p:nvPr/>
        </p:nvPicPr>
        <p:blipFill>
          <a:blip r:embed="rId1"/>
          <a:stretch>
            <a:fillRect/>
          </a:stretch>
        </p:blipFill>
        <p:spPr>
          <a:xfrm>
            <a:off x="9451155" y="1508760"/>
            <a:ext cx="1808849" cy="1554480"/>
          </a:xfrm>
          <a:prstGeom prst="rect">
            <a:avLst/>
          </a:prstGeom>
        </p:spPr>
      </p:pic>
      <p:sp>
        <p:nvSpPr>
          <p:cNvPr id="5" name="fade:w:4"/>
          <p:cNvSpPr txBox="1"/>
          <p:nvPr/>
        </p:nvSpPr>
        <p:spPr>
          <a:xfrm>
            <a:off x="9006840" y="315468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نصف القطر الذري</a:t>
            </a:r>
            <a:endParaRPr lang="ar-SA" sz="1800" dirty="0"/>
          </a:p>
          <a:p>
            <a:pPr rtl="1" algn="ct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(الحجم الذري)</a:t>
            </a:r>
            <a:endParaRPr lang="ar-SA" sz="1800" dirty="0"/>
          </a:p>
        </p:txBody>
      </p:sp>
      <p:sp>
        <p:nvSpPr>
          <p:cNvPr id="6" name="float:a:5"/>
          <p:cNvSpPr/>
          <p:nvPr/>
        </p:nvSpPr>
        <p:spPr>
          <a:xfrm>
            <a:off x="6172200" y="1371600"/>
            <a:ext cx="2697480" cy="2743200"/>
          </a:xfrm>
          <a:prstGeom prst="roundRect">
            <a:avLst>
              <a:gd name="adj" fmla="val 474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7" name="zoom:w:6" descr="h_heist.png">    </p:cNvPr>
          <p:cNvPicPr>
            <a:picLocks noChangeAspect="1"/>
          </p:cNvPicPr>
          <p:nvPr/>
        </p:nvPicPr>
        <p:blipFill>
          <a:blip r:embed="rId2"/>
          <a:stretch>
            <a:fillRect/>
          </a:stretch>
        </p:blipFill>
        <p:spPr>
          <a:xfrm>
            <a:off x="6309360" y="1646134"/>
            <a:ext cx="2423160" cy="1279731"/>
          </a:xfrm>
          <a:prstGeom prst="rect">
            <a:avLst/>
          </a:prstGeom>
        </p:spPr>
      </p:pic>
      <p:sp>
        <p:nvSpPr>
          <p:cNvPr id="8" name="fade:w:7"/>
          <p:cNvSpPr txBox="1"/>
          <p:nvPr/>
        </p:nvSpPr>
        <p:spPr>
          <a:xfrm>
            <a:off x="6172200" y="315468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7C3AED"/>
                </a:solidFill>
                <a:latin typeface="Segoe UI" pitchFamily="34" charset="0"/>
                <a:ea typeface="Segoe UI" pitchFamily="34" charset="-122"/>
                <a:cs typeface="Segoe UI" pitchFamily="34" charset="-120"/>
              </a:rPr>
              <a:t>طاقة التأين</a:t>
            </a:r>
            <a:endParaRPr lang="ar-SA" sz="1800" dirty="0"/>
          </a:p>
        </p:txBody>
      </p:sp>
      <p:sp>
        <p:nvSpPr>
          <p:cNvPr id="9" name="float:a:8"/>
          <p:cNvSpPr/>
          <p:nvPr/>
        </p:nvSpPr>
        <p:spPr>
          <a:xfrm>
            <a:off x="3337560" y="1371600"/>
            <a:ext cx="2697480" cy="2743200"/>
          </a:xfrm>
          <a:prstGeom prst="roundRect">
            <a:avLst>
              <a:gd name="adj" fmla="val 474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0" name="zoom:w:9" descr="h_spark.png">    </p:cNvPr>
          <p:cNvPicPr>
            <a:picLocks noChangeAspect="1"/>
          </p:cNvPicPr>
          <p:nvPr/>
        </p:nvPicPr>
        <p:blipFill>
          <a:blip r:embed="rId3"/>
          <a:stretch>
            <a:fillRect/>
          </a:stretch>
        </p:blipFill>
        <p:spPr>
          <a:xfrm>
            <a:off x="3474720" y="1776379"/>
            <a:ext cx="2423160" cy="1019242"/>
          </a:xfrm>
          <a:prstGeom prst="rect">
            <a:avLst/>
          </a:prstGeom>
        </p:spPr>
      </p:pic>
      <p:sp>
        <p:nvSpPr>
          <p:cNvPr id="11" name="fade:w:10"/>
          <p:cNvSpPr txBox="1"/>
          <p:nvPr/>
        </p:nvSpPr>
        <p:spPr>
          <a:xfrm>
            <a:off x="3337560" y="315468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0D9488"/>
                </a:solidFill>
                <a:latin typeface="Segoe UI" pitchFamily="34" charset="0"/>
                <a:ea typeface="Segoe UI" pitchFamily="34" charset="-122"/>
                <a:cs typeface="Segoe UI" pitchFamily="34" charset="-120"/>
              </a:rPr>
              <a:t>طاقة الميل الإلكتروني</a:t>
            </a:r>
            <a:endParaRPr lang="ar-SA" sz="1800" dirty="0"/>
          </a:p>
        </p:txBody>
      </p:sp>
      <p:sp>
        <p:nvSpPr>
          <p:cNvPr id="12" name="float:a:11"/>
          <p:cNvSpPr/>
          <p:nvPr/>
        </p:nvSpPr>
        <p:spPr>
          <a:xfrm>
            <a:off x="502920" y="1371600"/>
            <a:ext cx="2697480" cy="2743200"/>
          </a:xfrm>
          <a:prstGeom prst="roundRect">
            <a:avLst>
              <a:gd name="adj" fmla="val 474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3" name="zoom:w:12" descr="h_tug.png">    </p:cNvPr>
          <p:cNvPicPr>
            <a:picLocks noChangeAspect="1"/>
          </p:cNvPicPr>
          <p:nvPr/>
        </p:nvPicPr>
        <p:blipFill>
          <a:blip r:embed="rId4"/>
          <a:stretch>
            <a:fillRect/>
          </a:stretch>
        </p:blipFill>
        <p:spPr>
          <a:xfrm>
            <a:off x="640080" y="1790354"/>
            <a:ext cx="2423160" cy="991293"/>
          </a:xfrm>
          <a:prstGeom prst="rect">
            <a:avLst/>
          </a:prstGeom>
        </p:spPr>
      </p:pic>
      <p:sp>
        <p:nvSpPr>
          <p:cNvPr id="14" name="fade:w:13"/>
          <p:cNvSpPr txBox="1"/>
          <p:nvPr/>
        </p:nvSpPr>
        <p:spPr>
          <a:xfrm>
            <a:off x="502920" y="315468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DB2777"/>
                </a:solidFill>
                <a:latin typeface="Segoe UI" pitchFamily="34" charset="0"/>
                <a:ea typeface="Segoe UI" pitchFamily="34" charset="-122"/>
                <a:cs typeface="Segoe UI" pitchFamily="34" charset="-120"/>
              </a:rPr>
              <a:t>السالبية الكهربائية</a:t>
            </a:r>
            <a:endParaRPr lang="ar-SA" sz="1800" dirty="0"/>
          </a:p>
        </p:txBody>
      </p:sp>
      <p:sp>
        <p:nvSpPr>
          <p:cNvPr id="15" name="float:a:14"/>
          <p:cNvSpPr/>
          <p:nvPr/>
        </p:nvSpPr>
        <p:spPr>
          <a:xfrm>
            <a:off x="9509760" y="4389120"/>
            <a:ext cx="2286000" cy="548640"/>
          </a:xfrm>
          <a:prstGeom prst="roundRect">
            <a:avLst>
              <a:gd name="adj" fmla="val 50000"/>
            </a:avLst>
          </a:prstGeom>
          <a:solidFill>
            <a:srgbClr val="0284C7"/>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كيف سأتعلم؟</a:t>
            </a:r>
            <a:endParaRPr lang="ar-SA" sz="1800" dirty="0"/>
          </a:p>
        </p:txBody>
      </p:sp>
      <p:sp>
        <p:nvSpPr>
          <p:cNvPr id="16" name="float:a:15"/>
          <p:cNvSpPr/>
          <p:nvPr/>
        </p:nvSpPr>
        <p:spPr>
          <a:xfrm>
            <a:off x="411480" y="5029200"/>
            <a:ext cx="11384280" cy="1325880"/>
          </a:xfrm>
          <a:prstGeom prst="roundRect">
            <a:avLst>
              <a:gd name="adj" fmla="val 9655"/>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أفسر التدرج في كلٍّ من: </a:t>
            </a:r>
            <a:pPr rtl="1" algn="r" indent="0" marL="0">
              <a:lnSpc>
                <a:spcPct val="105000"/>
              </a:lnSpc>
              <a:buNone/>
            </a:pPr>
            <a:r>
              <a:rPr lang="ar-SA" altLang="en-US" sz="1900" b="1" dirty="0">
                <a:solidFill>
                  <a:srgbClr val="0077B6"/>
                </a:solidFill>
                <a:latin typeface="Segoe UI" pitchFamily="34" charset="0"/>
                <a:ea typeface="Segoe UI" pitchFamily="34" charset="-122"/>
                <a:cs typeface="Segoe UI" pitchFamily="34" charset="-120"/>
              </a:rPr>
              <a:t>(نصف القطر الذري، طاقة التأين، طاقة الميل الإلكتروني والسالبية الكهربائية)</a:t>
            </a:r>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 للعناصر عبر المجموعات والدورات في الجدول الدوري.</a:t>
            </a:r>
            <a:endParaRPr lang="ar-SA" sz="19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71" fill="hold">
                      <p:stCondLst>
                        <p:cond delay="indefinite"/>
                        <p:cond evt="onBegin" delay="0">
                          <p:tn val="2"/>
                        </p:cond>
                      </p:stCondLst>
                      <p:childTnLst>
                        <p:par>
                          <p:cTn id="16"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ppt_w</p:attrName>
                                        </p:attrNameLst>
                                      </p:cBhvr>
                                      <p:tavLst>
                                        <p:tav tm="0">
                                          <p:val>
                                            <p:strVal val="0"/>
                                          </p:val>
                                        </p:tav>
                                        <p:tav tm="100000">
                                          <p:val>
                                            <p:strVal val="#ppt_w"/>
                                          </p:val>
                                        </p:tav>
                                      </p:tavLst>
                                    </p:anim>
                                    <p:anim calcmode="lin" valueType="num">
                                      <p:cBhvr additive="base">
                                        <p:cTn id="10" dur="500" fill="hold"/>
                                        <p:tgtEl>
                                          <p:spTgt spid="4"/>
                                        </p:tgtEl>
                                        <p:attrNameLst>
                                          <p:attrName>ppt_h</p:attrName>
                                        </p:attrNameLst>
                                      </p:cBhvr>
                                      <p:tavLst>
                                        <p:tav tm="0">
                                          <p:val>
                                            <p:strVal val="0"/>
                                          </p:val>
                                        </p:tav>
                                        <p:tav tm="100000">
                                          <p:val>
                                            <p:strVal val="#ppt_h"/>
                                          </p:val>
                                        </p:tav>
                                      </p:tavLst>
                                    </p:anim>
                                    <p:animEffect transition="in" filter="fade">
                                      <p:cBhvr>
                                        <p:cTn id="11" dur="500"/>
                                        <p:tgtEl>
                                          <p:spTgt spid="4"/>
                                        </p:tgtEl>
                                      </p:cBhvr>
                                    </p:animEffect>
                                  </p:childTnLst>
                                </p:cTn>
                              </p:par>
                              <p:par>
                                <p:cTn id="15"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childTnLst>
                                </p:cTn>
                              </p:par>
                            </p:childTnLst>
                          </p:cTn>
                        </p:par>
                        <p:par>
                          <p:cTn id="30" fill="hold">
                            <p:stCondLst>
                              <p:cond delay="385"/>
                            </p:stCondLst>
                            <p:childTnLst>
                              <p:par>
                                <p:cTn id="21" presetID="42"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anim calcmode="lin" valueType="num">
                                      <p:cBhvr additive="base">
                                        <p:cTn id="19" dur="700" fill="hold"/>
                                        <p:tgtEl>
                                          <p:spTgt spid="6"/>
                                        </p:tgtEl>
                                        <p:attrNameLst>
                                          <p:attrName>ppt_x</p:attrName>
                                        </p:attrNameLst>
                                      </p:cBhvr>
                                      <p:tavLst>
                                        <p:tav tm="0">
                                          <p:val>
                                            <p:strVal val="#ppt_x"/>
                                          </p:val>
                                        </p:tav>
                                        <p:tav tm="100000">
                                          <p:val>
                                            <p:strVal val="#ppt_x"/>
                                          </p:val>
                                        </p:tav>
                                      </p:tavLst>
                                    </p:anim>
                                    <p:anim calcmode="lin" valueType="num">
                                      <p:cBhvr additive="base">
                                        <p:cTn id="20" dur="700" fill="hold"/>
                                        <p:tgtEl>
                                          <p:spTgt spid="6"/>
                                        </p:tgtEl>
                                        <p:attrNameLst>
                                          <p:attrName>ppt_y</p:attrName>
                                        </p:attrNameLst>
                                      </p:cBhvr>
                                      <p:tavLst>
                                        <p:tav tm="0">
                                          <p:val>
                                            <p:strVal val="#ppt_y+.1"/>
                                          </p:val>
                                        </p:tav>
                                        <p:tav tm="100000">
                                          <p:val>
                                            <p:strVal val="#ppt_y"/>
                                          </p:val>
                                        </p:tav>
                                      </p:tavLst>
                                    </p:anim>
                                  </p:childTnLst>
                                </p:cTn>
                              </p:par>
                              <p:par>
                                <p:cTn id="26" presetID="53" presetClass="entr" presetSubtype="16"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ppt_w</p:attrName>
                                        </p:attrNameLst>
                                      </p:cBhvr>
                                      <p:tavLst>
                                        <p:tav tm="0">
                                          <p:val>
                                            <p:strVal val="0"/>
                                          </p:val>
                                        </p:tav>
                                        <p:tav tm="100000">
                                          <p:val>
                                            <p:strVal val="#ppt_w"/>
                                          </p:val>
                                        </p:tav>
                                      </p:tavLst>
                                    </p:anim>
                                    <p:anim calcmode="lin" valueType="num">
                                      <p:cBhvr additive="base">
                                        <p:cTn id="24" dur="500" fill="hold"/>
                                        <p:tgtEl>
                                          <p:spTgt spid="7"/>
                                        </p:tgtEl>
                                        <p:attrNameLst>
                                          <p:attrName>ppt_h</p:attrName>
                                        </p:attrNameLst>
                                      </p:cBhvr>
                                      <p:tavLst>
                                        <p:tav tm="0">
                                          <p:val>
                                            <p:strVal val="0"/>
                                          </p:val>
                                        </p:tav>
                                        <p:tav tm="100000">
                                          <p:val>
                                            <p:strVal val="#ppt_h"/>
                                          </p:val>
                                        </p:tav>
                                      </p:tavLst>
                                    </p:anim>
                                    <p:animEffect transition="in" filter="fade">
                                      <p:cBhvr>
                                        <p:cTn id="25" dur="500"/>
                                        <p:tgtEl>
                                          <p:spTgt spid="7"/>
                                        </p:tgtEl>
                                      </p:cBhvr>
                                    </p:animEffect>
                                  </p:childTnLst>
                                </p:cTn>
                              </p:par>
                              <p:par>
                                <p:cTn id="29"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00"/>
                                        <p:tgtEl>
                                          <p:spTgt spid="8"/>
                                        </p:tgtEl>
                                      </p:cBhvr>
                                    </p:animEffect>
                                  </p:childTnLst>
                                </p:cTn>
                              </p:par>
                            </p:childTnLst>
                          </p:cTn>
                        </p:par>
                        <p:par>
                          <p:cTn id="44" fill="hold">
                            <p:stCondLst>
                              <p:cond delay="770"/>
                            </p:stCondLst>
                            <p:childTnLst>
                              <p:par>
                                <p:cTn id="35" presetID="42" presetClass="entr" presetSubtype="0"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700"/>
                                        <p:tgtEl>
                                          <p:spTgt spid="9"/>
                                        </p:tgtEl>
                                      </p:cBhvr>
                                    </p:animEffect>
                                    <p:anim calcmode="lin" valueType="num">
                                      <p:cBhvr additive="base">
                                        <p:cTn id="33" dur="700" fill="hold"/>
                                        <p:tgtEl>
                                          <p:spTgt spid="9"/>
                                        </p:tgtEl>
                                        <p:attrNameLst>
                                          <p:attrName>ppt_x</p:attrName>
                                        </p:attrNameLst>
                                      </p:cBhvr>
                                      <p:tavLst>
                                        <p:tav tm="0">
                                          <p:val>
                                            <p:strVal val="#ppt_x"/>
                                          </p:val>
                                        </p:tav>
                                        <p:tav tm="100000">
                                          <p:val>
                                            <p:strVal val="#ppt_x"/>
                                          </p:val>
                                        </p:tav>
                                      </p:tavLst>
                                    </p:anim>
                                    <p:anim calcmode="lin" valueType="num">
                                      <p:cBhvr additive="base">
                                        <p:cTn id="34" dur="700" fill="hold"/>
                                        <p:tgtEl>
                                          <p:spTgt spid="9"/>
                                        </p:tgtEl>
                                        <p:attrNameLst>
                                          <p:attrName>ppt_y</p:attrName>
                                        </p:attrNameLst>
                                      </p:cBhvr>
                                      <p:tavLst>
                                        <p:tav tm="0">
                                          <p:val>
                                            <p:strVal val="#ppt_y+.1"/>
                                          </p:val>
                                        </p:tav>
                                        <p:tav tm="100000">
                                          <p:val>
                                            <p:strVal val="#ppt_y"/>
                                          </p:val>
                                        </p:tav>
                                      </p:tavLst>
                                    </p:anim>
                                  </p:childTnLst>
                                </p:cTn>
                              </p:par>
                              <p:par>
                                <p:cTn id="40" presetID="53" presetClass="entr" presetSubtype="16"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ppt_w</p:attrName>
                                        </p:attrNameLst>
                                      </p:cBhvr>
                                      <p:tavLst>
                                        <p:tav tm="0">
                                          <p:val>
                                            <p:strVal val="0"/>
                                          </p:val>
                                        </p:tav>
                                        <p:tav tm="100000">
                                          <p:val>
                                            <p:strVal val="#ppt_w"/>
                                          </p:val>
                                        </p:tav>
                                      </p:tavLst>
                                    </p:anim>
                                    <p:anim calcmode="lin" valueType="num">
                                      <p:cBhvr additive="base">
                                        <p:cTn id="38" dur="500" fill="hold"/>
                                        <p:tgtEl>
                                          <p:spTgt spid="10"/>
                                        </p:tgtEl>
                                        <p:attrNameLst>
                                          <p:attrName>ppt_h</p:attrName>
                                        </p:attrNameLst>
                                      </p:cBhvr>
                                      <p:tavLst>
                                        <p:tav tm="0">
                                          <p:val>
                                            <p:strVal val="0"/>
                                          </p:val>
                                        </p:tav>
                                        <p:tav tm="100000">
                                          <p:val>
                                            <p:strVal val="#ppt_h"/>
                                          </p:val>
                                        </p:tav>
                                      </p:tavLst>
                                    </p:anim>
                                    <p:animEffect transition="in" filter="fade">
                                      <p:cBhvr>
                                        <p:cTn id="39" dur="500"/>
                                        <p:tgtEl>
                                          <p:spTgt spid="10"/>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childTnLst>
                                </p:cTn>
                              </p:par>
                            </p:childTnLst>
                          </p:cTn>
                        </p:par>
                        <p:par>
                          <p:cTn id="58" fill="hold">
                            <p:stCondLst>
                              <p:cond delay="1155"/>
                            </p:stCondLst>
                            <p:childTnLst>
                              <p:par>
                                <p:cTn id="49" presetID="42" presetClass="entr" presetSubtype="0"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700"/>
                                        <p:tgtEl>
                                          <p:spTgt spid="12"/>
                                        </p:tgtEl>
                                      </p:cBhvr>
                                    </p:animEffect>
                                    <p:anim calcmode="lin" valueType="num">
                                      <p:cBhvr additive="base">
                                        <p:cTn id="47" dur="700" fill="hold"/>
                                        <p:tgtEl>
                                          <p:spTgt spid="12"/>
                                        </p:tgtEl>
                                        <p:attrNameLst>
                                          <p:attrName>ppt_x</p:attrName>
                                        </p:attrNameLst>
                                      </p:cBhvr>
                                      <p:tavLst>
                                        <p:tav tm="0">
                                          <p:val>
                                            <p:strVal val="#ppt_x"/>
                                          </p:val>
                                        </p:tav>
                                        <p:tav tm="100000">
                                          <p:val>
                                            <p:strVal val="#ppt_x"/>
                                          </p:val>
                                        </p:tav>
                                      </p:tavLst>
                                    </p:anim>
                                    <p:anim calcmode="lin" valueType="num">
                                      <p:cBhvr additive="base">
                                        <p:cTn id="48" dur="700" fill="hold"/>
                                        <p:tgtEl>
                                          <p:spTgt spid="12"/>
                                        </p:tgtEl>
                                        <p:attrNameLst>
                                          <p:attrName>ppt_y</p:attrName>
                                        </p:attrNameLst>
                                      </p:cBhvr>
                                      <p:tavLst>
                                        <p:tav tm="0">
                                          <p:val>
                                            <p:strVal val="#ppt_y+.1"/>
                                          </p:val>
                                        </p:tav>
                                        <p:tav tm="100000">
                                          <p:val>
                                            <p:strVal val="#ppt_y"/>
                                          </p:val>
                                        </p:tav>
                                      </p:tavLst>
                                    </p:anim>
                                  </p:childTnLst>
                                </p:cTn>
                              </p:par>
                              <p:par>
                                <p:cTn id="54" presetID="53" presetClass="entr" presetSubtype="16"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ppt_w</p:attrName>
                                        </p:attrNameLst>
                                      </p:cBhvr>
                                      <p:tavLst>
                                        <p:tav tm="0">
                                          <p:val>
                                            <p:strVal val="0"/>
                                          </p:val>
                                        </p:tav>
                                        <p:tav tm="100000">
                                          <p:val>
                                            <p:strVal val="#ppt_w"/>
                                          </p:val>
                                        </p:tav>
                                      </p:tavLst>
                                    </p:anim>
                                    <p:anim calcmode="lin" valueType="num">
                                      <p:cBhvr additive="base">
                                        <p:cTn id="52" dur="500" fill="hold"/>
                                        <p:tgtEl>
                                          <p:spTgt spid="13"/>
                                        </p:tgtEl>
                                        <p:attrNameLst>
                                          <p:attrName>ppt_h</p:attrName>
                                        </p:attrNameLst>
                                      </p:cBhvr>
                                      <p:tavLst>
                                        <p:tav tm="0">
                                          <p:val>
                                            <p:strVal val="0"/>
                                          </p:val>
                                        </p:tav>
                                        <p:tav tm="100000">
                                          <p:val>
                                            <p:strVal val="#ppt_h"/>
                                          </p:val>
                                        </p:tav>
                                      </p:tavLst>
                                    </p:anim>
                                    <p:animEffect transition="in" filter="fade">
                                      <p:cBhvr>
                                        <p:cTn id="53" dur="500"/>
                                        <p:tgtEl>
                                          <p:spTgt spid="13"/>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childTnLst>
                                </p:cTn>
                              </p:par>
                            </p:childTnLst>
                          </p:cTn>
                        </p:par>
                        <p:par>
                          <p:cTn id="64" fill="hold">
                            <p:stCondLst>
                              <p:cond delay="1540"/>
                            </p:stCondLst>
                            <p:childTnLst>
                              <p:par>
                                <p:cTn id="63" presetID="42" presetClass="entr" presetSubtype="0"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700"/>
                                        <p:tgtEl>
                                          <p:spTgt spid="15"/>
                                        </p:tgtEl>
                                      </p:cBhvr>
                                    </p:animEffect>
                                    <p:anim calcmode="lin" valueType="num">
                                      <p:cBhvr additive="base">
                                        <p:cTn id="61" dur="700" fill="hold"/>
                                        <p:tgtEl>
                                          <p:spTgt spid="15"/>
                                        </p:tgtEl>
                                        <p:attrNameLst>
                                          <p:attrName>ppt_x</p:attrName>
                                        </p:attrNameLst>
                                      </p:cBhvr>
                                      <p:tavLst>
                                        <p:tav tm="0">
                                          <p:val>
                                            <p:strVal val="#ppt_x"/>
                                          </p:val>
                                        </p:tav>
                                        <p:tav tm="100000">
                                          <p:val>
                                            <p:strVal val="#ppt_x"/>
                                          </p:val>
                                        </p:tav>
                                      </p:tavLst>
                                    </p:anim>
                                    <p:anim calcmode="lin" valueType="num">
                                      <p:cBhvr additive="base">
                                        <p:cTn id="62" dur="700" fill="hold"/>
                                        <p:tgtEl>
                                          <p:spTgt spid="15"/>
                                        </p:tgtEl>
                                        <p:attrNameLst>
                                          <p:attrName>ppt_y</p:attrName>
                                        </p:attrNameLst>
                                      </p:cBhvr>
                                      <p:tavLst>
                                        <p:tav tm="0">
                                          <p:val>
                                            <p:strVal val="#ppt_y+.1"/>
                                          </p:val>
                                        </p:tav>
                                        <p:tav tm="100000">
                                          <p:val>
                                            <p:strVal val="#ppt_y"/>
                                          </p:val>
                                        </p:tav>
                                      </p:tavLst>
                                    </p:anim>
                                  </p:childTnLst>
                                </p:cTn>
                              </p:par>
                            </p:childTnLst>
                          </p:cTn>
                        </p:par>
                        <p:par>
                          <p:cTn id="70" fill="hold">
                            <p:stCondLst>
                              <p:cond delay="1925"/>
                            </p:stCondLst>
                            <p:childTnLst>
                              <p:par>
                                <p:cTn id="69" presetID="42" presetClass="entr" presetSubtype="0" fill="hold" grpId="0" nodeType="after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700"/>
                                        <p:tgtEl>
                                          <p:spTgt spid="16"/>
                                        </p:tgtEl>
                                      </p:cBhvr>
                                    </p:animEffect>
                                    <p:anim calcmode="lin" valueType="num">
                                      <p:cBhvr additive="base">
                                        <p:cTn id="67" dur="700" fill="hold"/>
                                        <p:tgtEl>
                                          <p:spTgt spid="16"/>
                                        </p:tgtEl>
                                        <p:attrNameLst>
                                          <p:attrName>ppt_x</p:attrName>
                                        </p:attrNameLst>
                                      </p:cBhvr>
                                      <p:tavLst>
                                        <p:tav tm="0">
                                          <p:val>
                                            <p:strVal val="#ppt_x"/>
                                          </p:val>
                                        </p:tav>
                                        <p:tav tm="100000">
                                          <p:val>
                                            <p:strVal val="#ppt_x"/>
                                          </p:val>
                                        </p:tav>
                                      </p:tavLst>
                                    </p:anim>
                                    <p:anim calcmode="lin" valueType="num">
                                      <p:cBhvr additive="base">
                                        <p:cTn id="68" dur="7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لماذا تتدرج الخواص؟</a:t>
            </a:r>
            <a:endParaRPr lang="en-US" sz="2800" dirty="0"/>
          </a:p>
        </p:txBody>
      </p:sp>
      <p:sp>
        <p:nvSpPr>
          <p:cNvPr id="3" name="float:a:2"/>
          <p:cNvSpPr/>
          <p:nvPr/>
        </p:nvSpPr>
        <p:spPr>
          <a:xfrm>
            <a:off x="4937760" y="1371600"/>
            <a:ext cx="6858000" cy="1463040"/>
          </a:xfrm>
          <a:prstGeom prst="roundRect">
            <a:avLst>
              <a:gd name="adj" fmla="val 875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عند تأمل العناصر الكيميائية في الطبيعة، قد يبدو للوهلة الأولى أن تنوع خواصها يحدث بشكل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عشوائي</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إلّا أنّ التجارب العملية والدراسات العلمية كشفت عن وجود </a:t>
            </a:r>
            <a:pPr rtl="1" algn="r" indent="0" marL="0">
              <a:lnSpc>
                <a:spcPct val="105000"/>
              </a:lnSpc>
              <a:buNone/>
            </a:pPr>
            <a:r>
              <a:rPr lang="ar-SA" altLang="en-US" sz="1700" b="1" dirty="0">
                <a:solidFill>
                  <a:srgbClr val="0077B6"/>
                </a:solidFill>
                <a:latin typeface="Segoe UI" pitchFamily="34" charset="0"/>
                <a:ea typeface="Segoe UI" pitchFamily="34" charset="-122"/>
                <a:cs typeface="Segoe UI" pitchFamily="34" charset="-120"/>
              </a:rPr>
              <a:t>نمط منتظم</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يحكم هذا التنوع.</a:t>
            </a:r>
            <a:endParaRPr lang="ar-SA" sz="1700" dirty="0"/>
          </a:p>
        </p:txBody>
      </p:sp>
      <p:sp>
        <p:nvSpPr>
          <p:cNvPr id="4" name="float:a:3"/>
          <p:cNvSpPr/>
          <p:nvPr/>
        </p:nvSpPr>
        <p:spPr>
          <a:xfrm>
            <a:off x="4937760" y="3017520"/>
            <a:ext cx="6858000" cy="1188720"/>
          </a:xfrm>
          <a:prstGeom prst="roundRect">
            <a:avLst>
              <a:gd name="adj" fmla="val 10769"/>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فقد لاحظ العلماء أنّ خواص العناصر لا تتغير عشوائيًا، بل </a:t>
            </a:r>
            <a:pPr rtl="1" algn="r" indent="0" marL="0">
              <a:lnSpc>
                <a:spcPct val="105000"/>
              </a:lnSpc>
              <a:buNone/>
            </a:pPr>
            <a:r>
              <a:rPr lang="ar-SA" altLang="en-US" sz="1700" b="1" dirty="0">
                <a:solidFill>
                  <a:srgbClr val="0077B6"/>
                </a:solidFill>
                <a:latin typeface="Segoe UI" pitchFamily="34" charset="0"/>
                <a:ea typeface="Segoe UI" pitchFamily="34" charset="-122"/>
                <a:cs typeface="Segoe UI" pitchFamily="34" charset="-120"/>
              </a:rPr>
              <a:t>تتدرج وفق نمط متكرر</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عند ترتيبها في الجدول الدوري.</a:t>
            </a:r>
            <a:endParaRPr lang="ar-SA" sz="1700" dirty="0"/>
          </a:p>
        </p:txBody>
      </p:sp>
      <p:sp>
        <p:nvSpPr>
          <p:cNvPr id="5" name="zoom:c:4"/>
          <p:cNvSpPr/>
          <p:nvPr/>
        </p:nvSpPr>
        <p:spPr>
          <a:xfrm>
            <a:off x="411480" y="4572000"/>
            <a:ext cx="11384280" cy="1600200"/>
          </a:xfrm>
          <a:prstGeom prst="roundRect">
            <a:avLst>
              <a:gd name="adj" fmla="val 8000"/>
            </a:avLst>
          </a:prstGeom>
          <a:solidFill>
            <a:srgbClr val="0284C7"/>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800" dirty="0">
                <a:solidFill>
                  <a:srgbClr val="D6F6FF"/>
                </a:solidFill>
                <a:latin typeface="Segoe UI" pitchFamily="34" charset="0"/>
                <a:ea typeface="Segoe UI" pitchFamily="34" charset="-122"/>
                <a:cs typeface="Segoe UI" pitchFamily="34" charset="-120"/>
              </a:rPr>
              <a:t>هذا النمط المنتظم يثير تساؤلًا مهمًّا:</a:t>
            </a:r>
            <a:endParaRPr lang="ar-SA" sz="1700" dirty="0"/>
          </a:p>
          <a:p>
            <a:pPr rtl="1" algn="ctr" indent="0" marL="0">
              <a:lnSpc>
                <a:spcPct val="105000"/>
              </a:lnSpc>
              <a:buNone/>
            </a:pPr>
            <a:r>
              <a:rPr lang="ar-SA" altLang="en-US" sz="2200" b="1" dirty="0">
                <a:solidFill>
                  <a:srgbClr val="FFFFFF"/>
                </a:solidFill>
                <a:latin typeface="Segoe UI" pitchFamily="34" charset="0"/>
                <a:ea typeface="Segoe UI" pitchFamily="34" charset="-122"/>
                <a:cs typeface="Segoe UI" pitchFamily="34" charset="-120"/>
              </a:rPr>
              <a:t>لماذا تتدرج خواص عناصر الجدول الدوري بصورة دورية؟</a:t>
            </a:r>
            <a:endParaRPr lang="ar-SA" sz="1700" dirty="0"/>
          </a:p>
        </p:txBody>
      </p:sp>
      <p:pic>
        <p:nvPicPr>
          <p:cNvPr id="6" name="zoom:a:5" descr="l/ptable_cover.png">    </p:cNvPr>
          <p:cNvPicPr>
            <a:picLocks noChangeAspect="1"/>
          </p:cNvPicPr>
          <p:nvPr/>
        </p:nvPicPr>
        <p:blipFill>
          <a:blip r:embed="rId1"/>
          <a:stretch>
            <a:fillRect/>
          </a:stretch>
        </p:blipFill>
        <p:spPr>
          <a:xfrm>
            <a:off x="411480" y="1721663"/>
            <a:ext cx="4297680" cy="213451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42"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1" fill="hold">
                            <p:stCondLst>
                              <p:cond delay="0"/>
                            </p:stCondLst>
                            <p:childTnLst>
                              <p:par>
                                <p:cTn id="20" presetID="53"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childTnLst>
                          </p:cTn>
                        </p:par>
                        <p:par>
                          <p:cTn id="27" fill="hold">
                            <p:stCondLst>
                              <p:cond delay="275"/>
                            </p:stCondLst>
                            <p:childTnLst>
                              <p:par>
                                <p:cTn id="26" presetID="53" presetClass="entr" presetSubtype="16"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ppt_w</p:attrName>
                                        </p:attrNameLst>
                                      </p:cBhvr>
                                      <p:tavLst>
                                        <p:tav tm="0">
                                          <p:val>
                                            <p:strVal val="0"/>
                                          </p:val>
                                        </p:tav>
                                        <p:tav tm="100000">
                                          <p:val>
                                            <p:strVal val="#ppt_w"/>
                                          </p:val>
                                        </p:tav>
                                      </p:tavLst>
                                    </p:anim>
                                    <p:anim calcmode="lin" valueType="num">
                                      <p:cBhvr additive="base">
                                        <p:cTn id="24" dur="500" fill="hold"/>
                                        <p:tgtEl>
                                          <p:spTgt spid="6"/>
                                        </p:tgtEl>
                                        <p:attrNameLst>
                                          <p:attrName>ppt_h</p:attrName>
                                        </p:attrNameLst>
                                      </p:cBhvr>
                                      <p:tavLst>
                                        <p:tav tm="0">
                                          <p:val>
                                            <p:strVal val="0"/>
                                          </p:val>
                                        </p:tav>
                                        <p:tav tm="100000">
                                          <p:val>
                                            <p:strVal val="#ppt_h"/>
                                          </p:val>
                                        </p:tav>
                                      </p:tavLst>
                                    </p:anim>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نشاط... رتّب الكرات</a:t>
            </a:r>
            <a:endParaRPr lang="en-US" sz="2800" dirty="0"/>
          </a:p>
        </p:txBody>
      </p:sp>
      <p:sp>
        <p:nvSpPr>
          <p:cNvPr id="3" name="float:a:2"/>
          <p:cNvSpPr/>
          <p:nvPr/>
        </p:nvSpPr>
        <p:spPr>
          <a:xfrm>
            <a:off x="6126480" y="1371600"/>
            <a:ext cx="5669280" cy="2194560"/>
          </a:xfrm>
          <a:prstGeom prst="roundRect">
            <a:avLst>
              <a:gd name="adj" fmla="val 58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t"/>
          <a:lstStyle/>
          <a:p>
            <a:pPr rtl="1" algn="r" indent="0" marL="0">
              <a:lnSpc>
                <a:spcPct val="105000"/>
              </a:lnSpc>
              <a:buNone/>
            </a:pPr>
            <a:r>
              <a:rPr lang="ar-SA" altLang="en-US" sz="1800" b="1" dirty="0">
                <a:solidFill>
                  <a:srgbClr val="0284C7"/>
                </a:solidFill>
                <a:latin typeface="Segoe UI" pitchFamily="34" charset="0"/>
                <a:ea typeface="Segoe UI" pitchFamily="34" charset="-122"/>
                <a:cs typeface="Segoe UI" pitchFamily="34" charset="-120"/>
              </a:rPr>
              <a:t>لديك كرات مختلفة مثل:</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كرة تنس، كرة قدم، كرة جولف، وكرة بيسبول.</a:t>
            </a:r>
            <a:endParaRPr lang="ar-SA" sz="1800" dirty="0"/>
          </a:p>
          <a:p>
            <a:pPr rtl="1" algn="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المطلوب:</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رتّب الكرات بطريقتك؟</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ماذا تعلمت من هذا النشاط؟</a:t>
            </a:r>
            <a:endParaRPr lang="ar-SA" sz="1800" dirty="0"/>
          </a:p>
        </p:txBody>
      </p:sp>
      <p:pic>
        <p:nvPicPr>
          <p:cNvPr id="4" name="zoom:a:3" descr="l/ball_basketball.png">    </p:cNvPr>
          <p:cNvPicPr>
            <a:picLocks noChangeAspect="1"/>
          </p:cNvPicPr>
          <p:nvPr/>
        </p:nvPicPr>
        <p:blipFill>
          <a:blip r:embed="rId1"/>
          <a:stretch>
            <a:fillRect/>
          </a:stretch>
        </p:blipFill>
        <p:spPr>
          <a:xfrm>
            <a:off x="664730" y="1417320"/>
            <a:ext cx="1322300" cy="1463040"/>
          </a:xfrm>
          <a:prstGeom prst="rect">
            <a:avLst/>
          </a:prstGeom>
        </p:spPr>
      </p:pic>
      <p:pic>
        <p:nvPicPr>
          <p:cNvPr id="5" name="zoom:w:4" descr="l/ball_football.png">    </p:cNvPr>
          <p:cNvPicPr>
            <a:picLocks noChangeAspect="1"/>
          </p:cNvPicPr>
          <p:nvPr/>
        </p:nvPicPr>
        <p:blipFill>
          <a:blip r:embed="rId2"/>
          <a:stretch>
            <a:fillRect/>
          </a:stretch>
        </p:blipFill>
        <p:spPr>
          <a:xfrm>
            <a:off x="2222319" y="1508760"/>
            <a:ext cx="1224643" cy="1371600"/>
          </a:xfrm>
          <a:prstGeom prst="rect">
            <a:avLst/>
          </a:prstGeom>
        </p:spPr>
      </p:pic>
      <p:pic>
        <p:nvPicPr>
          <p:cNvPr id="6" name="zoom:w:5" descr="l/ball_baseball.png">    </p:cNvPr>
          <p:cNvPicPr>
            <a:picLocks noChangeAspect="1"/>
          </p:cNvPicPr>
          <p:nvPr/>
        </p:nvPicPr>
        <p:blipFill>
          <a:blip r:embed="rId3"/>
          <a:stretch>
            <a:fillRect/>
          </a:stretch>
        </p:blipFill>
        <p:spPr>
          <a:xfrm>
            <a:off x="3749040" y="2059149"/>
            <a:ext cx="731520" cy="819462"/>
          </a:xfrm>
          <a:prstGeom prst="rect">
            <a:avLst/>
          </a:prstGeom>
        </p:spPr>
      </p:pic>
      <p:pic>
        <p:nvPicPr>
          <p:cNvPr id="7" name="zoom:w:6" descr="l/ball_golf.png">    </p:cNvPr>
          <p:cNvPicPr>
            <a:picLocks noChangeAspect="1"/>
          </p:cNvPicPr>
          <p:nvPr/>
        </p:nvPicPr>
        <p:blipFill>
          <a:blip r:embed="rId4"/>
          <a:stretch>
            <a:fillRect/>
          </a:stretch>
        </p:blipFill>
        <p:spPr>
          <a:xfrm>
            <a:off x="4806705" y="2331720"/>
            <a:ext cx="490709" cy="548640"/>
          </a:xfrm>
          <a:prstGeom prst="rect">
            <a:avLst/>
          </a:prstGeom>
        </p:spPr>
      </p:pic>
      <p:sp>
        <p:nvSpPr>
          <p:cNvPr id="8" name="float:c:7"/>
          <p:cNvSpPr/>
          <p:nvPr/>
        </p:nvSpPr>
        <p:spPr>
          <a:xfrm>
            <a:off x="4480560" y="3794760"/>
            <a:ext cx="3200400" cy="548640"/>
          </a:xfrm>
          <a:prstGeom prst="roundRect">
            <a:avLst>
              <a:gd name="adj" fmla="val 50000"/>
            </a:avLst>
          </a:prstGeom>
          <a:solidFill>
            <a:srgbClr val="0284C7"/>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ترتيب حسب الحجم</a:t>
            </a:r>
            <a:endParaRPr lang="ar-SA" sz="1700" dirty="0"/>
          </a:p>
        </p:txBody>
      </p:sp>
      <p:sp>
        <p:nvSpPr>
          <p:cNvPr id="9" name="float:a:8"/>
          <p:cNvSpPr/>
          <p:nvPr/>
        </p:nvSpPr>
        <p:spPr>
          <a:xfrm>
            <a:off x="9006840" y="4480560"/>
            <a:ext cx="2697480" cy="2057400"/>
          </a:xfrm>
          <a:prstGeom prst="roundRect">
            <a:avLst>
              <a:gd name="adj" fmla="val 6222"/>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0" name="zoom:w:9" descr="l/ball_basketball.png">    </p:cNvPr>
          <p:cNvPicPr>
            <a:picLocks noChangeAspect="1"/>
          </p:cNvPicPr>
          <p:nvPr/>
        </p:nvPicPr>
        <p:blipFill>
          <a:blip r:embed="rId5"/>
          <a:stretch>
            <a:fillRect/>
          </a:stretch>
        </p:blipFill>
        <p:spPr>
          <a:xfrm>
            <a:off x="9694430" y="4526280"/>
            <a:ext cx="1322300" cy="1463040"/>
          </a:xfrm>
          <a:prstGeom prst="rect">
            <a:avLst/>
          </a:prstGeom>
        </p:spPr>
      </p:pic>
      <p:sp>
        <p:nvSpPr>
          <p:cNvPr id="11" name="fade:w:10"/>
          <p:cNvSpPr txBox="1"/>
          <p:nvPr/>
        </p:nvSpPr>
        <p:spPr>
          <a:xfrm>
            <a:off x="9006840" y="5943600"/>
            <a:ext cx="2697480" cy="566928"/>
          </a:xfrm>
          <a:prstGeom prst="rect">
            <a:avLst/>
          </a:prstGeom>
          <a:noFill/>
          <a:ln/>
        </p:spPr>
        <p:txBody>
          <a:bodyPr wrap="square" lIns="0" tIns="0" rIns="0" bIns="0" rtlCol="0" anchor="ctr"/>
          <a:lstStyle/>
          <a:p>
            <a:pPr rtl="1" algn="ctr" indent="0" marL="0">
              <a:lnSpc>
                <a:spcPct val="105000"/>
              </a:lnSpc>
              <a:buNone/>
            </a:pPr>
            <a:r>
              <a:rPr lang="ar-SA" altLang="en-US" sz="1500" b="1" dirty="0">
                <a:solidFill>
                  <a:srgbClr val="0B2545"/>
                </a:solidFill>
                <a:latin typeface="Segoe UI" pitchFamily="34" charset="0"/>
                <a:ea typeface="Segoe UI" pitchFamily="34" charset="-122"/>
                <a:cs typeface="Segoe UI" pitchFamily="34" charset="-120"/>
              </a:rPr>
              <a:t>كرة السلة</a:t>
            </a:r>
            <a:endParaRPr lang="ar-SA" sz="1500" dirty="0"/>
          </a:p>
          <a:p>
            <a:pPr rtl="1" algn="ctr" indent="0" marL="0">
              <a:lnSpc>
                <a:spcPct val="105000"/>
              </a:lnSpc>
              <a:buNone/>
            </a:pPr>
            <a:r>
              <a:rPr lang="ar-SA" altLang="en-US" sz="1500" b="1" dirty="0">
                <a:solidFill>
                  <a:srgbClr val="0284C7"/>
                </a:solidFill>
                <a:latin typeface="Segoe UI" pitchFamily="34" charset="0"/>
                <a:ea typeface="Segoe UI" pitchFamily="34" charset="-122"/>
                <a:cs typeface="Segoe UI" pitchFamily="34" charset="-120"/>
              </a:rPr>
              <a:t>24 سم</a:t>
            </a:r>
            <a:endParaRPr lang="ar-SA" sz="1500" dirty="0"/>
          </a:p>
        </p:txBody>
      </p:sp>
      <p:sp>
        <p:nvSpPr>
          <p:cNvPr id="12" name="float:a:11"/>
          <p:cNvSpPr/>
          <p:nvPr/>
        </p:nvSpPr>
        <p:spPr>
          <a:xfrm>
            <a:off x="6172200" y="4480560"/>
            <a:ext cx="2697480" cy="2057400"/>
          </a:xfrm>
          <a:prstGeom prst="roundRect">
            <a:avLst>
              <a:gd name="adj" fmla="val 6222"/>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3" name="zoom:w:12" descr="l/ball_football.png">    </p:cNvPr>
          <p:cNvPicPr>
            <a:picLocks noChangeAspect="1"/>
          </p:cNvPicPr>
          <p:nvPr/>
        </p:nvPicPr>
        <p:blipFill>
          <a:blip r:embed="rId6"/>
          <a:stretch>
            <a:fillRect/>
          </a:stretch>
        </p:blipFill>
        <p:spPr>
          <a:xfrm>
            <a:off x="6929029" y="4663440"/>
            <a:ext cx="1183821" cy="1325880"/>
          </a:xfrm>
          <a:prstGeom prst="rect">
            <a:avLst/>
          </a:prstGeom>
        </p:spPr>
      </p:pic>
      <p:sp>
        <p:nvSpPr>
          <p:cNvPr id="14" name="fade:w:13"/>
          <p:cNvSpPr txBox="1"/>
          <p:nvPr/>
        </p:nvSpPr>
        <p:spPr>
          <a:xfrm>
            <a:off x="6172200" y="5943600"/>
            <a:ext cx="2697480" cy="566928"/>
          </a:xfrm>
          <a:prstGeom prst="rect">
            <a:avLst/>
          </a:prstGeom>
          <a:noFill/>
          <a:ln/>
        </p:spPr>
        <p:txBody>
          <a:bodyPr wrap="square" lIns="0" tIns="0" rIns="0" bIns="0" rtlCol="0" anchor="ctr"/>
          <a:lstStyle/>
          <a:p>
            <a:pPr rtl="1" algn="ctr" indent="0" marL="0">
              <a:lnSpc>
                <a:spcPct val="105000"/>
              </a:lnSpc>
              <a:buNone/>
            </a:pPr>
            <a:r>
              <a:rPr lang="ar-SA" altLang="en-US" sz="1500" b="1" dirty="0">
                <a:solidFill>
                  <a:srgbClr val="0B2545"/>
                </a:solidFill>
                <a:latin typeface="Segoe UI" pitchFamily="34" charset="0"/>
                <a:ea typeface="Segoe UI" pitchFamily="34" charset="-122"/>
                <a:cs typeface="Segoe UI" pitchFamily="34" charset="-120"/>
              </a:rPr>
              <a:t>كرة القدم</a:t>
            </a:r>
            <a:endParaRPr lang="ar-SA" sz="1500" dirty="0"/>
          </a:p>
          <a:p>
            <a:pPr rtl="1" algn="ctr" indent="0" marL="0">
              <a:lnSpc>
                <a:spcPct val="105000"/>
              </a:lnSpc>
              <a:buNone/>
            </a:pPr>
            <a:r>
              <a:rPr lang="ar-SA" altLang="en-US" sz="1500" b="1" dirty="0">
                <a:solidFill>
                  <a:srgbClr val="0284C7"/>
                </a:solidFill>
                <a:latin typeface="Segoe UI" pitchFamily="34" charset="0"/>
                <a:ea typeface="Segoe UI" pitchFamily="34" charset="-122"/>
                <a:cs typeface="Segoe UI" pitchFamily="34" charset="-120"/>
              </a:rPr>
              <a:t>22 سم</a:t>
            </a:r>
            <a:endParaRPr lang="ar-SA" sz="1500" dirty="0"/>
          </a:p>
        </p:txBody>
      </p:sp>
      <p:sp>
        <p:nvSpPr>
          <p:cNvPr id="15" name="float:a:14"/>
          <p:cNvSpPr/>
          <p:nvPr/>
        </p:nvSpPr>
        <p:spPr>
          <a:xfrm>
            <a:off x="3337560" y="4480560"/>
            <a:ext cx="2697480" cy="2057400"/>
          </a:xfrm>
          <a:prstGeom prst="roundRect">
            <a:avLst>
              <a:gd name="adj" fmla="val 6222"/>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6" name="zoom:w:15" descr="l/ball_baseball.png">    </p:cNvPr>
          <p:cNvPicPr>
            <a:picLocks noChangeAspect="1"/>
          </p:cNvPicPr>
          <p:nvPr/>
        </p:nvPicPr>
        <p:blipFill>
          <a:blip r:embed="rId7"/>
          <a:stretch>
            <a:fillRect/>
          </a:stretch>
        </p:blipFill>
        <p:spPr>
          <a:xfrm>
            <a:off x="4380199" y="5303520"/>
            <a:ext cx="612202" cy="685800"/>
          </a:xfrm>
          <a:prstGeom prst="rect">
            <a:avLst/>
          </a:prstGeom>
        </p:spPr>
      </p:pic>
      <p:sp>
        <p:nvSpPr>
          <p:cNvPr id="17" name="fade:w:16"/>
          <p:cNvSpPr txBox="1"/>
          <p:nvPr/>
        </p:nvSpPr>
        <p:spPr>
          <a:xfrm>
            <a:off x="3337560" y="5943600"/>
            <a:ext cx="2697480" cy="566928"/>
          </a:xfrm>
          <a:prstGeom prst="rect">
            <a:avLst/>
          </a:prstGeom>
          <a:noFill/>
          <a:ln/>
        </p:spPr>
        <p:txBody>
          <a:bodyPr wrap="square" lIns="0" tIns="0" rIns="0" bIns="0" rtlCol="0" anchor="ctr"/>
          <a:lstStyle/>
          <a:p>
            <a:pPr rtl="1" algn="ctr" indent="0" marL="0">
              <a:lnSpc>
                <a:spcPct val="105000"/>
              </a:lnSpc>
              <a:buNone/>
            </a:pPr>
            <a:r>
              <a:rPr lang="ar-SA" altLang="en-US" sz="1500" b="1" dirty="0">
                <a:solidFill>
                  <a:srgbClr val="0B2545"/>
                </a:solidFill>
                <a:latin typeface="Segoe UI" pitchFamily="34" charset="0"/>
                <a:ea typeface="Segoe UI" pitchFamily="34" charset="-122"/>
                <a:cs typeface="Segoe UI" pitchFamily="34" charset="-120"/>
              </a:rPr>
              <a:t>كرة البيسبول</a:t>
            </a:r>
            <a:endParaRPr lang="ar-SA" sz="1500" dirty="0"/>
          </a:p>
          <a:p>
            <a:pPr rtl="1" algn="ctr" indent="0" marL="0">
              <a:lnSpc>
                <a:spcPct val="105000"/>
              </a:lnSpc>
              <a:buNone/>
            </a:pPr>
            <a:r>
              <a:rPr lang="ar-SA" altLang="en-US" sz="1500" b="1" dirty="0">
                <a:solidFill>
                  <a:srgbClr val="0284C7"/>
                </a:solidFill>
                <a:latin typeface="Segoe UI" pitchFamily="34" charset="0"/>
                <a:ea typeface="Segoe UI" pitchFamily="34" charset="-122"/>
                <a:cs typeface="Segoe UI" pitchFamily="34" charset="-120"/>
              </a:rPr>
              <a:t>7.3 سم</a:t>
            </a:r>
            <a:endParaRPr lang="ar-SA" sz="1500" dirty="0"/>
          </a:p>
        </p:txBody>
      </p:sp>
      <p:sp>
        <p:nvSpPr>
          <p:cNvPr id="18" name="float:a:17"/>
          <p:cNvSpPr/>
          <p:nvPr/>
        </p:nvSpPr>
        <p:spPr>
          <a:xfrm>
            <a:off x="502920" y="4480560"/>
            <a:ext cx="2697480" cy="2057400"/>
          </a:xfrm>
          <a:prstGeom prst="roundRect">
            <a:avLst>
              <a:gd name="adj" fmla="val 6222"/>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9" name="zoom:w:18" descr="l/ball_golf.png">    </p:cNvPr>
          <p:cNvPicPr>
            <a:picLocks noChangeAspect="1"/>
          </p:cNvPicPr>
          <p:nvPr/>
        </p:nvPicPr>
        <p:blipFill>
          <a:blip r:embed="rId8"/>
          <a:stretch>
            <a:fillRect/>
          </a:stretch>
        </p:blipFill>
        <p:spPr>
          <a:xfrm>
            <a:off x="1647198" y="5532120"/>
            <a:ext cx="408924" cy="457200"/>
          </a:xfrm>
          <a:prstGeom prst="rect">
            <a:avLst/>
          </a:prstGeom>
        </p:spPr>
      </p:pic>
      <p:sp>
        <p:nvSpPr>
          <p:cNvPr id="20" name="fade:w:19"/>
          <p:cNvSpPr txBox="1"/>
          <p:nvPr/>
        </p:nvSpPr>
        <p:spPr>
          <a:xfrm>
            <a:off x="502920" y="5943600"/>
            <a:ext cx="2697480" cy="566928"/>
          </a:xfrm>
          <a:prstGeom prst="rect">
            <a:avLst/>
          </a:prstGeom>
          <a:noFill/>
          <a:ln/>
        </p:spPr>
        <p:txBody>
          <a:bodyPr wrap="square" lIns="0" tIns="0" rIns="0" bIns="0" rtlCol="0" anchor="ctr"/>
          <a:lstStyle/>
          <a:p>
            <a:pPr rtl="1" algn="ctr" indent="0" marL="0">
              <a:lnSpc>
                <a:spcPct val="105000"/>
              </a:lnSpc>
              <a:buNone/>
            </a:pPr>
            <a:r>
              <a:rPr lang="ar-SA" altLang="en-US" sz="1500" b="1" dirty="0">
                <a:solidFill>
                  <a:srgbClr val="0B2545"/>
                </a:solidFill>
                <a:latin typeface="Segoe UI" pitchFamily="34" charset="0"/>
                <a:ea typeface="Segoe UI" pitchFamily="34" charset="-122"/>
                <a:cs typeface="Segoe UI" pitchFamily="34" charset="-120"/>
              </a:rPr>
              <a:t>كرة الجولف</a:t>
            </a:r>
            <a:endParaRPr lang="ar-SA" sz="1500" dirty="0"/>
          </a:p>
          <a:p>
            <a:pPr rtl="1" algn="ctr" indent="0" marL="0">
              <a:lnSpc>
                <a:spcPct val="105000"/>
              </a:lnSpc>
              <a:buNone/>
            </a:pPr>
            <a:r>
              <a:rPr lang="ar-SA" altLang="en-US" sz="1500" b="1" dirty="0">
                <a:solidFill>
                  <a:srgbClr val="0284C7"/>
                </a:solidFill>
                <a:latin typeface="Segoe UI" pitchFamily="34" charset="0"/>
                <a:ea typeface="Segoe UI" pitchFamily="34" charset="-122"/>
                <a:cs typeface="Segoe UI" pitchFamily="34" charset="-120"/>
              </a:rPr>
              <a:t>4.3 سم</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29" fill="hold">
                            <p:stCondLst>
                              <p:cond delay="38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par>
                                <p:cTn id="18" presetID="53" presetClass="entr" presetSubtype="16"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ppt_w</p:attrName>
                                        </p:attrNameLst>
                                      </p:cBhvr>
                                      <p:tavLst>
                                        <p:tav tm="0">
                                          <p:val>
                                            <p:strVal val="0"/>
                                          </p:val>
                                        </p:tav>
                                        <p:tav tm="100000">
                                          <p:val>
                                            <p:strVal val="#ppt_w"/>
                                          </p:val>
                                        </p:tav>
                                      </p:tavLst>
                                    </p:anim>
                                    <p:anim calcmode="lin" valueType="num">
                                      <p:cBhvr additive="base">
                                        <p:cTn id="16" dur="500" fill="hold"/>
                                        <p:tgtEl>
                                          <p:spTgt spid="5"/>
                                        </p:tgtEl>
                                        <p:attrNameLst>
                                          <p:attrName>ppt_h</p:attrName>
                                        </p:attrNameLst>
                                      </p:cBhvr>
                                      <p:tavLst>
                                        <p:tav tm="0">
                                          <p:val>
                                            <p:strVal val="0"/>
                                          </p:val>
                                        </p:tav>
                                        <p:tav tm="100000">
                                          <p:val>
                                            <p:strVal val="#ppt_h"/>
                                          </p:val>
                                        </p:tav>
                                      </p:tavLst>
                                    </p:anim>
                                    <p:animEffect transition="in" filter="fade">
                                      <p:cBhvr>
                                        <p:cTn id="17" dur="500"/>
                                        <p:tgtEl>
                                          <p:spTgt spid="5"/>
                                        </p:tgtEl>
                                      </p:cBhvr>
                                    </p:animEffect>
                                  </p:childTnLst>
                                </p:cTn>
                              </p:par>
                              <p:par>
                                <p:cTn id="23" presetID="53" presetClass="entr" presetSubtype="16"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ppt_w</p:attrName>
                                        </p:attrNameLst>
                                      </p:cBhvr>
                                      <p:tavLst>
                                        <p:tav tm="0">
                                          <p:val>
                                            <p:strVal val="0"/>
                                          </p:val>
                                        </p:tav>
                                        <p:tav tm="100000">
                                          <p:val>
                                            <p:strVal val="#ppt_w"/>
                                          </p:val>
                                        </p:tav>
                                      </p:tavLst>
                                    </p:anim>
                                    <p:anim calcmode="lin" valueType="num">
                                      <p:cBhvr additive="base">
                                        <p:cTn id="21" dur="500" fill="hold"/>
                                        <p:tgtEl>
                                          <p:spTgt spid="6"/>
                                        </p:tgtEl>
                                        <p:attrNameLst>
                                          <p:attrName>ppt_h</p:attrName>
                                        </p:attrNameLst>
                                      </p:cBhvr>
                                      <p:tavLst>
                                        <p:tav tm="0">
                                          <p:val>
                                            <p:strVal val="0"/>
                                          </p:val>
                                        </p:tav>
                                        <p:tav tm="100000">
                                          <p:val>
                                            <p:strVal val="#ppt_h"/>
                                          </p:val>
                                        </p:tav>
                                      </p:tavLst>
                                    </p:anim>
                                    <p:animEffect transition="in" filter="fade">
                                      <p:cBhvr>
                                        <p:cTn id="22" dur="500"/>
                                        <p:tgtEl>
                                          <p:spTgt spid="6"/>
                                        </p:tgtEl>
                                      </p:cBhvr>
                                    </p:animEffect>
                                  </p:childTnLst>
                                </p:cTn>
                              </p:par>
                              <p:par>
                                <p:cTn id="28" presetID="53" presetClass="entr" presetSubtype="16"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ppt_w</p:attrName>
                                        </p:attrNameLst>
                                      </p:cBhvr>
                                      <p:tavLst>
                                        <p:tav tm="0">
                                          <p:val>
                                            <p:strVal val="0"/>
                                          </p:val>
                                        </p:tav>
                                        <p:tav tm="100000">
                                          <p:val>
                                            <p:strVal val="#ppt_w"/>
                                          </p:val>
                                        </p:tav>
                                      </p:tavLst>
                                    </p:anim>
                                    <p:anim calcmode="lin" valueType="num">
                                      <p:cBhvr additive="base">
                                        <p:cTn id="26" dur="500" fill="hold"/>
                                        <p:tgtEl>
                                          <p:spTgt spid="7"/>
                                        </p:tgtEl>
                                        <p:attrNameLst>
                                          <p:attrName>ppt_h</p:attrName>
                                        </p:attrNameLst>
                                      </p:cBhvr>
                                      <p:tavLst>
                                        <p:tav tm="0">
                                          <p:val>
                                            <p:strVal val="0"/>
                                          </p:val>
                                        </p:tav>
                                        <p:tav tm="100000">
                                          <p:val>
                                            <p:strVal val="#ppt_h"/>
                                          </p:val>
                                        </p:tav>
                                      </p:tavLst>
                                    </p:anim>
                                    <p:animEffect transition="in" filter="fade">
                                      <p:cBhvr>
                                        <p:cTn id="27" dur="500"/>
                                        <p:tgtEl>
                                          <p:spTgt spid="7"/>
                                        </p:tgtEl>
                                      </p:cBhvr>
                                    </p:animEffect>
                                  </p:childTnLst>
                                </p:cTn>
                              </p:par>
                            </p:childTnLst>
                          </p:cTn>
                        </p:par>
                      </p:childTnLst>
                    </p:cTn>
                  </p:par>
                  <p:par>
                    <p:cTn id="93" fill="hold">
                      <p:stCondLst>
                        <p:cond delay="indefinite"/>
                      </p:stCondLst>
                      <p:childTnLst>
                        <p:par>
                          <p:cTn id="36" fill="hold">
                            <p:stCondLst>
                              <p:cond delay="0"/>
                            </p:stCondLst>
                            <p:childTnLst>
                              <p:par>
                                <p:cTn id="35"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700"/>
                                        <p:tgtEl>
                                          <p:spTgt spid="8"/>
                                        </p:tgtEl>
                                      </p:cBhvr>
                                    </p:animEffect>
                                    <p:anim calcmode="lin" valueType="num">
                                      <p:cBhvr additive="base">
                                        <p:cTn id="33" dur="700" fill="hold"/>
                                        <p:tgtEl>
                                          <p:spTgt spid="8"/>
                                        </p:tgtEl>
                                        <p:attrNameLst>
                                          <p:attrName>ppt_x</p:attrName>
                                        </p:attrNameLst>
                                      </p:cBhvr>
                                      <p:tavLst>
                                        <p:tav tm="0">
                                          <p:val>
                                            <p:strVal val="#ppt_x"/>
                                          </p:val>
                                        </p:tav>
                                        <p:tav tm="100000">
                                          <p:val>
                                            <p:strVal val="#ppt_x"/>
                                          </p:val>
                                        </p:tav>
                                      </p:tavLst>
                                    </p:anim>
                                    <p:anim calcmode="lin" valueType="num">
                                      <p:cBhvr additive="base">
                                        <p:cTn id="34" dur="700" fill="hold"/>
                                        <p:tgtEl>
                                          <p:spTgt spid="8"/>
                                        </p:tgtEl>
                                        <p:attrNameLst>
                                          <p:attrName>ppt_y</p:attrName>
                                        </p:attrNameLst>
                                      </p:cBhvr>
                                      <p:tavLst>
                                        <p:tav tm="0">
                                          <p:val>
                                            <p:strVal val="#ppt_y+.1"/>
                                          </p:val>
                                        </p:tav>
                                        <p:tav tm="100000">
                                          <p:val>
                                            <p:strVal val="#ppt_y"/>
                                          </p:val>
                                        </p:tav>
                                      </p:tavLst>
                                    </p:anim>
                                  </p:childTnLst>
                                </p:cTn>
                              </p:par>
                            </p:childTnLst>
                          </p:cTn>
                        </p:par>
                        <p:par>
                          <p:cTn id="50" fill="hold">
                            <p:stCondLst>
                              <p:cond delay="385"/>
                            </p:stCondLst>
                            <p:childTnLst>
                              <p:par>
                                <p:cTn id="41" presetID="42"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700"/>
                                        <p:tgtEl>
                                          <p:spTgt spid="9"/>
                                        </p:tgtEl>
                                      </p:cBhvr>
                                    </p:animEffect>
                                    <p:anim calcmode="lin" valueType="num">
                                      <p:cBhvr additive="base">
                                        <p:cTn id="39" dur="700" fill="hold"/>
                                        <p:tgtEl>
                                          <p:spTgt spid="9"/>
                                        </p:tgtEl>
                                        <p:attrNameLst>
                                          <p:attrName>ppt_x</p:attrName>
                                        </p:attrNameLst>
                                      </p:cBhvr>
                                      <p:tavLst>
                                        <p:tav tm="0">
                                          <p:val>
                                            <p:strVal val="#ppt_x"/>
                                          </p:val>
                                        </p:tav>
                                        <p:tav tm="100000">
                                          <p:val>
                                            <p:strVal val="#ppt_x"/>
                                          </p:val>
                                        </p:tav>
                                      </p:tavLst>
                                    </p:anim>
                                    <p:anim calcmode="lin" valueType="num">
                                      <p:cBhvr additive="base">
                                        <p:cTn id="40" dur="700" fill="hold"/>
                                        <p:tgtEl>
                                          <p:spTgt spid="9"/>
                                        </p:tgtEl>
                                        <p:attrNameLst>
                                          <p:attrName>ppt_y</p:attrName>
                                        </p:attrNameLst>
                                      </p:cBhvr>
                                      <p:tavLst>
                                        <p:tav tm="0">
                                          <p:val>
                                            <p:strVal val="#ppt_y+.1"/>
                                          </p:val>
                                        </p:tav>
                                        <p:tav tm="100000">
                                          <p:val>
                                            <p:strVal val="#ppt_y"/>
                                          </p:val>
                                        </p:tav>
                                      </p:tavLst>
                                    </p:anim>
                                  </p:childTnLst>
                                </p:cTn>
                              </p:par>
                              <p:par>
                                <p:cTn id="46" presetID="53" presetClass="entr" presetSubtype="16"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ppt_w</p:attrName>
                                        </p:attrNameLst>
                                      </p:cBhvr>
                                      <p:tavLst>
                                        <p:tav tm="0">
                                          <p:val>
                                            <p:strVal val="0"/>
                                          </p:val>
                                        </p:tav>
                                        <p:tav tm="100000">
                                          <p:val>
                                            <p:strVal val="#ppt_w"/>
                                          </p:val>
                                        </p:tav>
                                      </p:tavLst>
                                    </p:anim>
                                    <p:anim calcmode="lin" valueType="num">
                                      <p:cBhvr additive="base">
                                        <p:cTn id="44" dur="500" fill="hold"/>
                                        <p:tgtEl>
                                          <p:spTgt spid="10"/>
                                        </p:tgtEl>
                                        <p:attrNameLst>
                                          <p:attrName>ppt_h</p:attrName>
                                        </p:attrNameLst>
                                      </p:cBhvr>
                                      <p:tavLst>
                                        <p:tav tm="0">
                                          <p:val>
                                            <p:strVal val="0"/>
                                          </p:val>
                                        </p:tav>
                                        <p:tav tm="100000">
                                          <p:val>
                                            <p:strVal val="#ppt_h"/>
                                          </p:val>
                                        </p:tav>
                                      </p:tavLst>
                                    </p:anim>
                                    <p:animEffect transition="in" filter="fade">
                                      <p:cBhvr>
                                        <p:cTn id="45" dur="500"/>
                                        <p:tgtEl>
                                          <p:spTgt spid="10"/>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childTnLst>
                                </p:cTn>
                              </p:par>
                            </p:childTnLst>
                          </p:cTn>
                        </p:par>
                        <p:par>
                          <p:cTn id="64" fill="hold">
                            <p:stCondLst>
                              <p:cond delay="770"/>
                            </p:stCondLst>
                            <p:childTnLst>
                              <p:par>
                                <p:cTn id="55" presetID="42"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700"/>
                                        <p:tgtEl>
                                          <p:spTgt spid="12"/>
                                        </p:tgtEl>
                                      </p:cBhvr>
                                    </p:animEffect>
                                    <p:anim calcmode="lin" valueType="num">
                                      <p:cBhvr additive="base">
                                        <p:cTn id="53" dur="700" fill="hold"/>
                                        <p:tgtEl>
                                          <p:spTgt spid="12"/>
                                        </p:tgtEl>
                                        <p:attrNameLst>
                                          <p:attrName>ppt_x</p:attrName>
                                        </p:attrNameLst>
                                      </p:cBhvr>
                                      <p:tavLst>
                                        <p:tav tm="0">
                                          <p:val>
                                            <p:strVal val="#ppt_x"/>
                                          </p:val>
                                        </p:tav>
                                        <p:tav tm="100000">
                                          <p:val>
                                            <p:strVal val="#ppt_x"/>
                                          </p:val>
                                        </p:tav>
                                      </p:tavLst>
                                    </p:anim>
                                    <p:anim calcmode="lin" valueType="num">
                                      <p:cBhvr additive="base">
                                        <p:cTn id="54" dur="700" fill="hold"/>
                                        <p:tgtEl>
                                          <p:spTgt spid="12"/>
                                        </p:tgtEl>
                                        <p:attrNameLst>
                                          <p:attrName>ppt_y</p:attrName>
                                        </p:attrNameLst>
                                      </p:cBhvr>
                                      <p:tavLst>
                                        <p:tav tm="0">
                                          <p:val>
                                            <p:strVal val="#ppt_y+.1"/>
                                          </p:val>
                                        </p:tav>
                                        <p:tav tm="100000">
                                          <p:val>
                                            <p:strVal val="#ppt_y"/>
                                          </p:val>
                                        </p:tav>
                                      </p:tavLst>
                                    </p:anim>
                                  </p:childTnLst>
                                </p:cTn>
                              </p:par>
                              <p:par>
                                <p:cTn id="60" presetID="53" presetClass="entr" presetSubtype="16"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ppt_w</p:attrName>
                                        </p:attrNameLst>
                                      </p:cBhvr>
                                      <p:tavLst>
                                        <p:tav tm="0">
                                          <p:val>
                                            <p:strVal val="0"/>
                                          </p:val>
                                        </p:tav>
                                        <p:tav tm="100000">
                                          <p:val>
                                            <p:strVal val="#ppt_w"/>
                                          </p:val>
                                        </p:tav>
                                      </p:tavLst>
                                    </p:anim>
                                    <p:anim calcmode="lin" valueType="num">
                                      <p:cBhvr additive="base">
                                        <p:cTn id="58" dur="500" fill="hold"/>
                                        <p:tgtEl>
                                          <p:spTgt spid="13"/>
                                        </p:tgtEl>
                                        <p:attrNameLst>
                                          <p:attrName>ppt_h</p:attrName>
                                        </p:attrNameLst>
                                      </p:cBhvr>
                                      <p:tavLst>
                                        <p:tav tm="0">
                                          <p:val>
                                            <p:strVal val="0"/>
                                          </p:val>
                                        </p:tav>
                                        <p:tav tm="100000">
                                          <p:val>
                                            <p:strVal val="#ppt_h"/>
                                          </p:val>
                                        </p:tav>
                                      </p:tavLst>
                                    </p:anim>
                                    <p:animEffect transition="in" filter="fade">
                                      <p:cBhvr>
                                        <p:cTn id="59" dur="500"/>
                                        <p:tgtEl>
                                          <p:spTgt spid="13"/>
                                        </p:tgtEl>
                                      </p:cBhvr>
                                    </p:animEffect>
                                  </p:childTnLst>
                                </p:cTn>
                              </p:par>
                              <p:par>
                                <p:cTn id="63" presetID="10"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600"/>
                                        <p:tgtEl>
                                          <p:spTgt spid="14"/>
                                        </p:tgtEl>
                                      </p:cBhvr>
                                    </p:animEffect>
                                  </p:childTnLst>
                                </p:cTn>
                              </p:par>
                            </p:childTnLst>
                          </p:cTn>
                        </p:par>
                        <p:par>
                          <p:cTn id="78" fill="hold">
                            <p:stCondLst>
                              <p:cond delay="1155"/>
                            </p:stCondLst>
                            <p:childTnLst>
                              <p:par>
                                <p:cTn id="69" presetID="42" presetClass="entr" presetSubtype="0"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700"/>
                                        <p:tgtEl>
                                          <p:spTgt spid="15"/>
                                        </p:tgtEl>
                                      </p:cBhvr>
                                    </p:animEffect>
                                    <p:anim calcmode="lin" valueType="num">
                                      <p:cBhvr additive="base">
                                        <p:cTn id="67" dur="700" fill="hold"/>
                                        <p:tgtEl>
                                          <p:spTgt spid="15"/>
                                        </p:tgtEl>
                                        <p:attrNameLst>
                                          <p:attrName>ppt_x</p:attrName>
                                        </p:attrNameLst>
                                      </p:cBhvr>
                                      <p:tavLst>
                                        <p:tav tm="0">
                                          <p:val>
                                            <p:strVal val="#ppt_x"/>
                                          </p:val>
                                        </p:tav>
                                        <p:tav tm="100000">
                                          <p:val>
                                            <p:strVal val="#ppt_x"/>
                                          </p:val>
                                        </p:tav>
                                      </p:tavLst>
                                    </p:anim>
                                    <p:anim calcmode="lin" valueType="num">
                                      <p:cBhvr additive="base">
                                        <p:cTn id="68" dur="700" fill="hold"/>
                                        <p:tgtEl>
                                          <p:spTgt spid="15"/>
                                        </p:tgtEl>
                                        <p:attrNameLst>
                                          <p:attrName>ppt_y</p:attrName>
                                        </p:attrNameLst>
                                      </p:cBhvr>
                                      <p:tavLst>
                                        <p:tav tm="0">
                                          <p:val>
                                            <p:strVal val="#ppt_y+.1"/>
                                          </p:val>
                                        </p:tav>
                                        <p:tav tm="100000">
                                          <p:val>
                                            <p:strVal val="#ppt_y"/>
                                          </p:val>
                                        </p:tav>
                                      </p:tavLst>
                                    </p:anim>
                                  </p:childTnLst>
                                </p:cTn>
                              </p:par>
                              <p:par>
                                <p:cTn id="74" presetID="53" presetClass="entr" presetSubtype="16" fill="hold" nodeType="with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500" fill="hold"/>
                                        <p:tgtEl>
                                          <p:spTgt spid="16"/>
                                        </p:tgtEl>
                                        <p:attrNameLst>
                                          <p:attrName>ppt_w</p:attrName>
                                        </p:attrNameLst>
                                      </p:cBhvr>
                                      <p:tavLst>
                                        <p:tav tm="0">
                                          <p:val>
                                            <p:strVal val="0"/>
                                          </p:val>
                                        </p:tav>
                                        <p:tav tm="100000">
                                          <p:val>
                                            <p:strVal val="#ppt_w"/>
                                          </p:val>
                                        </p:tav>
                                      </p:tavLst>
                                    </p:anim>
                                    <p:anim calcmode="lin" valueType="num">
                                      <p:cBhvr additive="base">
                                        <p:cTn id="72" dur="500" fill="hold"/>
                                        <p:tgtEl>
                                          <p:spTgt spid="16"/>
                                        </p:tgtEl>
                                        <p:attrNameLst>
                                          <p:attrName>ppt_h</p:attrName>
                                        </p:attrNameLst>
                                      </p:cBhvr>
                                      <p:tavLst>
                                        <p:tav tm="0">
                                          <p:val>
                                            <p:strVal val="0"/>
                                          </p:val>
                                        </p:tav>
                                        <p:tav tm="100000">
                                          <p:val>
                                            <p:strVal val="#ppt_h"/>
                                          </p:val>
                                        </p:tav>
                                      </p:tavLst>
                                    </p:anim>
                                    <p:animEffect transition="in" filter="fade">
                                      <p:cBhvr>
                                        <p:cTn id="73" dur="500"/>
                                        <p:tgtEl>
                                          <p:spTgt spid="16"/>
                                        </p:tgtEl>
                                      </p:cBhvr>
                                    </p:animEffect>
                                  </p:childTnLst>
                                </p:cTn>
                              </p:par>
                              <p:par>
                                <p:cTn id="77" presetID="10"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600"/>
                                        <p:tgtEl>
                                          <p:spTgt spid="17"/>
                                        </p:tgtEl>
                                      </p:cBhvr>
                                    </p:animEffect>
                                  </p:childTnLst>
                                </p:cTn>
                              </p:par>
                            </p:childTnLst>
                          </p:cTn>
                        </p:par>
                        <p:par>
                          <p:cTn id="92" fill="hold">
                            <p:stCondLst>
                              <p:cond delay="1540"/>
                            </p:stCondLst>
                            <p:childTnLst>
                              <p:par>
                                <p:cTn id="83" presetID="42" presetClass="entr" presetSubtype="0" fill="hold" grpId="0"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700"/>
                                        <p:tgtEl>
                                          <p:spTgt spid="18"/>
                                        </p:tgtEl>
                                      </p:cBhvr>
                                    </p:animEffect>
                                    <p:anim calcmode="lin" valueType="num">
                                      <p:cBhvr additive="base">
                                        <p:cTn id="81" dur="700" fill="hold"/>
                                        <p:tgtEl>
                                          <p:spTgt spid="18"/>
                                        </p:tgtEl>
                                        <p:attrNameLst>
                                          <p:attrName>ppt_x</p:attrName>
                                        </p:attrNameLst>
                                      </p:cBhvr>
                                      <p:tavLst>
                                        <p:tav tm="0">
                                          <p:val>
                                            <p:strVal val="#ppt_x"/>
                                          </p:val>
                                        </p:tav>
                                        <p:tav tm="100000">
                                          <p:val>
                                            <p:strVal val="#ppt_x"/>
                                          </p:val>
                                        </p:tav>
                                      </p:tavLst>
                                    </p:anim>
                                    <p:anim calcmode="lin" valueType="num">
                                      <p:cBhvr additive="base">
                                        <p:cTn id="82" dur="700" fill="hold"/>
                                        <p:tgtEl>
                                          <p:spTgt spid="18"/>
                                        </p:tgtEl>
                                        <p:attrNameLst>
                                          <p:attrName>ppt_y</p:attrName>
                                        </p:attrNameLst>
                                      </p:cBhvr>
                                      <p:tavLst>
                                        <p:tav tm="0">
                                          <p:val>
                                            <p:strVal val="#ppt_y+.1"/>
                                          </p:val>
                                        </p:tav>
                                        <p:tav tm="100000">
                                          <p:val>
                                            <p:strVal val="#ppt_y"/>
                                          </p:val>
                                        </p:tav>
                                      </p:tavLst>
                                    </p:anim>
                                  </p:childTnLst>
                                </p:cTn>
                              </p:par>
                              <p:par>
                                <p:cTn id="88" presetID="53" presetClass="entr" presetSubtype="16"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fill="hold"/>
                                        <p:tgtEl>
                                          <p:spTgt spid="19"/>
                                        </p:tgtEl>
                                        <p:attrNameLst>
                                          <p:attrName>ppt_w</p:attrName>
                                        </p:attrNameLst>
                                      </p:cBhvr>
                                      <p:tavLst>
                                        <p:tav tm="0">
                                          <p:val>
                                            <p:strVal val="0"/>
                                          </p:val>
                                        </p:tav>
                                        <p:tav tm="100000">
                                          <p:val>
                                            <p:strVal val="#ppt_w"/>
                                          </p:val>
                                        </p:tav>
                                      </p:tavLst>
                                    </p:anim>
                                    <p:anim calcmode="lin" valueType="num">
                                      <p:cBhvr additive="base">
                                        <p:cTn id="86" dur="500" fill="hold"/>
                                        <p:tgtEl>
                                          <p:spTgt spid="19"/>
                                        </p:tgtEl>
                                        <p:attrNameLst>
                                          <p:attrName>ppt_h</p:attrName>
                                        </p:attrNameLst>
                                      </p:cBhvr>
                                      <p:tavLst>
                                        <p:tav tm="0">
                                          <p:val>
                                            <p:strVal val="0"/>
                                          </p:val>
                                        </p:tav>
                                        <p:tav tm="100000">
                                          <p:val>
                                            <p:strVal val="#ppt_h"/>
                                          </p:val>
                                        </p:tav>
                                      </p:tavLst>
                                    </p:anim>
                                    <p:animEffect transition="in" filter="fade">
                                      <p:cBhvr>
                                        <p:cTn id="87" dur="500"/>
                                        <p:tgtEl>
                                          <p:spTgt spid="19"/>
                                        </p:tgtEl>
                                      </p:cBhvr>
                                    </p:animEffect>
                                  </p:childTnLst>
                                </p:cTn>
                              </p:par>
                              <p:par>
                                <p:cTn id="91" presetID="10"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1" grpId="0" animBg="1"/>
      <p:bldP spid="12" grpId="0" animBg="1"/>
      <p:bldP spid="14" grpId="0" animBg="1"/>
      <p:bldP spid="15" grpId="0" animBg="1"/>
      <p:bldP spid="17" grpId="0" animBg="1"/>
      <p:bldP spid="18"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ماذا تعلمنا من النشاط؟</a:t>
            </a:r>
            <a:endParaRPr lang="en-US" sz="2800" dirty="0"/>
          </a:p>
        </p:txBody>
      </p:sp>
      <p:sp>
        <p:nvSpPr>
          <p:cNvPr id="3" name="float:a:2"/>
          <p:cNvSpPr/>
          <p:nvPr/>
        </p:nvSpPr>
        <p:spPr>
          <a:xfrm>
            <a:off x="411480" y="1371600"/>
            <a:ext cx="11384280" cy="1234440"/>
          </a:xfrm>
          <a:prstGeom prst="roundRect">
            <a:avLst>
              <a:gd name="adj" fmla="val 1037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كما تختلف الكرات في أحجامها، ألوانها وملمسها، فإنّ الذرات أيضًا تختلف في خواصها، فليست جميع الذرات في الجدول الدوري بالحجم نفسه، بل </a:t>
            </a:r>
            <a:pPr rtl="1" algn="r" indent="0" marL="0">
              <a:lnSpc>
                <a:spcPct val="105000"/>
              </a:lnSpc>
              <a:buNone/>
            </a:pPr>
            <a:r>
              <a:rPr lang="ar-SA" altLang="en-US" sz="1700" b="1" dirty="0">
                <a:solidFill>
                  <a:srgbClr val="0077B6"/>
                </a:solidFill>
                <a:latin typeface="Segoe UI" pitchFamily="34" charset="0"/>
                <a:ea typeface="Segoe UI" pitchFamily="34" charset="-122"/>
                <a:cs typeface="Segoe UI" pitchFamily="34" charset="-120"/>
              </a:rPr>
              <a:t>يتدرج حجمها وفق نمط منتظم.</a:t>
            </a:r>
            <a:endParaRPr lang="ar-SA" sz="1700" dirty="0"/>
          </a:p>
        </p:txBody>
      </p:sp>
      <p:sp>
        <p:nvSpPr>
          <p:cNvPr id="4" name="float:a:3"/>
          <p:cNvSpPr/>
          <p:nvPr/>
        </p:nvSpPr>
        <p:spPr>
          <a:xfrm>
            <a:off x="411480" y="2743200"/>
            <a:ext cx="11384280" cy="1234440"/>
          </a:xfrm>
          <a:prstGeom prst="roundRect">
            <a:avLst>
              <a:gd name="adj" fmla="val 1037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وسنكتشف أنّ وراء هذا التدرج أسبابًا مرتبطةً بـ</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تركيب الذرة وقوة جذب النواة للإلكترونات</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في كلٍّ من الدورة والمجموعة في الجدول الدوري. وسنتعلم فيما يلي الميول الدورية لعناصر الجدول الدوري:</a:t>
            </a:r>
            <a:endParaRPr lang="ar-SA" sz="1700" dirty="0"/>
          </a:p>
        </p:txBody>
      </p:sp>
      <p:pic>
        <p:nvPicPr>
          <p:cNvPr id="5" name="zoom:c:4" descr="l/badge_radius.png">    </p:cNvPr>
          <p:cNvPicPr>
            <a:picLocks noChangeAspect="1"/>
          </p:cNvPicPr>
          <p:nvPr/>
        </p:nvPicPr>
        <p:blipFill>
          <a:blip r:embed="rId1"/>
          <a:stretch>
            <a:fillRect/>
          </a:stretch>
        </p:blipFill>
        <p:spPr>
          <a:xfrm>
            <a:off x="9875520" y="4207448"/>
            <a:ext cx="960120" cy="1021713"/>
          </a:xfrm>
          <a:prstGeom prst="rect">
            <a:avLst/>
          </a:prstGeom>
        </p:spPr>
      </p:pic>
      <p:sp>
        <p:nvSpPr>
          <p:cNvPr id="6" name="fade:w:5"/>
          <p:cNvSpPr txBox="1"/>
          <p:nvPr/>
        </p:nvSpPr>
        <p:spPr>
          <a:xfrm>
            <a:off x="9006840" y="530352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نصف القطر الذري</a:t>
            </a:r>
            <a:endParaRPr lang="ar-SA" sz="1800" dirty="0"/>
          </a:p>
          <a:p>
            <a:pPr rtl="1" algn="ct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(الحجم الذري)</a:t>
            </a:r>
            <a:endParaRPr lang="ar-SA" sz="1800" dirty="0"/>
          </a:p>
        </p:txBody>
      </p:sp>
      <p:pic>
        <p:nvPicPr>
          <p:cNvPr id="7" name="zoom:c:6" descr="l/badge_ie.png">    </p:cNvPr>
          <p:cNvPicPr>
            <a:picLocks noChangeAspect="1"/>
          </p:cNvPicPr>
          <p:nvPr/>
        </p:nvPicPr>
        <p:blipFill>
          <a:blip r:embed="rId2"/>
          <a:stretch>
            <a:fillRect/>
          </a:stretch>
        </p:blipFill>
        <p:spPr>
          <a:xfrm>
            <a:off x="7040880" y="4207448"/>
            <a:ext cx="960120" cy="1021713"/>
          </a:xfrm>
          <a:prstGeom prst="rect">
            <a:avLst/>
          </a:prstGeom>
        </p:spPr>
      </p:pic>
      <p:sp>
        <p:nvSpPr>
          <p:cNvPr id="8" name="fade:w:7"/>
          <p:cNvSpPr txBox="1"/>
          <p:nvPr/>
        </p:nvSpPr>
        <p:spPr>
          <a:xfrm>
            <a:off x="6172200" y="530352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7C3AED"/>
                </a:solidFill>
                <a:latin typeface="Segoe UI" pitchFamily="34" charset="0"/>
                <a:ea typeface="Segoe UI" pitchFamily="34" charset="-122"/>
                <a:cs typeface="Segoe UI" pitchFamily="34" charset="-120"/>
              </a:rPr>
              <a:t>طاقة التأين</a:t>
            </a:r>
            <a:endParaRPr lang="ar-SA" sz="1800" dirty="0"/>
          </a:p>
        </p:txBody>
      </p:sp>
      <p:pic>
        <p:nvPicPr>
          <p:cNvPr id="9" name="zoom:c:8" descr="l/badge_ea.png">    </p:cNvPr>
          <p:cNvPicPr>
            <a:picLocks noChangeAspect="1"/>
          </p:cNvPicPr>
          <p:nvPr/>
        </p:nvPicPr>
        <p:blipFill>
          <a:blip r:embed="rId3"/>
          <a:stretch>
            <a:fillRect/>
          </a:stretch>
        </p:blipFill>
        <p:spPr>
          <a:xfrm>
            <a:off x="4206240" y="4207448"/>
            <a:ext cx="960120" cy="1021713"/>
          </a:xfrm>
          <a:prstGeom prst="rect">
            <a:avLst/>
          </a:prstGeom>
        </p:spPr>
      </p:pic>
      <p:sp>
        <p:nvSpPr>
          <p:cNvPr id="10" name="fade:w:9"/>
          <p:cNvSpPr txBox="1"/>
          <p:nvPr/>
        </p:nvSpPr>
        <p:spPr>
          <a:xfrm>
            <a:off x="3337560" y="530352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0D9488"/>
                </a:solidFill>
                <a:latin typeface="Segoe UI" pitchFamily="34" charset="0"/>
                <a:ea typeface="Segoe UI" pitchFamily="34" charset="-122"/>
                <a:cs typeface="Segoe UI" pitchFamily="34" charset="-120"/>
              </a:rPr>
              <a:t>طاقة الميل الإلكتروني</a:t>
            </a:r>
            <a:endParaRPr lang="ar-SA" sz="1800" dirty="0"/>
          </a:p>
        </p:txBody>
      </p:sp>
      <p:pic>
        <p:nvPicPr>
          <p:cNvPr id="11" name="zoom:c:10" descr="l/badge_en.png">    </p:cNvPr>
          <p:cNvPicPr>
            <a:picLocks noChangeAspect="1"/>
          </p:cNvPicPr>
          <p:nvPr/>
        </p:nvPicPr>
        <p:blipFill>
          <a:blip r:embed="rId4"/>
          <a:stretch>
            <a:fillRect/>
          </a:stretch>
        </p:blipFill>
        <p:spPr>
          <a:xfrm>
            <a:off x="1371600" y="4207448"/>
            <a:ext cx="960120" cy="1021713"/>
          </a:xfrm>
          <a:prstGeom prst="rect">
            <a:avLst/>
          </a:prstGeom>
        </p:spPr>
      </p:pic>
      <p:sp>
        <p:nvSpPr>
          <p:cNvPr id="12" name="fade:w:11"/>
          <p:cNvSpPr txBox="1"/>
          <p:nvPr/>
        </p:nvSpPr>
        <p:spPr>
          <a:xfrm>
            <a:off x="502920" y="5303520"/>
            <a:ext cx="2697480" cy="868680"/>
          </a:xfrm>
          <a:prstGeom prst="rect">
            <a:avLst/>
          </a:prstGeom>
          <a:noFill/>
          <a:ln/>
        </p:spPr>
        <p:txBody>
          <a:bodyPr wrap="square" lIns="76200" tIns="152400" rIns="152400" bIns="76200" rtlCol="0" anchor="ctr"/>
          <a:lstStyle/>
          <a:p>
            <a:pPr rtl="1" algn="ctr" indent="0" marL="0">
              <a:lnSpc>
                <a:spcPct val="105000"/>
              </a:lnSpc>
              <a:buNone/>
            </a:pPr>
            <a:r>
              <a:rPr lang="ar-SA" altLang="en-US" sz="1800" b="1" dirty="0">
                <a:solidFill>
                  <a:srgbClr val="DB2777"/>
                </a:solidFill>
                <a:latin typeface="Segoe UI" pitchFamily="34" charset="0"/>
                <a:ea typeface="Segoe UI" pitchFamily="34" charset="-122"/>
                <a:cs typeface="Segoe UI" pitchFamily="34" charset="-120"/>
              </a:rPr>
              <a:t>السالبية الكهربائية</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42"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4" fill="hold">
                            <p:stCondLst>
                              <p:cond delay="0"/>
                            </p:stCondLst>
                            <p:childTnLst>
                              <p:par>
                                <p:cTn id="20" presetID="5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par>
                                <p:cTn id="23"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35" fill="hold">
                      <p:stCondLst>
                        <p:cond delay="indefinite"/>
                      </p:stCondLst>
                      <p:childTnLst>
                        <p:par>
                          <p:cTn id="34" fill="hold">
                            <p:stCondLst>
                              <p:cond delay="0"/>
                            </p:stCondLst>
                            <p:childTnLst>
                              <p:par>
                                <p:cTn id="30" presetID="53"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par>
                                <p:cTn id="33"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600"/>
                                        <p:tgtEl>
                                          <p:spTgt spid="8"/>
                                        </p:tgtEl>
                                      </p:cBhvr>
                                    </p:animEffect>
                                  </p:childTnLst>
                                </p:cTn>
                              </p:par>
                            </p:childTnLst>
                          </p:cTn>
                        </p:par>
                      </p:childTnLst>
                    </p:cTn>
                  </p:par>
                  <p:par>
                    <p:cTn id="45" fill="hold">
                      <p:stCondLst>
                        <p:cond delay="indefinite"/>
                      </p:stCondLst>
                      <p:childTnLst>
                        <p:par>
                          <p:cTn id="44"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ppt_w</p:attrName>
                                        </p:attrNameLst>
                                      </p:cBhvr>
                                      <p:tavLst>
                                        <p:tav tm="0">
                                          <p:val>
                                            <p:strVal val="0"/>
                                          </p:val>
                                        </p:tav>
                                        <p:tav tm="100000">
                                          <p:val>
                                            <p:strVal val="#ppt_w"/>
                                          </p:val>
                                        </p:tav>
                                      </p:tavLst>
                                    </p:anim>
                                    <p:anim calcmode="lin" valueType="num">
                                      <p:cBhvr additive="base">
                                        <p:cTn id="38" dur="500" fill="hold"/>
                                        <p:tgtEl>
                                          <p:spTgt spid="9"/>
                                        </p:tgtEl>
                                        <p:attrNameLst>
                                          <p:attrName>ppt_h</p:attrName>
                                        </p:attrNameLst>
                                      </p:cBhvr>
                                      <p:tavLst>
                                        <p:tav tm="0">
                                          <p:val>
                                            <p:strVal val="0"/>
                                          </p:val>
                                        </p:tav>
                                        <p:tav tm="100000">
                                          <p:val>
                                            <p:strVal val="#ppt_h"/>
                                          </p:val>
                                        </p:tav>
                                      </p:tavLst>
                                    </p:anim>
                                    <p:animEffect transition="in" filter="fade">
                                      <p:cBhvr>
                                        <p:cTn id="39" dur="500"/>
                                        <p:tgtEl>
                                          <p:spTgt spid="9"/>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600"/>
                                        <p:tgtEl>
                                          <p:spTgt spid="10"/>
                                        </p:tgtEl>
                                      </p:cBhvr>
                                    </p:animEffect>
                                  </p:childTnLst>
                                </p:cTn>
                              </p:par>
                            </p:childTnLst>
                          </p:cTn>
                        </p:par>
                      </p:childTnLst>
                    </p:cTn>
                  </p:par>
                  <p:par>
                    <p:cTn id="55" fill="hold">
                      <p:stCondLst>
                        <p:cond delay="indefinite"/>
                      </p:stCondLst>
                      <p:childTnLst>
                        <p:par>
                          <p:cTn id="54"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ppt_w</p:attrName>
                                        </p:attrNameLst>
                                      </p:cBhvr>
                                      <p:tavLst>
                                        <p:tav tm="0">
                                          <p:val>
                                            <p:strVal val="0"/>
                                          </p:val>
                                        </p:tav>
                                        <p:tav tm="100000">
                                          <p:val>
                                            <p:strVal val="#ppt_w"/>
                                          </p:val>
                                        </p:tav>
                                      </p:tavLst>
                                    </p:anim>
                                    <p:anim calcmode="lin" valueType="num">
                                      <p:cBhvr additive="base">
                                        <p:cTn id="48" dur="500" fill="hold"/>
                                        <p:tgtEl>
                                          <p:spTgt spid="11"/>
                                        </p:tgtEl>
                                        <p:attrNameLst>
                                          <p:attrName>ppt_h</p:attrName>
                                        </p:attrNameLst>
                                      </p:cBhvr>
                                      <p:tavLst>
                                        <p:tav tm="0">
                                          <p:val>
                                            <p:strVal val="0"/>
                                          </p:val>
                                        </p:tav>
                                        <p:tav tm="100000">
                                          <p:val>
                                            <p:strVal val="#ppt_h"/>
                                          </p:val>
                                        </p:tav>
                                      </p:tavLst>
                                    </p:anim>
                                    <p:animEffect transition="in" filter="fade">
                                      <p:cBhvr>
                                        <p:cTn id="49" dur="500"/>
                                        <p:tgtEl>
                                          <p:spTgt spid="11"/>
                                        </p:tgtEl>
                                      </p:cBhvr>
                                    </p:animEffect>
                                  </p:childTnLst>
                                </p:cTn>
                              </p:par>
                              <p:par>
                                <p:cTn id="53"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P spid="10"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قوتان متنافستان داخل الذرة</a:t>
            </a:r>
            <a:endParaRPr lang="en-US" sz="2800" dirty="0"/>
          </a:p>
        </p:txBody>
      </p:sp>
      <p:sp>
        <p:nvSpPr>
          <p:cNvPr id="3" name="float:c:2"/>
          <p:cNvSpPr/>
          <p:nvPr/>
        </p:nvSpPr>
        <p:spPr>
          <a:xfrm>
            <a:off x="7086600" y="1325880"/>
            <a:ext cx="3840480" cy="548640"/>
          </a:xfrm>
          <a:prstGeom prst="roundRect">
            <a:avLst>
              <a:gd name="adj" fmla="val 50000"/>
            </a:avLst>
          </a:prstGeom>
          <a:solidFill>
            <a:srgbClr val="EA580C"/>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شحنة النواة (قوة الجذب)</a:t>
            </a:r>
            <a:endParaRPr lang="ar-SA" sz="1700" dirty="0"/>
          </a:p>
        </p:txBody>
      </p:sp>
      <p:pic>
        <p:nvPicPr>
          <p:cNvPr id="4" name="zoom:w:3" descr="h_charge.png">    </p:cNvPr>
          <p:cNvPicPr>
            <a:picLocks noChangeAspect="1"/>
          </p:cNvPicPr>
          <p:nvPr/>
        </p:nvPicPr>
        <p:blipFill>
          <a:blip r:embed="rId1"/>
          <a:stretch>
            <a:fillRect/>
          </a:stretch>
        </p:blipFill>
        <p:spPr>
          <a:xfrm>
            <a:off x="7042149" y="2011680"/>
            <a:ext cx="3929382" cy="2743200"/>
          </a:xfrm>
          <a:prstGeom prst="rect">
            <a:avLst/>
          </a:prstGeom>
        </p:spPr>
      </p:pic>
      <p:sp>
        <p:nvSpPr>
          <p:cNvPr id="5" name="float:a:4"/>
          <p:cNvSpPr/>
          <p:nvPr/>
        </p:nvSpPr>
        <p:spPr>
          <a:xfrm>
            <a:off x="6263640" y="4892040"/>
            <a:ext cx="5486400" cy="1508760"/>
          </a:xfrm>
          <a:prstGeom prst="roundRect">
            <a:avLst>
              <a:gd name="adj" fmla="val 8485"/>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كلما زاد عدد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البروتونات</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في النواة،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ازدادت قوة جذب النواة</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لإلكترونات المستوى الخارجي.</a:t>
            </a:r>
            <a:endParaRPr lang="ar-SA" sz="1700" dirty="0"/>
          </a:p>
        </p:txBody>
      </p:sp>
      <p:sp>
        <p:nvSpPr>
          <p:cNvPr id="6" name="float:c:5"/>
          <p:cNvSpPr/>
          <p:nvPr/>
        </p:nvSpPr>
        <p:spPr>
          <a:xfrm>
            <a:off x="1234440" y="1325880"/>
            <a:ext cx="3840480" cy="548640"/>
          </a:xfrm>
          <a:prstGeom prst="roundRect">
            <a:avLst>
              <a:gd name="adj" fmla="val 50000"/>
            </a:avLst>
          </a:prstGeom>
          <a:solidFill>
            <a:srgbClr val="7C3AED"/>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تأثير الحجب (الحاجز)</a:t>
            </a:r>
            <a:endParaRPr lang="ar-SA" sz="1700" dirty="0"/>
          </a:p>
        </p:txBody>
      </p:sp>
      <p:pic>
        <p:nvPicPr>
          <p:cNvPr id="7" name="zoom:w:6" descr="h_shield.png">    </p:cNvPr>
          <p:cNvPicPr>
            <a:picLocks noChangeAspect="1"/>
          </p:cNvPicPr>
          <p:nvPr/>
        </p:nvPicPr>
        <p:blipFill>
          <a:blip r:embed="rId2"/>
          <a:stretch>
            <a:fillRect/>
          </a:stretch>
        </p:blipFill>
        <p:spPr>
          <a:xfrm>
            <a:off x="1146848" y="2011680"/>
            <a:ext cx="4015663" cy="2743200"/>
          </a:xfrm>
          <a:prstGeom prst="rect">
            <a:avLst/>
          </a:prstGeom>
        </p:spPr>
      </p:pic>
      <p:sp>
        <p:nvSpPr>
          <p:cNvPr id="8" name="float:a:7"/>
          <p:cNvSpPr/>
          <p:nvPr/>
        </p:nvSpPr>
        <p:spPr>
          <a:xfrm>
            <a:off x="411480" y="4892040"/>
            <a:ext cx="5486400" cy="1508760"/>
          </a:xfrm>
          <a:prstGeom prst="roundRect">
            <a:avLst>
              <a:gd name="adj" fmla="val 8485"/>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الحجب: </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انخفاض تأثير شحنة النواة على الإلكترونات الخارجية نتيجة وجود إلكترونات داخلية تحدّ من قوة جذب النواة.</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0" fill="hold">
                      <p:stCondLst>
                        <p:cond delay="indefinite"/>
                      </p:stCondLst>
                      <p:childTnLst>
                        <p:par>
                          <p:cTn id="13"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53" presetClass="entr" presetSubtype="16"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ppt_w</p:attrName>
                                        </p:attrNameLst>
                                      </p:cBhvr>
                                      <p:tavLst>
                                        <p:tav tm="0">
                                          <p:val>
                                            <p:strVal val="0"/>
                                          </p:val>
                                        </p:tav>
                                        <p:tav tm="100000">
                                          <p:val>
                                            <p:strVal val="#ppt_w"/>
                                          </p:val>
                                        </p:tav>
                                      </p:tavLst>
                                    </p:anim>
                                    <p:anim calcmode="lin" valueType="num">
                                      <p:cBhvr additive="base">
                                        <p:cTn id="10" dur="500" fill="hold"/>
                                        <p:tgtEl>
                                          <p:spTgt spid="4"/>
                                        </p:tgtEl>
                                        <p:attrNameLst>
                                          <p:attrName>ppt_h</p:attrName>
                                        </p:attrNameLst>
                                      </p:cBhvr>
                                      <p:tavLst>
                                        <p:tav tm="0">
                                          <p:val>
                                            <p:strVal val="0"/>
                                          </p:val>
                                        </p:tav>
                                        <p:tav tm="100000">
                                          <p:val>
                                            <p:strVal val="#ppt_h"/>
                                          </p:val>
                                        </p:tav>
                                      </p:tavLst>
                                    </p:anim>
                                    <p:animEffect transition="in" filter="fade">
                                      <p:cBhvr>
                                        <p:cTn id="11" dur="500"/>
                                        <p:tgtEl>
                                          <p:spTgt spid="4"/>
                                        </p:tgtEl>
                                      </p:cBhvr>
                                    </p:animEffect>
                                  </p:childTnLst>
                                </p:cTn>
                              </p:par>
                            </p:childTnLst>
                          </p:cTn>
                        </p:par>
                        <p:par>
                          <p:cTn id="19" fill="hold">
                            <p:stCondLst>
                              <p:cond delay="385"/>
                            </p:stCondLst>
                            <p:childTnLst>
                              <p:par>
                                <p:cTn id="18" presetID="42"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1" fill="hold">
                            <p:stCondLst>
                              <p:cond delay="0"/>
                            </p:stCondLst>
                            <p:childTnLst>
                              <p:par>
                                <p:cTn id="25" presetID="4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p:tgtEl>
                                          <p:spTgt spid="6"/>
                                        </p:tgtEl>
                                        <p:attrNameLst>
                                          <p:attrName>ppt_x</p:attrName>
                                        </p:attrNameLst>
                                      </p:cBhvr>
                                      <p:tavLst>
                                        <p:tav tm="0">
                                          <p:val>
                                            <p:strVal val="#ppt_x"/>
                                          </p:val>
                                        </p:tav>
                                        <p:tav tm="100000">
                                          <p:val>
                                            <p:strVal val="#ppt_x"/>
                                          </p:val>
                                        </p:tav>
                                      </p:tavLst>
                                    </p:anim>
                                    <p:anim calcmode="lin" valueType="num">
                                      <p:cBhvr additive="base">
                                        <p:cTn id="24" dur="700" fill="hold"/>
                                        <p:tgtEl>
                                          <p:spTgt spid="6"/>
                                        </p:tgtEl>
                                        <p:attrNameLst>
                                          <p:attrName>ppt_y</p:attrName>
                                        </p:attrNameLst>
                                      </p:cBhvr>
                                      <p:tavLst>
                                        <p:tav tm="0">
                                          <p:val>
                                            <p:strVal val="#ppt_y+.1"/>
                                          </p:val>
                                        </p:tav>
                                        <p:tav tm="100000">
                                          <p:val>
                                            <p:strVal val="#ppt_y"/>
                                          </p:val>
                                        </p:tav>
                                      </p:tavLst>
                                    </p:anim>
                                  </p:childTnLst>
                                </p:cTn>
                              </p:par>
                              <p:par>
                                <p:cTn id="30" presetID="53" presetClass="entr" presetSubtype="16"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385"/>
                            </p:stCondLst>
                            <p:childTnLst>
                              <p:par>
                                <p:cTn id="36"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bg" descr="/tmp/claude-0/-home-user-Project-1/c7d0d2a1-f360-54f1-afe5-e7480b814ba9/scratchpad/build/a/bg_radius.jpg">    </p:cNvPr>
          <p:cNvPicPr>
            <a:picLocks noChangeAspect="1"/>
          </p:cNvPicPr>
          <p:nvPr/>
        </p:nvPicPr>
        <p:blipFill>
          <a:blip r:embed="rId1"/>
          <a:stretch>
            <a:fillRect/>
          </a:stretch>
        </p:blipFill>
        <p:spPr>
          <a:xfrm>
            <a:off x="0" y="0"/>
            <a:ext cx="12191695" cy="6858000"/>
          </a:xfrm>
          <a:prstGeom prst="rect">
            <a:avLst/>
          </a:prstGeom>
        </p:spPr>
      </p:pic>
      <p:sp>
        <p:nvSpPr>
          <p:cNvPr id="3" name="zoom:a:1"/>
          <p:cNvSpPr/>
          <p:nvPr/>
        </p:nvSpPr>
        <p:spPr>
          <a:xfrm>
            <a:off x="457200" y="2743200"/>
            <a:ext cx="7040880" cy="3246120"/>
          </a:xfrm>
          <a:prstGeom prst="roundRect">
            <a:avLst>
              <a:gd name="adj" fmla="val 7042"/>
            </a:avLst>
          </a:prstGeom>
          <a:solidFill>
            <a:srgbClr val="0B2545">
              <a:alpha val="78000"/>
            </a:srgbClr>
          </a:solidFill>
          <a:ln w="25400">
            <a:solidFill>
              <a:srgbClr val="00B4D8"/>
            </a:solidFill>
            <a:prstDash val="solid"/>
          </a:ln>
        </p:spPr>
      </p:sp>
      <p:pic>
        <p:nvPicPr>
          <p:cNvPr id="4" name="zoom:a:2" descr="/tmp/claude-0/-home-user-Project-1/c7d0d2a1-f360-54f1-afe5-e7480b814ba9/scratchpad/build/a/l/badge_radius.png">    </p:cNvPr>
          <p:cNvPicPr>
            <a:picLocks noChangeAspect="1"/>
          </p:cNvPicPr>
          <p:nvPr/>
        </p:nvPicPr>
        <p:blipFill>
          <a:blip r:embed="rId2"/>
          <a:stretch>
            <a:fillRect/>
          </a:stretch>
        </p:blipFill>
        <p:spPr>
          <a:xfrm>
            <a:off x="6355080" y="3017520"/>
            <a:ext cx="914400" cy="978408"/>
          </a:xfrm>
          <a:prstGeom prst="rect">
            <a:avLst/>
          </a:prstGeom>
        </p:spPr>
      </p:pic>
      <p:sp>
        <p:nvSpPr>
          <p:cNvPr id="5" name="fade:a:3"/>
          <p:cNvSpPr txBox="1"/>
          <p:nvPr/>
        </p:nvSpPr>
        <p:spPr>
          <a:xfrm>
            <a:off x="731520" y="3063240"/>
            <a:ext cx="5486400" cy="457200"/>
          </a:xfrm>
          <a:prstGeom prst="rect">
            <a:avLst/>
          </a:prstGeom>
          <a:noFill/>
          <a:ln/>
        </p:spPr>
        <p:txBody>
          <a:bodyPr wrap="square" lIns="76200" tIns="152400" rIns="152400" bIns="76200" rtlCol="0" anchor="ctr"/>
          <a:lstStyle/>
          <a:p>
            <a:pPr rtl="1" algn="r" indent="0" marL="0">
              <a:lnSpc>
                <a:spcPct val="105000"/>
              </a:lnSpc>
              <a:buNone/>
            </a:pPr>
            <a:r>
              <a:rPr lang="ar-SA" altLang="en-US" sz="1800" b="1" dirty="0">
                <a:solidFill>
                  <a:srgbClr val="9EEBFF"/>
                </a:solidFill>
                <a:latin typeface="Segoe UI" pitchFamily="34" charset="0"/>
                <a:ea typeface="Segoe UI" pitchFamily="34" charset="-122"/>
                <a:cs typeface="Segoe UI" pitchFamily="34" charset="-120"/>
              </a:rPr>
              <a:t>الدرس [3-2]  •  الميول الدورية</a:t>
            </a:r>
            <a:endParaRPr lang="ar-SA" sz="1800" dirty="0"/>
          </a:p>
        </p:txBody>
      </p:sp>
      <p:sp>
        <p:nvSpPr>
          <p:cNvPr id="6" name="Text 0"/>
          <p:cNvSpPr/>
          <p:nvPr>
            <p:ph idx="100" type="title" hasCustomPrompt="1"/>
          </p:nvPr>
        </p:nvSpPr>
        <p:spPr>
          <a:xfrm>
            <a:off x="731520" y="4343400"/>
            <a:ext cx="6583680" cy="1005840"/>
          </a:xfrm>
          <a:prstGeom prst="rect">
            <a:avLst/>
          </a:prstGeom>
          <a:noFill/>
          <a:ln/>
        </p:spPr>
        <p:txBody>
          <a:bodyPr wrap="square" lIns="0" tIns="0" rIns="0" bIns="0" rtlCol="0" anchor="ctr"/>
          <a:lstStyle/>
          <a:p>
            <a:pPr rtl="1" algn="r" indent="0" marL="0">
              <a:buNone/>
            </a:pPr>
            <a:r>
              <a:rPr lang="en-US" sz="4800" b="1" dirty="0">
                <a:solidFill>
                  <a:srgbClr val="FFFFFF"/>
                </a:solidFill>
                <a:latin typeface="Segoe UI" pitchFamily="34" charset="0"/>
                <a:ea typeface="Segoe UI" pitchFamily="34" charset="-122"/>
                <a:cs typeface="Segoe UI" pitchFamily="34" charset="-120"/>
              </a:rPr>
              <a:t>نصف القطر الذري</a:t>
            </a:r>
            <a:endParaRPr lang="en-US" sz="4800" dirty="0"/>
          </a:p>
        </p:txBody>
      </p:sp>
      <p:sp>
        <p:nvSpPr>
          <p:cNvPr id="7" name="fade:a:5"/>
          <p:cNvSpPr txBox="1"/>
          <p:nvPr/>
        </p:nvSpPr>
        <p:spPr>
          <a:xfrm>
            <a:off x="731520" y="5349240"/>
            <a:ext cx="6583680" cy="457200"/>
          </a:xfrm>
          <a:prstGeom prst="rect">
            <a:avLst/>
          </a:prstGeom>
          <a:noFill/>
          <a:ln/>
        </p:spPr>
        <p:txBody>
          <a:bodyPr wrap="square" lIns="76200" tIns="152400" rIns="152400" bIns="76200" rtlCol="0" anchor="ctr"/>
          <a:lstStyle/>
          <a:p>
            <a:pPr algn="r" indent="0" marL="0">
              <a:lnSpc>
                <a:spcPct val="105000"/>
              </a:lnSpc>
              <a:buNone/>
            </a:pPr>
            <a:r>
              <a:rPr lang="en-US" altLang="en-US" sz="2000" dirty="0">
                <a:solidFill>
                  <a:srgbClr val="9EEBFF"/>
                </a:solidFill>
                <a:latin typeface="Segoe UI" pitchFamily="34" charset="0"/>
                <a:ea typeface="Segoe UI" pitchFamily="34" charset="-122"/>
                <a:cs typeface="Segoe UI" pitchFamily="34" charset="-120"/>
              </a:rPr>
              <a:t>Atomic Radius  (الحجم الذري)</a:t>
            </a:r>
            <a:endParaRPr lang="en-US" sz="2000" dirty="0"/>
          </a:p>
        </p:txBody>
      </p:sp>
      <p:sp>
        <p:nvSpPr>
          <p:cNvPr id="8" name="zoom:a:6"/>
          <p:cNvSpPr/>
          <p:nvPr/>
        </p:nvSpPr>
        <p:spPr>
          <a:xfrm>
            <a:off x="7744968" y="1627060"/>
            <a:ext cx="4169664" cy="3603879"/>
          </a:xfrm>
          <a:prstGeom prst="roundRect">
            <a:avLst>
              <a:gd name="adj" fmla="val 5075"/>
            </a:avLst>
          </a:prstGeom>
          <a:solidFill>
            <a:srgbClr val="FFFFFF">
              <a:alpha val="70000"/>
            </a:srgbClr>
          </a:solidFill>
          <a:ln w="31750">
            <a:solidFill>
              <a:srgbClr val="00B4D8"/>
            </a:solidFill>
            <a:prstDash val="solid"/>
          </a:ln>
        </p:spPr>
      </p:sp>
      <p:pic>
        <p:nvPicPr>
          <p:cNvPr id="9" name="zoom:w:7" descr="/tmp/claude-0/-home-user-Project-1/c7d0d2a1-f360-54f1-afe5-e7480b814ba9/scratchpad/build/a/h_cl2.png">    </p:cNvPr>
          <p:cNvPicPr>
            <a:picLocks noChangeAspect="1"/>
          </p:cNvPicPr>
          <p:nvPr/>
        </p:nvPicPr>
        <p:blipFill>
          <a:blip r:embed="rId3"/>
          <a:stretch>
            <a:fillRect/>
          </a:stretch>
        </p:blipFill>
        <p:spPr>
          <a:xfrm>
            <a:off x="7818120" y="1700212"/>
            <a:ext cx="4023360" cy="3457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childTnLst>
                          </p:cTn>
                        </p:par>
                        <p:par>
                          <p:cTn id="14" fill="hold">
                            <p:stCondLst>
                              <p:cond delay="27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18" fill="hold">
                            <p:stCondLst>
                              <p:cond delay="550"/>
                            </p:stCondLst>
                            <p:childTnLst>
                              <p:par>
                                <p:cTn id="17"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par>
                          <p:cTn id="22" fill="hold">
                            <p:stCondLst>
                              <p:cond delay="880"/>
                            </p:stCondLst>
                            <p:childTnLst>
                              <p:par>
                                <p:cTn id="21"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childTnLst>
                          </p:cTn>
                        </p:par>
                        <p:par>
                          <p:cTn id="33" fill="hold">
                            <p:stCondLst>
                              <p:cond delay="1210"/>
                            </p:stCondLst>
                            <p:childTnLst>
                              <p:par>
                                <p:cTn id="27"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strVal val="0"/>
                                          </p:val>
                                        </p:tav>
                                        <p:tav tm="100000">
                                          <p:val>
                                            <p:strVal val="#ppt_w"/>
                                          </p:val>
                                        </p:tav>
                                      </p:tavLst>
                                    </p:anim>
                                    <p:anim calcmode="lin" valueType="num">
                                      <p:cBhvr additive="base">
                                        <p:cTn id="25" dur="500" fill="hold"/>
                                        <p:tgtEl>
                                          <p:spTgt spid="8"/>
                                        </p:tgtEl>
                                        <p:attrNameLst>
                                          <p:attrName>ppt_h</p:attrName>
                                        </p:attrNameLst>
                                      </p:cBhvr>
                                      <p:tavLst>
                                        <p:tav tm="0">
                                          <p:val>
                                            <p:strVal val="0"/>
                                          </p:val>
                                        </p:tav>
                                        <p:tav tm="100000">
                                          <p:val>
                                            <p:strVal val="#ppt_h"/>
                                          </p:val>
                                        </p:tav>
                                      </p:tavLst>
                                    </p:anim>
                                    <p:animEffect transition="in" filter="fade">
                                      <p:cBhvr>
                                        <p:cTn id="26" dur="500"/>
                                        <p:tgtEl>
                                          <p:spTgt spid="8"/>
                                        </p:tgtEl>
                                      </p:cBhvr>
                                    </p:animEffect>
                                  </p:childTnLst>
                                </p:cTn>
                              </p:par>
                              <p:par>
                                <p:cTn id="32" presetID="53" presetClass="entr" presetSubtype="16"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ppt_w</p:attrName>
                                        </p:attrNameLst>
                                      </p:cBhvr>
                                      <p:tavLst>
                                        <p:tav tm="0">
                                          <p:val>
                                            <p:strVal val="0"/>
                                          </p:val>
                                        </p:tav>
                                        <p:tav tm="100000">
                                          <p:val>
                                            <p:strVal val="#ppt_w"/>
                                          </p:val>
                                        </p:tav>
                                      </p:tavLst>
                                    </p:anim>
                                    <p:anim calcmode="lin" valueType="num">
                                      <p:cBhvr additive="base">
                                        <p:cTn id="30" dur="500" fill="hold"/>
                                        <p:tgtEl>
                                          <p:spTgt spid="9"/>
                                        </p:tgtEl>
                                        <p:attrNameLst>
                                          <p:attrName>ppt_h</p:attrName>
                                        </p:attrNameLst>
                                      </p:cBhvr>
                                      <p:tavLst>
                                        <p:tav tm="0">
                                          <p:val>
                                            <p:strVal val="0"/>
                                          </p:val>
                                        </p:tav>
                                        <p:tav tm="100000">
                                          <p:val>
                                            <p:strVal val="#ppt_h"/>
                                          </p:val>
                                        </p:tav>
                                      </p:tavLst>
                                    </p:anim>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هل للذرة حدود واضحة؟</a:t>
            </a:r>
            <a:endParaRPr lang="en-US" sz="2800" dirty="0"/>
          </a:p>
        </p:txBody>
      </p:sp>
      <p:sp>
        <p:nvSpPr>
          <p:cNvPr id="3" name="float:a:2"/>
          <p:cNvSpPr/>
          <p:nvPr/>
        </p:nvSpPr>
        <p:spPr>
          <a:xfrm>
            <a:off x="6263640" y="1371600"/>
            <a:ext cx="5532120" cy="1737360"/>
          </a:xfrm>
          <a:prstGeom prst="roundRect">
            <a:avLst>
              <a:gd name="adj" fmla="val 736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b="1" dirty="0">
                <a:solidFill>
                  <a:srgbClr val="EA580C"/>
                </a:solidFill>
                <a:latin typeface="Segoe UI" pitchFamily="34" charset="0"/>
                <a:ea typeface="Segoe UI" pitchFamily="34" charset="-122"/>
                <a:cs typeface="Segoe UI" pitchFamily="34" charset="-120"/>
              </a:rPr>
              <a:t>برأيك...</a:t>
            </a:r>
            <a:endParaRPr lang="ar-SA" sz="1900" dirty="0"/>
          </a:p>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هل للذرة حدود واضحة تمكننا من قياس نصف قطرها بدقة كما نفعل مع الدائرة؟</a:t>
            </a:r>
            <a:endParaRPr lang="ar-SA" sz="1900" dirty="0"/>
          </a:p>
        </p:txBody>
      </p:sp>
      <p:sp>
        <p:nvSpPr>
          <p:cNvPr id="4" name="float:a:3"/>
          <p:cNvSpPr/>
          <p:nvPr/>
        </p:nvSpPr>
        <p:spPr>
          <a:xfrm>
            <a:off x="411480" y="1371600"/>
            <a:ext cx="5532120" cy="1737360"/>
          </a:xfrm>
          <a:prstGeom prst="roundRect">
            <a:avLst>
              <a:gd name="adj" fmla="val 736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من خلال دراستك للدائرة في مادة الرياضيات، بالاستعانة بالشكل (17):</a:t>
            </a:r>
            <a:endParaRPr lang="ar-SA" sz="1900" dirty="0"/>
          </a:p>
          <a:p>
            <a:pPr rtl="1" algn="r" indent="0" marL="0">
              <a:lnSpc>
                <a:spcPct val="105000"/>
              </a:lnSpc>
              <a:buNone/>
            </a:pPr>
            <a:r>
              <a:rPr lang="ar-SA" altLang="en-US" sz="1900" b="1" dirty="0">
                <a:solidFill>
                  <a:srgbClr val="EA580C"/>
                </a:solidFill>
                <a:latin typeface="Segoe UI" pitchFamily="34" charset="0"/>
                <a:ea typeface="Segoe UI" pitchFamily="34" charset="-122"/>
                <a:cs typeface="Segoe UI" pitchFamily="34" charset="-120"/>
              </a:rPr>
              <a:t>ما المقصود بنصف قطر الدائرة؟</a:t>
            </a:r>
            <a:endParaRPr lang="ar-SA" sz="1900" dirty="0"/>
          </a:p>
        </p:txBody>
      </p:sp>
      <p:pic>
        <p:nvPicPr>
          <p:cNvPr id="5" name="zoom:a:4" descr="l/electron_cloud.png">    </p:cNvPr>
          <p:cNvPicPr>
            <a:picLocks noChangeAspect="1"/>
          </p:cNvPicPr>
          <p:nvPr/>
        </p:nvPicPr>
        <p:blipFill>
          <a:blip r:embed="rId1"/>
          <a:stretch>
            <a:fillRect/>
          </a:stretch>
        </p:blipFill>
        <p:spPr>
          <a:xfrm>
            <a:off x="7360920" y="3291840"/>
            <a:ext cx="3200400" cy="3200400"/>
          </a:xfrm>
          <a:prstGeom prst="rect">
            <a:avLst/>
          </a:prstGeom>
        </p:spPr>
      </p:pic>
      <p:pic>
        <p:nvPicPr>
          <p:cNvPr id="6" name="zoom:a:5" descr="l/circle_radius.png">    </p:cNvPr>
          <p:cNvPicPr>
            <a:picLocks noChangeAspect="1"/>
          </p:cNvPicPr>
          <p:nvPr/>
        </p:nvPicPr>
        <p:blipFill>
          <a:blip r:embed="rId2"/>
          <a:stretch>
            <a:fillRect/>
          </a:stretch>
        </p:blipFill>
        <p:spPr>
          <a:xfrm>
            <a:off x="1463040" y="3291840"/>
            <a:ext cx="2834640" cy="2834640"/>
          </a:xfrm>
          <a:prstGeom prst="rect">
            <a:avLst/>
          </a:prstGeom>
        </p:spPr>
      </p:pic>
      <p:sp>
        <p:nvSpPr>
          <p:cNvPr id="7" name="fade:w:6"/>
          <p:cNvSpPr txBox="1"/>
          <p:nvPr/>
        </p:nvSpPr>
        <p:spPr>
          <a:xfrm>
            <a:off x="1463040" y="6126480"/>
            <a:ext cx="2834640" cy="365760"/>
          </a:xfrm>
          <a:prstGeom prst="rect">
            <a:avLst/>
          </a:prstGeom>
          <a:noFill/>
          <a:ln/>
        </p:spPr>
        <p:txBody>
          <a:bodyPr wrap="square" lIns="76200" tIns="152400" rIns="152400" bIns="7620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شكل (17)  الدائرة</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42"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770"/>
                            </p:stCondLst>
                            <p:childTnLst>
                              <p:par>
                                <p:cTn id="19" presetID="53" presetClass="entr" presetSubtype="16"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ppt_w</p:attrName>
                                        </p:attrNameLst>
                                      </p:cBhvr>
                                      <p:tavLst>
                                        <p:tav tm="0">
                                          <p:val>
                                            <p:strVal val="0"/>
                                          </p:val>
                                        </p:tav>
                                        <p:tav tm="100000">
                                          <p:val>
                                            <p:strVal val="#ppt_w"/>
                                          </p:val>
                                        </p:tav>
                                      </p:tavLst>
                                    </p:anim>
                                    <p:anim calcmode="lin" valueType="num">
                                      <p:cBhvr additive="base">
                                        <p:cTn id="17" dur="500" fill="hold"/>
                                        <p:tgtEl>
                                          <p:spTgt spid="5"/>
                                        </p:tgtEl>
                                        <p:attrNameLst>
                                          <p:attrName>ppt_h</p:attrName>
                                        </p:attrNameLst>
                                      </p:cBhvr>
                                      <p:tavLst>
                                        <p:tav tm="0">
                                          <p:val>
                                            <p:strVal val="0"/>
                                          </p:val>
                                        </p:tav>
                                        <p:tav tm="100000">
                                          <p:val>
                                            <p:strVal val="#ppt_h"/>
                                          </p:val>
                                        </p:tav>
                                      </p:tavLst>
                                    </p:anim>
                                    <p:animEffect transition="in" filter="fade">
                                      <p:cBhvr>
                                        <p:cTn id="18" dur="500"/>
                                        <p:tgtEl>
                                          <p:spTgt spid="5"/>
                                        </p:tgtEl>
                                      </p:cBhvr>
                                    </p:animEffect>
                                  </p:childTnLst>
                                </p:cTn>
                              </p:par>
                            </p:childTnLst>
                          </p:cTn>
                        </p:par>
                        <p:par>
                          <p:cTn id="29" fill="hold">
                            <p:stCondLst>
                              <p:cond delay="1045"/>
                            </p:stCondLst>
                            <p:childTnLst>
                              <p:par>
                                <p:cTn id="25"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ppt_w</p:attrName>
                                        </p:attrNameLst>
                                      </p:cBhvr>
                                      <p:tavLst>
                                        <p:tav tm="0">
                                          <p:val>
                                            <p:strVal val="0"/>
                                          </p:val>
                                        </p:tav>
                                        <p:tav tm="100000">
                                          <p:val>
                                            <p:strVal val="#ppt_w"/>
                                          </p:val>
                                        </p:tav>
                                      </p:tavLst>
                                    </p:anim>
                                    <p:anim calcmode="lin" valueType="num">
                                      <p:cBhvr additive="base">
                                        <p:cTn id="23" dur="500" fill="hold"/>
                                        <p:tgtEl>
                                          <p:spTgt spid="6"/>
                                        </p:tgtEl>
                                        <p:attrNameLst>
                                          <p:attrName>ppt_h</p:attrName>
                                        </p:attrNameLst>
                                      </p:cBhvr>
                                      <p:tavLst>
                                        <p:tav tm="0">
                                          <p:val>
                                            <p:strVal val="0"/>
                                          </p:val>
                                        </p:tav>
                                        <p:tav tm="100000">
                                          <p:val>
                                            <p:strVal val="#ppt_h"/>
                                          </p:val>
                                        </p:tav>
                                      </p:tavLst>
                                    </p:anim>
                                    <p:animEffect transition="in" filter="fade">
                                      <p:cBhvr>
                                        <p:cTn id="24" dur="500"/>
                                        <p:tgtEl>
                                          <p:spTgt spid="6"/>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لماذا يصعب قياس نصف قطر الذرة؟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في الواقع، من الصعب جدًّا تحديد المسافة بين النواة وأبعد إلكترون عنها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(علل)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وذلك لسببين رئيسيين:</a:t>
            </a:r>
            <a:endParaRPr lang="ar-SA" sz="1700" dirty="0"/>
          </a:p>
        </p:txBody>
      </p:sp>
      <p:sp>
        <p:nvSpPr>
          <p:cNvPr id="4" name="float:c:3"/>
          <p:cNvSpPr/>
          <p:nvPr/>
        </p:nvSpPr>
        <p:spPr>
          <a:xfrm>
            <a:off x="6172200" y="2286000"/>
            <a:ext cx="5623560" cy="4206240"/>
          </a:xfrm>
          <a:prstGeom prst="roundRect">
            <a:avLst>
              <a:gd name="adj" fmla="val 304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sp>
        <p:nvSpPr>
          <p:cNvPr id="5" name="float:w:4"/>
          <p:cNvSpPr/>
          <p:nvPr/>
        </p:nvSpPr>
        <p:spPr>
          <a:xfrm>
            <a:off x="7178040" y="2423160"/>
            <a:ext cx="3611880" cy="530352"/>
          </a:xfrm>
          <a:prstGeom prst="roundRect">
            <a:avLst>
              <a:gd name="adj" fmla="val 50000"/>
            </a:avLst>
          </a:prstGeom>
          <a:solidFill>
            <a:srgbClr val="EA580C"/>
          </a:solidFill>
          <a:ln/>
        </p:spPr>
        <p:txBody>
          <a:bodyPr wrap="square" lIns="76200" tIns="152400" rIns="152400" bIns="76200" rtlCol="0" anchor="ctr"/>
          <a:lstStyle/>
          <a:p>
            <a:pPr rtl="1" algn="ct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1  طبيعة السحابة الإلكترونية</a:t>
            </a:r>
            <a:endParaRPr lang="ar-SA" sz="1600" dirty="0"/>
          </a:p>
        </p:txBody>
      </p:sp>
      <p:pic>
        <p:nvPicPr>
          <p:cNvPr id="6" name="zoom:w:5" descr="l/electron_cloud.png">    </p:cNvPr>
          <p:cNvPicPr>
            <a:picLocks noChangeAspect="1"/>
          </p:cNvPicPr>
          <p:nvPr/>
        </p:nvPicPr>
        <p:blipFill>
          <a:blip r:embed="rId1"/>
          <a:stretch>
            <a:fillRect/>
          </a:stretch>
        </p:blipFill>
        <p:spPr>
          <a:xfrm>
            <a:off x="8023860" y="3063240"/>
            <a:ext cx="1920240" cy="1920240"/>
          </a:xfrm>
          <a:prstGeom prst="rect">
            <a:avLst/>
          </a:prstGeom>
        </p:spPr>
      </p:pic>
      <p:sp>
        <p:nvSpPr>
          <p:cNvPr id="7" name="fade:a:6"/>
          <p:cNvSpPr txBox="1"/>
          <p:nvPr/>
        </p:nvSpPr>
        <p:spPr>
          <a:xfrm>
            <a:off x="6309360" y="5029200"/>
            <a:ext cx="5349240" cy="1371600"/>
          </a:xfrm>
          <a:prstGeom prst="rect">
            <a:avLst/>
          </a:prstGeom>
          <a:noFill/>
          <a:ln/>
        </p:spPr>
        <p:txBody>
          <a:bodyPr wrap="square" lIns="76200" tIns="152400" rIns="152400" bIns="76200" rtlCol="0" anchor="ctr"/>
          <a:lstStyle/>
          <a:p>
            <a:pPr rtl="1" algn="ct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الإلكترونات تتحرك بسرعة هائلة مكونة سحابة إلكترونية تقل كثافتها تدريجيًّا كلما ابتعدنا عن النواة، مما يعني </a:t>
            </a:r>
            <a:pPr rtl="1" algn="ctr" indent="0" marL="0">
              <a:lnSpc>
                <a:spcPct val="105000"/>
              </a:lnSpc>
              <a:buNone/>
            </a:pPr>
            <a:r>
              <a:rPr lang="ar-SA" altLang="en-US" sz="1600" b="1" dirty="0">
                <a:solidFill>
                  <a:srgbClr val="EA580C"/>
                </a:solidFill>
                <a:latin typeface="Segoe UI" pitchFamily="34" charset="0"/>
                <a:ea typeface="Segoe UI" pitchFamily="34" charset="-122"/>
                <a:cs typeface="Segoe UI" pitchFamily="34" charset="-120"/>
              </a:rPr>
              <a:t>انعدام الحدود الواضحة للذرة.</a:t>
            </a:r>
            <a:endParaRPr lang="ar-SA" sz="1600" dirty="0"/>
          </a:p>
        </p:txBody>
      </p:sp>
      <p:sp>
        <p:nvSpPr>
          <p:cNvPr id="8" name="float:c:7"/>
          <p:cNvSpPr/>
          <p:nvPr/>
        </p:nvSpPr>
        <p:spPr>
          <a:xfrm>
            <a:off x="411480" y="2286000"/>
            <a:ext cx="5623560" cy="4206240"/>
          </a:xfrm>
          <a:prstGeom prst="roundRect">
            <a:avLst>
              <a:gd name="adj" fmla="val 304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sp>
        <p:nvSpPr>
          <p:cNvPr id="9" name="float:w:8"/>
          <p:cNvSpPr/>
          <p:nvPr/>
        </p:nvSpPr>
        <p:spPr>
          <a:xfrm>
            <a:off x="1417320" y="2423160"/>
            <a:ext cx="3611880" cy="530352"/>
          </a:xfrm>
          <a:prstGeom prst="roundRect">
            <a:avLst>
              <a:gd name="adj" fmla="val 50000"/>
            </a:avLst>
          </a:prstGeom>
          <a:solidFill>
            <a:srgbClr val="EA580C"/>
          </a:solidFill>
          <a:ln/>
        </p:spPr>
        <p:txBody>
          <a:bodyPr wrap="square" lIns="76200" tIns="152400" rIns="152400" bIns="76200" rtlCol="0" anchor="ctr"/>
          <a:lstStyle/>
          <a:p>
            <a:pPr rtl="1" algn="ct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2  حالة الذرات في الطبيعة</a:t>
            </a:r>
            <a:endParaRPr lang="ar-SA" sz="1600" dirty="0"/>
          </a:p>
        </p:txBody>
      </p:sp>
      <p:pic>
        <p:nvPicPr>
          <p:cNvPr id="10" name="zoom:w:9" descr="l/bonded_cluster.png">    </p:cNvPr>
          <p:cNvPicPr>
            <a:picLocks noChangeAspect="1"/>
          </p:cNvPicPr>
          <p:nvPr/>
        </p:nvPicPr>
        <p:blipFill>
          <a:blip r:embed="rId2"/>
          <a:stretch>
            <a:fillRect/>
          </a:stretch>
        </p:blipFill>
        <p:spPr>
          <a:xfrm>
            <a:off x="2155540" y="3063240"/>
            <a:ext cx="2135439" cy="1920240"/>
          </a:xfrm>
          <a:prstGeom prst="rect">
            <a:avLst/>
          </a:prstGeom>
        </p:spPr>
      </p:pic>
      <p:sp>
        <p:nvSpPr>
          <p:cNvPr id="11" name="fade:a:10"/>
          <p:cNvSpPr txBox="1"/>
          <p:nvPr/>
        </p:nvSpPr>
        <p:spPr>
          <a:xfrm>
            <a:off x="548640" y="5029200"/>
            <a:ext cx="5349240" cy="1371600"/>
          </a:xfrm>
          <a:prstGeom prst="rect">
            <a:avLst/>
          </a:prstGeom>
          <a:noFill/>
          <a:ln/>
        </p:spPr>
        <p:txBody>
          <a:bodyPr wrap="square" lIns="76200" tIns="152400" rIns="152400" bIns="76200" rtlCol="0" anchor="ctr"/>
          <a:lstStyle/>
          <a:p>
            <a:pPr rtl="1" algn="ctr" indent="0" marL="0">
              <a:lnSpc>
                <a:spcPct val="105000"/>
              </a:lnSpc>
              <a:buNone/>
            </a:pPr>
            <a:r>
              <a:rPr lang="ar-SA" altLang="en-US" sz="1600" b="1" dirty="0">
                <a:solidFill>
                  <a:srgbClr val="EA580C"/>
                </a:solidFill>
                <a:latin typeface="Segoe UI" pitchFamily="34" charset="0"/>
                <a:ea typeface="Segoe UI" pitchFamily="34" charset="-122"/>
                <a:cs typeface="Segoe UI" pitchFamily="34" charset="-120"/>
              </a:rPr>
              <a:t>معظم ذرات العناصر لا توجد في الطبيعة بصورة منفردة.</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25" fill="hold">
                            <p:stCondLst>
                              <p:cond delay="0"/>
                            </p:stCondLst>
                            <p:childTnLst>
                              <p:par>
                                <p:cTn id="14"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par>
                                <p:cTn id="24" presetID="53"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childTnLst>
                          </p:cTn>
                        </p:par>
                        <p:par>
                          <p:cTn id="29" fill="hold">
                            <p:stCondLst>
                              <p:cond delay="385"/>
                            </p:stCondLst>
                            <p:childTnLst>
                              <p:par>
                                <p:cTn id="28"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childTnLst>
                                </p:cTn>
                              </p:par>
                            </p:childTnLst>
                          </p:cTn>
                        </p:par>
                      </p:childTnLst>
                    </p:cTn>
                  </p:par>
                  <p:par>
                    <p:cTn id="51" fill="hold">
                      <p:stCondLst>
                        <p:cond delay="indefinite"/>
                      </p:stCondLst>
                      <p:childTnLst>
                        <p:par>
                          <p:cTn id="46" fill="hold">
                            <p:stCondLst>
                              <p:cond delay="0"/>
                            </p:stCondLst>
                            <p:childTnLst>
                              <p:par>
                                <p:cTn id="35"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700"/>
                                        <p:tgtEl>
                                          <p:spTgt spid="8"/>
                                        </p:tgtEl>
                                      </p:cBhvr>
                                    </p:animEffect>
                                    <p:anim calcmode="lin" valueType="num">
                                      <p:cBhvr additive="base">
                                        <p:cTn id="33" dur="700" fill="hold"/>
                                        <p:tgtEl>
                                          <p:spTgt spid="8"/>
                                        </p:tgtEl>
                                        <p:attrNameLst>
                                          <p:attrName>ppt_x</p:attrName>
                                        </p:attrNameLst>
                                      </p:cBhvr>
                                      <p:tavLst>
                                        <p:tav tm="0">
                                          <p:val>
                                            <p:strVal val="#ppt_x"/>
                                          </p:val>
                                        </p:tav>
                                        <p:tav tm="100000">
                                          <p:val>
                                            <p:strVal val="#ppt_x"/>
                                          </p:val>
                                        </p:tav>
                                      </p:tavLst>
                                    </p:anim>
                                    <p:anim calcmode="lin" valueType="num">
                                      <p:cBhvr additive="base">
                                        <p:cTn id="34" dur="7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700"/>
                                        <p:tgtEl>
                                          <p:spTgt spid="9"/>
                                        </p:tgtEl>
                                      </p:cBhvr>
                                    </p:animEffect>
                                    <p:anim calcmode="lin" valueType="num">
                                      <p:cBhvr additive="base">
                                        <p:cTn id="38" dur="700" fill="hold"/>
                                        <p:tgtEl>
                                          <p:spTgt spid="9"/>
                                        </p:tgtEl>
                                        <p:attrNameLst>
                                          <p:attrName>ppt_x</p:attrName>
                                        </p:attrNameLst>
                                      </p:cBhvr>
                                      <p:tavLst>
                                        <p:tav tm="0">
                                          <p:val>
                                            <p:strVal val="#ppt_x"/>
                                          </p:val>
                                        </p:tav>
                                        <p:tav tm="100000">
                                          <p:val>
                                            <p:strVal val="#ppt_x"/>
                                          </p:val>
                                        </p:tav>
                                      </p:tavLst>
                                    </p:anim>
                                    <p:anim calcmode="lin" valueType="num">
                                      <p:cBhvr additive="base">
                                        <p:cTn id="39" dur="700" fill="hold"/>
                                        <p:tgtEl>
                                          <p:spTgt spid="9"/>
                                        </p:tgtEl>
                                        <p:attrNameLst>
                                          <p:attrName>ppt_y</p:attrName>
                                        </p:attrNameLst>
                                      </p:cBhvr>
                                      <p:tavLst>
                                        <p:tav tm="0">
                                          <p:val>
                                            <p:strVal val="#ppt_y+.1"/>
                                          </p:val>
                                        </p:tav>
                                        <p:tav tm="100000">
                                          <p:val>
                                            <p:strVal val="#ppt_y"/>
                                          </p:val>
                                        </p:tav>
                                      </p:tavLst>
                                    </p:anim>
                                  </p:childTnLst>
                                </p:cTn>
                              </p:par>
                              <p:par>
                                <p:cTn id="45" presetID="53" presetClass="entr" presetSubtype="16"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ppt_w</p:attrName>
                                        </p:attrNameLst>
                                      </p:cBhvr>
                                      <p:tavLst>
                                        <p:tav tm="0">
                                          <p:val>
                                            <p:strVal val="0"/>
                                          </p:val>
                                        </p:tav>
                                        <p:tav tm="100000">
                                          <p:val>
                                            <p:strVal val="#ppt_w"/>
                                          </p:val>
                                        </p:tav>
                                      </p:tavLst>
                                    </p:anim>
                                    <p:anim calcmode="lin" valueType="num">
                                      <p:cBhvr additive="base">
                                        <p:cTn id="43" dur="500" fill="hold"/>
                                        <p:tgtEl>
                                          <p:spTgt spid="10"/>
                                        </p:tgtEl>
                                        <p:attrNameLst>
                                          <p:attrName>ppt_h</p:attrName>
                                        </p:attrNameLst>
                                      </p:cBhvr>
                                      <p:tavLst>
                                        <p:tav tm="0">
                                          <p:val>
                                            <p:strVal val="0"/>
                                          </p:val>
                                        </p:tav>
                                        <p:tav tm="100000">
                                          <p:val>
                                            <p:strVal val="#ppt_h"/>
                                          </p:val>
                                        </p:tav>
                                      </p:tavLst>
                                    </p:anim>
                                    <p:animEffect transition="in" filter="fade">
                                      <p:cBhvr>
                                        <p:cTn id="44" dur="500"/>
                                        <p:tgtEl>
                                          <p:spTgt spid="10"/>
                                        </p:tgtEl>
                                      </p:cBhvr>
                                    </p:animEffect>
                                  </p:childTnLst>
                                </p:cTn>
                              </p:par>
                            </p:childTnLst>
                          </p:cTn>
                        </p:par>
                        <p:par>
                          <p:cTn id="50" fill="hold">
                            <p:stCondLst>
                              <p:cond delay="385"/>
                            </p:stCondLst>
                            <p:childTnLst>
                              <p:par>
                                <p:cTn id="49" presetID="10"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إذًا كيف نقيس نصف قطر الذرة؟</a:t>
            </a:r>
            <a:endParaRPr lang="en-US" sz="2800" dirty="0"/>
          </a:p>
        </p:txBody>
      </p:sp>
      <p:sp>
        <p:nvSpPr>
          <p:cNvPr id="3" name="float:a:2"/>
          <p:cNvSpPr/>
          <p:nvPr/>
        </p:nvSpPr>
        <p:spPr>
          <a:xfrm>
            <a:off x="411480" y="1325880"/>
            <a:ext cx="11384280" cy="1188720"/>
          </a:xfrm>
          <a:prstGeom prst="roundRect">
            <a:avLst>
              <a:gd name="adj" fmla="val 10769"/>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نظرًا لأهمية نصف القطر الذري كخاصية فيزيائية في تحديد حجم الذرة وسلوكها الكيميائي، وللتغلب على صعوبة قياس نصف قطر ذرة مفردة، يتم حسابه بطرق تعتمد على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نوع العنصر وحالة ترابطه.</a:t>
            </a:r>
            <a:endParaRPr lang="ar-SA" sz="1700" dirty="0"/>
          </a:p>
        </p:txBody>
      </p:sp>
      <p:sp>
        <p:nvSpPr>
          <p:cNvPr id="4" name="float:c:3"/>
          <p:cNvSpPr/>
          <p:nvPr/>
        </p:nvSpPr>
        <p:spPr>
          <a:xfrm>
            <a:off x="9418320" y="2788920"/>
            <a:ext cx="2377440" cy="548640"/>
          </a:xfrm>
          <a:prstGeom prst="roundRect">
            <a:avLst>
              <a:gd name="adj" fmla="val 50000"/>
            </a:avLst>
          </a:prstGeom>
          <a:solidFill>
            <a:srgbClr val="EA580C"/>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العناصر الفلزية</a:t>
            </a:r>
            <a:endParaRPr lang="ar-SA" sz="1700" dirty="0"/>
          </a:p>
        </p:txBody>
      </p:sp>
      <p:sp>
        <p:nvSpPr>
          <p:cNvPr id="5" name="float:w:4"/>
          <p:cNvSpPr/>
          <p:nvPr/>
        </p:nvSpPr>
        <p:spPr>
          <a:xfrm>
            <a:off x="6035040" y="3474720"/>
            <a:ext cx="5760720" cy="2011680"/>
          </a:xfrm>
          <a:prstGeom prst="roundRect">
            <a:avLst>
              <a:gd name="adj" fmla="val 6364"/>
            </a:avLst>
          </a:prstGeom>
          <a:solidFill>
            <a:srgbClr val="FFFFFF">
              <a:alpha val="90000"/>
            </a:srgbClr>
          </a:solidFill>
          <a:ln w="15875">
            <a:solidFill>
              <a:srgbClr val="EA580C"/>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يُستخدم </a:t>
            </a:r>
            <a:pPr rtl="1" algn="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نصف القطر الذري الفلزي</a:t>
            </a:r>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والذي يُعرّف بأنه:</a:t>
            </a:r>
            <a:endParaRPr lang="ar-SA" sz="1800" dirty="0"/>
          </a:p>
          <a:p>
            <a:pPr rtl="1" algn="r" indent="0" marL="0">
              <a:lnSpc>
                <a:spcPct val="105000"/>
              </a:lnSpc>
              <a:buNone/>
            </a:pPr>
            <a:r>
              <a:rPr lang="ar-SA" altLang="en-US" sz="1800" b="1" dirty="0">
                <a:solidFill>
                  <a:srgbClr val="0B2545"/>
                </a:solidFill>
                <a:latin typeface="Segoe UI" pitchFamily="34" charset="0"/>
                <a:ea typeface="Segoe UI" pitchFamily="34" charset="-122"/>
                <a:cs typeface="Segoe UI" pitchFamily="34" charset="-120"/>
              </a:rPr>
              <a:t>«نصف المسافة بين نواتي ذرتين متجاورتين في التركيب البلوري للعنصر».</a:t>
            </a:r>
            <a:endParaRPr lang="ar-SA" sz="1800" dirty="0"/>
          </a:p>
        </p:txBody>
      </p:sp>
      <p:pic>
        <p:nvPicPr>
          <p:cNvPr id="6" name="zoom:a:5" descr="l/metallic_Na.png">    </p:cNvPr>
          <p:cNvPicPr>
            <a:picLocks noChangeAspect="1"/>
          </p:cNvPicPr>
          <p:nvPr/>
        </p:nvPicPr>
        <p:blipFill>
          <a:blip r:embed="rId1"/>
          <a:stretch>
            <a:fillRect/>
          </a:stretch>
        </p:blipFill>
        <p:spPr>
          <a:xfrm>
            <a:off x="644740" y="2697480"/>
            <a:ext cx="4928440" cy="3200400"/>
          </a:xfrm>
          <a:prstGeom prst="rect">
            <a:avLst/>
          </a:prstGeom>
        </p:spPr>
      </p:pic>
      <p:sp>
        <p:nvSpPr>
          <p:cNvPr id="7" name="fade:w:6"/>
          <p:cNvSpPr txBox="1"/>
          <p:nvPr/>
        </p:nvSpPr>
        <p:spPr>
          <a:xfrm>
            <a:off x="548640" y="5943600"/>
            <a:ext cx="5120640" cy="411480"/>
          </a:xfrm>
          <a:prstGeom prst="rect">
            <a:avLst/>
          </a:prstGeom>
          <a:noFill/>
          <a:ln/>
        </p:spPr>
        <p:txBody>
          <a:bodyPr wrap="square" lIns="76200" tIns="152400" rIns="152400" bIns="7620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شكل (18)  روابط فلز الصوديوم في التركيب البلوري</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20" fill="hold">
                            <p:stCondLst>
                              <p:cond delay="0"/>
                            </p:stCondLst>
                            <p:childTnLst>
                              <p:par>
                                <p:cTn id="14"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9" fill="hold">
                            <p:stCondLst>
                              <p:cond delay="385"/>
                            </p:stCondLst>
                            <p:childTnLst>
                              <p:par>
                                <p:cTn id="25"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ppt_w</p:attrName>
                                        </p:attrNameLst>
                                      </p:cBhvr>
                                      <p:tavLst>
                                        <p:tav tm="0">
                                          <p:val>
                                            <p:strVal val="0"/>
                                          </p:val>
                                        </p:tav>
                                        <p:tav tm="100000">
                                          <p:val>
                                            <p:strVal val="#ppt_w"/>
                                          </p:val>
                                        </p:tav>
                                      </p:tavLst>
                                    </p:anim>
                                    <p:anim calcmode="lin" valueType="num">
                                      <p:cBhvr additive="base">
                                        <p:cTn id="23" dur="500" fill="hold"/>
                                        <p:tgtEl>
                                          <p:spTgt spid="6"/>
                                        </p:tgtEl>
                                        <p:attrNameLst>
                                          <p:attrName>ppt_h</p:attrName>
                                        </p:attrNameLst>
                                      </p:cBhvr>
                                      <p:tavLst>
                                        <p:tav tm="0">
                                          <p:val>
                                            <p:strVal val="0"/>
                                          </p:val>
                                        </p:tav>
                                        <p:tav tm="100000">
                                          <p:val>
                                            <p:strVal val="#ppt_h"/>
                                          </p:val>
                                        </p:tav>
                                      </p:tavLst>
                                    </p:anim>
                                    <p:animEffect transition="in" filter="fade">
                                      <p:cBhvr>
                                        <p:cTn id="24" dur="500"/>
                                        <p:tgtEl>
                                          <p:spTgt spid="6"/>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نصف القطر الذري اللافلزي</a:t>
            </a:r>
            <a:endParaRPr lang="en-US" sz="2800" dirty="0"/>
          </a:p>
        </p:txBody>
      </p:sp>
      <p:sp>
        <p:nvSpPr>
          <p:cNvPr id="3" name="float:a:2"/>
          <p:cNvSpPr/>
          <p:nvPr/>
        </p:nvSpPr>
        <p:spPr>
          <a:xfrm>
            <a:off x="9418320" y="1371600"/>
            <a:ext cx="2377440" cy="548640"/>
          </a:xfrm>
          <a:prstGeom prst="roundRect">
            <a:avLst>
              <a:gd name="adj" fmla="val 50000"/>
            </a:avLst>
          </a:prstGeom>
          <a:solidFill>
            <a:srgbClr val="EA580C"/>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العناصر اللافلزية</a:t>
            </a:r>
            <a:endParaRPr lang="ar-SA" sz="1700" dirty="0"/>
          </a:p>
        </p:txBody>
      </p:sp>
      <p:sp>
        <p:nvSpPr>
          <p:cNvPr id="4" name="float:w:3"/>
          <p:cNvSpPr/>
          <p:nvPr/>
        </p:nvSpPr>
        <p:spPr>
          <a:xfrm>
            <a:off x="6035040" y="2057400"/>
            <a:ext cx="5760720" cy="2103120"/>
          </a:xfrm>
          <a:prstGeom prst="roundRect">
            <a:avLst>
              <a:gd name="adj" fmla="val 6087"/>
            </a:avLst>
          </a:prstGeom>
          <a:solidFill>
            <a:srgbClr val="FFFFFF">
              <a:alpha val="90000"/>
            </a:srgbClr>
          </a:solidFill>
          <a:ln w="15875">
            <a:solidFill>
              <a:srgbClr val="EA580C"/>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كما يُستخدم </a:t>
            </a:r>
            <a:pPr rtl="1" algn="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نصف القطر الذري اللافلزي</a:t>
            </a:r>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(مثل الجزيئات ثنائية الذرة) الذي يُعرّف بأنه:</a:t>
            </a:r>
            <a:endParaRPr lang="ar-SA" sz="1800" dirty="0"/>
          </a:p>
          <a:p>
            <a:pPr rtl="1" algn="r" indent="0" marL="0">
              <a:lnSpc>
                <a:spcPct val="105000"/>
              </a:lnSpc>
              <a:buNone/>
            </a:pPr>
            <a:r>
              <a:rPr lang="ar-SA" altLang="en-US" sz="1800" b="1" dirty="0">
                <a:solidFill>
                  <a:srgbClr val="0B2545"/>
                </a:solidFill>
                <a:latin typeface="Segoe UI" pitchFamily="34" charset="0"/>
                <a:ea typeface="Segoe UI" pitchFamily="34" charset="-122"/>
                <a:cs typeface="Segoe UI" pitchFamily="34" charset="-120"/>
              </a:rPr>
              <a:t>«نصف المسافة بين نواتي ذرتين متماثلتين بينهما رابطة كيميائية».</a:t>
            </a:r>
            <a:endParaRPr lang="ar-SA" sz="1800" dirty="0"/>
          </a:p>
        </p:txBody>
      </p:sp>
      <p:sp>
        <p:nvSpPr>
          <p:cNvPr id="5" name="float:c:4"/>
          <p:cNvSpPr/>
          <p:nvPr/>
        </p:nvSpPr>
        <p:spPr>
          <a:xfrm>
            <a:off x="6035040" y="4389120"/>
            <a:ext cx="5760720" cy="1280160"/>
          </a:xfrm>
          <a:prstGeom prst="roundRect">
            <a:avLst>
              <a:gd name="adj" fmla="val 10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المسافة بين النواتين = </a:t>
            </a:r>
            <a:pPr rtl="1" algn="r" indent="0" marL="0">
              <a:lnSpc>
                <a:spcPct val="105000"/>
              </a:lnSpc>
              <a:buNone/>
            </a:pPr>
            <a:r>
              <a:rPr lang="ar-SA" altLang="en-US" sz="1900" b="1" dirty="0">
                <a:solidFill>
                  <a:srgbClr val="EA580C"/>
                </a:solidFill>
                <a:latin typeface="Segoe UI" pitchFamily="34" charset="0"/>
                <a:ea typeface="Segoe UI" pitchFamily="34" charset="-122"/>
                <a:cs typeface="Segoe UI" pitchFamily="34" charset="-120"/>
              </a:rPr>
              <a:t>74 pm</a:t>
            </a:r>
            <a:pPr rtl="1" algn="r" indent="0" marL="0">
              <a:lnSpc>
                <a:spcPct val="105000"/>
              </a:lnSpc>
              <a:buNone/>
            </a:pPr>
            <a:endParaRPr lang="ar-SA" sz="1900" dirty="0"/>
          </a:p>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نصف القطر الذري للهيدروجين = 74 ÷ 2 = </a:t>
            </a:r>
            <a:pPr rtl="1" algn="r" indent="0" marL="0">
              <a:lnSpc>
                <a:spcPct val="105000"/>
              </a:lnSpc>
              <a:buNone/>
            </a:pPr>
            <a:r>
              <a:rPr lang="ar-SA" altLang="en-US" sz="1900" b="1" dirty="0">
                <a:solidFill>
                  <a:srgbClr val="EA580C"/>
                </a:solidFill>
                <a:latin typeface="Segoe UI" pitchFamily="34" charset="0"/>
                <a:ea typeface="Segoe UI" pitchFamily="34" charset="-122"/>
                <a:cs typeface="Segoe UI" pitchFamily="34" charset="-120"/>
              </a:rPr>
              <a:t>37 pm</a:t>
            </a:r>
            <a:endParaRPr lang="ar-SA" sz="1900" dirty="0"/>
          </a:p>
        </p:txBody>
      </p:sp>
      <p:pic>
        <p:nvPicPr>
          <p:cNvPr id="6" name="zoom:a:5" descr="l/H2.png">    </p:cNvPr>
          <p:cNvPicPr>
            <a:picLocks noChangeAspect="1"/>
          </p:cNvPicPr>
          <p:nvPr/>
        </p:nvPicPr>
        <p:blipFill>
          <a:blip r:embed="rId1"/>
          <a:stretch>
            <a:fillRect/>
          </a:stretch>
        </p:blipFill>
        <p:spPr>
          <a:xfrm>
            <a:off x="914400" y="1492857"/>
            <a:ext cx="4389120" cy="4055165"/>
          </a:xfrm>
          <a:prstGeom prst="rect">
            <a:avLst/>
          </a:prstGeom>
        </p:spPr>
      </p:pic>
      <p:sp>
        <p:nvSpPr>
          <p:cNvPr id="7" name="fade:w:6"/>
          <p:cNvSpPr txBox="1"/>
          <p:nvPr/>
        </p:nvSpPr>
        <p:spPr>
          <a:xfrm>
            <a:off x="548640" y="5715000"/>
            <a:ext cx="5120640" cy="411480"/>
          </a:xfrm>
          <a:prstGeom prst="rect">
            <a:avLst/>
          </a:prstGeom>
          <a:noFill/>
          <a:ln/>
        </p:spPr>
        <p:txBody>
          <a:bodyPr wrap="square" lIns="76200" tIns="152400" rIns="152400" bIns="7620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شكل (19)  روابط ذرات اللافلز في جزيء الهيدروجين</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3"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700"/>
                                        <p:tgtEl>
                                          <p:spTgt spid="4"/>
                                        </p:tgtEl>
                                      </p:cBhvr>
                                    </p:animEffect>
                                    <p:anim calcmode="lin" valueType="num">
                                      <p:cBhvr additive="base">
                                        <p:cTn id="10" dur="700" fill="hold"/>
                                        <p:tgtEl>
                                          <p:spTgt spid="4"/>
                                        </p:tgtEl>
                                        <p:attrNameLst>
                                          <p:attrName>ppt_x</p:attrName>
                                        </p:attrNameLst>
                                      </p:cBhvr>
                                      <p:tavLst>
                                        <p:tav tm="0">
                                          <p:val>
                                            <p:strVal val="#ppt_x"/>
                                          </p:val>
                                        </p:tav>
                                        <p:tav tm="100000">
                                          <p:val>
                                            <p:strVal val="#ppt_x"/>
                                          </p:val>
                                        </p:tav>
                                      </p:tavLst>
                                    </p:anim>
                                    <p:anim calcmode="lin" valueType="num">
                                      <p:cBhvr additive="base">
                                        <p:cTn id="11" dur="7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20" fill="hold">
                            <p:stCondLst>
                              <p:cond delay="0"/>
                            </p:stCondLst>
                            <p:childTnLst>
                              <p:par>
                                <p:cTn id="19"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9" fill="hold">
                            <p:stCondLst>
                              <p:cond delay="385"/>
                            </p:stCondLst>
                            <p:childTnLst>
                              <p:par>
                                <p:cTn id="25"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ppt_w</p:attrName>
                                        </p:attrNameLst>
                                      </p:cBhvr>
                                      <p:tavLst>
                                        <p:tav tm="0">
                                          <p:val>
                                            <p:strVal val="0"/>
                                          </p:val>
                                        </p:tav>
                                        <p:tav tm="100000">
                                          <p:val>
                                            <p:strVal val="#ppt_w"/>
                                          </p:val>
                                        </p:tav>
                                      </p:tavLst>
                                    </p:anim>
                                    <p:anim calcmode="lin" valueType="num">
                                      <p:cBhvr additive="base">
                                        <p:cTn id="23" dur="500" fill="hold"/>
                                        <p:tgtEl>
                                          <p:spTgt spid="6"/>
                                        </p:tgtEl>
                                        <p:attrNameLst>
                                          <p:attrName>ppt_h</p:attrName>
                                        </p:attrNameLst>
                                      </p:cBhvr>
                                      <p:tavLst>
                                        <p:tav tm="0">
                                          <p:val>
                                            <p:strVal val="0"/>
                                          </p:val>
                                        </p:tav>
                                        <p:tav tm="100000">
                                          <p:val>
                                            <p:strVal val="#ppt_h"/>
                                          </p:val>
                                        </p:tav>
                                      </p:tavLst>
                                    </p:anim>
                                    <p:animEffect transition="in" filter="fade">
                                      <p:cBhvr>
                                        <p:cTn id="24" dur="500"/>
                                        <p:tgtEl>
                                          <p:spTgt spid="6"/>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وحدة القياس... ومثال (1)</a:t>
            </a:r>
            <a:endParaRPr lang="en-US" sz="2800" dirty="0"/>
          </a:p>
        </p:txBody>
      </p:sp>
      <p:sp>
        <p:nvSpPr>
          <p:cNvPr id="3" name="float:a:2"/>
          <p:cNvSpPr/>
          <p:nvPr/>
        </p:nvSpPr>
        <p:spPr>
          <a:xfrm>
            <a:off x="4389120" y="1325880"/>
            <a:ext cx="7406640" cy="1005840"/>
          </a:xfrm>
          <a:prstGeom prst="roundRect">
            <a:avLst>
              <a:gd name="adj" fmla="val 1272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يقاس نصف القطر الذري بوحدات صغيرة جدًّا نظرًا لصغر حجم الذرة، وأكثرها شيوعًا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البيكومتر (pm).</a:t>
            </a:r>
            <a:endParaRPr lang="ar-SA" sz="1700" dirty="0"/>
          </a:p>
        </p:txBody>
      </p:sp>
      <p:sp>
        <p:nvSpPr>
          <p:cNvPr id="4" name="zoom:a:3"/>
          <p:cNvSpPr/>
          <p:nvPr/>
        </p:nvSpPr>
        <p:spPr>
          <a:xfrm>
            <a:off x="411480" y="1463040"/>
            <a:ext cx="3657600" cy="731520"/>
          </a:xfrm>
          <a:prstGeom prst="roundRect">
            <a:avLst>
              <a:gd name="adj" fmla="val 50000"/>
            </a:avLst>
          </a:prstGeom>
          <a:solidFill>
            <a:srgbClr val="EA580C"/>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600" b="1" dirty="0">
                <a:solidFill>
                  <a:srgbClr val="FFFFFF"/>
                </a:solidFill>
                <a:latin typeface="Segoe UI" pitchFamily="34" charset="0"/>
                <a:ea typeface="Segoe UI" pitchFamily="34" charset="-122"/>
                <a:cs typeface="Segoe UI" pitchFamily="34" charset="-120"/>
              </a:rPr>
              <a:t>1 pm = 10</a:t>
            </a:r>
            <a:pPr algn="ctr" indent="0" marL="0">
              <a:lnSpc>
                <a:spcPct val="105000"/>
              </a:lnSpc>
              <a:buNone/>
            </a:pPr>
            <a:r>
              <a:rPr lang="en-US" altLang="en-US" sz="2600" b="1" baseline="30000" dirty="0">
                <a:solidFill>
                  <a:srgbClr val="FFFFFF"/>
                </a:solidFill>
                <a:latin typeface="Segoe UI" pitchFamily="34" charset="0"/>
                <a:ea typeface="Segoe UI" pitchFamily="34" charset="-122"/>
                <a:cs typeface="Segoe UI" pitchFamily="34" charset="-120"/>
              </a:rPr>
              <a:t>-12</a:t>
            </a:r>
            <a:pPr algn="ctr" indent="0" marL="0">
              <a:lnSpc>
                <a:spcPct val="105000"/>
              </a:lnSpc>
              <a:buNone/>
            </a:pPr>
            <a:r>
              <a:rPr lang="en-US" altLang="en-US" sz="2600" b="1" dirty="0">
                <a:solidFill>
                  <a:srgbClr val="FFFFFF"/>
                </a:solidFill>
                <a:latin typeface="Segoe UI" pitchFamily="34" charset="0"/>
                <a:ea typeface="Segoe UI" pitchFamily="34" charset="-122"/>
                <a:cs typeface="Segoe UI" pitchFamily="34" charset="-120"/>
              </a:rPr>
              <a:t> m</a:t>
            </a:r>
            <a:endParaRPr lang="en-US" sz="2600" dirty="0"/>
          </a:p>
        </p:txBody>
      </p:sp>
      <p:sp>
        <p:nvSpPr>
          <p:cNvPr id="5" name="float:c:4"/>
          <p:cNvSpPr/>
          <p:nvPr/>
        </p:nvSpPr>
        <p:spPr>
          <a:xfrm>
            <a:off x="5120640" y="2560320"/>
            <a:ext cx="6675120" cy="1554480"/>
          </a:xfrm>
          <a:prstGeom prst="roundRect">
            <a:avLst>
              <a:gd name="adj" fmla="val 8235"/>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b="1" dirty="0">
                <a:solidFill>
                  <a:srgbClr val="EA580C"/>
                </a:solidFill>
                <a:latin typeface="Segoe UI" pitchFamily="34" charset="0"/>
                <a:ea typeface="Segoe UI" pitchFamily="34" charset="-122"/>
                <a:cs typeface="Segoe UI" pitchFamily="34" charset="-120"/>
              </a:rPr>
              <a:t>مثال (1)</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إذا علمت أنّ المسافة بين نواتي ذرتي البروم في جزيء البروم Br</a:t>
            </a:r>
            <a:pPr rtl="1" algn="r" indent="0" marL="0">
              <a:lnSpc>
                <a:spcPct val="105000"/>
              </a:lnSpc>
              <a:buNone/>
            </a:pPr>
            <a:r>
              <a:rPr lang="ar-SA" altLang="en-US" sz="1800" baseline="-40000" dirty="0">
                <a:solidFill>
                  <a:srgbClr val="0B2545"/>
                </a:solidFill>
                <a:latin typeface="Segoe UI" pitchFamily="34" charset="0"/>
                <a:ea typeface="Segoe UI" pitchFamily="34" charset="-122"/>
                <a:cs typeface="Segoe UI" pitchFamily="34" charset="-120"/>
              </a:rPr>
              <a:t>2</a:t>
            </a:r>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هي 228 pm، فما هي قيمة نصف القطر الذري بوحدة البيكومتر؟</a:t>
            </a:r>
            <a:endParaRPr lang="ar-SA" sz="1800" dirty="0"/>
          </a:p>
        </p:txBody>
      </p:sp>
      <p:sp>
        <p:nvSpPr>
          <p:cNvPr id="6" name="float:c:5"/>
          <p:cNvSpPr/>
          <p:nvPr/>
        </p:nvSpPr>
        <p:spPr>
          <a:xfrm>
            <a:off x="10241280" y="4343400"/>
            <a:ext cx="1554480" cy="50292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الحل</a:t>
            </a:r>
            <a:endParaRPr lang="ar-SA" sz="1700" dirty="0"/>
          </a:p>
        </p:txBody>
      </p:sp>
      <p:sp>
        <p:nvSpPr>
          <p:cNvPr id="7" name="float:a:6"/>
          <p:cNvSpPr/>
          <p:nvPr/>
        </p:nvSpPr>
        <p:spPr>
          <a:xfrm>
            <a:off x="5120640" y="4983480"/>
            <a:ext cx="6675120" cy="640080"/>
          </a:xfrm>
          <a:prstGeom prst="roundRect">
            <a:avLst>
              <a:gd name="adj" fmla="val 20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نصف القطر الذري = المسافة بين النواتين ÷ 2</a:t>
            </a:r>
            <a:endParaRPr lang="ar-SA" sz="1700" dirty="0"/>
          </a:p>
        </p:txBody>
      </p:sp>
      <p:sp>
        <p:nvSpPr>
          <p:cNvPr id="8" name="float:a:7"/>
          <p:cNvSpPr/>
          <p:nvPr/>
        </p:nvSpPr>
        <p:spPr>
          <a:xfrm>
            <a:off x="5120640" y="5760720"/>
            <a:ext cx="6675120" cy="68580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2400" b="1" dirty="0">
                <a:solidFill>
                  <a:srgbClr val="FFFFFF"/>
                </a:solidFill>
                <a:latin typeface="Segoe UI" pitchFamily="34" charset="0"/>
                <a:ea typeface="Segoe UI" pitchFamily="34" charset="-122"/>
                <a:cs typeface="Segoe UI" pitchFamily="34" charset="-120"/>
              </a:rPr>
              <a:t>r = 228 ÷ 2 = 114 pm</a:t>
            </a:r>
            <a:endParaRPr lang="en-US" sz="2400" dirty="0"/>
          </a:p>
        </p:txBody>
      </p:sp>
      <p:pic>
        <p:nvPicPr>
          <p:cNvPr id="9" name="zoom:a:8" descr="l/Br2.png">    </p:cNvPr>
          <p:cNvPicPr>
            <a:picLocks noChangeAspect="1"/>
          </p:cNvPicPr>
          <p:nvPr/>
        </p:nvPicPr>
        <p:blipFill>
          <a:blip r:embed="rId1"/>
          <a:stretch>
            <a:fillRect/>
          </a:stretch>
        </p:blipFill>
        <p:spPr>
          <a:xfrm>
            <a:off x="640080" y="2719813"/>
            <a:ext cx="4023360" cy="343005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childTnLst>
                    </p:cTn>
                  </p:par>
                  <p:par>
                    <p:cTn id="22" fill="hold">
                      <p:stCondLst>
                        <p:cond delay="indefinite"/>
                      </p:stCondLst>
                      <p:childTnLst>
                        <p:par>
                          <p:cTn id="21" fill="hold">
                            <p:stCondLst>
                              <p:cond delay="0"/>
                            </p:stCondLst>
                            <p:childTnLst>
                              <p:par>
                                <p:cTn id="20"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p:tgtEl>
                                          <p:spTgt spid="5"/>
                                        </p:tgtEl>
                                        <p:attrNameLst>
                                          <p:attrName>ppt_x</p:attrName>
                                        </p:attrNameLst>
                                      </p:cBhvr>
                                      <p:tavLst>
                                        <p:tav tm="0">
                                          <p:val>
                                            <p:strVal val="#ppt_x"/>
                                          </p:val>
                                        </p:tav>
                                        <p:tav tm="100000">
                                          <p:val>
                                            <p:strVal val="#ppt_x"/>
                                          </p:val>
                                        </p:tav>
                                      </p:tavLst>
                                    </p:anim>
                                    <p:anim calcmode="lin" valueType="num">
                                      <p:cBhvr additive="base">
                                        <p:cTn id="19" dur="7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28" fill="hold">
                            <p:stCondLst>
                              <p:cond delay="0"/>
                            </p:stCondLst>
                            <p:childTnLst>
                              <p:par>
                                <p:cTn id="27"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00"/>
                                        <p:tgtEl>
                                          <p:spTgt spid="6"/>
                                        </p:tgtEl>
                                      </p:cBhvr>
                                    </p:animEffect>
                                    <p:anim calcmode="lin" valueType="num">
                                      <p:cBhvr additive="base">
                                        <p:cTn id="25" dur="700" fill="hold"/>
                                        <p:tgtEl>
                                          <p:spTgt spid="6"/>
                                        </p:tgtEl>
                                        <p:attrNameLst>
                                          <p:attrName>ppt_x</p:attrName>
                                        </p:attrNameLst>
                                      </p:cBhvr>
                                      <p:tavLst>
                                        <p:tav tm="0">
                                          <p:val>
                                            <p:strVal val="#ppt_x"/>
                                          </p:val>
                                        </p:tav>
                                        <p:tav tm="100000">
                                          <p:val>
                                            <p:strVal val="#ppt_x"/>
                                          </p:val>
                                        </p:tav>
                                      </p:tavLst>
                                    </p:anim>
                                    <p:anim calcmode="lin" valueType="num">
                                      <p:cBhvr additive="base">
                                        <p:cTn id="26" dur="7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385"/>
                            </p:stCondLst>
                            <p:childTnLst>
                              <p:par>
                                <p:cTn id="33" presetID="42"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additive="base">
                                        <p:cTn id="31" dur="700" fill="hold"/>
                                        <p:tgtEl>
                                          <p:spTgt spid="7"/>
                                        </p:tgtEl>
                                        <p:attrNameLst>
                                          <p:attrName>ppt_x</p:attrName>
                                        </p:attrNameLst>
                                      </p:cBhvr>
                                      <p:tavLst>
                                        <p:tav tm="0">
                                          <p:val>
                                            <p:strVal val="#ppt_x"/>
                                          </p:val>
                                        </p:tav>
                                        <p:tav tm="100000">
                                          <p:val>
                                            <p:strVal val="#ppt_x"/>
                                          </p:val>
                                        </p:tav>
                                      </p:tavLst>
                                    </p:anim>
                                    <p:anim calcmode="lin" valueType="num">
                                      <p:cBhvr additive="base">
                                        <p:cTn id="32" dur="700" fill="hold"/>
                                        <p:tgtEl>
                                          <p:spTgt spid="7"/>
                                        </p:tgtEl>
                                        <p:attrNameLst>
                                          <p:attrName>ppt_y</p:attrName>
                                        </p:attrNameLst>
                                      </p:cBhvr>
                                      <p:tavLst>
                                        <p:tav tm="0">
                                          <p:val>
                                            <p:strVal val="#ppt_y+.1"/>
                                          </p:val>
                                        </p:tav>
                                        <p:tav tm="100000">
                                          <p:val>
                                            <p:strVal val="#ppt_y"/>
                                          </p:val>
                                        </p:tav>
                                      </p:tavLst>
                                    </p:anim>
                                  </p:childTnLst>
                                </p:cTn>
                              </p:par>
                            </p:childTnLst>
                          </p:cTn>
                        </p:par>
                        <p:par>
                          <p:cTn id="40" fill="hold">
                            <p:stCondLst>
                              <p:cond delay="770"/>
                            </p:stCondLst>
                            <p:childTnLst>
                              <p:par>
                                <p:cTn id="39" presetID="42"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700"/>
                                        <p:tgtEl>
                                          <p:spTgt spid="8"/>
                                        </p:tgtEl>
                                      </p:cBhvr>
                                    </p:animEffect>
                                    <p:anim calcmode="lin" valueType="num">
                                      <p:cBhvr additive="base">
                                        <p:cTn id="37" dur="700" fill="hold"/>
                                        <p:tgtEl>
                                          <p:spTgt spid="8"/>
                                        </p:tgtEl>
                                        <p:attrNameLst>
                                          <p:attrName>ppt_x</p:attrName>
                                        </p:attrNameLst>
                                      </p:cBhvr>
                                      <p:tavLst>
                                        <p:tav tm="0">
                                          <p:val>
                                            <p:strVal val="#ppt_x"/>
                                          </p:val>
                                        </p:tav>
                                        <p:tav tm="100000">
                                          <p:val>
                                            <p:strVal val="#ppt_x"/>
                                          </p:val>
                                        </p:tav>
                                      </p:tavLst>
                                    </p:anim>
                                    <p:anim calcmode="lin" valueType="num">
                                      <p:cBhvr additive="base">
                                        <p:cTn id="38" dur="700" fill="hold"/>
                                        <p:tgtEl>
                                          <p:spTgt spid="8"/>
                                        </p:tgtEl>
                                        <p:attrNameLst>
                                          <p:attrName>ppt_y</p:attrName>
                                        </p:attrNameLst>
                                      </p:cBhvr>
                                      <p:tavLst>
                                        <p:tav tm="0">
                                          <p:val>
                                            <p:strVal val="#ppt_y+.1"/>
                                          </p:val>
                                        </p:tav>
                                        <p:tav tm="100000">
                                          <p:val>
                                            <p:strVal val="#ppt_y"/>
                                          </p:val>
                                        </p:tav>
                                      </p:tavLst>
                                    </p:anim>
                                  </p:childTnLst>
                                </p:cTn>
                              </p:par>
                            </p:childTnLst>
                          </p:cTn>
                        </p:par>
                        <p:par>
                          <p:cTn id="46" fill="hold">
                            <p:stCondLst>
                              <p:cond delay="1155"/>
                            </p:stCondLst>
                            <p:childTnLst>
                              <p:par>
                                <p:cTn id="45" presetID="53" presetClass="entr" presetSubtype="16"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ppt_w</p:attrName>
                                        </p:attrNameLst>
                                      </p:cBhvr>
                                      <p:tavLst>
                                        <p:tav tm="0">
                                          <p:val>
                                            <p:strVal val="0"/>
                                          </p:val>
                                        </p:tav>
                                        <p:tav tm="100000">
                                          <p:val>
                                            <p:strVal val="#ppt_w"/>
                                          </p:val>
                                        </p:tav>
                                      </p:tavLst>
                                    </p:anim>
                                    <p:anim calcmode="lin" valueType="num">
                                      <p:cBhvr additive="base">
                                        <p:cTn id="43" dur="500" fill="hold"/>
                                        <p:tgtEl>
                                          <p:spTgt spid="9"/>
                                        </p:tgtEl>
                                        <p:attrNameLst>
                                          <p:attrName>ppt_h</p:attrName>
                                        </p:attrNameLst>
                                      </p:cBhvr>
                                      <p:tavLst>
                                        <p:tav tm="0">
                                          <p:val>
                                            <p:strVal val="0"/>
                                          </p:val>
                                        </p:tav>
                                        <p:tav tm="100000">
                                          <p:val>
                                            <p:strVal val="#ppt_h"/>
                                          </p:val>
                                        </p:tav>
                                      </p:tavLst>
                                    </p:anim>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(1)</a:t>
            </a:r>
            <a:endParaRPr lang="en-US" sz="2800" dirty="0"/>
          </a:p>
        </p:txBody>
      </p:sp>
      <p:sp>
        <p:nvSpPr>
          <p:cNvPr id="3" name="float:a:2"/>
          <p:cNvSpPr/>
          <p:nvPr/>
        </p:nvSpPr>
        <p:spPr>
          <a:xfrm>
            <a:off x="5852160" y="1371600"/>
            <a:ext cx="5943600" cy="1920240"/>
          </a:xfrm>
          <a:prstGeom prst="roundRect">
            <a:avLst>
              <a:gd name="adj" fmla="val 666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إذا علمت أنّ المسافة بين نواتي ذرتي الكلور في جزيء الكلور Cl</a:t>
            </a:r>
            <a:pPr rtl="1" algn="r" indent="0" marL="0">
              <a:lnSpc>
                <a:spcPct val="105000"/>
              </a:lnSpc>
              <a:buNone/>
            </a:pPr>
            <a:r>
              <a:rPr lang="ar-SA" altLang="en-US" sz="1900" baseline="-40000" dirty="0">
                <a:solidFill>
                  <a:srgbClr val="0B2545"/>
                </a:solidFill>
                <a:latin typeface="Segoe UI" pitchFamily="34" charset="0"/>
                <a:ea typeface="Segoe UI" pitchFamily="34" charset="-122"/>
                <a:cs typeface="Segoe UI" pitchFamily="34" charset="-120"/>
              </a:rPr>
              <a:t>2</a:t>
            </a:r>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 هي </a:t>
            </a:r>
            <a:pPr rtl="1" algn="r" indent="0" marL="0">
              <a:lnSpc>
                <a:spcPct val="105000"/>
              </a:lnSpc>
              <a:buNone/>
            </a:pPr>
            <a:r>
              <a:rPr lang="ar-SA" altLang="en-US" sz="1900" b="1" dirty="0">
                <a:solidFill>
                  <a:srgbClr val="EA580C"/>
                </a:solidFill>
                <a:latin typeface="Segoe UI" pitchFamily="34" charset="0"/>
                <a:ea typeface="Segoe UI" pitchFamily="34" charset="-122"/>
                <a:cs typeface="Segoe UI" pitchFamily="34" charset="-120"/>
              </a:rPr>
              <a:t>198 pm</a:t>
            </a:r>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a:t>
            </a:r>
            <a:endParaRPr lang="ar-SA" sz="1900" dirty="0"/>
          </a:p>
          <a:p>
            <a:pPr rtl="1" algn="r" indent="0" marL="0">
              <a:lnSpc>
                <a:spcPct val="105000"/>
              </a:lnSpc>
              <a:buNone/>
            </a:pPr>
            <a:r>
              <a:rPr lang="ar-SA" altLang="en-US" sz="1900" b="1" dirty="0">
                <a:solidFill>
                  <a:srgbClr val="EA580C"/>
                </a:solidFill>
                <a:latin typeface="Segoe UI" pitchFamily="34" charset="0"/>
                <a:ea typeface="Segoe UI" pitchFamily="34" charset="-122"/>
                <a:cs typeface="Segoe UI" pitchFamily="34" charset="-120"/>
              </a:rPr>
              <a:t>فما هي قيمة نصف القطر الذري بوحدة البيكومتر؟</a:t>
            </a:r>
            <a:endParaRPr lang="ar-SA" sz="1900" dirty="0"/>
          </a:p>
        </p:txBody>
      </p:sp>
      <p:pic>
        <p:nvPicPr>
          <p:cNvPr id="4" name="zoom:a:3" descr="h_cl2.png">    </p:cNvPr>
          <p:cNvPicPr>
            <a:picLocks noChangeAspect="1"/>
          </p:cNvPicPr>
          <p:nvPr/>
        </p:nvPicPr>
        <p:blipFill>
          <a:blip r:embed="rId1"/>
          <a:stretch>
            <a:fillRect/>
          </a:stretch>
        </p:blipFill>
        <p:spPr>
          <a:xfrm>
            <a:off x="570253" y="1325880"/>
            <a:ext cx="4894534" cy="4206240"/>
          </a:xfrm>
          <a:prstGeom prst="rect">
            <a:avLst/>
          </a:prstGeom>
        </p:spPr>
      </p:pic>
      <p:sp>
        <p:nvSpPr>
          <p:cNvPr id="5" name="fade:a:4"/>
          <p:cNvSpPr/>
          <p:nvPr/>
        </p:nvSpPr>
        <p:spPr>
          <a:xfrm>
            <a:off x="5852160" y="3566160"/>
            <a:ext cx="5943600" cy="822960"/>
          </a:xfrm>
          <a:prstGeom prst="roundRect">
            <a:avLst>
              <a:gd name="adj" fmla="val 1555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a:t>
            </a:r>
            <a:endParaRPr lang="ar-SA" sz="1700" dirty="0"/>
          </a:p>
        </p:txBody>
      </p:sp>
      <p:sp>
        <p:nvSpPr>
          <p:cNvPr id="6" name="float:c:5"/>
          <p:cNvSpPr/>
          <p:nvPr/>
        </p:nvSpPr>
        <p:spPr>
          <a:xfrm>
            <a:off x="5852160" y="3566160"/>
            <a:ext cx="5943600" cy="82296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2800" b="1" dirty="0">
                <a:solidFill>
                  <a:srgbClr val="FFFFFF"/>
                </a:solidFill>
                <a:latin typeface="Segoe UI" pitchFamily="34" charset="0"/>
                <a:ea typeface="Segoe UI" pitchFamily="34" charset="-122"/>
                <a:cs typeface="Segoe UI" pitchFamily="34" charset="-120"/>
              </a:rPr>
              <a:t>r = 198 ÷ 2 = 99 pm</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18" fill="hold">
                            <p:stCondLst>
                              <p:cond delay="660"/>
                            </p:stCondLst>
                            <p:childTnLst>
                              <p:par>
                                <p:cTn id="17"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childTnLst>
                    </p:cTn>
                  </p:par>
                  <p:par>
                    <p:cTn id="26" fill="hold">
                      <p:stCondLst>
                        <p:cond delay="indefinite"/>
                      </p:stCondLst>
                      <p:childTnLst>
                        <p:par>
                          <p:cTn id="25" fill="hold">
                            <p:stCondLst>
                              <p:cond delay="0"/>
                            </p:stCondLst>
                            <p:childTnLst>
                              <p:par>
                                <p:cTn id="24"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700"/>
                                        <p:tgtEl>
                                          <p:spTgt spid="6"/>
                                        </p:tgtEl>
                                      </p:cBhvr>
                                    </p:animEffect>
                                    <p:anim calcmode="lin" valueType="num">
                                      <p:cBhvr additive="base">
                                        <p:cTn id="22" dur="700" fill="hold"/>
                                        <p:tgtEl>
                                          <p:spTgt spid="6"/>
                                        </p:tgtEl>
                                        <p:attrNameLst>
                                          <p:attrName>ppt_x</p:attrName>
                                        </p:attrNameLst>
                                      </p:cBhvr>
                                      <p:tavLst>
                                        <p:tav tm="0">
                                          <p:val>
                                            <p:strVal val="#ppt_x"/>
                                          </p:val>
                                        </p:tav>
                                        <p:tav tm="100000">
                                          <p:val>
                                            <p:strVal val="#ppt_x"/>
                                          </p:val>
                                        </p:tav>
                                      </p:tavLst>
                                    </p:anim>
                                    <p:anim calcmode="lin" valueType="num">
                                      <p:cBhvr additive="base">
                                        <p:cTn id="23" dur="7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التدرج خلال المجموعة — تمرين (2)</a:t>
            </a:r>
            <a:endParaRPr lang="en-US" sz="2800" dirty="0"/>
          </a:p>
        </p:txBody>
      </p:sp>
      <p:sp>
        <p:nvSpPr>
          <p:cNvPr id="3" name="float:a:2"/>
          <p:cNvSpPr/>
          <p:nvPr/>
        </p:nvSpPr>
        <p:spPr>
          <a:xfrm>
            <a:off x="4206240" y="1325880"/>
            <a:ext cx="7589520" cy="640080"/>
          </a:xfrm>
          <a:prstGeom prst="roundRect">
            <a:avLst>
              <a:gd name="adj" fmla="val 20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بالاستعانة بالشكل المقابل، أجب عمّا يلي:</a:t>
            </a:r>
            <a:endParaRPr lang="ar-SA" sz="1700" dirty="0"/>
          </a:p>
        </p:txBody>
      </p:sp>
      <p:pic>
        <p:nvPicPr>
          <p:cNvPr id="4" name="zoom:a:3" descr="l/atom_Li.png">    </p:cNvPr>
          <p:cNvPicPr>
            <a:picLocks noChangeAspect="1"/>
          </p:cNvPicPr>
          <p:nvPr/>
        </p:nvPicPr>
        <p:blipFill>
          <a:blip r:embed="rId1"/>
          <a:stretch>
            <a:fillRect/>
          </a:stretch>
        </p:blipFill>
        <p:spPr>
          <a:xfrm>
            <a:off x="672322" y="1645920"/>
            <a:ext cx="941355" cy="960120"/>
          </a:xfrm>
          <a:prstGeom prst="rect">
            <a:avLst/>
          </a:prstGeom>
        </p:spPr>
      </p:pic>
      <p:sp>
        <p:nvSpPr>
          <p:cNvPr id="5" name="fade:w:4"/>
          <p:cNvSpPr txBox="1"/>
          <p:nvPr/>
        </p:nvSpPr>
        <p:spPr>
          <a:xfrm>
            <a:off x="1783080" y="1325880"/>
            <a:ext cx="2240280" cy="1600200"/>
          </a:xfrm>
          <a:prstGeom prst="rect">
            <a:avLst/>
          </a:prstGeom>
          <a:noFill/>
          <a:ln/>
        </p:spPr>
        <p:txBody>
          <a:bodyPr wrap="square" lIns="25400" tIns="25400" rIns="25400" bIns="25400" rtlCol="0" anchor="ctr"/>
          <a:lstStyle/>
          <a:p>
            <a:pPr rtl="1" algn="r" indent="0" marL="0">
              <a:lnSpc>
                <a:spcPct val="105000"/>
              </a:lnSpc>
              <a:buNone/>
            </a:pPr>
            <a:r>
              <a:rPr lang="ar-SA" altLang="en-US" sz="1400" b="1" dirty="0">
                <a:solidFill>
                  <a:srgbClr val="EA580C"/>
                </a:solidFill>
                <a:latin typeface="Segoe UI" pitchFamily="34" charset="0"/>
                <a:ea typeface="Segoe UI" pitchFamily="34" charset="-122"/>
                <a:cs typeface="Segoe UI" pitchFamily="34" charset="-120"/>
              </a:rPr>
              <a:t>الليثيوم (Li)</a:t>
            </a:r>
            <a:endParaRPr lang="ar-SA" sz="1400" dirty="0"/>
          </a:p>
          <a:p>
            <a:pPr rtl="1" algn="r" indent="0" marL="0">
              <a:lnSpc>
                <a:spcPct val="105000"/>
              </a:lnSpc>
              <a:buNone/>
            </a:pPr>
            <a:r>
              <a:rPr lang="ar-SA" altLang="en-US" sz="1400" dirty="0">
                <a:solidFill>
                  <a:srgbClr val="0B2545"/>
                </a:solidFill>
                <a:latin typeface="Segoe UI" pitchFamily="34" charset="0"/>
                <a:ea typeface="Segoe UI" pitchFamily="34" charset="-122"/>
                <a:cs typeface="Segoe UI" pitchFamily="34" charset="-120"/>
              </a:rPr>
              <a:t>العدد الذري: 3</a:t>
            </a:r>
            <a:endParaRPr lang="ar-SA" sz="1400" dirty="0"/>
          </a:p>
          <a:p>
            <a:pPr rtl="1" algn="r" indent="0" marL="0">
              <a:lnSpc>
                <a:spcPct val="105000"/>
              </a:lnSpc>
              <a:buNone/>
            </a:pPr>
            <a:r>
              <a:rPr lang="ar-SA" altLang="en-US" sz="1400" dirty="0">
                <a:solidFill>
                  <a:srgbClr val="0B2545"/>
                </a:solidFill>
                <a:latin typeface="Segoe UI" pitchFamily="34" charset="0"/>
                <a:ea typeface="Segoe UI" pitchFamily="34" charset="-122"/>
                <a:cs typeface="Segoe UI" pitchFamily="34" charset="-120"/>
              </a:rPr>
              <a:t>نصف القطر الذري: 152 pm</a:t>
            </a:r>
            <a:endParaRPr lang="ar-SA" sz="1400" dirty="0"/>
          </a:p>
        </p:txBody>
      </p:sp>
      <p:pic>
        <p:nvPicPr>
          <p:cNvPr id="6" name="zoom:a:5" descr="l/atom_Na.png">    </p:cNvPr>
          <p:cNvPicPr>
            <a:picLocks noChangeAspect="1"/>
          </p:cNvPicPr>
          <p:nvPr/>
        </p:nvPicPr>
        <p:blipFill>
          <a:blip r:embed="rId2"/>
          <a:stretch>
            <a:fillRect/>
          </a:stretch>
        </p:blipFill>
        <p:spPr>
          <a:xfrm>
            <a:off x="571500" y="3255264"/>
            <a:ext cx="1216152" cy="1216152"/>
          </a:xfrm>
          <a:prstGeom prst="rect">
            <a:avLst/>
          </a:prstGeom>
        </p:spPr>
      </p:pic>
      <p:sp>
        <p:nvSpPr>
          <p:cNvPr id="7" name="fade:w:6"/>
          <p:cNvSpPr txBox="1"/>
          <p:nvPr/>
        </p:nvSpPr>
        <p:spPr>
          <a:xfrm>
            <a:off x="1783080" y="3063240"/>
            <a:ext cx="2240280" cy="1600200"/>
          </a:xfrm>
          <a:prstGeom prst="rect">
            <a:avLst/>
          </a:prstGeom>
          <a:noFill/>
          <a:ln/>
        </p:spPr>
        <p:txBody>
          <a:bodyPr wrap="square" lIns="25400" tIns="25400" rIns="25400" bIns="25400" rtlCol="0" anchor="ctr"/>
          <a:lstStyle/>
          <a:p>
            <a:pPr rtl="1" algn="r" indent="0" marL="0">
              <a:lnSpc>
                <a:spcPct val="105000"/>
              </a:lnSpc>
              <a:buNone/>
            </a:pPr>
            <a:r>
              <a:rPr lang="ar-SA" altLang="en-US" sz="1400" b="1" dirty="0">
                <a:solidFill>
                  <a:srgbClr val="EA580C"/>
                </a:solidFill>
                <a:latin typeface="Segoe UI" pitchFamily="34" charset="0"/>
                <a:ea typeface="Segoe UI" pitchFamily="34" charset="-122"/>
                <a:cs typeface="Segoe UI" pitchFamily="34" charset="-120"/>
              </a:rPr>
              <a:t>الصوديوم (Na)</a:t>
            </a:r>
            <a:endParaRPr lang="ar-SA" sz="1400" dirty="0"/>
          </a:p>
          <a:p>
            <a:pPr rtl="1" algn="r" indent="0" marL="0">
              <a:lnSpc>
                <a:spcPct val="105000"/>
              </a:lnSpc>
              <a:buNone/>
            </a:pPr>
            <a:r>
              <a:rPr lang="ar-SA" altLang="en-US" sz="1400" dirty="0">
                <a:solidFill>
                  <a:srgbClr val="0B2545"/>
                </a:solidFill>
                <a:latin typeface="Segoe UI" pitchFamily="34" charset="0"/>
                <a:ea typeface="Segoe UI" pitchFamily="34" charset="-122"/>
                <a:cs typeface="Segoe UI" pitchFamily="34" charset="-120"/>
              </a:rPr>
              <a:t>العدد الذري: 11</a:t>
            </a:r>
            <a:endParaRPr lang="ar-SA" sz="1400" dirty="0"/>
          </a:p>
          <a:p>
            <a:pPr rtl="1" algn="r" indent="0" marL="0">
              <a:lnSpc>
                <a:spcPct val="105000"/>
              </a:lnSpc>
              <a:buNone/>
            </a:pPr>
            <a:r>
              <a:rPr lang="ar-SA" altLang="en-US" sz="1400" dirty="0">
                <a:solidFill>
                  <a:srgbClr val="0B2545"/>
                </a:solidFill>
                <a:latin typeface="Segoe UI" pitchFamily="34" charset="0"/>
                <a:ea typeface="Segoe UI" pitchFamily="34" charset="-122"/>
                <a:cs typeface="Segoe UI" pitchFamily="34" charset="-120"/>
              </a:rPr>
              <a:t>نصف القطر الذري: 186 pm</a:t>
            </a:r>
            <a:endParaRPr lang="ar-SA" sz="1400" dirty="0"/>
          </a:p>
        </p:txBody>
      </p:sp>
      <p:pic>
        <p:nvPicPr>
          <p:cNvPr id="8" name="zoom:a:7" descr="l/atom_K.png">    </p:cNvPr>
          <p:cNvPicPr>
            <a:picLocks noChangeAspect="1"/>
          </p:cNvPicPr>
          <p:nvPr/>
        </p:nvPicPr>
        <p:blipFill>
          <a:blip r:embed="rId3"/>
          <a:stretch>
            <a:fillRect/>
          </a:stretch>
        </p:blipFill>
        <p:spPr>
          <a:xfrm>
            <a:off x="480060" y="4864608"/>
            <a:ext cx="1472184" cy="1472184"/>
          </a:xfrm>
          <a:prstGeom prst="rect">
            <a:avLst/>
          </a:prstGeom>
        </p:spPr>
      </p:pic>
      <p:sp>
        <p:nvSpPr>
          <p:cNvPr id="9" name="fade:w:8"/>
          <p:cNvSpPr txBox="1"/>
          <p:nvPr/>
        </p:nvSpPr>
        <p:spPr>
          <a:xfrm>
            <a:off x="1783080" y="4800600"/>
            <a:ext cx="2240280" cy="1600200"/>
          </a:xfrm>
          <a:prstGeom prst="rect">
            <a:avLst/>
          </a:prstGeom>
          <a:noFill/>
          <a:ln/>
        </p:spPr>
        <p:txBody>
          <a:bodyPr wrap="square" lIns="25400" tIns="25400" rIns="25400" bIns="25400" rtlCol="0" anchor="ctr"/>
          <a:lstStyle/>
          <a:p>
            <a:pPr rtl="1" algn="r" indent="0" marL="0">
              <a:lnSpc>
                <a:spcPct val="105000"/>
              </a:lnSpc>
              <a:buNone/>
            </a:pPr>
            <a:r>
              <a:rPr lang="ar-SA" altLang="en-US" sz="1400" b="1" dirty="0">
                <a:solidFill>
                  <a:srgbClr val="EA580C"/>
                </a:solidFill>
                <a:latin typeface="Segoe UI" pitchFamily="34" charset="0"/>
                <a:ea typeface="Segoe UI" pitchFamily="34" charset="-122"/>
                <a:cs typeface="Segoe UI" pitchFamily="34" charset="-120"/>
              </a:rPr>
              <a:t>البوتاسيوم (K)</a:t>
            </a:r>
            <a:endParaRPr lang="ar-SA" sz="1400" dirty="0"/>
          </a:p>
          <a:p>
            <a:pPr rtl="1" algn="r" indent="0" marL="0">
              <a:lnSpc>
                <a:spcPct val="105000"/>
              </a:lnSpc>
              <a:buNone/>
            </a:pPr>
            <a:r>
              <a:rPr lang="ar-SA" altLang="en-US" sz="1400" dirty="0">
                <a:solidFill>
                  <a:srgbClr val="0B2545"/>
                </a:solidFill>
                <a:latin typeface="Segoe UI" pitchFamily="34" charset="0"/>
                <a:ea typeface="Segoe UI" pitchFamily="34" charset="-122"/>
                <a:cs typeface="Segoe UI" pitchFamily="34" charset="-120"/>
              </a:rPr>
              <a:t>العدد الذري: 19</a:t>
            </a:r>
            <a:endParaRPr lang="ar-SA" sz="1400" dirty="0"/>
          </a:p>
          <a:p>
            <a:pPr rtl="1" algn="r" indent="0" marL="0">
              <a:lnSpc>
                <a:spcPct val="105000"/>
              </a:lnSpc>
              <a:buNone/>
            </a:pPr>
            <a:r>
              <a:rPr lang="ar-SA" altLang="en-US" sz="1400" dirty="0">
                <a:solidFill>
                  <a:srgbClr val="0B2545"/>
                </a:solidFill>
                <a:latin typeface="Segoe UI" pitchFamily="34" charset="0"/>
                <a:ea typeface="Segoe UI" pitchFamily="34" charset="-122"/>
                <a:cs typeface="Segoe UI" pitchFamily="34" charset="-120"/>
              </a:rPr>
              <a:t>نصف القطر الذري: 227 pm</a:t>
            </a:r>
            <a:endParaRPr lang="ar-SA" sz="1400" dirty="0"/>
          </a:p>
        </p:txBody>
      </p:sp>
      <p:sp>
        <p:nvSpPr>
          <p:cNvPr id="10" name="fade:a:9"/>
          <p:cNvSpPr/>
          <p:nvPr/>
        </p:nvSpPr>
        <p:spPr>
          <a:xfrm>
            <a:off x="9784080" y="2148840"/>
            <a:ext cx="2011680" cy="548640"/>
          </a:xfrm>
          <a:prstGeom prst="roundRect">
            <a:avLst>
              <a:gd name="adj" fmla="val 16667"/>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وجه المقارنة</a:t>
            </a:r>
            <a:endParaRPr lang="ar-SA" sz="1400" dirty="0"/>
          </a:p>
        </p:txBody>
      </p:sp>
      <p:sp>
        <p:nvSpPr>
          <p:cNvPr id="11" name="fade:a:10"/>
          <p:cNvSpPr/>
          <p:nvPr/>
        </p:nvSpPr>
        <p:spPr>
          <a:xfrm>
            <a:off x="9784080" y="2788920"/>
            <a:ext cx="2011680" cy="731520"/>
          </a:xfrm>
          <a:prstGeom prst="roundRect">
            <a:avLst>
              <a:gd name="adj" fmla="val 12500"/>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عدد مستويات الطاقة الرئيسية</a:t>
            </a:r>
            <a:endParaRPr lang="ar-SA" sz="1400" dirty="0"/>
          </a:p>
        </p:txBody>
      </p:sp>
      <p:sp>
        <p:nvSpPr>
          <p:cNvPr id="12" name="fade:a:11"/>
          <p:cNvSpPr/>
          <p:nvPr/>
        </p:nvSpPr>
        <p:spPr>
          <a:xfrm>
            <a:off x="9784080" y="3611880"/>
            <a:ext cx="2011680" cy="731520"/>
          </a:xfrm>
          <a:prstGeom prst="roundRect">
            <a:avLst>
              <a:gd name="adj" fmla="val 12500"/>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قيمة نصف القطر الذري</a:t>
            </a:r>
            <a:endParaRPr lang="ar-SA" sz="1400" dirty="0"/>
          </a:p>
        </p:txBody>
      </p:sp>
      <p:sp>
        <p:nvSpPr>
          <p:cNvPr id="13" name="fade:w:12"/>
          <p:cNvSpPr/>
          <p:nvPr/>
        </p:nvSpPr>
        <p:spPr>
          <a:xfrm>
            <a:off x="8001000" y="2148840"/>
            <a:ext cx="1691640" cy="548640"/>
          </a:xfrm>
          <a:prstGeom prst="roundRect">
            <a:avLst>
              <a:gd name="adj" fmla="val 16667"/>
            </a:avLst>
          </a:prstGeom>
          <a:solidFill>
            <a:srgbClr val="0B2545"/>
          </a:solidFill>
          <a:ln/>
        </p:spPr>
        <p:txBody>
          <a:bodyPr wrap="square" lIns="76200" tIns="152400" rIns="152400" bIns="76200" rtlCol="0" anchor="ctr"/>
          <a:lstStyle/>
          <a:p>
            <a:pPr algn="ctr" indent="0" marL="0">
              <a:lnSpc>
                <a:spcPct val="105000"/>
              </a:lnSpc>
              <a:buNone/>
            </a:pPr>
            <a:r>
              <a:rPr lang="en-US" altLang="en-US" sz="2000" b="1" baseline="-40000" dirty="0">
                <a:solidFill>
                  <a:srgbClr val="FFFFFF"/>
                </a:solidFill>
                <a:latin typeface="Segoe UI" pitchFamily="34" charset="0"/>
                <a:ea typeface="Segoe UI" pitchFamily="34" charset="-122"/>
                <a:cs typeface="Segoe UI" pitchFamily="34" charset="-120"/>
              </a:rPr>
              <a:t>3</a:t>
            </a:r>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Li</a:t>
            </a:r>
            <a:endParaRPr lang="en-US" sz="2000" dirty="0"/>
          </a:p>
        </p:txBody>
      </p:sp>
      <p:sp>
        <p:nvSpPr>
          <p:cNvPr id="14" name="fade:w:13"/>
          <p:cNvSpPr/>
          <p:nvPr/>
        </p:nvSpPr>
        <p:spPr>
          <a:xfrm>
            <a:off x="8001000" y="2788920"/>
            <a:ext cx="169164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5" name="fade:w:14"/>
          <p:cNvSpPr/>
          <p:nvPr/>
        </p:nvSpPr>
        <p:spPr>
          <a:xfrm>
            <a:off x="8001000" y="3611880"/>
            <a:ext cx="169164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6" name="fade:w:15"/>
          <p:cNvSpPr/>
          <p:nvPr/>
        </p:nvSpPr>
        <p:spPr>
          <a:xfrm>
            <a:off x="6217920" y="2148840"/>
            <a:ext cx="1691640" cy="548640"/>
          </a:xfrm>
          <a:prstGeom prst="roundRect">
            <a:avLst>
              <a:gd name="adj" fmla="val 16667"/>
            </a:avLst>
          </a:prstGeom>
          <a:solidFill>
            <a:srgbClr val="0B2545"/>
          </a:solidFill>
          <a:ln/>
        </p:spPr>
        <p:txBody>
          <a:bodyPr wrap="square" lIns="76200" tIns="152400" rIns="152400" bIns="76200" rtlCol="0" anchor="ctr"/>
          <a:lstStyle/>
          <a:p>
            <a:pPr algn="ctr" indent="0" marL="0">
              <a:lnSpc>
                <a:spcPct val="105000"/>
              </a:lnSpc>
              <a:buNone/>
            </a:pPr>
            <a:r>
              <a:rPr lang="en-US" altLang="en-US" sz="2000" b="1" baseline="-40000" dirty="0">
                <a:solidFill>
                  <a:srgbClr val="FFFFFF"/>
                </a:solidFill>
                <a:latin typeface="Segoe UI" pitchFamily="34" charset="0"/>
                <a:ea typeface="Segoe UI" pitchFamily="34" charset="-122"/>
                <a:cs typeface="Segoe UI" pitchFamily="34" charset="-120"/>
              </a:rPr>
              <a:t>11</a:t>
            </a:r>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Na</a:t>
            </a:r>
            <a:endParaRPr lang="en-US" sz="2000" dirty="0"/>
          </a:p>
        </p:txBody>
      </p:sp>
      <p:sp>
        <p:nvSpPr>
          <p:cNvPr id="17" name="fade:w:16"/>
          <p:cNvSpPr/>
          <p:nvPr/>
        </p:nvSpPr>
        <p:spPr>
          <a:xfrm>
            <a:off x="6217920" y="2788920"/>
            <a:ext cx="169164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8" name="fade:w:17"/>
          <p:cNvSpPr/>
          <p:nvPr/>
        </p:nvSpPr>
        <p:spPr>
          <a:xfrm>
            <a:off x="6217920" y="3611880"/>
            <a:ext cx="169164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9" name="fade:w:18"/>
          <p:cNvSpPr/>
          <p:nvPr/>
        </p:nvSpPr>
        <p:spPr>
          <a:xfrm>
            <a:off x="4434840" y="2148840"/>
            <a:ext cx="1691640" cy="548640"/>
          </a:xfrm>
          <a:prstGeom prst="roundRect">
            <a:avLst>
              <a:gd name="adj" fmla="val 16667"/>
            </a:avLst>
          </a:prstGeom>
          <a:solidFill>
            <a:srgbClr val="0B2545"/>
          </a:solidFill>
          <a:ln/>
        </p:spPr>
        <p:txBody>
          <a:bodyPr wrap="square" lIns="76200" tIns="152400" rIns="152400" bIns="76200" rtlCol="0" anchor="ctr"/>
          <a:lstStyle/>
          <a:p>
            <a:pPr algn="ctr" indent="0" marL="0">
              <a:lnSpc>
                <a:spcPct val="105000"/>
              </a:lnSpc>
              <a:buNone/>
            </a:pPr>
            <a:r>
              <a:rPr lang="en-US" altLang="en-US" sz="2000" b="1" baseline="-40000" dirty="0">
                <a:solidFill>
                  <a:srgbClr val="FFFFFF"/>
                </a:solidFill>
                <a:latin typeface="Segoe UI" pitchFamily="34" charset="0"/>
                <a:ea typeface="Segoe UI" pitchFamily="34" charset="-122"/>
                <a:cs typeface="Segoe UI" pitchFamily="34" charset="-120"/>
              </a:rPr>
              <a:t>19</a:t>
            </a:r>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K</a:t>
            </a:r>
            <a:endParaRPr lang="en-US" sz="2000" dirty="0"/>
          </a:p>
        </p:txBody>
      </p:sp>
      <p:sp>
        <p:nvSpPr>
          <p:cNvPr id="20" name="fade:w:19"/>
          <p:cNvSpPr/>
          <p:nvPr/>
        </p:nvSpPr>
        <p:spPr>
          <a:xfrm>
            <a:off x="4434840" y="2788920"/>
            <a:ext cx="169164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21" name="fade:w:20"/>
          <p:cNvSpPr/>
          <p:nvPr/>
        </p:nvSpPr>
        <p:spPr>
          <a:xfrm>
            <a:off x="4434840" y="3611880"/>
            <a:ext cx="169164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22" name="float:c:21"/>
          <p:cNvSpPr/>
          <p:nvPr/>
        </p:nvSpPr>
        <p:spPr>
          <a:xfrm>
            <a:off x="8138160" y="2880360"/>
            <a:ext cx="1417320" cy="54864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23" name="float:w:22"/>
          <p:cNvSpPr/>
          <p:nvPr/>
        </p:nvSpPr>
        <p:spPr>
          <a:xfrm>
            <a:off x="6355080" y="2880360"/>
            <a:ext cx="1417320" cy="54864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24" name="float:w:23"/>
          <p:cNvSpPr/>
          <p:nvPr/>
        </p:nvSpPr>
        <p:spPr>
          <a:xfrm>
            <a:off x="4572000" y="2880360"/>
            <a:ext cx="1417320" cy="54864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25" name="float:c:24"/>
          <p:cNvSpPr/>
          <p:nvPr/>
        </p:nvSpPr>
        <p:spPr>
          <a:xfrm>
            <a:off x="8138160" y="3703320"/>
            <a:ext cx="1417320" cy="54864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152 pm</a:t>
            </a:r>
            <a:endParaRPr lang="en-US" sz="1800" dirty="0"/>
          </a:p>
        </p:txBody>
      </p:sp>
      <p:sp>
        <p:nvSpPr>
          <p:cNvPr id="26" name="float:w:25"/>
          <p:cNvSpPr/>
          <p:nvPr/>
        </p:nvSpPr>
        <p:spPr>
          <a:xfrm>
            <a:off x="6355080" y="3703320"/>
            <a:ext cx="1417320" cy="54864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186 pm</a:t>
            </a:r>
            <a:endParaRPr lang="en-US" sz="1800" dirty="0"/>
          </a:p>
        </p:txBody>
      </p:sp>
      <p:sp>
        <p:nvSpPr>
          <p:cNvPr id="27" name="float:w:26"/>
          <p:cNvSpPr/>
          <p:nvPr/>
        </p:nvSpPr>
        <p:spPr>
          <a:xfrm>
            <a:off x="4572000" y="3703320"/>
            <a:ext cx="1417320" cy="548640"/>
          </a:xfrm>
          <a:prstGeom prst="roundRect">
            <a:avLst>
              <a:gd name="adj" fmla="val 50000"/>
            </a:avLst>
          </a:prstGeom>
          <a:solidFill>
            <a:srgbClr val="059669"/>
          </a:solidFill>
          <a:ln/>
        </p:spPr>
        <p:txBody>
          <a:bodyPr wrap="square" lIns="76200" tIns="152400" rIns="152400" bIns="7620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227 pm</a:t>
            </a:r>
            <a:endParaRPr lang="en-US" sz="1800" dirty="0"/>
          </a:p>
        </p:txBody>
      </p:sp>
      <p:sp>
        <p:nvSpPr>
          <p:cNvPr id="28" name="float:a:27"/>
          <p:cNvSpPr/>
          <p:nvPr/>
        </p:nvSpPr>
        <p:spPr>
          <a:xfrm>
            <a:off x="4434840" y="4617720"/>
            <a:ext cx="7360920" cy="1143000"/>
          </a:xfrm>
          <a:prstGeom prst="roundRect">
            <a:avLst>
              <a:gd name="adj" fmla="val 112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ماذا تستنتج؟</a:t>
            </a:r>
            <a:endParaRPr lang="ar-SA" sz="1700" dirty="0"/>
          </a:p>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بزيادة عدد مستويات الطاقة الرئيسية في المجموعة ...................... نصف القطر الذري.</a:t>
            </a:r>
            <a:endParaRPr lang="ar-SA" sz="1700" dirty="0"/>
          </a:p>
        </p:txBody>
      </p:sp>
      <p:sp>
        <p:nvSpPr>
          <p:cNvPr id="29" name="float:c:28"/>
          <p:cNvSpPr/>
          <p:nvPr/>
        </p:nvSpPr>
        <p:spPr>
          <a:xfrm>
            <a:off x="4434840" y="5897880"/>
            <a:ext cx="2194560" cy="54864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يزداد</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7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7" fill="hold">
                            <p:stCondLst>
                              <p:cond delay="38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childTnLst>
                          </p:cTn>
                        </p:par>
                        <p:par>
                          <p:cTn id="26" fill="hold">
                            <p:stCondLst>
                              <p:cond delay="715"/>
                            </p:stCondLst>
                            <p:childTnLst>
                              <p:par>
                                <p:cTn id="22" presetID="53" presetClass="entr" presetSubtype="16"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ppt_w</p:attrName>
                                        </p:attrNameLst>
                                      </p:cBhvr>
                                      <p:tavLst>
                                        <p:tav tm="0">
                                          <p:val>
                                            <p:strVal val="0"/>
                                          </p:val>
                                        </p:tav>
                                        <p:tav tm="100000">
                                          <p:val>
                                            <p:strVal val="#ppt_w"/>
                                          </p:val>
                                        </p:tav>
                                      </p:tavLst>
                                    </p:anim>
                                    <p:anim calcmode="lin" valueType="num">
                                      <p:cBhvr additive="base">
                                        <p:cTn id="20" dur="500" fill="hold"/>
                                        <p:tgtEl>
                                          <p:spTgt spid="6"/>
                                        </p:tgtEl>
                                        <p:attrNameLst>
                                          <p:attrName>ppt_h</p:attrName>
                                        </p:attrNameLst>
                                      </p:cBhvr>
                                      <p:tavLst>
                                        <p:tav tm="0">
                                          <p:val>
                                            <p:strVal val="0"/>
                                          </p:val>
                                        </p:tav>
                                        <p:tav tm="100000">
                                          <p:val>
                                            <p:strVal val="#ppt_h"/>
                                          </p:val>
                                        </p:tav>
                                      </p:tavLst>
                                    </p:anim>
                                    <p:animEffect transition="in" filter="fade">
                                      <p:cBhvr>
                                        <p:cTn id="21" dur="500"/>
                                        <p:tgtEl>
                                          <p:spTgt spid="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childTnLst>
                                </p:cTn>
                              </p:par>
                            </p:childTnLst>
                          </p:cTn>
                        </p:par>
                        <p:par>
                          <p:cTn id="35" fill="hold">
                            <p:stCondLst>
                              <p:cond delay="1045"/>
                            </p:stCondLst>
                            <p:childTnLst>
                              <p:par>
                                <p:cTn id="31" presetID="53" presetClass="entr" presetSubtype="16"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ppt_w</p:attrName>
                                        </p:attrNameLst>
                                      </p:cBhvr>
                                      <p:tavLst>
                                        <p:tav tm="0">
                                          <p:val>
                                            <p:strVal val="0"/>
                                          </p:val>
                                        </p:tav>
                                        <p:tav tm="100000">
                                          <p:val>
                                            <p:strVal val="#ppt_w"/>
                                          </p:val>
                                        </p:tav>
                                      </p:tavLst>
                                    </p:anim>
                                    <p:anim calcmode="lin" valueType="num">
                                      <p:cBhvr additive="base">
                                        <p:cTn id="29" dur="500" fill="hold"/>
                                        <p:tgtEl>
                                          <p:spTgt spid="8"/>
                                        </p:tgtEl>
                                        <p:attrNameLst>
                                          <p:attrName>ppt_h</p:attrName>
                                        </p:attrNameLst>
                                      </p:cBhvr>
                                      <p:tavLst>
                                        <p:tav tm="0">
                                          <p:val>
                                            <p:strVal val="0"/>
                                          </p:val>
                                        </p:tav>
                                        <p:tav tm="100000">
                                          <p:val>
                                            <p:strVal val="#ppt_h"/>
                                          </p:val>
                                        </p:tav>
                                      </p:tavLst>
                                    </p:anim>
                                    <p:animEffect transition="in" filter="fade">
                                      <p:cBhvr>
                                        <p:cTn id="30" dur="500"/>
                                        <p:tgtEl>
                                          <p:spTgt spid="8"/>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00"/>
                                        <p:tgtEl>
                                          <p:spTgt spid="9"/>
                                        </p:tgtEl>
                                      </p:cBhvr>
                                    </p:animEffect>
                                  </p:childTnLst>
                                </p:cTn>
                              </p:par>
                            </p:childTnLst>
                          </p:cTn>
                        </p:par>
                        <p:par>
                          <p:cTn id="39" fill="hold">
                            <p:stCondLst>
                              <p:cond delay="1375"/>
                            </p:stCondLst>
                            <p:childTnLst>
                              <p:par>
                                <p:cTn id="38"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childTnLst>
                                </p:cTn>
                              </p:par>
                            </p:childTnLst>
                          </p:cTn>
                        </p:par>
                        <p:par>
                          <p:cTn id="43" fill="hold">
                            <p:stCondLst>
                              <p:cond delay="1705"/>
                            </p:stCondLst>
                            <p:childTnLst>
                              <p:par>
                                <p:cTn id="42" presetID="10" presetClass="entr" presetSubtype="0"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childTnLst>
                                </p:cTn>
                              </p:par>
                            </p:childTnLst>
                          </p:cTn>
                        </p:par>
                        <p:par>
                          <p:cTn id="74" fill="hold">
                            <p:stCondLst>
                              <p:cond delay="2035"/>
                            </p:stCondLst>
                            <p:childTnLst>
                              <p:par>
                                <p:cTn id="46" presetID="10" presetClass="entr" presetSubtype="0"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600"/>
                                        <p:tgtEl>
                                          <p:spTgt spid="12"/>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600"/>
                                        <p:tgtEl>
                                          <p:spTgt spid="15"/>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600"/>
                                        <p:tgtEl>
                                          <p:spTgt spid="17"/>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600"/>
                                        <p:tgtEl>
                                          <p:spTgt spid="18"/>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600"/>
                                        <p:tgtEl>
                                          <p:spTgt spid="20"/>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childTnLst>
                                </p:cTn>
                              </p:par>
                            </p:childTnLst>
                          </p:cTn>
                        </p:par>
                      </p:childTnLst>
                    </p:cTn>
                  </p:par>
                  <p:par>
                    <p:cTn id="92" fill="hold">
                      <p:stCondLst>
                        <p:cond delay="indefinite"/>
                      </p:stCondLst>
                      <p:childTnLst>
                        <p:par>
                          <p:cTn id="91" fill="hold">
                            <p:stCondLst>
                              <p:cond delay="0"/>
                            </p:stCondLst>
                            <p:childTnLst>
                              <p:par>
                                <p:cTn id="80" presetID="42"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700"/>
                                        <p:tgtEl>
                                          <p:spTgt spid="22"/>
                                        </p:tgtEl>
                                      </p:cBhvr>
                                    </p:animEffect>
                                    <p:anim calcmode="lin" valueType="num">
                                      <p:cBhvr additive="base">
                                        <p:cTn id="78" dur="700" fill="hold"/>
                                        <p:tgtEl>
                                          <p:spTgt spid="22"/>
                                        </p:tgtEl>
                                        <p:attrNameLst>
                                          <p:attrName>ppt_x</p:attrName>
                                        </p:attrNameLst>
                                      </p:cBhvr>
                                      <p:tavLst>
                                        <p:tav tm="0">
                                          <p:val>
                                            <p:strVal val="#ppt_x"/>
                                          </p:val>
                                        </p:tav>
                                        <p:tav tm="100000">
                                          <p:val>
                                            <p:strVal val="#ppt_x"/>
                                          </p:val>
                                        </p:tav>
                                      </p:tavLst>
                                    </p:anim>
                                    <p:anim calcmode="lin" valueType="num">
                                      <p:cBhvr additive="base">
                                        <p:cTn id="79" dur="700" fill="hold"/>
                                        <p:tgtEl>
                                          <p:spTgt spid="22"/>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700"/>
                                        <p:tgtEl>
                                          <p:spTgt spid="23"/>
                                        </p:tgtEl>
                                      </p:cBhvr>
                                    </p:animEffect>
                                    <p:anim calcmode="lin" valueType="num">
                                      <p:cBhvr additive="base">
                                        <p:cTn id="83" dur="700" fill="hold"/>
                                        <p:tgtEl>
                                          <p:spTgt spid="23"/>
                                        </p:tgtEl>
                                        <p:attrNameLst>
                                          <p:attrName>ppt_x</p:attrName>
                                        </p:attrNameLst>
                                      </p:cBhvr>
                                      <p:tavLst>
                                        <p:tav tm="0">
                                          <p:val>
                                            <p:strVal val="#ppt_x"/>
                                          </p:val>
                                        </p:tav>
                                        <p:tav tm="100000">
                                          <p:val>
                                            <p:strVal val="#ppt_x"/>
                                          </p:val>
                                        </p:tav>
                                      </p:tavLst>
                                    </p:anim>
                                    <p:anim calcmode="lin" valueType="num">
                                      <p:cBhvr additive="base">
                                        <p:cTn id="84" dur="700" fill="hold"/>
                                        <p:tgtEl>
                                          <p:spTgt spid="23"/>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700"/>
                                        <p:tgtEl>
                                          <p:spTgt spid="24"/>
                                        </p:tgtEl>
                                      </p:cBhvr>
                                    </p:animEffect>
                                    <p:anim calcmode="lin" valueType="num">
                                      <p:cBhvr additive="base">
                                        <p:cTn id="88" dur="700" fill="hold"/>
                                        <p:tgtEl>
                                          <p:spTgt spid="24"/>
                                        </p:tgtEl>
                                        <p:attrNameLst>
                                          <p:attrName>ppt_x</p:attrName>
                                        </p:attrNameLst>
                                      </p:cBhvr>
                                      <p:tavLst>
                                        <p:tav tm="0">
                                          <p:val>
                                            <p:strVal val="#ppt_x"/>
                                          </p:val>
                                        </p:tav>
                                        <p:tav tm="100000">
                                          <p:val>
                                            <p:strVal val="#ppt_x"/>
                                          </p:val>
                                        </p:tav>
                                      </p:tavLst>
                                    </p:anim>
                                    <p:anim calcmode="lin" valueType="num">
                                      <p:cBhvr additive="base">
                                        <p:cTn id="89" dur="7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08" fill="hold">
                            <p:stCondLst>
                              <p:cond delay="0"/>
                            </p:stCondLst>
                            <p:childTnLst>
                              <p:par>
                                <p:cTn id="97" presetID="42" presetClass="entr" presetSubtype="0" fill="hold" grpId="0"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700"/>
                                        <p:tgtEl>
                                          <p:spTgt spid="25"/>
                                        </p:tgtEl>
                                      </p:cBhvr>
                                    </p:animEffect>
                                    <p:anim calcmode="lin" valueType="num">
                                      <p:cBhvr additive="base">
                                        <p:cTn id="95" dur="700" fill="hold"/>
                                        <p:tgtEl>
                                          <p:spTgt spid="25"/>
                                        </p:tgtEl>
                                        <p:attrNameLst>
                                          <p:attrName>ppt_x</p:attrName>
                                        </p:attrNameLst>
                                      </p:cBhvr>
                                      <p:tavLst>
                                        <p:tav tm="0">
                                          <p:val>
                                            <p:strVal val="#ppt_x"/>
                                          </p:val>
                                        </p:tav>
                                        <p:tav tm="100000">
                                          <p:val>
                                            <p:strVal val="#ppt_x"/>
                                          </p:val>
                                        </p:tav>
                                      </p:tavLst>
                                    </p:anim>
                                    <p:anim calcmode="lin" valueType="num">
                                      <p:cBhvr additive="base">
                                        <p:cTn id="96" dur="700" fill="hold"/>
                                        <p:tgtEl>
                                          <p:spTgt spid="25"/>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700"/>
                                        <p:tgtEl>
                                          <p:spTgt spid="26"/>
                                        </p:tgtEl>
                                      </p:cBhvr>
                                    </p:animEffect>
                                    <p:anim calcmode="lin" valueType="num">
                                      <p:cBhvr additive="base">
                                        <p:cTn id="100" dur="700" fill="hold"/>
                                        <p:tgtEl>
                                          <p:spTgt spid="26"/>
                                        </p:tgtEl>
                                        <p:attrNameLst>
                                          <p:attrName>ppt_x</p:attrName>
                                        </p:attrNameLst>
                                      </p:cBhvr>
                                      <p:tavLst>
                                        <p:tav tm="0">
                                          <p:val>
                                            <p:strVal val="#ppt_x"/>
                                          </p:val>
                                        </p:tav>
                                        <p:tav tm="100000">
                                          <p:val>
                                            <p:strVal val="#ppt_x"/>
                                          </p:val>
                                        </p:tav>
                                      </p:tavLst>
                                    </p:anim>
                                    <p:anim calcmode="lin" valueType="num">
                                      <p:cBhvr additive="base">
                                        <p:cTn id="101" dur="700" fill="hold"/>
                                        <p:tgtEl>
                                          <p:spTgt spid="26"/>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700"/>
                                        <p:tgtEl>
                                          <p:spTgt spid="27"/>
                                        </p:tgtEl>
                                      </p:cBhvr>
                                    </p:animEffect>
                                    <p:anim calcmode="lin" valueType="num">
                                      <p:cBhvr additive="base">
                                        <p:cTn id="105" dur="700" fill="hold"/>
                                        <p:tgtEl>
                                          <p:spTgt spid="27"/>
                                        </p:tgtEl>
                                        <p:attrNameLst>
                                          <p:attrName>ppt_x</p:attrName>
                                        </p:attrNameLst>
                                      </p:cBhvr>
                                      <p:tavLst>
                                        <p:tav tm="0">
                                          <p:val>
                                            <p:strVal val="#ppt_x"/>
                                          </p:val>
                                        </p:tav>
                                        <p:tav tm="100000">
                                          <p:val>
                                            <p:strVal val="#ppt_x"/>
                                          </p:val>
                                        </p:tav>
                                      </p:tavLst>
                                    </p:anim>
                                    <p:anim calcmode="lin" valueType="num">
                                      <p:cBhvr additive="base">
                                        <p:cTn id="106" dur="700" fill="hold"/>
                                        <p:tgtEl>
                                          <p:spTgt spid="27"/>
                                        </p:tgtEl>
                                        <p:attrNameLst>
                                          <p:attrName>ppt_y</p:attrName>
                                        </p:attrNameLst>
                                      </p:cBhvr>
                                      <p:tavLst>
                                        <p:tav tm="0">
                                          <p:val>
                                            <p:strVal val="#ppt_y+.1"/>
                                          </p:val>
                                        </p:tav>
                                        <p:tav tm="100000">
                                          <p:val>
                                            <p:strVal val="#ppt_y"/>
                                          </p:val>
                                        </p:tav>
                                      </p:tavLst>
                                    </p:anim>
                                  </p:childTnLst>
                                </p:cTn>
                              </p:par>
                            </p:childTnLst>
                          </p:cTn>
                        </p:par>
                        <p:par>
                          <p:cTn id="114" fill="hold">
                            <p:stCondLst>
                              <p:cond delay="385"/>
                            </p:stCondLst>
                            <p:childTnLst>
                              <p:par>
                                <p:cTn id="113" presetID="42" presetClass="entr" presetSubtype="0" fill="hold" grpId="0"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additive="base">
                                        <p:cTn id="111" dur="700" fill="hold"/>
                                        <p:tgtEl>
                                          <p:spTgt spid="28"/>
                                        </p:tgtEl>
                                        <p:attrNameLst>
                                          <p:attrName>ppt_x</p:attrName>
                                        </p:attrNameLst>
                                      </p:cBhvr>
                                      <p:tavLst>
                                        <p:tav tm="0">
                                          <p:val>
                                            <p:strVal val="#ppt_x"/>
                                          </p:val>
                                        </p:tav>
                                        <p:tav tm="100000">
                                          <p:val>
                                            <p:strVal val="#ppt_x"/>
                                          </p:val>
                                        </p:tav>
                                      </p:tavLst>
                                    </p:anim>
                                    <p:anim calcmode="lin" valueType="num">
                                      <p:cBhvr additive="base">
                                        <p:cTn id="112" dur="7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1" fill="hold">
                            <p:stCondLst>
                              <p:cond delay="0"/>
                            </p:stCondLst>
                            <p:childTnLst>
                              <p:par>
                                <p:cTn id="120" presetID="42" presetClass="entr" presetSubtype="0" fill="hold" grpId="0" nodeType="clickEffect">
                                  <p:stCondLst>
                                    <p:cond delay="0"/>
                                  </p:stCondLst>
                                  <p:childTnLst>
                                    <p:set>
                                      <p:cBhvr>
                                        <p:cTn id="116" dur="1" fill="hold">
                                          <p:stCondLst>
                                            <p:cond delay="0"/>
                                          </p:stCondLst>
                                        </p:cTn>
                                        <p:tgtEl>
                                          <p:spTgt spid="29"/>
                                        </p:tgtEl>
                                        <p:attrNameLst>
                                          <p:attrName>style.visibility</p:attrName>
                                        </p:attrNameLst>
                                      </p:cBhvr>
                                      <p:to>
                                        <p:strVal val="visible"/>
                                      </p:to>
                                    </p:set>
                                    <p:animEffect transition="in" filter="fade">
                                      <p:cBhvr>
                                        <p:cTn id="117" dur="700"/>
                                        <p:tgtEl>
                                          <p:spTgt spid="29"/>
                                        </p:tgtEl>
                                      </p:cBhvr>
                                    </p:animEffect>
                                    <p:anim calcmode="lin" valueType="num">
                                      <p:cBhvr additive="base">
                                        <p:cTn id="118" dur="700" fill="hold"/>
                                        <p:tgtEl>
                                          <p:spTgt spid="29"/>
                                        </p:tgtEl>
                                        <p:attrNameLst>
                                          <p:attrName>ppt_x</p:attrName>
                                        </p:attrNameLst>
                                      </p:cBhvr>
                                      <p:tavLst>
                                        <p:tav tm="0">
                                          <p:val>
                                            <p:strVal val="#ppt_x"/>
                                          </p:val>
                                        </p:tav>
                                        <p:tav tm="100000">
                                          <p:val>
                                            <p:strVal val="#ppt_x"/>
                                          </p:val>
                                        </p:tav>
                                      </p:tavLst>
                                    </p:anim>
                                    <p:anim calcmode="lin" valueType="num">
                                      <p:cBhvr additive="base">
                                        <p:cTn id="119" dur="7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التدرج خلال المجموعة: لماذا يزداد الحجم؟</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بصورة عامة وبفرض عدم وجود استثناءات، كلما انتقلنا عبر المجموعة تدريجيًّا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من أعلى إلى أسفل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331720"/>
            <a:ext cx="6766560" cy="749808"/>
          </a:xfrm>
          <a:prstGeom prst="roundRect">
            <a:avLst>
              <a:gd name="adj" fmla="val 17073"/>
            </a:avLst>
          </a:prstGeom>
          <a:solidFill>
            <a:srgbClr val="FFFFFF">
              <a:alpha val="94000"/>
            </a:srgbClr>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يزداد عدد مستويات الطاقة الرئيسية</a:t>
            </a:r>
            <a:endParaRPr lang="ar-SA" sz="1700" dirty="0"/>
          </a:p>
        </p:txBody>
      </p:sp>
      <p:sp>
        <p:nvSpPr>
          <p:cNvPr id="5" name="zoom:w:4"/>
          <p:cNvSpPr/>
          <p:nvPr/>
        </p:nvSpPr>
        <p:spPr>
          <a:xfrm>
            <a:off x="11082528" y="2423160"/>
            <a:ext cx="566928" cy="566928"/>
          </a:xfrm>
          <a:prstGeom prst="ellipse">
            <a:avLst/>
          </a:prstGeom>
          <a:solidFill>
            <a:srgbClr val="EA580C"/>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264408"/>
            <a:ext cx="6766560" cy="749808"/>
          </a:xfrm>
          <a:prstGeom prst="roundRect">
            <a:avLst>
              <a:gd name="adj" fmla="val 17073"/>
            </a:avLst>
          </a:prstGeom>
          <a:solidFill>
            <a:srgbClr val="FFFFFF">
              <a:alpha val="94000"/>
            </a:srgbClr>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فيزداد تأثير حجب النواة لإلكترونات المستوى الخارجي</a:t>
            </a:r>
            <a:endParaRPr lang="ar-SA" sz="1700" dirty="0"/>
          </a:p>
        </p:txBody>
      </p:sp>
      <p:sp>
        <p:nvSpPr>
          <p:cNvPr id="7" name="zoom:w:6"/>
          <p:cNvSpPr/>
          <p:nvPr/>
        </p:nvSpPr>
        <p:spPr>
          <a:xfrm>
            <a:off x="11082528" y="3355848"/>
            <a:ext cx="566928" cy="566928"/>
          </a:xfrm>
          <a:prstGeom prst="ellipse">
            <a:avLst/>
          </a:prstGeom>
          <a:solidFill>
            <a:srgbClr val="EA580C"/>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197096"/>
            <a:ext cx="6766560" cy="749808"/>
          </a:xfrm>
          <a:prstGeom prst="roundRect">
            <a:avLst>
              <a:gd name="adj" fmla="val 17073"/>
            </a:avLst>
          </a:prstGeom>
          <a:solidFill>
            <a:srgbClr val="FFFFFF">
              <a:alpha val="94000"/>
            </a:srgbClr>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وتقل قوة جذب النواة لهذه الإلكترونات</a:t>
            </a:r>
            <a:endParaRPr lang="ar-SA" sz="1700" dirty="0"/>
          </a:p>
        </p:txBody>
      </p:sp>
      <p:sp>
        <p:nvSpPr>
          <p:cNvPr id="9" name="zoom:w:8"/>
          <p:cNvSpPr/>
          <p:nvPr/>
        </p:nvSpPr>
        <p:spPr>
          <a:xfrm>
            <a:off x="11082528" y="4288536"/>
            <a:ext cx="566928" cy="566928"/>
          </a:xfrm>
          <a:prstGeom prst="ellipse">
            <a:avLst/>
          </a:prstGeom>
          <a:solidFill>
            <a:srgbClr val="EA580C"/>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0" name="wipe:c:9"/>
          <p:cNvSpPr/>
          <p:nvPr/>
        </p:nvSpPr>
        <p:spPr>
          <a:xfrm>
            <a:off x="4754880" y="5129784"/>
            <a:ext cx="6766560" cy="749808"/>
          </a:xfrm>
          <a:prstGeom prst="roundRect">
            <a:avLst>
              <a:gd name="adj" fmla="val 17073"/>
            </a:avLst>
          </a:prstGeom>
          <a:solidFill>
            <a:srgbClr val="EA580C"/>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لذلك يزداد نصف القطر الذري</a:t>
            </a:r>
            <a:endParaRPr lang="ar-SA" sz="1700" dirty="0"/>
          </a:p>
        </p:txBody>
      </p:sp>
      <p:sp>
        <p:nvSpPr>
          <p:cNvPr id="11" name="zoom:w:10"/>
          <p:cNvSpPr/>
          <p:nvPr/>
        </p:nvSpPr>
        <p:spPr>
          <a:xfrm>
            <a:off x="11082528" y="5221224"/>
            <a:ext cx="566928" cy="566928"/>
          </a:xfrm>
          <a:prstGeom prst="ellipse">
            <a:avLst/>
          </a:prstGeom>
          <a:solidFill>
            <a:srgbClr val="FFFFFF"/>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EA580C"/>
                </a:solidFill>
                <a:latin typeface="Segoe UI" pitchFamily="34" charset="0"/>
                <a:ea typeface="Segoe UI" pitchFamily="34" charset="-122"/>
                <a:cs typeface="Segoe UI" pitchFamily="34" charset="-120"/>
              </a:rPr>
              <a:t>4</a:t>
            </a:r>
            <a:endParaRPr lang="en-US" sz="1800" dirty="0"/>
          </a:p>
        </p:txBody>
      </p:sp>
      <p:pic>
        <p:nvPicPr>
          <p:cNvPr id="12" name="zoom:a:11" descr="h_shield.png">    </p:cNvPr>
          <p:cNvPicPr>
            <a:picLocks noChangeAspect="1"/>
          </p:cNvPicPr>
          <p:nvPr/>
        </p:nvPicPr>
        <p:blipFill>
          <a:blip r:embed="rId1"/>
          <a:stretch>
            <a:fillRect/>
          </a:stretch>
        </p:blipFill>
        <p:spPr>
          <a:xfrm>
            <a:off x="728759" y="2331720"/>
            <a:ext cx="3480242" cy="2377440"/>
          </a:xfrm>
          <a:prstGeom prst="rect">
            <a:avLst/>
          </a:prstGeom>
        </p:spPr>
      </p:pic>
      <p:sp>
        <p:nvSpPr>
          <p:cNvPr id="13" name="float:a:12"/>
          <p:cNvSpPr/>
          <p:nvPr/>
        </p:nvSpPr>
        <p:spPr>
          <a:xfrm>
            <a:off x="411480" y="4846320"/>
            <a:ext cx="4114800" cy="1600200"/>
          </a:xfrm>
          <a:prstGeom prst="roundRect">
            <a:avLst>
              <a:gd name="adj" fmla="val 8000"/>
            </a:avLst>
          </a:prstGeom>
          <a:solidFill>
            <a:srgbClr val="FFFFFF">
              <a:alpha val="90000"/>
            </a:srgbClr>
          </a:solidFill>
          <a:ln w="15875">
            <a:solidFill>
              <a:srgbClr val="7C3AED"/>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b="1" dirty="0">
                <a:solidFill>
                  <a:srgbClr val="7C3AED"/>
                </a:solidFill>
                <a:latin typeface="Segoe UI" pitchFamily="34" charset="0"/>
                <a:ea typeface="Segoe UI" pitchFamily="34" charset="-122"/>
                <a:cs typeface="Segoe UI" pitchFamily="34" charset="-120"/>
              </a:rPr>
              <a:t>الحجب: </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انخفاض تأثير شحنة النواة على الإلكترونات الخارجية نتيجة وجود إلكترونات داخلية تحدّ من قوة جذب النواة. شكل (20)</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39"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childTnLst>
                    </p:cTn>
                  </p:par>
                  <p:par>
                    <p:cTn id="61" fill="hold">
                      <p:stCondLst>
                        <p:cond delay="indefinite"/>
                      </p:stCondLst>
                      <p:childTnLst>
                        <p:par>
                          <p:cTn id="48"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600"/>
                                        <p:tgtEl>
                                          <p:spTgt spid="10"/>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ppt_w</p:attrName>
                                        </p:attrNameLst>
                                      </p:cBhvr>
                                      <p:tavLst>
                                        <p:tav tm="0">
                                          <p:val>
                                            <p:strVal val="0"/>
                                          </p:val>
                                        </p:tav>
                                        <p:tav tm="100000">
                                          <p:val>
                                            <p:strVal val="#ppt_w"/>
                                          </p:val>
                                        </p:tav>
                                      </p:tavLst>
                                    </p:anim>
                                    <p:anim calcmode="lin" valueType="num">
                                      <p:cBhvr additive="base">
                                        <p:cTn id="45" dur="500" fill="hold"/>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par>
                          <p:cTn id="54" fill="hold">
                            <p:stCondLst>
                              <p:cond delay="330"/>
                            </p:stCondLst>
                            <p:childTnLst>
                              <p:par>
                                <p:cTn id="53" presetID="53" presetClass="entr" presetSubtype="16"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strVal val="0"/>
                                          </p:val>
                                        </p:tav>
                                        <p:tav tm="100000">
                                          <p:val>
                                            <p:strVal val="#ppt_w"/>
                                          </p:val>
                                        </p:tav>
                                      </p:tavLst>
                                    </p:anim>
                                    <p:anim calcmode="lin" valueType="num">
                                      <p:cBhvr additive="base">
                                        <p:cTn id="51" dur="500" fill="hold"/>
                                        <p:tgtEl>
                                          <p:spTgt spid="12"/>
                                        </p:tgtEl>
                                        <p:attrNameLst>
                                          <p:attrName>ppt_h</p:attrName>
                                        </p:attrNameLst>
                                      </p:cBhvr>
                                      <p:tavLst>
                                        <p:tav tm="0">
                                          <p:val>
                                            <p:strVal val="0"/>
                                          </p:val>
                                        </p:tav>
                                        <p:tav tm="100000">
                                          <p:val>
                                            <p:strVal val="#ppt_h"/>
                                          </p:val>
                                        </p:tav>
                                      </p:tavLst>
                                    </p:anim>
                                    <p:animEffect transition="in" filter="fade">
                                      <p:cBhvr>
                                        <p:cTn id="52" dur="500"/>
                                        <p:tgtEl>
                                          <p:spTgt spid="12"/>
                                        </p:tgtEl>
                                      </p:cBhvr>
                                    </p:animEffect>
                                  </p:childTnLst>
                                </p:cTn>
                              </p:par>
                            </p:childTnLst>
                          </p:cTn>
                        </p:par>
                        <p:par>
                          <p:cTn id="60" fill="hold">
                            <p:stCondLst>
                              <p:cond delay="605"/>
                            </p:stCondLst>
                            <p:childTnLst>
                              <p:par>
                                <p:cTn id="59" presetID="42" presetClass="entr" presetSubtype="0" fill="hold" grpId="0" nodeType="after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700"/>
                                        <p:tgtEl>
                                          <p:spTgt spid="13"/>
                                        </p:tgtEl>
                                      </p:cBhvr>
                                    </p:animEffect>
                                    <p:anim calcmode="lin" valueType="num">
                                      <p:cBhvr additive="base">
                                        <p:cTn id="57" dur="700" fill="hold"/>
                                        <p:tgtEl>
                                          <p:spTgt spid="13"/>
                                        </p:tgtEl>
                                        <p:attrNameLst>
                                          <p:attrName>ppt_x</p:attrName>
                                        </p:attrNameLst>
                                      </p:cBhvr>
                                      <p:tavLst>
                                        <p:tav tm="0">
                                          <p:val>
                                            <p:strVal val="#ppt_x"/>
                                          </p:val>
                                        </p:tav>
                                        <p:tav tm="100000">
                                          <p:val>
                                            <p:strVal val="#ppt_x"/>
                                          </p:val>
                                        </p:tav>
                                      </p:tavLst>
                                    </p:anim>
                                    <p:anim calcmode="lin" valueType="num">
                                      <p:cBhvr additive="base">
                                        <p:cTn id="58" dur="7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(3)</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المطلوب الإجابة عن الأسئلة التالية: (بفرض عدم وجود استثناءات)</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EA580C"/>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EA580C"/>
                </a:solidFill>
                <a:latin typeface="Segoe UI" pitchFamily="34" charset="0"/>
                <a:ea typeface="Segoe UI" pitchFamily="34" charset="-122"/>
                <a:cs typeface="Segoe UI" pitchFamily="34" charset="-120"/>
              </a:rPr>
              <a:t>5</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EA580C"/>
                </a:solidFill>
                <a:latin typeface="Segoe UI" pitchFamily="34" charset="0"/>
                <a:ea typeface="Segoe UI" pitchFamily="34" charset="-122"/>
                <a:cs typeface="Segoe UI" pitchFamily="34" charset="-120"/>
              </a:rPr>
              <a:t>13</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EA580C"/>
                </a:solidFill>
                <a:latin typeface="Segoe UI" pitchFamily="34" charset="0"/>
                <a:ea typeface="Segoe UI" pitchFamily="34" charset="-122"/>
                <a:cs typeface="Segoe UI" pitchFamily="34" charset="-120"/>
              </a:rPr>
              <a:t>31</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658368"/>
          </a:xfrm>
          <a:prstGeom prst="roundRect">
            <a:avLst>
              <a:gd name="adj" fmla="val 19444"/>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أكبر نصف قطر ذري (X – Z)</a:t>
            </a:r>
            <a:endParaRPr lang="ar-SA" sz="1700" dirty="0"/>
          </a:p>
        </p:txBody>
      </p:sp>
      <p:sp>
        <p:nvSpPr>
          <p:cNvPr id="6" name="fade:a:5"/>
          <p:cNvSpPr/>
          <p:nvPr/>
        </p:nvSpPr>
        <p:spPr>
          <a:xfrm>
            <a:off x="411480" y="2331720"/>
            <a:ext cx="2606040" cy="658368"/>
          </a:xfrm>
          <a:prstGeom prst="roundRect">
            <a:avLst>
              <a:gd name="adj" fmla="val 50000"/>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65836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Z</a:t>
            </a:r>
            <a:endParaRPr lang="ar-SA" sz="2000" dirty="0"/>
          </a:p>
        </p:txBody>
      </p:sp>
      <p:sp>
        <p:nvSpPr>
          <p:cNvPr id="8" name="zoom:a:7"/>
          <p:cNvSpPr/>
          <p:nvPr/>
        </p:nvSpPr>
        <p:spPr>
          <a:xfrm>
            <a:off x="10378440" y="3154680"/>
            <a:ext cx="1417320" cy="1188720"/>
          </a:xfrm>
          <a:prstGeom prst="roundRect">
            <a:avLst>
              <a:gd name="adj" fmla="val 10769"/>
            </a:avLst>
          </a:prstGeom>
          <a:solidFill>
            <a:srgbClr val="EA580C"/>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9" name="fade:a:8"/>
          <p:cNvSpPr/>
          <p:nvPr/>
        </p:nvSpPr>
        <p:spPr>
          <a:xfrm>
            <a:off x="411480" y="3154680"/>
            <a:ext cx="9784080" cy="1188720"/>
          </a:xfrm>
          <a:prstGeom prst="roundRect">
            <a:avLst>
              <a:gd name="adj" fmla="val 10769"/>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0" name="wipe:c:9"/>
          <p:cNvSpPr/>
          <p:nvPr/>
        </p:nvSpPr>
        <p:spPr>
          <a:xfrm>
            <a:off x="411480" y="3154680"/>
            <a:ext cx="9784080" cy="1188720"/>
          </a:xfrm>
          <a:prstGeom prst="roundRect">
            <a:avLst>
              <a:gd name="adj" fmla="val 10769"/>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Z يقع أسفل X في المجموعة نفسها، فيزداد عدد مستويات الطاقة الرئيسية ويزداد تأثير الحجب وتقل قوة جذب النواة لإلكترونات المستوى الخارجي.</a:t>
            </a:r>
            <a:endParaRPr lang="ar-SA" sz="1600" dirty="0"/>
          </a:p>
        </p:txBody>
      </p:sp>
      <p:sp>
        <p:nvSpPr>
          <p:cNvPr id="11" name="float:a:10"/>
          <p:cNvSpPr/>
          <p:nvPr/>
        </p:nvSpPr>
        <p:spPr>
          <a:xfrm>
            <a:off x="3246120" y="4507992"/>
            <a:ext cx="8549640" cy="658368"/>
          </a:xfrm>
          <a:prstGeom prst="roundRect">
            <a:avLst>
              <a:gd name="adj" fmla="val 19444"/>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أصغر نصف قطر ذري (X – A)</a:t>
            </a:r>
            <a:endParaRPr lang="ar-SA" sz="1700" dirty="0"/>
          </a:p>
        </p:txBody>
      </p:sp>
      <p:sp>
        <p:nvSpPr>
          <p:cNvPr id="12" name="fade:a:11"/>
          <p:cNvSpPr/>
          <p:nvPr/>
        </p:nvSpPr>
        <p:spPr>
          <a:xfrm>
            <a:off x="411480" y="4507992"/>
            <a:ext cx="2606040" cy="658368"/>
          </a:xfrm>
          <a:prstGeom prst="roundRect">
            <a:avLst>
              <a:gd name="adj" fmla="val 50000"/>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3" name="zoom:c:12"/>
          <p:cNvSpPr/>
          <p:nvPr/>
        </p:nvSpPr>
        <p:spPr>
          <a:xfrm>
            <a:off x="411480" y="4507992"/>
            <a:ext cx="2606040" cy="65836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53" presetClass="entr" presetSubtype="16"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par>
                          <p:cTn id="41" fill="hold">
                            <p:stCondLst>
                              <p:cond delay="55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7" fill="hold">
                      <p:stCondLst>
                        <p:cond delay="indefinite"/>
                      </p:stCondLst>
                      <p:childTnLst>
                        <p:par>
                          <p:cTn id="46" fill="hold">
                            <p:stCondLst>
                              <p:cond delay="0"/>
                            </p:stCondLst>
                            <p:childTnLst>
                              <p:par>
                                <p:cTn id="45" presetID="22" presetClass="entr" presetSubtype="2"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right)">
                                      <p:cBhvr>
                                        <p:cTn id="44" dur="600"/>
                                        <p:tgtEl>
                                          <p:spTgt spid="10"/>
                                        </p:tgtEl>
                                      </p:cBhvr>
                                    </p:animEffect>
                                  </p:childTnLst>
                                </p:cTn>
                              </p:par>
                            </p:childTnLst>
                          </p:cTn>
                        </p:par>
                        <p:par>
                          <p:cTn id="52" fill="hold">
                            <p:stCondLst>
                              <p:cond delay="330"/>
                            </p:stCondLst>
                            <p:childTnLst>
                              <p:par>
                                <p:cTn id="51" presetID="42"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700"/>
                                        <p:tgtEl>
                                          <p:spTgt spid="11"/>
                                        </p:tgtEl>
                                      </p:cBhvr>
                                    </p:animEffect>
                                    <p:anim calcmode="lin" valueType="num">
                                      <p:cBhvr additive="base">
                                        <p:cTn id="49" dur="700" fill="hold"/>
                                        <p:tgtEl>
                                          <p:spTgt spid="11"/>
                                        </p:tgtEl>
                                        <p:attrNameLst>
                                          <p:attrName>ppt_x</p:attrName>
                                        </p:attrNameLst>
                                      </p:cBhvr>
                                      <p:tavLst>
                                        <p:tav tm="0">
                                          <p:val>
                                            <p:strVal val="#ppt_x"/>
                                          </p:val>
                                        </p:tav>
                                        <p:tav tm="100000">
                                          <p:val>
                                            <p:strVal val="#ppt_x"/>
                                          </p:val>
                                        </p:tav>
                                      </p:tavLst>
                                    </p:anim>
                                    <p:anim calcmode="lin" valueType="num">
                                      <p:cBhvr additive="base">
                                        <p:cTn id="50" dur="700" fill="hold"/>
                                        <p:tgtEl>
                                          <p:spTgt spid="11"/>
                                        </p:tgtEl>
                                        <p:attrNameLst>
                                          <p:attrName>ppt_y</p:attrName>
                                        </p:attrNameLst>
                                      </p:cBhvr>
                                      <p:tavLst>
                                        <p:tav tm="0">
                                          <p:val>
                                            <p:strVal val="#ppt_y+.1"/>
                                          </p:val>
                                        </p:tav>
                                        <p:tav tm="100000">
                                          <p:val>
                                            <p:strVal val="#ppt_y"/>
                                          </p:val>
                                        </p:tav>
                                      </p:tavLst>
                                    </p:anim>
                                  </p:childTnLst>
                                </p:cTn>
                              </p:par>
                            </p:childTnLst>
                          </p:cTn>
                        </p:par>
                        <p:par>
                          <p:cTn id="56" fill="hold">
                            <p:stCondLst>
                              <p:cond delay="715"/>
                            </p:stCondLst>
                            <p:childTnLst>
                              <p:par>
                                <p:cTn id="55" presetID="10"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600"/>
                                        <p:tgtEl>
                                          <p:spTgt spid="12"/>
                                        </p:tgtEl>
                                      </p:cBhvr>
                                    </p:animEffect>
                                  </p:childTnLst>
                                </p:cTn>
                              </p:par>
                            </p:childTnLst>
                          </p:cTn>
                        </p:par>
                      </p:childTnLst>
                    </p:cTn>
                  </p:par>
                  <p:par>
                    <p:cTn id="64" fill="hold">
                      <p:stCondLst>
                        <p:cond delay="indefinite"/>
                      </p:stCondLst>
                      <p:childTnLst>
                        <p:par>
                          <p:cTn id="63" fill="hold">
                            <p:stCondLst>
                              <p:cond delay="0"/>
                            </p:stCondLst>
                            <p:childTnLst>
                              <p:par>
                                <p:cTn id="62" presetID="53" presetClass="entr" presetSubtype="16"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ppt_w</p:attrName>
                                        </p:attrNameLst>
                                      </p:cBhvr>
                                      <p:tavLst>
                                        <p:tav tm="0">
                                          <p:val>
                                            <p:strVal val="0"/>
                                          </p:val>
                                        </p:tav>
                                        <p:tav tm="100000">
                                          <p:val>
                                            <p:strVal val="#ppt_w"/>
                                          </p:val>
                                        </p:tav>
                                      </p:tavLst>
                                    </p:anim>
                                    <p:anim calcmode="lin" valueType="num">
                                      <p:cBhvr additive="base">
                                        <p:cTn id="60" dur="500" fill="hold"/>
                                        <p:tgtEl>
                                          <p:spTgt spid="13"/>
                                        </p:tgtEl>
                                        <p:attrNameLst>
                                          <p:attrName>ppt_h</p:attrName>
                                        </p:attrNameLst>
                                      </p:cBhvr>
                                      <p:tavLst>
                                        <p:tav tm="0">
                                          <p:val>
                                            <p:strVal val="0"/>
                                          </p:val>
                                        </p:tav>
                                        <p:tav tm="100000">
                                          <p:val>
                                            <p:strVal val="#ppt_h"/>
                                          </p:val>
                                        </p:tav>
                                      </p:tavLst>
                                    </p:anim>
                                    <p:animEffect transition="in" filter="fade">
                                      <p:cBhvr>
                                        <p:cTn id="6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التدرج خلال الدورة — تمرين (4)</a:t>
            </a:r>
            <a:endParaRPr lang="en-US" sz="2800" dirty="0"/>
          </a:p>
        </p:txBody>
      </p:sp>
      <p:sp>
        <p:nvSpPr>
          <p:cNvPr id="3" name="float:a:2"/>
          <p:cNvSpPr/>
          <p:nvPr/>
        </p:nvSpPr>
        <p:spPr>
          <a:xfrm>
            <a:off x="4937760" y="1280160"/>
            <a:ext cx="685800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أمامك جدول لعناصر الدورة الثانية، أكمل الجدول التالي:</a:t>
            </a:r>
            <a:endParaRPr lang="ar-SA" sz="1700" dirty="0"/>
          </a:p>
        </p:txBody>
      </p:sp>
      <p:sp>
        <p:nvSpPr>
          <p:cNvPr id="4" name="fade:a:3"/>
          <p:cNvSpPr/>
          <p:nvPr/>
        </p:nvSpPr>
        <p:spPr>
          <a:xfrm>
            <a:off x="8714232" y="2011680"/>
            <a:ext cx="3108960" cy="502920"/>
          </a:xfrm>
          <a:prstGeom prst="roundRect">
            <a:avLst>
              <a:gd name="adj" fmla="val 18182"/>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وجه المقارنة</a:t>
            </a:r>
            <a:endParaRPr lang="ar-SA" sz="1400" dirty="0"/>
          </a:p>
        </p:txBody>
      </p:sp>
      <p:sp>
        <p:nvSpPr>
          <p:cNvPr id="5" name="fade:w:4"/>
          <p:cNvSpPr/>
          <p:nvPr/>
        </p:nvSpPr>
        <p:spPr>
          <a:xfrm>
            <a:off x="8714232" y="2606040"/>
            <a:ext cx="3108960" cy="731520"/>
          </a:xfrm>
          <a:prstGeom prst="roundRect">
            <a:avLst>
              <a:gd name="adj" fmla="val 12500"/>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الترتيب الإلكتروني حسب مستويات الطاقة الرئيسية</a:t>
            </a:r>
            <a:endParaRPr lang="ar-SA" sz="1400" dirty="0"/>
          </a:p>
        </p:txBody>
      </p:sp>
      <p:sp>
        <p:nvSpPr>
          <p:cNvPr id="6" name="fade:w:5"/>
          <p:cNvSpPr/>
          <p:nvPr/>
        </p:nvSpPr>
        <p:spPr>
          <a:xfrm>
            <a:off x="8714232" y="3429000"/>
            <a:ext cx="3108960" cy="548640"/>
          </a:xfrm>
          <a:prstGeom prst="roundRect">
            <a:avLst>
              <a:gd name="adj" fmla="val 16667"/>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عدد مستويات الطاقة الرئيسية</a:t>
            </a:r>
            <a:endParaRPr lang="ar-SA" sz="1400" dirty="0"/>
          </a:p>
        </p:txBody>
      </p:sp>
      <p:sp>
        <p:nvSpPr>
          <p:cNvPr id="7" name="fade:w:6"/>
          <p:cNvSpPr/>
          <p:nvPr/>
        </p:nvSpPr>
        <p:spPr>
          <a:xfrm>
            <a:off x="8714232" y="4069080"/>
            <a:ext cx="3108960" cy="548640"/>
          </a:xfrm>
          <a:prstGeom prst="roundRect">
            <a:avLst>
              <a:gd name="adj" fmla="val 16667"/>
            </a:avLst>
          </a:prstGeom>
          <a:solidFill>
            <a:srgbClr val="EA580C"/>
          </a:solidFill>
          <a:ln/>
        </p:spPr>
        <p:txBody>
          <a:bodyPr wrap="square" lIns="25400" tIns="25400" rIns="25400" bIns="2540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شحنة النواة</a:t>
            </a:r>
            <a:endParaRPr lang="ar-SA" sz="1400" dirty="0"/>
          </a:p>
        </p:txBody>
      </p:sp>
      <p:sp>
        <p:nvSpPr>
          <p:cNvPr id="8" name="zoom:w:7"/>
          <p:cNvSpPr/>
          <p:nvPr/>
        </p:nvSpPr>
        <p:spPr>
          <a:xfrm>
            <a:off x="7607808"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Li</a:t>
            </a:r>
            <a:endParaRPr lang="en-US" sz="2000" dirty="0"/>
          </a:p>
        </p:txBody>
      </p:sp>
      <p:sp>
        <p:nvSpPr>
          <p:cNvPr id="9" name="fade:w:8"/>
          <p:cNvSpPr/>
          <p:nvPr/>
        </p:nvSpPr>
        <p:spPr>
          <a:xfrm>
            <a:off x="7607808"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1800" b="1" dirty="0">
                <a:solidFill>
                  <a:srgbClr val="0B2545"/>
                </a:solidFill>
                <a:latin typeface="Segoe UI" pitchFamily="34" charset="0"/>
                <a:ea typeface="Segoe UI" pitchFamily="34" charset="-122"/>
                <a:cs typeface="Segoe UI" pitchFamily="34" charset="-120"/>
              </a:rPr>
              <a:t>2,1</a:t>
            </a:r>
            <a:endParaRPr lang="en-US" sz="1800" dirty="0"/>
          </a:p>
        </p:txBody>
      </p:sp>
      <p:sp>
        <p:nvSpPr>
          <p:cNvPr id="10" name="fade:w:9"/>
          <p:cNvSpPr/>
          <p:nvPr/>
        </p:nvSpPr>
        <p:spPr>
          <a:xfrm>
            <a:off x="7607808"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11" name="fade:w:10"/>
          <p:cNvSpPr/>
          <p:nvPr/>
        </p:nvSpPr>
        <p:spPr>
          <a:xfrm>
            <a:off x="7607808"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12" name="zoom:w:11"/>
          <p:cNvSpPr/>
          <p:nvPr/>
        </p:nvSpPr>
        <p:spPr>
          <a:xfrm>
            <a:off x="6574536"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Be</a:t>
            </a:r>
            <a:endParaRPr lang="en-US" sz="2000" dirty="0"/>
          </a:p>
        </p:txBody>
      </p:sp>
      <p:sp>
        <p:nvSpPr>
          <p:cNvPr id="13" name="fade:w:12"/>
          <p:cNvSpPr/>
          <p:nvPr/>
        </p:nvSpPr>
        <p:spPr>
          <a:xfrm>
            <a:off x="6574536"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14" name="fade:w:13"/>
          <p:cNvSpPr/>
          <p:nvPr/>
        </p:nvSpPr>
        <p:spPr>
          <a:xfrm>
            <a:off x="6574536"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15" name="fade:w:14"/>
          <p:cNvSpPr/>
          <p:nvPr/>
        </p:nvSpPr>
        <p:spPr>
          <a:xfrm>
            <a:off x="6574536"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1800" b="1" dirty="0">
                <a:solidFill>
                  <a:srgbClr val="0B2545"/>
                </a:solidFill>
                <a:latin typeface="Segoe UI" pitchFamily="34" charset="0"/>
                <a:ea typeface="Segoe UI" pitchFamily="34" charset="-122"/>
                <a:cs typeface="Segoe UI" pitchFamily="34" charset="-120"/>
              </a:rPr>
              <a:t>+4</a:t>
            </a:r>
            <a:endParaRPr lang="en-US" sz="1800" dirty="0"/>
          </a:p>
        </p:txBody>
      </p:sp>
      <p:sp>
        <p:nvSpPr>
          <p:cNvPr id="16" name="zoom:w:15"/>
          <p:cNvSpPr/>
          <p:nvPr/>
        </p:nvSpPr>
        <p:spPr>
          <a:xfrm>
            <a:off x="5541264"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B</a:t>
            </a:r>
            <a:endParaRPr lang="en-US" sz="2000" dirty="0"/>
          </a:p>
        </p:txBody>
      </p:sp>
      <p:sp>
        <p:nvSpPr>
          <p:cNvPr id="17" name="fade:w:16"/>
          <p:cNvSpPr/>
          <p:nvPr/>
        </p:nvSpPr>
        <p:spPr>
          <a:xfrm>
            <a:off x="5541264"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18" name="fade:w:17"/>
          <p:cNvSpPr/>
          <p:nvPr/>
        </p:nvSpPr>
        <p:spPr>
          <a:xfrm>
            <a:off x="5541264"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19" name="fade:w:18"/>
          <p:cNvSpPr/>
          <p:nvPr/>
        </p:nvSpPr>
        <p:spPr>
          <a:xfrm>
            <a:off x="5541264"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20" name="zoom:w:19"/>
          <p:cNvSpPr/>
          <p:nvPr/>
        </p:nvSpPr>
        <p:spPr>
          <a:xfrm>
            <a:off x="4507992"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C</a:t>
            </a:r>
            <a:endParaRPr lang="en-US" sz="2000" dirty="0"/>
          </a:p>
        </p:txBody>
      </p:sp>
      <p:sp>
        <p:nvSpPr>
          <p:cNvPr id="21" name="fade:w:20"/>
          <p:cNvSpPr/>
          <p:nvPr/>
        </p:nvSpPr>
        <p:spPr>
          <a:xfrm>
            <a:off x="4507992"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1800" b="1" dirty="0">
                <a:solidFill>
                  <a:srgbClr val="0B2545"/>
                </a:solidFill>
                <a:latin typeface="Segoe UI" pitchFamily="34" charset="0"/>
                <a:ea typeface="Segoe UI" pitchFamily="34" charset="-122"/>
                <a:cs typeface="Segoe UI" pitchFamily="34" charset="-120"/>
              </a:rPr>
              <a:t>2,4</a:t>
            </a:r>
            <a:endParaRPr lang="en-US" sz="1800" dirty="0"/>
          </a:p>
        </p:txBody>
      </p:sp>
      <p:sp>
        <p:nvSpPr>
          <p:cNvPr id="22" name="fade:w:21"/>
          <p:cNvSpPr/>
          <p:nvPr/>
        </p:nvSpPr>
        <p:spPr>
          <a:xfrm>
            <a:off x="4507992"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23" name="fade:w:22"/>
          <p:cNvSpPr/>
          <p:nvPr/>
        </p:nvSpPr>
        <p:spPr>
          <a:xfrm>
            <a:off x="4507992"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24" name="zoom:w:23"/>
          <p:cNvSpPr/>
          <p:nvPr/>
        </p:nvSpPr>
        <p:spPr>
          <a:xfrm>
            <a:off x="3474720"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N</a:t>
            </a:r>
            <a:endParaRPr lang="en-US" sz="2000" dirty="0"/>
          </a:p>
        </p:txBody>
      </p:sp>
      <p:sp>
        <p:nvSpPr>
          <p:cNvPr id="25" name="fade:w:24"/>
          <p:cNvSpPr/>
          <p:nvPr/>
        </p:nvSpPr>
        <p:spPr>
          <a:xfrm>
            <a:off x="3474720"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26" name="fade:w:25"/>
          <p:cNvSpPr/>
          <p:nvPr/>
        </p:nvSpPr>
        <p:spPr>
          <a:xfrm>
            <a:off x="3474720"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27" name="fade:w:26"/>
          <p:cNvSpPr/>
          <p:nvPr/>
        </p:nvSpPr>
        <p:spPr>
          <a:xfrm>
            <a:off x="3474720"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1800" b="1" dirty="0">
                <a:solidFill>
                  <a:srgbClr val="0B2545"/>
                </a:solidFill>
                <a:latin typeface="Segoe UI" pitchFamily="34" charset="0"/>
                <a:ea typeface="Segoe UI" pitchFamily="34" charset="-122"/>
                <a:cs typeface="Segoe UI" pitchFamily="34" charset="-120"/>
              </a:rPr>
              <a:t>+7</a:t>
            </a:r>
            <a:endParaRPr lang="en-US" sz="1800" dirty="0"/>
          </a:p>
        </p:txBody>
      </p:sp>
      <p:sp>
        <p:nvSpPr>
          <p:cNvPr id="28" name="zoom:w:27"/>
          <p:cNvSpPr/>
          <p:nvPr/>
        </p:nvSpPr>
        <p:spPr>
          <a:xfrm>
            <a:off x="2441448"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O</a:t>
            </a:r>
            <a:endParaRPr lang="en-US" sz="2000" dirty="0"/>
          </a:p>
        </p:txBody>
      </p:sp>
      <p:sp>
        <p:nvSpPr>
          <p:cNvPr id="29" name="fade:w:28"/>
          <p:cNvSpPr/>
          <p:nvPr/>
        </p:nvSpPr>
        <p:spPr>
          <a:xfrm>
            <a:off x="2441448"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0" name="fade:w:29"/>
          <p:cNvSpPr/>
          <p:nvPr/>
        </p:nvSpPr>
        <p:spPr>
          <a:xfrm>
            <a:off x="2441448"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1" name="fade:w:30"/>
          <p:cNvSpPr/>
          <p:nvPr/>
        </p:nvSpPr>
        <p:spPr>
          <a:xfrm>
            <a:off x="2441448"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2" name="zoom:w:31"/>
          <p:cNvSpPr/>
          <p:nvPr/>
        </p:nvSpPr>
        <p:spPr>
          <a:xfrm>
            <a:off x="1408176"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F</a:t>
            </a:r>
            <a:endParaRPr lang="en-US" sz="2000" dirty="0"/>
          </a:p>
        </p:txBody>
      </p:sp>
      <p:sp>
        <p:nvSpPr>
          <p:cNvPr id="33" name="fade:w:32"/>
          <p:cNvSpPr/>
          <p:nvPr/>
        </p:nvSpPr>
        <p:spPr>
          <a:xfrm>
            <a:off x="1408176"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1800" b="1" dirty="0">
                <a:solidFill>
                  <a:srgbClr val="0B2545"/>
                </a:solidFill>
                <a:latin typeface="Segoe UI" pitchFamily="34" charset="0"/>
                <a:ea typeface="Segoe UI" pitchFamily="34" charset="-122"/>
                <a:cs typeface="Segoe UI" pitchFamily="34" charset="-120"/>
              </a:rPr>
              <a:t>2,7</a:t>
            </a:r>
            <a:endParaRPr lang="en-US" sz="1800" dirty="0"/>
          </a:p>
        </p:txBody>
      </p:sp>
      <p:sp>
        <p:nvSpPr>
          <p:cNvPr id="34" name="fade:w:33"/>
          <p:cNvSpPr/>
          <p:nvPr/>
        </p:nvSpPr>
        <p:spPr>
          <a:xfrm>
            <a:off x="1408176"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5" name="fade:w:34"/>
          <p:cNvSpPr/>
          <p:nvPr/>
        </p:nvSpPr>
        <p:spPr>
          <a:xfrm>
            <a:off x="1408176"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6" name="zoom:w:35"/>
          <p:cNvSpPr/>
          <p:nvPr/>
        </p:nvSpPr>
        <p:spPr>
          <a:xfrm>
            <a:off x="374904" y="2011680"/>
            <a:ext cx="960120" cy="502920"/>
          </a:xfrm>
          <a:prstGeom prst="roundRect">
            <a:avLst>
              <a:gd name="adj" fmla="val 18182"/>
            </a:avLst>
          </a:prstGeom>
          <a:solidFill>
            <a:srgbClr val="0B2545"/>
          </a:solidFill>
          <a:ln/>
        </p:spPr>
        <p:txBody>
          <a:bodyPr wrap="square" lIns="0" tIns="0" rIns="0" bIns="0" rtlCol="0" anchor="ctr"/>
          <a:lstStyle/>
          <a:p>
            <a:pPr algn="ctr" indent="0" marL="0">
              <a:lnSpc>
                <a:spcPct val="105000"/>
              </a:lnSpc>
              <a:buNone/>
            </a:pPr>
            <a:r>
              <a:rPr lang="en-US" altLang="en-US" sz="2000" b="1" dirty="0">
                <a:solidFill>
                  <a:srgbClr val="FFFFFF"/>
                </a:solidFill>
                <a:latin typeface="Segoe UI" pitchFamily="34" charset="0"/>
                <a:ea typeface="Segoe UI" pitchFamily="34" charset="-122"/>
                <a:cs typeface="Segoe UI" pitchFamily="34" charset="-120"/>
              </a:rPr>
              <a:t>Ne</a:t>
            </a:r>
            <a:endParaRPr lang="en-US" sz="2000" dirty="0"/>
          </a:p>
        </p:txBody>
      </p:sp>
      <p:sp>
        <p:nvSpPr>
          <p:cNvPr id="37" name="fade:w:36"/>
          <p:cNvSpPr/>
          <p:nvPr/>
        </p:nvSpPr>
        <p:spPr>
          <a:xfrm>
            <a:off x="374904" y="2606040"/>
            <a:ext cx="96012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8" name="fade:w:37"/>
          <p:cNvSpPr/>
          <p:nvPr/>
        </p:nvSpPr>
        <p:spPr>
          <a:xfrm>
            <a:off x="374904" y="342900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a:t>
            </a:r>
            <a:endParaRPr lang="ar-SA" sz="1700" dirty="0"/>
          </a:p>
        </p:txBody>
      </p:sp>
      <p:sp>
        <p:nvSpPr>
          <p:cNvPr id="39" name="fade:w:38"/>
          <p:cNvSpPr/>
          <p:nvPr/>
        </p:nvSpPr>
        <p:spPr>
          <a:xfrm>
            <a:off x="374904" y="4069080"/>
            <a:ext cx="960120" cy="548640"/>
          </a:xfrm>
          <a:prstGeom prst="roundRect">
            <a:avLst>
              <a:gd name="adj" fmla="val 2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1800" b="1" dirty="0">
                <a:solidFill>
                  <a:srgbClr val="0B2545"/>
                </a:solidFill>
                <a:latin typeface="Segoe UI" pitchFamily="34" charset="0"/>
                <a:ea typeface="Segoe UI" pitchFamily="34" charset="-122"/>
                <a:cs typeface="Segoe UI" pitchFamily="34" charset="-120"/>
              </a:rPr>
              <a:t>+10</a:t>
            </a:r>
            <a:endParaRPr lang="en-US" sz="1800" dirty="0"/>
          </a:p>
        </p:txBody>
      </p:sp>
      <p:sp>
        <p:nvSpPr>
          <p:cNvPr id="40" name="float:c:39"/>
          <p:cNvSpPr/>
          <p:nvPr/>
        </p:nvSpPr>
        <p:spPr>
          <a:xfrm>
            <a:off x="6629400" y="2670048"/>
            <a:ext cx="850392" cy="60350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2,2</a:t>
            </a:r>
            <a:endParaRPr lang="en-US" sz="1700" dirty="0"/>
          </a:p>
        </p:txBody>
      </p:sp>
      <p:sp>
        <p:nvSpPr>
          <p:cNvPr id="41" name="float:w:40"/>
          <p:cNvSpPr/>
          <p:nvPr/>
        </p:nvSpPr>
        <p:spPr>
          <a:xfrm>
            <a:off x="5596128" y="2670048"/>
            <a:ext cx="850392" cy="60350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2,3</a:t>
            </a:r>
            <a:endParaRPr lang="en-US" sz="1700" dirty="0"/>
          </a:p>
        </p:txBody>
      </p:sp>
      <p:sp>
        <p:nvSpPr>
          <p:cNvPr id="42" name="float:w:41"/>
          <p:cNvSpPr/>
          <p:nvPr/>
        </p:nvSpPr>
        <p:spPr>
          <a:xfrm>
            <a:off x="3529584" y="2670048"/>
            <a:ext cx="850392" cy="60350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2,5</a:t>
            </a:r>
            <a:endParaRPr lang="en-US" sz="1700" dirty="0"/>
          </a:p>
        </p:txBody>
      </p:sp>
      <p:sp>
        <p:nvSpPr>
          <p:cNvPr id="43" name="float:w:42"/>
          <p:cNvSpPr/>
          <p:nvPr/>
        </p:nvSpPr>
        <p:spPr>
          <a:xfrm>
            <a:off x="2496312" y="2670048"/>
            <a:ext cx="850392" cy="60350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2,6</a:t>
            </a:r>
            <a:endParaRPr lang="en-US" sz="1700" dirty="0"/>
          </a:p>
        </p:txBody>
      </p:sp>
      <p:sp>
        <p:nvSpPr>
          <p:cNvPr id="44" name="float:w:43"/>
          <p:cNvSpPr/>
          <p:nvPr/>
        </p:nvSpPr>
        <p:spPr>
          <a:xfrm>
            <a:off x="429768" y="2670048"/>
            <a:ext cx="850392" cy="60350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2,8</a:t>
            </a:r>
            <a:endParaRPr lang="en-US" sz="1700" dirty="0"/>
          </a:p>
        </p:txBody>
      </p:sp>
      <p:sp>
        <p:nvSpPr>
          <p:cNvPr id="45" name="float:c:44"/>
          <p:cNvSpPr/>
          <p:nvPr/>
        </p:nvSpPr>
        <p:spPr>
          <a:xfrm>
            <a:off x="7662672"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46" name="float:w:45"/>
          <p:cNvSpPr/>
          <p:nvPr/>
        </p:nvSpPr>
        <p:spPr>
          <a:xfrm>
            <a:off x="6629400"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47" name="float:w:46"/>
          <p:cNvSpPr/>
          <p:nvPr/>
        </p:nvSpPr>
        <p:spPr>
          <a:xfrm>
            <a:off x="5596128"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48" name="float:w:47"/>
          <p:cNvSpPr/>
          <p:nvPr/>
        </p:nvSpPr>
        <p:spPr>
          <a:xfrm>
            <a:off x="4562856"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49" name="float:w:48"/>
          <p:cNvSpPr/>
          <p:nvPr/>
        </p:nvSpPr>
        <p:spPr>
          <a:xfrm>
            <a:off x="3529584"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50" name="float:w:49"/>
          <p:cNvSpPr/>
          <p:nvPr/>
        </p:nvSpPr>
        <p:spPr>
          <a:xfrm>
            <a:off x="2496312"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51" name="float:w:50"/>
          <p:cNvSpPr/>
          <p:nvPr/>
        </p:nvSpPr>
        <p:spPr>
          <a:xfrm>
            <a:off x="1463040"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52" name="float:w:51"/>
          <p:cNvSpPr/>
          <p:nvPr/>
        </p:nvSpPr>
        <p:spPr>
          <a:xfrm>
            <a:off x="429768" y="349300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2</a:t>
            </a:r>
            <a:endParaRPr lang="en-US" sz="1700" dirty="0"/>
          </a:p>
        </p:txBody>
      </p:sp>
      <p:sp>
        <p:nvSpPr>
          <p:cNvPr id="53" name="float:c:52"/>
          <p:cNvSpPr/>
          <p:nvPr/>
        </p:nvSpPr>
        <p:spPr>
          <a:xfrm>
            <a:off x="7662672" y="413308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+3</a:t>
            </a:r>
            <a:endParaRPr lang="en-US" sz="1700" dirty="0"/>
          </a:p>
        </p:txBody>
      </p:sp>
      <p:sp>
        <p:nvSpPr>
          <p:cNvPr id="54" name="float:w:53"/>
          <p:cNvSpPr/>
          <p:nvPr/>
        </p:nvSpPr>
        <p:spPr>
          <a:xfrm>
            <a:off x="5596128" y="413308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+5</a:t>
            </a:r>
            <a:endParaRPr lang="en-US" sz="1700" dirty="0"/>
          </a:p>
        </p:txBody>
      </p:sp>
      <p:sp>
        <p:nvSpPr>
          <p:cNvPr id="55" name="float:w:54"/>
          <p:cNvSpPr/>
          <p:nvPr/>
        </p:nvSpPr>
        <p:spPr>
          <a:xfrm>
            <a:off x="4562856" y="413308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+6</a:t>
            </a:r>
            <a:endParaRPr lang="en-US" sz="1700" dirty="0"/>
          </a:p>
        </p:txBody>
      </p:sp>
      <p:sp>
        <p:nvSpPr>
          <p:cNvPr id="56" name="float:w:55"/>
          <p:cNvSpPr/>
          <p:nvPr/>
        </p:nvSpPr>
        <p:spPr>
          <a:xfrm>
            <a:off x="2496312" y="413308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+8</a:t>
            </a:r>
            <a:endParaRPr lang="en-US" sz="1700" dirty="0"/>
          </a:p>
        </p:txBody>
      </p:sp>
      <p:sp>
        <p:nvSpPr>
          <p:cNvPr id="57" name="float:w:56"/>
          <p:cNvSpPr/>
          <p:nvPr/>
        </p:nvSpPr>
        <p:spPr>
          <a:xfrm>
            <a:off x="1463040" y="4133088"/>
            <a:ext cx="850392" cy="420624"/>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+9</a:t>
            </a:r>
            <a:endParaRPr lang="en-US" sz="1700" dirty="0"/>
          </a:p>
        </p:txBody>
      </p:sp>
      <p:sp>
        <p:nvSpPr>
          <p:cNvPr id="58" name="float:a:57"/>
          <p:cNvSpPr/>
          <p:nvPr/>
        </p:nvSpPr>
        <p:spPr>
          <a:xfrm>
            <a:off x="3017520" y="4800600"/>
            <a:ext cx="8778240" cy="1143000"/>
          </a:xfrm>
          <a:prstGeom prst="roundRect">
            <a:avLst>
              <a:gd name="adj" fmla="val 112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ماذا تستنتج؟</a:t>
            </a:r>
            <a:endParaRPr lang="ar-SA" sz="1700" dirty="0"/>
          </a:p>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بزيادة العدد الذري في الدورة فإنّ عدد مستويات الطاقة الرئيسية .................. بينما شحنة النواة ..................</a:t>
            </a:r>
            <a:endParaRPr lang="ar-SA" sz="1700" dirty="0"/>
          </a:p>
        </p:txBody>
      </p:sp>
      <p:sp>
        <p:nvSpPr>
          <p:cNvPr id="59" name="fade:c:58"/>
          <p:cNvSpPr txBox="1"/>
          <p:nvPr/>
        </p:nvSpPr>
        <p:spPr>
          <a:xfrm>
            <a:off x="8595360" y="6035040"/>
            <a:ext cx="3200400" cy="502920"/>
          </a:xfrm>
          <a:prstGeom prst="rect">
            <a:avLst/>
          </a:prstGeom>
          <a:noFill/>
          <a:ln/>
        </p:spPr>
        <p:txBody>
          <a:bodyPr wrap="square" lIns="76200" tIns="152400" rIns="152400" bIns="76200" rtlCol="0" anchor="ctr"/>
          <a:lstStyle/>
          <a:p>
            <a:pPr rtl="1" algn="r" indent="0" marL="0">
              <a:lnSpc>
                <a:spcPct val="105000"/>
              </a:lnSpc>
              <a:buNone/>
            </a:pPr>
            <a:r>
              <a:rPr lang="ar-SA" altLang="en-US" sz="1500" b="1" dirty="0">
                <a:solidFill>
                  <a:srgbClr val="0B2545"/>
                </a:solidFill>
                <a:latin typeface="Segoe UI" pitchFamily="34" charset="0"/>
                <a:ea typeface="Segoe UI" pitchFamily="34" charset="-122"/>
                <a:cs typeface="Segoe UI" pitchFamily="34" charset="-120"/>
              </a:rPr>
              <a:t>عدد مستويات الطاقة الرئيسية:</a:t>
            </a:r>
            <a:endParaRPr lang="ar-SA" sz="1500" dirty="0"/>
          </a:p>
        </p:txBody>
      </p:sp>
      <p:sp>
        <p:nvSpPr>
          <p:cNvPr id="60" name="float:w:59"/>
          <p:cNvSpPr/>
          <p:nvPr/>
        </p:nvSpPr>
        <p:spPr>
          <a:xfrm>
            <a:off x="7132320" y="6035040"/>
            <a:ext cx="1371600" cy="50292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ثابت</a:t>
            </a:r>
            <a:endParaRPr lang="ar-SA" sz="1700" dirty="0"/>
          </a:p>
        </p:txBody>
      </p:sp>
      <p:sp>
        <p:nvSpPr>
          <p:cNvPr id="61" name="fade:c:60"/>
          <p:cNvSpPr txBox="1"/>
          <p:nvPr/>
        </p:nvSpPr>
        <p:spPr>
          <a:xfrm>
            <a:off x="4937760" y="6035040"/>
            <a:ext cx="1737360" cy="502920"/>
          </a:xfrm>
          <a:prstGeom prst="rect">
            <a:avLst/>
          </a:prstGeom>
          <a:noFill/>
          <a:ln/>
        </p:spPr>
        <p:txBody>
          <a:bodyPr wrap="square" lIns="76200" tIns="152400" rIns="152400" bIns="76200" rtlCol="0" anchor="ctr"/>
          <a:lstStyle/>
          <a:p>
            <a:pPr rtl="1" algn="r" indent="0" marL="0">
              <a:lnSpc>
                <a:spcPct val="105000"/>
              </a:lnSpc>
              <a:buNone/>
            </a:pPr>
            <a:r>
              <a:rPr lang="ar-SA" altLang="en-US" sz="1500" b="1" dirty="0">
                <a:solidFill>
                  <a:srgbClr val="0B2545"/>
                </a:solidFill>
                <a:latin typeface="Segoe UI" pitchFamily="34" charset="0"/>
                <a:ea typeface="Segoe UI" pitchFamily="34" charset="-122"/>
                <a:cs typeface="Segoe UI" pitchFamily="34" charset="-120"/>
              </a:rPr>
              <a:t>شحنة النواة:</a:t>
            </a:r>
            <a:endParaRPr lang="ar-SA" sz="1500" dirty="0"/>
          </a:p>
        </p:txBody>
      </p:sp>
      <p:sp>
        <p:nvSpPr>
          <p:cNvPr id="62" name="float:w:61"/>
          <p:cNvSpPr/>
          <p:nvPr/>
        </p:nvSpPr>
        <p:spPr>
          <a:xfrm>
            <a:off x="3474720" y="6035040"/>
            <a:ext cx="1371600" cy="50292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تزداد</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34"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33" fill="hold">
                            <p:stCondLst>
                              <p:cond delay="385"/>
                            </p:stCondLst>
                            <p:childTnLst>
                              <p:par>
                                <p:cTn id="11"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20"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5"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ppt_w</p:attrName>
                                        </p:attrNameLst>
                                      </p:cBhvr>
                                      <p:tavLst>
                                        <p:tav tm="0">
                                          <p:val>
                                            <p:strVal val="0"/>
                                          </p:val>
                                        </p:tav>
                                        <p:tav tm="100000">
                                          <p:val>
                                            <p:strVal val="#ppt_w"/>
                                          </p:val>
                                        </p:tav>
                                      </p:tavLst>
                                    </p:anim>
                                    <p:anim calcmode="lin" valueType="num">
                                      <p:cBhvr additive="base">
                                        <p:cTn id="23" dur="500" fill="hold"/>
                                        <p:tgtEl>
                                          <p:spTgt spid="8"/>
                                        </p:tgtEl>
                                        <p:attrNameLst>
                                          <p:attrName>ppt_h</p:attrName>
                                        </p:attrNameLst>
                                      </p:cBhvr>
                                      <p:tavLst>
                                        <p:tav tm="0">
                                          <p:val>
                                            <p:strVal val="0"/>
                                          </p:val>
                                        </p:tav>
                                        <p:tav tm="100000">
                                          <p:val>
                                            <p:strVal val="#ppt_h"/>
                                          </p:val>
                                        </p:tav>
                                      </p:tavLst>
                                    </p:anim>
                                    <p:animEffect transition="in" filter="fade">
                                      <p:cBhvr>
                                        <p:cTn id="24" dur="500"/>
                                        <p:tgtEl>
                                          <p:spTgt spid="8"/>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00"/>
                                        <p:tgtEl>
                                          <p:spTgt spid="10"/>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600"/>
                                        <p:tgtEl>
                                          <p:spTgt spid="11"/>
                                        </p:tgtEl>
                                      </p:cBhvr>
                                    </p:animEffect>
                                  </p:childTnLst>
                                </p:cTn>
                              </p:par>
                              <p:par>
                                <p:cTn id="39" presetID="53"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ppt_w</p:attrName>
                                        </p:attrNameLst>
                                      </p:cBhvr>
                                      <p:tavLst>
                                        <p:tav tm="0">
                                          <p:val>
                                            <p:strVal val="0"/>
                                          </p:val>
                                        </p:tav>
                                        <p:tav tm="100000">
                                          <p:val>
                                            <p:strVal val="#ppt_w"/>
                                          </p:val>
                                        </p:tav>
                                      </p:tavLst>
                                    </p:anim>
                                    <p:anim calcmode="lin" valueType="num">
                                      <p:cBhvr additive="base">
                                        <p:cTn id="37" dur="500" fill="hold"/>
                                        <p:tgtEl>
                                          <p:spTgt spid="12"/>
                                        </p:tgtEl>
                                        <p:attrNameLst>
                                          <p:attrName>ppt_h</p:attrName>
                                        </p:attrNameLst>
                                      </p:cBhvr>
                                      <p:tavLst>
                                        <p:tav tm="0">
                                          <p:val>
                                            <p:strVal val="0"/>
                                          </p:val>
                                        </p:tav>
                                        <p:tav tm="100000">
                                          <p:val>
                                            <p:strVal val="#ppt_h"/>
                                          </p:val>
                                        </p:tav>
                                      </p:tavLst>
                                    </p:anim>
                                    <p:animEffect transition="in" filter="fade">
                                      <p:cBhvr>
                                        <p:cTn id="38" dur="500"/>
                                        <p:tgtEl>
                                          <p:spTgt spid="12"/>
                                        </p:tgtEl>
                                      </p:cBhvr>
                                    </p:animEffect>
                                  </p:childTnLst>
                                </p:cTn>
                              </p:par>
                              <p:par>
                                <p:cTn id="42"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600"/>
                                        <p:tgtEl>
                                          <p:spTgt spid="13"/>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600"/>
                                        <p:tgtEl>
                                          <p:spTgt spid="14"/>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600"/>
                                        <p:tgtEl>
                                          <p:spTgt spid="15"/>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ppt_w</p:attrName>
                                        </p:attrNameLst>
                                      </p:cBhvr>
                                      <p:tavLst>
                                        <p:tav tm="0">
                                          <p:val>
                                            <p:strVal val="0"/>
                                          </p:val>
                                        </p:tav>
                                        <p:tav tm="100000">
                                          <p:val>
                                            <p:strVal val="#ppt_w"/>
                                          </p:val>
                                        </p:tav>
                                      </p:tavLst>
                                    </p:anim>
                                    <p:anim calcmode="lin" valueType="num">
                                      <p:cBhvr additive="base">
                                        <p:cTn id="51" dur="500" fill="hold"/>
                                        <p:tgtEl>
                                          <p:spTgt spid="16"/>
                                        </p:tgtEl>
                                        <p:attrNameLst>
                                          <p:attrName>ppt_h</p:attrName>
                                        </p:attrNameLst>
                                      </p:cBhvr>
                                      <p:tavLst>
                                        <p:tav tm="0">
                                          <p:val>
                                            <p:strVal val="0"/>
                                          </p:val>
                                        </p:tav>
                                        <p:tav tm="100000">
                                          <p:val>
                                            <p:strVal val="#ppt_h"/>
                                          </p:val>
                                        </p:tav>
                                      </p:tavLst>
                                    </p:anim>
                                    <p:animEffect transition="in" filter="fade">
                                      <p:cBhvr>
                                        <p:cTn id="52" dur="500"/>
                                        <p:tgtEl>
                                          <p:spTgt spid="16"/>
                                        </p:tgtEl>
                                      </p:cBhvr>
                                    </p:animEffect>
                                  </p:childTnLst>
                                </p:cTn>
                              </p:par>
                              <p:par>
                                <p:cTn id="56"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00"/>
                                        <p:tgtEl>
                                          <p:spTgt spid="17"/>
                                        </p:tgtEl>
                                      </p:cBhvr>
                                    </p:animEffect>
                                  </p:childTnLst>
                                </p:cTn>
                              </p:par>
                              <p:par>
                                <p:cTn id="59"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00"/>
                                        <p:tgtEl>
                                          <p:spTgt spid="18"/>
                                        </p:tgtEl>
                                      </p:cBhvr>
                                    </p:animEffect>
                                  </p:childTnLst>
                                </p:cTn>
                              </p:par>
                              <p:par>
                                <p:cTn id="62"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par>
                                <p:cTn id="67" presetID="53" presetClass="entr" presetSubtype="16"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fill="hold"/>
                                        <p:tgtEl>
                                          <p:spTgt spid="20"/>
                                        </p:tgtEl>
                                        <p:attrNameLst>
                                          <p:attrName>ppt_w</p:attrName>
                                        </p:attrNameLst>
                                      </p:cBhvr>
                                      <p:tavLst>
                                        <p:tav tm="0">
                                          <p:val>
                                            <p:strVal val="0"/>
                                          </p:val>
                                        </p:tav>
                                        <p:tav tm="100000">
                                          <p:val>
                                            <p:strVal val="#ppt_w"/>
                                          </p:val>
                                        </p:tav>
                                      </p:tavLst>
                                    </p:anim>
                                    <p:anim calcmode="lin" valueType="num">
                                      <p:cBhvr additive="base">
                                        <p:cTn id="65" dur="500" fill="hold"/>
                                        <p:tgtEl>
                                          <p:spTgt spid="20"/>
                                        </p:tgtEl>
                                        <p:attrNameLst>
                                          <p:attrName>ppt_h</p:attrName>
                                        </p:attrNameLst>
                                      </p:cBhvr>
                                      <p:tavLst>
                                        <p:tav tm="0">
                                          <p:val>
                                            <p:strVal val="0"/>
                                          </p:val>
                                        </p:tav>
                                        <p:tav tm="100000">
                                          <p:val>
                                            <p:strVal val="#ppt_h"/>
                                          </p:val>
                                        </p:tav>
                                      </p:tavLst>
                                    </p:anim>
                                    <p:animEffect transition="in" filter="fade">
                                      <p:cBhvr>
                                        <p:cTn id="66" dur="500"/>
                                        <p:tgtEl>
                                          <p:spTgt spid="20"/>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600"/>
                                        <p:tgtEl>
                                          <p:spTgt spid="21"/>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600"/>
                                        <p:tgtEl>
                                          <p:spTgt spid="22"/>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600"/>
                                        <p:tgtEl>
                                          <p:spTgt spid="23"/>
                                        </p:tgtEl>
                                      </p:cBhvr>
                                    </p:animEffect>
                                  </p:childTnLst>
                                </p:cTn>
                              </p:par>
                              <p:par>
                                <p:cTn id="81" presetID="53" presetClass="entr" presetSubtype="16"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additive="base">
                                        <p:cTn id="78" dur="500" fill="hold"/>
                                        <p:tgtEl>
                                          <p:spTgt spid="24"/>
                                        </p:tgtEl>
                                        <p:attrNameLst>
                                          <p:attrName>ppt_w</p:attrName>
                                        </p:attrNameLst>
                                      </p:cBhvr>
                                      <p:tavLst>
                                        <p:tav tm="0">
                                          <p:val>
                                            <p:strVal val="0"/>
                                          </p:val>
                                        </p:tav>
                                        <p:tav tm="100000">
                                          <p:val>
                                            <p:strVal val="#ppt_w"/>
                                          </p:val>
                                        </p:tav>
                                      </p:tavLst>
                                    </p:anim>
                                    <p:anim calcmode="lin" valueType="num">
                                      <p:cBhvr additive="base">
                                        <p:cTn id="79" dur="500" fill="hold"/>
                                        <p:tgtEl>
                                          <p:spTgt spid="24"/>
                                        </p:tgtEl>
                                        <p:attrNameLst>
                                          <p:attrName>ppt_h</p:attrName>
                                        </p:attrNameLst>
                                      </p:cBhvr>
                                      <p:tavLst>
                                        <p:tav tm="0">
                                          <p:val>
                                            <p:strVal val="0"/>
                                          </p:val>
                                        </p:tav>
                                        <p:tav tm="100000">
                                          <p:val>
                                            <p:strVal val="#ppt_h"/>
                                          </p:val>
                                        </p:tav>
                                      </p:tavLst>
                                    </p:anim>
                                    <p:animEffect transition="in" filter="fade">
                                      <p:cBhvr>
                                        <p:cTn id="80" dur="500"/>
                                        <p:tgtEl>
                                          <p:spTgt spid="24"/>
                                        </p:tgtEl>
                                      </p:cBhvr>
                                    </p:animEffect>
                                  </p:childTnLst>
                                </p:cTn>
                              </p:par>
                              <p:par>
                                <p:cTn id="84"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600"/>
                                        <p:tgtEl>
                                          <p:spTgt spid="25"/>
                                        </p:tgtEl>
                                      </p:cBhvr>
                                    </p:animEffect>
                                  </p:childTnLst>
                                </p:cTn>
                              </p:par>
                              <p:par>
                                <p:cTn id="87" presetID="10"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600"/>
                                        <p:tgtEl>
                                          <p:spTgt spid="26"/>
                                        </p:tgtEl>
                                      </p:cBhvr>
                                    </p:animEffect>
                                  </p:childTnLst>
                                </p:cTn>
                              </p:par>
                              <p:par>
                                <p:cTn id="90" presetID="10"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600"/>
                                        <p:tgtEl>
                                          <p:spTgt spid="27"/>
                                        </p:tgtEl>
                                      </p:cBhvr>
                                    </p:animEffect>
                                  </p:childTnLst>
                                </p:cTn>
                              </p:par>
                              <p:par>
                                <p:cTn id="95" presetID="53" presetClass="entr" presetSubtype="16"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 calcmode="lin" valueType="num">
                                      <p:cBhvr additive="base">
                                        <p:cTn id="92" dur="500" fill="hold"/>
                                        <p:tgtEl>
                                          <p:spTgt spid="28"/>
                                        </p:tgtEl>
                                        <p:attrNameLst>
                                          <p:attrName>ppt_w</p:attrName>
                                        </p:attrNameLst>
                                      </p:cBhvr>
                                      <p:tavLst>
                                        <p:tav tm="0">
                                          <p:val>
                                            <p:strVal val="0"/>
                                          </p:val>
                                        </p:tav>
                                        <p:tav tm="100000">
                                          <p:val>
                                            <p:strVal val="#ppt_w"/>
                                          </p:val>
                                        </p:tav>
                                      </p:tavLst>
                                    </p:anim>
                                    <p:anim calcmode="lin" valueType="num">
                                      <p:cBhvr additive="base">
                                        <p:cTn id="93" dur="500" fill="hold"/>
                                        <p:tgtEl>
                                          <p:spTgt spid="28"/>
                                        </p:tgtEl>
                                        <p:attrNameLst>
                                          <p:attrName>ppt_h</p:attrName>
                                        </p:attrNameLst>
                                      </p:cBhvr>
                                      <p:tavLst>
                                        <p:tav tm="0">
                                          <p:val>
                                            <p:strVal val="0"/>
                                          </p:val>
                                        </p:tav>
                                        <p:tav tm="100000">
                                          <p:val>
                                            <p:strVal val="#ppt_h"/>
                                          </p:val>
                                        </p:tav>
                                      </p:tavLst>
                                    </p:anim>
                                    <p:animEffect transition="in" filter="fade">
                                      <p:cBhvr>
                                        <p:cTn id="94" dur="500"/>
                                        <p:tgtEl>
                                          <p:spTgt spid="28"/>
                                        </p:tgtEl>
                                      </p:cBhvr>
                                    </p:animEffect>
                                  </p:childTnLst>
                                </p:cTn>
                              </p:par>
                              <p:par>
                                <p:cTn id="98" presetID="10"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600"/>
                                        <p:tgtEl>
                                          <p:spTgt spid="29"/>
                                        </p:tgtEl>
                                      </p:cBhvr>
                                    </p:animEffect>
                                  </p:childTnLst>
                                </p:cTn>
                              </p:par>
                              <p:par>
                                <p:cTn id="101" presetID="10" presetClass="entr" presetSubtype="0" fill="hold" grpId="0" nodeType="with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600"/>
                                        <p:tgtEl>
                                          <p:spTgt spid="30"/>
                                        </p:tgtEl>
                                      </p:cBhvr>
                                    </p:animEffect>
                                  </p:childTnLst>
                                </p:cTn>
                              </p:par>
                              <p:par>
                                <p:cTn id="104" presetID="10" presetClass="entr" presetSubtype="0"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3" dur="600"/>
                                        <p:tgtEl>
                                          <p:spTgt spid="31"/>
                                        </p:tgtEl>
                                      </p:cBhvr>
                                    </p:animEffect>
                                  </p:childTnLst>
                                </p:cTn>
                              </p:par>
                              <p:par>
                                <p:cTn id="109" presetID="53" presetClass="entr" presetSubtype="16" fill="hold" grpId="0" nodeType="withEffect">
                                  <p:stCondLst>
                                    <p:cond delay="0"/>
                                  </p:stCondLst>
                                  <p:childTnLst>
                                    <p:set>
                                      <p:cBhvr>
                                        <p:cTn id="105" dur="1" fill="hold">
                                          <p:stCondLst>
                                            <p:cond delay="0"/>
                                          </p:stCondLst>
                                        </p:cTn>
                                        <p:tgtEl>
                                          <p:spTgt spid="32"/>
                                        </p:tgtEl>
                                        <p:attrNameLst>
                                          <p:attrName>style.visibility</p:attrName>
                                        </p:attrNameLst>
                                      </p:cBhvr>
                                      <p:to>
                                        <p:strVal val="visible"/>
                                      </p:to>
                                    </p:set>
                                    <p:anim calcmode="lin" valueType="num">
                                      <p:cBhvr additive="base">
                                        <p:cTn id="106" dur="500" fill="hold"/>
                                        <p:tgtEl>
                                          <p:spTgt spid="32"/>
                                        </p:tgtEl>
                                        <p:attrNameLst>
                                          <p:attrName>ppt_w</p:attrName>
                                        </p:attrNameLst>
                                      </p:cBhvr>
                                      <p:tavLst>
                                        <p:tav tm="0">
                                          <p:val>
                                            <p:strVal val="0"/>
                                          </p:val>
                                        </p:tav>
                                        <p:tav tm="100000">
                                          <p:val>
                                            <p:strVal val="#ppt_w"/>
                                          </p:val>
                                        </p:tav>
                                      </p:tavLst>
                                    </p:anim>
                                    <p:anim calcmode="lin" valueType="num">
                                      <p:cBhvr additive="base">
                                        <p:cTn id="107" dur="500" fill="hold"/>
                                        <p:tgtEl>
                                          <p:spTgt spid="32"/>
                                        </p:tgtEl>
                                        <p:attrNameLst>
                                          <p:attrName>ppt_h</p:attrName>
                                        </p:attrNameLst>
                                      </p:cBhvr>
                                      <p:tavLst>
                                        <p:tav tm="0">
                                          <p:val>
                                            <p:strVal val="0"/>
                                          </p:val>
                                        </p:tav>
                                        <p:tav tm="100000">
                                          <p:val>
                                            <p:strVal val="#ppt_h"/>
                                          </p:val>
                                        </p:tav>
                                      </p:tavLst>
                                    </p:anim>
                                    <p:animEffect transition="in" filter="fade">
                                      <p:cBhvr>
                                        <p:cTn id="108" dur="500"/>
                                        <p:tgtEl>
                                          <p:spTgt spid="32"/>
                                        </p:tgtEl>
                                      </p:cBhvr>
                                    </p:animEffect>
                                  </p:childTnLst>
                                </p:cTn>
                              </p:par>
                              <p:par>
                                <p:cTn id="112" presetID="10"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600"/>
                                        <p:tgtEl>
                                          <p:spTgt spid="33"/>
                                        </p:tgtEl>
                                      </p:cBhvr>
                                    </p:animEffect>
                                  </p:childTnLst>
                                </p:cTn>
                              </p:par>
                              <p:par>
                                <p:cTn id="115" presetID="10" presetClass="entr" presetSubtype="0"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Effect transition="in" filter="fade">
                                      <p:cBhvr>
                                        <p:cTn id="114" dur="600"/>
                                        <p:tgtEl>
                                          <p:spTgt spid="34"/>
                                        </p:tgtEl>
                                      </p:cBhvr>
                                    </p:animEffect>
                                  </p:childTnLst>
                                </p:cTn>
                              </p:par>
                              <p:par>
                                <p:cTn id="118" presetID="10" presetClass="entr" presetSubtype="0" fill="hold" grpId="0" nodeType="withEffect">
                                  <p:stCondLst>
                                    <p:cond delay="0"/>
                                  </p:stCondLst>
                                  <p:childTnLst>
                                    <p:set>
                                      <p:cBhvr>
                                        <p:cTn id="116" dur="1" fill="hold">
                                          <p:stCondLst>
                                            <p:cond delay="0"/>
                                          </p:stCondLst>
                                        </p:cTn>
                                        <p:tgtEl>
                                          <p:spTgt spid="35"/>
                                        </p:tgtEl>
                                        <p:attrNameLst>
                                          <p:attrName>style.visibility</p:attrName>
                                        </p:attrNameLst>
                                      </p:cBhvr>
                                      <p:to>
                                        <p:strVal val="visible"/>
                                      </p:to>
                                    </p:set>
                                    <p:animEffect transition="in" filter="fade">
                                      <p:cBhvr>
                                        <p:cTn id="117" dur="600"/>
                                        <p:tgtEl>
                                          <p:spTgt spid="35"/>
                                        </p:tgtEl>
                                      </p:cBhvr>
                                    </p:animEffect>
                                  </p:childTnLst>
                                </p:cTn>
                              </p:par>
                              <p:par>
                                <p:cTn id="123" presetID="53" presetClass="entr" presetSubtype="16" fill="hold" grpId="0" nodeType="withEffect">
                                  <p:stCondLst>
                                    <p:cond delay="0"/>
                                  </p:stCondLst>
                                  <p:childTnLst>
                                    <p:set>
                                      <p:cBhvr>
                                        <p:cTn id="119" dur="1" fill="hold">
                                          <p:stCondLst>
                                            <p:cond delay="0"/>
                                          </p:stCondLst>
                                        </p:cTn>
                                        <p:tgtEl>
                                          <p:spTgt spid="36"/>
                                        </p:tgtEl>
                                        <p:attrNameLst>
                                          <p:attrName>style.visibility</p:attrName>
                                        </p:attrNameLst>
                                      </p:cBhvr>
                                      <p:to>
                                        <p:strVal val="visible"/>
                                      </p:to>
                                    </p:set>
                                    <p:anim calcmode="lin" valueType="num">
                                      <p:cBhvr additive="base">
                                        <p:cTn id="120" dur="500" fill="hold"/>
                                        <p:tgtEl>
                                          <p:spTgt spid="36"/>
                                        </p:tgtEl>
                                        <p:attrNameLst>
                                          <p:attrName>ppt_w</p:attrName>
                                        </p:attrNameLst>
                                      </p:cBhvr>
                                      <p:tavLst>
                                        <p:tav tm="0">
                                          <p:val>
                                            <p:strVal val="0"/>
                                          </p:val>
                                        </p:tav>
                                        <p:tav tm="100000">
                                          <p:val>
                                            <p:strVal val="#ppt_w"/>
                                          </p:val>
                                        </p:tav>
                                      </p:tavLst>
                                    </p:anim>
                                    <p:anim calcmode="lin" valueType="num">
                                      <p:cBhvr additive="base">
                                        <p:cTn id="121" dur="500" fill="hold"/>
                                        <p:tgtEl>
                                          <p:spTgt spid="36"/>
                                        </p:tgtEl>
                                        <p:attrNameLst>
                                          <p:attrName>ppt_h</p:attrName>
                                        </p:attrNameLst>
                                      </p:cBhvr>
                                      <p:tavLst>
                                        <p:tav tm="0">
                                          <p:val>
                                            <p:strVal val="0"/>
                                          </p:val>
                                        </p:tav>
                                        <p:tav tm="100000">
                                          <p:val>
                                            <p:strVal val="#ppt_h"/>
                                          </p:val>
                                        </p:tav>
                                      </p:tavLst>
                                    </p:anim>
                                    <p:animEffect transition="in" filter="fade">
                                      <p:cBhvr>
                                        <p:cTn id="122" dur="500"/>
                                        <p:tgtEl>
                                          <p:spTgt spid="36"/>
                                        </p:tgtEl>
                                      </p:cBhvr>
                                    </p:animEffect>
                                  </p:childTnLst>
                                </p:cTn>
                              </p:par>
                              <p:par>
                                <p:cTn id="126" presetID="10" presetClass="entr" presetSubtype="0" fill="hold" grpId="0" nodeType="with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600"/>
                                        <p:tgtEl>
                                          <p:spTgt spid="37"/>
                                        </p:tgtEl>
                                      </p:cBhvr>
                                    </p:animEffect>
                                  </p:childTnLst>
                                </p:cTn>
                              </p:par>
                              <p:par>
                                <p:cTn id="129" presetID="10" presetClass="entr" presetSubtype="0" fill="hold" grpId="0" nodeType="withEffect">
                                  <p:stCondLst>
                                    <p:cond delay="0"/>
                                  </p:stCondLst>
                                  <p:childTnLst>
                                    <p:set>
                                      <p:cBhvr>
                                        <p:cTn id="127" dur="1" fill="hold">
                                          <p:stCondLst>
                                            <p:cond delay="0"/>
                                          </p:stCondLst>
                                        </p:cTn>
                                        <p:tgtEl>
                                          <p:spTgt spid="38"/>
                                        </p:tgtEl>
                                        <p:attrNameLst>
                                          <p:attrName>style.visibility</p:attrName>
                                        </p:attrNameLst>
                                      </p:cBhvr>
                                      <p:to>
                                        <p:strVal val="visible"/>
                                      </p:to>
                                    </p:set>
                                    <p:animEffect transition="in" filter="fade">
                                      <p:cBhvr>
                                        <p:cTn id="128" dur="600"/>
                                        <p:tgtEl>
                                          <p:spTgt spid="38"/>
                                        </p:tgtEl>
                                      </p:cBhvr>
                                    </p:animEffect>
                                  </p:childTnLst>
                                </p:cTn>
                              </p:par>
                              <p:par>
                                <p:cTn id="132" presetID="10" presetClass="entr" presetSubtype="0" fill="hold" grpId="0" nodeType="withEffect">
                                  <p:stCondLst>
                                    <p:cond delay="0"/>
                                  </p:stCondLst>
                                  <p:childTnLst>
                                    <p:set>
                                      <p:cBhvr>
                                        <p:cTn id="130" dur="1" fill="hold">
                                          <p:stCondLst>
                                            <p:cond delay="0"/>
                                          </p:stCondLst>
                                        </p:cTn>
                                        <p:tgtEl>
                                          <p:spTgt spid="39"/>
                                        </p:tgtEl>
                                        <p:attrNameLst>
                                          <p:attrName>style.visibility</p:attrName>
                                        </p:attrNameLst>
                                      </p:cBhvr>
                                      <p:to>
                                        <p:strVal val="visible"/>
                                      </p:to>
                                    </p:set>
                                    <p:animEffect transition="in" filter="fade">
                                      <p:cBhvr>
                                        <p:cTn id="131" dur="600"/>
                                        <p:tgtEl>
                                          <p:spTgt spid="39"/>
                                        </p:tgtEl>
                                      </p:cBhvr>
                                    </p:animEffect>
                                  </p:childTnLst>
                                </p:cTn>
                              </p:par>
                            </p:childTnLst>
                          </p:cTn>
                        </p:par>
                      </p:childTnLst>
                    </p:cTn>
                  </p:par>
                  <p:par>
                    <p:cTn id="161" fill="hold">
                      <p:stCondLst>
                        <p:cond delay="indefinite"/>
                      </p:stCondLst>
                      <p:childTnLst>
                        <p:par>
                          <p:cTn id="160" fill="hold">
                            <p:stCondLst>
                              <p:cond delay="0"/>
                            </p:stCondLst>
                            <p:childTnLst>
                              <p:par>
                                <p:cTn id="139" presetID="42" presetClass="entr" presetSubtype="0" fill="hold" grpId="0" nodeType="click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fade">
                                      <p:cBhvr>
                                        <p:cTn id="136" dur="700"/>
                                        <p:tgtEl>
                                          <p:spTgt spid="40"/>
                                        </p:tgtEl>
                                      </p:cBhvr>
                                    </p:animEffect>
                                    <p:anim calcmode="lin" valueType="num">
                                      <p:cBhvr additive="base">
                                        <p:cTn id="137" dur="700" fill="hold"/>
                                        <p:tgtEl>
                                          <p:spTgt spid="40"/>
                                        </p:tgtEl>
                                        <p:attrNameLst>
                                          <p:attrName>ppt_x</p:attrName>
                                        </p:attrNameLst>
                                      </p:cBhvr>
                                      <p:tavLst>
                                        <p:tav tm="0">
                                          <p:val>
                                            <p:strVal val="#ppt_x"/>
                                          </p:val>
                                        </p:tav>
                                        <p:tav tm="100000">
                                          <p:val>
                                            <p:strVal val="#ppt_x"/>
                                          </p:val>
                                        </p:tav>
                                      </p:tavLst>
                                    </p:anim>
                                    <p:anim calcmode="lin" valueType="num">
                                      <p:cBhvr additive="base">
                                        <p:cTn id="138" dur="700" fill="hold"/>
                                        <p:tgtEl>
                                          <p:spTgt spid="40"/>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0" dur="1" fill="hold">
                                          <p:stCondLst>
                                            <p:cond delay="0"/>
                                          </p:stCondLst>
                                        </p:cTn>
                                        <p:tgtEl>
                                          <p:spTgt spid="41"/>
                                        </p:tgtEl>
                                        <p:attrNameLst>
                                          <p:attrName>style.visibility</p:attrName>
                                        </p:attrNameLst>
                                      </p:cBhvr>
                                      <p:to>
                                        <p:strVal val="visible"/>
                                      </p:to>
                                    </p:set>
                                    <p:animEffect transition="in" filter="fade">
                                      <p:cBhvr>
                                        <p:cTn id="141" dur="700"/>
                                        <p:tgtEl>
                                          <p:spTgt spid="41"/>
                                        </p:tgtEl>
                                      </p:cBhvr>
                                    </p:animEffect>
                                    <p:anim calcmode="lin" valueType="num">
                                      <p:cBhvr additive="base">
                                        <p:cTn id="142" dur="700" fill="hold"/>
                                        <p:tgtEl>
                                          <p:spTgt spid="41"/>
                                        </p:tgtEl>
                                        <p:attrNameLst>
                                          <p:attrName>ppt_x</p:attrName>
                                        </p:attrNameLst>
                                      </p:cBhvr>
                                      <p:tavLst>
                                        <p:tav tm="0">
                                          <p:val>
                                            <p:strVal val="#ppt_x"/>
                                          </p:val>
                                        </p:tav>
                                        <p:tav tm="100000">
                                          <p:val>
                                            <p:strVal val="#ppt_x"/>
                                          </p:val>
                                        </p:tav>
                                      </p:tavLst>
                                    </p:anim>
                                    <p:anim calcmode="lin" valueType="num">
                                      <p:cBhvr additive="base">
                                        <p:cTn id="143" dur="700" fill="hold"/>
                                        <p:tgtEl>
                                          <p:spTgt spid="41"/>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45" dur="1" fill="hold">
                                          <p:stCondLst>
                                            <p:cond delay="0"/>
                                          </p:stCondLst>
                                        </p:cTn>
                                        <p:tgtEl>
                                          <p:spTgt spid="42"/>
                                        </p:tgtEl>
                                        <p:attrNameLst>
                                          <p:attrName>style.visibility</p:attrName>
                                        </p:attrNameLst>
                                      </p:cBhvr>
                                      <p:to>
                                        <p:strVal val="visible"/>
                                      </p:to>
                                    </p:set>
                                    <p:animEffect transition="in" filter="fade">
                                      <p:cBhvr>
                                        <p:cTn id="146" dur="700"/>
                                        <p:tgtEl>
                                          <p:spTgt spid="42"/>
                                        </p:tgtEl>
                                      </p:cBhvr>
                                    </p:animEffect>
                                    <p:anim calcmode="lin" valueType="num">
                                      <p:cBhvr additive="base">
                                        <p:cTn id="147" dur="700" fill="hold"/>
                                        <p:tgtEl>
                                          <p:spTgt spid="42"/>
                                        </p:tgtEl>
                                        <p:attrNameLst>
                                          <p:attrName>ppt_x</p:attrName>
                                        </p:attrNameLst>
                                      </p:cBhvr>
                                      <p:tavLst>
                                        <p:tav tm="0">
                                          <p:val>
                                            <p:strVal val="#ppt_x"/>
                                          </p:val>
                                        </p:tav>
                                        <p:tav tm="100000">
                                          <p:val>
                                            <p:strVal val="#ppt_x"/>
                                          </p:val>
                                        </p:tav>
                                      </p:tavLst>
                                    </p:anim>
                                    <p:anim calcmode="lin" valueType="num">
                                      <p:cBhvr additive="base">
                                        <p:cTn id="148" dur="700" fill="hold"/>
                                        <p:tgtEl>
                                          <p:spTgt spid="42"/>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700"/>
                                        <p:tgtEl>
                                          <p:spTgt spid="43"/>
                                        </p:tgtEl>
                                      </p:cBhvr>
                                    </p:animEffect>
                                    <p:anim calcmode="lin" valueType="num">
                                      <p:cBhvr additive="base">
                                        <p:cTn id="152" dur="700" fill="hold"/>
                                        <p:tgtEl>
                                          <p:spTgt spid="43"/>
                                        </p:tgtEl>
                                        <p:attrNameLst>
                                          <p:attrName>ppt_x</p:attrName>
                                        </p:attrNameLst>
                                      </p:cBhvr>
                                      <p:tavLst>
                                        <p:tav tm="0">
                                          <p:val>
                                            <p:strVal val="#ppt_x"/>
                                          </p:val>
                                        </p:tav>
                                        <p:tav tm="100000">
                                          <p:val>
                                            <p:strVal val="#ppt_x"/>
                                          </p:val>
                                        </p:tav>
                                      </p:tavLst>
                                    </p:anim>
                                    <p:anim calcmode="lin" valueType="num">
                                      <p:cBhvr additive="base">
                                        <p:cTn id="153" dur="700" fill="hold"/>
                                        <p:tgtEl>
                                          <p:spTgt spid="43"/>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55" dur="1" fill="hold">
                                          <p:stCondLst>
                                            <p:cond delay="0"/>
                                          </p:stCondLst>
                                        </p:cTn>
                                        <p:tgtEl>
                                          <p:spTgt spid="44"/>
                                        </p:tgtEl>
                                        <p:attrNameLst>
                                          <p:attrName>style.visibility</p:attrName>
                                        </p:attrNameLst>
                                      </p:cBhvr>
                                      <p:to>
                                        <p:strVal val="visible"/>
                                      </p:to>
                                    </p:set>
                                    <p:animEffect transition="in" filter="fade">
                                      <p:cBhvr>
                                        <p:cTn id="156" dur="700"/>
                                        <p:tgtEl>
                                          <p:spTgt spid="44"/>
                                        </p:tgtEl>
                                      </p:cBhvr>
                                    </p:animEffect>
                                    <p:anim calcmode="lin" valueType="num">
                                      <p:cBhvr additive="base">
                                        <p:cTn id="157" dur="700" fill="hold"/>
                                        <p:tgtEl>
                                          <p:spTgt spid="44"/>
                                        </p:tgtEl>
                                        <p:attrNameLst>
                                          <p:attrName>ppt_x</p:attrName>
                                        </p:attrNameLst>
                                      </p:cBhvr>
                                      <p:tavLst>
                                        <p:tav tm="0">
                                          <p:val>
                                            <p:strVal val="#ppt_x"/>
                                          </p:val>
                                        </p:tav>
                                        <p:tav tm="100000">
                                          <p:val>
                                            <p:strVal val="#ppt_x"/>
                                          </p:val>
                                        </p:tav>
                                      </p:tavLst>
                                    </p:anim>
                                    <p:anim calcmode="lin" valueType="num">
                                      <p:cBhvr additive="base">
                                        <p:cTn id="158" dur="7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203" fill="hold">
                      <p:stCondLst>
                        <p:cond delay="indefinite"/>
                      </p:stCondLst>
                      <p:childTnLst>
                        <p:par>
                          <p:cTn id="202" fill="hold">
                            <p:stCondLst>
                              <p:cond delay="0"/>
                            </p:stCondLst>
                            <p:childTnLst>
                              <p:par>
                                <p:cTn id="166" presetID="42" presetClass="entr" presetSubtype="0" fill="hold" grpId="0" nodeType="clickEffect">
                                  <p:stCondLst>
                                    <p:cond delay="0"/>
                                  </p:stCondLst>
                                  <p:childTnLst>
                                    <p:set>
                                      <p:cBhvr>
                                        <p:cTn id="162" dur="1" fill="hold">
                                          <p:stCondLst>
                                            <p:cond delay="0"/>
                                          </p:stCondLst>
                                        </p:cTn>
                                        <p:tgtEl>
                                          <p:spTgt spid="45"/>
                                        </p:tgtEl>
                                        <p:attrNameLst>
                                          <p:attrName>style.visibility</p:attrName>
                                        </p:attrNameLst>
                                      </p:cBhvr>
                                      <p:to>
                                        <p:strVal val="visible"/>
                                      </p:to>
                                    </p:set>
                                    <p:animEffect transition="in" filter="fade">
                                      <p:cBhvr>
                                        <p:cTn id="163" dur="700"/>
                                        <p:tgtEl>
                                          <p:spTgt spid="45"/>
                                        </p:tgtEl>
                                      </p:cBhvr>
                                    </p:animEffect>
                                    <p:anim calcmode="lin" valueType="num">
                                      <p:cBhvr additive="base">
                                        <p:cTn id="164" dur="700" fill="hold"/>
                                        <p:tgtEl>
                                          <p:spTgt spid="45"/>
                                        </p:tgtEl>
                                        <p:attrNameLst>
                                          <p:attrName>ppt_x</p:attrName>
                                        </p:attrNameLst>
                                      </p:cBhvr>
                                      <p:tavLst>
                                        <p:tav tm="0">
                                          <p:val>
                                            <p:strVal val="#ppt_x"/>
                                          </p:val>
                                        </p:tav>
                                        <p:tav tm="100000">
                                          <p:val>
                                            <p:strVal val="#ppt_x"/>
                                          </p:val>
                                        </p:tav>
                                      </p:tavLst>
                                    </p:anim>
                                    <p:anim calcmode="lin" valueType="num">
                                      <p:cBhvr additive="base">
                                        <p:cTn id="165" dur="700" fill="hold"/>
                                        <p:tgtEl>
                                          <p:spTgt spid="45"/>
                                        </p:tgtEl>
                                        <p:attrNameLst>
                                          <p:attrName>ppt_y</p:attrName>
                                        </p:attrNameLst>
                                      </p:cBhvr>
                                      <p:tavLst>
                                        <p:tav tm="0">
                                          <p:val>
                                            <p:strVal val="#ppt_y+.1"/>
                                          </p:val>
                                        </p:tav>
                                        <p:tav tm="100000">
                                          <p:val>
                                            <p:strVal val="#ppt_y"/>
                                          </p:val>
                                        </p:tav>
                                      </p:tavLst>
                                    </p:anim>
                                  </p:childTnLst>
                                </p:cTn>
                              </p:par>
                              <p:par>
                                <p:cTn id="171" presetID="42" presetClass="entr" presetSubtype="0" fill="hold" grpId="0" nodeType="withEffect">
                                  <p:stCondLst>
                                    <p:cond delay="0"/>
                                  </p:stCondLst>
                                  <p:childTnLst>
                                    <p:set>
                                      <p:cBhvr>
                                        <p:cTn id="167" dur="1" fill="hold">
                                          <p:stCondLst>
                                            <p:cond delay="0"/>
                                          </p:stCondLst>
                                        </p:cTn>
                                        <p:tgtEl>
                                          <p:spTgt spid="46"/>
                                        </p:tgtEl>
                                        <p:attrNameLst>
                                          <p:attrName>style.visibility</p:attrName>
                                        </p:attrNameLst>
                                      </p:cBhvr>
                                      <p:to>
                                        <p:strVal val="visible"/>
                                      </p:to>
                                    </p:set>
                                    <p:animEffect transition="in" filter="fade">
                                      <p:cBhvr>
                                        <p:cTn id="168" dur="700"/>
                                        <p:tgtEl>
                                          <p:spTgt spid="46"/>
                                        </p:tgtEl>
                                      </p:cBhvr>
                                    </p:animEffect>
                                    <p:anim calcmode="lin" valueType="num">
                                      <p:cBhvr additive="base">
                                        <p:cTn id="169" dur="700" fill="hold"/>
                                        <p:tgtEl>
                                          <p:spTgt spid="46"/>
                                        </p:tgtEl>
                                        <p:attrNameLst>
                                          <p:attrName>ppt_x</p:attrName>
                                        </p:attrNameLst>
                                      </p:cBhvr>
                                      <p:tavLst>
                                        <p:tav tm="0">
                                          <p:val>
                                            <p:strVal val="#ppt_x"/>
                                          </p:val>
                                        </p:tav>
                                        <p:tav tm="100000">
                                          <p:val>
                                            <p:strVal val="#ppt_x"/>
                                          </p:val>
                                        </p:tav>
                                      </p:tavLst>
                                    </p:anim>
                                    <p:anim calcmode="lin" valueType="num">
                                      <p:cBhvr additive="base">
                                        <p:cTn id="170" dur="700" fill="hold"/>
                                        <p:tgtEl>
                                          <p:spTgt spid="46"/>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2" dur="1" fill="hold">
                                          <p:stCondLst>
                                            <p:cond delay="0"/>
                                          </p:stCondLst>
                                        </p:cTn>
                                        <p:tgtEl>
                                          <p:spTgt spid="47"/>
                                        </p:tgtEl>
                                        <p:attrNameLst>
                                          <p:attrName>style.visibility</p:attrName>
                                        </p:attrNameLst>
                                      </p:cBhvr>
                                      <p:to>
                                        <p:strVal val="visible"/>
                                      </p:to>
                                    </p:set>
                                    <p:animEffect transition="in" filter="fade">
                                      <p:cBhvr>
                                        <p:cTn id="173" dur="700"/>
                                        <p:tgtEl>
                                          <p:spTgt spid="47"/>
                                        </p:tgtEl>
                                      </p:cBhvr>
                                    </p:animEffect>
                                    <p:anim calcmode="lin" valueType="num">
                                      <p:cBhvr additive="base">
                                        <p:cTn id="174" dur="700" fill="hold"/>
                                        <p:tgtEl>
                                          <p:spTgt spid="47"/>
                                        </p:tgtEl>
                                        <p:attrNameLst>
                                          <p:attrName>ppt_x</p:attrName>
                                        </p:attrNameLst>
                                      </p:cBhvr>
                                      <p:tavLst>
                                        <p:tav tm="0">
                                          <p:val>
                                            <p:strVal val="#ppt_x"/>
                                          </p:val>
                                        </p:tav>
                                        <p:tav tm="100000">
                                          <p:val>
                                            <p:strVal val="#ppt_x"/>
                                          </p:val>
                                        </p:tav>
                                      </p:tavLst>
                                    </p:anim>
                                    <p:anim calcmode="lin" valueType="num">
                                      <p:cBhvr additive="base">
                                        <p:cTn id="175" dur="700" fill="hold"/>
                                        <p:tgtEl>
                                          <p:spTgt spid="47"/>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700"/>
                                        <p:tgtEl>
                                          <p:spTgt spid="48"/>
                                        </p:tgtEl>
                                      </p:cBhvr>
                                    </p:animEffect>
                                    <p:anim calcmode="lin" valueType="num">
                                      <p:cBhvr additive="base">
                                        <p:cTn id="179" dur="700" fill="hold"/>
                                        <p:tgtEl>
                                          <p:spTgt spid="48"/>
                                        </p:tgtEl>
                                        <p:attrNameLst>
                                          <p:attrName>ppt_x</p:attrName>
                                        </p:attrNameLst>
                                      </p:cBhvr>
                                      <p:tavLst>
                                        <p:tav tm="0">
                                          <p:val>
                                            <p:strVal val="#ppt_x"/>
                                          </p:val>
                                        </p:tav>
                                        <p:tav tm="100000">
                                          <p:val>
                                            <p:strVal val="#ppt_x"/>
                                          </p:val>
                                        </p:tav>
                                      </p:tavLst>
                                    </p:anim>
                                    <p:anim calcmode="lin" valueType="num">
                                      <p:cBhvr additive="base">
                                        <p:cTn id="180" dur="700" fill="hold"/>
                                        <p:tgtEl>
                                          <p:spTgt spid="48"/>
                                        </p:tgtEl>
                                        <p:attrNameLst>
                                          <p:attrName>ppt_y</p:attrName>
                                        </p:attrNameLst>
                                      </p:cBhvr>
                                      <p:tavLst>
                                        <p:tav tm="0">
                                          <p:val>
                                            <p:strVal val="#ppt_y+.1"/>
                                          </p:val>
                                        </p:tav>
                                        <p:tav tm="100000">
                                          <p:val>
                                            <p:strVal val="#ppt_y"/>
                                          </p:val>
                                        </p:tav>
                                      </p:tavLst>
                                    </p:anim>
                                  </p:childTnLst>
                                </p:cTn>
                              </p:par>
                              <p:par>
                                <p:cTn id="186" presetID="42" presetClass="entr" presetSubtype="0" fill="hold" grpId="0" nodeType="withEffect">
                                  <p:stCondLst>
                                    <p:cond delay="0"/>
                                  </p:stCondLst>
                                  <p:childTnLst>
                                    <p:set>
                                      <p:cBhvr>
                                        <p:cTn id="182" dur="1" fill="hold">
                                          <p:stCondLst>
                                            <p:cond delay="0"/>
                                          </p:stCondLst>
                                        </p:cTn>
                                        <p:tgtEl>
                                          <p:spTgt spid="49"/>
                                        </p:tgtEl>
                                        <p:attrNameLst>
                                          <p:attrName>style.visibility</p:attrName>
                                        </p:attrNameLst>
                                      </p:cBhvr>
                                      <p:to>
                                        <p:strVal val="visible"/>
                                      </p:to>
                                    </p:set>
                                    <p:animEffect transition="in" filter="fade">
                                      <p:cBhvr>
                                        <p:cTn id="183" dur="700"/>
                                        <p:tgtEl>
                                          <p:spTgt spid="49"/>
                                        </p:tgtEl>
                                      </p:cBhvr>
                                    </p:animEffect>
                                    <p:anim calcmode="lin" valueType="num">
                                      <p:cBhvr additive="base">
                                        <p:cTn id="184" dur="700" fill="hold"/>
                                        <p:tgtEl>
                                          <p:spTgt spid="49"/>
                                        </p:tgtEl>
                                        <p:attrNameLst>
                                          <p:attrName>ppt_x</p:attrName>
                                        </p:attrNameLst>
                                      </p:cBhvr>
                                      <p:tavLst>
                                        <p:tav tm="0">
                                          <p:val>
                                            <p:strVal val="#ppt_x"/>
                                          </p:val>
                                        </p:tav>
                                        <p:tav tm="100000">
                                          <p:val>
                                            <p:strVal val="#ppt_x"/>
                                          </p:val>
                                        </p:tav>
                                      </p:tavLst>
                                    </p:anim>
                                    <p:anim calcmode="lin" valueType="num">
                                      <p:cBhvr additive="base">
                                        <p:cTn id="185" dur="700" fill="hold"/>
                                        <p:tgtEl>
                                          <p:spTgt spid="49"/>
                                        </p:tgtEl>
                                        <p:attrNameLst>
                                          <p:attrName>ppt_y</p:attrName>
                                        </p:attrNameLst>
                                      </p:cBhvr>
                                      <p:tavLst>
                                        <p:tav tm="0">
                                          <p:val>
                                            <p:strVal val="#ppt_y+.1"/>
                                          </p:val>
                                        </p:tav>
                                        <p:tav tm="100000">
                                          <p:val>
                                            <p:strVal val="#ppt_y"/>
                                          </p:val>
                                        </p:tav>
                                      </p:tavLst>
                                    </p:anim>
                                  </p:childTnLst>
                                </p:cTn>
                              </p:par>
                              <p:par>
                                <p:cTn id="191" presetID="42" presetClass="entr" presetSubtype="0" fill="hold" grpId="0" nodeType="withEffect">
                                  <p:stCondLst>
                                    <p:cond delay="0"/>
                                  </p:stCondLst>
                                  <p:childTnLst>
                                    <p:set>
                                      <p:cBhvr>
                                        <p:cTn id="187" dur="1" fill="hold">
                                          <p:stCondLst>
                                            <p:cond delay="0"/>
                                          </p:stCondLst>
                                        </p:cTn>
                                        <p:tgtEl>
                                          <p:spTgt spid="50"/>
                                        </p:tgtEl>
                                        <p:attrNameLst>
                                          <p:attrName>style.visibility</p:attrName>
                                        </p:attrNameLst>
                                      </p:cBhvr>
                                      <p:to>
                                        <p:strVal val="visible"/>
                                      </p:to>
                                    </p:set>
                                    <p:animEffect transition="in" filter="fade">
                                      <p:cBhvr>
                                        <p:cTn id="188" dur="700"/>
                                        <p:tgtEl>
                                          <p:spTgt spid="50"/>
                                        </p:tgtEl>
                                      </p:cBhvr>
                                    </p:animEffect>
                                    <p:anim calcmode="lin" valueType="num">
                                      <p:cBhvr additive="base">
                                        <p:cTn id="189" dur="700" fill="hold"/>
                                        <p:tgtEl>
                                          <p:spTgt spid="50"/>
                                        </p:tgtEl>
                                        <p:attrNameLst>
                                          <p:attrName>ppt_x</p:attrName>
                                        </p:attrNameLst>
                                      </p:cBhvr>
                                      <p:tavLst>
                                        <p:tav tm="0">
                                          <p:val>
                                            <p:strVal val="#ppt_x"/>
                                          </p:val>
                                        </p:tav>
                                        <p:tav tm="100000">
                                          <p:val>
                                            <p:strVal val="#ppt_x"/>
                                          </p:val>
                                        </p:tav>
                                      </p:tavLst>
                                    </p:anim>
                                    <p:anim calcmode="lin" valueType="num">
                                      <p:cBhvr additive="base">
                                        <p:cTn id="190" dur="700" fill="hold"/>
                                        <p:tgtEl>
                                          <p:spTgt spid="50"/>
                                        </p:tgtEl>
                                        <p:attrNameLst>
                                          <p:attrName>ppt_y</p:attrName>
                                        </p:attrNameLst>
                                      </p:cBhvr>
                                      <p:tavLst>
                                        <p:tav tm="0">
                                          <p:val>
                                            <p:strVal val="#ppt_y+.1"/>
                                          </p:val>
                                        </p:tav>
                                        <p:tav tm="100000">
                                          <p:val>
                                            <p:strVal val="#ppt_y"/>
                                          </p:val>
                                        </p:tav>
                                      </p:tavLst>
                                    </p:anim>
                                  </p:childTnLst>
                                </p:cTn>
                              </p:par>
                              <p:par>
                                <p:cTn id="196" presetID="42" presetClass="entr" presetSubtype="0" fill="hold" grpId="0" nodeType="withEffect">
                                  <p:stCondLst>
                                    <p:cond delay="0"/>
                                  </p:stCondLst>
                                  <p:childTnLst>
                                    <p:set>
                                      <p:cBhvr>
                                        <p:cTn id="192" dur="1" fill="hold">
                                          <p:stCondLst>
                                            <p:cond delay="0"/>
                                          </p:stCondLst>
                                        </p:cTn>
                                        <p:tgtEl>
                                          <p:spTgt spid="51"/>
                                        </p:tgtEl>
                                        <p:attrNameLst>
                                          <p:attrName>style.visibility</p:attrName>
                                        </p:attrNameLst>
                                      </p:cBhvr>
                                      <p:to>
                                        <p:strVal val="visible"/>
                                      </p:to>
                                    </p:set>
                                    <p:animEffect transition="in" filter="fade">
                                      <p:cBhvr>
                                        <p:cTn id="193" dur="700"/>
                                        <p:tgtEl>
                                          <p:spTgt spid="51"/>
                                        </p:tgtEl>
                                      </p:cBhvr>
                                    </p:animEffect>
                                    <p:anim calcmode="lin" valueType="num">
                                      <p:cBhvr additive="base">
                                        <p:cTn id="194" dur="700" fill="hold"/>
                                        <p:tgtEl>
                                          <p:spTgt spid="51"/>
                                        </p:tgtEl>
                                        <p:attrNameLst>
                                          <p:attrName>ppt_x</p:attrName>
                                        </p:attrNameLst>
                                      </p:cBhvr>
                                      <p:tavLst>
                                        <p:tav tm="0">
                                          <p:val>
                                            <p:strVal val="#ppt_x"/>
                                          </p:val>
                                        </p:tav>
                                        <p:tav tm="100000">
                                          <p:val>
                                            <p:strVal val="#ppt_x"/>
                                          </p:val>
                                        </p:tav>
                                      </p:tavLst>
                                    </p:anim>
                                    <p:anim calcmode="lin" valueType="num">
                                      <p:cBhvr additive="base">
                                        <p:cTn id="195" dur="700" fill="hold"/>
                                        <p:tgtEl>
                                          <p:spTgt spid="51"/>
                                        </p:tgtEl>
                                        <p:attrNameLst>
                                          <p:attrName>ppt_y</p:attrName>
                                        </p:attrNameLst>
                                      </p:cBhvr>
                                      <p:tavLst>
                                        <p:tav tm="0">
                                          <p:val>
                                            <p:strVal val="#ppt_y+.1"/>
                                          </p:val>
                                        </p:tav>
                                        <p:tav tm="100000">
                                          <p:val>
                                            <p:strVal val="#ppt_y"/>
                                          </p:val>
                                        </p:tav>
                                      </p:tavLst>
                                    </p:anim>
                                  </p:childTnLst>
                                </p:cTn>
                              </p:par>
                              <p:par>
                                <p:cTn id="201" presetID="42" presetClass="entr" presetSubtype="0" fill="hold" grpId="0" nodeType="withEffect">
                                  <p:stCondLst>
                                    <p:cond delay="0"/>
                                  </p:stCondLst>
                                  <p:childTnLst>
                                    <p:set>
                                      <p:cBhvr>
                                        <p:cTn id="197" dur="1" fill="hold">
                                          <p:stCondLst>
                                            <p:cond delay="0"/>
                                          </p:stCondLst>
                                        </p:cTn>
                                        <p:tgtEl>
                                          <p:spTgt spid="52"/>
                                        </p:tgtEl>
                                        <p:attrNameLst>
                                          <p:attrName>style.visibility</p:attrName>
                                        </p:attrNameLst>
                                      </p:cBhvr>
                                      <p:to>
                                        <p:strVal val="visible"/>
                                      </p:to>
                                    </p:set>
                                    <p:animEffect transition="in" filter="fade">
                                      <p:cBhvr>
                                        <p:cTn id="198" dur="700"/>
                                        <p:tgtEl>
                                          <p:spTgt spid="52"/>
                                        </p:tgtEl>
                                      </p:cBhvr>
                                    </p:animEffect>
                                    <p:anim calcmode="lin" valueType="num">
                                      <p:cBhvr additive="base">
                                        <p:cTn id="199" dur="700" fill="hold"/>
                                        <p:tgtEl>
                                          <p:spTgt spid="52"/>
                                        </p:tgtEl>
                                        <p:attrNameLst>
                                          <p:attrName>ppt_x</p:attrName>
                                        </p:attrNameLst>
                                      </p:cBhvr>
                                      <p:tavLst>
                                        <p:tav tm="0">
                                          <p:val>
                                            <p:strVal val="#ppt_x"/>
                                          </p:val>
                                        </p:tav>
                                        <p:tav tm="100000">
                                          <p:val>
                                            <p:strVal val="#ppt_x"/>
                                          </p:val>
                                        </p:tav>
                                      </p:tavLst>
                                    </p:anim>
                                    <p:anim calcmode="lin" valueType="num">
                                      <p:cBhvr additive="base">
                                        <p:cTn id="200" dur="7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236" fill="hold">
                      <p:stCondLst>
                        <p:cond delay="indefinite"/>
                      </p:stCondLst>
                      <p:childTnLst>
                        <p:par>
                          <p:cTn id="229" fill="hold">
                            <p:stCondLst>
                              <p:cond delay="0"/>
                            </p:stCondLst>
                            <p:childTnLst>
                              <p:par>
                                <p:cTn id="208" presetID="42" presetClass="entr" presetSubtype="0" fill="hold" grpId="0" nodeType="clickEffect">
                                  <p:stCondLst>
                                    <p:cond delay="0"/>
                                  </p:stCondLst>
                                  <p:childTnLst>
                                    <p:set>
                                      <p:cBhvr>
                                        <p:cTn id="204" dur="1" fill="hold">
                                          <p:stCondLst>
                                            <p:cond delay="0"/>
                                          </p:stCondLst>
                                        </p:cTn>
                                        <p:tgtEl>
                                          <p:spTgt spid="53"/>
                                        </p:tgtEl>
                                        <p:attrNameLst>
                                          <p:attrName>style.visibility</p:attrName>
                                        </p:attrNameLst>
                                      </p:cBhvr>
                                      <p:to>
                                        <p:strVal val="visible"/>
                                      </p:to>
                                    </p:set>
                                    <p:animEffect transition="in" filter="fade">
                                      <p:cBhvr>
                                        <p:cTn id="205" dur="700"/>
                                        <p:tgtEl>
                                          <p:spTgt spid="53"/>
                                        </p:tgtEl>
                                      </p:cBhvr>
                                    </p:animEffect>
                                    <p:anim calcmode="lin" valueType="num">
                                      <p:cBhvr additive="base">
                                        <p:cTn id="206" dur="700" fill="hold"/>
                                        <p:tgtEl>
                                          <p:spTgt spid="53"/>
                                        </p:tgtEl>
                                        <p:attrNameLst>
                                          <p:attrName>ppt_x</p:attrName>
                                        </p:attrNameLst>
                                      </p:cBhvr>
                                      <p:tavLst>
                                        <p:tav tm="0">
                                          <p:val>
                                            <p:strVal val="#ppt_x"/>
                                          </p:val>
                                        </p:tav>
                                        <p:tav tm="100000">
                                          <p:val>
                                            <p:strVal val="#ppt_x"/>
                                          </p:val>
                                        </p:tav>
                                      </p:tavLst>
                                    </p:anim>
                                    <p:anim calcmode="lin" valueType="num">
                                      <p:cBhvr additive="base">
                                        <p:cTn id="207" dur="700" fill="hold"/>
                                        <p:tgtEl>
                                          <p:spTgt spid="53"/>
                                        </p:tgtEl>
                                        <p:attrNameLst>
                                          <p:attrName>ppt_y</p:attrName>
                                        </p:attrNameLst>
                                      </p:cBhvr>
                                      <p:tavLst>
                                        <p:tav tm="0">
                                          <p:val>
                                            <p:strVal val="#ppt_y+.1"/>
                                          </p:val>
                                        </p:tav>
                                        <p:tav tm="100000">
                                          <p:val>
                                            <p:strVal val="#ppt_y"/>
                                          </p:val>
                                        </p:tav>
                                      </p:tavLst>
                                    </p:anim>
                                  </p:childTnLst>
                                </p:cTn>
                              </p:par>
                              <p:par>
                                <p:cTn id="213" presetID="42" presetClass="entr" presetSubtype="0" fill="hold" grpId="0" nodeType="with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700"/>
                                        <p:tgtEl>
                                          <p:spTgt spid="54"/>
                                        </p:tgtEl>
                                      </p:cBhvr>
                                    </p:animEffect>
                                    <p:anim calcmode="lin" valueType="num">
                                      <p:cBhvr additive="base">
                                        <p:cTn id="211" dur="700" fill="hold"/>
                                        <p:tgtEl>
                                          <p:spTgt spid="54"/>
                                        </p:tgtEl>
                                        <p:attrNameLst>
                                          <p:attrName>ppt_x</p:attrName>
                                        </p:attrNameLst>
                                      </p:cBhvr>
                                      <p:tavLst>
                                        <p:tav tm="0">
                                          <p:val>
                                            <p:strVal val="#ppt_x"/>
                                          </p:val>
                                        </p:tav>
                                        <p:tav tm="100000">
                                          <p:val>
                                            <p:strVal val="#ppt_x"/>
                                          </p:val>
                                        </p:tav>
                                      </p:tavLst>
                                    </p:anim>
                                    <p:anim calcmode="lin" valueType="num">
                                      <p:cBhvr additive="base">
                                        <p:cTn id="212" dur="700" fill="hold"/>
                                        <p:tgtEl>
                                          <p:spTgt spid="54"/>
                                        </p:tgtEl>
                                        <p:attrNameLst>
                                          <p:attrName>ppt_y</p:attrName>
                                        </p:attrNameLst>
                                      </p:cBhvr>
                                      <p:tavLst>
                                        <p:tav tm="0">
                                          <p:val>
                                            <p:strVal val="#ppt_y+.1"/>
                                          </p:val>
                                        </p:tav>
                                        <p:tav tm="100000">
                                          <p:val>
                                            <p:strVal val="#ppt_y"/>
                                          </p:val>
                                        </p:tav>
                                      </p:tavLst>
                                    </p:anim>
                                  </p:childTnLst>
                                </p:cTn>
                              </p:par>
                              <p:par>
                                <p:cTn id="218" presetID="42" presetClass="entr" presetSubtype="0" fill="hold" grpId="0" nodeType="withEffect">
                                  <p:stCondLst>
                                    <p:cond delay="0"/>
                                  </p:stCondLst>
                                  <p:childTnLst>
                                    <p:set>
                                      <p:cBhvr>
                                        <p:cTn id="214" dur="1" fill="hold">
                                          <p:stCondLst>
                                            <p:cond delay="0"/>
                                          </p:stCondLst>
                                        </p:cTn>
                                        <p:tgtEl>
                                          <p:spTgt spid="55"/>
                                        </p:tgtEl>
                                        <p:attrNameLst>
                                          <p:attrName>style.visibility</p:attrName>
                                        </p:attrNameLst>
                                      </p:cBhvr>
                                      <p:to>
                                        <p:strVal val="visible"/>
                                      </p:to>
                                    </p:set>
                                    <p:animEffect transition="in" filter="fade">
                                      <p:cBhvr>
                                        <p:cTn id="215" dur="700"/>
                                        <p:tgtEl>
                                          <p:spTgt spid="55"/>
                                        </p:tgtEl>
                                      </p:cBhvr>
                                    </p:animEffect>
                                    <p:anim calcmode="lin" valueType="num">
                                      <p:cBhvr additive="base">
                                        <p:cTn id="216" dur="700" fill="hold"/>
                                        <p:tgtEl>
                                          <p:spTgt spid="55"/>
                                        </p:tgtEl>
                                        <p:attrNameLst>
                                          <p:attrName>ppt_x</p:attrName>
                                        </p:attrNameLst>
                                      </p:cBhvr>
                                      <p:tavLst>
                                        <p:tav tm="0">
                                          <p:val>
                                            <p:strVal val="#ppt_x"/>
                                          </p:val>
                                        </p:tav>
                                        <p:tav tm="100000">
                                          <p:val>
                                            <p:strVal val="#ppt_x"/>
                                          </p:val>
                                        </p:tav>
                                      </p:tavLst>
                                    </p:anim>
                                    <p:anim calcmode="lin" valueType="num">
                                      <p:cBhvr additive="base">
                                        <p:cTn id="217" dur="700" fill="hold"/>
                                        <p:tgtEl>
                                          <p:spTgt spid="55"/>
                                        </p:tgtEl>
                                        <p:attrNameLst>
                                          <p:attrName>ppt_y</p:attrName>
                                        </p:attrNameLst>
                                      </p:cBhvr>
                                      <p:tavLst>
                                        <p:tav tm="0">
                                          <p:val>
                                            <p:strVal val="#ppt_y+.1"/>
                                          </p:val>
                                        </p:tav>
                                        <p:tav tm="100000">
                                          <p:val>
                                            <p:strVal val="#ppt_y"/>
                                          </p:val>
                                        </p:tav>
                                      </p:tavLst>
                                    </p:anim>
                                  </p:childTnLst>
                                </p:cTn>
                              </p:par>
                              <p:par>
                                <p:cTn id="223" presetID="42" presetClass="entr" presetSubtype="0" fill="hold" grpId="0" nodeType="withEffect">
                                  <p:stCondLst>
                                    <p:cond delay="0"/>
                                  </p:stCondLst>
                                  <p:childTnLst>
                                    <p:set>
                                      <p:cBhvr>
                                        <p:cTn id="219" dur="1" fill="hold">
                                          <p:stCondLst>
                                            <p:cond delay="0"/>
                                          </p:stCondLst>
                                        </p:cTn>
                                        <p:tgtEl>
                                          <p:spTgt spid="56"/>
                                        </p:tgtEl>
                                        <p:attrNameLst>
                                          <p:attrName>style.visibility</p:attrName>
                                        </p:attrNameLst>
                                      </p:cBhvr>
                                      <p:to>
                                        <p:strVal val="visible"/>
                                      </p:to>
                                    </p:set>
                                    <p:animEffect transition="in" filter="fade">
                                      <p:cBhvr>
                                        <p:cTn id="220" dur="700"/>
                                        <p:tgtEl>
                                          <p:spTgt spid="56"/>
                                        </p:tgtEl>
                                      </p:cBhvr>
                                    </p:animEffect>
                                    <p:anim calcmode="lin" valueType="num">
                                      <p:cBhvr additive="base">
                                        <p:cTn id="221" dur="700" fill="hold"/>
                                        <p:tgtEl>
                                          <p:spTgt spid="56"/>
                                        </p:tgtEl>
                                        <p:attrNameLst>
                                          <p:attrName>ppt_x</p:attrName>
                                        </p:attrNameLst>
                                      </p:cBhvr>
                                      <p:tavLst>
                                        <p:tav tm="0">
                                          <p:val>
                                            <p:strVal val="#ppt_x"/>
                                          </p:val>
                                        </p:tav>
                                        <p:tav tm="100000">
                                          <p:val>
                                            <p:strVal val="#ppt_x"/>
                                          </p:val>
                                        </p:tav>
                                      </p:tavLst>
                                    </p:anim>
                                    <p:anim calcmode="lin" valueType="num">
                                      <p:cBhvr additive="base">
                                        <p:cTn id="222" dur="700" fill="hold"/>
                                        <p:tgtEl>
                                          <p:spTgt spid="56"/>
                                        </p:tgtEl>
                                        <p:attrNameLst>
                                          <p:attrName>ppt_y</p:attrName>
                                        </p:attrNameLst>
                                      </p:cBhvr>
                                      <p:tavLst>
                                        <p:tav tm="0">
                                          <p:val>
                                            <p:strVal val="#ppt_y+.1"/>
                                          </p:val>
                                        </p:tav>
                                        <p:tav tm="100000">
                                          <p:val>
                                            <p:strVal val="#ppt_y"/>
                                          </p:val>
                                        </p:tav>
                                      </p:tavLst>
                                    </p:anim>
                                  </p:childTnLst>
                                </p:cTn>
                              </p:par>
                              <p:par>
                                <p:cTn id="228" presetID="42" presetClass="entr" presetSubtype="0" fill="hold" grpId="0" nodeType="withEffect">
                                  <p:stCondLst>
                                    <p:cond delay="0"/>
                                  </p:stCondLst>
                                  <p:childTnLst>
                                    <p:set>
                                      <p:cBhvr>
                                        <p:cTn id="224" dur="1" fill="hold">
                                          <p:stCondLst>
                                            <p:cond delay="0"/>
                                          </p:stCondLst>
                                        </p:cTn>
                                        <p:tgtEl>
                                          <p:spTgt spid="57"/>
                                        </p:tgtEl>
                                        <p:attrNameLst>
                                          <p:attrName>style.visibility</p:attrName>
                                        </p:attrNameLst>
                                      </p:cBhvr>
                                      <p:to>
                                        <p:strVal val="visible"/>
                                      </p:to>
                                    </p:set>
                                    <p:animEffect transition="in" filter="fade">
                                      <p:cBhvr>
                                        <p:cTn id="225" dur="700"/>
                                        <p:tgtEl>
                                          <p:spTgt spid="57"/>
                                        </p:tgtEl>
                                      </p:cBhvr>
                                    </p:animEffect>
                                    <p:anim calcmode="lin" valueType="num">
                                      <p:cBhvr additive="base">
                                        <p:cTn id="226" dur="700" fill="hold"/>
                                        <p:tgtEl>
                                          <p:spTgt spid="57"/>
                                        </p:tgtEl>
                                        <p:attrNameLst>
                                          <p:attrName>ppt_x</p:attrName>
                                        </p:attrNameLst>
                                      </p:cBhvr>
                                      <p:tavLst>
                                        <p:tav tm="0">
                                          <p:val>
                                            <p:strVal val="#ppt_x"/>
                                          </p:val>
                                        </p:tav>
                                        <p:tav tm="100000">
                                          <p:val>
                                            <p:strVal val="#ppt_x"/>
                                          </p:val>
                                        </p:tav>
                                      </p:tavLst>
                                    </p:anim>
                                    <p:anim calcmode="lin" valueType="num">
                                      <p:cBhvr additive="base">
                                        <p:cTn id="227" dur="700" fill="hold"/>
                                        <p:tgtEl>
                                          <p:spTgt spid="57"/>
                                        </p:tgtEl>
                                        <p:attrNameLst>
                                          <p:attrName>ppt_y</p:attrName>
                                        </p:attrNameLst>
                                      </p:cBhvr>
                                      <p:tavLst>
                                        <p:tav tm="0">
                                          <p:val>
                                            <p:strVal val="#ppt_y+.1"/>
                                          </p:val>
                                        </p:tav>
                                        <p:tav tm="100000">
                                          <p:val>
                                            <p:strVal val="#ppt_y"/>
                                          </p:val>
                                        </p:tav>
                                      </p:tavLst>
                                    </p:anim>
                                  </p:childTnLst>
                                </p:cTn>
                              </p:par>
                            </p:childTnLst>
                          </p:cTn>
                        </p:par>
                        <p:par>
                          <p:cTn id="235" fill="hold">
                            <p:stCondLst>
                              <p:cond delay="385"/>
                            </p:stCondLst>
                            <p:childTnLst>
                              <p:par>
                                <p:cTn id="234" presetID="42" presetClass="entr" presetSubtype="0" fill="hold" grpId="0" nodeType="afterEffect">
                                  <p:stCondLst>
                                    <p:cond delay="0"/>
                                  </p:stCondLst>
                                  <p:childTnLst>
                                    <p:set>
                                      <p:cBhvr>
                                        <p:cTn id="230" dur="1" fill="hold">
                                          <p:stCondLst>
                                            <p:cond delay="0"/>
                                          </p:stCondLst>
                                        </p:cTn>
                                        <p:tgtEl>
                                          <p:spTgt spid="58"/>
                                        </p:tgtEl>
                                        <p:attrNameLst>
                                          <p:attrName>style.visibility</p:attrName>
                                        </p:attrNameLst>
                                      </p:cBhvr>
                                      <p:to>
                                        <p:strVal val="visible"/>
                                      </p:to>
                                    </p:set>
                                    <p:animEffect transition="in" filter="fade">
                                      <p:cBhvr>
                                        <p:cTn id="231" dur="700"/>
                                        <p:tgtEl>
                                          <p:spTgt spid="58"/>
                                        </p:tgtEl>
                                      </p:cBhvr>
                                    </p:animEffect>
                                    <p:anim calcmode="lin" valueType="num">
                                      <p:cBhvr additive="base">
                                        <p:cTn id="232" dur="700" fill="hold"/>
                                        <p:tgtEl>
                                          <p:spTgt spid="58"/>
                                        </p:tgtEl>
                                        <p:attrNameLst>
                                          <p:attrName>ppt_x</p:attrName>
                                        </p:attrNameLst>
                                      </p:cBhvr>
                                      <p:tavLst>
                                        <p:tav tm="0">
                                          <p:val>
                                            <p:strVal val="#ppt_x"/>
                                          </p:val>
                                        </p:tav>
                                        <p:tav tm="100000">
                                          <p:val>
                                            <p:strVal val="#ppt_x"/>
                                          </p:val>
                                        </p:tav>
                                      </p:tavLst>
                                    </p:anim>
                                    <p:anim calcmode="lin" valueType="num">
                                      <p:cBhvr additive="base">
                                        <p:cTn id="233" dur="7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46" fill="hold">
                      <p:stCondLst>
                        <p:cond delay="indefinite"/>
                      </p:stCondLst>
                      <p:childTnLst>
                        <p:par>
                          <p:cTn id="245" fill="hold">
                            <p:stCondLst>
                              <p:cond delay="0"/>
                            </p:stCondLst>
                            <p:childTnLst>
                              <p:par>
                                <p:cTn id="239" presetID="10" presetClass="entr" presetSubtype="0" fill="hold" grpId="0" nodeType="clickEffect">
                                  <p:stCondLst>
                                    <p:cond delay="0"/>
                                  </p:stCondLst>
                                  <p:childTnLst>
                                    <p:set>
                                      <p:cBhvr>
                                        <p:cTn id="237" dur="1" fill="hold">
                                          <p:stCondLst>
                                            <p:cond delay="0"/>
                                          </p:stCondLst>
                                        </p:cTn>
                                        <p:tgtEl>
                                          <p:spTgt spid="59"/>
                                        </p:tgtEl>
                                        <p:attrNameLst>
                                          <p:attrName>style.visibility</p:attrName>
                                        </p:attrNameLst>
                                      </p:cBhvr>
                                      <p:to>
                                        <p:strVal val="visible"/>
                                      </p:to>
                                    </p:set>
                                    <p:animEffect transition="in" filter="fade">
                                      <p:cBhvr>
                                        <p:cTn id="238" dur="600"/>
                                        <p:tgtEl>
                                          <p:spTgt spid="59"/>
                                        </p:tgtEl>
                                      </p:cBhvr>
                                    </p:animEffect>
                                  </p:childTnLst>
                                </p:cTn>
                              </p:par>
                              <p:par>
                                <p:cTn id="244" presetID="42" presetClass="entr" presetSubtype="0" fill="hold" grpId="0" nodeType="withEffect">
                                  <p:stCondLst>
                                    <p:cond delay="0"/>
                                  </p:stCondLst>
                                  <p:childTnLst>
                                    <p:set>
                                      <p:cBhvr>
                                        <p:cTn id="240" dur="1" fill="hold">
                                          <p:stCondLst>
                                            <p:cond delay="0"/>
                                          </p:stCondLst>
                                        </p:cTn>
                                        <p:tgtEl>
                                          <p:spTgt spid="60"/>
                                        </p:tgtEl>
                                        <p:attrNameLst>
                                          <p:attrName>style.visibility</p:attrName>
                                        </p:attrNameLst>
                                      </p:cBhvr>
                                      <p:to>
                                        <p:strVal val="visible"/>
                                      </p:to>
                                    </p:set>
                                    <p:animEffect transition="in" filter="fade">
                                      <p:cBhvr>
                                        <p:cTn id="241" dur="700"/>
                                        <p:tgtEl>
                                          <p:spTgt spid="60"/>
                                        </p:tgtEl>
                                      </p:cBhvr>
                                    </p:animEffect>
                                    <p:anim calcmode="lin" valueType="num">
                                      <p:cBhvr additive="base">
                                        <p:cTn id="242" dur="700" fill="hold"/>
                                        <p:tgtEl>
                                          <p:spTgt spid="60"/>
                                        </p:tgtEl>
                                        <p:attrNameLst>
                                          <p:attrName>ppt_x</p:attrName>
                                        </p:attrNameLst>
                                      </p:cBhvr>
                                      <p:tavLst>
                                        <p:tav tm="0">
                                          <p:val>
                                            <p:strVal val="#ppt_x"/>
                                          </p:val>
                                        </p:tav>
                                        <p:tav tm="100000">
                                          <p:val>
                                            <p:strVal val="#ppt_x"/>
                                          </p:val>
                                        </p:tav>
                                      </p:tavLst>
                                    </p:anim>
                                    <p:anim calcmode="lin" valueType="num">
                                      <p:cBhvr additive="base">
                                        <p:cTn id="243" dur="7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256" fill="hold">
                      <p:stCondLst>
                        <p:cond delay="indefinite"/>
                      </p:stCondLst>
                      <p:childTnLst>
                        <p:par>
                          <p:cTn id="255" fill="hold">
                            <p:stCondLst>
                              <p:cond delay="0"/>
                            </p:stCondLst>
                            <p:childTnLst>
                              <p:par>
                                <p:cTn id="249" presetID="10" presetClass="entr" presetSubtype="0" fill="hold" grpId="0" nodeType="clickEffect">
                                  <p:stCondLst>
                                    <p:cond delay="0"/>
                                  </p:stCondLst>
                                  <p:childTnLst>
                                    <p:set>
                                      <p:cBhvr>
                                        <p:cTn id="247" dur="1" fill="hold">
                                          <p:stCondLst>
                                            <p:cond delay="0"/>
                                          </p:stCondLst>
                                        </p:cTn>
                                        <p:tgtEl>
                                          <p:spTgt spid="61"/>
                                        </p:tgtEl>
                                        <p:attrNameLst>
                                          <p:attrName>style.visibility</p:attrName>
                                        </p:attrNameLst>
                                      </p:cBhvr>
                                      <p:to>
                                        <p:strVal val="visible"/>
                                      </p:to>
                                    </p:set>
                                    <p:animEffect transition="in" filter="fade">
                                      <p:cBhvr>
                                        <p:cTn id="248" dur="600"/>
                                        <p:tgtEl>
                                          <p:spTgt spid="61"/>
                                        </p:tgtEl>
                                      </p:cBhvr>
                                    </p:animEffect>
                                  </p:childTnLst>
                                </p:cTn>
                              </p:par>
                              <p:par>
                                <p:cTn id="254" presetID="42" presetClass="entr" presetSubtype="0" fill="hold" grpId="0" nodeType="withEffect">
                                  <p:stCondLst>
                                    <p:cond delay="0"/>
                                  </p:stCondLst>
                                  <p:childTnLst>
                                    <p:set>
                                      <p:cBhvr>
                                        <p:cTn id="250" dur="1" fill="hold">
                                          <p:stCondLst>
                                            <p:cond delay="0"/>
                                          </p:stCondLst>
                                        </p:cTn>
                                        <p:tgtEl>
                                          <p:spTgt spid="62"/>
                                        </p:tgtEl>
                                        <p:attrNameLst>
                                          <p:attrName>style.visibility</p:attrName>
                                        </p:attrNameLst>
                                      </p:cBhvr>
                                      <p:to>
                                        <p:strVal val="visible"/>
                                      </p:to>
                                    </p:set>
                                    <p:animEffect transition="in" filter="fade">
                                      <p:cBhvr>
                                        <p:cTn id="251" dur="700"/>
                                        <p:tgtEl>
                                          <p:spTgt spid="62"/>
                                        </p:tgtEl>
                                      </p:cBhvr>
                                    </p:animEffect>
                                    <p:anim calcmode="lin" valueType="num">
                                      <p:cBhvr additive="base">
                                        <p:cTn id="252" dur="700" fill="hold"/>
                                        <p:tgtEl>
                                          <p:spTgt spid="62"/>
                                        </p:tgtEl>
                                        <p:attrNameLst>
                                          <p:attrName>ppt_x</p:attrName>
                                        </p:attrNameLst>
                                      </p:cBhvr>
                                      <p:tavLst>
                                        <p:tav tm="0">
                                          <p:val>
                                            <p:strVal val="#ppt_x"/>
                                          </p:val>
                                        </p:tav>
                                        <p:tav tm="100000">
                                          <p:val>
                                            <p:strVal val="#ppt_x"/>
                                          </p:val>
                                        </p:tav>
                                      </p:tavLst>
                                    </p:anim>
                                    <p:anim calcmode="lin" valueType="num">
                                      <p:cBhvr additive="base">
                                        <p:cTn id="253" dur="7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التدرج خلال الدورة: لماذا يصغر الحجم؟</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بصورة عامة وبفرض عدم وجود استثناءات، كلما انتقلنا عبر الدورة تدريجيًّا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من اليسار إلى اليمين</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331720"/>
            <a:ext cx="6766560" cy="749808"/>
          </a:xfrm>
          <a:prstGeom prst="roundRect">
            <a:avLst>
              <a:gd name="adj" fmla="val 17073"/>
            </a:avLst>
          </a:prstGeom>
          <a:solidFill>
            <a:srgbClr val="FFFFFF">
              <a:alpha val="94000"/>
            </a:srgbClr>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يزيد كل عنصر عن الذي يسبقه بروتون فتزداد شحنة النواة</a:t>
            </a:r>
            <a:endParaRPr lang="ar-SA" sz="1600" dirty="0"/>
          </a:p>
        </p:txBody>
      </p:sp>
      <p:sp>
        <p:nvSpPr>
          <p:cNvPr id="5" name="zoom:w:4"/>
          <p:cNvSpPr/>
          <p:nvPr/>
        </p:nvSpPr>
        <p:spPr>
          <a:xfrm>
            <a:off x="11082528" y="2423160"/>
            <a:ext cx="566928" cy="566928"/>
          </a:xfrm>
          <a:prstGeom prst="ellipse">
            <a:avLst/>
          </a:prstGeom>
          <a:solidFill>
            <a:srgbClr val="EA580C"/>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264408"/>
            <a:ext cx="6766560" cy="749808"/>
          </a:xfrm>
          <a:prstGeom prst="roundRect">
            <a:avLst>
              <a:gd name="adj" fmla="val 17073"/>
            </a:avLst>
          </a:prstGeom>
          <a:solidFill>
            <a:srgbClr val="FFFFFF">
              <a:alpha val="94000"/>
            </a:srgbClr>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وتزداد قوة جذب النواة لإلكترونات المستوى الخارجي</a:t>
            </a:r>
            <a:endParaRPr lang="ar-SA" sz="1600" dirty="0"/>
          </a:p>
        </p:txBody>
      </p:sp>
      <p:sp>
        <p:nvSpPr>
          <p:cNvPr id="7" name="zoom:w:6"/>
          <p:cNvSpPr/>
          <p:nvPr/>
        </p:nvSpPr>
        <p:spPr>
          <a:xfrm>
            <a:off x="11082528" y="3355848"/>
            <a:ext cx="566928" cy="566928"/>
          </a:xfrm>
          <a:prstGeom prst="ellipse">
            <a:avLst/>
          </a:prstGeom>
          <a:solidFill>
            <a:srgbClr val="EA580C"/>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197096"/>
            <a:ext cx="6766560" cy="749808"/>
          </a:xfrm>
          <a:prstGeom prst="roundRect">
            <a:avLst>
              <a:gd name="adj" fmla="val 17073"/>
            </a:avLst>
          </a:prstGeom>
          <a:solidFill>
            <a:srgbClr val="FFFFFF">
              <a:alpha val="94000"/>
            </a:srgbClr>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بينما يبقى تأثير الحجب ثابتًا (بسبب عدم زيادة مستويات الطاقة الرئيسية)</a:t>
            </a:r>
            <a:endParaRPr lang="ar-SA" sz="1600" dirty="0"/>
          </a:p>
        </p:txBody>
      </p:sp>
      <p:sp>
        <p:nvSpPr>
          <p:cNvPr id="9" name="zoom:w:8"/>
          <p:cNvSpPr/>
          <p:nvPr/>
        </p:nvSpPr>
        <p:spPr>
          <a:xfrm>
            <a:off x="11082528" y="4288536"/>
            <a:ext cx="566928" cy="566928"/>
          </a:xfrm>
          <a:prstGeom prst="ellipse">
            <a:avLst/>
          </a:prstGeom>
          <a:solidFill>
            <a:srgbClr val="EA580C"/>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0" name="wipe:c:9"/>
          <p:cNvSpPr/>
          <p:nvPr/>
        </p:nvSpPr>
        <p:spPr>
          <a:xfrm>
            <a:off x="4754880" y="5129784"/>
            <a:ext cx="6766560" cy="749808"/>
          </a:xfrm>
          <a:prstGeom prst="roundRect">
            <a:avLst>
              <a:gd name="adj" fmla="val 17073"/>
            </a:avLst>
          </a:prstGeom>
          <a:solidFill>
            <a:srgbClr val="EA580C"/>
          </a:solidFill>
          <a:ln w="19050">
            <a:solidFill>
              <a:srgbClr val="EA580C"/>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فيقل نصف القطر الذري</a:t>
            </a:r>
            <a:endParaRPr lang="ar-SA" sz="1600" dirty="0"/>
          </a:p>
        </p:txBody>
      </p:sp>
      <p:sp>
        <p:nvSpPr>
          <p:cNvPr id="11" name="zoom:w:10"/>
          <p:cNvSpPr/>
          <p:nvPr/>
        </p:nvSpPr>
        <p:spPr>
          <a:xfrm>
            <a:off x="11082528" y="5221224"/>
            <a:ext cx="566928" cy="566928"/>
          </a:xfrm>
          <a:prstGeom prst="ellipse">
            <a:avLst/>
          </a:prstGeom>
          <a:solidFill>
            <a:srgbClr val="FFFFFF"/>
          </a:solidFill>
          <a:ln w="25400">
            <a:solidFill>
              <a:srgbClr val="EA580C"/>
            </a:solidFill>
          </a:ln>
        </p:spPr>
        <p:txBody>
          <a:bodyPr wrap="square" lIns="0" tIns="0" rIns="0" bIns="0" rtlCol="0" anchor="ctr"/>
          <a:lstStyle/>
          <a:p>
            <a:pPr algn="ctr" indent="0" marL="0">
              <a:lnSpc>
                <a:spcPct val="105000"/>
              </a:lnSpc>
              <a:buNone/>
            </a:pPr>
            <a:r>
              <a:rPr lang="en-US" altLang="en-US" sz="1800" b="1" dirty="0">
                <a:solidFill>
                  <a:srgbClr val="EA580C"/>
                </a:solidFill>
                <a:latin typeface="Segoe UI" pitchFamily="34" charset="0"/>
                <a:ea typeface="Segoe UI" pitchFamily="34" charset="-122"/>
                <a:cs typeface="Segoe UI" pitchFamily="34" charset="-120"/>
              </a:rPr>
              <a:t>4</a:t>
            </a:r>
            <a:endParaRPr lang="en-US" sz="1800" dirty="0"/>
          </a:p>
        </p:txBody>
      </p:sp>
      <p:pic>
        <p:nvPicPr>
          <p:cNvPr id="12" name="zoom:a:11" descr="h_charge.png">    </p:cNvPr>
          <p:cNvPicPr>
            <a:picLocks noChangeAspect="1"/>
          </p:cNvPicPr>
          <p:nvPr/>
        </p:nvPicPr>
        <p:blipFill>
          <a:blip r:embed="rId1"/>
          <a:stretch>
            <a:fillRect/>
          </a:stretch>
        </p:blipFill>
        <p:spPr>
          <a:xfrm>
            <a:off x="831637" y="2331720"/>
            <a:ext cx="3274485" cy="2286000"/>
          </a:xfrm>
          <a:prstGeom prst="rect">
            <a:avLst/>
          </a:prstGeom>
        </p:spPr>
      </p:pic>
      <p:pic>
        <p:nvPicPr>
          <p:cNvPr id="13" name="zoom:a:12" descr="l/period_shrink.png">    </p:cNvPr>
          <p:cNvPicPr>
            <a:picLocks noChangeAspect="1"/>
          </p:cNvPicPr>
          <p:nvPr/>
        </p:nvPicPr>
        <p:blipFill>
          <a:blip r:embed="rId2"/>
          <a:stretch>
            <a:fillRect/>
          </a:stretch>
        </p:blipFill>
        <p:spPr>
          <a:xfrm>
            <a:off x="411480" y="4771945"/>
            <a:ext cx="4114800" cy="1200310"/>
          </a:xfrm>
          <a:prstGeom prst="rect">
            <a:avLst/>
          </a:prstGeom>
        </p:spPr>
      </p:pic>
      <p:sp>
        <p:nvSpPr>
          <p:cNvPr id="14" name="fade:w:13"/>
          <p:cNvSpPr txBox="1"/>
          <p:nvPr/>
        </p:nvSpPr>
        <p:spPr>
          <a:xfrm>
            <a:off x="411480" y="6035040"/>
            <a:ext cx="4114800" cy="411480"/>
          </a:xfrm>
          <a:prstGeom prst="rect">
            <a:avLst/>
          </a:prstGeom>
          <a:noFill/>
          <a:ln/>
        </p:spPr>
        <p:txBody>
          <a:bodyPr wrap="square" lIns="76200" tIns="152400" rIns="152400" bIns="7620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شكل (21): يقل نصف القطر الذري (الحجم الذري) ←</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39"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childTnLst>
                    </p:cTn>
                  </p:par>
                  <p:par>
                    <p:cTn id="64" fill="hold">
                      <p:stCondLst>
                        <p:cond delay="indefinite"/>
                      </p:stCondLst>
                      <p:childTnLst>
                        <p:par>
                          <p:cTn id="48"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600"/>
                                        <p:tgtEl>
                                          <p:spTgt spid="10"/>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ppt_w</p:attrName>
                                        </p:attrNameLst>
                                      </p:cBhvr>
                                      <p:tavLst>
                                        <p:tav tm="0">
                                          <p:val>
                                            <p:strVal val="0"/>
                                          </p:val>
                                        </p:tav>
                                        <p:tav tm="100000">
                                          <p:val>
                                            <p:strVal val="#ppt_w"/>
                                          </p:val>
                                        </p:tav>
                                      </p:tavLst>
                                    </p:anim>
                                    <p:anim calcmode="lin" valueType="num">
                                      <p:cBhvr additive="base">
                                        <p:cTn id="45" dur="500" fill="hold"/>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par>
                          <p:cTn id="54" fill="hold">
                            <p:stCondLst>
                              <p:cond delay="330"/>
                            </p:stCondLst>
                            <p:childTnLst>
                              <p:par>
                                <p:cTn id="53" presetID="53" presetClass="entr" presetSubtype="16"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strVal val="0"/>
                                          </p:val>
                                        </p:tav>
                                        <p:tav tm="100000">
                                          <p:val>
                                            <p:strVal val="#ppt_w"/>
                                          </p:val>
                                        </p:tav>
                                      </p:tavLst>
                                    </p:anim>
                                    <p:anim calcmode="lin" valueType="num">
                                      <p:cBhvr additive="base">
                                        <p:cTn id="51" dur="500" fill="hold"/>
                                        <p:tgtEl>
                                          <p:spTgt spid="12"/>
                                        </p:tgtEl>
                                        <p:attrNameLst>
                                          <p:attrName>ppt_h</p:attrName>
                                        </p:attrNameLst>
                                      </p:cBhvr>
                                      <p:tavLst>
                                        <p:tav tm="0">
                                          <p:val>
                                            <p:strVal val="0"/>
                                          </p:val>
                                        </p:tav>
                                        <p:tav tm="100000">
                                          <p:val>
                                            <p:strVal val="#ppt_h"/>
                                          </p:val>
                                        </p:tav>
                                      </p:tavLst>
                                    </p:anim>
                                    <p:animEffect transition="in" filter="fade">
                                      <p:cBhvr>
                                        <p:cTn id="52" dur="500"/>
                                        <p:tgtEl>
                                          <p:spTgt spid="12"/>
                                        </p:tgtEl>
                                      </p:cBhvr>
                                    </p:animEffect>
                                  </p:childTnLst>
                                </p:cTn>
                              </p:par>
                            </p:childTnLst>
                          </p:cTn>
                        </p:par>
                        <p:par>
                          <p:cTn id="63" fill="hold">
                            <p:stCondLst>
                              <p:cond delay="605"/>
                            </p:stCondLst>
                            <p:childTnLst>
                              <p:par>
                                <p:cTn id="59" presetID="53" presetClass="entr" presetSubtype="16"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ppt_w</p:attrName>
                                        </p:attrNameLst>
                                      </p:cBhvr>
                                      <p:tavLst>
                                        <p:tav tm="0">
                                          <p:val>
                                            <p:strVal val="0"/>
                                          </p:val>
                                        </p:tav>
                                        <p:tav tm="100000">
                                          <p:val>
                                            <p:strVal val="#ppt_w"/>
                                          </p:val>
                                        </p:tav>
                                      </p:tavLst>
                                    </p:anim>
                                    <p:anim calcmode="lin" valueType="num">
                                      <p:cBhvr additive="base">
                                        <p:cTn id="57" dur="500" fill="hold"/>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par>
                                <p:cTn id="62" presetID="10"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(5)</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المطلوب الإجابة عن الأسئلة التالية: (بفرض عدم وجود استثناءات)</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EA580C"/>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EA580C"/>
                </a:solidFill>
                <a:latin typeface="Segoe UI" pitchFamily="34" charset="0"/>
                <a:ea typeface="Segoe UI" pitchFamily="34" charset="-122"/>
                <a:cs typeface="Segoe UI" pitchFamily="34" charset="-120"/>
              </a:rPr>
              <a:t>3</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EA580C"/>
                </a:solidFill>
                <a:latin typeface="Segoe UI" pitchFamily="34" charset="0"/>
                <a:ea typeface="Segoe UI" pitchFamily="34" charset="-122"/>
                <a:cs typeface="Segoe UI" pitchFamily="34" charset="-120"/>
              </a:rPr>
              <a:t>9</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EA580C"/>
                </a:solidFill>
                <a:latin typeface="Segoe UI" pitchFamily="34" charset="0"/>
                <a:ea typeface="Segoe UI" pitchFamily="34" charset="-122"/>
                <a:cs typeface="Segoe UI" pitchFamily="34" charset="-120"/>
              </a:rPr>
              <a:t>10</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أصغر نصف قطر ذري (X – A)</a:t>
            </a:r>
            <a:endParaRPr lang="ar-SA" sz="1700" dirty="0"/>
          </a:p>
        </p:txBody>
      </p:sp>
      <p:sp>
        <p:nvSpPr>
          <p:cNvPr id="6" name="fade:a:5"/>
          <p:cNvSpPr/>
          <p:nvPr/>
        </p:nvSpPr>
        <p:spPr>
          <a:xfrm>
            <a:off x="411480" y="2331720"/>
            <a:ext cx="2606040" cy="594360"/>
          </a:xfrm>
          <a:prstGeom prst="roundRect">
            <a:avLst>
              <a:gd name="adj" fmla="val 50000"/>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A</a:t>
            </a:r>
            <a:endParaRPr lang="ar-SA" sz="2000" dirty="0"/>
          </a:p>
        </p:txBody>
      </p:sp>
      <p:sp>
        <p:nvSpPr>
          <p:cNvPr id="8" name="zoom:a:7"/>
          <p:cNvSpPr/>
          <p:nvPr/>
        </p:nvSpPr>
        <p:spPr>
          <a:xfrm>
            <a:off x="10378440" y="3090672"/>
            <a:ext cx="1417320" cy="914400"/>
          </a:xfrm>
          <a:prstGeom prst="roundRect">
            <a:avLst>
              <a:gd name="adj" fmla="val 14000"/>
            </a:avLst>
          </a:prstGeom>
          <a:solidFill>
            <a:srgbClr val="EA580C"/>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9" name="fade:a:8"/>
          <p:cNvSpPr/>
          <p:nvPr/>
        </p:nvSpPr>
        <p:spPr>
          <a:xfrm>
            <a:off x="411480" y="3090672"/>
            <a:ext cx="978408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0" name="wipe:c:9"/>
          <p:cNvSpPr/>
          <p:nvPr/>
        </p:nvSpPr>
        <p:spPr>
          <a:xfrm>
            <a:off x="411480" y="3090672"/>
            <a:ext cx="9784080" cy="914400"/>
          </a:xfrm>
          <a:prstGeom prst="roundRect">
            <a:avLst>
              <a:gd name="adj" fmla="val 14000"/>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A يقع على يمين X في الدورة نفسها، فتزداد شحنة النواة وتزداد قوة جذبها لإلكترونات المستوى الخارجي، بينما يبقى تأثير الحجب ثابتًا.</a:t>
            </a:r>
            <a:endParaRPr lang="ar-SA" sz="1600" dirty="0"/>
          </a:p>
        </p:txBody>
      </p:sp>
      <p:sp>
        <p:nvSpPr>
          <p:cNvPr id="11" name="float:a:10"/>
          <p:cNvSpPr/>
          <p:nvPr/>
        </p:nvSpPr>
        <p:spPr>
          <a:xfrm>
            <a:off x="3246120" y="4169664"/>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أكبر نصف قطر ذري (X – Z)</a:t>
            </a:r>
            <a:endParaRPr lang="ar-SA" sz="1700" dirty="0"/>
          </a:p>
        </p:txBody>
      </p:sp>
      <p:sp>
        <p:nvSpPr>
          <p:cNvPr id="12" name="fade:a:11"/>
          <p:cNvSpPr/>
          <p:nvPr/>
        </p:nvSpPr>
        <p:spPr>
          <a:xfrm>
            <a:off x="411480" y="4169664"/>
            <a:ext cx="2606040" cy="594360"/>
          </a:xfrm>
          <a:prstGeom prst="roundRect">
            <a:avLst>
              <a:gd name="adj" fmla="val 50000"/>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3" name="zoom:c:12"/>
          <p:cNvSpPr/>
          <p:nvPr/>
        </p:nvSpPr>
        <p:spPr>
          <a:xfrm>
            <a:off x="411480" y="4169664"/>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
        <p:nvSpPr>
          <p:cNvPr id="14" name="float:a:13"/>
          <p:cNvSpPr/>
          <p:nvPr/>
        </p:nvSpPr>
        <p:spPr>
          <a:xfrm>
            <a:off x="3246120" y="4928616"/>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3 - اسم مجموعة العنصر الذي له أكبر نصف قطر ذري</a:t>
            </a:r>
            <a:endParaRPr lang="ar-SA" sz="1700" dirty="0"/>
          </a:p>
        </p:txBody>
      </p:sp>
      <p:sp>
        <p:nvSpPr>
          <p:cNvPr id="15" name="fade:a:14"/>
          <p:cNvSpPr/>
          <p:nvPr/>
        </p:nvSpPr>
        <p:spPr>
          <a:xfrm>
            <a:off x="411480" y="4928616"/>
            <a:ext cx="2606040" cy="594360"/>
          </a:xfrm>
          <a:prstGeom prst="roundRect">
            <a:avLst>
              <a:gd name="adj" fmla="val 50000"/>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6" name="zoom:c:15"/>
          <p:cNvSpPr/>
          <p:nvPr/>
        </p:nvSpPr>
        <p:spPr>
          <a:xfrm>
            <a:off x="411480" y="4928616"/>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فلزات الأقلاء</a:t>
            </a:r>
            <a:endParaRPr lang="ar-SA" sz="1700" dirty="0"/>
          </a:p>
        </p:txBody>
      </p:sp>
      <p:sp>
        <p:nvSpPr>
          <p:cNvPr id="17" name="float:a:16"/>
          <p:cNvSpPr/>
          <p:nvPr/>
        </p:nvSpPr>
        <p:spPr>
          <a:xfrm>
            <a:off x="3246120" y="5687568"/>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4 - اسم مجموعة العنصر الذي له أصغر نصف قطر ذري</a:t>
            </a:r>
            <a:endParaRPr lang="ar-SA" sz="1700" dirty="0"/>
          </a:p>
        </p:txBody>
      </p:sp>
      <p:sp>
        <p:nvSpPr>
          <p:cNvPr id="18" name="fade:a:17"/>
          <p:cNvSpPr/>
          <p:nvPr/>
        </p:nvSpPr>
        <p:spPr>
          <a:xfrm>
            <a:off x="411480" y="5687568"/>
            <a:ext cx="2606040" cy="594360"/>
          </a:xfrm>
          <a:prstGeom prst="roundRect">
            <a:avLst>
              <a:gd name="adj" fmla="val 50000"/>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9" name="zoom:c:18"/>
          <p:cNvSpPr/>
          <p:nvPr/>
        </p:nvSpPr>
        <p:spPr>
          <a:xfrm>
            <a:off x="411480" y="5687568"/>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الغازات النبيلة</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53" presetClass="entr" presetSubtype="16"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par>
                          <p:cTn id="41" fill="hold">
                            <p:stCondLst>
                              <p:cond delay="55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7" fill="hold">
                      <p:stCondLst>
                        <p:cond delay="indefinite"/>
                      </p:stCondLst>
                      <p:childTnLst>
                        <p:par>
                          <p:cTn id="46" fill="hold">
                            <p:stCondLst>
                              <p:cond delay="0"/>
                            </p:stCondLst>
                            <p:childTnLst>
                              <p:par>
                                <p:cTn id="45" presetID="22" presetClass="entr" presetSubtype="2"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right)">
                                      <p:cBhvr>
                                        <p:cTn id="44" dur="600"/>
                                        <p:tgtEl>
                                          <p:spTgt spid="10"/>
                                        </p:tgtEl>
                                      </p:cBhvr>
                                    </p:animEffect>
                                  </p:childTnLst>
                                </p:cTn>
                              </p:par>
                            </p:childTnLst>
                          </p:cTn>
                        </p:par>
                        <p:par>
                          <p:cTn id="52" fill="hold">
                            <p:stCondLst>
                              <p:cond delay="330"/>
                            </p:stCondLst>
                            <p:childTnLst>
                              <p:par>
                                <p:cTn id="51" presetID="42"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700"/>
                                        <p:tgtEl>
                                          <p:spTgt spid="11"/>
                                        </p:tgtEl>
                                      </p:cBhvr>
                                    </p:animEffect>
                                    <p:anim calcmode="lin" valueType="num">
                                      <p:cBhvr additive="base">
                                        <p:cTn id="49" dur="700" fill="hold"/>
                                        <p:tgtEl>
                                          <p:spTgt spid="11"/>
                                        </p:tgtEl>
                                        <p:attrNameLst>
                                          <p:attrName>ppt_x</p:attrName>
                                        </p:attrNameLst>
                                      </p:cBhvr>
                                      <p:tavLst>
                                        <p:tav tm="0">
                                          <p:val>
                                            <p:strVal val="#ppt_x"/>
                                          </p:val>
                                        </p:tav>
                                        <p:tav tm="100000">
                                          <p:val>
                                            <p:strVal val="#ppt_x"/>
                                          </p:val>
                                        </p:tav>
                                      </p:tavLst>
                                    </p:anim>
                                    <p:anim calcmode="lin" valueType="num">
                                      <p:cBhvr additive="base">
                                        <p:cTn id="50" dur="700" fill="hold"/>
                                        <p:tgtEl>
                                          <p:spTgt spid="11"/>
                                        </p:tgtEl>
                                        <p:attrNameLst>
                                          <p:attrName>ppt_y</p:attrName>
                                        </p:attrNameLst>
                                      </p:cBhvr>
                                      <p:tavLst>
                                        <p:tav tm="0">
                                          <p:val>
                                            <p:strVal val="#ppt_y+.1"/>
                                          </p:val>
                                        </p:tav>
                                        <p:tav tm="100000">
                                          <p:val>
                                            <p:strVal val="#ppt_y"/>
                                          </p:val>
                                        </p:tav>
                                      </p:tavLst>
                                    </p:anim>
                                  </p:childTnLst>
                                </p:cTn>
                              </p:par>
                            </p:childTnLst>
                          </p:cTn>
                        </p:par>
                        <p:par>
                          <p:cTn id="56" fill="hold">
                            <p:stCondLst>
                              <p:cond delay="715"/>
                            </p:stCondLst>
                            <p:childTnLst>
                              <p:par>
                                <p:cTn id="55" presetID="10"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600"/>
                                        <p:tgtEl>
                                          <p:spTgt spid="12"/>
                                        </p:tgtEl>
                                      </p:cBhvr>
                                    </p:animEffect>
                                  </p:childTnLst>
                                </p:cTn>
                              </p:par>
                            </p:childTnLst>
                          </p:cTn>
                        </p:par>
                      </p:childTnLst>
                    </p:cTn>
                  </p:par>
                  <p:par>
                    <p:cTn id="74" fill="hold">
                      <p:stCondLst>
                        <p:cond delay="indefinite"/>
                      </p:stCondLst>
                      <p:childTnLst>
                        <p:par>
                          <p:cTn id="63" fill="hold">
                            <p:stCondLst>
                              <p:cond delay="0"/>
                            </p:stCondLst>
                            <p:childTnLst>
                              <p:par>
                                <p:cTn id="62" presetID="53" presetClass="entr" presetSubtype="16"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ppt_w</p:attrName>
                                        </p:attrNameLst>
                                      </p:cBhvr>
                                      <p:tavLst>
                                        <p:tav tm="0">
                                          <p:val>
                                            <p:strVal val="0"/>
                                          </p:val>
                                        </p:tav>
                                        <p:tav tm="100000">
                                          <p:val>
                                            <p:strVal val="#ppt_w"/>
                                          </p:val>
                                        </p:tav>
                                      </p:tavLst>
                                    </p:anim>
                                    <p:anim calcmode="lin" valueType="num">
                                      <p:cBhvr additive="base">
                                        <p:cTn id="60" dur="500" fill="hold"/>
                                        <p:tgtEl>
                                          <p:spTgt spid="13"/>
                                        </p:tgtEl>
                                        <p:attrNameLst>
                                          <p:attrName>ppt_h</p:attrName>
                                        </p:attrNameLst>
                                      </p:cBhvr>
                                      <p:tavLst>
                                        <p:tav tm="0">
                                          <p:val>
                                            <p:strVal val="0"/>
                                          </p:val>
                                        </p:tav>
                                        <p:tav tm="100000">
                                          <p:val>
                                            <p:strVal val="#ppt_h"/>
                                          </p:val>
                                        </p:tav>
                                      </p:tavLst>
                                    </p:anim>
                                    <p:animEffect transition="in" filter="fade">
                                      <p:cBhvr>
                                        <p:cTn id="61" dur="500"/>
                                        <p:tgtEl>
                                          <p:spTgt spid="13"/>
                                        </p:tgtEl>
                                      </p:cBhvr>
                                    </p:animEffect>
                                  </p:childTnLst>
                                </p:cTn>
                              </p:par>
                            </p:childTnLst>
                          </p:cTn>
                        </p:par>
                        <p:par>
                          <p:cTn id="69" fill="hold">
                            <p:stCondLst>
                              <p:cond delay="275"/>
                            </p:stCondLst>
                            <p:childTnLst>
                              <p:par>
                                <p:cTn id="68" presetID="42" presetClass="entr" presetSubtype="0"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additive="base">
                                        <p:cTn id="66" dur="700" fill="hold"/>
                                        <p:tgtEl>
                                          <p:spTgt spid="14"/>
                                        </p:tgtEl>
                                        <p:attrNameLst>
                                          <p:attrName>ppt_x</p:attrName>
                                        </p:attrNameLst>
                                      </p:cBhvr>
                                      <p:tavLst>
                                        <p:tav tm="0">
                                          <p:val>
                                            <p:strVal val="#ppt_x"/>
                                          </p:val>
                                        </p:tav>
                                        <p:tav tm="100000">
                                          <p:val>
                                            <p:strVal val="#ppt_x"/>
                                          </p:val>
                                        </p:tav>
                                      </p:tavLst>
                                    </p:anim>
                                    <p:anim calcmode="lin" valueType="num">
                                      <p:cBhvr additive="base">
                                        <p:cTn id="67" dur="700" fill="hold"/>
                                        <p:tgtEl>
                                          <p:spTgt spid="14"/>
                                        </p:tgtEl>
                                        <p:attrNameLst>
                                          <p:attrName>ppt_y</p:attrName>
                                        </p:attrNameLst>
                                      </p:cBhvr>
                                      <p:tavLst>
                                        <p:tav tm="0">
                                          <p:val>
                                            <p:strVal val="#ppt_y+.1"/>
                                          </p:val>
                                        </p:tav>
                                        <p:tav tm="100000">
                                          <p:val>
                                            <p:strVal val="#ppt_y"/>
                                          </p:val>
                                        </p:tav>
                                      </p:tavLst>
                                    </p:anim>
                                  </p:childTnLst>
                                </p:cTn>
                              </p:par>
                            </p:childTnLst>
                          </p:cTn>
                        </p:par>
                        <p:par>
                          <p:cTn id="73" fill="hold">
                            <p:stCondLst>
                              <p:cond delay="660"/>
                            </p:stCondLst>
                            <p:childTnLst>
                              <p:par>
                                <p:cTn id="72"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childTnLst>
                                </p:cTn>
                              </p:par>
                            </p:childTnLst>
                          </p:cTn>
                        </p:par>
                      </p:childTnLst>
                    </p:cTn>
                  </p:par>
                  <p:par>
                    <p:cTn id="91" fill="hold">
                      <p:stCondLst>
                        <p:cond delay="indefinite"/>
                      </p:stCondLst>
                      <p:childTnLst>
                        <p:par>
                          <p:cTn id="80" fill="hold">
                            <p:stCondLst>
                              <p:cond delay="0"/>
                            </p:stCondLst>
                            <p:childTnLst>
                              <p:par>
                                <p:cTn id="79" presetID="53" presetClass="entr" presetSubtype="16"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ppt_w</p:attrName>
                                        </p:attrNameLst>
                                      </p:cBhvr>
                                      <p:tavLst>
                                        <p:tav tm="0">
                                          <p:val>
                                            <p:strVal val="0"/>
                                          </p:val>
                                        </p:tav>
                                        <p:tav tm="100000">
                                          <p:val>
                                            <p:strVal val="#ppt_w"/>
                                          </p:val>
                                        </p:tav>
                                      </p:tavLst>
                                    </p:anim>
                                    <p:anim calcmode="lin" valueType="num">
                                      <p:cBhvr additive="base">
                                        <p:cTn id="77" dur="500" fill="hold"/>
                                        <p:tgtEl>
                                          <p:spTgt spid="16"/>
                                        </p:tgtEl>
                                        <p:attrNameLst>
                                          <p:attrName>ppt_h</p:attrName>
                                        </p:attrNameLst>
                                      </p:cBhvr>
                                      <p:tavLst>
                                        <p:tav tm="0">
                                          <p:val>
                                            <p:strVal val="0"/>
                                          </p:val>
                                        </p:tav>
                                        <p:tav tm="100000">
                                          <p:val>
                                            <p:strVal val="#ppt_h"/>
                                          </p:val>
                                        </p:tav>
                                      </p:tavLst>
                                    </p:anim>
                                    <p:animEffect transition="in" filter="fade">
                                      <p:cBhvr>
                                        <p:cTn id="78" dur="500"/>
                                        <p:tgtEl>
                                          <p:spTgt spid="16"/>
                                        </p:tgtEl>
                                      </p:cBhvr>
                                    </p:animEffect>
                                  </p:childTnLst>
                                </p:cTn>
                              </p:par>
                            </p:childTnLst>
                          </p:cTn>
                        </p:par>
                        <p:par>
                          <p:cTn id="86" fill="hold">
                            <p:stCondLst>
                              <p:cond delay="275"/>
                            </p:stCondLst>
                            <p:childTnLst>
                              <p:par>
                                <p:cTn id="85" presetID="42"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ppt_x</p:attrName>
                                        </p:attrNameLst>
                                      </p:cBhvr>
                                      <p:tavLst>
                                        <p:tav tm="0">
                                          <p:val>
                                            <p:strVal val="#ppt_x"/>
                                          </p:val>
                                        </p:tav>
                                        <p:tav tm="100000">
                                          <p:val>
                                            <p:strVal val="#ppt_x"/>
                                          </p:val>
                                        </p:tav>
                                      </p:tavLst>
                                    </p:anim>
                                    <p:anim calcmode="lin" valueType="num">
                                      <p:cBhvr additive="base">
                                        <p:cTn id="84" dur="700" fill="hold"/>
                                        <p:tgtEl>
                                          <p:spTgt spid="17"/>
                                        </p:tgtEl>
                                        <p:attrNameLst>
                                          <p:attrName>ppt_y</p:attrName>
                                        </p:attrNameLst>
                                      </p:cBhvr>
                                      <p:tavLst>
                                        <p:tav tm="0">
                                          <p:val>
                                            <p:strVal val="#ppt_y+.1"/>
                                          </p:val>
                                        </p:tav>
                                        <p:tav tm="100000">
                                          <p:val>
                                            <p:strVal val="#ppt_y"/>
                                          </p:val>
                                        </p:tav>
                                      </p:tavLst>
                                    </p:anim>
                                  </p:childTnLst>
                                </p:cTn>
                              </p:par>
                            </p:childTnLst>
                          </p:cTn>
                        </p:par>
                        <p:par>
                          <p:cTn id="90" fill="hold">
                            <p:stCondLst>
                              <p:cond delay="660"/>
                            </p:stCondLst>
                            <p:childTnLst>
                              <p:par>
                                <p:cTn id="89" presetID="10" presetClass="entr" presetSubtype="0" fill="hold" grpId="0" nodeType="after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childTnLst>
                                </p:cTn>
                              </p:par>
                            </p:childTnLst>
                          </p:cTn>
                        </p:par>
                      </p:childTnLst>
                    </p:cTn>
                  </p:par>
                  <p:par>
                    <p:cTn id="98" fill="hold">
                      <p:stCondLst>
                        <p:cond delay="indefinite"/>
                      </p:stCondLst>
                      <p:childTnLst>
                        <p:par>
                          <p:cTn id="97" fill="hold">
                            <p:stCondLst>
                              <p:cond delay="0"/>
                            </p:stCondLst>
                            <p:childTnLst>
                              <p:par>
                                <p:cTn id="96" presetID="53" presetClass="entr" presetSubtype="16"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500" fill="hold"/>
                                        <p:tgtEl>
                                          <p:spTgt spid="19"/>
                                        </p:tgtEl>
                                        <p:attrNameLst>
                                          <p:attrName>ppt_w</p:attrName>
                                        </p:attrNameLst>
                                      </p:cBhvr>
                                      <p:tavLst>
                                        <p:tav tm="0">
                                          <p:val>
                                            <p:strVal val="0"/>
                                          </p:val>
                                        </p:tav>
                                        <p:tav tm="100000">
                                          <p:val>
                                            <p:strVal val="#ppt_w"/>
                                          </p:val>
                                        </p:tav>
                                      </p:tavLst>
                                    </p:anim>
                                    <p:anim calcmode="lin" valueType="num">
                                      <p:cBhvr additive="base">
                                        <p:cTn id="94" dur="500" fill="hold"/>
                                        <p:tgtEl>
                                          <p:spTgt spid="19"/>
                                        </p:tgtEl>
                                        <p:attrNameLst>
                                          <p:attrName>ppt_h</p:attrName>
                                        </p:attrNameLst>
                                      </p:cBhvr>
                                      <p:tavLst>
                                        <p:tav tm="0">
                                          <p:val>
                                            <p:strVal val="0"/>
                                          </p:val>
                                        </p:tav>
                                        <p:tav tm="100000">
                                          <p:val>
                                            <p:strVal val="#ppt_h"/>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دعنا نلخص: نصف القطر الذري</a:t>
            </a:r>
            <a:endParaRPr lang="en-US" sz="2800" dirty="0"/>
          </a:p>
        </p:txBody>
      </p:sp>
      <p:sp>
        <p:nvSpPr>
          <p:cNvPr id="3" name="float:c:2"/>
          <p:cNvSpPr/>
          <p:nvPr/>
        </p:nvSpPr>
        <p:spPr>
          <a:xfrm>
            <a:off x="5120640" y="1371600"/>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يزداد</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نصف القطر الذري للعناصر تدريجيًّا خلال المجموعة من أعلى إلى أسفل.</a:t>
            </a:r>
            <a:endParaRPr lang="ar-SA" sz="1700" dirty="0"/>
          </a:p>
        </p:txBody>
      </p:sp>
      <p:sp>
        <p:nvSpPr>
          <p:cNvPr id="4" name="zoom:w:3"/>
          <p:cNvSpPr/>
          <p:nvPr/>
        </p:nvSpPr>
        <p:spPr>
          <a:xfrm>
            <a:off x="11384280" y="1729359"/>
            <a:ext cx="457200" cy="457200"/>
          </a:xfrm>
          <a:prstGeom prst="ellipse">
            <a:avLst/>
          </a:prstGeom>
          <a:solidFill>
            <a:srgbClr val="EA580C"/>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5" name="float:c:4"/>
          <p:cNvSpPr/>
          <p:nvPr/>
        </p:nvSpPr>
        <p:spPr>
          <a:xfrm>
            <a:off x="5120640" y="2672334"/>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يقل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نصف القطر الذري للعناصر تدريجيًّا خلال الدورة من اليسار إلى اليمين.</a:t>
            </a:r>
            <a:endParaRPr lang="ar-SA" sz="1700" dirty="0"/>
          </a:p>
        </p:txBody>
      </p:sp>
      <p:sp>
        <p:nvSpPr>
          <p:cNvPr id="6" name="zoom:w:5"/>
          <p:cNvSpPr/>
          <p:nvPr/>
        </p:nvSpPr>
        <p:spPr>
          <a:xfrm>
            <a:off x="11384280" y="3030093"/>
            <a:ext cx="457200" cy="457200"/>
          </a:xfrm>
          <a:prstGeom prst="ellipse">
            <a:avLst/>
          </a:prstGeom>
          <a:solidFill>
            <a:srgbClr val="EA580C"/>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7" name="float:c:6"/>
          <p:cNvSpPr/>
          <p:nvPr/>
        </p:nvSpPr>
        <p:spPr>
          <a:xfrm>
            <a:off x="5120640" y="3973068"/>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فلزات الأقلاء</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لها أكبر نصف قطر ذري في دورتها.</a:t>
            </a:r>
            <a:endParaRPr lang="ar-SA" sz="1700" dirty="0"/>
          </a:p>
        </p:txBody>
      </p:sp>
      <p:sp>
        <p:nvSpPr>
          <p:cNvPr id="8" name="zoom:w:7"/>
          <p:cNvSpPr/>
          <p:nvPr/>
        </p:nvSpPr>
        <p:spPr>
          <a:xfrm>
            <a:off x="11384280" y="4330827"/>
            <a:ext cx="457200" cy="457200"/>
          </a:xfrm>
          <a:prstGeom prst="ellipse">
            <a:avLst/>
          </a:prstGeom>
          <a:solidFill>
            <a:srgbClr val="EA580C"/>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9" name="float:c:8"/>
          <p:cNvSpPr/>
          <p:nvPr/>
        </p:nvSpPr>
        <p:spPr>
          <a:xfrm>
            <a:off x="5120640" y="5273802"/>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700" b="1" dirty="0">
                <a:solidFill>
                  <a:srgbClr val="EA580C"/>
                </a:solidFill>
                <a:latin typeface="Segoe UI" pitchFamily="34" charset="0"/>
                <a:ea typeface="Segoe UI" pitchFamily="34" charset="-122"/>
                <a:cs typeface="Segoe UI" pitchFamily="34" charset="-120"/>
              </a:rPr>
              <a:t>الغازات النبيلة</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لها أصغر نصف قطر ذري في دورتها.</a:t>
            </a:r>
            <a:endParaRPr lang="ar-SA" sz="1700" dirty="0"/>
          </a:p>
        </p:txBody>
      </p:sp>
      <p:sp>
        <p:nvSpPr>
          <p:cNvPr id="10" name="zoom:w:9"/>
          <p:cNvSpPr/>
          <p:nvPr/>
        </p:nvSpPr>
        <p:spPr>
          <a:xfrm>
            <a:off x="11384280" y="5631561"/>
            <a:ext cx="457200" cy="457200"/>
          </a:xfrm>
          <a:prstGeom prst="ellipse">
            <a:avLst/>
          </a:prstGeom>
          <a:solidFill>
            <a:srgbClr val="EA580C"/>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1" name="fade:a:10"/>
          <p:cNvSpPr/>
          <p:nvPr/>
        </p:nvSpPr>
        <p:spPr>
          <a:xfrm>
            <a:off x="411480" y="1371600"/>
            <a:ext cx="4480560" cy="3794760"/>
          </a:xfrm>
          <a:prstGeom prst="roundRect">
            <a:avLst>
              <a:gd name="adj" fmla="val 33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2" name="zoom:a:11" descr="l/trend_radius.png">    </p:cNvPr>
          <p:cNvPicPr>
            <a:picLocks noChangeAspect="1"/>
          </p:cNvPicPr>
          <p:nvPr/>
        </p:nvPicPr>
        <p:blipFill>
          <a:blip r:embed="rId1"/>
          <a:stretch>
            <a:fillRect/>
          </a:stretch>
        </p:blipFill>
        <p:spPr>
          <a:xfrm>
            <a:off x="548640" y="2147316"/>
            <a:ext cx="4206240" cy="2243328"/>
          </a:xfrm>
          <a:prstGeom prst="rect">
            <a:avLst/>
          </a:prstGeom>
        </p:spPr>
      </p:pic>
      <p:sp>
        <p:nvSpPr>
          <p:cNvPr id="13" name="float:a:12"/>
          <p:cNvSpPr/>
          <p:nvPr/>
        </p:nvSpPr>
        <p:spPr>
          <a:xfrm>
            <a:off x="411480" y="5349240"/>
            <a:ext cx="2176272" cy="548640"/>
          </a:xfrm>
          <a:prstGeom prst="roundRect">
            <a:avLst>
              <a:gd name="adj" fmla="val 50000"/>
            </a:avLst>
          </a:prstGeom>
          <a:solidFill>
            <a:srgbClr val="EA580C"/>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المجموعة ↓ يزداد</a:t>
            </a:r>
            <a:endParaRPr lang="ar-SA" sz="1400" dirty="0"/>
          </a:p>
        </p:txBody>
      </p:sp>
      <p:sp>
        <p:nvSpPr>
          <p:cNvPr id="14" name="float:w:13"/>
          <p:cNvSpPr/>
          <p:nvPr/>
        </p:nvSpPr>
        <p:spPr>
          <a:xfrm>
            <a:off x="2715768" y="5349240"/>
            <a:ext cx="2176272" cy="548640"/>
          </a:xfrm>
          <a:prstGeom prst="roundRect">
            <a:avLst>
              <a:gd name="adj" fmla="val 50000"/>
            </a:avLst>
          </a:prstGeom>
          <a:solidFill>
            <a:srgbClr val="0B2545"/>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الدورة ← يقل</a:t>
            </a:r>
            <a:endParaRPr lang="ar-SA" sz="1400" dirty="0"/>
          </a:p>
        </p:txBody>
      </p:sp>
      <p:sp>
        <p:nvSpPr>
          <p:cNvPr id="15" name="fade:a:14"/>
          <p:cNvSpPr txBox="1"/>
          <p:nvPr/>
        </p:nvSpPr>
        <p:spPr>
          <a:xfrm>
            <a:off x="411480" y="6035040"/>
            <a:ext cx="4480560" cy="457200"/>
          </a:xfrm>
          <a:prstGeom prst="rect">
            <a:avLst/>
          </a:prstGeom>
          <a:noFill/>
          <a:ln/>
        </p:spPr>
        <p:txBody>
          <a:bodyPr wrap="square" lIns="76200" tIns="152400" rIns="152400" bIns="76200" rtlCol="0" anchor="ctr"/>
          <a:lstStyle/>
          <a:p>
            <a:pPr rtl="1" algn="ctr" indent="0" marL="0">
              <a:lnSpc>
                <a:spcPct val="105000"/>
              </a:lnSpc>
              <a:buNone/>
            </a:pPr>
            <a:r>
              <a:rPr lang="ar-SA" altLang="en-US" sz="1500" b="1" dirty="0">
                <a:solidFill>
                  <a:srgbClr val="EA580C"/>
                </a:solidFill>
                <a:latin typeface="Segoe UI" pitchFamily="34" charset="0"/>
                <a:ea typeface="Segoe UI" pitchFamily="34" charset="-122"/>
                <a:cs typeface="Segoe UI" pitchFamily="34" charset="-120"/>
              </a:rPr>
              <a:t>دعنا نلخص ما سبق</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4" fill="hold">
                      <p:stCondLst>
                        <p:cond delay="indefinite"/>
                      </p:stCondLst>
                      <p:childTnLst>
                        <p:par>
                          <p:cTn id="13"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53" presetClass="entr" presetSubtype="16"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ppt_w</p:attrName>
                                        </p:attrNameLst>
                                      </p:cBhvr>
                                      <p:tavLst>
                                        <p:tav tm="0">
                                          <p:val>
                                            <p:strVal val="0"/>
                                          </p:val>
                                        </p:tav>
                                        <p:tav tm="100000">
                                          <p:val>
                                            <p:strVal val="#ppt_w"/>
                                          </p:val>
                                        </p:tav>
                                      </p:tavLst>
                                    </p:anim>
                                    <p:anim calcmode="lin" valueType="num">
                                      <p:cBhvr additive="base">
                                        <p:cTn id="10" dur="500" fill="hold"/>
                                        <p:tgtEl>
                                          <p:spTgt spid="4"/>
                                        </p:tgtEl>
                                        <p:attrNameLst>
                                          <p:attrName>ppt_h</p:attrName>
                                        </p:attrNameLst>
                                      </p:cBhvr>
                                      <p:tavLst>
                                        <p:tav tm="0">
                                          <p:val>
                                            <p:strVal val="0"/>
                                          </p:val>
                                        </p:tav>
                                        <p:tav tm="100000">
                                          <p:val>
                                            <p:strVal val="#ppt_h"/>
                                          </p:val>
                                        </p:tav>
                                      </p:tavLst>
                                    </p:anim>
                                    <p:animEffect transition="in" filter="fade">
                                      <p:cBhvr>
                                        <p:cTn id="11" dur="500"/>
                                        <p:tgtEl>
                                          <p:spTgt spid="4"/>
                                        </p:tgtEl>
                                      </p:cBhvr>
                                    </p:animEffect>
                                  </p:childTnLst>
                                </p:cTn>
                              </p:par>
                            </p:childTnLst>
                          </p:cTn>
                        </p:par>
                      </p:childTnLst>
                    </p:cTn>
                  </p:par>
                  <p:par>
                    <p:cTn id="26" fill="hold">
                      <p:stCondLst>
                        <p:cond delay="indefinite"/>
                      </p:stCondLst>
                      <p:childTnLst>
                        <p:par>
                          <p:cTn id="25" fill="hold">
                            <p:stCondLst>
                              <p:cond delay="0"/>
                            </p:stCondLst>
                            <p:childTnLst>
                              <p:par>
                                <p:cTn id="19"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par>
                                <p:cTn id="24" presetID="53" presetClass="entr" presetSubtype="16"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childTnLst>
                          </p:cTn>
                        </p:par>
                      </p:childTnLst>
                    </p:cTn>
                  </p:par>
                  <p:par>
                    <p:cTn id="38" fill="hold">
                      <p:stCondLst>
                        <p:cond delay="indefinite"/>
                      </p:stCondLst>
                      <p:childTnLst>
                        <p:par>
                          <p:cTn id="37"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anim calcmode="lin" valueType="num">
                                      <p:cBhvr additive="base">
                                        <p:cTn id="29" dur="700" fill="hold"/>
                                        <p:tgtEl>
                                          <p:spTgt spid="7"/>
                                        </p:tgtEl>
                                        <p:attrNameLst>
                                          <p:attrName>ppt_x</p:attrName>
                                        </p:attrNameLst>
                                      </p:cBhvr>
                                      <p:tavLst>
                                        <p:tav tm="0">
                                          <p:val>
                                            <p:strVal val="#ppt_x"/>
                                          </p:val>
                                        </p:tav>
                                        <p:tav tm="100000">
                                          <p:val>
                                            <p:strVal val="#ppt_x"/>
                                          </p:val>
                                        </p:tav>
                                      </p:tavLst>
                                    </p:anim>
                                    <p:anim calcmode="lin" valueType="num">
                                      <p:cBhvr additive="base">
                                        <p:cTn id="30" dur="700" fill="hold"/>
                                        <p:tgtEl>
                                          <p:spTgt spid="7"/>
                                        </p:tgtEl>
                                        <p:attrNameLst>
                                          <p:attrName>ppt_y</p:attrName>
                                        </p:attrNameLst>
                                      </p:cBhvr>
                                      <p:tavLst>
                                        <p:tav tm="0">
                                          <p:val>
                                            <p:strVal val="#ppt_y+.1"/>
                                          </p:val>
                                        </p:tav>
                                        <p:tav tm="100000">
                                          <p:val>
                                            <p:strVal val="#ppt_y"/>
                                          </p:val>
                                        </p:tav>
                                      </p:tavLst>
                                    </p:anim>
                                  </p:childTnLst>
                                </p:cTn>
                              </p:par>
                              <p:par>
                                <p:cTn id="36" presetID="53"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childTnLst>
                    </p:cTn>
                  </p:par>
                  <p:par>
                    <p:cTn id="75" fill="hold">
                      <p:stCondLst>
                        <p:cond delay="indefinite"/>
                      </p:stCondLst>
                      <p:childTnLst>
                        <p:par>
                          <p:cTn id="49" fill="hold">
                            <p:stCondLst>
                              <p:cond delay="0"/>
                            </p:stCondLst>
                            <p:childTnLst>
                              <p:par>
                                <p:cTn id="43" presetID="42"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additive="base">
                                        <p:cTn id="41" dur="700" fill="hold"/>
                                        <p:tgtEl>
                                          <p:spTgt spid="9"/>
                                        </p:tgtEl>
                                        <p:attrNameLst>
                                          <p:attrName>ppt_x</p:attrName>
                                        </p:attrNameLst>
                                      </p:cBhvr>
                                      <p:tavLst>
                                        <p:tav tm="0">
                                          <p:val>
                                            <p:strVal val="#ppt_x"/>
                                          </p:val>
                                        </p:tav>
                                        <p:tav tm="100000">
                                          <p:val>
                                            <p:strVal val="#ppt_x"/>
                                          </p:val>
                                        </p:tav>
                                      </p:tavLst>
                                    </p:anim>
                                    <p:anim calcmode="lin" valueType="num">
                                      <p:cBhvr additive="base">
                                        <p:cTn id="42" dur="700" fill="hold"/>
                                        <p:tgtEl>
                                          <p:spTgt spid="9"/>
                                        </p:tgtEl>
                                        <p:attrNameLst>
                                          <p:attrName>ppt_y</p:attrName>
                                        </p:attrNameLst>
                                      </p:cBhvr>
                                      <p:tavLst>
                                        <p:tav tm="0">
                                          <p:val>
                                            <p:strVal val="#ppt_y+.1"/>
                                          </p:val>
                                        </p:tav>
                                        <p:tav tm="100000">
                                          <p:val>
                                            <p:strVal val="#ppt_y"/>
                                          </p:val>
                                        </p:tav>
                                      </p:tavLst>
                                    </p:anim>
                                  </p:childTnLst>
                                </p:cTn>
                              </p:par>
                              <p:par>
                                <p:cTn id="48" presetID="53"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500" fill="hold"/>
                                        <p:tgtEl>
                                          <p:spTgt spid="10"/>
                                        </p:tgtEl>
                                        <p:attrNameLst>
                                          <p:attrName>ppt_w</p:attrName>
                                        </p:attrNameLst>
                                      </p:cBhvr>
                                      <p:tavLst>
                                        <p:tav tm="0">
                                          <p:val>
                                            <p:strVal val="0"/>
                                          </p:val>
                                        </p:tav>
                                        <p:tav tm="100000">
                                          <p:val>
                                            <p:strVal val="#ppt_w"/>
                                          </p:val>
                                        </p:tav>
                                      </p:tavLst>
                                    </p:anim>
                                    <p:anim calcmode="lin" valueType="num">
                                      <p:cBhvr additive="base">
                                        <p:cTn id="46" dur="500" fill="hold"/>
                                        <p:tgtEl>
                                          <p:spTgt spid="10"/>
                                        </p:tgtEl>
                                        <p:attrNameLst>
                                          <p:attrName>ppt_h</p:attrName>
                                        </p:attrNameLst>
                                      </p:cBhvr>
                                      <p:tavLst>
                                        <p:tav tm="0">
                                          <p:val>
                                            <p:strVal val="0"/>
                                          </p:val>
                                        </p:tav>
                                        <p:tav tm="100000">
                                          <p:val>
                                            <p:strVal val="#ppt_h"/>
                                          </p:val>
                                        </p:tav>
                                      </p:tavLst>
                                    </p:anim>
                                    <p:animEffect transition="in" filter="fade">
                                      <p:cBhvr>
                                        <p:cTn id="47" dur="500"/>
                                        <p:tgtEl>
                                          <p:spTgt spid="10"/>
                                        </p:tgtEl>
                                      </p:cBhvr>
                                    </p:animEffect>
                                  </p:childTnLst>
                                </p:cTn>
                              </p:par>
                            </p:childTnLst>
                          </p:cTn>
                        </p:par>
                        <p:par>
                          <p:cTn id="53" fill="hold">
                            <p:stCondLst>
                              <p:cond delay="385"/>
                            </p:stCondLst>
                            <p:childTnLst>
                              <p:par>
                                <p:cTn id="52" presetID="10"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childTnLst>
                                </p:cTn>
                              </p:par>
                            </p:childTnLst>
                          </p:cTn>
                        </p:par>
                        <p:par>
                          <p:cTn id="59" fill="hold">
                            <p:stCondLst>
                              <p:cond delay="715"/>
                            </p:stCondLst>
                            <p:childTnLst>
                              <p:par>
                                <p:cTn id="58" presetID="53" presetClass="entr" presetSubtype="16" fill="hold"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ppt_w</p:attrName>
                                        </p:attrNameLst>
                                      </p:cBhvr>
                                      <p:tavLst>
                                        <p:tav tm="0">
                                          <p:val>
                                            <p:strVal val="0"/>
                                          </p:val>
                                        </p:tav>
                                        <p:tav tm="100000">
                                          <p:val>
                                            <p:strVal val="#ppt_w"/>
                                          </p:val>
                                        </p:tav>
                                      </p:tavLst>
                                    </p:anim>
                                    <p:anim calcmode="lin" valueType="num">
                                      <p:cBhvr additive="base">
                                        <p:cTn id="56" dur="500" fill="hold"/>
                                        <p:tgtEl>
                                          <p:spTgt spid="12"/>
                                        </p:tgtEl>
                                        <p:attrNameLst>
                                          <p:attrName>ppt_h</p:attrName>
                                        </p:attrNameLst>
                                      </p:cBhvr>
                                      <p:tavLst>
                                        <p:tav tm="0">
                                          <p:val>
                                            <p:strVal val="0"/>
                                          </p:val>
                                        </p:tav>
                                        <p:tav tm="100000">
                                          <p:val>
                                            <p:strVal val="#ppt_h"/>
                                          </p:val>
                                        </p:tav>
                                      </p:tavLst>
                                    </p:anim>
                                    <p:animEffect transition="in" filter="fade">
                                      <p:cBhvr>
                                        <p:cTn id="57" dur="500"/>
                                        <p:tgtEl>
                                          <p:spTgt spid="12"/>
                                        </p:tgtEl>
                                      </p:cBhvr>
                                    </p:animEffect>
                                  </p:childTnLst>
                                </p:cTn>
                              </p:par>
                            </p:childTnLst>
                          </p:cTn>
                        </p:par>
                        <p:par>
                          <p:cTn id="70" fill="hold">
                            <p:stCondLst>
                              <p:cond delay="990"/>
                            </p:stCondLst>
                            <p:childTnLst>
                              <p:par>
                                <p:cTn id="64" presetID="42" presetClass="entr" presetSubtype="0"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700"/>
                                        <p:tgtEl>
                                          <p:spTgt spid="13"/>
                                        </p:tgtEl>
                                      </p:cBhvr>
                                    </p:animEffect>
                                    <p:anim calcmode="lin" valueType="num">
                                      <p:cBhvr additive="base">
                                        <p:cTn id="62" dur="700" fill="hold"/>
                                        <p:tgtEl>
                                          <p:spTgt spid="13"/>
                                        </p:tgtEl>
                                        <p:attrNameLst>
                                          <p:attrName>ppt_x</p:attrName>
                                        </p:attrNameLst>
                                      </p:cBhvr>
                                      <p:tavLst>
                                        <p:tav tm="0">
                                          <p:val>
                                            <p:strVal val="#ppt_x"/>
                                          </p:val>
                                        </p:tav>
                                        <p:tav tm="100000">
                                          <p:val>
                                            <p:strVal val="#ppt_x"/>
                                          </p:val>
                                        </p:tav>
                                      </p:tavLst>
                                    </p:anim>
                                    <p:anim calcmode="lin" valueType="num">
                                      <p:cBhvr additive="base">
                                        <p:cTn id="63" dur="700" fill="hold"/>
                                        <p:tgtEl>
                                          <p:spTgt spid="13"/>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700"/>
                                        <p:tgtEl>
                                          <p:spTgt spid="14"/>
                                        </p:tgtEl>
                                      </p:cBhvr>
                                    </p:animEffect>
                                    <p:anim calcmode="lin" valueType="num">
                                      <p:cBhvr additive="base">
                                        <p:cTn id="67" dur="700" fill="hold"/>
                                        <p:tgtEl>
                                          <p:spTgt spid="14"/>
                                        </p:tgtEl>
                                        <p:attrNameLst>
                                          <p:attrName>ppt_x</p:attrName>
                                        </p:attrNameLst>
                                      </p:cBhvr>
                                      <p:tavLst>
                                        <p:tav tm="0">
                                          <p:val>
                                            <p:strVal val="#ppt_x"/>
                                          </p:val>
                                        </p:tav>
                                        <p:tav tm="100000">
                                          <p:val>
                                            <p:strVal val="#ppt_x"/>
                                          </p:val>
                                        </p:tav>
                                      </p:tavLst>
                                    </p:anim>
                                    <p:anim calcmode="lin" valueType="num">
                                      <p:cBhvr additive="base">
                                        <p:cTn id="68" dur="700" fill="hold"/>
                                        <p:tgtEl>
                                          <p:spTgt spid="14"/>
                                        </p:tgtEl>
                                        <p:attrNameLst>
                                          <p:attrName>ppt_y</p:attrName>
                                        </p:attrNameLst>
                                      </p:cBhvr>
                                      <p:tavLst>
                                        <p:tav tm="0">
                                          <p:val>
                                            <p:strVal val="#ppt_y+.1"/>
                                          </p:val>
                                        </p:tav>
                                        <p:tav tm="100000">
                                          <p:val>
                                            <p:strVal val="#ppt_y"/>
                                          </p:val>
                                        </p:tav>
                                      </p:tavLst>
                                    </p:anim>
                                  </p:childTnLst>
                                </p:cTn>
                              </p:par>
                            </p:childTnLst>
                          </p:cTn>
                        </p:par>
                        <p:par>
                          <p:cTn id="74" fill="hold">
                            <p:stCondLst>
                              <p:cond delay="1375"/>
                            </p:stCondLst>
                            <p:childTnLst>
                              <p:par>
                                <p:cTn id="73" presetID="10" presetClass="entr" presetSubtype="0" fill="hold" grpId="0" nodeType="after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bg" descr="/tmp/claude-0/-home-user-Project-1/c7d0d2a1-f360-54f1-afe5-e7480b814ba9/scratchpad/build/a/bg_ie.jpg">    </p:cNvPr>
          <p:cNvPicPr>
            <a:picLocks noChangeAspect="1"/>
          </p:cNvPicPr>
          <p:nvPr/>
        </p:nvPicPr>
        <p:blipFill>
          <a:blip r:embed="rId1"/>
          <a:stretch>
            <a:fillRect/>
          </a:stretch>
        </p:blipFill>
        <p:spPr>
          <a:xfrm>
            <a:off x="0" y="0"/>
            <a:ext cx="12191695" cy="6858000"/>
          </a:xfrm>
          <a:prstGeom prst="rect">
            <a:avLst/>
          </a:prstGeom>
        </p:spPr>
      </p:pic>
      <p:sp>
        <p:nvSpPr>
          <p:cNvPr id="3" name="zoom:a:1"/>
          <p:cNvSpPr/>
          <p:nvPr/>
        </p:nvSpPr>
        <p:spPr>
          <a:xfrm>
            <a:off x="457200" y="2743200"/>
            <a:ext cx="7040880" cy="3246120"/>
          </a:xfrm>
          <a:prstGeom prst="roundRect">
            <a:avLst>
              <a:gd name="adj" fmla="val 7042"/>
            </a:avLst>
          </a:prstGeom>
          <a:solidFill>
            <a:srgbClr val="0B2545">
              <a:alpha val="78000"/>
            </a:srgbClr>
          </a:solidFill>
          <a:ln w="25400">
            <a:solidFill>
              <a:srgbClr val="00B4D8"/>
            </a:solidFill>
            <a:prstDash val="solid"/>
          </a:ln>
        </p:spPr>
      </p:sp>
      <p:pic>
        <p:nvPicPr>
          <p:cNvPr id="4" name="zoom:a:2" descr="/tmp/claude-0/-home-user-Project-1/c7d0d2a1-f360-54f1-afe5-e7480b814ba9/scratchpad/build/a/l/badge_ie.png">    </p:cNvPr>
          <p:cNvPicPr>
            <a:picLocks noChangeAspect="1"/>
          </p:cNvPicPr>
          <p:nvPr/>
        </p:nvPicPr>
        <p:blipFill>
          <a:blip r:embed="rId2"/>
          <a:stretch>
            <a:fillRect/>
          </a:stretch>
        </p:blipFill>
        <p:spPr>
          <a:xfrm>
            <a:off x="6355080" y="3017520"/>
            <a:ext cx="914400" cy="978408"/>
          </a:xfrm>
          <a:prstGeom prst="rect">
            <a:avLst/>
          </a:prstGeom>
        </p:spPr>
      </p:pic>
      <p:sp>
        <p:nvSpPr>
          <p:cNvPr id="5" name="fade:a:3"/>
          <p:cNvSpPr txBox="1"/>
          <p:nvPr/>
        </p:nvSpPr>
        <p:spPr>
          <a:xfrm>
            <a:off x="731520" y="3063240"/>
            <a:ext cx="5486400" cy="457200"/>
          </a:xfrm>
          <a:prstGeom prst="rect">
            <a:avLst/>
          </a:prstGeom>
          <a:noFill/>
          <a:ln/>
        </p:spPr>
        <p:txBody>
          <a:bodyPr wrap="square" lIns="76200" tIns="152400" rIns="152400" bIns="76200" rtlCol="0" anchor="ctr"/>
          <a:lstStyle/>
          <a:p>
            <a:pPr rtl="1" algn="r" indent="0" marL="0">
              <a:lnSpc>
                <a:spcPct val="105000"/>
              </a:lnSpc>
              <a:buNone/>
            </a:pPr>
            <a:r>
              <a:rPr lang="ar-SA" altLang="en-US" sz="1800" b="1" dirty="0">
                <a:solidFill>
                  <a:srgbClr val="9EEBFF"/>
                </a:solidFill>
                <a:latin typeface="Segoe UI" pitchFamily="34" charset="0"/>
                <a:ea typeface="Segoe UI" pitchFamily="34" charset="-122"/>
                <a:cs typeface="Segoe UI" pitchFamily="34" charset="-120"/>
              </a:rPr>
              <a:t>الدرس [3-2]  •  الميول الدورية</a:t>
            </a:r>
            <a:endParaRPr lang="ar-SA" sz="1800" dirty="0"/>
          </a:p>
        </p:txBody>
      </p:sp>
      <p:sp>
        <p:nvSpPr>
          <p:cNvPr id="6" name="Text 0"/>
          <p:cNvSpPr/>
          <p:nvPr>
            <p:ph idx="100" type="title" hasCustomPrompt="1"/>
          </p:nvPr>
        </p:nvSpPr>
        <p:spPr>
          <a:xfrm>
            <a:off x="731520" y="4343400"/>
            <a:ext cx="6583680" cy="1005840"/>
          </a:xfrm>
          <a:prstGeom prst="rect">
            <a:avLst/>
          </a:prstGeom>
          <a:noFill/>
          <a:ln/>
        </p:spPr>
        <p:txBody>
          <a:bodyPr wrap="square" lIns="0" tIns="0" rIns="0" bIns="0" rtlCol="0" anchor="ctr"/>
          <a:lstStyle/>
          <a:p>
            <a:pPr rtl="1" algn="r" indent="0" marL="0">
              <a:buNone/>
            </a:pPr>
            <a:r>
              <a:rPr lang="en-US" sz="4800" b="1" dirty="0">
                <a:solidFill>
                  <a:srgbClr val="FFFFFF"/>
                </a:solidFill>
                <a:latin typeface="Segoe UI" pitchFamily="34" charset="0"/>
                <a:ea typeface="Segoe UI" pitchFamily="34" charset="-122"/>
                <a:cs typeface="Segoe UI" pitchFamily="34" charset="-120"/>
              </a:rPr>
              <a:t>طاقة التأين</a:t>
            </a:r>
            <a:endParaRPr lang="en-US" sz="4800" dirty="0"/>
          </a:p>
        </p:txBody>
      </p:sp>
      <p:sp>
        <p:nvSpPr>
          <p:cNvPr id="7" name="fade:a:5"/>
          <p:cNvSpPr txBox="1"/>
          <p:nvPr/>
        </p:nvSpPr>
        <p:spPr>
          <a:xfrm>
            <a:off x="731520" y="5349240"/>
            <a:ext cx="6583680" cy="457200"/>
          </a:xfrm>
          <a:prstGeom prst="rect">
            <a:avLst/>
          </a:prstGeom>
          <a:noFill/>
          <a:ln/>
        </p:spPr>
        <p:txBody>
          <a:bodyPr wrap="square" lIns="76200" tIns="152400" rIns="152400" bIns="76200" rtlCol="0" anchor="ctr"/>
          <a:lstStyle/>
          <a:p>
            <a:pPr algn="r" indent="0" marL="0">
              <a:lnSpc>
                <a:spcPct val="105000"/>
              </a:lnSpc>
              <a:buNone/>
            </a:pPr>
            <a:r>
              <a:rPr lang="en-US" altLang="en-US" sz="2000" dirty="0">
                <a:solidFill>
                  <a:srgbClr val="9EEBFF"/>
                </a:solidFill>
                <a:latin typeface="Segoe UI" pitchFamily="34" charset="0"/>
                <a:ea typeface="Segoe UI" pitchFamily="34" charset="-122"/>
                <a:cs typeface="Segoe UI" pitchFamily="34" charset="-120"/>
              </a:rPr>
              <a:t>Ionization Energy</a:t>
            </a:r>
            <a:endParaRPr lang="en-US" sz="2000" dirty="0"/>
          </a:p>
        </p:txBody>
      </p:sp>
      <p:sp>
        <p:nvSpPr>
          <p:cNvPr id="8" name="zoom:a:6"/>
          <p:cNvSpPr/>
          <p:nvPr/>
        </p:nvSpPr>
        <p:spPr>
          <a:xfrm>
            <a:off x="7744968" y="2293429"/>
            <a:ext cx="4169664" cy="2271141"/>
          </a:xfrm>
          <a:prstGeom prst="roundRect">
            <a:avLst>
              <a:gd name="adj" fmla="val 8052"/>
            </a:avLst>
          </a:prstGeom>
          <a:solidFill>
            <a:srgbClr val="FFFFFF">
              <a:alpha val="70000"/>
            </a:srgbClr>
          </a:solidFill>
          <a:ln w="31750">
            <a:solidFill>
              <a:srgbClr val="00B4D8"/>
            </a:solidFill>
            <a:prstDash val="solid"/>
          </a:ln>
        </p:spPr>
      </p:sp>
      <p:pic>
        <p:nvPicPr>
          <p:cNvPr id="9" name="zoom:w:7" descr="/tmp/claude-0/-home-user-Project-1/c7d0d2a1-f360-54f1-afe5-e7480b814ba9/scratchpad/build/a/h_heist.png">    </p:cNvPr>
          <p:cNvPicPr>
            <a:picLocks noChangeAspect="1"/>
          </p:cNvPicPr>
          <p:nvPr/>
        </p:nvPicPr>
        <p:blipFill>
          <a:blip r:embed="rId3"/>
          <a:stretch>
            <a:fillRect/>
          </a:stretch>
        </p:blipFill>
        <p:spPr>
          <a:xfrm>
            <a:off x="7818120" y="2366582"/>
            <a:ext cx="4023360" cy="21248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childTnLst>
                          </p:cTn>
                        </p:par>
                        <p:par>
                          <p:cTn id="14" fill="hold">
                            <p:stCondLst>
                              <p:cond delay="27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18" fill="hold">
                            <p:stCondLst>
                              <p:cond delay="550"/>
                            </p:stCondLst>
                            <p:childTnLst>
                              <p:par>
                                <p:cTn id="17"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par>
                          <p:cTn id="22" fill="hold">
                            <p:stCondLst>
                              <p:cond delay="880"/>
                            </p:stCondLst>
                            <p:childTnLst>
                              <p:par>
                                <p:cTn id="21"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childTnLst>
                          </p:cTn>
                        </p:par>
                        <p:par>
                          <p:cTn id="33" fill="hold">
                            <p:stCondLst>
                              <p:cond delay="1210"/>
                            </p:stCondLst>
                            <p:childTnLst>
                              <p:par>
                                <p:cTn id="27"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strVal val="0"/>
                                          </p:val>
                                        </p:tav>
                                        <p:tav tm="100000">
                                          <p:val>
                                            <p:strVal val="#ppt_w"/>
                                          </p:val>
                                        </p:tav>
                                      </p:tavLst>
                                    </p:anim>
                                    <p:anim calcmode="lin" valueType="num">
                                      <p:cBhvr additive="base">
                                        <p:cTn id="25" dur="500" fill="hold"/>
                                        <p:tgtEl>
                                          <p:spTgt spid="8"/>
                                        </p:tgtEl>
                                        <p:attrNameLst>
                                          <p:attrName>ppt_h</p:attrName>
                                        </p:attrNameLst>
                                      </p:cBhvr>
                                      <p:tavLst>
                                        <p:tav tm="0">
                                          <p:val>
                                            <p:strVal val="0"/>
                                          </p:val>
                                        </p:tav>
                                        <p:tav tm="100000">
                                          <p:val>
                                            <p:strVal val="#ppt_h"/>
                                          </p:val>
                                        </p:tav>
                                      </p:tavLst>
                                    </p:anim>
                                    <p:animEffect transition="in" filter="fade">
                                      <p:cBhvr>
                                        <p:cTn id="26" dur="500"/>
                                        <p:tgtEl>
                                          <p:spTgt spid="8"/>
                                        </p:tgtEl>
                                      </p:cBhvr>
                                    </p:animEffect>
                                  </p:childTnLst>
                                </p:cTn>
                              </p:par>
                              <p:par>
                                <p:cTn id="32" presetID="53" presetClass="entr" presetSubtype="16"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ppt_w</p:attrName>
                                        </p:attrNameLst>
                                      </p:cBhvr>
                                      <p:tavLst>
                                        <p:tav tm="0">
                                          <p:val>
                                            <p:strVal val="0"/>
                                          </p:val>
                                        </p:tav>
                                        <p:tav tm="100000">
                                          <p:val>
                                            <p:strVal val="#ppt_w"/>
                                          </p:val>
                                        </p:tav>
                                      </p:tavLst>
                                    </p:anim>
                                    <p:anim calcmode="lin" valueType="num">
                                      <p:cBhvr additive="base">
                                        <p:cTn id="30" dur="500" fill="hold"/>
                                        <p:tgtEl>
                                          <p:spTgt spid="9"/>
                                        </p:tgtEl>
                                        <p:attrNameLst>
                                          <p:attrName>ppt_h</p:attrName>
                                        </p:attrNameLst>
                                      </p:cBhvr>
                                      <p:tavLst>
                                        <p:tav tm="0">
                                          <p:val>
                                            <p:strVal val="0"/>
                                          </p:val>
                                        </p:tav>
                                        <p:tav tm="100000">
                                          <p:val>
                                            <p:strVal val="#ppt_h"/>
                                          </p:val>
                                        </p:tav>
                                      </p:tavLst>
                                    </p:anim>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تخيّل... من يمسك الكرة بقوة؟</a:t>
            </a:r>
            <a:endParaRPr lang="en-US" sz="2800" dirty="0"/>
          </a:p>
        </p:txBody>
      </p:sp>
      <p:sp>
        <p:nvSpPr>
          <p:cNvPr id="3" name="float:a:2"/>
          <p:cNvSpPr/>
          <p:nvPr/>
        </p:nvSpPr>
        <p:spPr>
          <a:xfrm>
            <a:off x="411480" y="1325880"/>
            <a:ext cx="11384280" cy="1280160"/>
          </a:xfrm>
          <a:prstGeom prst="roundRect">
            <a:avLst>
              <a:gd name="adj" fmla="val 10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تخيّل أنّ زميلك يُمسك بيده كرة وأنت تحاول أن تنتزعها من يده، إذا كان صديقك يمسك الكرة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بقوة</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فستحتاج إلى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طاقة أكبر</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لتأخذها منه، أما إذا كان لا يمسك الكرة بإحكام فستأخذها منه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بسهولة.</a:t>
            </a:r>
            <a:endParaRPr lang="ar-SA" sz="1700" dirty="0"/>
          </a:p>
        </p:txBody>
      </p:sp>
      <p:pic>
        <p:nvPicPr>
          <p:cNvPr id="4" name="zoom:c:3" descr="l/grip_loose.png">    </p:cNvPr>
          <p:cNvPicPr>
            <a:picLocks noChangeAspect="1"/>
          </p:cNvPicPr>
          <p:nvPr/>
        </p:nvPicPr>
        <p:blipFill>
          <a:blip r:embed="rId1"/>
          <a:stretch>
            <a:fillRect/>
          </a:stretch>
        </p:blipFill>
        <p:spPr>
          <a:xfrm>
            <a:off x="640080" y="2834640"/>
            <a:ext cx="2560320" cy="2560320"/>
          </a:xfrm>
          <a:prstGeom prst="rect">
            <a:avLst/>
          </a:prstGeom>
        </p:spPr>
      </p:pic>
      <p:sp>
        <p:nvSpPr>
          <p:cNvPr id="5" name="float:w:4"/>
          <p:cNvSpPr/>
          <p:nvPr/>
        </p:nvSpPr>
        <p:spPr>
          <a:xfrm>
            <a:off x="502920" y="5577840"/>
            <a:ext cx="2834640" cy="548640"/>
          </a:xfrm>
          <a:prstGeom prst="roundRect">
            <a:avLst>
              <a:gd name="adj" fmla="val 50000"/>
            </a:avLst>
          </a:prstGeom>
          <a:solidFill>
            <a:srgbClr val="8B5CF6"/>
          </a:solidFill>
          <a:ln/>
        </p:spPr>
        <p:txBody>
          <a:bodyPr wrap="square" lIns="76200" tIns="152400" rIns="152400" bIns="76200" rtlCol="0" anchor="ctr"/>
          <a:lstStyle/>
          <a:p>
            <a:pPr rtl="1" algn="ct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مسكة ضعيفة ← بسهولة</a:t>
            </a:r>
            <a:endParaRPr lang="ar-SA" sz="1600" dirty="0"/>
          </a:p>
        </p:txBody>
      </p:sp>
      <p:pic>
        <p:nvPicPr>
          <p:cNvPr id="6" name="zoom:c:5" descr="l/grip_tight.png">    </p:cNvPr>
          <p:cNvPicPr>
            <a:picLocks noChangeAspect="1"/>
          </p:cNvPicPr>
          <p:nvPr/>
        </p:nvPicPr>
        <p:blipFill>
          <a:blip r:embed="rId2"/>
          <a:stretch>
            <a:fillRect/>
          </a:stretch>
        </p:blipFill>
        <p:spPr>
          <a:xfrm>
            <a:off x="3657600" y="3017520"/>
            <a:ext cx="2194560" cy="2194560"/>
          </a:xfrm>
          <a:prstGeom prst="rect">
            <a:avLst/>
          </a:prstGeom>
        </p:spPr>
      </p:pic>
      <p:sp>
        <p:nvSpPr>
          <p:cNvPr id="7" name="float:w:6"/>
          <p:cNvSpPr/>
          <p:nvPr/>
        </p:nvSpPr>
        <p:spPr>
          <a:xfrm>
            <a:off x="3337560" y="5577840"/>
            <a:ext cx="2834640" cy="548640"/>
          </a:xfrm>
          <a:prstGeom prst="roundRect">
            <a:avLst>
              <a:gd name="adj" fmla="val 50000"/>
            </a:avLst>
          </a:prstGeom>
          <a:solidFill>
            <a:srgbClr val="7C3AED"/>
          </a:solidFill>
          <a:ln/>
        </p:spPr>
        <p:txBody>
          <a:bodyPr wrap="square" lIns="76200" tIns="152400" rIns="152400" bIns="76200" rtlCol="0" anchor="ctr"/>
          <a:lstStyle/>
          <a:p>
            <a:pPr rtl="1" algn="ct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مسكة قوية ← طاقة أكبر</a:t>
            </a:r>
            <a:endParaRPr lang="ar-SA" sz="1600" dirty="0"/>
          </a:p>
        </p:txBody>
      </p:sp>
      <p:sp>
        <p:nvSpPr>
          <p:cNvPr id="8" name="float:c:7"/>
          <p:cNvSpPr/>
          <p:nvPr/>
        </p:nvSpPr>
        <p:spPr>
          <a:xfrm>
            <a:off x="6583680" y="2834640"/>
            <a:ext cx="5212080" cy="3291840"/>
          </a:xfrm>
          <a:prstGeom prst="roundRect">
            <a:avLst>
              <a:gd name="adj" fmla="val 3889"/>
            </a:avLst>
          </a:prstGeom>
          <a:solidFill>
            <a:srgbClr val="7C3AED"/>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2200" b="1" dirty="0">
                <a:solidFill>
                  <a:srgbClr val="FFFFFF"/>
                </a:solidFill>
                <a:latin typeface="Segoe UI" pitchFamily="34" charset="0"/>
                <a:ea typeface="Segoe UI" pitchFamily="34" charset="-122"/>
                <a:cs typeface="Segoe UI" pitchFamily="34" charset="-120"/>
              </a:rPr>
              <a:t>الأمر نفسه يحدث داخل الذرة!</a:t>
            </a:r>
            <a:endParaRPr lang="ar-SA" sz="1800" dirty="0"/>
          </a:p>
          <a:p>
            <a:pPr rtl="1" algn="r" indent="0" marL="0">
              <a:lnSpc>
                <a:spcPct val="105000"/>
              </a:lnSpc>
              <a:buNone/>
            </a:pPr>
            <a:r>
              <a:rPr lang="ar-SA" altLang="en-US" sz="1800" dirty="0">
                <a:solidFill>
                  <a:srgbClr val="FFFFFF"/>
                </a:solidFill>
                <a:latin typeface="Segoe UI" pitchFamily="34" charset="0"/>
                <a:ea typeface="Segoe UI" pitchFamily="34" charset="-122"/>
                <a:cs typeface="Segoe UI" pitchFamily="34" charset="-120"/>
              </a:rPr>
              <a:t>فالنواة تجذب الإلكترونات بقوة تعتمد على المسافة بينهما، ولكي ننزع إلكترون من الذرة نحتاج إلى مقدار معيّن من الطاقة.</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0"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ppt_w</p:attrName>
                                        </p:attrNameLst>
                                      </p:cBhvr>
                                      <p:tavLst>
                                        <p:tav tm="0">
                                          <p:val>
                                            <p:strVal val="0"/>
                                          </p:val>
                                        </p:tav>
                                        <p:tav tm="100000">
                                          <p:val>
                                            <p:strVal val="#ppt_w"/>
                                          </p:val>
                                        </p:tav>
                                      </p:tavLst>
                                    </p:anim>
                                    <p:anim calcmode="lin" valueType="num">
                                      <p:cBhvr additive="base">
                                        <p:cTn id="12" dur="500" fill="hold"/>
                                        <p:tgtEl>
                                          <p:spTgt spid="4"/>
                                        </p:tgtEl>
                                        <p:attrNameLst>
                                          <p:attrName>ppt_h</p:attrName>
                                        </p:attrNameLst>
                                      </p:cBhvr>
                                      <p:tavLst>
                                        <p:tav tm="0">
                                          <p:val>
                                            <p:strVal val="0"/>
                                          </p:val>
                                        </p:tav>
                                        <p:tav tm="100000">
                                          <p:val>
                                            <p:strVal val="#ppt_h"/>
                                          </p:val>
                                        </p:tav>
                                      </p:tavLst>
                                    </p:anim>
                                    <p:animEffect transition="in" filter="fade">
                                      <p:cBhvr>
                                        <p:cTn id="13" dur="500"/>
                                        <p:tgtEl>
                                          <p:spTgt spid="4"/>
                                        </p:tgtEl>
                                      </p:cBhvr>
                                    </p:animEffect>
                                  </p:childTnLst>
                                </p:cTn>
                              </p:par>
                              <p:par>
                                <p:cTn id="19" presetID="42"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2"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ppt_w</p:attrName>
                                        </p:attrNameLst>
                                      </p:cBhvr>
                                      <p:tavLst>
                                        <p:tav tm="0">
                                          <p:val>
                                            <p:strVal val="0"/>
                                          </p:val>
                                        </p:tav>
                                        <p:tav tm="100000">
                                          <p:val>
                                            <p:strVal val="#ppt_w"/>
                                          </p:val>
                                        </p:tav>
                                      </p:tavLst>
                                    </p:anim>
                                    <p:anim calcmode="lin" valueType="num">
                                      <p:cBhvr additive="base">
                                        <p:cTn id="24" dur="500" fill="hold"/>
                                        <p:tgtEl>
                                          <p:spTgt spid="6"/>
                                        </p:tgtEl>
                                        <p:attrNameLst>
                                          <p:attrName>ppt_h</p:attrName>
                                        </p:attrNameLst>
                                      </p:cBhvr>
                                      <p:tavLst>
                                        <p:tav tm="0">
                                          <p:val>
                                            <p:strVal val="0"/>
                                          </p:val>
                                        </p:tav>
                                        <p:tav tm="100000">
                                          <p:val>
                                            <p:strVal val="#ppt_h"/>
                                          </p:val>
                                        </p:tav>
                                      </p:tavLst>
                                    </p:anim>
                                    <p:animEffect transition="in" filter="fade">
                                      <p:cBhvr>
                                        <p:cTn id="25" dur="500"/>
                                        <p:tgtEl>
                                          <p:spTgt spid="6"/>
                                        </p:tgtEl>
                                      </p:cBhvr>
                                    </p:animEffect>
                                  </p:childTnLst>
                                </p:cTn>
                              </p:par>
                              <p:par>
                                <p:cTn id="31"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anim calcmode="lin" valueType="num">
                                      <p:cBhvr additive="base">
                                        <p:cTn id="29" dur="700" fill="hold"/>
                                        <p:tgtEl>
                                          <p:spTgt spid="7"/>
                                        </p:tgtEl>
                                        <p:attrNameLst>
                                          <p:attrName>ppt_x</p:attrName>
                                        </p:attrNameLst>
                                      </p:cBhvr>
                                      <p:tavLst>
                                        <p:tav tm="0">
                                          <p:val>
                                            <p:strVal val="#ppt_x"/>
                                          </p:val>
                                        </p:tav>
                                        <p:tav tm="100000">
                                          <p:val>
                                            <p:strVal val="#ppt_x"/>
                                          </p:val>
                                        </p:tav>
                                      </p:tavLst>
                                    </p:anim>
                                    <p:anim calcmode="lin" valueType="num">
                                      <p:cBhvr additive="base">
                                        <p:cTn id="30" dur="7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39"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700"/>
                                        <p:tgtEl>
                                          <p:spTgt spid="8"/>
                                        </p:tgtEl>
                                      </p:cBhvr>
                                    </p:animEffect>
                                    <p:anim calcmode="lin" valueType="num">
                                      <p:cBhvr additive="base">
                                        <p:cTn id="36" dur="700" fill="hold"/>
                                        <p:tgtEl>
                                          <p:spTgt spid="8"/>
                                        </p:tgtEl>
                                        <p:attrNameLst>
                                          <p:attrName>ppt_x</p:attrName>
                                        </p:attrNameLst>
                                      </p:cBhvr>
                                      <p:tavLst>
                                        <p:tav tm="0">
                                          <p:val>
                                            <p:strVal val="#ppt_x"/>
                                          </p:val>
                                        </p:tav>
                                        <p:tav tm="100000">
                                          <p:val>
                                            <p:strVal val="#ppt_x"/>
                                          </p:val>
                                        </p:tav>
                                      </p:tavLst>
                                    </p:anim>
                                    <p:anim calcmode="lin" valueType="num">
                                      <p:cBhvr additive="base">
                                        <p:cTn id="37" dur="7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ما هي طاقة التأين؟</a:t>
            </a:r>
            <a:endParaRPr lang="en-US" sz="2800" dirty="0"/>
          </a:p>
        </p:txBody>
      </p:sp>
      <p:sp>
        <p:nvSpPr>
          <p:cNvPr id="3" name="float:a:2"/>
          <p:cNvSpPr/>
          <p:nvPr/>
        </p:nvSpPr>
        <p:spPr>
          <a:xfrm>
            <a:off x="4572000" y="1325880"/>
            <a:ext cx="7223760" cy="1600200"/>
          </a:xfrm>
          <a:prstGeom prst="roundRect">
            <a:avLst>
              <a:gd name="adj" fmla="val 8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فإذا مُنحت الذرة طاقة كافية، يمكن نزع الإلكترون منها. عندئذٍ سيقل عدد إلكترونات الذرة بواحد عن عدد البروتونات في نواتها، فتتحول إلى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أيون موجب الشحنة (كاتيون).</a:t>
            </a:r>
            <a:endParaRPr lang="ar-SA" sz="1700" dirty="0"/>
          </a:p>
        </p:txBody>
      </p:sp>
      <p:pic>
        <p:nvPicPr>
          <p:cNvPr id="4" name="zoom:a:3" descr="h_heist.png">    </p:cNvPr>
          <p:cNvPicPr>
            <a:picLocks noChangeAspect="1"/>
          </p:cNvPicPr>
          <p:nvPr/>
        </p:nvPicPr>
        <p:blipFill>
          <a:blip r:embed="rId1"/>
          <a:stretch>
            <a:fillRect/>
          </a:stretch>
        </p:blipFill>
        <p:spPr>
          <a:xfrm>
            <a:off x="411480" y="1339167"/>
            <a:ext cx="3931920" cy="2076545"/>
          </a:xfrm>
          <a:prstGeom prst="rect">
            <a:avLst/>
          </a:prstGeom>
        </p:spPr>
      </p:pic>
      <p:sp>
        <p:nvSpPr>
          <p:cNvPr id="5" name="float:c:4"/>
          <p:cNvSpPr/>
          <p:nvPr/>
        </p:nvSpPr>
        <p:spPr>
          <a:xfrm>
            <a:off x="9052560" y="3154680"/>
            <a:ext cx="2743200" cy="548640"/>
          </a:xfrm>
          <a:prstGeom prst="roundRect">
            <a:avLst>
              <a:gd name="adj" fmla="val 50000"/>
            </a:avLst>
          </a:prstGeom>
          <a:solidFill>
            <a:srgbClr val="7C3AED"/>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طاقة التأين الأولى</a:t>
            </a:r>
            <a:endParaRPr lang="ar-SA" sz="1700" dirty="0"/>
          </a:p>
        </p:txBody>
      </p:sp>
      <p:sp>
        <p:nvSpPr>
          <p:cNvPr id="6" name="float:w:5"/>
          <p:cNvSpPr/>
          <p:nvPr/>
        </p:nvSpPr>
        <p:spPr>
          <a:xfrm>
            <a:off x="411480" y="3794760"/>
            <a:ext cx="11384280" cy="1051560"/>
          </a:xfrm>
          <a:prstGeom prst="roundRect">
            <a:avLst>
              <a:gd name="adj" fmla="val 12174"/>
            </a:avLst>
          </a:prstGeom>
          <a:solidFill>
            <a:srgbClr val="FFFFFF">
              <a:alpha val="90000"/>
            </a:srgbClr>
          </a:solidFill>
          <a:ln w="15875">
            <a:solidFill>
              <a:srgbClr val="7C3AED"/>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b="1" dirty="0">
                <a:solidFill>
                  <a:srgbClr val="0B2545"/>
                </a:solidFill>
                <a:latin typeface="Segoe UI" pitchFamily="34" charset="0"/>
                <a:ea typeface="Segoe UI" pitchFamily="34" charset="-122"/>
                <a:cs typeface="Segoe UI" pitchFamily="34" charset="-120"/>
              </a:rPr>
              <a:t>«مقدار الطاقة اللازمة لنزع أضعف إلكترون ارتباطًا بالنواة من ذرة متعادلة في الحالة الغازية»</a:t>
            </a:r>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وتُعرف كذلك بـ</a:t>
            </a:r>
            <a:pPr rtl="1" algn="r" indent="0" marL="0">
              <a:lnSpc>
                <a:spcPct val="105000"/>
              </a:lnSpc>
              <a:buNone/>
            </a:pPr>
            <a:r>
              <a:rPr lang="ar-SA" altLang="en-US" sz="1800" b="1" dirty="0">
                <a:solidFill>
                  <a:srgbClr val="7C3AED"/>
                </a:solidFill>
                <a:latin typeface="Segoe UI" pitchFamily="34" charset="0"/>
                <a:ea typeface="Segoe UI" pitchFamily="34" charset="-122"/>
                <a:cs typeface="Segoe UI" pitchFamily="34" charset="-120"/>
              </a:rPr>
              <a:t>طاقة التأين الأولى.</a:t>
            </a:r>
            <a:endParaRPr lang="ar-SA" sz="1800" dirty="0"/>
          </a:p>
        </p:txBody>
      </p:sp>
      <p:sp>
        <p:nvSpPr>
          <p:cNvPr id="7" name="zoom:a:6"/>
          <p:cNvSpPr/>
          <p:nvPr/>
        </p:nvSpPr>
        <p:spPr>
          <a:xfrm>
            <a:off x="1537564" y="5029200"/>
            <a:ext cx="1463040" cy="731520"/>
          </a:xfrm>
          <a:prstGeom prst="roundRect">
            <a:avLst>
              <a:gd name="adj" fmla="val 20000"/>
            </a:avLst>
          </a:prstGeom>
          <a:solidFill>
            <a:srgbClr val="FFFFFF">
              <a:alpha val="95000"/>
            </a:srgbClr>
          </a:solidFill>
          <a:ln w="25400">
            <a:solidFill>
              <a:srgbClr val="7C3AED"/>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X(g)</a:t>
            </a:r>
            <a:endParaRPr lang="en-US" sz="2400" dirty="0"/>
          </a:p>
        </p:txBody>
      </p:sp>
      <p:sp>
        <p:nvSpPr>
          <p:cNvPr id="8" name="fade:w:7"/>
          <p:cNvSpPr txBox="1"/>
          <p:nvPr/>
        </p:nvSpPr>
        <p:spPr>
          <a:xfrm>
            <a:off x="1354684" y="5815584"/>
            <a:ext cx="1828800" cy="411480"/>
          </a:xfrm>
          <a:prstGeom prst="rect">
            <a:avLst/>
          </a:prstGeom>
          <a:noFill/>
          <a:ln/>
        </p:spPr>
        <p:txBody>
          <a:bodyPr wrap="square" lIns="0" tIns="0" rIns="0" bIns="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ذرة متعادلة</a:t>
            </a:r>
            <a:endParaRPr lang="ar-SA" sz="1400" dirty="0"/>
          </a:p>
        </p:txBody>
      </p:sp>
      <p:sp>
        <p:nvSpPr>
          <p:cNvPr id="9" name="zoom:a:8"/>
          <p:cNvSpPr txBox="1"/>
          <p:nvPr/>
        </p:nvSpPr>
        <p:spPr>
          <a:xfrm>
            <a:off x="3110332" y="5029200"/>
            <a:ext cx="502920" cy="731520"/>
          </a:xfrm>
          <a:prstGeom prst="rect">
            <a:avLst/>
          </a:prstGeom>
          <a:noFill/>
          <a:ln/>
        </p:spPr>
        <p:txBody>
          <a:bodyPr wrap="square" lIns="0" tIns="0" rIns="0" bIns="0" rtlCol="0" anchor="ctr"/>
          <a:lstStyle/>
          <a:p>
            <a:pPr algn="ctr" indent="0" marL="0">
              <a:lnSpc>
                <a:spcPct val="105000"/>
              </a:lnSpc>
              <a:buNone/>
            </a:pPr>
            <a:r>
              <a:rPr lang="en-US" altLang="en-US" sz="2800" b="1" dirty="0">
                <a:solidFill>
                  <a:srgbClr val="7C3AED"/>
                </a:solidFill>
                <a:latin typeface="Segoe UI" pitchFamily="34" charset="0"/>
                <a:ea typeface="Segoe UI" pitchFamily="34" charset="-122"/>
                <a:cs typeface="Segoe UI" pitchFamily="34" charset="-120"/>
              </a:rPr>
              <a:t>+</a:t>
            </a:r>
            <a:endParaRPr lang="en-US" sz="2800" dirty="0"/>
          </a:p>
        </p:txBody>
      </p:sp>
      <p:sp>
        <p:nvSpPr>
          <p:cNvPr id="10" name="zoom:a:9"/>
          <p:cNvSpPr/>
          <p:nvPr/>
        </p:nvSpPr>
        <p:spPr>
          <a:xfrm>
            <a:off x="3722980" y="5029200"/>
            <a:ext cx="2743200" cy="731520"/>
          </a:xfrm>
          <a:prstGeom prst="roundRect">
            <a:avLst>
              <a:gd name="adj" fmla="val 20000"/>
            </a:avLst>
          </a:prstGeom>
          <a:solidFill>
            <a:srgbClr val="7C3AED"/>
          </a:solidFill>
          <a:ln w="25400">
            <a:solidFill>
              <a:srgbClr val="7C3AED"/>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طاقة التأين الأولى</a:t>
            </a:r>
            <a:endParaRPr lang="ar-SA" sz="1800" dirty="0"/>
          </a:p>
        </p:txBody>
      </p:sp>
      <p:sp>
        <p:nvSpPr>
          <p:cNvPr id="11" name="zoom:a:10"/>
          <p:cNvSpPr txBox="1"/>
          <p:nvPr/>
        </p:nvSpPr>
        <p:spPr>
          <a:xfrm>
            <a:off x="6575908" y="5029200"/>
            <a:ext cx="502920" cy="731520"/>
          </a:xfrm>
          <a:prstGeom prst="rect">
            <a:avLst/>
          </a:prstGeom>
          <a:noFill/>
          <a:ln/>
        </p:spPr>
        <p:txBody>
          <a:bodyPr wrap="square" lIns="0" tIns="0" rIns="0" bIns="0" rtlCol="0" anchor="ctr"/>
          <a:lstStyle/>
          <a:p>
            <a:pPr algn="ctr" indent="0" marL="0">
              <a:lnSpc>
                <a:spcPct val="105000"/>
              </a:lnSpc>
              <a:buNone/>
            </a:pPr>
            <a:r>
              <a:rPr lang="en-US" altLang="en-US" sz="2800" b="1" dirty="0">
                <a:solidFill>
                  <a:srgbClr val="7C3AED"/>
                </a:solidFill>
                <a:latin typeface="Segoe UI" pitchFamily="34" charset="0"/>
                <a:ea typeface="Segoe UI" pitchFamily="34" charset="-122"/>
                <a:cs typeface="Segoe UI" pitchFamily="34" charset="-120"/>
              </a:rPr>
              <a:t>→</a:t>
            </a:r>
            <a:endParaRPr lang="en-US" sz="2800" dirty="0"/>
          </a:p>
        </p:txBody>
      </p:sp>
      <p:sp>
        <p:nvSpPr>
          <p:cNvPr id="12" name="zoom:a:11"/>
          <p:cNvSpPr/>
          <p:nvPr/>
        </p:nvSpPr>
        <p:spPr>
          <a:xfrm>
            <a:off x="7188556" y="5029200"/>
            <a:ext cx="1645920" cy="731520"/>
          </a:xfrm>
          <a:prstGeom prst="roundRect">
            <a:avLst>
              <a:gd name="adj" fmla="val 20000"/>
            </a:avLst>
          </a:prstGeom>
          <a:solidFill>
            <a:srgbClr val="FFFFFF">
              <a:alpha val="95000"/>
            </a:srgbClr>
          </a:solidFill>
          <a:ln w="25400">
            <a:solidFill>
              <a:srgbClr val="7C3AED"/>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b="1" baseline="30000" dirty="0">
                <a:solidFill>
                  <a:srgbClr val="0B2545"/>
                </a:solidFill>
                <a:latin typeface="Segoe UI" pitchFamily="34" charset="0"/>
                <a:ea typeface="Segoe UI" pitchFamily="34" charset="-122"/>
                <a:cs typeface="Segoe UI" pitchFamily="34" charset="-120"/>
              </a:rPr>
              <a:t>+</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(g)</a:t>
            </a:r>
            <a:endParaRPr lang="en-US" sz="2400" dirty="0"/>
          </a:p>
        </p:txBody>
      </p:sp>
      <p:sp>
        <p:nvSpPr>
          <p:cNvPr id="13" name="fade:w:12"/>
          <p:cNvSpPr txBox="1"/>
          <p:nvPr/>
        </p:nvSpPr>
        <p:spPr>
          <a:xfrm>
            <a:off x="7005676" y="5815584"/>
            <a:ext cx="2011680" cy="411480"/>
          </a:xfrm>
          <a:prstGeom prst="rect">
            <a:avLst/>
          </a:prstGeom>
          <a:noFill/>
          <a:ln/>
        </p:spPr>
        <p:txBody>
          <a:bodyPr wrap="square" lIns="0" tIns="0" rIns="0" bIns="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كاتيون أحادي الشحنة</a:t>
            </a:r>
            <a:endParaRPr lang="ar-SA" sz="1400" dirty="0"/>
          </a:p>
        </p:txBody>
      </p:sp>
      <p:sp>
        <p:nvSpPr>
          <p:cNvPr id="14" name="zoom:a:13"/>
          <p:cNvSpPr txBox="1"/>
          <p:nvPr/>
        </p:nvSpPr>
        <p:spPr>
          <a:xfrm>
            <a:off x="8944204" y="5029200"/>
            <a:ext cx="502920" cy="731520"/>
          </a:xfrm>
          <a:prstGeom prst="rect">
            <a:avLst/>
          </a:prstGeom>
          <a:noFill/>
          <a:ln/>
        </p:spPr>
        <p:txBody>
          <a:bodyPr wrap="square" lIns="0" tIns="0" rIns="0" bIns="0" rtlCol="0" anchor="ctr"/>
          <a:lstStyle/>
          <a:p>
            <a:pPr algn="ctr" indent="0" marL="0">
              <a:lnSpc>
                <a:spcPct val="105000"/>
              </a:lnSpc>
              <a:buNone/>
            </a:pPr>
            <a:r>
              <a:rPr lang="en-US" altLang="en-US" sz="2800" b="1" dirty="0">
                <a:solidFill>
                  <a:srgbClr val="7C3AED"/>
                </a:solidFill>
                <a:latin typeface="Segoe UI" pitchFamily="34" charset="0"/>
                <a:ea typeface="Segoe UI" pitchFamily="34" charset="-122"/>
                <a:cs typeface="Segoe UI" pitchFamily="34" charset="-120"/>
              </a:rPr>
              <a:t>+</a:t>
            </a:r>
            <a:endParaRPr lang="en-US" sz="2800" dirty="0"/>
          </a:p>
        </p:txBody>
      </p:sp>
      <p:sp>
        <p:nvSpPr>
          <p:cNvPr id="15" name="zoom:a:14"/>
          <p:cNvSpPr/>
          <p:nvPr/>
        </p:nvSpPr>
        <p:spPr>
          <a:xfrm>
            <a:off x="9556852" y="5029200"/>
            <a:ext cx="1097280" cy="731520"/>
          </a:xfrm>
          <a:prstGeom prst="roundRect">
            <a:avLst>
              <a:gd name="adj" fmla="val 20000"/>
            </a:avLst>
          </a:prstGeom>
          <a:solidFill>
            <a:srgbClr val="FFFFFF">
              <a:alpha val="95000"/>
            </a:srgbClr>
          </a:solidFill>
          <a:ln w="25400">
            <a:solidFill>
              <a:srgbClr val="7C3AED"/>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e</a:t>
            </a:r>
            <a:pPr algn="ctr" indent="0" marL="0">
              <a:lnSpc>
                <a:spcPct val="105000"/>
              </a:lnSpc>
              <a:buNone/>
            </a:pPr>
            <a:r>
              <a:rPr lang="en-US" altLang="en-US" sz="2400" b="1" baseline="30000" dirty="0">
                <a:solidFill>
                  <a:srgbClr val="0B2545"/>
                </a:solidFill>
                <a:latin typeface="Segoe UI" pitchFamily="34" charset="0"/>
                <a:ea typeface="Segoe UI" pitchFamily="34" charset="-122"/>
                <a:cs typeface="Segoe UI" pitchFamily="34" charset="-120"/>
              </a:rPr>
              <a:t>-</a:t>
            </a:r>
            <a:endParaRPr lang="en-US" sz="2400" dirty="0"/>
          </a:p>
        </p:txBody>
      </p:sp>
      <p:sp>
        <p:nvSpPr>
          <p:cNvPr id="16" name="fade:w:15"/>
          <p:cNvSpPr txBox="1"/>
          <p:nvPr/>
        </p:nvSpPr>
        <p:spPr>
          <a:xfrm>
            <a:off x="9373972" y="5815584"/>
            <a:ext cx="1463040" cy="411480"/>
          </a:xfrm>
          <a:prstGeom prst="rect">
            <a:avLst/>
          </a:prstGeom>
          <a:noFill/>
          <a:ln/>
        </p:spPr>
        <p:txBody>
          <a:bodyPr wrap="square" lIns="0" tIns="0" rIns="0" bIns="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إلكترون</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childTnLst>
                    </p:cTn>
                  </p:par>
                  <p:par>
                    <p:cTn id="78" fill="hold">
                      <p:stCondLst>
                        <p:cond delay="indefinite"/>
                      </p:stCondLst>
                      <p:childTnLst>
                        <p:par>
                          <p:cTn id="26" fill="hold">
                            <p:stCondLst>
                              <p:cond delay="0"/>
                            </p:stCondLst>
                            <p:childTnLst>
                              <p:par>
                                <p:cTn id="20"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p:tgtEl>
                                          <p:spTgt spid="5"/>
                                        </p:tgtEl>
                                        <p:attrNameLst>
                                          <p:attrName>ppt_x</p:attrName>
                                        </p:attrNameLst>
                                      </p:cBhvr>
                                      <p:tavLst>
                                        <p:tav tm="0">
                                          <p:val>
                                            <p:strVal val="#ppt_x"/>
                                          </p:val>
                                        </p:tav>
                                        <p:tav tm="100000">
                                          <p:val>
                                            <p:strVal val="#ppt_x"/>
                                          </p:val>
                                        </p:tav>
                                      </p:tavLst>
                                    </p:anim>
                                    <p:anim calcmode="lin" valueType="num">
                                      <p:cBhvr additive="base">
                                        <p:cTn id="19" dur="7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p:tgtEl>
                                          <p:spTgt spid="6"/>
                                        </p:tgtEl>
                                        <p:attrNameLst>
                                          <p:attrName>ppt_x</p:attrName>
                                        </p:attrNameLst>
                                      </p:cBhvr>
                                      <p:tavLst>
                                        <p:tav tm="0">
                                          <p:val>
                                            <p:strVal val="#ppt_x"/>
                                          </p:val>
                                        </p:tav>
                                        <p:tav tm="100000">
                                          <p:val>
                                            <p:strVal val="#ppt_x"/>
                                          </p:val>
                                        </p:tav>
                                      </p:tavLst>
                                    </p:anim>
                                    <p:anim calcmode="lin" valueType="num">
                                      <p:cBhvr additive="base">
                                        <p:cTn id="24" dur="700" fill="hold"/>
                                        <p:tgtEl>
                                          <p:spTgt spid="6"/>
                                        </p:tgtEl>
                                        <p:attrNameLst>
                                          <p:attrName>ppt_y</p:attrName>
                                        </p:attrNameLst>
                                      </p:cBhvr>
                                      <p:tavLst>
                                        <p:tav tm="0">
                                          <p:val>
                                            <p:strVal val="#ppt_y+.1"/>
                                          </p:val>
                                        </p:tav>
                                        <p:tav tm="100000">
                                          <p:val>
                                            <p:strVal val="#ppt_y"/>
                                          </p:val>
                                        </p:tav>
                                      </p:tavLst>
                                    </p:anim>
                                  </p:childTnLst>
                                </p:cTn>
                              </p:par>
                            </p:childTnLst>
                          </p:cTn>
                        </p:par>
                        <p:par>
                          <p:cTn id="35" fill="hold">
                            <p:stCondLst>
                              <p:cond delay="385"/>
                            </p:stCondLst>
                            <p:childTnLst>
                              <p:par>
                                <p:cTn id="31" presetID="53" presetClass="entr" presetSubtype="16"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ppt_w</p:attrName>
                                        </p:attrNameLst>
                                      </p:cBhvr>
                                      <p:tavLst>
                                        <p:tav tm="0">
                                          <p:val>
                                            <p:strVal val="0"/>
                                          </p:val>
                                        </p:tav>
                                        <p:tav tm="100000">
                                          <p:val>
                                            <p:strVal val="#ppt_w"/>
                                          </p:val>
                                        </p:tav>
                                      </p:tavLst>
                                    </p:anim>
                                    <p:anim calcmode="lin" valueType="num">
                                      <p:cBhvr additive="base">
                                        <p:cTn id="29" dur="500" fill="hold"/>
                                        <p:tgtEl>
                                          <p:spTgt spid="7"/>
                                        </p:tgtEl>
                                        <p:attrNameLst>
                                          <p:attrName>ppt_h</p:attrName>
                                        </p:attrNameLst>
                                      </p:cBhvr>
                                      <p:tavLst>
                                        <p:tav tm="0">
                                          <p:val>
                                            <p:strVal val="0"/>
                                          </p:val>
                                        </p:tav>
                                        <p:tav tm="100000">
                                          <p:val>
                                            <p:strVal val="#ppt_h"/>
                                          </p:val>
                                        </p:tav>
                                      </p:tavLst>
                                    </p:anim>
                                    <p:animEffect transition="in" filter="fade">
                                      <p:cBhvr>
                                        <p:cTn id="30" dur="500"/>
                                        <p:tgtEl>
                                          <p:spTgt spid="7"/>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childTnLst>
                                </p:cTn>
                              </p:par>
                            </p:childTnLst>
                          </p:cTn>
                        </p:par>
                        <p:par>
                          <p:cTn id="41" fill="hold">
                            <p:stCondLst>
                              <p:cond delay="715"/>
                            </p:stCondLst>
                            <p:childTnLst>
                              <p:par>
                                <p:cTn id="40" presetID="53" presetClass="entr" presetSubtype="16"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ppt_w</p:attrName>
                                        </p:attrNameLst>
                                      </p:cBhvr>
                                      <p:tavLst>
                                        <p:tav tm="0">
                                          <p:val>
                                            <p:strVal val="0"/>
                                          </p:val>
                                        </p:tav>
                                        <p:tav tm="100000">
                                          <p:val>
                                            <p:strVal val="#ppt_w"/>
                                          </p:val>
                                        </p:tav>
                                      </p:tavLst>
                                    </p:anim>
                                    <p:anim calcmode="lin" valueType="num">
                                      <p:cBhvr additive="base">
                                        <p:cTn id="38" dur="500" fill="hold"/>
                                        <p:tgtEl>
                                          <p:spTgt spid="9"/>
                                        </p:tgtEl>
                                        <p:attrNameLst>
                                          <p:attrName>ppt_h</p:attrName>
                                        </p:attrNameLst>
                                      </p:cBhvr>
                                      <p:tavLst>
                                        <p:tav tm="0">
                                          <p:val>
                                            <p:strVal val="0"/>
                                          </p:val>
                                        </p:tav>
                                        <p:tav tm="100000">
                                          <p:val>
                                            <p:strVal val="#ppt_h"/>
                                          </p:val>
                                        </p:tav>
                                      </p:tavLst>
                                    </p:anim>
                                    <p:animEffect transition="in" filter="fade">
                                      <p:cBhvr>
                                        <p:cTn id="39" dur="500"/>
                                        <p:tgtEl>
                                          <p:spTgt spid="9"/>
                                        </p:tgtEl>
                                      </p:cBhvr>
                                    </p:animEffect>
                                  </p:childTnLst>
                                </p:cTn>
                              </p:par>
                            </p:childTnLst>
                          </p:cTn>
                        </p:par>
                        <p:par>
                          <p:cTn id="47" fill="hold">
                            <p:stCondLst>
                              <p:cond delay="990"/>
                            </p:stCondLst>
                            <p:childTnLst>
                              <p:par>
                                <p:cTn id="46" presetID="53" presetClass="entr" presetSubtype="16"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ppt_w</p:attrName>
                                        </p:attrNameLst>
                                      </p:cBhvr>
                                      <p:tavLst>
                                        <p:tav tm="0">
                                          <p:val>
                                            <p:strVal val="0"/>
                                          </p:val>
                                        </p:tav>
                                        <p:tav tm="100000">
                                          <p:val>
                                            <p:strVal val="#ppt_w"/>
                                          </p:val>
                                        </p:tav>
                                      </p:tavLst>
                                    </p:anim>
                                    <p:anim calcmode="lin" valueType="num">
                                      <p:cBhvr additive="base">
                                        <p:cTn id="44" dur="500" fill="hold"/>
                                        <p:tgtEl>
                                          <p:spTgt spid="10"/>
                                        </p:tgtEl>
                                        <p:attrNameLst>
                                          <p:attrName>ppt_h</p:attrName>
                                        </p:attrNameLst>
                                      </p:cBhvr>
                                      <p:tavLst>
                                        <p:tav tm="0">
                                          <p:val>
                                            <p:strVal val="0"/>
                                          </p:val>
                                        </p:tav>
                                        <p:tav tm="100000">
                                          <p:val>
                                            <p:strVal val="#ppt_h"/>
                                          </p:val>
                                        </p:tav>
                                      </p:tavLst>
                                    </p:anim>
                                    <p:animEffect transition="in" filter="fade">
                                      <p:cBhvr>
                                        <p:cTn id="45" dur="500"/>
                                        <p:tgtEl>
                                          <p:spTgt spid="10"/>
                                        </p:tgtEl>
                                      </p:cBhvr>
                                    </p:animEffect>
                                  </p:childTnLst>
                                </p:cTn>
                              </p:par>
                            </p:childTnLst>
                          </p:cTn>
                        </p:par>
                        <p:par>
                          <p:cTn id="53" fill="hold">
                            <p:stCondLst>
                              <p:cond delay="1265"/>
                            </p:stCondLst>
                            <p:childTnLst>
                              <p:par>
                                <p:cTn id="52" presetID="53" presetClass="entr" presetSubtype="16"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ppt_w</p:attrName>
                                        </p:attrNameLst>
                                      </p:cBhvr>
                                      <p:tavLst>
                                        <p:tav tm="0">
                                          <p:val>
                                            <p:strVal val="0"/>
                                          </p:val>
                                        </p:tav>
                                        <p:tav tm="100000">
                                          <p:val>
                                            <p:strVal val="#ppt_w"/>
                                          </p:val>
                                        </p:tav>
                                      </p:tavLst>
                                    </p:anim>
                                    <p:anim calcmode="lin" valueType="num">
                                      <p:cBhvr additive="base">
                                        <p:cTn id="50" dur="500" fill="hold"/>
                                        <p:tgtEl>
                                          <p:spTgt spid="11"/>
                                        </p:tgtEl>
                                        <p:attrNameLst>
                                          <p:attrName>ppt_h</p:attrName>
                                        </p:attrNameLst>
                                      </p:cBhvr>
                                      <p:tavLst>
                                        <p:tav tm="0">
                                          <p:val>
                                            <p:strVal val="0"/>
                                          </p:val>
                                        </p:tav>
                                        <p:tav tm="100000">
                                          <p:val>
                                            <p:strVal val="#ppt_h"/>
                                          </p:val>
                                        </p:tav>
                                      </p:tavLst>
                                    </p:anim>
                                    <p:animEffect transition="in" filter="fade">
                                      <p:cBhvr>
                                        <p:cTn id="51" dur="500"/>
                                        <p:tgtEl>
                                          <p:spTgt spid="11"/>
                                        </p:tgtEl>
                                      </p:cBhvr>
                                    </p:animEffect>
                                  </p:childTnLst>
                                </p:cTn>
                              </p:par>
                            </p:childTnLst>
                          </p:cTn>
                        </p:par>
                        <p:par>
                          <p:cTn id="62" fill="hold">
                            <p:stCondLst>
                              <p:cond delay="1540"/>
                            </p:stCondLst>
                            <p:childTnLst>
                              <p:par>
                                <p:cTn id="58" presetID="53" presetClass="entr" presetSubtype="16"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ppt_w</p:attrName>
                                        </p:attrNameLst>
                                      </p:cBhvr>
                                      <p:tavLst>
                                        <p:tav tm="0">
                                          <p:val>
                                            <p:strVal val="0"/>
                                          </p:val>
                                        </p:tav>
                                        <p:tav tm="100000">
                                          <p:val>
                                            <p:strVal val="#ppt_w"/>
                                          </p:val>
                                        </p:tav>
                                      </p:tavLst>
                                    </p:anim>
                                    <p:anim calcmode="lin" valueType="num">
                                      <p:cBhvr additive="base">
                                        <p:cTn id="56" dur="500" fill="hold"/>
                                        <p:tgtEl>
                                          <p:spTgt spid="12"/>
                                        </p:tgtEl>
                                        <p:attrNameLst>
                                          <p:attrName>ppt_h</p:attrName>
                                        </p:attrNameLst>
                                      </p:cBhvr>
                                      <p:tavLst>
                                        <p:tav tm="0">
                                          <p:val>
                                            <p:strVal val="0"/>
                                          </p:val>
                                        </p:tav>
                                        <p:tav tm="100000">
                                          <p:val>
                                            <p:strVal val="#ppt_h"/>
                                          </p:val>
                                        </p:tav>
                                      </p:tavLst>
                                    </p:anim>
                                    <p:animEffect transition="in" filter="fade">
                                      <p:cBhvr>
                                        <p:cTn id="57" dur="500"/>
                                        <p:tgtEl>
                                          <p:spTgt spid="12"/>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600"/>
                                        <p:tgtEl>
                                          <p:spTgt spid="13"/>
                                        </p:tgtEl>
                                      </p:cBhvr>
                                    </p:animEffect>
                                  </p:childTnLst>
                                </p:cTn>
                              </p:par>
                            </p:childTnLst>
                          </p:cTn>
                        </p:par>
                        <p:par>
                          <p:cTn id="68" fill="hold">
                            <p:stCondLst>
                              <p:cond delay="1870"/>
                            </p:stCondLst>
                            <p:childTnLst>
                              <p:par>
                                <p:cTn id="67" presetID="53" presetClass="entr" presetSubtype="16"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00" fill="hold"/>
                                        <p:tgtEl>
                                          <p:spTgt spid="14"/>
                                        </p:tgtEl>
                                        <p:attrNameLst>
                                          <p:attrName>ppt_w</p:attrName>
                                        </p:attrNameLst>
                                      </p:cBhvr>
                                      <p:tavLst>
                                        <p:tav tm="0">
                                          <p:val>
                                            <p:strVal val="0"/>
                                          </p:val>
                                        </p:tav>
                                        <p:tav tm="100000">
                                          <p:val>
                                            <p:strVal val="#ppt_w"/>
                                          </p:val>
                                        </p:tav>
                                      </p:tavLst>
                                    </p:anim>
                                    <p:anim calcmode="lin" valueType="num">
                                      <p:cBhvr additive="base">
                                        <p:cTn id="65" dur="500" fill="hold"/>
                                        <p:tgtEl>
                                          <p:spTgt spid="14"/>
                                        </p:tgtEl>
                                        <p:attrNameLst>
                                          <p:attrName>ppt_h</p:attrName>
                                        </p:attrNameLst>
                                      </p:cBhvr>
                                      <p:tavLst>
                                        <p:tav tm="0">
                                          <p:val>
                                            <p:strVal val="0"/>
                                          </p:val>
                                        </p:tav>
                                        <p:tav tm="100000">
                                          <p:val>
                                            <p:strVal val="#ppt_h"/>
                                          </p:val>
                                        </p:tav>
                                      </p:tavLst>
                                    </p:anim>
                                    <p:animEffect transition="in" filter="fade">
                                      <p:cBhvr>
                                        <p:cTn id="66" dur="500"/>
                                        <p:tgtEl>
                                          <p:spTgt spid="14"/>
                                        </p:tgtEl>
                                      </p:cBhvr>
                                    </p:animEffect>
                                  </p:childTnLst>
                                </p:cTn>
                              </p:par>
                            </p:childTnLst>
                          </p:cTn>
                        </p:par>
                        <p:par>
                          <p:cTn id="77" fill="hold">
                            <p:stCondLst>
                              <p:cond delay="2145"/>
                            </p:stCondLst>
                            <p:childTnLst>
                              <p:par>
                                <p:cTn id="73" presetID="53" presetClass="entr" presetSubtype="16" fill="hold" grpId="0" nodeType="after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additive="base">
                                        <p:cTn id="70" dur="500" fill="hold"/>
                                        <p:tgtEl>
                                          <p:spTgt spid="15"/>
                                        </p:tgtEl>
                                        <p:attrNameLst>
                                          <p:attrName>ppt_w</p:attrName>
                                        </p:attrNameLst>
                                      </p:cBhvr>
                                      <p:tavLst>
                                        <p:tav tm="0">
                                          <p:val>
                                            <p:strVal val="0"/>
                                          </p:val>
                                        </p:tav>
                                        <p:tav tm="100000">
                                          <p:val>
                                            <p:strVal val="#ppt_w"/>
                                          </p:val>
                                        </p:tav>
                                      </p:tavLst>
                                    </p:anim>
                                    <p:anim calcmode="lin" valueType="num">
                                      <p:cBhvr additive="base">
                                        <p:cTn id="71" dur="500" fill="hold"/>
                                        <p:tgtEl>
                                          <p:spTgt spid="15"/>
                                        </p:tgtEl>
                                        <p:attrNameLst>
                                          <p:attrName>ppt_h</p:attrName>
                                        </p:attrNameLst>
                                      </p:cBhvr>
                                      <p:tavLst>
                                        <p:tav tm="0">
                                          <p:val>
                                            <p:strVal val="0"/>
                                          </p:val>
                                        </p:tav>
                                        <p:tav tm="100000">
                                          <p:val>
                                            <p:strVal val="#ppt_h"/>
                                          </p:val>
                                        </p:tav>
                                      </p:tavLst>
                                    </p:anim>
                                    <p:animEffect transition="in" filter="fade">
                                      <p:cBhvr>
                                        <p:cTn id="72" dur="500"/>
                                        <p:tgtEl>
                                          <p:spTgt spid="15"/>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مثال: طاقة التأين الأولى لليثيوم</a:t>
            </a:r>
            <a:endParaRPr lang="en-US" sz="2800" dirty="0"/>
          </a:p>
        </p:txBody>
      </p:sp>
      <p:sp>
        <p:nvSpPr>
          <p:cNvPr id="3" name="float:a:2"/>
          <p:cNvSpPr/>
          <p:nvPr/>
        </p:nvSpPr>
        <p:spPr>
          <a:xfrm>
            <a:off x="4206240" y="1325880"/>
            <a:ext cx="7589520" cy="2103120"/>
          </a:xfrm>
          <a:prstGeom prst="roundRect">
            <a:avLst>
              <a:gd name="adj" fmla="val 608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فمثلًا نحتاج إلى طاقة مقدارها تقريبًا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520 kJ/mol</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لانتزاع إلكترون مستوى الطاقة الخارجي (آخر مستوى طاقة مشغول بالإلكترونات) من ذرة الليثيوم المتعادلة وهي ما تُعرف بطاقة التأين الأولى. وينتج عنها تكوّن كاتيون الليثيوم الذي يحمل شحنة موجبة واحدة (Li</a:t>
            </a:r>
            <a:pPr rtl="1" algn="r" indent="0" marL="0">
              <a:lnSpc>
                <a:spcPct val="105000"/>
              </a:lnSpc>
              <a:buNone/>
            </a:pPr>
            <a:r>
              <a:rPr lang="ar-SA" altLang="en-US" sz="1700" baseline="30000" dirty="0">
                <a:solidFill>
                  <a:srgbClr val="0B2545"/>
                </a:solidFill>
                <a:latin typeface="Segoe UI" pitchFamily="34" charset="0"/>
                <a:ea typeface="Segoe UI" pitchFamily="34" charset="-122"/>
                <a:cs typeface="Segoe UI" pitchFamily="34" charset="-120"/>
              </a:rPr>
              <a:t>+</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a:t>
            </a:r>
            <a:endParaRPr lang="ar-SA" sz="1700" dirty="0"/>
          </a:p>
        </p:txBody>
      </p:sp>
      <p:sp>
        <p:nvSpPr>
          <p:cNvPr id="4" name="float:c:3"/>
          <p:cNvSpPr/>
          <p:nvPr/>
        </p:nvSpPr>
        <p:spPr>
          <a:xfrm>
            <a:off x="4206240" y="3611880"/>
            <a:ext cx="7589520" cy="1005840"/>
          </a:xfrm>
          <a:prstGeom prst="roundRect">
            <a:avLst>
              <a:gd name="adj" fmla="val 1272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ويمكن للذرة أن تفقد أكثر من إلكترون من مستوى الطاقة الخارجي، ولذلك يمكن أن يكون للذرة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أكثر من طاقة تأين.</a:t>
            </a:r>
            <a:endParaRPr lang="ar-SA" sz="1700" dirty="0"/>
          </a:p>
        </p:txBody>
      </p:sp>
      <p:pic>
        <p:nvPicPr>
          <p:cNvPr id="5" name="zoom:a:4" descr="l/atom_Li.png">    </p:cNvPr>
          <p:cNvPicPr>
            <a:picLocks noChangeAspect="1"/>
          </p:cNvPicPr>
          <p:nvPr/>
        </p:nvPicPr>
        <p:blipFill>
          <a:blip r:embed="rId1"/>
          <a:stretch>
            <a:fillRect/>
          </a:stretch>
        </p:blipFill>
        <p:spPr>
          <a:xfrm>
            <a:off x="1116045" y="1325880"/>
            <a:ext cx="1882711" cy="1920240"/>
          </a:xfrm>
          <a:prstGeom prst="rect">
            <a:avLst/>
          </a:prstGeom>
        </p:spPr>
      </p:pic>
      <p:sp>
        <p:nvSpPr>
          <p:cNvPr id="6" name="float:a:5"/>
          <p:cNvSpPr/>
          <p:nvPr/>
        </p:nvSpPr>
        <p:spPr>
          <a:xfrm>
            <a:off x="914400" y="3383280"/>
            <a:ext cx="2286000" cy="548640"/>
          </a:xfrm>
          <a:prstGeom prst="roundRect">
            <a:avLst>
              <a:gd name="adj" fmla="val 50000"/>
            </a:avLst>
          </a:prstGeom>
          <a:solidFill>
            <a:srgbClr val="F59E0B"/>
          </a:solidFill>
          <a:ln/>
        </p:spPr>
        <p:txBody>
          <a:bodyPr wrap="square" lIns="76200" tIns="152400" rIns="152400" bIns="7620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520 kJ/mol</a:t>
            </a:r>
            <a:endParaRPr lang="en-US" sz="1700" dirty="0"/>
          </a:p>
        </p:txBody>
      </p:sp>
      <p:sp>
        <p:nvSpPr>
          <p:cNvPr id="7" name="fade:a:6"/>
          <p:cNvSpPr txBox="1"/>
          <p:nvPr/>
        </p:nvSpPr>
        <p:spPr>
          <a:xfrm>
            <a:off x="1600200" y="3931920"/>
            <a:ext cx="914400" cy="548640"/>
          </a:xfrm>
          <a:prstGeom prst="rect">
            <a:avLst/>
          </a:prstGeom>
          <a:noFill/>
          <a:ln/>
        </p:spPr>
        <p:txBody>
          <a:bodyPr wrap="square" lIns="0" tIns="0" rIns="0" bIns="0" rtlCol="0" anchor="ctr"/>
          <a:lstStyle/>
          <a:p>
            <a:pPr algn="ctr" indent="0" marL="0">
              <a:lnSpc>
                <a:spcPct val="105000"/>
              </a:lnSpc>
              <a:buNone/>
            </a:pPr>
            <a:r>
              <a:rPr lang="en-US" altLang="en-US" sz="3000" dirty="0">
                <a:solidFill>
                  <a:srgbClr val="7C3AED"/>
                </a:solidFill>
                <a:latin typeface="Segoe UI" pitchFamily="34" charset="0"/>
                <a:ea typeface="Segoe UI" pitchFamily="34" charset="-122"/>
                <a:cs typeface="Segoe UI" pitchFamily="34" charset="-120"/>
              </a:rPr>
              <a:t>⬇</a:t>
            </a:r>
            <a:endParaRPr lang="en-US" sz="3000" dirty="0"/>
          </a:p>
        </p:txBody>
      </p:sp>
      <p:sp>
        <p:nvSpPr>
          <p:cNvPr id="8" name="zoom:a:7"/>
          <p:cNvSpPr/>
          <p:nvPr/>
        </p:nvSpPr>
        <p:spPr>
          <a:xfrm>
            <a:off x="1463040" y="4526280"/>
            <a:ext cx="1188720" cy="1188720"/>
          </a:xfrm>
          <a:prstGeom prst="ellipse">
            <a:avLst/>
          </a:prstGeom>
          <a:solidFill>
            <a:srgbClr val="7C3AED"/>
          </a:solidFill>
          <a:ln/>
          <a:effectLst>
            <a:outerShdw sx="100000" sy="100000" kx="0" ky="0" algn="bl" rotWithShape="0" blurRad="101600" dist="25400" dir="5400000">
              <a:srgbClr val="0B2545">
                <a:alpha val="18000"/>
              </a:srgbClr>
            </a:outerShdw>
          </a:effectLst>
        </p:spPr>
        <p:txBody>
          <a:bodyPr wrap="square" lIns="0" tIns="0" rIns="0" bIns="0" rtlCol="0" anchor="ctr"/>
          <a:lstStyle/>
          <a:p>
            <a:pPr algn="ctr" indent="0" marL="0">
              <a:lnSpc>
                <a:spcPct val="105000"/>
              </a:lnSpc>
              <a:buNone/>
            </a:pPr>
            <a:r>
              <a:rPr lang="en-US" altLang="en-US" sz="3000" b="1" dirty="0">
                <a:solidFill>
                  <a:srgbClr val="FFFFFF"/>
                </a:solidFill>
                <a:latin typeface="Segoe UI" pitchFamily="34" charset="0"/>
                <a:ea typeface="Segoe UI" pitchFamily="34" charset="-122"/>
                <a:cs typeface="Segoe UI" pitchFamily="34" charset="-120"/>
              </a:rPr>
              <a:t>Li</a:t>
            </a:r>
            <a:pPr algn="ctr" indent="0" marL="0">
              <a:lnSpc>
                <a:spcPct val="105000"/>
              </a:lnSpc>
              <a:buNone/>
            </a:pPr>
            <a:r>
              <a:rPr lang="en-US" altLang="en-US" sz="3000" b="1" baseline="30000" dirty="0">
                <a:solidFill>
                  <a:srgbClr val="FFFFFF"/>
                </a:solidFill>
                <a:latin typeface="Segoe UI" pitchFamily="34" charset="0"/>
                <a:ea typeface="Segoe UI" pitchFamily="34" charset="-122"/>
                <a:cs typeface="Segoe UI" pitchFamily="34" charset="-120"/>
              </a:rPr>
              <a:t>+</a:t>
            </a:r>
            <a:endParaRPr lang="en-US" sz="3000" dirty="0"/>
          </a:p>
        </p:txBody>
      </p:sp>
      <p:pic>
        <p:nvPicPr>
          <p:cNvPr id="9" name="zoom:a:8" descr="l/trend_ie.png">    </p:cNvPr>
          <p:cNvPicPr>
            <a:picLocks noChangeAspect="1"/>
          </p:cNvPicPr>
          <p:nvPr/>
        </p:nvPicPr>
        <p:blipFill>
          <a:blip r:embed="rId2"/>
          <a:stretch>
            <a:fillRect/>
          </a:stretch>
        </p:blipFill>
        <p:spPr>
          <a:xfrm>
            <a:off x="5777865" y="4709160"/>
            <a:ext cx="3257550" cy="1737360"/>
          </a:xfrm>
          <a:prstGeom prst="rect">
            <a:avLst/>
          </a:prstGeom>
        </p:spPr>
      </p:pic>
      <p:sp>
        <p:nvSpPr>
          <p:cNvPr id="10" name="fade:w:9"/>
          <p:cNvSpPr txBox="1"/>
          <p:nvPr/>
        </p:nvSpPr>
        <p:spPr>
          <a:xfrm>
            <a:off x="9098280" y="4937760"/>
            <a:ext cx="2697480" cy="1188720"/>
          </a:xfrm>
          <a:prstGeom prst="rect">
            <a:avLst/>
          </a:prstGeom>
          <a:noFill/>
          <a:ln/>
        </p:spPr>
        <p:txBody>
          <a:bodyPr wrap="square" lIns="76200" tIns="152400" rIns="152400" bIns="76200" rtlCol="0" anchor="ctr"/>
          <a:lstStyle/>
          <a:p>
            <a:pPr rtl="1" algn="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شكل (22): تدرج قيم طاقة التأين الأولى للعناصر خلال الجدول الدوري</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15" fill="hold">
                            <p:stCondLst>
                              <p:cond delay="0"/>
                            </p:stCondLst>
                            <p:childTnLst>
                              <p:par>
                                <p:cTn id="14"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385"/>
                            </p:stCondLst>
                            <p:childTnLst>
                              <p:par>
                                <p:cTn id="20" presetID="53" presetClass="entr" presetSubtype="16"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childTnLst>
                          </p:cTn>
                        </p:par>
                        <p:par>
                          <p:cTn id="27" fill="hold">
                            <p:stCondLst>
                              <p:cond delay="660"/>
                            </p:stCondLst>
                            <p:childTnLst>
                              <p:par>
                                <p:cTn id="26"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00"/>
                                        <p:tgtEl>
                                          <p:spTgt spid="6"/>
                                        </p:tgtEl>
                                      </p:cBhvr>
                                    </p:animEffect>
                                    <p:anim calcmode="lin" valueType="num">
                                      <p:cBhvr additive="base">
                                        <p:cTn id="24" dur="700" fill="hold"/>
                                        <p:tgtEl>
                                          <p:spTgt spid="6"/>
                                        </p:tgtEl>
                                        <p:attrNameLst>
                                          <p:attrName>ppt_x</p:attrName>
                                        </p:attrNameLst>
                                      </p:cBhvr>
                                      <p:tavLst>
                                        <p:tav tm="0">
                                          <p:val>
                                            <p:strVal val="#ppt_x"/>
                                          </p:val>
                                        </p:tav>
                                        <p:tav tm="100000">
                                          <p:val>
                                            <p:strVal val="#ppt_x"/>
                                          </p:val>
                                        </p:tav>
                                      </p:tavLst>
                                    </p:anim>
                                    <p:anim calcmode="lin" valueType="num">
                                      <p:cBhvr additive="base">
                                        <p:cTn id="25" dur="70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045"/>
                            </p:stCondLst>
                            <p:childTnLst>
                              <p:par>
                                <p:cTn id="30" presetID="10" presetClass="entr" presetSubtype="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00"/>
                                        <p:tgtEl>
                                          <p:spTgt spid="7"/>
                                        </p:tgtEl>
                                      </p:cBhvr>
                                    </p:animEffect>
                                  </p:childTnLst>
                                </p:cTn>
                              </p:par>
                            </p:childTnLst>
                          </p:cTn>
                        </p:par>
                        <p:par>
                          <p:cTn id="37" fill="hold">
                            <p:stCondLst>
                              <p:cond delay="1375"/>
                            </p:stCondLst>
                            <p:childTnLst>
                              <p:par>
                                <p:cTn id="36" presetID="53" presetClass="entr" presetSubtype="16"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par>
                          <p:cTn id="46" fill="hold">
                            <p:stCondLst>
                              <p:cond delay="1650"/>
                            </p:stCondLst>
                            <p:childTnLst>
                              <p:par>
                                <p:cTn id="42" presetID="53" presetClass="entr" presetSubtype="16"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ppt_w</p:attrName>
                                        </p:attrNameLst>
                                      </p:cBhvr>
                                      <p:tavLst>
                                        <p:tav tm="0">
                                          <p:val>
                                            <p:strVal val="0"/>
                                          </p:val>
                                        </p:tav>
                                        <p:tav tm="100000">
                                          <p:val>
                                            <p:strVal val="#ppt_w"/>
                                          </p:val>
                                        </p:tav>
                                      </p:tavLst>
                                    </p:anim>
                                    <p:anim calcmode="lin" valueType="num">
                                      <p:cBhvr additive="base">
                                        <p:cTn id="40" dur="500" fill="hold"/>
                                        <p:tgtEl>
                                          <p:spTgt spid="9"/>
                                        </p:tgtEl>
                                        <p:attrNameLst>
                                          <p:attrName>ppt_h</p:attrName>
                                        </p:attrNameLst>
                                      </p:cBhvr>
                                      <p:tavLst>
                                        <p:tav tm="0">
                                          <p:val>
                                            <p:strVal val="0"/>
                                          </p:val>
                                        </p:tav>
                                        <p:tav tm="100000">
                                          <p:val>
                                            <p:strVal val="#ppt_h"/>
                                          </p:val>
                                        </p:tav>
                                      </p:tavLst>
                                    </p:anim>
                                    <p:animEffect transition="in" filter="fade">
                                      <p:cBhvr>
                                        <p:cTn id="41" dur="500"/>
                                        <p:tgtEl>
                                          <p:spTgt spid="9"/>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طاقة التأين: التدرج خلال المجموعة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بصورة عامة وبفرض عدم وجود استثناءات، كلما انتقلنا عبر المجموعة تدريجيًّا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من أعلى إلى أسفل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331720"/>
            <a:ext cx="6766560" cy="749808"/>
          </a:xfrm>
          <a:prstGeom prst="roundRect">
            <a:avLst>
              <a:gd name="adj" fmla="val 17073"/>
            </a:avLst>
          </a:prstGeom>
          <a:solidFill>
            <a:srgbClr val="FFFFFF">
              <a:alpha val="94000"/>
            </a:srgbClr>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يزداد عدد مستويات الطاقة الرئيسية</a:t>
            </a:r>
            <a:endParaRPr lang="ar-SA" sz="1600" dirty="0"/>
          </a:p>
        </p:txBody>
      </p:sp>
      <p:sp>
        <p:nvSpPr>
          <p:cNvPr id="5" name="zoom:w:4"/>
          <p:cNvSpPr/>
          <p:nvPr/>
        </p:nvSpPr>
        <p:spPr>
          <a:xfrm>
            <a:off x="11082528" y="2423160"/>
            <a:ext cx="566928" cy="566928"/>
          </a:xfrm>
          <a:prstGeom prst="ellipse">
            <a:avLst/>
          </a:prstGeom>
          <a:solidFill>
            <a:srgbClr val="7C3AED"/>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264408"/>
            <a:ext cx="6766560" cy="749808"/>
          </a:xfrm>
          <a:prstGeom prst="roundRect">
            <a:avLst>
              <a:gd name="adj" fmla="val 17073"/>
            </a:avLst>
          </a:prstGeom>
          <a:solidFill>
            <a:srgbClr val="FFFFFF">
              <a:alpha val="94000"/>
            </a:srgbClr>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فيزداد تأثير حجب النواة وتقل قوة جذب النواة لإلكترونات المستوى الخارجي</a:t>
            </a:r>
            <a:endParaRPr lang="ar-SA" sz="1600" dirty="0"/>
          </a:p>
        </p:txBody>
      </p:sp>
      <p:sp>
        <p:nvSpPr>
          <p:cNvPr id="7" name="zoom:w:6"/>
          <p:cNvSpPr/>
          <p:nvPr/>
        </p:nvSpPr>
        <p:spPr>
          <a:xfrm>
            <a:off x="11082528" y="3355848"/>
            <a:ext cx="566928" cy="566928"/>
          </a:xfrm>
          <a:prstGeom prst="ellipse">
            <a:avLst/>
          </a:prstGeom>
          <a:solidFill>
            <a:srgbClr val="7C3AED"/>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197096"/>
            <a:ext cx="6766560" cy="749808"/>
          </a:xfrm>
          <a:prstGeom prst="roundRect">
            <a:avLst>
              <a:gd name="adj" fmla="val 17073"/>
            </a:avLst>
          </a:prstGeom>
          <a:solidFill>
            <a:srgbClr val="FFFFFF">
              <a:alpha val="94000"/>
            </a:srgbClr>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فيسهل نزع الإلكترون</a:t>
            </a:r>
            <a:endParaRPr lang="ar-SA" sz="1600" dirty="0"/>
          </a:p>
        </p:txBody>
      </p:sp>
      <p:sp>
        <p:nvSpPr>
          <p:cNvPr id="9" name="zoom:w:8"/>
          <p:cNvSpPr/>
          <p:nvPr/>
        </p:nvSpPr>
        <p:spPr>
          <a:xfrm>
            <a:off x="11082528" y="4288536"/>
            <a:ext cx="566928" cy="566928"/>
          </a:xfrm>
          <a:prstGeom prst="ellipse">
            <a:avLst/>
          </a:prstGeom>
          <a:solidFill>
            <a:srgbClr val="7C3AED"/>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0" name="wipe:c:9"/>
          <p:cNvSpPr/>
          <p:nvPr/>
        </p:nvSpPr>
        <p:spPr>
          <a:xfrm>
            <a:off x="4754880" y="5129784"/>
            <a:ext cx="6766560" cy="749808"/>
          </a:xfrm>
          <a:prstGeom prst="roundRect">
            <a:avLst>
              <a:gd name="adj" fmla="val 17073"/>
            </a:avLst>
          </a:prstGeom>
          <a:solidFill>
            <a:srgbClr val="7C3AED"/>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وبالتالي تقل طاقة التأين الأولى</a:t>
            </a:r>
            <a:endParaRPr lang="ar-SA" sz="1600" dirty="0"/>
          </a:p>
        </p:txBody>
      </p:sp>
      <p:sp>
        <p:nvSpPr>
          <p:cNvPr id="11" name="zoom:w:10"/>
          <p:cNvSpPr/>
          <p:nvPr/>
        </p:nvSpPr>
        <p:spPr>
          <a:xfrm>
            <a:off x="11082528" y="5221224"/>
            <a:ext cx="566928" cy="566928"/>
          </a:xfrm>
          <a:prstGeom prst="ellipse">
            <a:avLst/>
          </a:prstGeom>
          <a:solidFill>
            <a:srgbClr val="FFFFFF"/>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7C3AED"/>
                </a:solidFill>
                <a:latin typeface="Segoe UI" pitchFamily="34" charset="0"/>
                <a:ea typeface="Segoe UI" pitchFamily="34" charset="-122"/>
                <a:cs typeface="Segoe UI" pitchFamily="34" charset="-120"/>
              </a:rPr>
              <a:t>4</a:t>
            </a:r>
            <a:endParaRPr lang="en-US" sz="1800" dirty="0"/>
          </a:p>
        </p:txBody>
      </p:sp>
      <p:pic>
        <p:nvPicPr>
          <p:cNvPr id="12" name="zoom:a:11" descr="h_shield.png">    </p:cNvPr>
          <p:cNvPicPr>
            <a:picLocks noChangeAspect="1"/>
          </p:cNvPicPr>
          <p:nvPr/>
        </p:nvPicPr>
        <p:blipFill>
          <a:blip r:embed="rId1"/>
          <a:stretch>
            <a:fillRect/>
          </a:stretch>
        </p:blipFill>
        <p:spPr>
          <a:xfrm>
            <a:off x="795687" y="2331720"/>
            <a:ext cx="3346386" cy="2286000"/>
          </a:xfrm>
          <a:prstGeom prst="rect">
            <a:avLst/>
          </a:prstGeom>
        </p:spPr>
      </p:pic>
      <p:pic>
        <p:nvPicPr>
          <p:cNvPr id="13" name="zoom:a:12" descr="l/grip_loose.png">    </p:cNvPr>
          <p:cNvPicPr>
            <a:picLocks noChangeAspect="1"/>
          </p:cNvPicPr>
          <p:nvPr/>
        </p:nvPicPr>
        <p:blipFill>
          <a:blip r:embed="rId2"/>
          <a:stretch>
            <a:fillRect/>
          </a:stretch>
        </p:blipFill>
        <p:spPr>
          <a:xfrm>
            <a:off x="1508760" y="4709160"/>
            <a:ext cx="1828800" cy="1828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39"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childTnLst>
                    </p:cTn>
                  </p:par>
                  <p:par>
                    <p:cTn id="61" fill="hold">
                      <p:stCondLst>
                        <p:cond delay="indefinite"/>
                      </p:stCondLst>
                      <p:childTnLst>
                        <p:par>
                          <p:cTn id="48"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600"/>
                                        <p:tgtEl>
                                          <p:spTgt spid="10"/>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ppt_w</p:attrName>
                                        </p:attrNameLst>
                                      </p:cBhvr>
                                      <p:tavLst>
                                        <p:tav tm="0">
                                          <p:val>
                                            <p:strVal val="0"/>
                                          </p:val>
                                        </p:tav>
                                        <p:tav tm="100000">
                                          <p:val>
                                            <p:strVal val="#ppt_w"/>
                                          </p:val>
                                        </p:tav>
                                      </p:tavLst>
                                    </p:anim>
                                    <p:anim calcmode="lin" valueType="num">
                                      <p:cBhvr additive="base">
                                        <p:cTn id="45" dur="500" fill="hold"/>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par>
                          <p:cTn id="54" fill="hold">
                            <p:stCondLst>
                              <p:cond delay="330"/>
                            </p:stCondLst>
                            <p:childTnLst>
                              <p:par>
                                <p:cTn id="53" presetID="53" presetClass="entr" presetSubtype="16"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strVal val="0"/>
                                          </p:val>
                                        </p:tav>
                                        <p:tav tm="100000">
                                          <p:val>
                                            <p:strVal val="#ppt_w"/>
                                          </p:val>
                                        </p:tav>
                                      </p:tavLst>
                                    </p:anim>
                                    <p:anim calcmode="lin" valueType="num">
                                      <p:cBhvr additive="base">
                                        <p:cTn id="51" dur="500" fill="hold"/>
                                        <p:tgtEl>
                                          <p:spTgt spid="12"/>
                                        </p:tgtEl>
                                        <p:attrNameLst>
                                          <p:attrName>ppt_h</p:attrName>
                                        </p:attrNameLst>
                                      </p:cBhvr>
                                      <p:tavLst>
                                        <p:tav tm="0">
                                          <p:val>
                                            <p:strVal val="0"/>
                                          </p:val>
                                        </p:tav>
                                        <p:tav tm="100000">
                                          <p:val>
                                            <p:strVal val="#ppt_h"/>
                                          </p:val>
                                        </p:tav>
                                      </p:tavLst>
                                    </p:anim>
                                    <p:animEffect transition="in" filter="fade">
                                      <p:cBhvr>
                                        <p:cTn id="52" dur="500"/>
                                        <p:tgtEl>
                                          <p:spTgt spid="12"/>
                                        </p:tgtEl>
                                      </p:cBhvr>
                                    </p:animEffect>
                                  </p:childTnLst>
                                </p:cTn>
                              </p:par>
                            </p:childTnLst>
                          </p:cTn>
                        </p:par>
                        <p:par>
                          <p:cTn id="60" fill="hold">
                            <p:stCondLst>
                              <p:cond delay="605"/>
                            </p:stCondLst>
                            <p:childTnLst>
                              <p:par>
                                <p:cTn id="59" presetID="53" presetClass="entr" presetSubtype="16"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ppt_w</p:attrName>
                                        </p:attrNameLst>
                                      </p:cBhvr>
                                      <p:tavLst>
                                        <p:tav tm="0">
                                          <p:val>
                                            <p:strVal val="0"/>
                                          </p:val>
                                        </p:tav>
                                        <p:tav tm="100000">
                                          <p:val>
                                            <p:strVal val="#ppt_w"/>
                                          </p:val>
                                        </p:tav>
                                      </p:tavLst>
                                    </p:anim>
                                    <p:anim calcmode="lin" valueType="num">
                                      <p:cBhvr additive="base">
                                        <p:cTn id="57" dur="500" fill="hold"/>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(6)</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المطلوب الإجابة عن الأسئلة التالية: (بفرض عدم وجود استثناءات)</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7C3AED"/>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7C3AED"/>
                </a:solidFill>
                <a:latin typeface="Segoe UI" pitchFamily="34" charset="0"/>
                <a:ea typeface="Segoe UI" pitchFamily="34" charset="-122"/>
                <a:cs typeface="Segoe UI" pitchFamily="34" charset="-120"/>
              </a:rPr>
              <a:t>4</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7C3AED"/>
                </a:solidFill>
                <a:latin typeface="Segoe UI" pitchFamily="34" charset="0"/>
                <a:ea typeface="Segoe UI" pitchFamily="34" charset="-122"/>
                <a:cs typeface="Segoe UI" pitchFamily="34" charset="-120"/>
              </a:rPr>
              <a:t>12</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7C3AED"/>
                </a:solidFill>
                <a:latin typeface="Segoe UI" pitchFamily="34" charset="0"/>
                <a:ea typeface="Segoe UI" pitchFamily="34" charset="-122"/>
                <a:cs typeface="Segoe UI" pitchFamily="34" charset="-120"/>
              </a:rPr>
              <a:t>20</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658368"/>
          </a:xfrm>
          <a:prstGeom prst="roundRect">
            <a:avLst>
              <a:gd name="adj" fmla="val 19444"/>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أعلى طاقة تأين (X – A)</a:t>
            </a:r>
            <a:endParaRPr lang="ar-SA" sz="1700" dirty="0"/>
          </a:p>
        </p:txBody>
      </p:sp>
      <p:sp>
        <p:nvSpPr>
          <p:cNvPr id="6" name="fade:a:5"/>
          <p:cNvSpPr/>
          <p:nvPr/>
        </p:nvSpPr>
        <p:spPr>
          <a:xfrm>
            <a:off x="411480" y="2331720"/>
            <a:ext cx="2606040" cy="658368"/>
          </a:xfrm>
          <a:prstGeom prst="roundRect">
            <a:avLst>
              <a:gd name="adj" fmla="val 50000"/>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65836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
        <p:nvSpPr>
          <p:cNvPr id="8" name="float:a:7"/>
          <p:cNvSpPr/>
          <p:nvPr/>
        </p:nvSpPr>
        <p:spPr>
          <a:xfrm>
            <a:off x="3246120" y="3154680"/>
            <a:ext cx="8549640" cy="658368"/>
          </a:xfrm>
          <a:prstGeom prst="roundRect">
            <a:avLst>
              <a:gd name="adj" fmla="val 19444"/>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أقل طاقة تأين (X – Z)</a:t>
            </a:r>
            <a:endParaRPr lang="ar-SA" sz="1700" dirty="0"/>
          </a:p>
        </p:txBody>
      </p:sp>
      <p:sp>
        <p:nvSpPr>
          <p:cNvPr id="9" name="fade:a:8"/>
          <p:cNvSpPr/>
          <p:nvPr/>
        </p:nvSpPr>
        <p:spPr>
          <a:xfrm>
            <a:off x="411480" y="3154680"/>
            <a:ext cx="2606040" cy="658368"/>
          </a:xfrm>
          <a:prstGeom prst="roundRect">
            <a:avLst>
              <a:gd name="adj" fmla="val 50000"/>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0" name="zoom:c:9"/>
          <p:cNvSpPr/>
          <p:nvPr/>
        </p:nvSpPr>
        <p:spPr>
          <a:xfrm>
            <a:off x="411480" y="3154680"/>
            <a:ext cx="2606040" cy="65836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Z</a:t>
            </a:r>
            <a:endParaRPr lang="ar-SA" sz="2000" dirty="0"/>
          </a:p>
        </p:txBody>
      </p:sp>
      <p:sp>
        <p:nvSpPr>
          <p:cNvPr id="11" name="zoom:a:10"/>
          <p:cNvSpPr/>
          <p:nvPr/>
        </p:nvSpPr>
        <p:spPr>
          <a:xfrm>
            <a:off x="10378440" y="3977640"/>
            <a:ext cx="1417320" cy="1280160"/>
          </a:xfrm>
          <a:prstGeom prst="roundRect">
            <a:avLst>
              <a:gd name="adj" fmla="val 10000"/>
            </a:avLst>
          </a:prstGeom>
          <a:solidFill>
            <a:srgbClr val="7C3AED"/>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12" name="fade:a:11"/>
          <p:cNvSpPr/>
          <p:nvPr/>
        </p:nvSpPr>
        <p:spPr>
          <a:xfrm>
            <a:off x="411480" y="3977640"/>
            <a:ext cx="9784080" cy="1280160"/>
          </a:xfrm>
          <a:prstGeom prst="roundRect">
            <a:avLst>
              <a:gd name="adj" fmla="val 10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3" name="wipe:c:12"/>
          <p:cNvSpPr/>
          <p:nvPr/>
        </p:nvSpPr>
        <p:spPr>
          <a:xfrm>
            <a:off x="411480" y="3977640"/>
            <a:ext cx="9784080" cy="1280160"/>
          </a:xfrm>
          <a:prstGeom prst="roundRect">
            <a:avLst>
              <a:gd name="adj" fmla="val 10000"/>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Z يقع أسفل X في المجموعة نفسها، فيزداد عدد مستويات الطاقة الرئيسية ويزداد تأثير الحجب وتقل قوة جذب النواة لإلكترونات المستوى الخارجي، فيسهل نزع الإلكترون.</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childTnLst>
                          </p:cTn>
                        </p:par>
                        <p:par>
                          <p:cTn id="41" fill="hold">
                            <p:stCondLst>
                              <p:cond delay="66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9" fill="hold">
                      <p:stCondLst>
                        <p:cond delay="indefinite"/>
                      </p:stCondLst>
                      <p:childTnLst>
                        <p:par>
                          <p:cTn id="48" fill="hold">
                            <p:stCondLst>
                              <p:cond delay="0"/>
                            </p:stCondLst>
                            <p:childTnLst>
                              <p:par>
                                <p:cTn id="47" presetID="53" presetClass="entr" presetSubtype="16"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ppt_w</p:attrName>
                                        </p:attrNameLst>
                                      </p:cBhvr>
                                      <p:tavLst>
                                        <p:tav tm="0">
                                          <p:val>
                                            <p:strVal val="0"/>
                                          </p:val>
                                        </p:tav>
                                        <p:tav tm="100000">
                                          <p:val>
                                            <p:strVal val="#ppt_w"/>
                                          </p:val>
                                        </p:tav>
                                      </p:tavLst>
                                    </p:anim>
                                    <p:anim calcmode="lin" valueType="num">
                                      <p:cBhvr additive="base">
                                        <p:cTn id="45" dur="500" fill="hold"/>
                                        <p:tgtEl>
                                          <p:spTgt spid="10"/>
                                        </p:tgtEl>
                                        <p:attrNameLst>
                                          <p:attrName>ppt_h</p:attrName>
                                        </p:attrNameLst>
                                      </p:cBhvr>
                                      <p:tavLst>
                                        <p:tav tm="0">
                                          <p:val>
                                            <p:strVal val="0"/>
                                          </p:val>
                                        </p:tav>
                                        <p:tav tm="100000">
                                          <p:val>
                                            <p:strVal val="#ppt_h"/>
                                          </p:val>
                                        </p:tav>
                                      </p:tavLst>
                                    </p:anim>
                                    <p:animEffect transition="in" filter="fade">
                                      <p:cBhvr>
                                        <p:cTn id="46" dur="500"/>
                                        <p:tgtEl>
                                          <p:spTgt spid="10"/>
                                        </p:tgtEl>
                                      </p:cBhvr>
                                    </p:animEffect>
                                  </p:childTnLst>
                                </p:cTn>
                              </p:par>
                            </p:childTnLst>
                          </p:cTn>
                        </p:par>
                        <p:par>
                          <p:cTn id="54" fill="hold">
                            <p:stCondLst>
                              <p:cond delay="275"/>
                            </p:stCondLst>
                            <p:childTnLst>
                              <p:par>
                                <p:cTn id="53" presetID="53" presetClass="entr" presetSubtype="16"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ppt_w</p:attrName>
                                        </p:attrNameLst>
                                      </p:cBhvr>
                                      <p:tavLst>
                                        <p:tav tm="0">
                                          <p:val>
                                            <p:strVal val="0"/>
                                          </p:val>
                                        </p:tav>
                                        <p:tav tm="100000">
                                          <p:val>
                                            <p:strVal val="#ppt_w"/>
                                          </p:val>
                                        </p:tav>
                                      </p:tavLst>
                                    </p:anim>
                                    <p:anim calcmode="lin" valueType="num">
                                      <p:cBhvr additive="base">
                                        <p:cTn id="51" dur="500" fill="hold"/>
                                        <p:tgtEl>
                                          <p:spTgt spid="11"/>
                                        </p:tgtEl>
                                        <p:attrNameLst>
                                          <p:attrName>ppt_h</p:attrName>
                                        </p:attrNameLst>
                                      </p:cBhvr>
                                      <p:tavLst>
                                        <p:tav tm="0">
                                          <p:val>
                                            <p:strVal val="0"/>
                                          </p:val>
                                        </p:tav>
                                        <p:tav tm="100000">
                                          <p:val>
                                            <p:strVal val="#ppt_h"/>
                                          </p:val>
                                        </p:tav>
                                      </p:tavLst>
                                    </p:anim>
                                    <p:animEffect transition="in" filter="fade">
                                      <p:cBhvr>
                                        <p:cTn id="52" dur="500"/>
                                        <p:tgtEl>
                                          <p:spTgt spid="11"/>
                                        </p:tgtEl>
                                      </p:cBhvr>
                                    </p:animEffect>
                                  </p:childTnLst>
                                </p:cTn>
                              </p:par>
                            </p:childTnLst>
                          </p:cTn>
                        </p:par>
                        <p:par>
                          <p:cTn id="58" fill="hold">
                            <p:stCondLst>
                              <p:cond delay="550"/>
                            </p:stCondLst>
                            <p:childTnLst>
                              <p:par>
                                <p:cTn id="57"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childTnLst>
                                </p:cTn>
                              </p:par>
                            </p:childTnLst>
                          </p:cTn>
                        </p:par>
                      </p:childTnLst>
                    </p:cTn>
                  </p:par>
                  <p:par>
                    <p:cTn id="64" fill="hold">
                      <p:stCondLst>
                        <p:cond delay="indefinite"/>
                      </p:stCondLst>
                      <p:childTnLst>
                        <p:par>
                          <p:cTn id="63" fill="hold">
                            <p:stCondLst>
                              <p:cond delay="0"/>
                            </p:stCondLst>
                            <p:childTnLst>
                              <p:par>
                                <p:cTn id="62" presetID="22" presetClass="entr" presetSubtype="2"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طاقة التأين: التدرج خلال الدورة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بصفة عامة وبفرض عدم وجود استثناءات، كلما انتقلنا خلال الدورة تدريجيًّا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من اليسار إلى اليمين</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331720"/>
            <a:ext cx="6766560" cy="749808"/>
          </a:xfrm>
          <a:prstGeom prst="roundRect">
            <a:avLst>
              <a:gd name="adj" fmla="val 17073"/>
            </a:avLst>
          </a:prstGeom>
          <a:solidFill>
            <a:srgbClr val="FFFFFF">
              <a:alpha val="94000"/>
            </a:srgbClr>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تزداد شحنة النواة، وتزداد قوة جذب النواة للإلكترونات</a:t>
            </a:r>
            <a:endParaRPr lang="ar-SA" sz="1600" dirty="0"/>
          </a:p>
        </p:txBody>
      </p:sp>
      <p:sp>
        <p:nvSpPr>
          <p:cNvPr id="5" name="zoom:w:4"/>
          <p:cNvSpPr/>
          <p:nvPr/>
        </p:nvSpPr>
        <p:spPr>
          <a:xfrm>
            <a:off x="11082528" y="2423160"/>
            <a:ext cx="566928" cy="566928"/>
          </a:xfrm>
          <a:prstGeom prst="ellipse">
            <a:avLst/>
          </a:prstGeom>
          <a:solidFill>
            <a:srgbClr val="7C3AED"/>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264408"/>
            <a:ext cx="6766560" cy="749808"/>
          </a:xfrm>
          <a:prstGeom prst="roundRect">
            <a:avLst>
              <a:gd name="adj" fmla="val 17073"/>
            </a:avLst>
          </a:prstGeom>
          <a:solidFill>
            <a:srgbClr val="FFFFFF">
              <a:alpha val="94000"/>
            </a:srgbClr>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بينما يبقى تأثير الحجب ثابتًا (بسبب عدم زيادة عدد مستويات الطاقة الرئيسية)</a:t>
            </a:r>
            <a:endParaRPr lang="ar-SA" sz="1600" dirty="0"/>
          </a:p>
        </p:txBody>
      </p:sp>
      <p:sp>
        <p:nvSpPr>
          <p:cNvPr id="7" name="zoom:w:6"/>
          <p:cNvSpPr/>
          <p:nvPr/>
        </p:nvSpPr>
        <p:spPr>
          <a:xfrm>
            <a:off x="11082528" y="3355848"/>
            <a:ext cx="566928" cy="566928"/>
          </a:xfrm>
          <a:prstGeom prst="ellipse">
            <a:avLst/>
          </a:prstGeom>
          <a:solidFill>
            <a:srgbClr val="7C3AED"/>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197096"/>
            <a:ext cx="6766560" cy="749808"/>
          </a:xfrm>
          <a:prstGeom prst="roundRect">
            <a:avLst>
              <a:gd name="adj" fmla="val 17073"/>
            </a:avLst>
          </a:prstGeom>
          <a:solidFill>
            <a:srgbClr val="FFFFFF">
              <a:alpha val="94000"/>
            </a:srgbClr>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فيصعب نزع الإلكترون</a:t>
            </a:r>
            <a:endParaRPr lang="ar-SA" sz="1600" dirty="0"/>
          </a:p>
        </p:txBody>
      </p:sp>
      <p:sp>
        <p:nvSpPr>
          <p:cNvPr id="9" name="zoom:w:8"/>
          <p:cNvSpPr/>
          <p:nvPr/>
        </p:nvSpPr>
        <p:spPr>
          <a:xfrm>
            <a:off x="11082528" y="4288536"/>
            <a:ext cx="566928" cy="566928"/>
          </a:xfrm>
          <a:prstGeom prst="ellipse">
            <a:avLst/>
          </a:prstGeom>
          <a:solidFill>
            <a:srgbClr val="7C3AED"/>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0" name="wipe:c:9"/>
          <p:cNvSpPr/>
          <p:nvPr/>
        </p:nvSpPr>
        <p:spPr>
          <a:xfrm>
            <a:off x="4754880" y="5129784"/>
            <a:ext cx="6766560" cy="749808"/>
          </a:xfrm>
          <a:prstGeom prst="roundRect">
            <a:avLst>
              <a:gd name="adj" fmla="val 17073"/>
            </a:avLst>
          </a:prstGeom>
          <a:solidFill>
            <a:srgbClr val="7C3AED"/>
          </a:solidFill>
          <a:ln w="19050">
            <a:solidFill>
              <a:srgbClr val="7C3AED"/>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فتزداد طاقة التأين الأولى</a:t>
            </a:r>
            <a:endParaRPr lang="ar-SA" sz="1600" dirty="0"/>
          </a:p>
        </p:txBody>
      </p:sp>
      <p:sp>
        <p:nvSpPr>
          <p:cNvPr id="11" name="zoom:w:10"/>
          <p:cNvSpPr/>
          <p:nvPr/>
        </p:nvSpPr>
        <p:spPr>
          <a:xfrm>
            <a:off x="11082528" y="5221224"/>
            <a:ext cx="566928" cy="566928"/>
          </a:xfrm>
          <a:prstGeom prst="ellipse">
            <a:avLst/>
          </a:prstGeom>
          <a:solidFill>
            <a:srgbClr val="FFFFFF"/>
          </a:solidFill>
          <a:ln w="25400">
            <a:solidFill>
              <a:srgbClr val="7C3AED"/>
            </a:solidFill>
          </a:ln>
        </p:spPr>
        <p:txBody>
          <a:bodyPr wrap="square" lIns="0" tIns="0" rIns="0" bIns="0" rtlCol="0" anchor="ctr"/>
          <a:lstStyle/>
          <a:p>
            <a:pPr algn="ctr" indent="0" marL="0">
              <a:lnSpc>
                <a:spcPct val="105000"/>
              </a:lnSpc>
              <a:buNone/>
            </a:pPr>
            <a:r>
              <a:rPr lang="en-US" altLang="en-US" sz="1800" b="1" dirty="0">
                <a:solidFill>
                  <a:srgbClr val="7C3AED"/>
                </a:solidFill>
                <a:latin typeface="Segoe UI" pitchFamily="34" charset="0"/>
                <a:ea typeface="Segoe UI" pitchFamily="34" charset="-122"/>
                <a:cs typeface="Segoe UI" pitchFamily="34" charset="-120"/>
              </a:rPr>
              <a:t>4</a:t>
            </a:r>
            <a:endParaRPr lang="en-US" sz="1800" dirty="0"/>
          </a:p>
        </p:txBody>
      </p:sp>
      <p:pic>
        <p:nvPicPr>
          <p:cNvPr id="12" name="zoom:a:11" descr="h_ietrend.png">    </p:cNvPr>
          <p:cNvPicPr>
            <a:picLocks noChangeAspect="1"/>
          </p:cNvPicPr>
          <p:nvPr/>
        </p:nvPicPr>
        <p:blipFill>
          <a:blip r:embed="rId1"/>
          <a:stretch>
            <a:fillRect/>
          </a:stretch>
        </p:blipFill>
        <p:spPr>
          <a:xfrm>
            <a:off x="411480" y="2419991"/>
            <a:ext cx="4114800" cy="2566657"/>
          </a:xfrm>
          <a:prstGeom prst="rect">
            <a:avLst/>
          </a:prstGeom>
        </p:spPr>
      </p:pic>
      <p:pic>
        <p:nvPicPr>
          <p:cNvPr id="13" name="zoom:a:12" descr="l/grip_tight.png">    </p:cNvPr>
          <p:cNvPicPr>
            <a:picLocks noChangeAspect="1"/>
          </p:cNvPicPr>
          <p:nvPr/>
        </p:nvPicPr>
        <p:blipFill>
          <a:blip r:embed="rId2"/>
          <a:stretch>
            <a:fillRect/>
          </a:stretch>
        </p:blipFill>
        <p:spPr>
          <a:xfrm>
            <a:off x="1691640" y="5166360"/>
            <a:ext cx="1371600" cy="1371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39"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childTnLst>
                    </p:cTn>
                  </p:par>
                  <p:par>
                    <p:cTn id="61" fill="hold">
                      <p:stCondLst>
                        <p:cond delay="indefinite"/>
                      </p:stCondLst>
                      <p:childTnLst>
                        <p:par>
                          <p:cTn id="48"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600"/>
                                        <p:tgtEl>
                                          <p:spTgt spid="10"/>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ppt_w</p:attrName>
                                        </p:attrNameLst>
                                      </p:cBhvr>
                                      <p:tavLst>
                                        <p:tav tm="0">
                                          <p:val>
                                            <p:strVal val="0"/>
                                          </p:val>
                                        </p:tav>
                                        <p:tav tm="100000">
                                          <p:val>
                                            <p:strVal val="#ppt_w"/>
                                          </p:val>
                                        </p:tav>
                                      </p:tavLst>
                                    </p:anim>
                                    <p:anim calcmode="lin" valueType="num">
                                      <p:cBhvr additive="base">
                                        <p:cTn id="45" dur="500" fill="hold"/>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par>
                          <p:cTn id="54" fill="hold">
                            <p:stCondLst>
                              <p:cond delay="330"/>
                            </p:stCondLst>
                            <p:childTnLst>
                              <p:par>
                                <p:cTn id="53" presetID="53" presetClass="entr" presetSubtype="16"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strVal val="0"/>
                                          </p:val>
                                        </p:tav>
                                        <p:tav tm="100000">
                                          <p:val>
                                            <p:strVal val="#ppt_w"/>
                                          </p:val>
                                        </p:tav>
                                      </p:tavLst>
                                    </p:anim>
                                    <p:anim calcmode="lin" valueType="num">
                                      <p:cBhvr additive="base">
                                        <p:cTn id="51" dur="500" fill="hold"/>
                                        <p:tgtEl>
                                          <p:spTgt spid="12"/>
                                        </p:tgtEl>
                                        <p:attrNameLst>
                                          <p:attrName>ppt_h</p:attrName>
                                        </p:attrNameLst>
                                      </p:cBhvr>
                                      <p:tavLst>
                                        <p:tav tm="0">
                                          <p:val>
                                            <p:strVal val="0"/>
                                          </p:val>
                                        </p:tav>
                                        <p:tav tm="100000">
                                          <p:val>
                                            <p:strVal val="#ppt_h"/>
                                          </p:val>
                                        </p:tav>
                                      </p:tavLst>
                                    </p:anim>
                                    <p:animEffect transition="in" filter="fade">
                                      <p:cBhvr>
                                        <p:cTn id="52" dur="500"/>
                                        <p:tgtEl>
                                          <p:spTgt spid="12"/>
                                        </p:tgtEl>
                                      </p:cBhvr>
                                    </p:animEffect>
                                  </p:childTnLst>
                                </p:cTn>
                              </p:par>
                            </p:childTnLst>
                          </p:cTn>
                        </p:par>
                        <p:par>
                          <p:cTn id="60" fill="hold">
                            <p:stCondLst>
                              <p:cond delay="605"/>
                            </p:stCondLst>
                            <p:childTnLst>
                              <p:par>
                                <p:cTn id="59" presetID="53" presetClass="entr" presetSubtype="16"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ppt_w</p:attrName>
                                        </p:attrNameLst>
                                      </p:cBhvr>
                                      <p:tavLst>
                                        <p:tav tm="0">
                                          <p:val>
                                            <p:strVal val="0"/>
                                          </p:val>
                                        </p:tav>
                                        <p:tav tm="100000">
                                          <p:val>
                                            <p:strVal val="#ppt_w"/>
                                          </p:val>
                                        </p:tav>
                                      </p:tavLst>
                                    </p:anim>
                                    <p:anim calcmode="lin" valueType="num">
                                      <p:cBhvr additive="base">
                                        <p:cTn id="57" dur="500" fill="hold"/>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(7)</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المطلوب الإجابة عن الأسئلة التالية: (بفرض عدم وجود استثناءات)</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7C3AED"/>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7C3AED"/>
                </a:solidFill>
                <a:latin typeface="Segoe UI" pitchFamily="34" charset="0"/>
                <a:ea typeface="Segoe UI" pitchFamily="34" charset="-122"/>
                <a:cs typeface="Segoe UI" pitchFamily="34" charset="-120"/>
              </a:rPr>
              <a:t>4</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7C3AED"/>
                </a:solidFill>
                <a:latin typeface="Segoe UI" pitchFamily="34" charset="0"/>
                <a:ea typeface="Segoe UI" pitchFamily="34" charset="-122"/>
                <a:cs typeface="Segoe UI" pitchFamily="34" charset="-120"/>
              </a:rPr>
              <a:t>9</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7C3AED"/>
                </a:solidFill>
                <a:latin typeface="Segoe UI" pitchFamily="34" charset="0"/>
                <a:ea typeface="Segoe UI" pitchFamily="34" charset="-122"/>
                <a:cs typeface="Segoe UI" pitchFamily="34" charset="-120"/>
              </a:rPr>
              <a:t>10</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أقل طاقة تأين (X – A)</a:t>
            </a:r>
            <a:endParaRPr lang="ar-SA" sz="1700" dirty="0"/>
          </a:p>
        </p:txBody>
      </p:sp>
      <p:sp>
        <p:nvSpPr>
          <p:cNvPr id="6" name="fade:a:5"/>
          <p:cNvSpPr/>
          <p:nvPr/>
        </p:nvSpPr>
        <p:spPr>
          <a:xfrm>
            <a:off x="411480" y="2331720"/>
            <a:ext cx="2606040" cy="594360"/>
          </a:xfrm>
          <a:prstGeom prst="roundRect">
            <a:avLst>
              <a:gd name="adj" fmla="val 50000"/>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
        <p:nvSpPr>
          <p:cNvPr id="8" name="float:a:7"/>
          <p:cNvSpPr/>
          <p:nvPr/>
        </p:nvSpPr>
        <p:spPr>
          <a:xfrm>
            <a:off x="3246120" y="3090672"/>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أعلى طاقة تأين (A – Z)</a:t>
            </a:r>
            <a:endParaRPr lang="ar-SA" sz="1700" dirty="0"/>
          </a:p>
        </p:txBody>
      </p:sp>
      <p:sp>
        <p:nvSpPr>
          <p:cNvPr id="9" name="fade:a:8"/>
          <p:cNvSpPr/>
          <p:nvPr/>
        </p:nvSpPr>
        <p:spPr>
          <a:xfrm>
            <a:off x="411480" y="3090672"/>
            <a:ext cx="2606040" cy="594360"/>
          </a:xfrm>
          <a:prstGeom prst="roundRect">
            <a:avLst>
              <a:gd name="adj" fmla="val 50000"/>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0" name="zoom:c:9"/>
          <p:cNvSpPr/>
          <p:nvPr/>
        </p:nvSpPr>
        <p:spPr>
          <a:xfrm>
            <a:off x="411480" y="3090672"/>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Z</a:t>
            </a:r>
            <a:endParaRPr lang="ar-SA" sz="2000" dirty="0"/>
          </a:p>
        </p:txBody>
      </p:sp>
      <p:sp>
        <p:nvSpPr>
          <p:cNvPr id="11" name="zoom:a:10"/>
          <p:cNvSpPr/>
          <p:nvPr/>
        </p:nvSpPr>
        <p:spPr>
          <a:xfrm>
            <a:off x="10378440" y="3849624"/>
            <a:ext cx="1417320" cy="914400"/>
          </a:xfrm>
          <a:prstGeom prst="roundRect">
            <a:avLst>
              <a:gd name="adj" fmla="val 14000"/>
            </a:avLst>
          </a:prstGeom>
          <a:solidFill>
            <a:srgbClr val="7C3AED"/>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12" name="fade:a:11"/>
          <p:cNvSpPr/>
          <p:nvPr/>
        </p:nvSpPr>
        <p:spPr>
          <a:xfrm>
            <a:off x="411480" y="3849624"/>
            <a:ext cx="978408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3" name="wipe:c:12"/>
          <p:cNvSpPr/>
          <p:nvPr/>
        </p:nvSpPr>
        <p:spPr>
          <a:xfrm>
            <a:off x="411480" y="3849624"/>
            <a:ext cx="9784080" cy="914400"/>
          </a:xfrm>
          <a:prstGeom prst="roundRect">
            <a:avLst>
              <a:gd name="adj" fmla="val 14000"/>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Z يقع على يمين A في الدورة نفسها، فتزداد شحنة النواة وقوة جذبها للإلكترونات بينما يبقى تأثير الحجب ثابتًا، فيصعب نزع الإلكترون.</a:t>
            </a:r>
            <a:endParaRPr lang="ar-SA" sz="1600" dirty="0"/>
          </a:p>
        </p:txBody>
      </p:sp>
      <p:sp>
        <p:nvSpPr>
          <p:cNvPr id="14" name="float:a:13"/>
          <p:cNvSpPr/>
          <p:nvPr/>
        </p:nvSpPr>
        <p:spPr>
          <a:xfrm>
            <a:off x="3246120" y="4928616"/>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3 - اسم مجموعة العنصر الذي له أقل طاقة تأين</a:t>
            </a:r>
            <a:endParaRPr lang="ar-SA" sz="1700" dirty="0"/>
          </a:p>
        </p:txBody>
      </p:sp>
      <p:sp>
        <p:nvSpPr>
          <p:cNvPr id="15" name="fade:a:14"/>
          <p:cNvSpPr/>
          <p:nvPr/>
        </p:nvSpPr>
        <p:spPr>
          <a:xfrm>
            <a:off x="411480" y="4928616"/>
            <a:ext cx="2606040" cy="594360"/>
          </a:xfrm>
          <a:prstGeom prst="roundRect">
            <a:avLst>
              <a:gd name="adj" fmla="val 50000"/>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6" name="zoom:c:15"/>
          <p:cNvSpPr/>
          <p:nvPr/>
        </p:nvSpPr>
        <p:spPr>
          <a:xfrm>
            <a:off x="411480" y="4928616"/>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500" b="1" dirty="0">
                <a:solidFill>
                  <a:srgbClr val="FFFFFF"/>
                </a:solidFill>
                <a:latin typeface="Segoe UI" pitchFamily="34" charset="0"/>
                <a:ea typeface="Segoe UI" pitchFamily="34" charset="-122"/>
                <a:cs typeface="Segoe UI" pitchFamily="34" charset="-120"/>
              </a:rPr>
              <a:t>الفلزات القلوية الأرضية</a:t>
            </a:r>
            <a:endParaRPr lang="ar-SA" sz="1500" dirty="0"/>
          </a:p>
        </p:txBody>
      </p:sp>
      <p:sp>
        <p:nvSpPr>
          <p:cNvPr id="17" name="float:a:16"/>
          <p:cNvSpPr/>
          <p:nvPr/>
        </p:nvSpPr>
        <p:spPr>
          <a:xfrm>
            <a:off x="3246120" y="5687568"/>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4 - اسم مجموعة العنصر الذي له أعلى طاقة تأين</a:t>
            </a:r>
            <a:endParaRPr lang="ar-SA" sz="1700" dirty="0"/>
          </a:p>
        </p:txBody>
      </p:sp>
      <p:sp>
        <p:nvSpPr>
          <p:cNvPr id="18" name="fade:a:17"/>
          <p:cNvSpPr/>
          <p:nvPr/>
        </p:nvSpPr>
        <p:spPr>
          <a:xfrm>
            <a:off x="411480" y="5687568"/>
            <a:ext cx="2606040" cy="594360"/>
          </a:xfrm>
          <a:prstGeom prst="roundRect">
            <a:avLst>
              <a:gd name="adj" fmla="val 50000"/>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9" name="zoom:c:18"/>
          <p:cNvSpPr/>
          <p:nvPr/>
        </p:nvSpPr>
        <p:spPr>
          <a:xfrm>
            <a:off x="411480" y="5687568"/>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الغازات النبيلة</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childTnLst>
                          </p:cTn>
                        </p:par>
                        <p:par>
                          <p:cTn id="41" fill="hold">
                            <p:stCondLst>
                              <p:cond delay="66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9" fill="hold">
                      <p:stCondLst>
                        <p:cond delay="indefinite"/>
                      </p:stCondLst>
                      <p:childTnLst>
                        <p:par>
                          <p:cTn id="48" fill="hold">
                            <p:stCondLst>
                              <p:cond delay="0"/>
                            </p:stCondLst>
                            <p:childTnLst>
                              <p:par>
                                <p:cTn id="47" presetID="53" presetClass="entr" presetSubtype="16"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ppt_w</p:attrName>
                                        </p:attrNameLst>
                                      </p:cBhvr>
                                      <p:tavLst>
                                        <p:tav tm="0">
                                          <p:val>
                                            <p:strVal val="0"/>
                                          </p:val>
                                        </p:tav>
                                        <p:tav tm="100000">
                                          <p:val>
                                            <p:strVal val="#ppt_w"/>
                                          </p:val>
                                        </p:tav>
                                      </p:tavLst>
                                    </p:anim>
                                    <p:anim calcmode="lin" valueType="num">
                                      <p:cBhvr additive="base">
                                        <p:cTn id="45" dur="500" fill="hold"/>
                                        <p:tgtEl>
                                          <p:spTgt spid="10"/>
                                        </p:tgtEl>
                                        <p:attrNameLst>
                                          <p:attrName>ppt_h</p:attrName>
                                        </p:attrNameLst>
                                      </p:cBhvr>
                                      <p:tavLst>
                                        <p:tav tm="0">
                                          <p:val>
                                            <p:strVal val="0"/>
                                          </p:val>
                                        </p:tav>
                                        <p:tav tm="100000">
                                          <p:val>
                                            <p:strVal val="#ppt_h"/>
                                          </p:val>
                                        </p:tav>
                                      </p:tavLst>
                                    </p:anim>
                                    <p:animEffect transition="in" filter="fade">
                                      <p:cBhvr>
                                        <p:cTn id="46" dur="500"/>
                                        <p:tgtEl>
                                          <p:spTgt spid="10"/>
                                        </p:tgtEl>
                                      </p:cBhvr>
                                    </p:animEffect>
                                  </p:childTnLst>
                                </p:cTn>
                              </p:par>
                            </p:childTnLst>
                          </p:cTn>
                        </p:par>
                        <p:par>
                          <p:cTn id="54" fill="hold">
                            <p:stCondLst>
                              <p:cond delay="275"/>
                            </p:stCondLst>
                            <p:childTnLst>
                              <p:par>
                                <p:cTn id="53" presetID="53" presetClass="entr" presetSubtype="16"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ppt_w</p:attrName>
                                        </p:attrNameLst>
                                      </p:cBhvr>
                                      <p:tavLst>
                                        <p:tav tm="0">
                                          <p:val>
                                            <p:strVal val="0"/>
                                          </p:val>
                                        </p:tav>
                                        <p:tav tm="100000">
                                          <p:val>
                                            <p:strVal val="#ppt_w"/>
                                          </p:val>
                                        </p:tav>
                                      </p:tavLst>
                                    </p:anim>
                                    <p:anim calcmode="lin" valueType="num">
                                      <p:cBhvr additive="base">
                                        <p:cTn id="51" dur="500" fill="hold"/>
                                        <p:tgtEl>
                                          <p:spTgt spid="11"/>
                                        </p:tgtEl>
                                        <p:attrNameLst>
                                          <p:attrName>ppt_h</p:attrName>
                                        </p:attrNameLst>
                                      </p:cBhvr>
                                      <p:tavLst>
                                        <p:tav tm="0">
                                          <p:val>
                                            <p:strVal val="0"/>
                                          </p:val>
                                        </p:tav>
                                        <p:tav tm="100000">
                                          <p:val>
                                            <p:strVal val="#ppt_h"/>
                                          </p:val>
                                        </p:tav>
                                      </p:tavLst>
                                    </p:anim>
                                    <p:animEffect transition="in" filter="fade">
                                      <p:cBhvr>
                                        <p:cTn id="52" dur="500"/>
                                        <p:tgtEl>
                                          <p:spTgt spid="11"/>
                                        </p:tgtEl>
                                      </p:cBhvr>
                                    </p:animEffect>
                                  </p:childTnLst>
                                </p:cTn>
                              </p:par>
                            </p:childTnLst>
                          </p:cTn>
                        </p:par>
                        <p:par>
                          <p:cTn id="58" fill="hold">
                            <p:stCondLst>
                              <p:cond delay="550"/>
                            </p:stCondLst>
                            <p:childTnLst>
                              <p:par>
                                <p:cTn id="57"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childTnLst>
                                </p:cTn>
                              </p:par>
                            </p:childTnLst>
                          </p:cTn>
                        </p:par>
                      </p:childTnLst>
                    </p:cTn>
                  </p:par>
                  <p:par>
                    <p:cTn id="74" fill="hold">
                      <p:stCondLst>
                        <p:cond delay="indefinite"/>
                      </p:stCondLst>
                      <p:childTnLst>
                        <p:par>
                          <p:cTn id="63" fill="hold">
                            <p:stCondLst>
                              <p:cond delay="0"/>
                            </p:stCondLst>
                            <p:childTnLst>
                              <p:par>
                                <p:cTn id="62" presetID="22" presetClass="entr" presetSubtype="2"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600"/>
                                        <p:tgtEl>
                                          <p:spTgt spid="13"/>
                                        </p:tgtEl>
                                      </p:cBhvr>
                                    </p:animEffect>
                                  </p:childTnLst>
                                </p:cTn>
                              </p:par>
                            </p:childTnLst>
                          </p:cTn>
                        </p:par>
                        <p:par>
                          <p:cTn id="69" fill="hold">
                            <p:stCondLst>
                              <p:cond delay="330"/>
                            </p:stCondLst>
                            <p:childTnLst>
                              <p:par>
                                <p:cTn id="68" presetID="42" presetClass="entr" presetSubtype="0"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additive="base">
                                        <p:cTn id="66" dur="700" fill="hold"/>
                                        <p:tgtEl>
                                          <p:spTgt spid="14"/>
                                        </p:tgtEl>
                                        <p:attrNameLst>
                                          <p:attrName>ppt_x</p:attrName>
                                        </p:attrNameLst>
                                      </p:cBhvr>
                                      <p:tavLst>
                                        <p:tav tm="0">
                                          <p:val>
                                            <p:strVal val="#ppt_x"/>
                                          </p:val>
                                        </p:tav>
                                        <p:tav tm="100000">
                                          <p:val>
                                            <p:strVal val="#ppt_x"/>
                                          </p:val>
                                        </p:tav>
                                      </p:tavLst>
                                    </p:anim>
                                    <p:anim calcmode="lin" valueType="num">
                                      <p:cBhvr additive="base">
                                        <p:cTn id="67" dur="700" fill="hold"/>
                                        <p:tgtEl>
                                          <p:spTgt spid="14"/>
                                        </p:tgtEl>
                                        <p:attrNameLst>
                                          <p:attrName>ppt_y</p:attrName>
                                        </p:attrNameLst>
                                      </p:cBhvr>
                                      <p:tavLst>
                                        <p:tav tm="0">
                                          <p:val>
                                            <p:strVal val="#ppt_y+.1"/>
                                          </p:val>
                                        </p:tav>
                                        <p:tav tm="100000">
                                          <p:val>
                                            <p:strVal val="#ppt_y"/>
                                          </p:val>
                                        </p:tav>
                                      </p:tavLst>
                                    </p:anim>
                                  </p:childTnLst>
                                </p:cTn>
                              </p:par>
                            </p:childTnLst>
                          </p:cTn>
                        </p:par>
                        <p:par>
                          <p:cTn id="73" fill="hold">
                            <p:stCondLst>
                              <p:cond delay="715"/>
                            </p:stCondLst>
                            <p:childTnLst>
                              <p:par>
                                <p:cTn id="72"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childTnLst>
                                </p:cTn>
                              </p:par>
                            </p:childTnLst>
                          </p:cTn>
                        </p:par>
                      </p:childTnLst>
                    </p:cTn>
                  </p:par>
                  <p:par>
                    <p:cTn id="91" fill="hold">
                      <p:stCondLst>
                        <p:cond delay="indefinite"/>
                      </p:stCondLst>
                      <p:childTnLst>
                        <p:par>
                          <p:cTn id="80" fill="hold">
                            <p:stCondLst>
                              <p:cond delay="0"/>
                            </p:stCondLst>
                            <p:childTnLst>
                              <p:par>
                                <p:cTn id="79" presetID="53" presetClass="entr" presetSubtype="16"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ppt_w</p:attrName>
                                        </p:attrNameLst>
                                      </p:cBhvr>
                                      <p:tavLst>
                                        <p:tav tm="0">
                                          <p:val>
                                            <p:strVal val="0"/>
                                          </p:val>
                                        </p:tav>
                                        <p:tav tm="100000">
                                          <p:val>
                                            <p:strVal val="#ppt_w"/>
                                          </p:val>
                                        </p:tav>
                                      </p:tavLst>
                                    </p:anim>
                                    <p:anim calcmode="lin" valueType="num">
                                      <p:cBhvr additive="base">
                                        <p:cTn id="77" dur="500" fill="hold"/>
                                        <p:tgtEl>
                                          <p:spTgt spid="16"/>
                                        </p:tgtEl>
                                        <p:attrNameLst>
                                          <p:attrName>ppt_h</p:attrName>
                                        </p:attrNameLst>
                                      </p:cBhvr>
                                      <p:tavLst>
                                        <p:tav tm="0">
                                          <p:val>
                                            <p:strVal val="0"/>
                                          </p:val>
                                        </p:tav>
                                        <p:tav tm="100000">
                                          <p:val>
                                            <p:strVal val="#ppt_h"/>
                                          </p:val>
                                        </p:tav>
                                      </p:tavLst>
                                    </p:anim>
                                    <p:animEffect transition="in" filter="fade">
                                      <p:cBhvr>
                                        <p:cTn id="78" dur="500"/>
                                        <p:tgtEl>
                                          <p:spTgt spid="16"/>
                                        </p:tgtEl>
                                      </p:cBhvr>
                                    </p:animEffect>
                                  </p:childTnLst>
                                </p:cTn>
                              </p:par>
                            </p:childTnLst>
                          </p:cTn>
                        </p:par>
                        <p:par>
                          <p:cTn id="86" fill="hold">
                            <p:stCondLst>
                              <p:cond delay="275"/>
                            </p:stCondLst>
                            <p:childTnLst>
                              <p:par>
                                <p:cTn id="85" presetID="42"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ppt_x</p:attrName>
                                        </p:attrNameLst>
                                      </p:cBhvr>
                                      <p:tavLst>
                                        <p:tav tm="0">
                                          <p:val>
                                            <p:strVal val="#ppt_x"/>
                                          </p:val>
                                        </p:tav>
                                        <p:tav tm="100000">
                                          <p:val>
                                            <p:strVal val="#ppt_x"/>
                                          </p:val>
                                        </p:tav>
                                      </p:tavLst>
                                    </p:anim>
                                    <p:anim calcmode="lin" valueType="num">
                                      <p:cBhvr additive="base">
                                        <p:cTn id="84" dur="700" fill="hold"/>
                                        <p:tgtEl>
                                          <p:spTgt spid="17"/>
                                        </p:tgtEl>
                                        <p:attrNameLst>
                                          <p:attrName>ppt_y</p:attrName>
                                        </p:attrNameLst>
                                      </p:cBhvr>
                                      <p:tavLst>
                                        <p:tav tm="0">
                                          <p:val>
                                            <p:strVal val="#ppt_y+.1"/>
                                          </p:val>
                                        </p:tav>
                                        <p:tav tm="100000">
                                          <p:val>
                                            <p:strVal val="#ppt_y"/>
                                          </p:val>
                                        </p:tav>
                                      </p:tavLst>
                                    </p:anim>
                                  </p:childTnLst>
                                </p:cTn>
                              </p:par>
                            </p:childTnLst>
                          </p:cTn>
                        </p:par>
                        <p:par>
                          <p:cTn id="90" fill="hold">
                            <p:stCondLst>
                              <p:cond delay="660"/>
                            </p:stCondLst>
                            <p:childTnLst>
                              <p:par>
                                <p:cTn id="89" presetID="10" presetClass="entr" presetSubtype="0" fill="hold" grpId="0" nodeType="after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childTnLst>
                                </p:cTn>
                              </p:par>
                            </p:childTnLst>
                          </p:cTn>
                        </p:par>
                      </p:childTnLst>
                    </p:cTn>
                  </p:par>
                  <p:par>
                    <p:cTn id="98" fill="hold">
                      <p:stCondLst>
                        <p:cond delay="indefinite"/>
                      </p:stCondLst>
                      <p:childTnLst>
                        <p:par>
                          <p:cTn id="97" fill="hold">
                            <p:stCondLst>
                              <p:cond delay="0"/>
                            </p:stCondLst>
                            <p:childTnLst>
                              <p:par>
                                <p:cTn id="96" presetID="53" presetClass="entr" presetSubtype="16"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500" fill="hold"/>
                                        <p:tgtEl>
                                          <p:spTgt spid="19"/>
                                        </p:tgtEl>
                                        <p:attrNameLst>
                                          <p:attrName>ppt_w</p:attrName>
                                        </p:attrNameLst>
                                      </p:cBhvr>
                                      <p:tavLst>
                                        <p:tav tm="0">
                                          <p:val>
                                            <p:strVal val="0"/>
                                          </p:val>
                                        </p:tav>
                                        <p:tav tm="100000">
                                          <p:val>
                                            <p:strVal val="#ppt_w"/>
                                          </p:val>
                                        </p:tav>
                                      </p:tavLst>
                                    </p:anim>
                                    <p:anim calcmode="lin" valueType="num">
                                      <p:cBhvr additive="base">
                                        <p:cTn id="94" dur="500" fill="hold"/>
                                        <p:tgtEl>
                                          <p:spTgt spid="19"/>
                                        </p:tgtEl>
                                        <p:attrNameLst>
                                          <p:attrName>ppt_h</p:attrName>
                                        </p:attrNameLst>
                                      </p:cBhvr>
                                      <p:tavLst>
                                        <p:tav tm="0">
                                          <p:val>
                                            <p:strVal val="0"/>
                                          </p:val>
                                        </p:tav>
                                        <p:tav tm="100000">
                                          <p:val>
                                            <p:strVal val="#ppt_h"/>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دعنا نلخص: طاقة التأين</a:t>
            </a:r>
            <a:endParaRPr lang="en-US" sz="2800" dirty="0"/>
          </a:p>
        </p:txBody>
      </p:sp>
      <p:sp>
        <p:nvSpPr>
          <p:cNvPr id="3" name="float:c:2"/>
          <p:cNvSpPr/>
          <p:nvPr/>
        </p:nvSpPr>
        <p:spPr>
          <a:xfrm>
            <a:off x="5120640" y="1371600"/>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تقل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طاقة التأين الأولى للعناصر تدريجيًّا خلال المجموعة من أعلى إلى أسفل.</a:t>
            </a:r>
            <a:endParaRPr lang="ar-SA" sz="1700" dirty="0"/>
          </a:p>
        </p:txBody>
      </p:sp>
      <p:sp>
        <p:nvSpPr>
          <p:cNvPr id="4" name="zoom:w:3"/>
          <p:cNvSpPr/>
          <p:nvPr/>
        </p:nvSpPr>
        <p:spPr>
          <a:xfrm>
            <a:off x="11384280" y="1729359"/>
            <a:ext cx="457200" cy="457200"/>
          </a:xfrm>
          <a:prstGeom prst="ellipse">
            <a:avLst/>
          </a:prstGeom>
          <a:solidFill>
            <a:srgbClr val="7C3AED"/>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5" name="float:c:4"/>
          <p:cNvSpPr/>
          <p:nvPr/>
        </p:nvSpPr>
        <p:spPr>
          <a:xfrm>
            <a:off x="5120640" y="2672334"/>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تزداد</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طاقة التأين الأولى للعناصر تدريجيًّا خلال الدورة من اليسار إلى اليمين.</a:t>
            </a:r>
            <a:endParaRPr lang="ar-SA" sz="1700" dirty="0"/>
          </a:p>
        </p:txBody>
      </p:sp>
      <p:sp>
        <p:nvSpPr>
          <p:cNvPr id="6" name="zoom:w:5"/>
          <p:cNvSpPr/>
          <p:nvPr/>
        </p:nvSpPr>
        <p:spPr>
          <a:xfrm>
            <a:off x="11384280" y="3030093"/>
            <a:ext cx="457200" cy="457200"/>
          </a:xfrm>
          <a:prstGeom prst="ellipse">
            <a:avLst/>
          </a:prstGeom>
          <a:solidFill>
            <a:srgbClr val="7C3AED"/>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7" name="float:c:6"/>
          <p:cNvSpPr/>
          <p:nvPr/>
        </p:nvSpPr>
        <p:spPr>
          <a:xfrm>
            <a:off x="5120640" y="3973068"/>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فلزات الأقلاء</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لها أقل طاقة تأين في دورتها؛ لذا تفقد إلكترون مستواها الخارجي الوحيد بسهولة لتكوّن أيونات موجبة أحادية الشحنة.</a:t>
            </a:r>
            <a:endParaRPr lang="ar-SA" sz="1700" dirty="0"/>
          </a:p>
        </p:txBody>
      </p:sp>
      <p:sp>
        <p:nvSpPr>
          <p:cNvPr id="8" name="zoom:w:7"/>
          <p:cNvSpPr/>
          <p:nvPr/>
        </p:nvSpPr>
        <p:spPr>
          <a:xfrm>
            <a:off x="11384280" y="4330827"/>
            <a:ext cx="457200" cy="457200"/>
          </a:xfrm>
          <a:prstGeom prst="ellipse">
            <a:avLst/>
          </a:prstGeom>
          <a:solidFill>
            <a:srgbClr val="7C3AED"/>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9" name="float:c:8"/>
          <p:cNvSpPr/>
          <p:nvPr/>
        </p:nvSpPr>
        <p:spPr>
          <a:xfrm>
            <a:off x="5120640" y="5273802"/>
            <a:ext cx="6217920" cy="1172718"/>
          </a:xfrm>
          <a:prstGeom prst="roundRect">
            <a:avLst>
              <a:gd name="adj" fmla="val 10916"/>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700" b="1" dirty="0">
                <a:solidFill>
                  <a:srgbClr val="7C3AED"/>
                </a:solidFill>
                <a:latin typeface="Segoe UI" pitchFamily="34" charset="0"/>
                <a:ea typeface="Segoe UI" pitchFamily="34" charset="-122"/>
                <a:cs typeface="Segoe UI" pitchFamily="34" charset="-120"/>
              </a:rPr>
              <a:t>الغازات النبيلة</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لها أعلى طاقة تأين في دورتها؛ بسبب صغر حجم ذراتها واكتمال مستويات طاقتها الخارجية، مما يحدّ من نشاطها الكيميائي.</a:t>
            </a:r>
            <a:endParaRPr lang="ar-SA" sz="1700" dirty="0"/>
          </a:p>
        </p:txBody>
      </p:sp>
      <p:sp>
        <p:nvSpPr>
          <p:cNvPr id="10" name="zoom:w:9"/>
          <p:cNvSpPr/>
          <p:nvPr/>
        </p:nvSpPr>
        <p:spPr>
          <a:xfrm>
            <a:off x="11384280" y="5631561"/>
            <a:ext cx="457200" cy="457200"/>
          </a:xfrm>
          <a:prstGeom prst="ellipse">
            <a:avLst/>
          </a:prstGeom>
          <a:solidFill>
            <a:srgbClr val="7C3AED"/>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1" name="fade:a:10"/>
          <p:cNvSpPr/>
          <p:nvPr/>
        </p:nvSpPr>
        <p:spPr>
          <a:xfrm>
            <a:off x="411480" y="1371600"/>
            <a:ext cx="4480560" cy="3794760"/>
          </a:xfrm>
          <a:prstGeom prst="roundRect">
            <a:avLst>
              <a:gd name="adj" fmla="val 33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2" name="zoom:a:11" descr="l/trend_ie.png">    </p:cNvPr>
          <p:cNvPicPr>
            <a:picLocks noChangeAspect="1"/>
          </p:cNvPicPr>
          <p:nvPr/>
        </p:nvPicPr>
        <p:blipFill>
          <a:blip r:embed="rId1"/>
          <a:stretch>
            <a:fillRect/>
          </a:stretch>
        </p:blipFill>
        <p:spPr>
          <a:xfrm>
            <a:off x="548640" y="2147316"/>
            <a:ext cx="4206240" cy="2243328"/>
          </a:xfrm>
          <a:prstGeom prst="rect">
            <a:avLst/>
          </a:prstGeom>
        </p:spPr>
      </p:pic>
      <p:sp>
        <p:nvSpPr>
          <p:cNvPr id="13" name="float:a:12"/>
          <p:cNvSpPr/>
          <p:nvPr/>
        </p:nvSpPr>
        <p:spPr>
          <a:xfrm>
            <a:off x="411480" y="5349240"/>
            <a:ext cx="2176272" cy="548640"/>
          </a:xfrm>
          <a:prstGeom prst="roundRect">
            <a:avLst>
              <a:gd name="adj" fmla="val 50000"/>
            </a:avLst>
          </a:prstGeom>
          <a:solidFill>
            <a:srgbClr val="7C3AED"/>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المجموعة ↓ تقل</a:t>
            </a:r>
            <a:endParaRPr lang="ar-SA" sz="1400" dirty="0"/>
          </a:p>
        </p:txBody>
      </p:sp>
      <p:sp>
        <p:nvSpPr>
          <p:cNvPr id="14" name="float:w:13"/>
          <p:cNvSpPr/>
          <p:nvPr/>
        </p:nvSpPr>
        <p:spPr>
          <a:xfrm>
            <a:off x="2715768" y="5349240"/>
            <a:ext cx="2176272" cy="548640"/>
          </a:xfrm>
          <a:prstGeom prst="roundRect">
            <a:avLst>
              <a:gd name="adj" fmla="val 50000"/>
            </a:avLst>
          </a:prstGeom>
          <a:solidFill>
            <a:srgbClr val="0B2545"/>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الدورة ← تزداد</a:t>
            </a:r>
            <a:endParaRPr lang="ar-SA" sz="1400" dirty="0"/>
          </a:p>
        </p:txBody>
      </p:sp>
      <p:sp>
        <p:nvSpPr>
          <p:cNvPr id="15" name="fade:a:14"/>
          <p:cNvSpPr txBox="1"/>
          <p:nvPr/>
        </p:nvSpPr>
        <p:spPr>
          <a:xfrm>
            <a:off x="411480" y="6035040"/>
            <a:ext cx="4480560" cy="457200"/>
          </a:xfrm>
          <a:prstGeom prst="rect">
            <a:avLst/>
          </a:prstGeom>
          <a:noFill/>
          <a:ln/>
        </p:spPr>
        <p:txBody>
          <a:bodyPr wrap="square" lIns="76200" tIns="152400" rIns="152400" bIns="76200" rtlCol="0" anchor="ctr"/>
          <a:lstStyle/>
          <a:p>
            <a:pPr rtl="1" algn="ctr" indent="0" marL="0">
              <a:lnSpc>
                <a:spcPct val="105000"/>
              </a:lnSpc>
              <a:buNone/>
            </a:pPr>
            <a:r>
              <a:rPr lang="ar-SA" altLang="en-US" sz="1500" b="1" dirty="0">
                <a:solidFill>
                  <a:srgbClr val="7C3AED"/>
                </a:solidFill>
                <a:latin typeface="Segoe UI" pitchFamily="34" charset="0"/>
                <a:ea typeface="Segoe UI" pitchFamily="34" charset="-122"/>
                <a:cs typeface="Segoe UI" pitchFamily="34" charset="-120"/>
              </a:rPr>
              <a:t>دعنا نلخص ما سبق</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4" fill="hold">
                      <p:stCondLst>
                        <p:cond delay="indefinite"/>
                      </p:stCondLst>
                      <p:childTnLst>
                        <p:par>
                          <p:cTn id="13"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53" presetClass="entr" presetSubtype="16"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ppt_w</p:attrName>
                                        </p:attrNameLst>
                                      </p:cBhvr>
                                      <p:tavLst>
                                        <p:tav tm="0">
                                          <p:val>
                                            <p:strVal val="0"/>
                                          </p:val>
                                        </p:tav>
                                        <p:tav tm="100000">
                                          <p:val>
                                            <p:strVal val="#ppt_w"/>
                                          </p:val>
                                        </p:tav>
                                      </p:tavLst>
                                    </p:anim>
                                    <p:anim calcmode="lin" valueType="num">
                                      <p:cBhvr additive="base">
                                        <p:cTn id="10" dur="500" fill="hold"/>
                                        <p:tgtEl>
                                          <p:spTgt spid="4"/>
                                        </p:tgtEl>
                                        <p:attrNameLst>
                                          <p:attrName>ppt_h</p:attrName>
                                        </p:attrNameLst>
                                      </p:cBhvr>
                                      <p:tavLst>
                                        <p:tav tm="0">
                                          <p:val>
                                            <p:strVal val="0"/>
                                          </p:val>
                                        </p:tav>
                                        <p:tav tm="100000">
                                          <p:val>
                                            <p:strVal val="#ppt_h"/>
                                          </p:val>
                                        </p:tav>
                                      </p:tavLst>
                                    </p:anim>
                                    <p:animEffect transition="in" filter="fade">
                                      <p:cBhvr>
                                        <p:cTn id="11" dur="500"/>
                                        <p:tgtEl>
                                          <p:spTgt spid="4"/>
                                        </p:tgtEl>
                                      </p:cBhvr>
                                    </p:animEffect>
                                  </p:childTnLst>
                                </p:cTn>
                              </p:par>
                            </p:childTnLst>
                          </p:cTn>
                        </p:par>
                      </p:childTnLst>
                    </p:cTn>
                  </p:par>
                  <p:par>
                    <p:cTn id="26" fill="hold">
                      <p:stCondLst>
                        <p:cond delay="indefinite"/>
                      </p:stCondLst>
                      <p:childTnLst>
                        <p:par>
                          <p:cTn id="25" fill="hold">
                            <p:stCondLst>
                              <p:cond delay="0"/>
                            </p:stCondLst>
                            <p:childTnLst>
                              <p:par>
                                <p:cTn id="19"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par>
                                <p:cTn id="24" presetID="53" presetClass="entr" presetSubtype="16"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childTnLst>
                          </p:cTn>
                        </p:par>
                      </p:childTnLst>
                    </p:cTn>
                  </p:par>
                  <p:par>
                    <p:cTn id="38" fill="hold">
                      <p:stCondLst>
                        <p:cond delay="indefinite"/>
                      </p:stCondLst>
                      <p:childTnLst>
                        <p:par>
                          <p:cTn id="37"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anim calcmode="lin" valueType="num">
                                      <p:cBhvr additive="base">
                                        <p:cTn id="29" dur="700" fill="hold"/>
                                        <p:tgtEl>
                                          <p:spTgt spid="7"/>
                                        </p:tgtEl>
                                        <p:attrNameLst>
                                          <p:attrName>ppt_x</p:attrName>
                                        </p:attrNameLst>
                                      </p:cBhvr>
                                      <p:tavLst>
                                        <p:tav tm="0">
                                          <p:val>
                                            <p:strVal val="#ppt_x"/>
                                          </p:val>
                                        </p:tav>
                                        <p:tav tm="100000">
                                          <p:val>
                                            <p:strVal val="#ppt_x"/>
                                          </p:val>
                                        </p:tav>
                                      </p:tavLst>
                                    </p:anim>
                                    <p:anim calcmode="lin" valueType="num">
                                      <p:cBhvr additive="base">
                                        <p:cTn id="30" dur="700" fill="hold"/>
                                        <p:tgtEl>
                                          <p:spTgt spid="7"/>
                                        </p:tgtEl>
                                        <p:attrNameLst>
                                          <p:attrName>ppt_y</p:attrName>
                                        </p:attrNameLst>
                                      </p:cBhvr>
                                      <p:tavLst>
                                        <p:tav tm="0">
                                          <p:val>
                                            <p:strVal val="#ppt_y+.1"/>
                                          </p:val>
                                        </p:tav>
                                        <p:tav tm="100000">
                                          <p:val>
                                            <p:strVal val="#ppt_y"/>
                                          </p:val>
                                        </p:tav>
                                      </p:tavLst>
                                    </p:anim>
                                  </p:childTnLst>
                                </p:cTn>
                              </p:par>
                              <p:par>
                                <p:cTn id="36" presetID="53"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childTnLst>
                    </p:cTn>
                  </p:par>
                  <p:par>
                    <p:cTn id="75" fill="hold">
                      <p:stCondLst>
                        <p:cond delay="indefinite"/>
                      </p:stCondLst>
                      <p:childTnLst>
                        <p:par>
                          <p:cTn id="49" fill="hold">
                            <p:stCondLst>
                              <p:cond delay="0"/>
                            </p:stCondLst>
                            <p:childTnLst>
                              <p:par>
                                <p:cTn id="43" presetID="42"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additive="base">
                                        <p:cTn id="41" dur="700" fill="hold"/>
                                        <p:tgtEl>
                                          <p:spTgt spid="9"/>
                                        </p:tgtEl>
                                        <p:attrNameLst>
                                          <p:attrName>ppt_x</p:attrName>
                                        </p:attrNameLst>
                                      </p:cBhvr>
                                      <p:tavLst>
                                        <p:tav tm="0">
                                          <p:val>
                                            <p:strVal val="#ppt_x"/>
                                          </p:val>
                                        </p:tav>
                                        <p:tav tm="100000">
                                          <p:val>
                                            <p:strVal val="#ppt_x"/>
                                          </p:val>
                                        </p:tav>
                                      </p:tavLst>
                                    </p:anim>
                                    <p:anim calcmode="lin" valueType="num">
                                      <p:cBhvr additive="base">
                                        <p:cTn id="42" dur="700" fill="hold"/>
                                        <p:tgtEl>
                                          <p:spTgt spid="9"/>
                                        </p:tgtEl>
                                        <p:attrNameLst>
                                          <p:attrName>ppt_y</p:attrName>
                                        </p:attrNameLst>
                                      </p:cBhvr>
                                      <p:tavLst>
                                        <p:tav tm="0">
                                          <p:val>
                                            <p:strVal val="#ppt_y+.1"/>
                                          </p:val>
                                        </p:tav>
                                        <p:tav tm="100000">
                                          <p:val>
                                            <p:strVal val="#ppt_y"/>
                                          </p:val>
                                        </p:tav>
                                      </p:tavLst>
                                    </p:anim>
                                  </p:childTnLst>
                                </p:cTn>
                              </p:par>
                              <p:par>
                                <p:cTn id="48" presetID="53"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500" fill="hold"/>
                                        <p:tgtEl>
                                          <p:spTgt spid="10"/>
                                        </p:tgtEl>
                                        <p:attrNameLst>
                                          <p:attrName>ppt_w</p:attrName>
                                        </p:attrNameLst>
                                      </p:cBhvr>
                                      <p:tavLst>
                                        <p:tav tm="0">
                                          <p:val>
                                            <p:strVal val="0"/>
                                          </p:val>
                                        </p:tav>
                                        <p:tav tm="100000">
                                          <p:val>
                                            <p:strVal val="#ppt_w"/>
                                          </p:val>
                                        </p:tav>
                                      </p:tavLst>
                                    </p:anim>
                                    <p:anim calcmode="lin" valueType="num">
                                      <p:cBhvr additive="base">
                                        <p:cTn id="46" dur="500" fill="hold"/>
                                        <p:tgtEl>
                                          <p:spTgt spid="10"/>
                                        </p:tgtEl>
                                        <p:attrNameLst>
                                          <p:attrName>ppt_h</p:attrName>
                                        </p:attrNameLst>
                                      </p:cBhvr>
                                      <p:tavLst>
                                        <p:tav tm="0">
                                          <p:val>
                                            <p:strVal val="0"/>
                                          </p:val>
                                        </p:tav>
                                        <p:tav tm="100000">
                                          <p:val>
                                            <p:strVal val="#ppt_h"/>
                                          </p:val>
                                        </p:tav>
                                      </p:tavLst>
                                    </p:anim>
                                    <p:animEffect transition="in" filter="fade">
                                      <p:cBhvr>
                                        <p:cTn id="47" dur="500"/>
                                        <p:tgtEl>
                                          <p:spTgt spid="10"/>
                                        </p:tgtEl>
                                      </p:cBhvr>
                                    </p:animEffect>
                                  </p:childTnLst>
                                </p:cTn>
                              </p:par>
                            </p:childTnLst>
                          </p:cTn>
                        </p:par>
                        <p:par>
                          <p:cTn id="53" fill="hold">
                            <p:stCondLst>
                              <p:cond delay="385"/>
                            </p:stCondLst>
                            <p:childTnLst>
                              <p:par>
                                <p:cTn id="52" presetID="10"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childTnLst>
                                </p:cTn>
                              </p:par>
                            </p:childTnLst>
                          </p:cTn>
                        </p:par>
                        <p:par>
                          <p:cTn id="59" fill="hold">
                            <p:stCondLst>
                              <p:cond delay="715"/>
                            </p:stCondLst>
                            <p:childTnLst>
                              <p:par>
                                <p:cTn id="58" presetID="53" presetClass="entr" presetSubtype="16" fill="hold"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ppt_w</p:attrName>
                                        </p:attrNameLst>
                                      </p:cBhvr>
                                      <p:tavLst>
                                        <p:tav tm="0">
                                          <p:val>
                                            <p:strVal val="0"/>
                                          </p:val>
                                        </p:tav>
                                        <p:tav tm="100000">
                                          <p:val>
                                            <p:strVal val="#ppt_w"/>
                                          </p:val>
                                        </p:tav>
                                      </p:tavLst>
                                    </p:anim>
                                    <p:anim calcmode="lin" valueType="num">
                                      <p:cBhvr additive="base">
                                        <p:cTn id="56" dur="500" fill="hold"/>
                                        <p:tgtEl>
                                          <p:spTgt spid="12"/>
                                        </p:tgtEl>
                                        <p:attrNameLst>
                                          <p:attrName>ppt_h</p:attrName>
                                        </p:attrNameLst>
                                      </p:cBhvr>
                                      <p:tavLst>
                                        <p:tav tm="0">
                                          <p:val>
                                            <p:strVal val="0"/>
                                          </p:val>
                                        </p:tav>
                                        <p:tav tm="100000">
                                          <p:val>
                                            <p:strVal val="#ppt_h"/>
                                          </p:val>
                                        </p:tav>
                                      </p:tavLst>
                                    </p:anim>
                                    <p:animEffect transition="in" filter="fade">
                                      <p:cBhvr>
                                        <p:cTn id="57" dur="500"/>
                                        <p:tgtEl>
                                          <p:spTgt spid="12"/>
                                        </p:tgtEl>
                                      </p:cBhvr>
                                    </p:animEffect>
                                  </p:childTnLst>
                                </p:cTn>
                              </p:par>
                            </p:childTnLst>
                          </p:cTn>
                        </p:par>
                        <p:par>
                          <p:cTn id="70" fill="hold">
                            <p:stCondLst>
                              <p:cond delay="990"/>
                            </p:stCondLst>
                            <p:childTnLst>
                              <p:par>
                                <p:cTn id="64" presetID="42" presetClass="entr" presetSubtype="0"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700"/>
                                        <p:tgtEl>
                                          <p:spTgt spid="13"/>
                                        </p:tgtEl>
                                      </p:cBhvr>
                                    </p:animEffect>
                                    <p:anim calcmode="lin" valueType="num">
                                      <p:cBhvr additive="base">
                                        <p:cTn id="62" dur="700" fill="hold"/>
                                        <p:tgtEl>
                                          <p:spTgt spid="13"/>
                                        </p:tgtEl>
                                        <p:attrNameLst>
                                          <p:attrName>ppt_x</p:attrName>
                                        </p:attrNameLst>
                                      </p:cBhvr>
                                      <p:tavLst>
                                        <p:tav tm="0">
                                          <p:val>
                                            <p:strVal val="#ppt_x"/>
                                          </p:val>
                                        </p:tav>
                                        <p:tav tm="100000">
                                          <p:val>
                                            <p:strVal val="#ppt_x"/>
                                          </p:val>
                                        </p:tav>
                                      </p:tavLst>
                                    </p:anim>
                                    <p:anim calcmode="lin" valueType="num">
                                      <p:cBhvr additive="base">
                                        <p:cTn id="63" dur="700" fill="hold"/>
                                        <p:tgtEl>
                                          <p:spTgt spid="13"/>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700"/>
                                        <p:tgtEl>
                                          <p:spTgt spid="14"/>
                                        </p:tgtEl>
                                      </p:cBhvr>
                                    </p:animEffect>
                                    <p:anim calcmode="lin" valueType="num">
                                      <p:cBhvr additive="base">
                                        <p:cTn id="67" dur="700" fill="hold"/>
                                        <p:tgtEl>
                                          <p:spTgt spid="14"/>
                                        </p:tgtEl>
                                        <p:attrNameLst>
                                          <p:attrName>ppt_x</p:attrName>
                                        </p:attrNameLst>
                                      </p:cBhvr>
                                      <p:tavLst>
                                        <p:tav tm="0">
                                          <p:val>
                                            <p:strVal val="#ppt_x"/>
                                          </p:val>
                                        </p:tav>
                                        <p:tav tm="100000">
                                          <p:val>
                                            <p:strVal val="#ppt_x"/>
                                          </p:val>
                                        </p:tav>
                                      </p:tavLst>
                                    </p:anim>
                                    <p:anim calcmode="lin" valueType="num">
                                      <p:cBhvr additive="base">
                                        <p:cTn id="68" dur="700" fill="hold"/>
                                        <p:tgtEl>
                                          <p:spTgt spid="14"/>
                                        </p:tgtEl>
                                        <p:attrNameLst>
                                          <p:attrName>ppt_y</p:attrName>
                                        </p:attrNameLst>
                                      </p:cBhvr>
                                      <p:tavLst>
                                        <p:tav tm="0">
                                          <p:val>
                                            <p:strVal val="#ppt_y+.1"/>
                                          </p:val>
                                        </p:tav>
                                        <p:tav tm="100000">
                                          <p:val>
                                            <p:strVal val="#ppt_y"/>
                                          </p:val>
                                        </p:tav>
                                      </p:tavLst>
                                    </p:anim>
                                  </p:childTnLst>
                                </p:cTn>
                              </p:par>
                            </p:childTnLst>
                          </p:cTn>
                        </p:par>
                        <p:par>
                          <p:cTn id="74" fill="hold">
                            <p:stCondLst>
                              <p:cond delay="1375"/>
                            </p:stCondLst>
                            <p:childTnLst>
                              <p:par>
                                <p:cTn id="73" presetID="10" presetClass="entr" presetSubtype="0" fill="hold" grpId="0" nodeType="after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bg" descr="/tmp/claude-0/-home-user-Project-1/c7d0d2a1-f360-54f1-afe5-e7480b814ba9/scratchpad/build/a/bg_ea.jpg">    </p:cNvPr>
          <p:cNvPicPr>
            <a:picLocks noChangeAspect="1"/>
          </p:cNvPicPr>
          <p:nvPr/>
        </p:nvPicPr>
        <p:blipFill>
          <a:blip r:embed="rId1"/>
          <a:stretch>
            <a:fillRect/>
          </a:stretch>
        </p:blipFill>
        <p:spPr>
          <a:xfrm>
            <a:off x="0" y="0"/>
            <a:ext cx="12191695" cy="6858000"/>
          </a:xfrm>
          <a:prstGeom prst="rect">
            <a:avLst/>
          </a:prstGeom>
        </p:spPr>
      </p:pic>
      <p:sp>
        <p:nvSpPr>
          <p:cNvPr id="3" name="zoom:a:1"/>
          <p:cNvSpPr/>
          <p:nvPr/>
        </p:nvSpPr>
        <p:spPr>
          <a:xfrm>
            <a:off x="457200" y="2743200"/>
            <a:ext cx="7040880" cy="3246120"/>
          </a:xfrm>
          <a:prstGeom prst="roundRect">
            <a:avLst>
              <a:gd name="adj" fmla="val 7042"/>
            </a:avLst>
          </a:prstGeom>
          <a:solidFill>
            <a:srgbClr val="0B2545">
              <a:alpha val="78000"/>
            </a:srgbClr>
          </a:solidFill>
          <a:ln w="25400">
            <a:solidFill>
              <a:srgbClr val="00B4D8"/>
            </a:solidFill>
            <a:prstDash val="solid"/>
          </a:ln>
        </p:spPr>
      </p:sp>
      <p:pic>
        <p:nvPicPr>
          <p:cNvPr id="4" name="zoom:a:2" descr="/tmp/claude-0/-home-user-Project-1/c7d0d2a1-f360-54f1-afe5-e7480b814ba9/scratchpad/build/a/l/badge_ea.png">    </p:cNvPr>
          <p:cNvPicPr>
            <a:picLocks noChangeAspect="1"/>
          </p:cNvPicPr>
          <p:nvPr/>
        </p:nvPicPr>
        <p:blipFill>
          <a:blip r:embed="rId2"/>
          <a:stretch>
            <a:fillRect/>
          </a:stretch>
        </p:blipFill>
        <p:spPr>
          <a:xfrm>
            <a:off x="6355080" y="3017520"/>
            <a:ext cx="914400" cy="978408"/>
          </a:xfrm>
          <a:prstGeom prst="rect">
            <a:avLst/>
          </a:prstGeom>
        </p:spPr>
      </p:pic>
      <p:sp>
        <p:nvSpPr>
          <p:cNvPr id="5" name="fade:a:3"/>
          <p:cNvSpPr txBox="1"/>
          <p:nvPr/>
        </p:nvSpPr>
        <p:spPr>
          <a:xfrm>
            <a:off x="731520" y="3063240"/>
            <a:ext cx="5486400" cy="457200"/>
          </a:xfrm>
          <a:prstGeom prst="rect">
            <a:avLst/>
          </a:prstGeom>
          <a:noFill/>
          <a:ln/>
        </p:spPr>
        <p:txBody>
          <a:bodyPr wrap="square" lIns="76200" tIns="152400" rIns="152400" bIns="76200" rtlCol="0" anchor="ctr"/>
          <a:lstStyle/>
          <a:p>
            <a:pPr rtl="1" algn="r" indent="0" marL="0">
              <a:lnSpc>
                <a:spcPct val="105000"/>
              </a:lnSpc>
              <a:buNone/>
            </a:pPr>
            <a:r>
              <a:rPr lang="ar-SA" altLang="en-US" sz="1800" b="1" dirty="0">
                <a:solidFill>
                  <a:srgbClr val="9EEBFF"/>
                </a:solidFill>
                <a:latin typeface="Segoe UI" pitchFamily="34" charset="0"/>
                <a:ea typeface="Segoe UI" pitchFamily="34" charset="-122"/>
                <a:cs typeface="Segoe UI" pitchFamily="34" charset="-120"/>
              </a:rPr>
              <a:t>الدرس [3-2]  •  الميول الدورية</a:t>
            </a:r>
            <a:endParaRPr lang="ar-SA" sz="1800" dirty="0"/>
          </a:p>
        </p:txBody>
      </p:sp>
      <p:sp>
        <p:nvSpPr>
          <p:cNvPr id="6" name="Text 0"/>
          <p:cNvSpPr/>
          <p:nvPr>
            <p:ph idx="100" type="title" hasCustomPrompt="1"/>
          </p:nvPr>
        </p:nvSpPr>
        <p:spPr>
          <a:xfrm>
            <a:off x="731520" y="4343400"/>
            <a:ext cx="6583680" cy="1005840"/>
          </a:xfrm>
          <a:prstGeom prst="rect">
            <a:avLst/>
          </a:prstGeom>
          <a:noFill/>
          <a:ln/>
        </p:spPr>
        <p:txBody>
          <a:bodyPr wrap="square" lIns="0" tIns="0" rIns="0" bIns="0" rtlCol="0" anchor="ctr"/>
          <a:lstStyle/>
          <a:p>
            <a:pPr rtl="1" algn="r" indent="0" marL="0">
              <a:buNone/>
            </a:pPr>
            <a:r>
              <a:rPr lang="en-US" sz="4800" b="1" dirty="0">
                <a:solidFill>
                  <a:srgbClr val="FFFFFF"/>
                </a:solidFill>
                <a:latin typeface="Segoe UI" pitchFamily="34" charset="0"/>
                <a:ea typeface="Segoe UI" pitchFamily="34" charset="-122"/>
                <a:cs typeface="Segoe UI" pitchFamily="34" charset="-120"/>
              </a:rPr>
              <a:t>طاقة الميل الإلكتروني</a:t>
            </a:r>
            <a:endParaRPr lang="en-US" sz="4800" dirty="0"/>
          </a:p>
        </p:txBody>
      </p:sp>
      <p:sp>
        <p:nvSpPr>
          <p:cNvPr id="7" name="fade:a:5"/>
          <p:cNvSpPr txBox="1"/>
          <p:nvPr/>
        </p:nvSpPr>
        <p:spPr>
          <a:xfrm>
            <a:off x="731520" y="5349240"/>
            <a:ext cx="6583680" cy="457200"/>
          </a:xfrm>
          <a:prstGeom prst="rect">
            <a:avLst/>
          </a:prstGeom>
          <a:noFill/>
          <a:ln/>
        </p:spPr>
        <p:txBody>
          <a:bodyPr wrap="square" lIns="76200" tIns="152400" rIns="152400" bIns="76200" rtlCol="0" anchor="ctr"/>
          <a:lstStyle/>
          <a:p>
            <a:pPr algn="r" indent="0" marL="0">
              <a:lnSpc>
                <a:spcPct val="105000"/>
              </a:lnSpc>
              <a:buNone/>
            </a:pPr>
            <a:r>
              <a:rPr lang="en-US" altLang="en-US" sz="2000" dirty="0">
                <a:solidFill>
                  <a:srgbClr val="9EEBFF"/>
                </a:solidFill>
                <a:latin typeface="Segoe UI" pitchFamily="34" charset="0"/>
                <a:ea typeface="Segoe UI" pitchFamily="34" charset="-122"/>
                <a:cs typeface="Segoe UI" pitchFamily="34" charset="-120"/>
              </a:rPr>
              <a:t>Electron Affinity</a:t>
            </a:r>
            <a:endParaRPr lang="en-US" sz="2000" dirty="0"/>
          </a:p>
        </p:txBody>
      </p:sp>
      <p:sp>
        <p:nvSpPr>
          <p:cNvPr id="8" name="zoom:a:6"/>
          <p:cNvSpPr/>
          <p:nvPr/>
        </p:nvSpPr>
        <p:spPr>
          <a:xfrm>
            <a:off x="7744968" y="2509685"/>
            <a:ext cx="4169664" cy="1838630"/>
          </a:xfrm>
          <a:prstGeom prst="roundRect">
            <a:avLst>
              <a:gd name="adj" fmla="val 9947"/>
            </a:avLst>
          </a:prstGeom>
          <a:solidFill>
            <a:srgbClr val="FFFFFF">
              <a:alpha val="70000"/>
            </a:srgbClr>
          </a:solidFill>
          <a:ln w="31750">
            <a:solidFill>
              <a:srgbClr val="00B4D8"/>
            </a:solidFill>
            <a:prstDash val="solid"/>
          </a:ln>
        </p:spPr>
      </p:sp>
      <p:pic>
        <p:nvPicPr>
          <p:cNvPr id="9" name="zoom:w:7" descr="/tmp/claude-0/-home-user-Project-1/c7d0d2a1-f360-54f1-afe5-e7480b814ba9/scratchpad/build/a/h_spark.png">    </p:cNvPr>
          <p:cNvPicPr>
            <a:picLocks noChangeAspect="1"/>
          </p:cNvPicPr>
          <p:nvPr/>
        </p:nvPicPr>
        <p:blipFill>
          <a:blip r:embed="rId3"/>
          <a:stretch>
            <a:fillRect/>
          </a:stretch>
        </p:blipFill>
        <p:spPr>
          <a:xfrm>
            <a:off x="7818120" y="2582837"/>
            <a:ext cx="4023360" cy="16923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childTnLst>
                          </p:cTn>
                        </p:par>
                        <p:par>
                          <p:cTn id="14" fill="hold">
                            <p:stCondLst>
                              <p:cond delay="27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18" fill="hold">
                            <p:stCondLst>
                              <p:cond delay="550"/>
                            </p:stCondLst>
                            <p:childTnLst>
                              <p:par>
                                <p:cTn id="17"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par>
                          <p:cTn id="22" fill="hold">
                            <p:stCondLst>
                              <p:cond delay="880"/>
                            </p:stCondLst>
                            <p:childTnLst>
                              <p:par>
                                <p:cTn id="21"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childTnLst>
                          </p:cTn>
                        </p:par>
                        <p:par>
                          <p:cTn id="33" fill="hold">
                            <p:stCondLst>
                              <p:cond delay="1210"/>
                            </p:stCondLst>
                            <p:childTnLst>
                              <p:par>
                                <p:cTn id="27"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strVal val="0"/>
                                          </p:val>
                                        </p:tav>
                                        <p:tav tm="100000">
                                          <p:val>
                                            <p:strVal val="#ppt_w"/>
                                          </p:val>
                                        </p:tav>
                                      </p:tavLst>
                                    </p:anim>
                                    <p:anim calcmode="lin" valueType="num">
                                      <p:cBhvr additive="base">
                                        <p:cTn id="25" dur="500" fill="hold"/>
                                        <p:tgtEl>
                                          <p:spTgt spid="8"/>
                                        </p:tgtEl>
                                        <p:attrNameLst>
                                          <p:attrName>ppt_h</p:attrName>
                                        </p:attrNameLst>
                                      </p:cBhvr>
                                      <p:tavLst>
                                        <p:tav tm="0">
                                          <p:val>
                                            <p:strVal val="0"/>
                                          </p:val>
                                        </p:tav>
                                        <p:tav tm="100000">
                                          <p:val>
                                            <p:strVal val="#ppt_h"/>
                                          </p:val>
                                        </p:tav>
                                      </p:tavLst>
                                    </p:anim>
                                    <p:animEffect transition="in" filter="fade">
                                      <p:cBhvr>
                                        <p:cTn id="26" dur="500"/>
                                        <p:tgtEl>
                                          <p:spTgt spid="8"/>
                                        </p:tgtEl>
                                      </p:cBhvr>
                                    </p:animEffect>
                                  </p:childTnLst>
                                </p:cTn>
                              </p:par>
                              <p:par>
                                <p:cTn id="32" presetID="53" presetClass="entr" presetSubtype="16"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ppt_w</p:attrName>
                                        </p:attrNameLst>
                                      </p:cBhvr>
                                      <p:tavLst>
                                        <p:tav tm="0">
                                          <p:val>
                                            <p:strVal val="0"/>
                                          </p:val>
                                        </p:tav>
                                        <p:tav tm="100000">
                                          <p:val>
                                            <p:strVal val="#ppt_w"/>
                                          </p:val>
                                        </p:tav>
                                      </p:tavLst>
                                    </p:anim>
                                    <p:anim calcmode="lin" valueType="num">
                                      <p:cBhvr additive="base">
                                        <p:cTn id="30" dur="500" fill="hold"/>
                                        <p:tgtEl>
                                          <p:spTgt spid="9"/>
                                        </p:tgtEl>
                                        <p:attrNameLst>
                                          <p:attrName>ppt_h</p:attrName>
                                        </p:attrNameLst>
                                      </p:cBhvr>
                                      <p:tavLst>
                                        <p:tav tm="0">
                                          <p:val>
                                            <p:strVal val="0"/>
                                          </p:val>
                                        </p:tav>
                                        <p:tav tm="100000">
                                          <p:val>
                                            <p:strVal val="#ppt_h"/>
                                          </p:val>
                                        </p:tav>
                                      </p:tavLst>
                                    </p:anim>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وماذا لو اكتسبت الذرة إلكترونًا؟</a:t>
            </a:r>
            <a:endParaRPr lang="en-US" sz="2800" dirty="0"/>
          </a:p>
        </p:txBody>
      </p:sp>
      <p:sp>
        <p:nvSpPr>
          <p:cNvPr id="3" name="float:a:2"/>
          <p:cNvSpPr/>
          <p:nvPr/>
        </p:nvSpPr>
        <p:spPr>
          <a:xfrm>
            <a:off x="4389120" y="1325880"/>
            <a:ext cx="7406640" cy="1463040"/>
          </a:xfrm>
          <a:prstGeom prst="roundRect">
            <a:avLst>
              <a:gd name="adj" fmla="val 875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علمت أنّ الذرة عندما تفقد إلكترونًا وتكوّن أيونًا موجبًا (كاتيونًا) يلزمها طاقة تسمى </a:t>
            </a:r>
            <a:pPr rtl="1" algn="r" indent="0" marL="0">
              <a:lnSpc>
                <a:spcPct val="105000"/>
              </a:lnSpc>
              <a:buNone/>
            </a:pPr>
            <a:r>
              <a:rPr lang="ar-SA" altLang="en-US" sz="1800" b="1" dirty="0">
                <a:solidFill>
                  <a:srgbClr val="7C3AED"/>
                </a:solidFill>
                <a:latin typeface="Segoe UI" pitchFamily="34" charset="0"/>
                <a:ea typeface="Segoe UI" pitchFamily="34" charset="-122"/>
                <a:cs typeface="Segoe UI" pitchFamily="34" charset="-120"/>
              </a:rPr>
              <a:t>طاقة التأين.</a:t>
            </a:r>
            <a:pPr rtl="1" algn="r" indent="0" marL="0">
              <a:lnSpc>
                <a:spcPct val="105000"/>
              </a:lnSpc>
              <a:buNone/>
            </a:pPr>
            <a:endParaRPr lang="ar-SA" sz="1800" dirty="0"/>
          </a:p>
          <a:p>
            <a:pPr rtl="1" algn="r" indent="0" marL="0">
              <a:lnSpc>
                <a:spcPct val="105000"/>
              </a:lnSpc>
              <a:buNone/>
            </a:pPr>
            <a:r>
              <a:rPr lang="ar-SA" altLang="en-US" sz="1800" b="1" dirty="0">
                <a:solidFill>
                  <a:srgbClr val="0D9488"/>
                </a:solidFill>
                <a:latin typeface="Segoe UI" pitchFamily="34" charset="0"/>
                <a:ea typeface="Segoe UI" pitchFamily="34" charset="-122"/>
                <a:cs typeface="Segoe UI" pitchFamily="34" charset="-120"/>
              </a:rPr>
              <a:t>فماذا يحدث للذرة عندما تكتسب إلكترونًا؟</a:t>
            </a:r>
            <a:endParaRPr lang="ar-SA" sz="1800" dirty="0"/>
          </a:p>
        </p:txBody>
      </p:sp>
      <p:pic>
        <p:nvPicPr>
          <p:cNvPr id="4" name="zoom:a:3" descr="h_eagain.png">    </p:cNvPr>
          <p:cNvPicPr>
            <a:picLocks noChangeAspect="1"/>
          </p:cNvPicPr>
          <p:nvPr/>
        </p:nvPicPr>
        <p:blipFill>
          <a:blip r:embed="rId1"/>
          <a:stretch>
            <a:fillRect/>
          </a:stretch>
        </p:blipFill>
        <p:spPr>
          <a:xfrm>
            <a:off x="411480" y="1535306"/>
            <a:ext cx="3749040" cy="2415788"/>
          </a:xfrm>
          <a:prstGeom prst="rect">
            <a:avLst/>
          </a:prstGeom>
        </p:spPr>
      </p:pic>
      <p:sp>
        <p:nvSpPr>
          <p:cNvPr id="5" name="float:c:4"/>
          <p:cNvSpPr/>
          <p:nvPr/>
        </p:nvSpPr>
        <p:spPr>
          <a:xfrm>
            <a:off x="4389120" y="2971800"/>
            <a:ext cx="7406640" cy="1417320"/>
          </a:xfrm>
          <a:prstGeom prst="roundRect">
            <a:avLst>
              <a:gd name="adj" fmla="val 9032"/>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من الممكن إضافة إلكترون واحد أو أكثر إلى الذرة، تُنتج هذه العملية أيونًا يحمل </a:t>
            </a:r>
            <a:pPr rtl="1" algn="r" indent="0" marL="0">
              <a:lnSpc>
                <a:spcPct val="105000"/>
              </a:lnSpc>
              <a:buNone/>
            </a:pPr>
            <a:r>
              <a:rPr lang="ar-SA" altLang="en-US" sz="1700" b="1" dirty="0">
                <a:solidFill>
                  <a:srgbClr val="0D9488"/>
                </a:solidFill>
                <a:latin typeface="Segoe UI" pitchFamily="34" charset="0"/>
                <a:ea typeface="Segoe UI" pitchFamily="34" charset="-122"/>
                <a:cs typeface="Segoe UI" pitchFamily="34" charset="-120"/>
              </a:rPr>
              <a:t>شحنة سالبة (أنيون).</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ولكي يحدث ذلك تنطلق أو تمتص من الذرة طاقة تسمى </a:t>
            </a:r>
            <a:pPr rtl="1" algn="r" indent="0" marL="0">
              <a:lnSpc>
                <a:spcPct val="105000"/>
              </a:lnSpc>
              <a:buNone/>
            </a:pPr>
            <a:r>
              <a:rPr lang="ar-SA" altLang="en-US" sz="1700" b="1" dirty="0">
                <a:solidFill>
                  <a:srgbClr val="0D9488"/>
                </a:solidFill>
                <a:latin typeface="Segoe UI" pitchFamily="34" charset="0"/>
                <a:ea typeface="Segoe UI" pitchFamily="34" charset="-122"/>
                <a:cs typeface="Segoe UI" pitchFamily="34" charset="-120"/>
              </a:rPr>
              <a:t>طاقة الميل الإلكتروني.</a:t>
            </a:r>
            <a:endParaRPr lang="ar-SA" sz="1700" dirty="0"/>
          </a:p>
        </p:txBody>
      </p:sp>
      <p:pic>
        <p:nvPicPr>
          <p:cNvPr id="6" name="zoom:a:5" descr="l/anion.png">    </p:cNvPr>
          <p:cNvPicPr>
            <a:picLocks noChangeAspect="1"/>
          </p:cNvPicPr>
          <p:nvPr/>
        </p:nvPicPr>
        <p:blipFill>
          <a:blip r:embed="rId2"/>
          <a:stretch>
            <a:fillRect/>
          </a:stretch>
        </p:blipFill>
        <p:spPr>
          <a:xfrm>
            <a:off x="548640" y="4359230"/>
            <a:ext cx="3474720" cy="1157061"/>
          </a:xfrm>
          <a:prstGeom prst="rect">
            <a:avLst/>
          </a:prstGeom>
        </p:spPr>
      </p:pic>
      <p:sp>
        <p:nvSpPr>
          <p:cNvPr id="7" name="float:c:6"/>
          <p:cNvSpPr/>
          <p:nvPr/>
        </p:nvSpPr>
        <p:spPr>
          <a:xfrm>
            <a:off x="8595360" y="4617720"/>
            <a:ext cx="3200400" cy="548640"/>
          </a:xfrm>
          <a:prstGeom prst="roundRect">
            <a:avLst>
              <a:gd name="adj" fmla="val 50000"/>
            </a:avLst>
          </a:prstGeom>
          <a:solidFill>
            <a:srgbClr val="0D9488"/>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طاقة الميل الإلكتروني</a:t>
            </a:r>
            <a:endParaRPr lang="ar-SA" sz="1700" dirty="0"/>
          </a:p>
        </p:txBody>
      </p:sp>
      <p:sp>
        <p:nvSpPr>
          <p:cNvPr id="8" name="float:w:7"/>
          <p:cNvSpPr/>
          <p:nvPr/>
        </p:nvSpPr>
        <p:spPr>
          <a:xfrm>
            <a:off x="4389120" y="5303520"/>
            <a:ext cx="7406640" cy="1097280"/>
          </a:xfrm>
          <a:prstGeom prst="roundRect">
            <a:avLst>
              <a:gd name="adj" fmla="val 11667"/>
            </a:avLst>
          </a:prstGeom>
          <a:solidFill>
            <a:srgbClr val="FFFFFF">
              <a:alpha val="90000"/>
            </a:srgbClr>
          </a:solidFill>
          <a:ln w="15875">
            <a:solidFill>
              <a:srgbClr val="0D9488"/>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b="1" dirty="0">
                <a:solidFill>
                  <a:srgbClr val="0B2545"/>
                </a:solidFill>
                <a:latin typeface="Segoe UI" pitchFamily="34" charset="0"/>
                <a:ea typeface="Segoe UI" pitchFamily="34" charset="-122"/>
                <a:cs typeface="Segoe UI" pitchFamily="34" charset="-120"/>
              </a:rPr>
              <a:t>«مقدار الطاقة المنطلقة أو الممتصة من الذرة وهي في الحالة الغازية عندما تكتسب إلكترونًا أو أكثر».</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childTnLst>
                    </p:cTn>
                  </p:par>
                  <p:par>
                    <p:cTn id="28" fill="hold">
                      <p:stCondLst>
                        <p:cond delay="indefinite"/>
                      </p:stCondLst>
                      <p:childTnLst>
                        <p:par>
                          <p:cTn id="21" fill="hold">
                            <p:stCondLst>
                              <p:cond delay="0"/>
                            </p:stCondLst>
                            <p:childTnLst>
                              <p:par>
                                <p:cTn id="20"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p:tgtEl>
                                          <p:spTgt spid="5"/>
                                        </p:tgtEl>
                                        <p:attrNameLst>
                                          <p:attrName>ppt_x</p:attrName>
                                        </p:attrNameLst>
                                      </p:cBhvr>
                                      <p:tavLst>
                                        <p:tav tm="0">
                                          <p:val>
                                            <p:strVal val="#ppt_x"/>
                                          </p:val>
                                        </p:tav>
                                        <p:tav tm="100000">
                                          <p:val>
                                            <p:strVal val="#ppt_x"/>
                                          </p:val>
                                        </p:tav>
                                      </p:tavLst>
                                    </p:anim>
                                    <p:anim calcmode="lin" valueType="num">
                                      <p:cBhvr additive="base">
                                        <p:cTn id="19" dur="70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385"/>
                            </p:stCondLst>
                            <p:childTnLst>
                              <p:par>
                                <p:cTn id="26" presetID="53" presetClass="entr" presetSubtype="16"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ppt_w</p:attrName>
                                        </p:attrNameLst>
                                      </p:cBhvr>
                                      <p:tavLst>
                                        <p:tav tm="0">
                                          <p:val>
                                            <p:strVal val="0"/>
                                          </p:val>
                                        </p:tav>
                                        <p:tav tm="100000">
                                          <p:val>
                                            <p:strVal val="#ppt_w"/>
                                          </p:val>
                                        </p:tav>
                                      </p:tavLst>
                                    </p:anim>
                                    <p:anim calcmode="lin" valueType="num">
                                      <p:cBhvr additive="base">
                                        <p:cTn id="24" dur="500" fill="hold"/>
                                        <p:tgtEl>
                                          <p:spTgt spid="6"/>
                                        </p:tgtEl>
                                        <p:attrNameLst>
                                          <p:attrName>ppt_h</p:attrName>
                                        </p:attrNameLst>
                                      </p:cBhvr>
                                      <p:tavLst>
                                        <p:tav tm="0">
                                          <p:val>
                                            <p:strVal val="0"/>
                                          </p:val>
                                        </p:tav>
                                        <p:tav tm="100000">
                                          <p:val>
                                            <p:strVal val="#ppt_h"/>
                                          </p:val>
                                        </p:tav>
                                      </p:tavLst>
                                    </p:anim>
                                    <p:animEffect transition="in" filter="fade">
                                      <p:cBhvr>
                                        <p:cTn id="25" dur="500"/>
                                        <p:tgtEl>
                                          <p:spTgt spid="6"/>
                                        </p:tgtEl>
                                      </p:cBhvr>
                                    </p:animEffect>
                                  </p:childTnLst>
                                </p:cTn>
                              </p:par>
                            </p:childTnLst>
                          </p:cTn>
                        </p:par>
                      </p:childTnLst>
                    </p:cTn>
                  </p:par>
                  <p:par>
                    <p:cTn id="40" fill="hold">
                      <p:stCondLst>
                        <p:cond delay="indefinite"/>
                      </p:stCondLst>
                      <p:childTnLst>
                        <p:par>
                          <p:cTn id="39" fill="hold">
                            <p:stCondLst>
                              <p:cond delay="0"/>
                            </p:stCondLst>
                            <p:childTnLst>
                              <p:par>
                                <p:cTn id="33" presetID="42"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additive="base">
                                        <p:cTn id="31" dur="700" fill="hold"/>
                                        <p:tgtEl>
                                          <p:spTgt spid="7"/>
                                        </p:tgtEl>
                                        <p:attrNameLst>
                                          <p:attrName>ppt_x</p:attrName>
                                        </p:attrNameLst>
                                      </p:cBhvr>
                                      <p:tavLst>
                                        <p:tav tm="0">
                                          <p:val>
                                            <p:strVal val="#ppt_x"/>
                                          </p:val>
                                        </p:tav>
                                        <p:tav tm="100000">
                                          <p:val>
                                            <p:strVal val="#ppt_x"/>
                                          </p:val>
                                        </p:tav>
                                      </p:tavLst>
                                    </p:anim>
                                    <p:anim calcmode="lin" valueType="num">
                                      <p:cBhvr additive="base">
                                        <p:cTn id="32" dur="700" fill="hold"/>
                                        <p:tgtEl>
                                          <p:spTgt spid="7"/>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700"/>
                                        <p:tgtEl>
                                          <p:spTgt spid="8"/>
                                        </p:tgtEl>
                                      </p:cBhvr>
                                    </p:animEffect>
                                    <p:anim calcmode="lin" valueType="num">
                                      <p:cBhvr additive="base">
                                        <p:cTn id="36" dur="700" fill="hold"/>
                                        <p:tgtEl>
                                          <p:spTgt spid="8"/>
                                        </p:tgtEl>
                                        <p:attrNameLst>
                                          <p:attrName>ppt_x</p:attrName>
                                        </p:attrNameLst>
                                      </p:cBhvr>
                                      <p:tavLst>
                                        <p:tav tm="0">
                                          <p:val>
                                            <p:strVal val="#ppt_x"/>
                                          </p:val>
                                        </p:tav>
                                        <p:tav tm="100000">
                                          <p:val>
                                            <p:strVal val="#ppt_x"/>
                                          </p:val>
                                        </p:tav>
                                      </p:tavLst>
                                    </p:anim>
                                    <p:anim calcmode="lin" valueType="num">
                                      <p:cBhvr additive="base">
                                        <p:cTn id="37" dur="7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معادلة الميل الإلكتروني</a:t>
            </a:r>
            <a:endParaRPr lang="en-US" sz="2800" dirty="0"/>
          </a:p>
        </p:txBody>
      </p:sp>
      <p:sp>
        <p:nvSpPr>
          <p:cNvPr id="3" name="zoom:a:2"/>
          <p:cNvSpPr/>
          <p:nvPr/>
        </p:nvSpPr>
        <p:spPr>
          <a:xfrm>
            <a:off x="1446124" y="1463040"/>
            <a:ext cx="1463040" cy="731520"/>
          </a:xfrm>
          <a:prstGeom prst="roundRect">
            <a:avLst>
              <a:gd name="adj" fmla="val 20000"/>
            </a:avLst>
          </a:prstGeom>
          <a:solidFill>
            <a:srgbClr val="FFFFFF">
              <a:alpha val="95000"/>
            </a:srgbClr>
          </a:solidFill>
          <a:ln w="25400">
            <a:solidFill>
              <a:srgbClr val="0D9488"/>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X(g)</a:t>
            </a:r>
            <a:endParaRPr lang="en-US" sz="2400" dirty="0"/>
          </a:p>
        </p:txBody>
      </p:sp>
      <p:sp>
        <p:nvSpPr>
          <p:cNvPr id="4" name="fade:w:3"/>
          <p:cNvSpPr txBox="1"/>
          <p:nvPr/>
        </p:nvSpPr>
        <p:spPr>
          <a:xfrm>
            <a:off x="1263244" y="2249424"/>
            <a:ext cx="1828800" cy="411480"/>
          </a:xfrm>
          <a:prstGeom prst="rect">
            <a:avLst/>
          </a:prstGeom>
          <a:noFill/>
          <a:ln/>
        </p:spPr>
        <p:txBody>
          <a:bodyPr wrap="square" lIns="0" tIns="0" rIns="0" bIns="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ذرة متعادلة</a:t>
            </a:r>
            <a:endParaRPr lang="ar-SA" sz="1400" dirty="0"/>
          </a:p>
        </p:txBody>
      </p:sp>
      <p:sp>
        <p:nvSpPr>
          <p:cNvPr id="5" name="zoom:a:4"/>
          <p:cNvSpPr txBox="1"/>
          <p:nvPr/>
        </p:nvSpPr>
        <p:spPr>
          <a:xfrm>
            <a:off x="3018892" y="1463040"/>
            <a:ext cx="502920" cy="731520"/>
          </a:xfrm>
          <a:prstGeom prst="rect">
            <a:avLst/>
          </a:prstGeom>
          <a:noFill/>
          <a:ln/>
        </p:spPr>
        <p:txBody>
          <a:bodyPr wrap="square" lIns="0" tIns="0" rIns="0" bIns="0" rtlCol="0" anchor="ctr"/>
          <a:lstStyle/>
          <a:p>
            <a:pPr algn="ctr" indent="0" marL="0">
              <a:lnSpc>
                <a:spcPct val="105000"/>
              </a:lnSpc>
              <a:buNone/>
            </a:pPr>
            <a:r>
              <a:rPr lang="en-US" altLang="en-US" sz="2800" b="1" dirty="0">
                <a:solidFill>
                  <a:srgbClr val="0D9488"/>
                </a:solidFill>
                <a:latin typeface="Segoe UI" pitchFamily="34" charset="0"/>
                <a:ea typeface="Segoe UI" pitchFamily="34" charset="-122"/>
                <a:cs typeface="Segoe UI" pitchFamily="34" charset="-120"/>
              </a:rPr>
              <a:t>+</a:t>
            </a:r>
            <a:endParaRPr lang="en-US" sz="2800" dirty="0"/>
          </a:p>
        </p:txBody>
      </p:sp>
      <p:sp>
        <p:nvSpPr>
          <p:cNvPr id="6" name="zoom:a:5"/>
          <p:cNvSpPr/>
          <p:nvPr/>
        </p:nvSpPr>
        <p:spPr>
          <a:xfrm>
            <a:off x="3631540" y="1463040"/>
            <a:ext cx="1097280" cy="731520"/>
          </a:xfrm>
          <a:prstGeom prst="roundRect">
            <a:avLst>
              <a:gd name="adj" fmla="val 20000"/>
            </a:avLst>
          </a:prstGeom>
          <a:solidFill>
            <a:srgbClr val="FFFFFF">
              <a:alpha val="95000"/>
            </a:srgbClr>
          </a:solidFill>
          <a:ln w="25400">
            <a:solidFill>
              <a:srgbClr val="0D9488"/>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e</a:t>
            </a:r>
            <a:pPr algn="ctr" indent="0" marL="0">
              <a:lnSpc>
                <a:spcPct val="105000"/>
              </a:lnSpc>
              <a:buNone/>
            </a:pPr>
            <a:r>
              <a:rPr lang="en-US" altLang="en-US" sz="2400" b="1" baseline="30000" dirty="0">
                <a:solidFill>
                  <a:srgbClr val="0B2545"/>
                </a:solidFill>
                <a:latin typeface="Segoe UI" pitchFamily="34" charset="0"/>
                <a:ea typeface="Segoe UI" pitchFamily="34" charset="-122"/>
                <a:cs typeface="Segoe UI" pitchFamily="34" charset="-120"/>
              </a:rPr>
              <a:t>-</a:t>
            </a:r>
            <a:endParaRPr lang="en-US" sz="2400" dirty="0"/>
          </a:p>
        </p:txBody>
      </p:sp>
      <p:sp>
        <p:nvSpPr>
          <p:cNvPr id="7" name="fade:w:6"/>
          <p:cNvSpPr txBox="1"/>
          <p:nvPr/>
        </p:nvSpPr>
        <p:spPr>
          <a:xfrm>
            <a:off x="3448660" y="2249424"/>
            <a:ext cx="1463040" cy="411480"/>
          </a:xfrm>
          <a:prstGeom prst="rect">
            <a:avLst/>
          </a:prstGeom>
          <a:noFill/>
          <a:ln/>
        </p:spPr>
        <p:txBody>
          <a:bodyPr wrap="square" lIns="0" tIns="0" rIns="0" bIns="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إلكترون</a:t>
            </a:r>
            <a:endParaRPr lang="ar-SA" sz="1400" dirty="0"/>
          </a:p>
        </p:txBody>
      </p:sp>
      <p:sp>
        <p:nvSpPr>
          <p:cNvPr id="8" name="zoom:a:7"/>
          <p:cNvSpPr txBox="1"/>
          <p:nvPr/>
        </p:nvSpPr>
        <p:spPr>
          <a:xfrm>
            <a:off x="4838548" y="1463040"/>
            <a:ext cx="502920" cy="731520"/>
          </a:xfrm>
          <a:prstGeom prst="rect">
            <a:avLst/>
          </a:prstGeom>
          <a:noFill/>
          <a:ln/>
        </p:spPr>
        <p:txBody>
          <a:bodyPr wrap="square" lIns="0" tIns="0" rIns="0" bIns="0" rtlCol="0" anchor="ctr"/>
          <a:lstStyle/>
          <a:p>
            <a:pPr algn="ctr" indent="0" marL="0">
              <a:lnSpc>
                <a:spcPct val="105000"/>
              </a:lnSpc>
              <a:buNone/>
            </a:pPr>
            <a:r>
              <a:rPr lang="en-US" altLang="en-US" sz="2800" b="1" dirty="0">
                <a:solidFill>
                  <a:srgbClr val="0D9488"/>
                </a:solidFill>
                <a:latin typeface="Segoe UI" pitchFamily="34" charset="0"/>
                <a:ea typeface="Segoe UI" pitchFamily="34" charset="-122"/>
                <a:cs typeface="Segoe UI" pitchFamily="34" charset="-120"/>
              </a:rPr>
              <a:t>→</a:t>
            </a:r>
            <a:endParaRPr lang="en-US" sz="2800" dirty="0"/>
          </a:p>
        </p:txBody>
      </p:sp>
      <p:sp>
        <p:nvSpPr>
          <p:cNvPr id="9" name="zoom:a:8"/>
          <p:cNvSpPr/>
          <p:nvPr/>
        </p:nvSpPr>
        <p:spPr>
          <a:xfrm>
            <a:off x="5451196" y="1463040"/>
            <a:ext cx="1645920" cy="731520"/>
          </a:xfrm>
          <a:prstGeom prst="roundRect">
            <a:avLst>
              <a:gd name="adj" fmla="val 20000"/>
            </a:avLst>
          </a:prstGeom>
          <a:solidFill>
            <a:srgbClr val="FFFFFF">
              <a:alpha val="95000"/>
            </a:srgbClr>
          </a:solidFill>
          <a:ln w="25400">
            <a:solidFill>
              <a:srgbClr val="0D9488"/>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b="1" baseline="30000" dirty="0">
                <a:solidFill>
                  <a:srgbClr val="0B2545"/>
                </a:solidFill>
                <a:latin typeface="Segoe UI" pitchFamily="34" charset="0"/>
                <a:ea typeface="Segoe UI" pitchFamily="34" charset="-122"/>
                <a:cs typeface="Segoe UI" pitchFamily="34" charset="-120"/>
              </a:rPr>
              <a:t>-</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(g)</a:t>
            </a:r>
            <a:endParaRPr lang="en-US" sz="2400" dirty="0"/>
          </a:p>
        </p:txBody>
      </p:sp>
      <p:sp>
        <p:nvSpPr>
          <p:cNvPr id="10" name="fade:w:9"/>
          <p:cNvSpPr txBox="1"/>
          <p:nvPr/>
        </p:nvSpPr>
        <p:spPr>
          <a:xfrm>
            <a:off x="5268316" y="2249424"/>
            <a:ext cx="2011680" cy="411480"/>
          </a:xfrm>
          <a:prstGeom prst="rect">
            <a:avLst/>
          </a:prstGeom>
          <a:noFill/>
          <a:ln/>
        </p:spPr>
        <p:txBody>
          <a:bodyPr wrap="square" lIns="0" tIns="0" rIns="0" bIns="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أنيون أحادي الشحنة</a:t>
            </a:r>
            <a:endParaRPr lang="ar-SA" sz="1400" dirty="0"/>
          </a:p>
        </p:txBody>
      </p:sp>
      <p:sp>
        <p:nvSpPr>
          <p:cNvPr id="11" name="zoom:a:10"/>
          <p:cNvSpPr txBox="1"/>
          <p:nvPr/>
        </p:nvSpPr>
        <p:spPr>
          <a:xfrm>
            <a:off x="7206844" y="1463040"/>
            <a:ext cx="502920" cy="731520"/>
          </a:xfrm>
          <a:prstGeom prst="rect">
            <a:avLst/>
          </a:prstGeom>
          <a:noFill/>
          <a:ln/>
        </p:spPr>
        <p:txBody>
          <a:bodyPr wrap="square" lIns="0" tIns="0" rIns="0" bIns="0" rtlCol="0" anchor="ctr"/>
          <a:lstStyle/>
          <a:p>
            <a:pPr algn="ctr" indent="0" marL="0">
              <a:lnSpc>
                <a:spcPct val="105000"/>
              </a:lnSpc>
              <a:buNone/>
            </a:pPr>
            <a:r>
              <a:rPr lang="en-US" altLang="en-US" sz="2800" b="1" dirty="0">
                <a:solidFill>
                  <a:srgbClr val="0D9488"/>
                </a:solidFill>
                <a:latin typeface="Segoe UI" pitchFamily="34" charset="0"/>
                <a:ea typeface="Segoe UI" pitchFamily="34" charset="-122"/>
                <a:cs typeface="Segoe UI" pitchFamily="34" charset="-120"/>
              </a:rPr>
              <a:t>+</a:t>
            </a:r>
            <a:endParaRPr lang="en-US" sz="2800" dirty="0"/>
          </a:p>
        </p:txBody>
      </p:sp>
      <p:sp>
        <p:nvSpPr>
          <p:cNvPr id="12" name="zoom:a:11"/>
          <p:cNvSpPr/>
          <p:nvPr/>
        </p:nvSpPr>
        <p:spPr>
          <a:xfrm>
            <a:off x="7819492" y="1463040"/>
            <a:ext cx="2926080" cy="731520"/>
          </a:xfrm>
          <a:prstGeom prst="roundRect">
            <a:avLst>
              <a:gd name="adj" fmla="val 20000"/>
            </a:avLst>
          </a:prstGeom>
          <a:solidFill>
            <a:srgbClr val="0D9488"/>
          </a:solidFill>
          <a:ln w="25400">
            <a:solidFill>
              <a:srgbClr val="0D9488"/>
            </a:solidFill>
          </a:ln>
          <a:effectLst>
            <a:outerShdw sx="100000" sy="100000" kx="0" ky="0" algn="bl" rotWithShape="0" blurRad="101600" dist="25400" dir="5400000">
              <a:srgbClr val="0B2545">
                <a:alpha val="18000"/>
              </a:srgbClr>
            </a:outerShdw>
          </a:effectLst>
        </p:spPr>
        <p:txBody>
          <a:bodyPr wrap="square" lIns="25400" tIns="25400" rIns="25400" bIns="254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طاقة الميل الإلكتروني</a:t>
            </a:r>
            <a:endParaRPr lang="ar-SA" sz="1800" dirty="0"/>
          </a:p>
        </p:txBody>
      </p:sp>
      <p:sp>
        <p:nvSpPr>
          <p:cNvPr id="13" name="float:c:12"/>
          <p:cNvSpPr/>
          <p:nvPr/>
        </p:nvSpPr>
        <p:spPr>
          <a:xfrm>
            <a:off x="4846320" y="3108960"/>
            <a:ext cx="6949440" cy="3108960"/>
          </a:xfrm>
          <a:prstGeom prst="roundRect">
            <a:avLst>
              <a:gd name="adj" fmla="val 411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بشكل عام وبفرض عدم وجود استثناءات، </a:t>
            </a:r>
            <a:pPr rtl="1" algn="r" indent="0" marL="0">
              <a:lnSpc>
                <a:spcPct val="105000"/>
              </a:lnSpc>
              <a:buNone/>
            </a:pPr>
            <a:r>
              <a:rPr lang="ar-SA" altLang="en-US" sz="1900" b="1" dirty="0">
                <a:solidFill>
                  <a:srgbClr val="0D9488"/>
                </a:solidFill>
                <a:latin typeface="Segoe UI" pitchFamily="34" charset="0"/>
                <a:ea typeface="Segoe UI" pitchFamily="34" charset="-122"/>
                <a:cs typeface="Segoe UI" pitchFamily="34" charset="-120"/>
              </a:rPr>
              <a:t>كلما زادت قوة جذب النواة للإلكترونات</a:t>
            </a:r>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 كان من السهل على النواة جذب الإلكترون المضاف مما يؤدي إلى </a:t>
            </a:r>
            <a:pPr rtl="1" algn="r" indent="0" marL="0">
              <a:lnSpc>
                <a:spcPct val="105000"/>
              </a:lnSpc>
              <a:buNone/>
            </a:pPr>
            <a:r>
              <a:rPr lang="ar-SA" altLang="en-US" sz="1900" b="1" dirty="0">
                <a:solidFill>
                  <a:srgbClr val="0D9488"/>
                </a:solidFill>
                <a:latin typeface="Segoe UI" pitchFamily="34" charset="0"/>
                <a:ea typeface="Segoe UI" pitchFamily="34" charset="-122"/>
                <a:cs typeface="Segoe UI" pitchFamily="34" charset="-120"/>
              </a:rPr>
              <a:t>زيادة طاقة الميل الإلكتروني</a:t>
            </a:r>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 مع الأخذ في الاعتبار تأثير التنافر بين الإلكترونات الموجودة والإلكترون المضاف.</a:t>
            </a:r>
            <a:endParaRPr lang="ar-SA" sz="1900" dirty="0"/>
          </a:p>
        </p:txBody>
      </p:sp>
      <p:pic>
        <p:nvPicPr>
          <p:cNvPr id="14" name="zoom:a:13" descr="h_eagain.png">    </p:cNvPr>
          <p:cNvPicPr>
            <a:picLocks noChangeAspect="1"/>
          </p:cNvPicPr>
          <p:nvPr/>
        </p:nvPicPr>
        <p:blipFill>
          <a:blip r:embed="rId1"/>
          <a:stretch>
            <a:fillRect/>
          </a:stretch>
        </p:blipFill>
        <p:spPr>
          <a:xfrm>
            <a:off x="411480" y="3353962"/>
            <a:ext cx="4206240" cy="27103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11"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childTnLst>
                          </p:cTn>
                        </p:par>
                        <p:par>
                          <p:cTn id="17" fill="hold">
                            <p:stCondLst>
                              <p:cond delay="330"/>
                            </p:stCondLst>
                            <p:childTnLst>
                              <p:par>
                                <p:cTn id="16"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ppt_w</p:attrName>
                                        </p:attrNameLst>
                                      </p:cBhvr>
                                      <p:tavLst>
                                        <p:tav tm="0">
                                          <p:val>
                                            <p:strVal val="0"/>
                                          </p:val>
                                        </p:tav>
                                        <p:tav tm="100000">
                                          <p:val>
                                            <p:strVal val="#ppt_w"/>
                                          </p:val>
                                        </p:tav>
                                      </p:tavLst>
                                    </p:anim>
                                    <p:anim calcmode="lin" valueType="num">
                                      <p:cBhvr additive="base">
                                        <p:cTn id="14" dur="500" fill="hold"/>
                                        <p:tgtEl>
                                          <p:spTgt spid="5"/>
                                        </p:tgtEl>
                                        <p:attrNameLst>
                                          <p:attrName>ppt_h</p:attrName>
                                        </p:attrNameLst>
                                      </p:cBhvr>
                                      <p:tavLst>
                                        <p:tav tm="0">
                                          <p:val>
                                            <p:strVal val="0"/>
                                          </p:val>
                                        </p:tav>
                                        <p:tav tm="100000">
                                          <p:val>
                                            <p:strVal val="#ppt_h"/>
                                          </p:val>
                                        </p:tav>
                                      </p:tavLst>
                                    </p:anim>
                                    <p:animEffect transition="in" filter="fade">
                                      <p:cBhvr>
                                        <p:cTn id="15" dur="500"/>
                                        <p:tgtEl>
                                          <p:spTgt spid="5"/>
                                        </p:tgtEl>
                                      </p:cBhvr>
                                    </p:animEffect>
                                  </p:childTnLst>
                                </p:cTn>
                              </p:par>
                            </p:childTnLst>
                          </p:cTn>
                        </p:par>
                        <p:par>
                          <p:cTn id="26" fill="hold">
                            <p:stCondLst>
                              <p:cond delay="605"/>
                            </p:stCondLst>
                            <p:childTnLst>
                              <p:par>
                                <p:cTn id="22" presetID="53" presetClass="entr" presetSubtype="1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ppt_w</p:attrName>
                                        </p:attrNameLst>
                                      </p:cBhvr>
                                      <p:tavLst>
                                        <p:tav tm="0">
                                          <p:val>
                                            <p:strVal val="0"/>
                                          </p:val>
                                        </p:tav>
                                        <p:tav tm="100000">
                                          <p:val>
                                            <p:strVal val="#ppt_w"/>
                                          </p:val>
                                        </p:tav>
                                      </p:tavLst>
                                    </p:anim>
                                    <p:anim calcmode="lin" valueType="num">
                                      <p:cBhvr additive="base">
                                        <p:cTn id="20" dur="500" fill="hold"/>
                                        <p:tgtEl>
                                          <p:spTgt spid="6"/>
                                        </p:tgtEl>
                                        <p:attrNameLst>
                                          <p:attrName>ppt_h</p:attrName>
                                        </p:attrNameLst>
                                      </p:cBhvr>
                                      <p:tavLst>
                                        <p:tav tm="0">
                                          <p:val>
                                            <p:strVal val="0"/>
                                          </p:val>
                                        </p:tav>
                                        <p:tav tm="100000">
                                          <p:val>
                                            <p:strVal val="#ppt_h"/>
                                          </p:val>
                                        </p:tav>
                                      </p:tavLst>
                                    </p:anim>
                                    <p:animEffect transition="in" filter="fade">
                                      <p:cBhvr>
                                        <p:cTn id="21" dur="500"/>
                                        <p:tgtEl>
                                          <p:spTgt spid="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childTnLst>
                                </p:cTn>
                              </p:par>
                            </p:childTnLst>
                          </p:cTn>
                        </p:par>
                        <p:par>
                          <p:cTn id="32" fill="hold">
                            <p:stCondLst>
                              <p:cond delay="935"/>
                            </p:stCondLst>
                            <p:childTnLst>
                              <p:par>
                                <p:cTn id="31" presetID="53" presetClass="entr" presetSubtype="16"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ppt_w</p:attrName>
                                        </p:attrNameLst>
                                      </p:cBhvr>
                                      <p:tavLst>
                                        <p:tav tm="0">
                                          <p:val>
                                            <p:strVal val="0"/>
                                          </p:val>
                                        </p:tav>
                                        <p:tav tm="100000">
                                          <p:val>
                                            <p:strVal val="#ppt_w"/>
                                          </p:val>
                                        </p:tav>
                                      </p:tavLst>
                                    </p:anim>
                                    <p:anim calcmode="lin" valueType="num">
                                      <p:cBhvr additive="base">
                                        <p:cTn id="29" dur="500" fill="hold"/>
                                        <p:tgtEl>
                                          <p:spTgt spid="8"/>
                                        </p:tgtEl>
                                        <p:attrNameLst>
                                          <p:attrName>ppt_h</p:attrName>
                                        </p:attrNameLst>
                                      </p:cBhvr>
                                      <p:tavLst>
                                        <p:tav tm="0">
                                          <p:val>
                                            <p:strVal val="0"/>
                                          </p:val>
                                        </p:tav>
                                        <p:tav tm="100000">
                                          <p:val>
                                            <p:strVal val="#ppt_h"/>
                                          </p:val>
                                        </p:tav>
                                      </p:tavLst>
                                    </p:anim>
                                    <p:animEffect transition="in" filter="fade">
                                      <p:cBhvr>
                                        <p:cTn id="30" dur="500"/>
                                        <p:tgtEl>
                                          <p:spTgt spid="8"/>
                                        </p:tgtEl>
                                      </p:cBhvr>
                                    </p:animEffect>
                                  </p:childTnLst>
                                </p:cTn>
                              </p:par>
                            </p:childTnLst>
                          </p:cTn>
                        </p:par>
                        <p:par>
                          <p:cTn id="41" fill="hold">
                            <p:stCondLst>
                              <p:cond delay="1210"/>
                            </p:stCondLst>
                            <p:childTnLst>
                              <p:par>
                                <p:cTn id="37" presetID="53" presetClass="entr" presetSubtype="1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childTnLst>
                                </p:cTn>
                              </p:par>
                            </p:childTnLst>
                          </p:cTn>
                        </p:par>
                        <p:par>
                          <p:cTn id="47" fill="hold">
                            <p:stCondLst>
                              <p:cond delay="1540"/>
                            </p:stCondLst>
                            <p:childTnLst>
                              <p:par>
                                <p:cTn id="46" presetID="53" presetClass="entr" presetSubtype="16"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ppt_w</p:attrName>
                                        </p:attrNameLst>
                                      </p:cBhvr>
                                      <p:tavLst>
                                        <p:tav tm="0">
                                          <p:val>
                                            <p:strVal val="0"/>
                                          </p:val>
                                        </p:tav>
                                        <p:tav tm="100000">
                                          <p:val>
                                            <p:strVal val="#ppt_w"/>
                                          </p:val>
                                        </p:tav>
                                      </p:tavLst>
                                    </p:anim>
                                    <p:anim calcmode="lin" valueType="num">
                                      <p:cBhvr additive="base">
                                        <p:cTn id="44" dur="500" fill="hold"/>
                                        <p:tgtEl>
                                          <p:spTgt spid="11"/>
                                        </p:tgtEl>
                                        <p:attrNameLst>
                                          <p:attrName>ppt_h</p:attrName>
                                        </p:attrNameLst>
                                      </p:cBhvr>
                                      <p:tavLst>
                                        <p:tav tm="0">
                                          <p:val>
                                            <p:strVal val="0"/>
                                          </p:val>
                                        </p:tav>
                                        <p:tav tm="100000">
                                          <p:val>
                                            <p:strVal val="#ppt_h"/>
                                          </p:val>
                                        </p:tav>
                                      </p:tavLst>
                                    </p:anim>
                                    <p:animEffect transition="in" filter="fade">
                                      <p:cBhvr>
                                        <p:cTn id="45" dur="500"/>
                                        <p:tgtEl>
                                          <p:spTgt spid="11"/>
                                        </p:tgtEl>
                                      </p:cBhvr>
                                    </p:animEffect>
                                  </p:childTnLst>
                                </p:cTn>
                              </p:par>
                            </p:childTnLst>
                          </p:cTn>
                        </p:par>
                        <p:par>
                          <p:cTn id="53" fill="hold">
                            <p:stCondLst>
                              <p:cond delay="1815"/>
                            </p:stCondLst>
                            <p:childTnLst>
                              <p:par>
                                <p:cTn id="52" presetID="53" presetClass="entr" presetSubtype="16"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ppt_w</p:attrName>
                                        </p:attrNameLst>
                                      </p:cBhvr>
                                      <p:tavLst>
                                        <p:tav tm="0">
                                          <p:val>
                                            <p:strVal val="0"/>
                                          </p:val>
                                        </p:tav>
                                        <p:tav tm="100000">
                                          <p:val>
                                            <p:strVal val="#ppt_w"/>
                                          </p:val>
                                        </p:tav>
                                      </p:tavLst>
                                    </p:anim>
                                    <p:anim calcmode="lin" valueType="num">
                                      <p:cBhvr additive="base">
                                        <p:cTn id="50" dur="500" fill="hold"/>
                                        <p:tgtEl>
                                          <p:spTgt spid="12"/>
                                        </p:tgtEl>
                                        <p:attrNameLst>
                                          <p:attrName>ppt_h</p:attrName>
                                        </p:attrNameLst>
                                      </p:cBhvr>
                                      <p:tavLst>
                                        <p:tav tm="0">
                                          <p:val>
                                            <p:strVal val="0"/>
                                          </p:val>
                                        </p:tav>
                                        <p:tav tm="100000">
                                          <p:val>
                                            <p:strVal val="#ppt_h"/>
                                          </p:val>
                                        </p:tav>
                                      </p:tavLst>
                                    </p:anim>
                                    <p:animEffect transition="in" filter="fade">
                                      <p:cBhvr>
                                        <p:cTn id="51" dur="500"/>
                                        <p:tgtEl>
                                          <p:spTgt spid="12"/>
                                        </p:tgtEl>
                                      </p:cBhvr>
                                    </p:animEffect>
                                  </p:childTnLst>
                                </p:cTn>
                              </p:par>
                            </p:childTnLst>
                          </p:cTn>
                        </p:par>
                      </p:childTnLst>
                    </p:cTn>
                  </p:par>
                  <p:par>
                    <p:cTn id="67" fill="hold">
                      <p:stCondLst>
                        <p:cond delay="indefinite"/>
                      </p:stCondLst>
                      <p:childTnLst>
                        <p:par>
                          <p:cTn id="60" fill="hold">
                            <p:stCondLst>
                              <p:cond delay="0"/>
                            </p:stCondLst>
                            <p:childTnLst>
                              <p:par>
                                <p:cTn id="59"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700"/>
                                        <p:tgtEl>
                                          <p:spTgt spid="13"/>
                                        </p:tgtEl>
                                      </p:cBhvr>
                                    </p:animEffect>
                                    <p:anim calcmode="lin" valueType="num">
                                      <p:cBhvr additive="base">
                                        <p:cTn id="57" dur="700" fill="hold"/>
                                        <p:tgtEl>
                                          <p:spTgt spid="13"/>
                                        </p:tgtEl>
                                        <p:attrNameLst>
                                          <p:attrName>ppt_x</p:attrName>
                                        </p:attrNameLst>
                                      </p:cBhvr>
                                      <p:tavLst>
                                        <p:tav tm="0">
                                          <p:val>
                                            <p:strVal val="#ppt_x"/>
                                          </p:val>
                                        </p:tav>
                                        <p:tav tm="100000">
                                          <p:val>
                                            <p:strVal val="#ppt_x"/>
                                          </p:val>
                                        </p:tav>
                                      </p:tavLst>
                                    </p:anim>
                                    <p:anim calcmode="lin" valueType="num">
                                      <p:cBhvr additive="base">
                                        <p:cTn id="58" dur="700" fill="hold"/>
                                        <p:tgtEl>
                                          <p:spTgt spid="13"/>
                                        </p:tgtEl>
                                        <p:attrNameLst>
                                          <p:attrName>ppt_y</p:attrName>
                                        </p:attrNameLst>
                                      </p:cBhvr>
                                      <p:tavLst>
                                        <p:tav tm="0">
                                          <p:val>
                                            <p:strVal val="#ppt_y+.1"/>
                                          </p:val>
                                        </p:tav>
                                        <p:tav tm="100000">
                                          <p:val>
                                            <p:strVal val="#ppt_y"/>
                                          </p:val>
                                        </p:tav>
                                      </p:tavLst>
                                    </p:anim>
                                  </p:childTnLst>
                                </p:cTn>
                              </p:par>
                            </p:childTnLst>
                          </p:cTn>
                        </p:par>
                        <p:par>
                          <p:cTn id="66" fill="hold">
                            <p:stCondLst>
                              <p:cond delay="385"/>
                            </p:stCondLst>
                            <p:childTnLst>
                              <p:par>
                                <p:cTn id="65" presetID="53" presetClass="entr" presetSubtype="16"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ppt_w</p:attrName>
                                        </p:attrNameLst>
                                      </p:cBhvr>
                                      <p:tavLst>
                                        <p:tav tm="0">
                                          <p:val>
                                            <p:strVal val="0"/>
                                          </p:val>
                                        </p:tav>
                                        <p:tav tm="100000">
                                          <p:val>
                                            <p:strVal val="#ppt_w"/>
                                          </p:val>
                                        </p:tav>
                                      </p:tavLst>
                                    </p:anim>
                                    <p:anim calcmode="lin" valueType="num">
                                      <p:cBhvr additive="base">
                                        <p:cTn id="63" dur="500" fill="hold"/>
                                        <p:tgtEl>
                                          <p:spTgt spid="14"/>
                                        </p:tgtEl>
                                        <p:attrNameLst>
                                          <p:attrName>ppt_h</p:attrName>
                                        </p:attrNameLst>
                                      </p:cBhvr>
                                      <p:tavLst>
                                        <p:tav tm="0">
                                          <p:val>
                                            <p:strVal val="0"/>
                                          </p:val>
                                        </p:tav>
                                        <p:tav tm="100000">
                                          <p:val>
                                            <p:strVal val="#ppt_h"/>
                                          </p:val>
                                        </p:tav>
                                      </p:tavLst>
                                    </p:anim>
                                    <p:animEffect transition="in" filter="fade">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الميل الإلكتروني: التدرج خلال المجموعة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كلما انتقلنا عبر المجموعة تدريجيًّا </a:t>
            </a:r>
            <a:pPr rtl="1" algn="r" indent="0" marL="0">
              <a:lnSpc>
                <a:spcPct val="105000"/>
              </a:lnSpc>
              <a:buNone/>
            </a:pPr>
            <a:r>
              <a:rPr lang="ar-SA" altLang="en-US" sz="1700" b="1" dirty="0">
                <a:solidFill>
                  <a:srgbClr val="0D9488"/>
                </a:solidFill>
                <a:latin typeface="Segoe UI" pitchFamily="34" charset="0"/>
                <a:ea typeface="Segoe UI" pitchFamily="34" charset="-122"/>
                <a:cs typeface="Segoe UI" pitchFamily="34" charset="-120"/>
              </a:rPr>
              <a:t>من أعلى إلى أسفل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331720"/>
            <a:ext cx="6766560" cy="749808"/>
          </a:xfrm>
          <a:prstGeom prst="roundRect">
            <a:avLst>
              <a:gd name="adj" fmla="val 17073"/>
            </a:avLst>
          </a:prstGeom>
          <a:solidFill>
            <a:srgbClr val="FFFFFF">
              <a:alpha val="94000"/>
            </a:srgbClr>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يزداد عدد مستويات الطاقة الرئيسية فيزداد تأثير الحجب</a:t>
            </a:r>
            <a:endParaRPr lang="ar-SA" sz="1700" dirty="0"/>
          </a:p>
        </p:txBody>
      </p:sp>
      <p:sp>
        <p:nvSpPr>
          <p:cNvPr id="5" name="zoom:w:4"/>
          <p:cNvSpPr/>
          <p:nvPr/>
        </p:nvSpPr>
        <p:spPr>
          <a:xfrm>
            <a:off x="11082528" y="2423160"/>
            <a:ext cx="566928" cy="566928"/>
          </a:xfrm>
          <a:prstGeom prst="ellipse">
            <a:avLst/>
          </a:prstGeom>
          <a:solidFill>
            <a:srgbClr val="0D9488"/>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264408"/>
            <a:ext cx="6766560" cy="749808"/>
          </a:xfrm>
          <a:prstGeom prst="roundRect">
            <a:avLst>
              <a:gd name="adj" fmla="val 17073"/>
            </a:avLst>
          </a:prstGeom>
          <a:solidFill>
            <a:srgbClr val="FFFFFF">
              <a:alpha val="94000"/>
            </a:srgbClr>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وتقل قوة جذب النواة للإلكترونات</a:t>
            </a:r>
            <a:endParaRPr lang="ar-SA" sz="1700" dirty="0"/>
          </a:p>
        </p:txBody>
      </p:sp>
      <p:sp>
        <p:nvSpPr>
          <p:cNvPr id="7" name="zoom:w:6"/>
          <p:cNvSpPr/>
          <p:nvPr/>
        </p:nvSpPr>
        <p:spPr>
          <a:xfrm>
            <a:off x="11082528" y="3355848"/>
            <a:ext cx="566928" cy="566928"/>
          </a:xfrm>
          <a:prstGeom prst="ellipse">
            <a:avLst/>
          </a:prstGeom>
          <a:solidFill>
            <a:srgbClr val="0D9488"/>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197096"/>
            <a:ext cx="6766560" cy="749808"/>
          </a:xfrm>
          <a:prstGeom prst="roundRect">
            <a:avLst>
              <a:gd name="adj" fmla="val 17073"/>
            </a:avLst>
          </a:prstGeom>
          <a:solidFill>
            <a:srgbClr val="FFFFFF">
              <a:alpha val="94000"/>
            </a:srgbClr>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مما يجعل هناك صعوبة في جذب الإلكترون المضاف</a:t>
            </a:r>
            <a:endParaRPr lang="ar-SA" sz="1700" dirty="0"/>
          </a:p>
        </p:txBody>
      </p:sp>
      <p:sp>
        <p:nvSpPr>
          <p:cNvPr id="9" name="zoom:w:8"/>
          <p:cNvSpPr/>
          <p:nvPr/>
        </p:nvSpPr>
        <p:spPr>
          <a:xfrm>
            <a:off x="11082528" y="4288536"/>
            <a:ext cx="566928" cy="566928"/>
          </a:xfrm>
          <a:prstGeom prst="ellipse">
            <a:avLst/>
          </a:prstGeom>
          <a:solidFill>
            <a:srgbClr val="0D9488"/>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0" name="wipe:c:9"/>
          <p:cNvSpPr/>
          <p:nvPr/>
        </p:nvSpPr>
        <p:spPr>
          <a:xfrm>
            <a:off x="4754880" y="5129784"/>
            <a:ext cx="6766560" cy="749808"/>
          </a:xfrm>
          <a:prstGeom prst="roundRect">
            <a:avLst>
              <a:gd name="adj" fmla="val 17073"/>
            </a:avLst>
          </a:prstGeom>
          <a:solidFill>
            <a:srgbClr val="0D9488"/>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وبالتالي تقل طاقة الميل الإلكتروني</a:t>
            </a:r>
            <a:endParaRPr lang="ar-SA" sz="1700" dirty="0"/>
          </a:p>
        </p:txBody>
      </p:sp>
      <p:sp>
        <p:nvSpPr>
          <p:cNvPr id="11" name="zoom:w:10"/>
          <p:cNvSpPr/>
          <p:nvPr/>
        </p:nvSpPr>
        <p:spPr>
          <a:xfrm>
            <a:off x="11082528" y="5221224"/>
            <a:ext cx="566928" cy="566928"/>
          </a:xfrm>
          <a:prstGeom prst="ellipse">
            <a:avLst/>
          </a:prstGeom>
          <a:solidFill>
            <a:srgbClr val="FFFFFF"/>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0D9488"/>
                </a:solidFill>
                <a:latin typeface="Segoe UI" pitchFamily="34" charset="0"/>
                <a:ea typeface="Segoe UI" pitchFamily="34" charset="-122"/>
                <a:cs typeface="Segoe UI" pitchFamily="34" charset="-120"/>
              </a:rPr>
              <a:t>4</a:t>
            </a:r>
            <a:endParaRPr lang="en-US" sz="1800" dirty="0"/>
          </a:p>
        </p:txBody>
      </p:sp>
      <p:pic>
        <p:nvPicPr>
          <p:cNvPr id="12" name="zoom:a:11" descr="h_shield.png">    </p:cNvPr>
          <p:cNvPicPr>
            <a:picLocks noChangeAspect="1"/>
          </p:cNvPicPr>
          <p:nvPr/>
        </p:nvPicPr>
        <p:blipFill>
          <a:blip r:embed="rId1"/>
          <a:stretch>
            <a:fillRect/>
          </a:stretch>
        </p:blipFill>
        <p:spPr>
          <a:xfrm>
            <a:off x="728759" y="2331720"/>
            <a:ext cx="3480242" cy="2377440"/>
          </a:xfrm>
          <a:prstGeom prst="rect">
            <a:avLst/>
          </a:prstGeom>
        </p:spPr>
      </p:pic>
      <p:pic>
        <p:nvPicPr>
          <p:cNvPr id="13" name="zoom:a:12" descr="l/shielding.png">    </p:cNvPr>
          <p:cNvPicPr>
            <a:picLocks noChangeAspect="1"/>
          </p:cNvPicPr>
          <p:nvPr/>
        </p:nvPicPr>
        <p:blipFill>
          <a:blip r:embed="rId2"/>
          <a:stretch>
            <a:fillRect/>
          </a:stretch>
        </p:blipFill>
        <p:spPr>
          <a:xfrm>
            <a:off x="1623060" y="4800600"/>
            <a:ext cx="1691640" cy="1691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39"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childTnLst>
                    </p:cTn>
                  </p:par>
                  <p:par>
                    <p:cTn id="61" fill="hold">
                      <p:stCondLst>
                        <p:cond delay="indefinite"/>
                      </p:stCondLst>
                      <p:childTnLst>
                        <p:par>
                          <p:cTn id="48"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600"/>
                                        <p:tgtEl>
                                          <p:spTgt spid="10"/>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ppt_w</p:attrName>
                                        </p:attrNameLst>
                                      </p:cBhvr>
                                      <p:tavLst>
                                        <p:tav tm="0">
                                          <p:val>
                                            <p:strVal val="0"/>
                                          </p:val>
                                        </p:tav>
                                        <p:tav tm="100000">
                                          <p:val>
                                            <p:strVal val="#ppt_w"/>
                                          </p:val>
                                        </p:tav>
                                      </p:tavLst>
                                    </p:anim>
                                    <p:anim calcmode="lin" valueType="num">
                                      <p:cBhvr additive="base">
                                        <p:cTn id="45" dur="500" fill="hold"/>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par>
                          <p:cTn id="54" fill="hold">
                            <p:stCondLst>
                              <p:cond delay="330"/>
                            </p:stCondLst>
                            <p:childTnLst>
                              <p:par>
                                <p:cTn id="53" presetID="53" presetClass="entr" presetSubtype="16"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strVal val="0"/>
                                          </p:val>
                                        </p:tav>
                                        <p:tav tm="100000">
                                          <p:val>
                                            <p:strVal val="#ppt_w"/>
                                          </p:val>
                                        </p:tav>
                                      </p:tavLst>
                                    </p:anim>
                                    <p:anim calcmode="lin" valueType="num">
                                      <p:cBhvr additive="base">
                                        <p:cTn id="51" dur="500" fill="hold"/>
                                        <p:tgtEl>
                                          <p:spTgt spid="12"/>
                                        </p:tgtEl>
                                        <p:attrNameLst>
                                          <p:attrName>ppt_h</p:attrName>
                                        </p:attrNameLst>
                                      </p:cBhvr>
                                      <p:tavLst>
                                        <p:tav tm="0">
                                          <p:val>
                                            <p:strVal val="0"/>
                                          </p:val>
                                        </p:tav>
                                        <p:tav tm="100000">
                                          <p:val>
                                            <p:strVal val="#ppt_h"/>
                                          </p:val>
                                        </p:tav>
                                      </p:tavLst>
                                    </p:anim>
                                    <p:animEffect transition="in" filter="fade">
                                      <p:cBhvr>
                                        <p:cTn id="52" dur="500"/>
                                        <p:tgtEl>
                                          <p:spTgt spid="12"/>
                                        </p:tgtEl>
                                      </p:cBhvr>
                                    </p:animEffect>
                                  </p:childTnLst>
                                </p:cTn>
                              </p:par>
                            </p:childTnLst>
                          </p:cTn>
                        </p:par>
                        <p:par>
                          <p:cTn id="60" fill="hold">
                            <p:stCondLst>
                              <p:cond delay="605"/>
                            </p:stCondLst>
                            <p:childTnLst>
                              <p:par>
                                <p:cTn id="59" presetID="53" presetClass="entr" presetSubtype="16"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ppt_w</p:attrName>
                                        </p:attrNameLst>
                                      </p:cBhvr>
                                      <p:tavLst>
                                        <p:tav tm="0">
                                          <p:val>
                                            <p:strVal val="0"/>
                                          </p:val>
                                        </p:tav>
                                        <p:tav tm="100000">
                                          <p:val>
                                            <p:strVal val="#ppt_w"/>
                                          </p:val>
                                        </p:tav>
                                      </p:tavLst>
                                    </p:anim>
                                    <p:anim calcmode="lin" valueType="num">
                                      <p:cBhvr additive="base">
                                        <p:cTn id="57" dur="500" fill="hold"/>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(8)</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والمطلوب:</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0D9488"/>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0D9488"/>
                </a:solidFill>
                <a:latin typeface="Segoe UI" pitchFamily="34" charset="0"/>
                <a:ea typeface="Segoe UI" pitchFamily="34" charset="-122"/>
                <a:cs typeface="Segoe UI" pitchFamily="34" charset="-120"/>
              </a:rPr>
              <a:t>6</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0D9488"/>
                </a:solidFill>
                <a:latin typeface="Segoe UI" pitchFamily="34" charset="0"/>
                <a:ea typeface="Segoe UI" pitchFamily="34" charset="-122"/>
                <a:cs typeface="Segoe UI" pitchFamily="34" charset="-120"/>
              </a:rPr>
              <a:t>14</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0D9488"/>
                </a:solidFill>
                <a:latin typeface="Segoe UI" pitchFamily="34" charset="0"/>
                <a:ea typeface="Segoe UI" pitchFamily="34" charset="-122"/>
                <a:cs typeface="Segoe UI" pitchFamily="34" charset="-120"/>
              </a:rPr>
              <a:t>32</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566928"/>
          </a:xfrm>
          <a:prstGeom prst="roundRect">
            <a:avLst>
              <a:gd name="adj" fmla="val 2258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اسم العنصر X</a:t>
            </a:r>
            <a:endParaRPr lang="ar-SA" sz="1700" dirty="0"/>
          </a:p>
        </p:txBody>
      </p:sp>
      <p:sp>
        <p:nvSpPr>
          <p:cNvPr id="6" name="fade:a:5"/>
          <p:cNvSpPr/>
          <p:nvPr/>
        </p:nvSpPr>
        <p:spPr>
          <a:xfrm>
            <a:off x="411480" y="2331720"/>
            <a:ext cx="2606040" cy="566928"/>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56692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الكربون</a:t>
            </a:r>
            <a:endParaRPr lang="ar-SA" sz="2000" dirty="0"/>
          </a:p>
        </p:txBody>
      </p:sp>
      <p:sp>
        <p:nvSpPr>
          <p:cNvPr id="8" name="float:a:7"/>
          <p:cNvSpPr/>
          <p:nvPr/>
        </p:nvSpPr>
        <p:spPr>
          <a:xfrm>
            <a:off x="3246120" y="3063240"/>
            <a:ext cx="8549640" cy="566928"/>
          </a:xfrm>
          <a:prstGeom prst="roundRect">
            <a:avLst>
              <a:gd name="adj" fmla="val 2258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رمز العنصر A</a:t>
            </a:r>
            <a:endParaRPr lang="ar-SA" sz="1700" dirty="0"/>
          </a:p>
        </p:txBody>
      </p:sp>
      <p:sp>
        <p:nvSpPr>
          <p:cNvPr id="9" name="fade:a:8"/>
          <p:cNvSpPr/>
          <p:nvPr/>
        </p:nvSpPr>
        <p:spPr>
          <a:xfrm>
            <a:off x="411480" y="3063240"/>
            <a:ext cx="2606040" cy="566928"/>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0" name="zoom:c:9"/>
          <p:cNvSpPr/>
          <p:nvPr/>
        </p:nvSpPr>
        <p:spPr>
          <a:xfrm>
            <a:off x="411480" y="3063240"/>
            <a:ext cx="2606040" cy="56692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Si</a:t>
            </a:r>
            <a:endParaRPr lang="ar-SA" sz="2000" dirty="0"/>
          </a:p>
        </p:txBody>
      </p:sp>
      <p:sp>
        <p:nvSpPr>
          <p:cNvPr id="11" name="float:a:10"/>
          <p:cNvSpPr/>
          <p:nvPr/>
        </p:nvSpPr>
        <p:spPr>
          <a:xfrm>
            <a:off x="3246120" y="3794760"/>
            <a:ext cx="8549640" cy="566928"/>
          </a:xfrm>
          <a:prstGeom prst="roundRect">
            <a:avLst>
              <a:gd name="adj" fmla="val 2258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3 - العنصر الذي له أقل طاقة ميل إلكتروني (X – Z)</a:t>
            </a:r>
            <a:endParaRPr lang="ar-SA" sz="1700" dirty="0"/>
          </a:p>
        </p:txBody>
      </p:sp>
      <p:sp>
        <p:nvSpPr>
          <p:cNvPr id="12" name="fade:a:11"/>
          <p:cNvSpPr/>
          <p:nvPr/>
        </p:nvSpPr>
        <p:spPr>
          <a:xfrm>
            <a:off x="411480" y="3794760"/>
            <a:ext cx="2606040" cy="566928"/>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3" name="zoom:c:12"/>
          <p:cNvSpPr/>
          <p:nvPr/>
        </p:nvSpPr>
        <p:spPr>
          <a:xfrm>
            <a:off x="411480" y="3794760"/>
            <a:ext cx="2606040" cy="56692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Z</a:t>
            </a:r>
            <a:endParaRPr lang="ar-SA" sz="2000" dirty="0"/>
          </a:p>
        </p:txBody>
      </p:sp>
      <p:sp>
        <p:nvSpPr>
          <p:cNvPr id="14" name="zoom:a:13"/>
          <p:cNvSpPr/>
          <p:nvPr/>
        </p:nvSpPr>
        <p:spPr>
          <a:xfrm>
            <a:off x="10378440" y="4526280"/>
            <a:ext cx="1417320" cy="960120"/>
          </a:xfrm>
          <a:prstGeom prst="roundRect">
            <a:avLst>
              <a:gd name="adj" fmla="val 13333"/>
            </a:avLst>
          </a:prstGeom>
          <a:solidFill>
            <a:srgbClr val="0D9488"/>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15" name="fade:a:14"/>
          <p:cNvSpPr/>
          <p:nvPr/>
        </p:nvSpPr>
        <p:spPr>
          <a:xfrm>
            <a:off x="411480" y="4526280"/>
            <a:ext cx="9784080" cy="960120"/>
          </a:xfrm>
          <a:prstGeom prst="roundRect">
            <a:avLst>
              <a:gd name="adj" fmla="val 1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6" name="wipe:c:15"/>
          <p:cNvSpPr/>
          <p:nvPr/>
        </p:nvSpPr>
        <p:spPr>
          <a:xfrm>
            <a:off x="411480" y="4526280"/>
            <a:ext cx="9784080" cy="960120"/>
          </a:xfrm>
          <a:prstGeom prst="roundRect">
            <a:avLst>
              <a:gd name="adj" fmla="val 13333"/>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Z يقع أسفل X في المجموعة نفسها، فيزداد عدد مستويات الطاقة ويزداد تأثير الحجب وتقل قوة جذب النواة، فيصعب جذب الإلكترون المضاف.</a:t>
            </a:r>
            <a:endParaRPr lang="ar-SA" sz="1600" dirty="0"/>
          </a:p>
        </p:txBody>
      </p:sp>
      <p:sp>
        <p:nvSpPr>
          <p:cNvPr id="17" name="float:a:16"/>
          <p:cNvSpPr/>
          <p:nvPr/>
        </p:nvSpPr>
        <p:spPr>
          <a:xfrm>
            <a:off x="3246120" y="5650992"/>
            <a:ext cx="8549640" cy="566928"/>
          </a:xfrm>
          <a:prstGeom prst="roundRect">
            <a:avLst>
              <a:gd name="adj" fmla="val 2258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4 - العنصر الذي له أعلى طاقة ميل إلكتروني (X – A)</a:t>
            </a:r>
            <a:endParaRPr lang="ar-SA" sz="1700" dirty="0"/>
          </a:p>
        </p:txBody>
      </p:sp>
      <p:sp>
        <p:nvSpPr>
          <p:cNvPr id="18" name="fade:a:17"/>
          <p:cNvSpPr/>
          <p:nvPr/>
        </p:nvSpPr>
        <p:spPr>
          <a:xfrm>
            <a:off x="411480" y="5650992"/>
            <a:ext cx="2606040" cy="566928"/>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9" name="zoom:c:18"/>
          <p:cNvSpPr/>
          <p:nvPr/>
        </p:nvSpPr>
        <p:spPr>
          <a:xfrm>
            <a:off x="411480" y="5650992"/>
            <a:ext cx="2606040" cy="56692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childTnLst>
                          </p:cTn>
                        </p:par>
                        <p:par>
                          <p:cTn id="41" fill="hold">
                            <p:stCondLst>
                              <p:cond delay="66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9" fill="hold">
                      <p:stCondLst>
                        <p:cond delay="indefinite"/>
                      </p:stCondLst>
                      <p:childTnLst>
                        <p:par>
                          <p:cTn id="48" fill="hold">
                            <p:stCondLst>
                              <p:cond delay="0"/>
                            </p:stCondLst>
                            <p:childTnLst>
                              <p:par>
                                <p:cTn id="47" presetID="53" presetClass="entr" presetSubtype="16"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ppt_w</p:attrName>
                                        </p:attrNameLst>
                                      </p:cBhvr>
                                      <p:tavLst>
                                        <p:tav tm="0">
                                          <p:val>
                                            <p:strVal val="0"/>
                                          </p:val>
                                        </p:tav>
                                        <p:tav tm="100000">
                                          <p:val>
                                            <p:strVal val="#ppt_w"/>
                                          </p:val>
                                        </p:tav>
                                      </p:tavLst>
                                    </p:anim>
                                    <p:anim calcmode="lin" valueType="num">
                                      <p:cBhvr additive="base">
                                        <p:cTn id="45" dur="500" fill="hold"/>
                                        <p:tgtEl>
                                          <p:spTgt spid="10"/>
                                        </p:tgtEl>
                                        <p:attrNameLst>
                                          <p:attrName>ppt_h</p:attrName>
                                        </p:attrNameLst>
                                      </p:cBhvr>
                                      <p:tavLst>
                                        <p:tav tm="0">
                                          <p:val>
                                            <p:strVal val="0"/>
                                          </p:val>
                                        </p:tav>
                                        <p:tav tm="100000">
                                          <p:val>
                                            <p:strVal val="#ppt_h"/>
                                          </p:val>
                                        </p:tav>
                                      </p:tavLst>
                                    </p:anim>
                                    <p:animEffect transition="in" filter="fade">
                                      <p:cBhvr>
                                        <p:cTn id="46" dur="500"/>
                                        <p:tgtEl>
                                          <p:spTgt spid="10"/>
                                        </p:tgtEl>
                                      </p:cBhvr>
                                    </p:animEffect>
                                  </p:childTnLst>
                                </p:cTn>
                              </p:par>
                            </p:childTnLst>
                          </p:cTn>
                        </p:par>
                        <p:par>
                          <p:cTn id="54" fill="hold">
                            <p:stCondLst>
                              <p:cond delay="275"/>
                            </p:stCondLst>
                            <p:childTnLst>
                              <p:par>
                                <p:cTn id="53" presetID="42" presetClass="entr" presetSubtype="0"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700"/>
                                        <p:tgtEl>
                                          <p:spTgt spid="11"/>
                                        </p:tgtEl>
                                      </p:cBhvr>
                                    </p:animEffect>
                                    <p:anim calcmode="lin" valueType="num">
                                      <p:cBhvr additive="base">
                                        <p:cTn id="51" dur="700" fill="hold"/>
                                        <p:tgtEl>
                                          <p:spTgt spid="11"/>
                                        </p:tgtEl>
                                        <p:attrNameLst>
                                          <p:attrName>ppt_x</p:attrName>
                                        </p:attrNameLst>
                                      </p:cBhvr>
                                      <p:tavLst>
                                        <p:tav tm="0">
                                          <p:val>
                                            <p:strVal val="#ppt_x"/>
                                          </p:val>
                                        </p:tav>
                                        <p:tav tm="100000">
                                          <p:val>
                                            <p:strVal val="#ppt_x"/>
                                          </p:val>
                                        </p:tav>
                                      </p:tavLst>
                                    </p:anim>
                                    <p:anim calcmode="lin" valueType="num">
                                      <p:cBhvr additive="base">
                                        <p:cTn id="52" dur="700" fill="hold"/>
                                        <p:tgtEl>
                                          <p:spTgt spid="11"/>
                                        </p:tgtEl>
                                        <p:attrNameLst>
                                          <p:attrName>ppt_y</p:attrName>
                                        </p:attrNameLst>
                                      </p:cBhvr>
                                      <p:tavLst>
                                        <p:tav tm="0">
                                          <p:val>
                                            <p:strVal val="#ppt_y+.1"/>
                                          </p:val>
                                        </p:tav>
                                        <p:tav tm="100000">
                                          <p:val>
                                            <p:strVal val="#ppt_y"/>
                                          </p:val>
                                        </p:tav>
                                      </p:tavLst>
                                    </p:anim>
                                  </p:childTnLst>
                                </p:cTn>
                              </p:par>
                            </p:childTnLst>
                          </p:cTn>
                        </p:par>
                        <p:par>
                          <p:cTn id="58" fill="hold">
                            <p:stCondLst>
                              <p:cond delay="660"/>
                            </p:stCondLst>
                            <p:childTnLst>
                              <p:par>
                                <p:cTn id="57"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childTnLst>
                                </p:cTn>
                              </p:par>
                            </p:childTnLst>
                          </p:cTn>
                        </p:par>
                      </p:childTnLst>
                    </p:cTn>
                  </p:par>
                  <p:par>
                    <p:cTn id="76" fill="hold">
                      <p:stCondLst>
                        <p:cond delay="indefinite"/>
                      </p:stCondLst>
                      <p:childTnLst>
                        <p:par>
                          <p:cTn id="65"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ppt_w</p:attrName>
                                        </p:attrNameLst>
                                      </p:cBhvr>
                                      <p:tavLst>
                                        <p:tav tm="0">
                                          <p:val>
                                            <p:strVal val="0"/>
                                          </p:val>
                                        </p:tav>
                                        <p:tav tm="100000">
                                          <p:val>
                                            <p:strVal val="#ppt_w"/>
                                          </p:val>
                                        </p:tav>
                                      </p:tavLst>
                                    </p:anim>
                                    <p:anim calcmode="lin" valueType="num">
                                      <p:cBhvr additive="base">
                                        <p:cTn id="62" dur="500" fill="hold"/>
                                        <p:tgtEl>
                                          <p:spTgt spid="13"/>
                                        </p:tgtEl>
                                        <p:attrNameLst>
                                          <p:attrName>ppt_h</p:attrName>
                                        </p:attrNameLst>
                                      </p:cBhvr>
                                      <p:tavLst>
                                        <p:tav tm="0">
                                          <p:val>
                                            <p:strVal val="0"/>
                                          </p:val>
                                        </p:tav>
                                        <p:tav tm="100000">
                                          <p:val>
                                            <p:strVal val="#ppt_h"/>
                                          </p:val>
                                        </p:tav>
                                      </p:tavLst>
                                    </p:anim>
                                    <p:animEffect transition="in" filter="fade">
                                      <p:cBhvr>
                                        <p:cTn id="63" dur="500"/>
                                        <p:tgtEl>
                                          <p:spTgt spid="13"/>
                                        </p:tgtEl>
                                      </p:cBhvr>
                                    </p:animEffect>
                                  </p:childTnLst>
                                </p:cTn>
                              </p:par>
                            </p:childTnLst>
                          </p:cTn>
                        </p:par>
                        <p:par>
                          <p:cTn id="71" fill="hold">
                            <p:stCondLst>
                              <p:cond delay="275"/>
                            </p:stCondLst>
                            <p:childTnLst>
                              <p:par>
                                <p:cTn id="70" presetID="53" presetClass="entr" presetSubtype="16" fill="hold" grpId="0" nodeType="after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ppt_w</p:attrName>
                                        </p:attrNameLst>
                                      </p:cBhvr>
                                      <p:tavLst>
                                        <p:tav tm="0">
                                          <p:val>
                                            <p:strVal val="0"/>
                                          </p:val>
                                        </p:tav>
                                        <p:tav tm="100000">
                                          <p:val>
                                            <p:strVal val="#ppt_w"/>
                                          </p:val>
                                        </p:tav>
                                      </p:tavLst>
                                    </p:anim>
                                    <p:anim calcmode="lin" valueType="num">
                                      <p:cBhvr additive="base">
                                        <p:cTn id="68" dur="500" fill="hold"/>
                                        <p:tgtEl>
                                          <p:spTgt spid="14"/>
                                        </p:tgtEl>
                                        <p:attrNameLst>
                                          <p:attrName>ppt_h</p:attrName>
                                        </p:attrNameLst>
                                      </p:cBhvr>
                                      <p:tavLst>
                                        <p:tav tm="0">
                                          <p:val>
                                            <p:strVal val="0"/>
                                          </p:val>
                                        </p:tav>
                                        <p:tav tm="100000">
                                          <p:val>
                                            <p:strVal val="#ppt_h"/>
                                          </p:val>
                                        </p:tav>
                                      </p:tavLst>
                                    </p:anim>
                                    <p:animEffect transition="in" filter="fade">
                                      <p:cBhvr>
                                        <p:cTn id="69" dur="500"/>
                                        <p:tgtEl>
                                          <p:spTgt spid="14"/>
                                        </p:tgtEl>
                                      </p:cBhvr>
                                    </p:animEffect>
                                  </p:childTnLst>
                                </p:cTn>
                              </p:par>
                            </p:childTnLst>
                          </p:cTn>
                        </p:par>
                        <p:par>
                          <p:cTn id="75" fill="hold">
                            <p:stCondLst>
                              <p:cond delay="550"/>
                            </p:stCondLst>
                            <p:childTnLst>
                              <p:par>
                                <p:cTn id="74" presetID="10" presetClass="entr" presetSubtype="0" fill="hold" grpId="0"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600"/>
                                        <p:tgtEl>
                                          <p:spTgt spid="15"/>
                                        </p:tgtEl>
                                      </p:cBhvr>
                                    </p:animEffect>
                                  </p:childTnLst>
                                </p:cTn>
                              </p:par>
                            </p:childTnLst>
                          </p:cTn>
                        </p:par>
                      </p:childTnLst>
                    </p:cTn>
                  </p:par>
                  <p:par>
                    <p:cTn id="91" fill="hold">
                      <p:stCondLst>
                        <p:cond delay="indefinite"/>
                      </p:stCondLst>
                      <p:childTnLst>
                        <p:par>
                          <p:cTn id="80" fill="hold">
                            <p:stCondLst>
                              <p:cond delay="0"/>
                            </p:stCondLst>
                            <p:childTnLst>
                              <p:par>
                                <p:cTn id="79" presetID="22" presetClass="entr" presetSubtype="2" fill="hold" grpId="0" nodeType="click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wipe(right)">
                                      <p:cBhvr>
                                        <p:cTn id="78" dur="600"/>
                                        <p:tgtEl>
                                          <p:spTgt spid="16"/>
                                        </p:tgtEl>
                                      </p:cBhvr>
                                    </p:animEffect>
                                  </p:childTnLst>
                                </p:cTn>
                              </p:par>
                            </p:childTnLst>
                          </p:cTn>
                        </p:par>
                        <p:par>
                          <p:cTn id="86" fill="hold">
                            <p:stCondLst>
                              <p:cond delay="330"/>
                            </p:stCondLst>
                            <p:childTnLst>
                              <p:par>
                                <p:cTn id="85" presetID="42"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ppt_x</p:attrName>
                                        </p:attrNameLst>
                                      </p:cBhvr>
                                      <p:tavLst>
                                        <p:tav tm="0">
                                          <p:val>
                                            <p:strVal val="#ppt_x"/>
                                          </p:val>
                                        </p:tav>
                                        <p:tav tm="100000">
                                          <p:val>
                                            <p:strVal val="#ppt_x"/>
                                          </p:val>
                                        </p:tav>
                                      </p:tavLst>
                                    </p:anim>
                                    <p:anim calcmode="lin" valueType="num">
                                      <p:cBhvr additive="base">
                                        <p:cTn id="84" dur="700" fill="hold"/>
                                        <p:tgtEl>
                                          <p:spTgt spid="17"/>
                                        </p:tgtEl>
                                        <p:attrNameLst>
                                          <p:attrName>ppt_y</p:attrName>
                                        </p:attrNameLst>
                                      </p:cBhvr>
                                      <p:tavLst>
                                        <p:tav tm="0">
                                          <p:val>
                                            <p:strVal val="#ppt_y+.1"/>
                                          </p:val>
                                        </p:tav>
                                        <p:tav tm="100000">
                                          <p:val>
                                            <p:strVal val="#ppt_y"/>
                                          </p:val>
                                        </p:tav>
                                      </p:tavLst>
                                    </p:anim>
                                  </p:childTnLst>
                                </p:cTn>
                              </p:par>
                            </p:childTnLst>
                          </p:cTn>
                        </p:par>
                        <p:par>
                          <p:cTn id="90" fill="hold">
                            <p:stCondLst>
                              <p:cond delay="715"/>
                            </p:stCondLst>
                            <p:childTnLst>
                              <p:par>
                                <p:cTn id="89" presetID="10" presetClass="entr" presetSubtype="0" fill="hold" grpId="0" nodeType="after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childTnLst>
                                </p:cTn>
                              </p:par>
                            </p:childTnLst>
                          </p:cTn>
                        </p:par>
                      </p:childTnLst>
                    </p:cTn>
                  </p:par>
                  <p:par>
                    <p:cTn id="98" fill="hold">
                      <p:stCondLst>
                        <p:cond delay="indefinite"/>
                      </p:stCondLst>
                      <p:childTnLst>
                        <p:par>
                          <p:cTn id="97" fill="hold">
                            <p:stCondLst>
                              <p:cond delay="0"/>
                            </p:stCondLst>
                            <p:childTnLst>
                              <p:par>
                                <p:cTn id="96" presetID="53" presetClass="entr" presetSubtype="16"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500" fill="hold"/>
                                        <p:tgtEl>
                                          <p:spTgt spid="19"/>
                                        </p:tgtEl>
                                        <p:attrNameLst>
                                          <p:attrName>ppt_w</p:attrName>
                                        </p:attrNameLst>
                                      </p:cBhvr>
                                      <p:tavLst>
                                        <p:tav tm="0">
                                          <p:val>
                                            <p:strVal val="0"/>
                                          </p:val>
                                        </p:tav>
                                        <p:tav tm="100000">
                                          <p:val>
                                            <p:strVal val="#ppt_w"/>
                                          </p:val>
                                        </p:tav>
                                      </p:tavLst>
                                    </p:anim>
                                    <p:anim calcmode="lin" valueType="num">
                                      <p:cBhvr additive="base">
                                        <p:cTn id="94" dur="500" fill="hold"/>
                                        <p:tgtEl>
                                          <p:spTgt spid="19"/>
                                        </p:tgtEl>
                                        <p:attrNameLst>
                                          <p:attrName>ppt_h</p:attrName>
                                        </p:attrNameLst>
                                      </p:cBhvr>
                                      <p:tavLst>
                                        <p:tav tm="0">
                                          <p:val>
                                            <p:strVal val="0"/>
                                          </p:val>
                                        </p:tav>
                                        <p:tav tm="100000">
                                          <p:val>
                                            <p:strVal val="#ppt_h"/>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الميل الإلكتروني: التدرج خلال الدورة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كلما انتقلنا عبر الدورة تدريجيًّا </a:t>
            </a:r>
            <a:pPr rtl="1" algn="r" indent="0" marL="0">
              <a:lnSpc>
                <a:spcPct val="105000"/>
              </a:lnSpc>
              <a:buNone/>
            </a:pPr>
            <a:r>
              <a:rPr lang="ar-SA" altLang="en-US" sz="1700" b="1" dirty="0">
                <a:solidFill>
                  <a:srgbClr val="0D9488"/>
                </a:solidFill>
                <a:latin typeface="Segoe UI" pitchFamily="34" charset="0"/>
                <a:ea typeface="Segoe UI" pitchFamily="34" charset="-122"/>
                <a:cs typeface="Segoe UI" pitchFamily="34" charset="-120"/>
              </a:rPr>
              <a:t>من اليسار إلى اليمين</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331720"/>
            <a:ext cx="6766560" cy="749808"/>
          </a:xfrm>
          <a:prstGeom prst="roundRect">
            <a:avLst>
              <a:gd name="adj" fmla="val 17073"/>
            </a:avLst>
          </a:prstGeom>
          <a:solidFill>
            <a:srgbClr val="FFFFFF">
              <a:alpha val="94000"/>
            </a:srgbClr>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تزداد شحنة النواة وتزداد قوة جذب النواة للإلكترونات</a:t>
            </a:r>
            <a:endParaRPr lang="ar-SA" sz="1600" dirty="0"/>
          </a:p>
        </p:txBody>
      </p:sp>
      <p:sp>
        <p:nvSpPr>
          <p:cNvPr id="5" name="zoom:w:4"/>
          <p:cNvSpPr/>
          <p:nvPr/>
        </p:nvSpPr>
        <p:spPr>
          <a:xfrm>
            <a:off x="11082528" y="2423160"/>
            <a:ext cx="566928" cy="566928"/>
          </a:xfrm>
          <a:prstGeom prst="ellipse">
            <a:avLst/>
          </a:prstGeom>
          <a:solidFill>
            <a:srgbClr val="0D9488"/>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264408"/>
            <a:ext cx="6766560" cy="749808"/>
          </a:xfrm>
          <a:prstGeom prst="roundRect">
            <a:avLst>
              <a:gd name="adj" fmla="val 17073"/>
            </a:avLst>
          </a:prstGeom>
          <a:solidFill>
            <a:srgbClr val="FFFFFF">
              <a:alpha val="94000"/>
            </a:srgbClr>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بينما يبقى تأثير درجة الحجب ثابتًا (بسبب عدم زيادة عدد مستويات الطاقة الرئيسية)</a:t>
            </a:r>
            <a:endParaRPr lang="ar-SA" sz="1600" dirty="0"/>
          </a:p>
        </p:txBody>
      </p:sp>
      <p:sp>
        <p:nvSpPr>
          <p:cNvPr id="7" name="zoom:w:6"/>
          <p:cNvSpPr/>
          <p:nvPr/>
        </p:nvSpPr>
        <p:spPr>
          <a:xfrm>
            <a:off x="11082528" y="3355848"/>
            <a:ext cx="566928" cy="566928"/>
          </a:xfrm>
          <a:prstGeom prst="ellipse">
            <a:avLst/>
          </a:prstGeom>
          <a:solidFill>
            <a:srgbClr val="0D9488"/>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197096"/>
            <a:ext cx="6766560" cy="749808"/>
          </a:xfrm>
          <a:prstGeom prst="roundRect">
            <a:avLst>
              <a:gd name="adj" fmla="val 17073"/>
            </a:avLst>
          </a:prstGeom>
          <a:solidFill>
            <a:srgbClr val="FFFFFF">
              <a:alpha val="94000"/>
            </a:srgbClr>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مما يسهل على النواة جذب الإلكترون المضاف</a:t>
            </a:r>
            <a:endParaRPr lang="ar-SA" sz="1600" dirty="0"/>
          </a:p>
        </p:txBody>
      </p:sp>
      <p:sp>
        <p:nvSpPr>
          <p:cNvPr id="9" name="zoom:w:8"/>
          <p:cNvSpPr/>
          <p:nvPr/>
        </p:nvSpPr>
        <p:spPr>
          <a:xfrm>
            <a:off x="11082528" y="4288536"/>
            <a:ext cx="566928" cy="566928"/>
          </a:xfrm>
          <a:prstGeom prst="ellipse">
            <a:avLst/>
          </a:prstGeom>
          <a:solidFill>
            <a:srgbClr val="0D9488"/>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0" name="wipe:c:9"/>
          <p:cNvSpPr/>
          <p:nvPr/>
        </p:nvSpPr>
        <p:spPr>
          <a:xfrm>
            <a:off x="4754880" y="5129784"/>
            <a:ext cx="6766560" cy="749808"/>
          </a:xfrm>
          <a:prstGeom prst="roundRect">
            <a:avLst>
              <a:gd name="adj" fmla="val 17073"/>
            </a:avLst>
          </a:prstGeom>
          <a:solidFill>
            <a:srgbClr val="0D9488"/>
          </a:solidFill>
          <a:ln w="19050">
            <a:solidFill>
              <a:srgbClr val="0D9488"/>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فتزداد طاقة الميل الإلكتروني</a:t>
            </a:r>
            <a:endParaRPr lang="ar-SA" sz="1600" dirty="0"/>
          </a:p>
        </p:txBody>
      </p:sp>
      <p:sp>
        <p:nvSpPr>
          <p:cNvPr id="11" name="zoom:w:10"/>
          <p:cNvSpPr/>
          <p:nvPr/>
        </p:nvSpPr>
        <p:spPr>
          <a:xfrm>
            <a:off x="11082528" y="5221224"/>
            <a:ext cx="566928" cy="566928"/>
          </a:xfrm>
          <a:prstGeom prst="ellipse">
            <a:avLst/>
          </a:prstGeom>
          <a:solidFill>
            <a:srgbClr val="FFFFFF"/>
          </a:solidFill>
          <a:ln w="25400">
            <a:solidFill>
              <a:srgbClr val="0D9488"/>
            </a:solidFill>
          </a:ln>
        </p:spPr>
        <p:txBody>
          <a:bodyPr wrap="square" lIns="0" tIns="0" rIns="0" bIns="0" rtlCol="0" anchor="ctr"/>
          <a:lstStyle/>
          <a:p>
            <a:pPr algn="ctr" indent="0" marL="0">
              <a:lnSpc>
                <a:spcPct val="105000"/>
              </a:lnSpc>
              <a:buNone/>
            </a:pPr>
            <a:r>
              <a:rPr lang="en-US" altLang="en-US" sz="1800" b="1" dirty="0">
                <a:solidFill>
                  <a:srgbClr val="0D9488"/>
                </a:solidFill>
                <a:latin typeface="Segoe UI" pitchFamily="34" charset="0"/>
                <a:ea typeface="Segoe UI" pitchFamily="34" charset="-122"/>
                <a:cs typeface="Segoe UI" pitchFamily="34" charset="-120"/>
              </a:rPr>
              <a:t>4</a:t>
            </a:r>
            <a:endParaRPr lang="en-US" sz="1800" dirty="0"/>
          </a:p>
        </p:txBody>
      </p:sp>
      <p:pic>
        <p:nvPicPr>
          <p:cNvPr id="12" name="zoom:a:11" descr="h_charge.png">    </p:cNvPr>
          <p:cNvPicPr>
            <a:picLocks noChangeAspect="1"/>
          </p:cNvPicPr>
          <p:nvPr/>
        </p:nvPicPr>
        <p:blipFill>
          <a:blip r:embed="rId1"/>
          <a:stretch>
            <a:fillRect/>
          </a:stretch>
        </p:blipFill>
        <p:spPr>
          <a:xfrm>
            <a:off x="766148" y="2331720"/>
            <a:ext cx="3405465" cy="2377440"/>
          </a:xfrm>
          <a:prstGeom prst="rect">
            <a:avLst/>
          </a:prstGeom>
        </p:spPr>
      </p:pic>
      <p:pic>
        <p:nvPicPr>
          <p:cNvPr id="13" name="zoom:a:12" descr="l/anion.png">    </p:cNvPr>
          <p:cNvPicPr>
            <a:picLocks noChangeAspect="1"/>
          </p:cNvPicPr>
          <p:nvPr/>
        </p:nvPicPr>
        <p:blipFill>
          <a:blip r:embed="rId2"/>
          <a:stretch>
            <a:fillRect/>
          </a:stretch>
        </p:blipFill>
        <p:spPr>
          <a:xfrm>
            <a:off x="411480" y="4938458"/>
            <a:ext cx="4114800" cy="13702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39"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childTnLst>
                    </p:cTn>
                  </p:par>
                  <p:par>
                    <p:cTn id="61" fill="hold">
                      <p:stCondLst>
                        <p:cond delay="indefinite"/>
                      </p:stCondLst>
                      <p:childTnLst>
                        <p:par>
                          <p:cTn id="48"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600"/>
                                        <p:tgtEl>
                                          <p:spTgt spid="10"/>
                                        </p:tgtEl>
                                      </p:cBhvr>
                                    </p:animEffect>
                                  </p:childTnLst>
                                </p:cTn>
                              </p:par>
                              <p:par>
                                <p:cTn id="47"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ppt_w</p:attrName>
                                        </p:attrNameLst>
                                      </p:cBhvr>
                                      <p:tavLst>
                                        <p:tav tm="0">
                                          <p:val>
                                            <p:strVal val="0"/>
                                          </p:val>
                                        </p:tav>
                                        <p:tav tm="100000">
                                          <p:val>
                                            <p:strVal val="#ppt_w"/>
                                          </p:val>
                                        </p:tav>
                                      </p:tavLst>
                                    </p:anim>
                                    <p:anim calcmode="lin" valueType="num">
                                      <p:cBhvr additive="base">
                                        <p:cTn id="45" dur="500" fill="hold"/>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par>
                          <p:cTn id="54" fill="hold">
                            <p:stCondLst>
                              <p:cond delay="330"/>
                            </p:stCondLst>
                            <p:childTnLst>
                              <p:par>
                                <p:cTn id="53" presetID="53" presetClass="entr" presetSubtype="16" fill="hold" nodeType="after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strVal val="0"/>
                                          </p:val>
                                        </p:tav>
                                        <p:tav tm="100000">
                                          <p:val>
                                            <p:strVal val="#ppt_w"/>
                                          </p:val>
                                        </p:tav>
                                      </p:tavLst>
                                    </p:anim>
                                    <p:anim calcmode="lin" valueType="num">
                                      <p:cBhvr additive="base">
                                        <p:cTn id="51" dur="500" fill="hold"/>
                                        <p:tgtEl>
                                          <p:spTgt spid="12"/>
                                        </p:tgtEl>
                                        <p:attrNameLst>
                                          <p:attrName>ppt_h</p:attrName>
                                        </p:attrNameLst>
                                      </p:cBhvr>
                                      <p:tavLst>
                                        <p:tav tm="0">
                                          <p:val>
                                            <p:strVal val="0"/>
                                          </p:val>
                                        </p:tav>
                                        <p:tav tm="100000">
                                          <p:val>
                                            <p:strVal val="#ppt_h"/>
                                          </p:val>
                                        </p:tav>
                                      </p:tavLst>
                                    </p:anim>
                                    <p:animEffect transition="in" filter="fade">
                                      <p:cBhvr>
                                        <p:cTn id="52" dur="500"/>
                                        <p:tgtEl>
                                          <p:spTgt spid="12"/>
                                        </p:tgtEl>
                                      </p:cBhvr>
                                    </p:animEffect>
                                  </p:childTnLst>
                                </p:cTn>
                              </p:par>
                            </p:childTnLst>
                          </p:cTn>
                        </p:par>
                        <p:par>
                          <p:cTn id="60" fill="hold">
                            <p:stCondLst>
                              <p:cond delay="605"/>
                            </p:stCondLst>
                            <p:childTnLst>
                              <p:par>
                                <p:cTn id="59" presetID="53" presetClass="entr" presetSubtype="16"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ppt_w</p:attrName>
                                        </p:attrNameLst>
                                      </p:cBhvr>
                                      <p:tavLst>
                                        <p:tav tm="0">
                                          <p:val>
                                            <p:strVal val="0"/>
                                          </p:val>
                                        </p:tav>
                                        <p:tav tm="100000">
                                          <p:val>
                                            <p:strVal val="#ppt_w"/>
                                          </p:val>
                                        </p:tav>
                                      </p:tavLst>
                                    </p:anim>
                                    <p:anim calcmode="lin" valueType="num">
                                      <p:cBhvr additive="base">
                                        <p:cTn id="57" dur="500" fill="hold"/>
                                        <p:tgtEl>
                                          <p:spTgt spid="13"/>
                                        </p:tgtEl>
                                        <p:attrNameLst>
                                          <p:attrName>ppt_h</p:attrName>
                                        </p:attrNameLst>
                                      </p:cBhvr>
                                      <p:tavLst>
                                        <p:tav tm="0">
                                          <p:val>
                                            <p:strVal val="0"/>
                                          </p:val>
                                        </p:tav>
                                        <p:tav tm="100000">
                                          <p:val>
                                            <p:strVal val="#ppt_h"/>
                                          </p:val>
                                        </p:tav>
                                      </p:tavLst>
                                    </p:anim>
                                    <p:animEffect transition="in" filter="fade">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(9)</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والمطلوب:</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0D9488"/>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0D9488"/>
                </a:solidFill>
                <a:latin typeface="Segoe UI" pitchFamily="34" charset="0"/>
                <a:ea typeface="Segoe UI" pitchFamily="34" charset="-122"/>
                <a:cs typeface="Segoe UI" pitchFamily="34" charset="-120"/>
              </a:rPr>
              <a:t>11</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0D9488"/>
                </a:solidFill>
                <a:latin typeface="Segoe UI" pitchFamily="34" charset="0"/>
                <a:ea typeface="Segoe UI" pitchFamily="34" charset="-122"/>
                <a:cs typeface="Segoe UI" pitchFamily="34" charset="-120"/>
              </a:rPr>
              <a:t>14</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0D9488"/>
                </a:solidFill>
                <a:latin typeface="Segoe UI" pitchFamily="34" charset="0"/>
                <a:ea typeface="Segoe UI" pitchFamily="34" charset="-122"/>
                <a:cs typeface="Segoe UI" pitchFamily="34" charset="-120"/>
              </a:rPr>
              <a:t>17</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أقل طاقة ميل إلكتروني (X – Z)</a:t>
            </a:r>
            <a:endParaRPr lang="ar-SA" sz="1700" dirty="0"/>
          </a:p>
        </p:txBody>
      </p:sp>
      <p:sp>
        <p:nvSpPr>
          <p:cNvPr id="6" name="fade:a:5"/>
          <p:cNvSpPr/>
          <p:nvPr/>
        </p:nvSpPr>
        <p:spPr>
          <a:xfrm>
            <a:off x="411480" y="2331720"/>
            <a:ext cx="2606040" cy="594360"/>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
        <p:nvSpPr>
          <p:cNvPr id="8" name="float:a:7"/>
          <p:cNvSpPr/>
          <p:nvPr/>
        </p:nvSpPr>
        <p:spPr>
          <a:xfrm>
            <a:off x="3246120" y="3090672"/>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أعلى طاقة ميل إلكتروني (Z – A)</a:t>
            </a:r>
            <a:endParaRPr lang="ar-SA" sz="1700" dirty="0"/>
          </a:p>
        </p:txBody>
      </p:sp>
      <p:sp>
        <p:nvSpPr>
          <p:cNvPr id="9" name="fade:a:8"/>
          <p:cNvSpPr/>
          <p:nvPr/>
        </p:nvSpPr>
        <p:spPr>
          <a:xfrm>
            <a:off x="411480" y="3090672"/>
            <a:ext cx="2606040" cy="594360"/>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0" name="zoom:c:9"/>
          <p:cNvSpPr/>
          <p:nvPr/>
        </p:nvSpPr>
        <p:spPr>
          <a:xfrm>
            <a:off x="411480" y="3090672"/>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Z</a:t>
            </a:r>
            <a:endParaRPr lang="ar-SA" sz="2000" dirty="0"/>
          </a:p>
        </p:txBody>
      </p:sp>
      <p:sp>
        <p:nvSpPr>
          <p:cNvPr id="11" name="zoom:a:10"/>
          <p:cNvSpPr/>
          <p:nvPr/>
        </p:nvSpPr>
        <p:spPr>
          <a:xfrm>
            <a:off x="10378440" y="3849624"/>
            <a:ext cx="1417320" cy="914400"/>
          </a:xfrm>
          <a:prstGeom prst="roundRect">
            <a:avLst>
              <a:gd name="adj" fmla="val 14000"/>
            </a:avLst>
          </a:prstGeom>
          <a:solidFill>
            <a:srgbClr val="0D9488"/>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12" name="fade:a:11"/>
          <p:cNvSpPr/>
          <p:nvPr/>
        </p:nvSpPr>
        <p:spPr>
          <a:xfrm>
            <a:off x="411480" y="3849624"/>
            <a:ext cx="978408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3" name="wipe:c:12"/>
          <p:cNvSpPr/>
          <p:nvPr/>
        </p:nvSpPr>
        <p:spPr>
          <a:xfrm>
            <a:off x="411480" y="3849624"/>
            <a:ext cx="9784080" cy="914400"/>
          </a:xfrm>
          <a:prstGeom prst="roundRect">
            <a:avLst>
              <a:gd name="adj" fmla="val 14000"/>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Z يقع على يمين A في الدورة نفسها، فتزداد شحنة النواة وقوة جذبها بينما يبقى الحجب ثابتًا، فيسهل جذب الإلكترون المضاف.</a:t>
            </a:r>
            <a:endParaRPr lang="ar-SA" sz="1600" dirty="0"/>
          </a:p>
        </p:txBody>
      </p:sp>
      <p:sp>
        <p:nvSpPr>
          <p:cNvPr id="14" name="float:a:13"/>
          <p:cNvSpPr/>
          <p:nvPr/>
        </p:nvSpPr>
        <p:spPr>
          <a:xfrm>
            <a:off x="3246120" y="4928616"/>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3 - اسم مجموعة العنصر الذي له أعلى طاقة ميل إلكتروني</a:t>
            </a:r>
            <a:endParaRPr lang="ar-SA" sz="1700" dirty="0"/>
          </a:p>
        </p:txBody>
      </p:sp>
      <p:sp>
        <p:nvSpPr>
          <p:cNvPr id="15" name="fade:a:14"/>
          <p:cNvSpPr/>
          <p:nvPr/>
        </p:nvSpPr>
        <p:spPr>
          <a:xfrm>
            <a:off x="411480" y="4928616"/>
            <a:ext cx="2606040" cy="594360"/>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6" name="zoom:c:15"/>
          <p:cNvSpPr/>
          <p:nvPr/>
        </p:nvSpPr>
        <p:spPr>
          <a:xfrm>
            <a:off x="411480" y="4928616"/>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الهالوجينات</a:t>
            </a:r>
            <a:endParaRPr lang="ar-SA" sz="1700" dirty="0"/>
          </a:p>
        </p:txBody>
      </p:sp>
      <p:sp>
        <p:nvSpPr>
          <p:cNvPr id="17" name="float:a:16"/>
          <p:cNvSpPr/>
          <p:nvPr/>
        </p:nvSpPr>
        <p:spPr>
          <a:xfrm>
            <a:off x="3246120" y="5687568"/>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4 - اسم مجموعة العنصر الذي له أقل طاقة ميل إلكتروني</a:t>
            </a:r>
            <a:endParaRPr lang="ar-SA" sz="1700" dirty="0"/>
          </a:p>
        </p:txBody>
      </p:sp>
      <p:sp>
        <p:nvSpPr>
          <p:cNvPr id="18" name="fade:a:17"/>
          <p:cNvSpPr/>
          <p:nvPr/>
        </p:nvSpPr>
        <p:spPr>
          <a:xfrm>
            <a:off x="411480" y="5687568"/>
            <a:ext cx="2606040" cy="594360"/>
          </a:xfrm>
          <a:prstGeom prst="roundRect">
            <a:avLst>
              <a:gd name="adj" fmla="val 50000"/>
            </a:avLst>
          </a:prstGeom>
          <a:solidFill>
            <a:srgbClr val="FFFFFF">
              <a:alpha val="70000"/>
            </a:srgbClr>
          </a:solidFill>
          <a:ln w="15875">
            <a:solidFill>
              <a:srgbClr val="0D9488"/>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9" name="zoom:c:18"/>
          <p:cNvSpPr/>
          <p:nvPr/>
        </p:nvSpPr>
        <p:spPr>
          <a:xfrm>
            <a:off x="411480" y="5687568"/>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فلزات الأقلاء</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childTnLst>
                          </p:cTn>
                        </p:par>
                        <p:par>
                          <p:cTn id="41" fill="hold">
                            <p:stCondLst>
                              <p:cond delay="66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9" fill="hold">
                      <p:stCondLst>
                        <p:cond delay="indefinite"/>
                      </p:stCondLst>
                      <p:childTnLst>
                        <p:par>
                          <p:cTn id="48" fill="hold">
                            <p:stCondLst>
                              <p:cond delay="0"/>
                            </p:stCondLst>
                            <p:childTnLst>
                              <p:par>
                                <p:cTn id="47" presetID="53" presetClass="entr" presetSubtype="16"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ppt_w</p:attrName>
                                        </p:attrNameLst>
                                      </p:cBhvr>
                                      <p:tavLst>
                                        <p:tav tm="0">
                                          <p:val>
                                            <p:strVal val="0"/>
                                          </p:val>
                                        </p:tav>
                                        <p:tav tm="100000">
                                          <p:val>
                                            <p:strVal val="#ppt_w"/>
                                          </p:val>
                                        </p:tav>
                                      </p:tavLst>
                                    </p:anim>
                                    <p:anim calcmode="lin" valueType="num">
                                      <p:cBhvr additive="base">
                                        <p:cTn id="45" dur="500" fill="hold"/>
                                        <p:tgtEl>
                                          <p:spTgt spid="10"/>
                                        </p:tgtEl>
                                        <p:attrNameLst>
                                          <p:attrName>ppt_h</p:attrName>
                                        </p:attrNameLst>
                                      </p:cBhvr>
                                      <p:tavLst>
                                        <p:tav tm="0">
                                          <p:val>
                                            <p:strVal val="0"/>
                                          </p:val>
                                        </p:tav>
                                        <p:tav tm="100000">
                                          <p:val>
                                            <p:strVal val="#ppt_h"/>
                                          </p:val>
                                        </p:tav>
                                      </p:tavLst>
                                    </p:anim>
                                    <p:animEffect transition="in" filter="fade">
                                      <p:cBhvr>
                                        <p:cTn id="46" dur="500"/>
                                        <p:tgtEl>
                                          <p:spTgt spid="10"/>
                                        </p:tgtEl>
                                      </p:cBhvr>
                                    </p:animEffect>
                                  </p:childTnLst>
                                </p:cTn>
                              </p:par>
                            </p:childTnLst>
                          </p:cTn>
                        </p:par>
                        <p:par>
                          <p:cTn id="54" fill="hold">
                            <p:stCondLst>
                              <p:cond delay="275"/>
                            </p:stCondLst>
                            <p:childTnLst>
                              <p:par>
                                <p:cTn id="53" presetID="53" presetClass="entr" presetSubtype="16"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ppt_w</p:attrName>
                                        </p:attrNameLst>
                                      </p:cBhvr>
                                      <p:tavLst>
                                        <p:tav tm="0">
                                          <p:val>
                                            <p:strVal val="0"/>
                                          </p:val>
                                        </p:tav>
                                        <p:tav tm="100000">
                                          <p:val>
                                            <p:strVal val="#ppt_w"/>
                                          </p:val>
                                        </p:tav>
                                      </p:tavLst>
                                    </p:anim>
                                    <p:anim calcmode="lin" valueType="num">
                                      <p:cBhvr additive="base">
                                        <p:cTn id="51" dur="500" fill="hold"/>
                                        <p:tgtEl>
                                          <p:spTgt spid="11"/>
                                        </p:tgtEl>
                                        <p:attrNameLst>
                                          <p:attrName>ppt_h</p:attrName>
                                        </p:attrNameLst>
                                      </p:cBhvr>
                                      <p:tavLst>
                                        <p:tav tm="0">
                                          <p:val>
                                            <p:strVal val="0"/>
                                          </p:val>
                                        </p:tav>
                                        <p:tav tm="100000">
                                          <p:val>
                                            <p:strVal val="#ppt_h"/>
                                          </p:val>
                                        </p:tav>
                                      </p:tavLst>
                                    </p:anim>
                                    <p:animEffect transition="in" filter="fade">
                                      <p:cBhvr>
                                        <p:cTn id="52" dur="500"/>
                                        <p:tgtEl>
                                          <p:spTgt spid="11"/>
                                        </p:tgtEl>
                                      </p:cBhvr>
                                    </p:animEffect>
                                  </p:childTnLst>
                                </p:cTn>
                              </p:par>
                            </p:childTnLst>
                          </p:cTn>
                        </p:par>
                        <p:par>
                          <p:cTn id="58" fill="hold">
                            <p:stCondLst>
                              <p:cond delay="550"/>
                            </p:stCondLst>
                            <p:childTnLst>
                              <p:par>
                                <p:cTn id="57"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childTnLst>
                                </p:cTn>
                              </p:par>
                            </p:childTnLst>
                          </p:cTn>
                        </p:par>
                      </p:childTnLst>
                    </p:cTn>
                  </p:par>
                  <p:par>
                    <p:cTn id="74" fill="hold">
                      <p:stCondLst>
                        <p:cond delay="indefinite"/>
                      </p:stCondLst>
                      <p:childTnLst>
                        <p:par>
                          <p:cTn id="63" fill="hold">
                            <p:stCondLst>
                              <p:cond delay="0"/>
                            </p:stCondLst>
                            <p:childTnLst>
                              <p:par>
                                <p:cTn id="62" presetID="22" presetClass="entr" presetSubtype="2"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600"/>
                                        <p:tgtEl>
                                          <p:spTgt spid="13"/>
                                        </p:tgtEl>
                                      </p:cBhvr>
                                    </p:animEffect>
                                  </p:childTnLst>
                                </p:cTn>
                              </p:par>
                            </p:childTnLst>
                          </p:cTn>
                        </p:par>
                        <p:par>
                          <p:cTn id="69" fill="hold">
                            <p:stCondLst>
                              <p:cond delay="330"/>
                            </p:stCondLst>
                            <p:childTnLst>
                              <p:par>
                                <p:cTn id="68" presetID="42" presetClass="entr" presetSubtype="0"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additive="base">
                                        <p:cTn id="66" dur="700" fill="hold"/>
                                        <p:tgtEl>
                                          <p:spTgt spid="14"/>
                                        </p:tgtEl>
                                        <p:attrNameLst>
                                          <p:attrName>ppt_x</p:attrName>
                                        </p:attrNameLst>
                                      </p:cBhvr>
                                      <p:tavLst>
                                        <p:tav tm="0">
                                          <p:val>
                                            <p:strVal val="#ppt_x"/>
                                          </p:val>
                                        </p:tav>
                                        <p:tav tm="100000">
                                          <p:val>
                                            <p:strVal val="#ppt_x"/>
                                          </p:val>
                                        </p:tav>
                                      </p:tavLst>
                                    </p:anim>
                                    <p:anim calcmode="lin" valueType="num">
                                      <p:cBhvr additive="base">
                                        <p:cTn id="67" dur="700" fill="hold"/>
                                        <p:tgtEl>
                                          <p:spTgt spid="14"/>
                                        </p:tgtEl>
                                        <p:attrNameLst>
                                          <p:attrName>ppt_y</p:attrName>
                                        </p:attrNameLst>
                                      </p:cBhvr>
                                      <p:tavLst>
                                        <p:tav tm="0">
                                          <p:val>
                                            <p:strVal val="#ppt_y+.1"/>
                                          </p:val>
                                        </p:tav>
                                        <p:tav tm="100000">
                                          <p:val>
                                            <p:strVal val="#ppt_y"/>
                                          </p:val>
                                        </p:tav>
                                      </p:tavLst>
                                    </p:anim>
                                  </p:childTnLst>
                                </p:cTn>
                              </p:par>
                            </p:childTnLst>
                          </p:cTn>
                        </p:par>
                        <p:par>
                          <p:cTn id="73" fill="hold">
                            <p:stCondLst>
                              <p:cond delay="715"/>
                            </p:stCondLst>
                            <p:childTnLst>
                              <p:par>
                                <p:cTn id="72"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childTnLst>
                                </p:cTn>
                              </p:par>
                            </p:childTnLst>
                          </p:cTn>
                        </p:par>
                      </p:childTnLst>
                    </p:cTn>
                  </p:par>
                  <p:par>
                    <p:cTn id="91" fill="hold">
                      <p:stCondLst>
                        <p:cond delay="indefinite"/>
                      </p:stCondLst>
                      <p:childTnLst>
                        <p:par>
                          <p:cTn id="80" fill="hold">
                            <p:stCondLst>
                              <p:cond delay="0"/>
                            </p:stCondLst>
                            <p:childTnLst>
                              <p:par>
                                <p:cTn id="79" presetID="53" presetClass="entr" presetSubtype="16"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ppt_w</p:attrName>
                                        </p:attrNameLst>
                                      </p:cBhvr>
                                      <p:tavLst>
                                        <p:tav tm="0">
                                          <p:val>
                                            <p:strVal val="0"/>
                                          </p:val>
                                        </p:tav>
                                        <p:tav tm="100000">
                                          <p:val>
                                            <p:strVal val="#ppt_w"/>
                                          </p:val>
                                        </p:tav>
                                      </p:tavLst>
                                    </p:anim>
                                    <p:anim calcmode="lin" valueType="num">
                                      <p:cBhvr additive="base">
                                        <p:cTn id="77" dur="500" fill="hold"/>
                                        <p:tgtEl>
                                          <p:spTgt spid="16"/>
                                        </p:tgtEl>
                                        <p:attrNameLst>
                                          <p:attrName>ppt_h</p:attrName>
                                        </p:attrNameLst>
                                      </p:cBhvr>
                                      <p:tavLst>
                                        <p:tav tm="0">
                                          <p:val>
                                            <p:strVal val="0"/>
                                          </p:val>
                                        </p:tav>
                                        <p:tav tm="100000">
                                          <p:val>
                                            <p:strVal val="#ppt_h"/>
                                          </p:val>
                                        </p:tav>
                                      </p:tavLst>
                                    </p:anim>
                                    <p:animEffect transition="in" filter="fade">
                                      <p:cBhvr>
                                        <p:cTn id="78" dur="500"/>
                                        <p:tgtEl>
                                          <p:spTgt spid="16"/>
                                        </p:tgtEl>
                                      </p:cBhvr>
                                    </p:animEffect>
                                  </p:childTnLst>
                                </p:cTn>
                              </p:par>
                            </p:childTnLst>
                          </p:cTn>
                        </p:par>
                        <p:par>
                          <p:cTn id="86" fill="hold">
                            <p:stCondLst>
                              <p:cond delay="275"/>
                            </p:stCondLst>
                            <p:childTnLst>
                              <p:par>
                                <p:cTn id="85" presetID="42"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ppt_x</p:attrName>
                                        </p:attrNameLst>
                                      </p:cBhvr>
                                      <p:tavLst>
                                        <p:tav tm="0">
                                          <p:val>
                                            <p:strVal val="#ppt_x"/>
                                          </p:val>
                                        </p:tav>
                                        <p:tav tm="100000">
                                          <p:val>
                                            <p:strVal val="#ppt_x"/>
                                          </p:val>
                                        </p:tav>
                                      </p:tavLst>
                                    </p:anim>
                                    <p:anim calcmode="lin" valueType="num">
                                      <p:cBhvr additive="base">
                                        <p:cTn id="84" dur="700" fill="hold"/>
                                        <p:tgtEl>
                                          <p:spTgt spid="17"/>
                                        </p:tgtEl>
                                        <p:attrNameLst>
                                          <p:attrName>ppt_y</p:attrName>
                                        </p:attrNameLst>
                                      </p:cBhvr>
                                      <p:tavLst>
                                        <p:tav tm="0">
                                          <p:val>
                                            <p:strVal val="#ppt_y+.1"/>
                                          </p:val>
                                        </p:tav>
                                        <p:tav tm="100000">
                                          <p:val>
                                            <p:strVal val="#ppt_y"/>
                                          </p:val>
                                        </p:tav>
                                      </p:tavLst>
                                    </p:anim>
                                  </p:childTnLst>
                                </p:cTn>
                              </p:par>
                            </p:childTnLst>
                          </p:cTn>
                        </p:par>
                        <p:par>
                          <p:cTn id="90" fill="hold">
                            <p:stCondLst>
                              <p:cond delay="660"/>
                            </p:stCondLst>
                            <p:childTnLst>
                              <p:par>
                                <p:cTn id="89" presetID="10" presetClass="entr" presetSubtype="0" fill="hold" grpId="0" nodeType="after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childTnLst>
                                </p:cTn>
                              </p:par>
                            </p:childTnLst>
                          </p:cTn>
                        </p:par>
                      </p:childTnLst>
                    </p:cTn>
                  </p:par>
                  <p:par>
                    <p:cTn id="98" fill="hold">
                      <p:stCondLst>
                        <p:cond delay="indefinite"/>
                      </p:stCondLst>
                      <p:childTnLst>
                        <p:par>
                          <p:cTn id="97" fill="hold">
                            <p:stCondLst>
                              <p:cond delay="0"/>
                            </p:stCondLst>
                            <p:childTnLst>
                              <p:par>
                                <p:cTn id="96" presetID="53" presetClass="entr" presetSubtype="16"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500" fill="hold"/>
                                        <p:tgtEl>
                                          <p:spTgt spid="19"/>
                                        </p:tgtEl>
                                        <p:attrNameLst>
                                          <p:attrName>ppt_w</p:attrName>
                                        </p:attrNameLst>
                                      </p:cBhvr>
                                      <p:tavLst>
                                        <p:tav tm="0">
                                          <p:val>
                                            <p:strVal val="0"/>
                                          </p:val>
                                        </p:tav>
                                        <p:tav tm="100000">
                                          <p:val>
                                            <p:strVal val="#ppt_w"/>
                                          </p:val>
                                        </p:tav>
                                      </p:tavLst>
                                    </p:anim>
                                    <p:anim calcmode="lin" valueType="num">
                                      <p:cBhvr additive="base">
                                        <p:cTn id="94" dur="500" fill="hold"/>
                                        <p:tgtEl>
                                          <p:spTgt spid="19"/>
                                        </p:tgtEl>
                                        <p:attrNameLst>
                                          <p:attrName>ppt_h</p:attrName>
                                        </p:attrNameLst>
                                      </p:cBhvr>
                                      <p:tavLst>
                                        <p:tav tm="0">
                                          <p:val>
                                            <p:strVal val="0"/>
                                          </p:val>
                                        </p:tav>
                                        <p:tav tm="100000">
                                          <p:val>
                                            <p:strVal val="#ppt_h"/>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استثناء في طاقة الميل الإلكتروني</a:t>
            </a:r>
            <a:endParaRPr lang="en-US" sz="2800" dirty="0"/>
          </a:p>
        </p:txBody>
      </p:sp>
      <p:sp>
        <p:nvSpPr>
          <p:cNvPr id="3" name="zoom:a:2"/>
          <p:cNvSpPr/>
          <p:nvPr/>
        </p:nvSpPr>
        <p:spPr>
          <a:xfrm>
            <a:off x="411480" y="1325880"/>
            <a:ext cx="11384280" cy="731520"/>
          </a:xfrm>
          <a:prstGeom prst="roundRect">
            <a:avLst>
              <a:gd name="adj" fmla="val 17500"/>
            </a:avLst>
          </a:prstGeom>
          <a:solidFill>
            <a:srgbClr val="0D9488"/>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2200" b="1" dirty="0">
                <a:solidFill>
                  <a:srgbClr val="FFFFFF"/>
                </a:solidFill>
                <a:latin typeface="Segoe UI" pitchFamily="34" charset="0"/>
                <a:ea typeface="Segoe UI" pitchFamily="34" charset="-122"/>
                <a:cs typeface="Segoe UI" pitchFamily="34" charset="-120"/>
              </a:rPr>
              <a:t>الميل الإلكتروني للفلور أقل من الميل الإلكتروني للكلور </a:t>
            </a:r>
            <a:pPr rtl="1" algn="ctr" indent="0" marL="0">
              <a:lnSpc>
                <a:spcPct val="105000"/>
              </a:lnSpc>
              <a:buNone/>
            </a:pPr>
            <a:r>
              <a:rPr lang="ar-SA" altLang="en-US" sz="2200" b="1" dirty="0">
                <a:solidFill>
                  <a:srgbClr val="FDE68A"/>
                </a:solidFill>
                <a:latin typeface="Segoe UI" pitchFamily="34" charset="0"/>
                <a:ea typeface="Segoe UI" pitchFamily="34" charset="-122"/>
                <a:cs typeface="Segoe UI" pitchFamily="34" charset="-120"/>
              </a:rPr>
              <a:t>(علل).</a:t>
            </a:r>
            <a:endParaRPr lang="ar-SA" sz="2200" dirty="0"/>
          </a:p>
        </p:txBody>
      </p:sp>
      <p:pic>
        <p:nvPicPr>
          <p:cNvPr id="4" name="zoom:a:3" descr="l/atom_F.png">    </p:cNvPr>
          <p:cNvPicPr>
            <a:picLocks noChangeAspect="1"/>
          </p:cNvPicPr>
          <p:nvPr/>
        </p:nvPicPr>
        <p:blipFill>
          <a:blip r:embed="rId1"/>
          <a:stretch>
            <a:fillRect/>
          </a:stretch>
        </p:blipFill>
        <p:spPr>
          <a:xfrm>
            <a:off x="8229600" y="2286000"/>
            <a:ext cx="1554480" cy="1554480"/>
          </a:xfrm>
          <a:prstGeom prst="rect">
            <a:avLst/>
          </a:prstGeom>
        </p:spPr>
      </p:pic>
      <p:sp>
        <p:nvSpPr>
          <p:cNvPr id="5" name="float:w:4"/>
          <p:cNvSpPr/>
          <p:nvPr/>
        </p:nvSpPr>
        <p:spPr>
          <a:xfrm>
            <a:off x="7315200" y="3931920"/>
            <a:ext cx="3474720" cy="502920"/>
          </a:xfrm>
          <a:prstGeom prst="roundRect">
            <a:avLst>
              <a:gd name="adj" fmla="val 50000"/>
            </a:avLst>
          </a:prstGeom>
          <a:solidFill>
            <a:srgbClr val="DC2626"/>
          </a:solidFill>
          <a:ln/>
        </p:spPr>
        <p:txBody>
          <a:bodyPr wrap="square" lIns="76200" tIns="152400" rIns="152400" bIns="76200" rtlCol="0" anchor="ctr"/>
          <a:lstStyle/>
          <a:p>
            <a:pPr rtl="1" algn="ctr" indent="0" marL="0">
              <a:lnSpc>
                <a:spcPct val="105000"/>
              </a:lnSpc>
              <a:buNone/>
            </a:pPr>
            <a:r>
              <a:rPr lang="ar-SA" altLang="en-US" sz="1500" b="1" dirty="0">
                <a:solidFill>
                  <a:srgbClr val="FFFFFF"/>
                </a:solidFill>
                <a:latin typeface="Segoe UI" pitchFamily="34" charset="0"/>
                <a:ea typeface="Segoe UI" pitchFamily="34" charset="-122"/>
                <a:cs typeface="Segoe UI" pitchFamily="34" charset="-120"/>
              </a:rPr>
              <a:t>الفلور: حجم صغير ← تنافر شديد</a:t>
            </a:r>
            <a:endParaRPr lang="ar-SA" sz="1500" dirty="0"/>
          </a:p>
        </p:txBody>
      </p:sp>
      <p:pic>
        <p:nvPicPr>
          <p:cNvPr id="6" name="zoom:a:5" descr="l/atom_Cl.png">    </p:cNvPr>
          <p:cNvPicPr>
            <a:picLocks noChangeAspect="1"/>
          </p:cNvPicPr>
          <p:nvPr/>
        </p:nvPicPr>
        <p:blipFill>
          <a:blip r:embed="rId2"/>
          <a:stretch>
            <a:fillRect/>
          </a:stretch>
        </p:blipFill>
        <p:spPr>
          <a:xfrm>
            <a:off x="1097280" y="2194560"/>
            <a:ext cx="2011680" cy="2011680"/>
          </a:xfrm>
          <a:prstGeom prst="rect">
            <a:avLst/>
          </a:prstGeom>
        </p:spPr>
      </p:pic>
      <p:sp>
        <p:nvSpPr>
          <p:cNvPr id="7" name="float:w:6"/>
          <p:cNvSpPr/>
          <p:nvPr/>
        </p:nvSpPr>
        <p:spPr>
          <a:xfrm>
            <a:off x="411480" y="4297680"/>
            <a:ext cx="3474720" cy="50292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500" b="1" dirty="0">
                <a:solidFill>
                  <a:srgbClr val="FFFFFF"/>
                </a:solidFill>
                <a:latin typeface="Segoe UI" pitchFamily="34" charset="0"/>
                <a:ea typeface="Segoe UI" pitchFamily="34" charset="-122"/>
                <a:cs typeface="Segoe UI" pitchFamily="34" charset="-120"/>
              </a:rPr>
              <a:t>الكلور: حجم أكبر ← تنافر أقل</a:t>
            </a:r>
            <a:endParaRPr lang="ar-SA" sz="1500" dirty="0"/>
          </a:p>
        </p:txBody>
      </p:sp>
      <p:pic>
        <p:nvPicPr>
          <p:cNvPr id="8" name="zoom:a:7" descr="h_spark.png">    </p:cNvPr>
          <p:cNvPicPr>
            <a:picLocks noChangeAspect="1"/>
          </p:cNvPicPr>
          <p:nvPr/>
        </p:nvPicPr>
        <p:blipFill>
          <a:blip r:embed="rId3"/>
          <a:stretch>
            <a:fillRect/>
          </a:stretch>
        </p:blipFill>
        <p:spPr>
          <a:xfrm>
            <a:off x="4114800" y="2794378"/>
            <a:ext cx="3017520" cy="1269244"/>
          </a:xfrm>
          <a:prstGeom prst="rect">
            <a:avLst/>
          </a:prstGeom>
        </p:spPr>
      </p:pic>
      <p:sp>
        <p:nvSpPr>
          <p:cNvPr id="9" name="float:c:8"/>
          <p:cNvSpPr/>
          <p:nvPr/>
        </p:nvSpPr>
        <p:spPr>
          <a:xfrm>
            <a:off x="411480" y="4983480"/>
            <a:ext cx="11384280" cy="1463040"/>
          </a:xfrm>
          <a:prstGeom prst="roundRect">
            <a:avLst>
              <a:gd name="adj" fmla="val 875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وذلك بسبب صغر حجم الفلور فإنّ الإلكترون المضاف </a:t>
            </a:r>
            <a:pPr rtl="1" algn="r" indent="0" marL="0">
              <a:lnSpc>
                <a:spcPct val="105000"/>
              </a:lnSpc>
              <a:buNone/>
            </a:pPr>
            <a:r>
              <a:rPr lang="ar-SA" altLang="en-US" sz="1700" b="1" dirty="0">
                <a:solidFill>
                  <a:srgbClr val="DC2626"/>
                </a:solidFill>
                <a:latin typeface="Segoe UI" pitchFamily="34" charset="0"/>
                <a:ea typeface="Segoe UI" pitchFamily="34" charset="-122"/>
                <a:cs typeface="Segoe UI" pitchFamily="34" charset="-120"/>
              </a:rPr>
              <a:t>يتنافر بشدة</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مع الإلكترونات التسعة الأصلية الموجودة مما يقلل من استقرار الذرة فتقل طاقة الميل الإلكتروني، بينما ذرة الكلور أكبر حجمًا لذلك يكون التنافر أقل، وعليه فإنّ العنصر الذي له </a:t>
            </a:r>
            <a:pPr rtl="1" algn="r" indent="0" marL="0">
              <a:lnSpc>
                <a:spcPct val="105000"/>
              </a:lnSpc>
              <a:buNone/>
            </a:pPr>
            <a:r>
              <a:rPr lang="ar-SA" altLang="en-US" sz="1700" b="1" dirty="0">
                <a:solidFill>
                  <a:srgbClr val="0D9488"/>
                </a:solidFill>
                <a:latin typeface="Segoe UI" pitchFamily="34" charset="0"/>
                <a:ea typeface="Segoe UI" pitchFamily="34" charset="-122"/>
                <a:cs typeface="Segoe UI" pitchFamily="34" charset="-120"/>
              </a:rPr>
              <a:t>أعلى ميل إلكتروني في الجدول الدوري هو الكلور </a:t>
            </a:r>
            <a:pPr rtl="1" algn="r" indent="0" marL="0">
              <a:lnSpc>
                <a:spcPct val="105000"/>
              </a:lnSpc>
              <a:buNone/>
            </a:pPr>
            <a:r>
              <a:rPr lang="ar-SA" altLang="en-US" sz="1700" b="1" baseline="-40000" dirty="0">
                <a:solidFill>
                  <a:srgbClr val="0D9488"/>
                </a:solidFill>
                <a:latin typeface="Segoe UI" pitchFamily="34" charset="0"/>
                <a:ea typeface="Segoe UI" pitchFamily="34" charset="-122"/>
                <a:cs typeface="Segoe UI" pitchFamily="34" charset="-120"/>
              </a:rPr>
              <a:t>17</a:t>
            </a:r>
            <a:pPr rtl="1" algn="r" indent="0" marL="0">
              <a:lnSpc>
                <a:spcPct val="105000"/>
              </a:lnSpc>
              <a:buNone/>
            </a:pPr>
            <a:r>
              <a:rPr lang="ar-SA" altLang="en-US" sz="1700" b="1" dirty="0">
                <a:solidFill>
                  <a:srgbClr val="0D9488"/>
                </a:solidFill>
                <a:latin typeface="Segoe UI" pitchFamily="34" charset="0"/>
                <a:ea typeface="Segoe UI" pitchFamily="34" charset="-122"/>
                <a:cs typeface="Segoe UI" pitchFamily="34" charset="-120"/>
              </a:rPr>
              <a:t>Cl</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childTnLst>
                          </p:cTn>
                        </p:par>
                        <p:par>
                          <p:cTn id="19" fill="hold">
                            <p:stCondLst>
                              <p:cond delay="27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par>
                                <p:cTn id="18" presetID="42"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1"/>
                                          </p:val>
                                        </p:tav>
                                        <p:tav tm="100000">
                                          <p:val>
                                            <p:strVal val="#ppt_y"/>
                                          </p:val>
                                        </p:tav>
                                      </p:tavLst>
                                    </p:anim>
                                  </p:childTnLst>
                                </p:cTn>
                              </p:par>
                            </p:childTnLst>
                          </p:cTn>
                        </p:par>
                        <p:par>
                          <p:cTn id="30" fill="hold">
                            <p:stCondLst>
                              <p:cond delay="660"/>
                            </p:stCondLst>
                            <p:childTnLst>
                              <p:par>
                                <p:cTn id="24" presetID="53" presetClass="entr" presetSubtype="1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par>
                                <p:cTn id="29"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00"/>
                                        <p:tgtEl>
                                          <p:spTgt spid="7"/>
                                        </p:tgtEl>
                                      </p:cBhvr>
                                    </p:animEffect>
                                    <p:anim calcmode="lin" valueType="num">
                                      <p:cBhvr additive="base">
                                        <p:cTn id="27" dur="700" fill="hold"/>
                                        <p:tgtEl>
                                          <p:spTgt spid="7"/>
                                        </p:tgtEl>
                                        <p:attrNameLst>
                                          <p:attrName>ppt_x</p:attrName>
                                        </p:attrNameLst>
                                      </p:cBhvr>
                                      <p:tavLst>
                                        <p:tav tm="0">
                                          <p:val>
                                            <p:strVal val="#ppt_x"/>
                                          </p:val>
                                        </p:tav>
                                        <p:tav tm="100000">
                                          <p:val>
                                            <p:strVal val="#ppt_x"/>
                                          </p:val>
                                        </p:tav>
                                      </p:tavLst>
                                    </p:anim>
                                    <p:anim calcmode="lin" valueType="num">
                                      <p:cBhvr additive="base">
                                        <p:cTn id="28" dur="7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1045"/>
                            </p:stCondLst>
                            <p:childTnLst>
                              <p:par>
                                <p:cTn id="35" presetID="53" presetClass="entr" presetSubtype="16"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ppt_w</p:attrName>
                                        </p:attrNameLst>
                                      </p:cBhvr>
                                      <p:tavLst>
                                        <p:tav tm="0">
                                          <p:val>
                                            <p:strVal val="0"/>
                                          </p:val>
                                        </p:tav>
                                        <p:tav tm="100000">
                                          <p:val>
                                            <p:strVal val="#ppt_w"/>
                                          </p:val>
                                        </p:tav>
                                      </p:tavLst>
                                    </p:anim>
                                    <p:anim calcmode="lin" valueType="num">
                                      <p:cBhvr additive="base">
                                        <p:cTn id="33" dur="500" fill="hold"/>
                                        <p:tgtEl>
                                          <p:spTgt spid="8"/>
                                        </p:tgtEl>
                                        <p:attrNameLst>
                                          <p:attrName>ppt_h</p:attrName>
                                        </p:attrNameLst>
                                      </p:cBhvr>
                                      <p:tavLst>
                                        <p:tav tm="0">
                                          <p:val>
                                            <p:strVal val="0"/>
                                          </p:val>
                                        </p:tav>
                                        <p:tav tm="100000">
                                          <p:val>
                                            <p:strVal val="#ppt_h"/>
                                          </p:val>
                                        </p:tav>
                                      </p:tavLst>
                                    </p:anim>
                                    <p:animEffect transition="in" filter="fade">
                                      <p:cBhvr>
                                        <p:cTn id="34" dur="500"/>
                                        <p:tgtEl>
                                          <p:spTgt spid="8"/>
                                        </p:tgtEl>
                                      </p:cBhvr>
                                    </p:animEffect>
                                  </p:childTnLst>
                                </p:cTn>
                              </p:par>
                            </p:childTnLst>
                          </p:cTn>
                        </p:par>
                      </p:childTnLst>
                    </p:cTn>
                  </p:par>
                  <p:par>
                    <p:cTn id="44" fill="hold">
                      <p:stCondLst>
                        <p:cond delay="indefinite"/>
                      </p:stCondLst>
                      <p:childTnLst>
                        <p:par>
                          <p:cTn id="43" fill="hold">
                            <p:stCondLst>
                              <p:cond delay="0"/>
                            </p:stCondLst>
                            <p:childTnLst>
                              <p:par>
                                <p:cTn id="42" presetID="42"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700"/>
                                        <p:tgtEl>
                                          <p:spTgt spid="9"/>
                                        </p:tgtEl>
                                      </p:cBhvr>
                                    </p:animEffect>
                                    <p:anim calcmode="lin" valueType="num">
                                      <p:cBhvr additive="base">
                                        <p:cTn id="40" dur="700" fill="hold"/>
                                        <p:tgtEl>
                                          <p:spTgt spid="9"/>
                                        </p:tgtEl>
                                        <p:attrNameLst>
                                          <p:attrName>ppt_x</p:attrName>
                                        </p:attrNameLst>
                                      </p:cBhvr>
                                      <p:tavLst>
                                        <p:tav tm="0">
                                          <p:val>
                                            <p:strVal val="#ppt_x"/>
                                          </p:val>
                                        </p:tav>
                                        <p:tav tm="100000">
                                          <p:val>
                                            <p:strVal val="#ppt_x"/>
                                          </p:val>
                                        </p:tav>
                                      </p:tavLst>
                                    </p:anim>
                                    <p:anim calcmode="lin" valueType="num">
                                      <p:cBhvr additive="base">
                                        <p:cTn id="41" dur="7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دعنا نلخص: طاقة الميل الإلكتروني</a:t>
            </a:r>
            <a:endParaRPr lang="en-US" sz="2800" dirty="0"/>
          </a:p>
        </p:txBody>
      </p:sp>
      <p:sp>
        <p:nvSpPr>
          <p:cNvPr id="3" name="float:c:2"/>
          <p:cNvSpPr/>
          <p:nvPr/>
        </p:nvSpPr>
        <p:spPr>
          <a:xfrm>
            <a:off x="5120640" y="1371600"/>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تقل</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طاقة الميل الإلكتروني للعناصر تدريجيًّا خلال المجموعة من أعلى إلى أسفل.</a:t>
            </a:r>
            <a:endParaRPr lang="ar-SA" sz="1500" dirty="0"/>
          </a:p>
        </p:txBody>
      </p:sp>
      <p:sp>
        <p:nvSpPr>
          <p:cNvPr id="4" name="zoom:w:3"/>
          <p:cNvSpPr/>
          <p:nvPr/>
        </p:nvSpPr>
        <p:spPr>
          <a:xfrm>
            <a:off x="11384280" y="1512570"/>
            <a:ext cx="457200" cy="457200"/>
          </a:xfrm>
          <a:prstGeom prst="ellipse">
            <a:avLst/>
          </a:prstGeom>
          <a:solidFill>
            <a:srgbClr val="0D9488"/>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5" name="float:c:4"/>
          <p:cNvSpPr/>
          <p:nvPr/>
        </p:nvSpPr>
        <p:spPr>
          <a:xfrm>
            <a:off x="5120640" y="2238756"/>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تزداد</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طاقة الميل الإلكتروني للعناصر تدريجيًّا خلال الدورة من اليسار إلى اليمين.</a:t>
            </a:r>
            <a:endParaRPr lang="ar-SA" sz="1500" dirty="0"/>
          </a:p>
        </p:txBody>
      </p:sp>
      <p:sp>
        <p:nvSpPr>
          <p:cNvPr id="6" name="zoom:w:5"/>
          <p:cNvSpPr/>
          <p:nvPr/>
        </p:nvSpPr>
        <p:spPr>
          <a:xfrm>
            <a:off x="11384280" y="2379726"/>
            <a:ext cx="457200" cy="457200"/>
          </a:xfrm>
          <a:prstGeom prst="ellipse">
            <a:avLst/>
          </a:prstGeom>
          <a:solidFill>
            <a:srgbClr val="0D9488"/>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7" name="float:c:6"/>
          <p:cNvSpPr/>
          <p:nvPr/>
        </p:nvSpPr>
        <p:spPr>
          <a:xfrm>
            <a:off x="5120640" y="3105912"/>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فلزات الأقلاء</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لها أقل طاقة ميل إلكتروني في دورتها.</a:t>
            </a:r>
            <a:endParaRPr lang="ar-SA" sz="1500" dirty="0"/>
          </a:p>
        </p:txBody>
      </p:sp>
      <p:sp>
        <p:nvSpPr>
          <p:cNvPr id="8" name="zoom:w:7"/>
          <p:cNvSpPr/>
          <p:nvPr/>
        </p:nvSpPr>
        <p:spPr>
          <a:xfrm>
            <a:off x="11384280" y="3246882"/>
            <a:ext cx="457200" cy="457200"/>
          </a:xfrm>
          <a:prstGeom prst="ellipse">
            <a:avLst/>
          </a:prstGeom>
          <a:solidFill>
            <a:srgbClr val="0D9488"/>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9" name="float:c:8"/>
          <p:cNvSpPr/>
          <p:nvPr/>
        </p:nvSpPr>
        <p:spPr>
          <a:xfrm>
            <a:off x="5120640" y="3973068"/>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الهالوجينات</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لها أعلى طاقة ميل إلكتروني في دورتها.</a:t>
            </a:r>
            <a:endParaRPr lang="ar-SA" sz="1500" dirty="0"/>
          </a:p>
        </p:txBody>
      </p:sp>
      <p:sp>
        <p:nvSpPr>
          <p:cNvPr id="10" name="zoom:w:9"/>
          <p:cNvSpPr/>
          <p:nvPr/>
        </p:nvSpPr>
        <p:spPr>
          <a:xfrm>
            <a:off x="11384280" y="4114038"/>
            <a:ext cx="457200" cy="457200"/>
          </a:xfrm>
          <a:prstGeom prst="ellipse">
            <a:avLst/>
          </a:prstGeom>
          <a:solidFill>
            <a:srgbClr val="0D9488"/>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1" name="float:c:10"/>
          <p:cNvSpPr/>
          <p:nvPr/>
        </p:nvSpPr>
        <p:spPr>
          <a:xfrm>
            <a:off x="5120640" y="4840224"/>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الغازات النبيلة: </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غالبًا طاقة الميل الإلكتروني تكون ممتصة؛ بسبب استقرار تركيبها الإلكتروني واكتمال مستوياتها.</a:t>
            </a:r>
            <a:endParaRPr lang="ar-SA" sz="1500" dirty="0"/>
          </a:p>
        </p:txBody>
      </p:sp>
      <p:sp>
        <p:nvSpPr>
          <p:cNvPr id="12" name="zoom:w:11"/>
          <p:cNvSpPr/>
          <p:nvPr/>
        </p:nvSpPr>
        <p:spPr>
          <a:xfrm>
            <a:off x="11384280" y="4981194"/>
            <a:ext cx="457200" cy="457200"/>
          </a:xfrm>
          <a:prstGeom prst="ellipse">
            <a:avLst/>
          </a:prstGeom>
          <a:solidFill>
            <a:srgbClr val="0D9488"/>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13" name="float:c:12"/>
          <p:cNvSpPr/>
          <p:nvPr/>
        </p:nvSpPr>
        <p:spPr>
          <a:xfrm>
            <a:off x="5120640" y="5707380"/>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عنصر </a:t>
            </a:r>
            <a:pPr rtl="1" algn="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الكلور Cl</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يمتلك أعلى قيمة طاقة ميل إلكتروني في الجدول الدوري الحديث.</a:t>
            </a:r>
            <a:endParaRPr lang="ar-SA" sz="1500" dirty="0"/>
          </a:p>
        </p:txBody>
      </p:sp>
      <p:sp>
        <p:nvSpPr>
          <p:cNvPr id="14" name="zoom:w:13"/>
          <p:cNvSpPr/>
          <p:nvPr/>
        </p:nvSpPr>
        <p:spPr>
          <a:xfrm>
            <a:off x="11384280" y="5848350"/>
            <a:ext cx="457200" cy="457200"/>
          </a:xfrm>
          <a:prstGeom prst="ellipse">
            <a:avLst/>
          </a:prstGeom>
          <a:solidFill>
            <a:srgbClr val="0D9488"/>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6</a:t>
            </a:r>
            <a:endParaRPr lang="en-US" sz="1600" dirty="0"/>
          </a:p>
        </p:txBody>
      </p:sp>
      <p:sp>
        <p:nvSpPr>
          <p:cNvPr id="15" name="fade:a:14"/>
          <p:cNvSpPr/>
          <p:nvPr/>
        </p:nvSpPr>
        <p:spPr>
          <a:xfrm>
            <a:off x="411480" y="1371600"/>
            <a:ext cx="4480560" cy="3794760"/>
          </a:xfrm>
          <a:prstGeom prst="roundRect">
            <a:avLst>
              <a:gd name="adj" fmla="val 33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6" name="zoom:a:15" descr="l/trend_ea.png">    </p:cNvPr>
          <p:cNvPicPr>
            <a:picLocks noChangeAspect="1"/>
          </p:cNvPicPr>
          <p:nvPr/>
        </p:nvPicPr>
        <p:blipFill>
          <a:blip r:embed="rId1"/>
          <a:stretch>
            <a:fillRect/>
          </a:stretch>
        </p:blipFill>
        <p:spPr>
          <a:xfrm>
            <a:off x="548640" y="2147316"/>
            <a:ext cx="4206240" cy="2243328"/>
          </a:xfrm>
          <a:prstGeom prst="rect">
            <a:avLst/>
          </a:prstGeom>
        </p:spPr>
      </p:pic>
      <p:sp>
        <p:nvSpPr>
          <p:cNvPr id="17" name="float:a:16"/>
          <p:cNvSpPr/>
          <p:nvPr/>
        </p:nvSpPr>
        <p:spPr>
          <a:xfrm>
            <a:off x="411480" y="5349240"/>
            <a:ext cx="2176272" cy="548640"/>
          </a:xfrm>
          <a:prstGeom prst="roundRect">
            <a:avLst>
              <a:gd name="adj" fmla="val 50000"/>
            </a:avLst>
          </a:prstGeom>
          <a:solidFill>
            <a:srgbClr val="0D9488"/>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المجموعة ↓ تقل</a:t>
            </a:r>
            <a:endParaRPr lang="ar-SA" sz="1400" dirty="0"/>
          </a:p>
        </p:txBody>
      </p:sp>
      <p:sp>
        <p:nvSpPr>
          <p:cNvPr id="18" name="float:w:17"/>
          <p:cNvSpPr/>
          <p:nvPr/>
        </p:nvSpPr>
        <p:spPr>
          <a:xfrm>
            <a:off x="2715768" y="5349240"/>
            <a:ext cx="2176272" cy="548640"/>
          </a:xfrm>
          <a:prstGeom prst="roundRect">
            <a:avLst>
              <a:gd name="adj" fmla="val 50000"/>
            </a:avLst>
          </a:prstGeom>
          <a:solidFill>
            <a:srgbClr val="0B2545"/>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الدورة ← تزداد</a:t>
            </a:r>
            <a:endParaRPr lang="ar-SA" sz="1400" dirty="0"/>
          </a:p>
        </p:txBody>
      </p:sp>
      <p:sp>
        <p:nvSpPr>
          <p:cNvPr id="19" name="fade:a:18"/>
          <p:cNvSpPr txBox="1"/>
          <p:nvPr/>
        </p:nvSpPr>
        <p:spPr>
          <a:xfrm>
            <a:off x="411480" y="6035040"/>
            <a:ext cx="4480560" cy="457200"/>
          </a:xfrm>
          <a:prstGeom prst="rect">
            <a:avLst/>
          </a:prstGeom>
          <a:noFill/>
          <a:ln/>
        </p:spPr>
        <p:txBody>
          <a:bodyPr wrap="square" lIns="76200" tIns="152400" rIns="152400" bIns="76200" rtlCol="0" anchor="ctr"/>
          <a:lstStyle/>
          <a:p>
            <a:pPr rtl="1" algn="ctr" indent="0" marL="0">
              <a:lnSpc>
                <a:spcPct val="105000"/>
              </a:lnSpc>
              <a:buNone/>
            </a:pPr>
            <a:r>
              <a:rPr lang="ar-SA" altLang="en-US" sz="1500" b="1" dirty="0">
                <a:solidFill>
                  <a:srgbClr val="0D9488"/>
                </a:solidFill>
                <a:latin typeface="Segoe UI" pitchFamily="34" charset="0"/>
                <a:ea typeface="Segoe UI" pitchFamily="34" charset="-122"/>
                <a:cs typeface="Segoe UI" pitchFamily="34" charset="-120"/>
              </a:rPr>
              <a:t>دعنا نلخص ما سبق</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4" fill="hold">
                      <p:stCondLst>
                        <p:cond delay="indefinite"/>
                      </p:stCondLst>
                      <p:childTnLst>
                        <p:par>
                          <p:cTn id="13"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53" presetClass="entr" presetSubtype="16"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ppt_w</p:attrName>
                                        </p:attrNameLst>
                                      </p:cBhvr>
                                      <p:tavLst>
                                        <p:tav tm="0">
                                          <p:val>
                                            <p:strVal val="0"/>
                                          </p:val>
                                        </p:tav>
                                        <p:tav tm="100000">
                                          <p:val>
                                            <p:strVal val="#ppt_w"/>
                                          </p:val>
                                        </p:tav>
                                      </p:tavLst>
                                    </p:anim>
                                    <p:anim calcmode="lin" valueType="num">
                                      <p:cBhvr additive="base">
                                        <p:cTn id="10" dur="500" fill="hold"/>
                                        <p:tgtEl>
                                          <p:spTgt spid="4"/>
                                        </p:tgtEl>
                                        <p:attrNameLst>
                                          <p:attrName>ppt_h</p:attrName>
                                        </p:attrNameLst>
                                      </p:cBhvr>
                                      <p:tavLst>
                                        <p:tav tm="0">
                                          <p:val>
                                            <p:strVal val="0"/>
                                          </p:val>
                                        </p:tav>
                                        <p:tav tm="100000">
                                          <p:val>
                                            <p:strVal val="#ppt_h"/>
                                          </p:val>
                                        </p:tav>
                                      </p:tavLst>
                                    </p:anim>
                                    <p:animEffect transition="in" filter="fade">
                                      <p:cBhvr>
                                        <p:cTn id="11" dur="500"/>
                                        <p:tgtEl>
                                          <p:spTgt spid="4"/>
                                        </p:tgtEl>
                                      </p:cBhvr>
                                    </p:animEffect>
                                  </p:childTnLst>
                                </p:cTn>
                              </p:par>
                            </p:childTnLst>
                          </p:cTn>
                        </p:par>
                      </p:childTnLst>
                    </p:cTn>
                  </p:par>
                  <p:par>
                    <p:cTn id="26" fill="hold">
                      <p:stCondLst>
                        <p:cond delay="indefinite"/>
                      </p:stCondLst>
                      <p:childTnLst>
                        <p:par>
                          <p:cTn id="25" fill="hold">
                            <p:stCondLst>
                              <p:cond delay="0"/>
                            </p:stCondLst>
                            <p:childTnLst>
                              <p:par>
                                <p:cTn id="19"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par>
                                <p:cTn id="24" presetID="53" presetClass="entr" presetSubtype="16"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childTnLst>
                          </p:cTn>
                        </p:par>
                      </p:childTnLst>
                    </p:cTn>
                  </p:par>
                  <p:par>
                    <p:cTn id="38" fill="hold">
                      <p:stCondLst>
                        <p:cond delay="indefinite"/>
                      </p:stCondLst>
                      <p:childTnLst>
                        <p:par>
                          <p:cTn id="37"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anim calcmode="lin" valueType="num">
                                      <p:cBhvr additive="base">
                                        <p:cTn id="29" dur="700" fill="hold"/>
                                        <p:tgtEl>
                                          <p:spTgt spid="7"/>
                                        </p:tgtEl>
                                        <p:attrNameLst>
                                          <p:attrName>ppt_x</p:attrName>
                                        </p:attrNameLst>
                                      </p:cBhvr>
                                      <p:tavLst>
                                        <p:tav tm="0">
                                          <p:val>
                                            <p:strVal val="#ppt_x"/>
                                          </p:val>
                                        </p:tav>
                                        <p:tav tm="100000">
                                          <p:val>
                                            <p:strVal val="#ppt_x"/>
                                          </p:val>
                                        </p:tav>
                                      </p:tavLst>
                                    </p:anim>
                                    <p:anim calcmode="lin" valueType="num">
                                      <p:cBhvr additive="base">
                                        <p:cTn id="30" dur="700" fill="hold"/>
                                        <p:tgtEl>
                                          <p:spTgt spid="7"/>
                                        </p:tgtEl>
                                        <p:attrNameLst>
                                          <p:attrName>ppt_y</p:attrName>
                                        </p:attrNameLst>
                                      </p:cBhvr>
                                      <p:tavLst>
                                        <p:tav tm="0">
                                          <p:val>
                                            <p:strVal val="#ppt_y+.1"/>
                                          </p:val>
                                        </p:tav>
                                        <p:tav tm="100000">
                                          <p:val>
                                            <p:strVal val="#ppt_y"/>
                                          </p:val>
                                        </p:tav>
                                      </p:tavLst>
                                    </p:anim>
                                  </p:childTnLst>
                                </p:cTn>
                              </p:par>
                              <p:par>
                                <p:cTn id="36" presetID="53"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childTnLst>
                    </p:cTn>
                  </p:par>
                  <p:par>
                    <p:cTn id="50" fill="hold">
                      <p:stCondLst>
                        <p:cond delay="indefinite"/>
                      </p:stCondLst>
                      <p:childTnLst>
                        <p:par>
                          <p:cTn id="49" fill="hold">
                            <p:stCondLst>
                              <p:cond delay="0"/>
                            </p:stCondLst>
                            <p:childTnLst>
                              <p:par>
                                <p:cTn id="43" presetID="42"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additive="base">
                                        <p:cTn id="41" dur="700" fill="hold"/>
                                        <p:tgtEl>
                                          <p:spTgt spid="9"/>
                                        </p:tgtEl>
                                        <p:attrNameLst>
                                          <p:attrName>ppt_x</p:attrName>
                                        </p:attrNameLst>
                                      </p:cBhvr>
                                      <p:tavLst>
                                        <p:tav tm="0">
                                          <p:val>
                                            <p:strVal val="#ppt_x"/>
                                          </p:val>
                                        </p:tav>
                                        <p:tav tm="100000">
                                          <p:val>
                                            <p:strVal val="#ppt_x"/>
                                          </p:val>
                                        </p:tav>
                                      </p:tavLst>
                                    </p:anim>
                                    <p:anim calcmode="lin" valueType="num">
                                      <p:cBhvr additive="base">
                                        <p:cTn id="42" dur="700" fill="hold"/>
                                        <p:tgtEl>
                                          <p:spTgt spid="9"/>
                                        </p:tgtEl>
                                        <p:attrNameLst>
                                          <p:attrName>ppt_y</p:attrName>
                                        </p:attrNameLst>
                                      </p:cBhvr>
                                      <p:tavLst>
                                        <p:tav tm="0">
                                          <p:val>
                                            <p:strVal val="#ppt_y+.1"/>
                                          </p:val>
                                        </p:tav>
                                        <p:tav tm="100000">
                                          <p:val>
                                            <p:strVal val="#ppt_y"/>
                                          </p:val>
                                        </p:tav>
                                      </p:tavLst>
                                    </p:anim>
                                  </p:childTnLst>
                                </p:cTn>
                              </p:par>
                              <p:par>
                                <p:cTn id="48" presetID="53"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500" fill="hold"/>
                                        <p:tgtEl>
                                          <p:spTgt spid="10"/>
                                        </p:tgtEl>
                                        <p:attrNameLst>
                                          <p:attrName>ppt_w</p:attrName>
                                        </p:attrNameLst>
                                      </p:cBhvr>
                                      <p:tavLst>
                                        <p:tav tm="0">
                                          <p:val>
                                            <p:strVal val="0"/>
                                          </p:val>
                                        </p:tav>
                                        <p:tav tm="100000">
                                          <p:val>
                                            <p:strVal val="#ppt_w"/>
                                          </p:val>
                                        </p:tav>
                                      </p:tavLst>
                                    </p:anim>
                                    <p:anim calcmode="lin" valueType="num">
                                      <p:cBhvr additive="base">
                                        <p:cTn id="46" dur="500" fill="hold"/>
                                        <p:tgtEl>
                                          <p:spTgt spid="10"/>
                                        </p:tgtEl>
                                        <p:attrNameLst>
                                          <p:attrName>ppt_h</p:attrName>
                                        </p:attrNameLst>
                                      </p:cBhvr>
                                      <p:tavLst>
                                        <p:tav tm="0">
                                          <p:val>
                                            <p:strVal val="0"/>
                                          </p:val>
                                        </p:tav>
                                        <p:tav tm="100000">
                                          <p:val>
                                            <p:strVal val="#ppt_h"/>
                                          </p:val>
                                        </p:tav>
                                      </p:tavLst>
                                    </p:anim>
                                    <p:animEffect transition="in" filter="fade">
                                      <p:cBhvr>
                                        <p:cTn id="47" dur="500"/>
                                        <p:tgtEl>
                                          <p:spTgt spid="10"/>
                                        </p:tgtEl>
                                      </p:cBhvr>
                                    </p:animEffect>
                                  </p:childTnLst>
                                </p:cTn>
                              </p:par>
                            </p:childTnLst>
                          </p:cTn>
                        </p:par>
                      </p:childTnLst>
                    </p:cTn>
                  </p:par>
                  <p:par>
                    <p:cTn id="62" fill="hold">
                      <p:stCondLst>
                        <p:cond delay="indefinite"/>
                      </p:stCondLst>
                      <p:childTnLst>
                        <p:par>
                          <p:cTn id="61" fill="hold">
                            <p:stCondLst>
                              <p:cond delay="0"/>
                            </p:stCondLst>
                            <p:childTnLst>
                              <p:par>
                                <p:cTn id="55" presetID="42"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700"/>
                                        <p:tgtEl>
                                          <p:spTgt spid="11"/>
                                        </p:tgtEl>
                                      </p:cBhvr>
                                    </p:animEffect>
                                    <p:anim calcmode="lin" valueType="num">
                                      <p:cBhvr additive="base">
                                        <p:cTn id="53" dur="700" fill="hold"/>
                                        <p:tgtEl>
                                          <p:spTgt spid="11"/>
                                        </p:tgtEl>
                                        <p:attrNameLst>
                                          <p:attrName>ppt_x</p:attrName>
                                        </p:attrNameLst>
                                      </p:cBhvr>
                                      <p:tavLst>
                                        <p:tav tm="0">
                                          <p:val>
                                            <p:strVal val="#ppt_x"/>
                                          </p:val>
                                        </p:tav>
                                        <p:tav tm="100000">
                                          <p:val>
                                            <p:strVal val="#ppt_x"/>
                                          </p:val>
                                        </p:tav>
                                      </p:tavLst>
                                    </p:anim>
                                    <p:anim calcmode="lin" valueType="num">
                                      <p:cBhvr additive="base">
                                        <p:cTn id="54" dur="700" fill="hold"/>
                                        <p:tgtEl>
                                          <p:spTgt spid="11"/>
                                        </p:tgtEl>
                                        <p:attrNameLst>
                                          <p:attrName>ppt_y</p:attrName>
                                        </p:attrNameLst>
                                      </p:cBhvr>
                                      <p:tavLst>
                                        <p:tav tm="0">
                                          <p:val>
                                            <p:strVal val="#ppt_y+.1"/>
                                          </p:val>
                                        </p:tav>
                                        <p:tav tm="100000">
                                          <p:val>
                                            <p:strVal val="#ppt_y"/>
                                          </p:val>
                                        </p:tav>
                                      </p:tavLst>
                                    </p:anim>
                                  </p:childTnLst>
                                </p:cTn>
                              </p:par>
                              <p:par>
                                <p:cTn id="60"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ppt_w</p:attrName>
                                        </p:attrNameLst>
                                      </p:cBhvr>
                                      <p:tavLst>
                                        <p:tav tm="0">
                                          <p:val>
                                            <p:strVal val="0"/>
                                          </p:val>
                                        </p:tav>
                                        <p:tav tm="100000">
                                          <p:val>
                                            <p:strVal val="#ppt_w"/>
                                          </p:val>
                                        </p:tav>
                                      </p:tavLst>
                                    </p:anim>
                                    <p:anim calcmode="lin" valueType="num">
                                      <p:cBhvr additive="base">
                                        <p:cTn id="58" dur="500" fill="hold"/>
                                        <p:tgtEl>
                                          <p:spTgt spid="12"/>
                                        </p:tgtEl>
                                        <p:attrNameLst>
                                          <p:attrName>ppt_h</p:attrName>
                                        </p:attrNameLst>
                                      </p:cBhvr>
                                      <p:tavLst>
                                        <p:tav tm="0">
                                          <p:val>
                                            <p:strVal val="0"/>
                                          </p:val>
                                        </p:tav>
                                        <p:tav tm="100000">
                                          <p:val>
                                            <p:strVal val="#ppt_h"/>
                                          </p:val>
                                        </p:tav>
                                      </p:tavLst>
                                    </p:anim>
                                    <p:animEffect transition="in" filter="fade">
                                      <p:cBhvr>
                                        <p:cTn id="59" dur="500"/>
                                        <p:tgtEl>
                                          <p:spTgt spid="12"/>
                                        </p:tgtEl>
                                      </p:cBhvr>
                                    </p:animEffect>
                                  </p:childTnLst>
                                </p:cTn>
                              </p:par>
                            </p:childTnLst>
                          </p:cTn>
                        </p:par>
                      </p:childTnLst>
                    </p:cTn>
                  </p:par>
                  <p:par>
                    <p:cTn id="99" fill="hold">
                      <p:stCondLst>
                        <p:cond delay="indefinite"/>
                      </p:stCondLst>
                      <p:childTnLst>
                        <p:par>
                          <p:cTn id="73" fill="hold">
                            <p:stCondLst>
                              <p:cond delay="0"/>
                            </p:stCondLst>
                            <p:childTnLst>
                              <p:par>
                                <p:cTn id="67" presetID="42" presetClass="entr" presetSubtype="0"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700"/>
                                        <p:tgtEl>
                                          <p:spTgt spid="13"/>
                                        </p:tgtEl>
                                      </p:cBhvr>
                                    </p:animEffect>
                                    <p:anim calcmode="lin" valueType="num">
                                      <p:cBhvr additive="base">
                                        <p:cTn id="65" dur="700" fill="hold"/>
                                        <p:tgtEl>
                                          <p:spTgt spid="13"/>
                                        </p:tgtEl>
                                        <p:attrNameLst>
                                          <p:attrName>ppt_x</p:attrName>
                                        </p:attrNameLst>
                                      </p:cBhvr>
                                      <p:tavLst>
                                        <p:tav tm="0">
                                          <p:val>
                                            <p:strVal val="#ppt_x"/>
                                          </p:val>
                                        </p:tav>
                                        <p:tav tm="100000">
                                          <p:val>
                                            <p:strVal val="#ppt_x"/>
                                          </p:val>
                                        </p:tav>
                                      </p:tavLst>
                                    </p:anim>
                                    <p:anim calcmode="lin" valueType="num">
                                      <p:cBhvr additive="base">
                                        <p:cTn id="66" dur="700" fill="hold"/>
                                        <p:tgtEl>
                                          <p:spTgt spid="13"/>
                                        </p:tgtEl>
                                        <p:attrNameLst>
                                          <p:attrName>ppt_y</p:attrName>
                                        </p:attrNameLst>
                                      </p:cBhvr>
                                      <p:tavLst>
                                        <p:tav tm="0">
                                          <p:val>
                                            <p:strVal val="#ppt_y+.1"/>
                                          </p:val>
                                        </p:tav>
                                        <p:tav tm="100000">
                                          <p:val>
                                            <p:strVal val="#ppt_y"/>
                                          </p:val>
                                        </p:tav>
                                      </p:tavLst>
                                    </p:anim>
                                  </p:childTnLst>
                                </p:cTn>
                              </p:par>
                              <p:par>
                                <p:cTn id="72" presetID="53" presetClass="entr" presetSubtype="16"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ppt_w</p:attrName>
                                        </p:attrNameLst>
                                      </p:cBhvr>
                                      <p:tavLst>
                                        <p:tav tm="0">
                                          <p:val>
                                            <p:strVal val="0"/>
                                          </p:val>
                                        </p:tav>
                                        <p:tav tm="100000">
                                          <p:val>
                                            <p:strVal val="#ppt_w"/>
                                          </p:val>
                                        </p:tav>
                                      </p:tavLst>
                                    </p:anim>
                                    <p:anim calcmode="lin" valueType="num">
                                      <p:cBhvr additive="base">
                                        <p:cTn id="70" dur="500" fill="hold"/>
                                        <p:tgtEl>
                                          <p:spTgt spid="14"/>
                                        </p:tgtEl>
                                        <p:attrNameLst>
                                          <p:attrName>ppt_h</p:attrName>
                                        </p:attrNameLst>
                                      </p:cBhvr>
                                      <p:tavLst>
                                        <p:tav tm="0">
                                          <p:val>
                                            <p:strVal val="0"/>
                                          </p:val>
                                        </p:tav>
                                        <p:tav tm="100000">
                                          <p:val>
                                            <p:strVal val="#ppt_h"/>
                                          </p:val>
                                        </p:tav>
                                      </p:tavLst>
                                    </p:anim>
                                    <p:animEffect transition="in" filter="fade">
                                      <p:cBhvr>
                                        <p:cTn id="71" dur="500"/>
                                        <p:tgtEl>
                                          <p:spTgt spid="14"/>
                                        </p:tgtEl>
                                      </p:cBhvr>
                                    </p:animEffect>
                                  </p:childTnLst>
                                </p:cTn>
                              </p:par>
                            </p:childTnLst>
                          </p:cTn>
                        </p:par>
                        <p:par>
                          <p:cTn id="77" fill="hold">
                            <p:stCondLst>
                              <p:cond delay="385"/>
                            </p:stCondLst>
                            <p:childTnLst>
                              <p:par>
                                <p:cTn id="76" presetID="10" presetClass="entr" presetSubtype="0" fill="hold" grpId="0"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childTnLst>
                                </p:cTn>
                              </p:par>
                            </p:childTnLst>
                          </p:cTn>
                        </p:par>
                        <p:par>
                          <p:cTn id="83" fill="hold">
                            <p:stCondLst>
                              <p:cond delay="715"/>
                            </p:stCondLst>
                            <p:childTnLst>
                              <p:par>
                                <p:cTn id="82" presetID="53" presetClass="entr" presetSubtype="16" fill="hold" nodeType="after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ppt_w</p:attrName>
                                        </p:attrNameLst>
                                      </p:cBhvr>
                                      <p:tavLst>
                                        <p:tav tm="0">
                                          <p:val>
                                            <p:strVal val="0"/>
                                          </p:val>
                                        </p:tav>
                                        <p:tav tm="100000">
                                          <p:val>
                                            <p:strVal val="#ppt_w"/>
                                          </p:val>
                                        </p:tav>
                                      </p:tavLst>
                                    </p:anim>
                                    <p:anim calcmode="lin" valueType="num">
                                      <p:cBhvr additive="base">
                                        <p:cTn id="80" dur="500" fill="hold"/>
                                        <p:tgtEl>
                                          <p:spTgt spid="16"/>
                                        </p:tgtEl>
                                        <p:attrNameLst>
                                          <p:attrName>ppt_h</p:attrName>
                                        </p:attrNameLst>
                                      </p:cBhvr>
                                      <p:tavLst>
                                        <p:tav tm="0">
                                          <p:val>
                                            <p:strVal val="0"/>
                                          </p:val>
                                        </p:tav>
                                        <p:tav tm="100000">
                                          <p:val>
                                            <p:strVal val="#ppt_h"/>
                                          </p:val>
                                        </p:tav>
                                      </p:tavLst>
                                    </p:anim>
                                    <p:animEffect transition="in" filter="fade">
                                      <p:cBhvr>
                                        <p:cTn id="81" dur="500"/>
                                        <p:tgtEl>
                                          <p:spTgt spid="16"/>
                                        </p:tgtEl>
                                      </p:cBhvr>
                                    </p:animEffect>
                                  </p:childTnLst>
                                </p:cTn>
                              </p:par>
                            </p:childTnLst>
                          </p:cTn>
                        </p:par>
                        <p:par>
                          <p:cTn id="94" fill="hold">
                            <p:stCondLst>
                              <p:cond delay="990"/>
                            </p:stCondLst>
                            <p:childTnLst>
                              <p:par>
                                <p:cTn id="88" presetID="42" presetClass="entr" presetSubtype="0" fill="hold" grpId="0" nodeType="after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700"/>
                                        <p:tgtEl>
                                          <p:spTgt spid="17"/>
                                        </p:tgtEl>
                                      </p:cBhvr>
                                    </p:animEffect>
                                    <p:anim calcmode="lin" valueType="num">
                                      <p:cBhvr additive="base">
                                        <p:cTn id="86" dur="700" fill="hold"/>
                                        <p:tgtEl>
                                          <p:spTgt spid="17"/>
                                        </p:tgtEl>
                                        <p:attrNameLst>
                                          <p:attrName>ppt_x</p:attrName>
                                        </p:attrNameLst>
                                      </p:cBhvr>
                                      <p:tavLst>
                                        <p:tav tm="0">
                                          <p:val>
                                            <p:strVal val="#ppt_x"/>
                                          </p:val>
                                        </p:tav>
                                        <p:tav tm="100000">
                                          <p:val>
                                            <p:strVal val="#ppt_x"/>
                                          </p:val>
                                        </p:tav>
                                      </p:tavLst>
                                    </p:anim>
                                    <p:anim calcmode="lin" valueType="num">
                                      <p:cBhvr additive="base">
                                        <p:cTn id="87" dur="700" fill="hold"/>
                                        <p:tgtEl>
                                          <p:spTgt spid="17"/>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700"/>
                                        <p:tgtEl>
                                          <p:spTgt spid="18"/>
                                        </p:tgtEl>
                                      </p:cBhvr>
                                    </p:animEffect>
                                    <p:anim calcmode="lin" valueType="num">
                                      <p:cBhvr additive="base">
                                        <p:cTn id="91" dur="700" fill="hold"/>
                                        <p:tgtEl>
                                          <p:spTgt spid="18"/>
                                        </p:tgtEl>
                                        <p:attrNameLst>
                                          <p:attrName>ppt_x</p:attrName>
                                        </p:attrNameLst>
                                      </p:cBhvr>
                                      <p:tavLst>
                                        <p:tav tm="0">
                                          <p:val>
                                            <p:strVal val="#ppt_x"/>
                                          </p:val>
                                        </p:tav>
                                        <p:tav tm="100000">
                                          <p:val>
                                            <p:strVal val="#ppt_x"/>
                                          </p:val>
                                        </p:tav>
                                      </p:tavLst>
                                    </p:anim>
                                    <p:anim calcmode="lin" valueType="num">
                                      <p:cBhvr additive="base">
                                        <p:cTn id="92" dur="700" fill="hold"/>
                                        <p:tgtEl>
                                          <p:spTgt spid="18"/>
                                        </p:tgtEl>
                                        <p:attrNameLst>
                                          <p:attrName>ppt_y</p:attrName>
                                        </p:attrNameLst>
                                      </p:cBhvr>
                                      <p:tavLst>
                                        <p:tav tm="0">
                                          <p:val>
                                            <p:strVal val="#ppt_y+.1"/>
                                          </p:val>
                                        </p:tav>
                                        <p:tav tm="100000">
                                          <p:val>
                                            <p:strVal val="#ppt_y"/>
                                          </p:val>
                                        </p:tav>
                                      </p:tavLst>
                                    </p:anim>
                                  </p:childTnLst>
                                </p:cTn>
                              </p:par>
                            </p:childTnLst>
                          </p:cTn>
                        </p:par>
                        <p:par>
                          <p:cTn id="98" fill="hold">
                            <p:stCondLst>
                              <p:cond delay="1375"/>
                            </p:stCondLst>
                            <p:childTnLst>
                              <p:par>
                                <p:cTn id="97" presetID="10" presetClass="entr" presetSubtype="0"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bg" descr="/tmp/claude-0/-home-user-Project-1/c7d0d2a1-f360-54f1-afe5-e7480b814ba9/scratchpad/build/a/bg_en.jpg">    </p:cNvPr>
          <p:cNvPicPr>
            <a:picLocks noChangeAspect="1"/>
          </p:cNvPicPr>
          <p:nvPr/>
        </p:nvPicPr>
        <p:blipFill>
          <a:blip r:embed="rId1"/>
          <a:stretch>
            <a:fillRect/>
          </a:stretch>
        </p:blipFill>
        <p:spPr>
          <a:xfrm>
            <a:off x="0" y="0"/>
            <a:ext cx="12191695" cy="6858000"/>
          </a:xfrm>
          <a:prstGeom prst="rect">
            <a:avLst/>
          </a:prstGeom>
        </p:spPr>
      </p:pic>
      <p:sp>
        <p:nvSpPr>
          <p:cNvPr id="3" name="zoom:a:1"/>
          <p:cNvSpPr/>
          <p:nvPr/>
        </p:nvSpPr>
        <p:spPr>
          <a:xfrm>
            <a:off x="457200" y="2743200"/>
            <a:ext cx="7040880" cy="3246120"/>
          </a:xfrm>
          <a:prstGeom prst="roundRect">
            <a:avLst>
              <a:gd name="adj" fmla="val 7042"/>
            </a:avLst>
          </a:prstGeom>
          <a:solidFill>
            <a:srgbClr val="0B2545">
              <a:alpha val="78000"/>
            </a:srgbClr>
          </a:solidFill>
          <a:ln w="25400">
            <a:solidFill>
              <a:srgbClr val="00B4D8"/>
            </a:solidFill>
            <a:prstDash val="solid"/>
          </a:ln>
        </p:spPr>
      </p:sp>
      <p:pic>
        <p:nvPicPr>
          <p:cNvPr id="4" name="zoom:a:2" descr="/tmp/claude-0/-home-user-Project-1/c7d0d2a1-f360-54f1-afe5-e7480b814ba9/scratchpad/build/a/l/badge_en.png">    </p:cNvPr>
          <p:cNvPicPr>
            <a:picLocks noChangeAspect="1"/>
          </p:cNvPicPr>
          <p:nvPr/>
        </p:nvPicPr>
        <p:blipFill>
          <a:blip r:embed="rId2"/>
          <a:stretch>
            <a:fillRect/>
          </a:stretch>
        </p:blipFill>
        <p:spPr>
          <a:xfrm>
            <a:off x="6355080" y="3017520"/>
            <a:ext cx="914400" cy="978408"/>
          </a:xfrm>
          <a:prstGeom prst="rect">
            <a:avLst/>
          </a:prstGeom>
        </p:spPr>
      </p:pic>
      <p:sp>
        <p:nvSpPr>
          <p:cNvPr id="5" name="fade:a:3"/>
          <p:cNvSpPr txBox="1"/>
          <p:nvPr/>
        </p:nvSpPr>
        <p:spPr>
          <a:xfrm>
            <a:off x="731520" y="3063240"/>
            <a:ext cx="5486400" cy="457200"/>
          </a:xfrm>
          <a:prstGeom prst="rect">
            <a:avLst/>
          </a:prstGeom>
          <a:noFill/>
          <a:ln/>
        </p:spPr>
        <p:txBody>
          <a:bodyPr wrap="square" lIns="76200" tIns="152400" rIns="152400" bIns="76200" rtlCol="0" anchor="ctr"/>
          <a:lstStyle/>
          <a:p>
            <a:pPr rtl="1" algn="r" indent="0" marL="0">
              <a:lnSpc>
                <a:spcPct val="105000"/>
              </a:lnSpc>
              <a:buNone/>
            </a:pPr>
            <a:r>
              <a:rPr lang="ar-SA" altLang="en-US" sz="1800" b="1" dirty="0">
                <a:solidFill>
                  <a:srgbClr val="9EEBFF"/>
                </a:solidFill>
                <a:latin typeface="Segoe UI" pitchFamily="34" charset="0"/>
                <a:ea typeface="Segoe UI" pitchFamily="34" charset="-122"/>
                <a:cs typeface="Segoe UI" pitchFamily="34" charset="-120"/>
              </a:rPr>
              <a:t>الدرس [3-2]  •  الميول الدورية</a:t>
            </a:r>
            <a:endParaRPr lang="ar-SA" sz="1800" dirty="0"/>
          </a:p>
        </p:txBody>
      </p:sp>
      <p:sp>
        <p:nvSpPr>
          <p:cNvPr id="6" name="Text 0"/>
          <p:cNvSpPr/>
          <p:nvPr>
            <p:ph idx="100" type="title" hasCustomPrompt="1"/>
          </p:nvPr>
        </p:nvSpPr>
        <p:spPr>
          <a:xfrm>
            <a:off x="731520" y="4343400"/>
            <a:ext cx="6583680" cy="1005840"/>
          </a:xfrm>
          <a:prstGeom prst="rect">
            <a:avLst/>
          </a:prstGeom>
          <a:noFill/>
          <a:ln/>
        </p:spPr>
        <p:txBody>
          <a:bodyPr wrap="square" lIns="0" tIns="0" rIns="0" bIns="0" rtlCol="0" anchor="ctr"/>
          <a:lstStyle/>
          <a:p>
            <a:pPr rtl="1" algn="r" indent="0" marL="0">
              <a:buNone/>
            </a:pPr>
            <a:r>
              <a:rPr lang="en-US" sz="4800" b="1" dirty="0">
                <a:solidFill>
                  <a:srgbClr val="FFFFFF"/>
                </a:solidFill>
                <a:latin typeface="Segoe UI" pitchFamily="34" charset="0"/>
                <a:ea typeface="Segoe UI" pitchFamily="34" charset="-122"/>
                <a:cs typeface="Segoe UI" pitchFamily="34" charset="-120"/>
              </a:rPr>
              <a:t>السالبية الكهربائية</a:t>
            </a:r>
            <a:endParaRPr lang="en-US" sz="4800" dirty="0"/>
          </a:p>
        </p:txBody>
      </p:sp>
      <p:sp>
        <p:nvSpPr>
          <p:cNvPr id="7" name="fade:a:5"/>
          <p:cNvSpPr txBox="1"/>
          <p:nvPr/>
        </p:nvSpPr>
        <p:spPr>
          <a:xfrm>
            <a:off x="731520" y="5349240"/>
            <a:ext cx="6583680" cy="457200"/>
          </a:xfrm>
          <a:prstGeom prst="rect">
            <a:avLst/>
          </a:prstGeom>
          <a:noFill/>
          <a:ln/>
        </p:spPr>
        <p:txBody>
          <a:bodyPr wrap="square" lIns="76200" tIns="152400" rIns="152400" bIns="76200" rtlCol="0" anchor="ctr"/>
          <a:lstStyle/>
          <a:p>
            <a:pPr algn="r" indent="0" marL="0">
              <a:lnSpc>
                <a:spcPct val="105000"/>
              </a:lnSpc>
              <a:buNone/>
            </a:pPr>
            <a:r>
              <a:rPr lang="en-US" altLang="en-US" sz="2000" dirty="0">
                <a:solidFill>
                  <a:srgbClr val="9EEBFF"/>
                </a:solidFill>
                <a:latin typeface="Segoe UI" pitchFamily="34" charset="0"/>
                <a:ea typeface="Segoe UI" pitchFamily="34" charset="-122"/>
                <a:cs typeface="Segoe UI" pitchFamily="34" charset="-120"/>
              </a:rPr>
              <a:t>Electronegativity</a:t>
            </a:r>
            <a:endParaRPr lang="en-US" sz="2000" dirty="0"/>
          </a:p>
        </p:txBody>
      </p:sp>
      <p:sp>
        <p:nvSpPr>
          <p:cNvPr id="8" name="zoom:a:6"/>
          <p:cNvSpPr/>
          <p:nvPr/>
        </p:nvSpPr>
        <p:spPr>
          <a:xfrm>
            <a:off x="7744968" y="2532888"/>
            <a:ext cx="4169664" cy="1792224"/>
          </a:xfrm>
          <a:prstGeom prst="roundRect">
            <a:avLst>
              <a:gd name="adj" fmla="val 10204"/>
            </a:avLst>
          </a:prstGeom>
          <a:solidFill>
            <a:srgbClr val="FFFFFF">
              <a:alpha val="70000"/>
            </a:srgbClr>
          </a:solidFill>
          <a:ln w="31750">
            <a:solidFill>
              <a:srgbClr val="00B4D8"/>
            </a:solidFill>
            <a:prstDash val="solid"/>
          </a:ln>
        </p:spPr>
      </p:sp>
      <p:pic>
        <p:nvPicPr>
          <p:cNvPr id="9" name="zoom:w:7" descr="/tmp/claude-0/-home-user-Project-1/c7d0d2a1-f360-54f1-afe5-e7480b814ba9/scratchpad/build/a/h_tug.png">    </p:cNvPr>
          <p:cNvPicPr>
            <a:picLocks noChangeAspect="1"/>
          </p:cNvPicPr>
          <p:nvPr/>
        </p:nvPicPr>
        <p:blipFill>
          <a:blip r:embed="rId3"/>
          <a:stretch>
            <a:fillRect/>
          </a:stretch>
        </p:blipFill>
        <p:spPr>
          <a:xfrm>
            <a:off x="7818120" y="2606040"/>
            <a:ext cx="4023360" cy="1645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8"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 calcmode="lin" valueType="num">
                                      <p:cBhvr additive="base">
                                        <p:cTn id="4" dur="500" fill="hold"/>
                                        <p:tgtEl>
                                          <p:spTgt spid="3"/>
                                        </p:tgtEl>
                                        <p:attrNameLst>
                                          <p:attrName>ppt_w</p:attrName>
                                        </p:attrNameLst>
                                      </p:cBhvr>
                                      <p:tavLst>
                                        <p:tav tm="0">
                                          <p:val>
                                            <p:strVal val="0"/>
                                          </p:val>
                                        </p:tav>
                                        <p:tav tm="100000">
                                          <p:val>
                                            <p:strVal val="#ppt_w"/>
                                          </p:val>
                                        </p:tav>
                                      </p:tavLst>
                                    </p:anim>
                                    <p:anim calcmode="lin" valueType="num">
                                      <p:cBhvr additive="base">
                                        <p:cTn id="5" dur="500" fill="hold"/>
                                        <p:tgtEl>
                                          <p:spTgt spid="3"/>
                                        </p:tgtEl>
                                        <p:attrNameLst>
                                          <p:attrName>ppt_h</p:attrName>
                                        </p:attrNameLst>
                                      </p:cBhvr>
                                      <p:tavLst>
                                        <p:tav tm="0">
                                          <p:val>
                                            <p:strVal val="0"/>
                                          </p:val>
                                        </p:tav>
                                        <p:tav tm="100000">
                                          <p:val>
                                            <p:strVal val="#ppt_h"/>
                                          </p:val>
                                        </p:tav>
                                      </p:tavLst>
                                    </p:anim>
                                    <p:animEffect transition="in" filter="fade">
                                      <p:cBhvr>
                                        <p:cTn id="6" dur="500"/>
                                        <p:tgtEl>
                                          <p:spTgt spid="3"/>
                                        </p:tgtEl>
                                      </p:cBhvr>
                                    </p:animEffect>
                                  </p:childTnLst>
                                </p:cTn>
                              </p:par>
                            </p:childTnLst>
                          </p:cTn>
                        </p:par>
                        <p:par>
                          <p:cTn id="14" fill="hold">
                            <p:stCondLst>
                              <p:cond delay="27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18" fill="hold">
                            <p:stCondLst>
                              <p:cond delay="550"/>
                            </p:stCondLst>
                            <p:childTnLst>
                              <p:par>
                                <p:cTn id="17"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par>
                          <p:cTn id="22" fill="hold">
                            <p:stCondLst>
                              <p:cond delay="880"/>
                            </p:stCondLst>
                            <p:childTnLst>
                              <p:par>
                                <p:cTn id="21"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childTnLst>
                          </p:cTn>
                        </p:par>
                        <p:par>
                          <p:cTn id="33" fill="hold">
                            <p:stCondLst>
                              <p:cond delay="1210"/>
                            </p:stCondLst>
                            <p:childTnLst>
                              <p:par>
                                <p:cTn id="27"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strVal val="0"/>
                                          </p:val>
                                        </p:tav>
                                        <p:tav tm="100000">
                                          <p:val>
                                            <p:strVal val="#ppt_w"/>
                                          </p:val>
                                        </p:tav>
                                      </p:tavLst>
                                    </p:anim>
                                    <p:anim calcmode="lin" valueType="num">
                                      <p:cBhvr additive="base">
                                        <p:cTn id="25" dur="500" fill="hold"/>
                                        <p:tgtEl>
                                          <p:spTgt spid="8"/>
                                        </p:tgtEl>
                                        <p:attrNameLst>
                                          <p:attrName>ppt_h</p:attrName>
                                        </p:attrNameLst>
                                      </p:cBhvr>
                                      <p:tavLst>
                                        <p:tav tm="0">
                                          <p:val>
                                            <p:strVal val="0"/>
                                          </p:val>
                                        </p:tav>
                                        <p:tav tm="100000">
                                          <p:val>
                                            <p:strVal val="#ppt_h"/>
                                          </p:val>
                                        </p:tav>
                                      </p:tavLst>
                                    </p:anim>
                                    <p:animEffect transition="in" filter="fade">
                                      <p:cBhvr>
                                        <p:cTn id="26" dur="500"/>
                                        <p:tgtEl>
                                          <p:spTgt spid="8"/>
                                        </p:tgtEl>
                                      </p:cBhvr>
                                    </p:animEffect>
                                  </p:childTnLst>
                                </p:cTn>
                              </p:par>
                              <p:par>
                                <p:cTn id="32" presetID="53" presetClass="entr" presetSubtype="16"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ppt_w</p:attrName>
                                        </p:attrNameLst>
                                      </p:cBhvr>
                                      <p:tavLst>
                                        <p:tav tm="0">
                                          <p:val>
                                            <p:strVal val="0"/>
                                          </p:val>
                                        </p:tav>
                                        <p:tav tm="100000">
                                          <p:val>
                                            <p:strVal val="#ppt_w"/>
                                          </p:val>
                                        </p:tav>
                                      </p:tavLst>
                                    </p:anim>
                                    <p:anim calcmode="lin" valueType="num">
                                      <p:cBhvr additive="base">
                                        <p:cTn id="30" dur="500" fill="hold"/>
                                        <p:tgtEl>
                                          <p:spTgt spid="9"/>
                                        </p:tgtEl>
                                        <p:attrNameLst>
                                          <p:attrName>ppt_h</p:attrName>
                                        </p:attrNameLst>
                                      </p:cBhvr>
                                      <p:tavLst>
                                        <p:tav tm="0">
                                          <p:val>
                                            <p:strVal val="0"/>
                                          </p:val>
                                        </p:tav>
                                        <p:tav tm="100000">
                                          <p:val>
                                            <p:strVal val="#ppt_h"/>
                                          </p:val>
                                        </p:tav>
                                      </p:tavLst>
                                    </p:anim>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نشاط... شد الحبل!</a:t>
            </a:r>
            <a:endParaRPr lang="en-US" sz="2800" dirty="0"/>
          </a:p>
        </p:txBody>
      </p:sp>
      <p:sp>
        <p:nvSpPr>
          <p:cNvPr id="3" name="float:a:2"/>
          <p:cNvSpPr/>
          <p:nvPr/>
        </p:nvSpPr>
        <p:spPr>
          <a:xfrm>
            <a:off x="411480" y="1325880"/>
            <a:ext cx="11384280" cy="1097280"/>
          </a:xfrm>
          <a:prstGeom prst="roundRect">
            <a:avLst>
              <a:gd name="adj" fmla="val 1166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900" dirty="0">
                <a:solidFill>
                  <a:srgbClr val="0B2545"/>
                </a:solidFill>
                <a:latin typeface="Segoe UI" pitchFamily="34" charset="0"/>
                <a:ea typeface="Segoe UI" pitchFamily="34" charset="-122"/>
                <a:cs typeface="Segoe UI" pitchFamily="34" charset="-120"/>
              </a:rPr>
              <a:t>طبّق لعبة شد الحبل مع زميلك، ولنشاهد من سيسحب الحبل باتجاهه بقوة أكبر؟</a:t>
            </a:r>
            <a:endParaRPr lang="ar-SA" sz="1900" dirty="0"/>
          </a:p>
          <a:p>
            <a:pPr rtl="1" algn="r" indent="0" marL="0">
              <a:lnSpc>
                <a:spcPct val="105000"/>
              </a:lnSpc>
              <a:buNone/>
            </a:pPr>
            <a:r>
              <a:rPr lang="ar-SA" altLang="en-US" sz="1900" b="1" dirty="0">
                <a:solidFill>
                  <a:srgbClr val="DB2777"/>
                </a:solidFill>
                <a:latin typeface="Segoe UI" pitchFamily="34" charset="0"/>
                <a:ea typeface="Segoe UI" pitchFamily="34" charset="-122"/>
                <a:cs typeface="Segoe UI" pitchFamily="34" charset="-120"/>
              </a:rPr>
              <a:t>من الفائز؟ ولماذا؟</a:t>
            </a:r>
            <a:endParaRPr lang="ar-SA" sz="1900" dirty="0"/>
          </a:p>
        </p:txBody>
      </p:sp>
      <p:pic>
        <p:nvPicPr>
          <p:cNvPr id="4" name="zoom:a:3" descr="h_tug.png">    </p:cNvPr>
          <p:cNvPicPr>
            <a:picLocks noChangeAspect="1"/>
          </p:cNvPicPr>
          <p:nvPr/>
        </p:nvPicPr>
        <p:blipFill>
          <a:blip r:embed="rId1"/>
          <a:stretch>
            <a:fillRect/>
          </a:stretch>
        </p:blipFill>
        <p:spPr>
          <a:xfrm>
            <a:off x="411480" y="3142211"/>
            <a:ext cx="6766560" cy="2768138"/>
          </a:xfrm>
          <a:prstGeom prst="rect">
            <a:avLst/>
          </a:prstGeom>
        </p:spPr>
      </p:pic>
      <p:sp>
        <p:nvSpPr>
          <p:cNvPr id="5" name="float:c:4"/>
          <p:cNvSpPr/>
          <p:nvPr/>
        </p:nvSpPr>
        <p:spPr>
          <a:xfrm>
            <a:off x="7406640" y="2606040"/>
            <a:ext cx="4389120" cy="3840480"/>
          </a:xfrm>
          <a:prstGeom prst="roundRect">
            <a:avLst>
              <a:gd name="adj" fmla="val 3333"/>
            </a:avLst>
          </a:prstGeom>
          <a:solidFill>
            <a:srgbClr val="DB2777"/>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2000" dirty="0">
                <a:solidFill>
                  <a:srgbClr val="FFFFFF"/>
                </a:solidFill>
                <a:latin typeface="Segoe UI" pitchFamily="34" charset="0"/>
                <a:ea typeface="Segoe UI" pitchFamily="34" charset="-122"/>
                <a:cs typeface="Segoe UI" pitchFamily="34" charset="-120"/>
              </a:rPr>
              <a:t>كما هو الحال في النشاط فإنّ جذب الإلكترونات بين الذرات المترابطة إمّا يكون </a:t>
            </a:r>
            <a:pPr rtl="1" algn="r" indent="0" marL="0">
              <a:lnSpc>
                <a:spcPct val="105000"/>
              </a:lnSpc>
              <a:buNone/>
            </a:pPr>
            <a:r>
              <a:rPr lang="ar-SA" altLang="en-US" sz="2000" b="1" dirty="0">
                <a:solidFill>
                  <a:srgbClr val="FDE68A"/>
                </a:solidFill>
                <a:latin typeface="Segoe UI" pitchFamily="34" charset="0"/>
                <a:ea typeface="Segoe UI" pitchFamily="34" charset="-122"/>
                <a:cs typeface="Segoe UI" pitchFamily="34" charset="-120"/>
              </a:rPr>
              <a:t>متساويًا</a:t>
            </a:r>
            <a:pPr rtl="1" algn="r" indent="0" marL="0">
              <a:lnSpc>
                <a:spcPct val="105000"/>
              </a:lnSpc>
              <a:buNone/>
            </a:pPr>
            <a:r>
              <a:rPr lang="ar-SA" altLang="en-US" sz="2000" dirty="0">
                <a:solidFill>
                  <a:srgbClr val="FFFFFF"/>
                </a:solidFill>
                <a:latin typeface="Segoe UI" pitchFamily="34" charset="0"/>
                <a:ea typeface="Segoe UI" pitchFamily="34" charset="-122"/>
                <a:cs typeface="Segoe UI" pitchFamily="34" charset="-120"/>
              </a:rPr>
              <a:t>، أو تكون إحداهما </a:t>
            </a:r>
            <a:pPr rtl="1" algn="r" indent="0" marL="0">
              <a:lnSpc>
                <a:spcPct val="105000"/>
              </a:lnSpc>
              <a:buNone/>
            </a:pPr>
            <a:r>
              <a:rPr lang="ar-SA" altLang="en-US" sz="2000" b="1" dirty="0">
                <a:solidFill>
                  <a:srgbClr val="FDE68A"/>
                </a:solidFill>
                <a:latin typeface="Segoe UI" pitchFamily="34" charset="0"/>
                <a:ea typeface="Segoe UI" pitchFamily="34" charset="-122"/>
                <a:cs typeface="Segoe UI" pitchFamily="34" charset="-120"/>
              </a:rPr>
              <a:t>أقوى</a:t>
            </a:r>
            <a:pPr rtl="1" algn="r" indent="0" marL="0">
              <a:lnSpc>
                <a:spcPct val="105000"/>
              </a:lnSpc>
              <a:buNone/>
            </a:pPr>
            <a:r>
              <a:rPr lang="ar-SA" altLang="en-US" sz="2000" dirty="0">
                <a:solidFill>
                  <a:srgbClr val="FFFFFF"/>
                </a:solidFill>
                <a:latin typeface="Segoe UI" pitchFamily="34" charset="0"/>
                <a:ea typeface="Segoe UI" pitchFamily="34" charset="-122"/>
                <a:cs typeface="Segoe UI" pitchFamily="34" charset="-120"/>
              </a:rPr>
              <a:t> فتجذب الإلكترونات نحوها بشكل أكبر.</a:t>
            </a:r>
            <a:endParaRPr lang="ar-SA" sz="20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childTnLst>
                    </p:cTn>
                  </p:par>
                  <p:par>
                    <p:cTn id="22" fill="hold">
                      <p:stCondLst>
                        <p:cond delay="indefinite"/>
                      </p:stCondLst>
                      <p:childTnLst>
                        <p:par>
                          <p:cTn id="21" fill="hold">
                            <p:stCondLst>
                              <p:cond delay="0"/>
                            </p:stCondLst>
                            <p:childTnLst>
                              <p:par>
                                <p:cTn id="20"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p:tgtEl>
                                          <p:spTgt spid="5"/>
                                        </p:tgtEl>
                                        <p:attrNameLst>
                                          <p:attrName>ppt_x</p:attrName>
                                        </p:attrNameLst>
                                      </p:cBhvr>
                                      <p:tavLst>
                                        <p:tav tm="0">
                                          <p:val>
                                            <p:strVal val="#ppt_x"/>
                                          </p:val>
                                        </p:tav>
                                        <p:tav tm="100000">
                                          <p:val>
                                            <p:strVal val="#ppt_x"/>
                                          </p:val>
                                        </p:tav>
                                      </p:tavLst>
                                    </p:anim>
                                    <p:anim calcmode="lin" valueType="num">
                                      <p:cBhvr additive="base">
                                        <p:cTn id="19" dur="7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ما هي السالبية الكهربائية؟</a:t>
            </a:r>
            <a:endParaRPr lang="en-US" sz="2800" dirty="0"/>
          </a:p>
        </p:txBody>
      </p:sp>
      <p:sp>
        <p:nvSpPr>
          <p:cNvPr id="3" name="float:a:2"/>
          <p:cNvSpPr/>
          <p:nvPr/>
        </p:nvSpPr>
        <p:spPr>
          <a:xfrm>
            <a:off x="8778240" y="1325880"/>
            <a:ext cx="3017520" cy="548640"/>
          </a:xfrm>
          <a:prstGeom prst="roundRect">
            <a:avLst>
              <a:gd name="adj" fmla="val 50000"/>
            </a:avLst>
          </a:prstGeom>
          <a:solidFill>
            <a:srgbClr val="DB2777"/>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السالبية الكهربائية</a:t>
            </a:r>
            <a:endParaRPr lang="ar-SA" sz="1700" dirty="0"/>
          </a:p>
        </p:txBody>
      </p:sp>
      <p:sp>
        <p:nvSpPr>
          <p:cNvPr id="4" name="float:w:3"/>
          <p:cNvSpPr/>
          <p:nvPr/>
        </p:nvSpPr>
        <p:spPr>
          <a:xfrm>
            <a:off x="4754880" y="2011680"/>
            <a:ext cx="7040880" cy="1463040"/>
          </a:xfrm>
          <a:prstGeom prst="roundRect">
            <a:avLst>
              <a:gd name="adj" fmla="val 8750"/>
            </a:avLst>
          </a:prstGeom>
          <a:solidFill>
            <a:srgbClr val="FFFFFF">
              <a:alpha val="90000"/>
            </a:srgbClr>
          </a:solidFill>
          <a:ln w="15875">
            <a:solidFill>
              <a:srgbClr val="DB2777"/>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هذه الخاصية تسمى </a:t>
            </a:r>
            <a:pPr rtl="1" algn="r" indent="0" marL="0">
              <a:lnSpc>
                <a:spcPct val="105000"/>
              </a:lnSpc>
              <a:buNone/>
            </a:pPr>
            <a:r>
              <a:rPr lang="ar-SA" altLang="en-US" sz="1800" b="1" dirty="0">
                <a:solidFill>
                  <a:srgbClr val="DB2777"/>
                </a:solidFill>
                <a:latin typeface="Segoe UI" pitchFamily="34" charset="0"/>
                <a:ea typeface="Segoe UI" pitchFamily="34" charset="-122"/>
                <a:cs typeface="Segoe UI" pitchFamily="34" charset="-120"/>
              </a:rPr>
              <a:t>السالبية الكهربائية</a:t>
            </a:r>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وهي: </a:t>
            </a:r>
            <a:pPr rtl="1" algn="r" indent="0" marL="0">
              <a:lnSpc>
                <a:spcPct val="105000"/>
              </a:lnSpc>
              <a:buNone/>
            </a:pPr>
            <a:r>
              <a:rPr lang="ar-SA" altLang="en-US" sz="1800" b="1" dirty="0">
                <a:solidFill>
                  <a:srgbClr val="0B2545"/>
                </a:solidFill>
                <a:latin typeface="Segoe UI" pitchFamily="34" charset="0"/>
                <a:ea typeface="Segoe UI" pitchFamily="34" charset="-122"/>
                <a:cs typeface="Segoe UI" pitchFamily="34" charset="-120"/>
              </a:rPr>
              <a:t>«مقياس قدرة الذرة على جذب الإلكترونات نحوها من ذرة أخرى مرتبطة معها برابطة كيميائية».</a:t>
            </a:r>
            <a:endParaRPr lang="ar-SA" sz="1800" dirty="0"/>
          </a:p>
        </p:txBody>
      </p:sp>
      <p:sp>
        <p:nvSpPr>
          <p:cNvPr id="5" name="float:c:4"/>
          <p:cNvSpPr/>
          <p:nvPr/>
        </p:nvSpPr>
        <p:spPr>
          <a:xfrm>
            <a:off x="4754880" y="3657600"/>
            <a:ext cx="7040880" cy="960120"/>
          </a:xfrm>
          <a:prstGeom prst="roundRect">
            <a:avLst>
              <a:gd name="adj" fmla="val 1333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يتم قياس السالبية الكهربائية بـ</a:t>
            </a:r>
            <a:pPr rtl="1" algn="r" indent="0" marL="0">
              <a:lnSpc>
                <a:spcPct val="105000"/>
              </a:lnSpc>
              <a:buNone/>
            </a:pPr>
            <a:r>
              <a:rPr lang="ar-SA" altLang="en-US" sz="1700" b="1" dirty="0">
                <a:solidFill>
                  <a:srgbClr val="DB2777"/>
                </a:solidFill>
                <a:latin typeface="Segoe UI" pitchFamily="34" charset="0"/>
                <a:ea typeface="Segoe UI" pitchFamily="34" charset="-122"/>
                <a:cs typeface="Segoe UI" pitchFamily="34" charset="-120"/>
              </a:rPr>
              <a:t>مقياس باولنج</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وهو الأكثر شيوعًا لقياس السالبية الكهربائية.</a:t>
            </a:r>
            <a:endParaRPr lang="ar-SA" sz="1700" dirty="0"/>
          </a:p>
        </p:txBody>
      </p:sp>
      <p:sp>
        <p:nvSpPr>
          <p:cNvPr id="6" name="float:c:5"/>
          <p:cNvSpPr/>
          <p:nvPr/>
        </p:nvSpPr>
        <p:spPr>
          <a:xfrm>
            <a:off x="4754880" y="4800600"/>
            <a:ext cx="7040880" cy="1280160"/>
          </a:xfrm>
          <a:prstGeom prst="roundRect">
            <a:avLst>
              <a:gd name="adj" fmla="val 10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DB2777"/>
                </a:solidFill>
                <a:latin typeface="Segoe UI" pitchFamily="34" charset="0"/>
                <a:ea typeface="Segoe UI" pitchFamily="34" charset="-122"/>
                <a:cs typeface="Segoe UI" pitchFamily="34" charset="-120"/>
              </a:rPr>
              <a:t>علّل: الغازات النبيلة ليس لها قيم سالبية كهربائية.</a:t>
            </a:r>
            <a:endParaRPr lang="ar-SA" sz="1700" dirty="0"/>
          </a:p>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لأنّ الغازات النبيلة مستقرة وغالبًا لا تكوّن روابط كيميائية.</a:t>
            </a:r>
            <a:endParaRPr lang="ar-SA" sz="1700" dirty="0"/>
          </a:p>
        </p:txBody>
      </p:sp>
      <p:pic>
        <p:nvPicPr>
          <p:cNvPr id="7" name="zoom:a:6" descr="l/trend_en.png">    </p:cNvPr>
          <p:cNvPicPr>
            <a:picLocks noChangeAspect="1"/>
          </p:cNvPicPr>
          <p:nvPr/>
        </p:nvPicPr>
        <p:blipFill>
          <a:blip r:embed="rId1"/>
          <a:stretch>
            <a:fillRect/>
          </a:stretch>
        </p:blipFill>
        <p:spPr>
          <a:xfrm>
            <a:off x="411480" y="2148840"/>
            <a:ext cx="4114800" cy="2194560"/>
          </a:xfrm>
          <a:prstGeom prst="rect">
            <a:avLst/>
          </a:prstGeom>
        </p:spPr>
      </p:pic>
      <p:sp>
        <p:nvSpPr>
          <p:cNvPr id="8" name="fade:w:7"/>
          <p:cNvSpPr txBox="1"/>
          <p:nvPr/>
        </p:nvSpPr>
        <p:spPr>
          <a:xfrm>
            <a:off x="411480" y="5120640"/>
            <a:ext cx="4114800" cy="640080"/>
          </a:xfrm>
          <a:prstGeom prst="rect">
            <a:avLst/>
          </a:prstGeom>
          <a:noFill/>
          <a:ln/>
        </p:spPr>
        <p:txBody>
          <a:bodyPr wrap="square" lIns="76200" tIns="152400" rIns="152400" bIns="76200" rtlCol="0" anchor="ctr"/>
          <a:lstStyle/>
          <a:p>
            <a:pPr rtl="1" algn="ctr" indent="0" marL="0">
              <a:lnSpc>
                <a:spcPct val="105000"/>
              </a:lnSpc>
              <a:buNone/>
            </a:pPr>
            <a:r>
              <a:rPr lang="ar-SA" altLang="en-US" sz="1400" dirty="0">
                <a:solidFill>
                  <a:srgbClr val="34506B"/>
                </a:solidFill>
                <a:latin typeface="Segoe UI" pitchFamily="34" charset="0"/>
                <a:ea typeface="Segoe UI" pitchFamily="34" charset="-122"/>
                <a:cs typeface="Segoe UI" pitchFamily="34" charset="-120"/>
              </a:rPr>
              <a:t>شكل (23): تدرج قيم السالبية الكهربائية (مقياس باولنج)</a:t>
            </a:r>
            <a:endParaRPr lang="ar-SA" sz="14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4" fill="hold">
                      <p:stCondLst>
                        <p:cond delay="indefinite"/>
                        <p:cond evt="onBegin" delay="0">
                          <p:tn val="2"/>
                        </p:cond>
                      </p:stCondLst>
                      <p:childTnLst>
                        <p:par>
                          <p:cTn id="13"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700"/>
                                        <p:tgtEl>
                                          <p:spTgt spid="4"/>
                                        </p:tgtEl>
                                      </p:cBhvr>
                                    </p:animEffect>
                                    <p:anim calcmode="lin" valueType="num">
                                      <p:cBhvr additive="base">
                                        <p:cTn id="10" dur="700" fill="hold"/>
                                        <p:tgtEl>
                                          <p:spTgt spid="4"/>
                                        </p:tgtEl>
                                        <p:attrNameLst>
                                          <p:attrName>ppt_x</p:attrName>
                                        </p:attrNameLst>
                                      </p:cBhvr>
                                      <p:tavLst>
                                        <p:tav tm="0">
                                          <p:val>
                                            <p:strVal val="#ppt_x"/>
                                          </p:val>
                                        </p:tav>
                                        <p:tav tm="100000">
                                          <p:val>
                                            <p:strVal val="#ppt_x"/>
                                          </p:val>
                                        </p:tav>
                                      </p:tavLst>
                                    </p:anim>
                                    <p:anim calcmode="lin" valueType="num">
                                      <p:cBhvr additive="base">
                                        <p:cTn id="11" dur="7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0" fill="hold">
                            <p:stCondLst>
                              <p:cond delay="0"/>
                            </p:stCondLst>
                            <p:childTnLst>
                              <p:par>
                                <p:cTn id="19"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27" fill="hold">
                            <p:stCondLst>
                              <p:cond delay="0"/>
                            </p:stCondLst>
                            <p:childTnLst>
                              <p:par>
                                <p:cTn id="26" presetID="42"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00"/>
                                        <p:tgtEl>
                                          <p:spTgt spid="6"/>
                                        </p:tgtEl>
                                      </p:cBhvr>
                                    </p:animEffect>
                                    <p:anim calcmode="lin" valueType="num">
                                      <p:cBhvr additive="base">
                                        <p:cTn id="24" dur="700" fill="hold"/>
                                        <p:tgtEl>
                                          <p:spTgt spid="6"/>
                                        </p:tgtEl>
                                        <p:attrNameLst>
                                          <p:attrName>ppt_x</p:attrName>
                                        </p:attrNameLst>
                                      </p:cBhvr>
                                      <p:tavLst>
                                        <p:tav tm="0">
                                          <p:val>
                                            <p:strVal val="#ppt_x"/>
                                          </p:val>
                                        </p:tav>
                                        <p:tav tm="100000">
                                          <p:val>
                                            <p:strVal val="#ppt_x"/>
                                          </p:val>
                                        </p:tav>
                                      </p:tavLst>
                                    </p:anim>
                                    <p:anim calcmode="lin" valueType="num">
                                      <p:cBhvr additive="base">
                                        <p:cTn id="25" dur="700" fill="hold"/>
                                        <p:tgtEl>
                                          <p:spTgt spid="6"/>
                                        </p:tgtEl>
                                        <p:attrNameLst>
                                          <p:attrName>ppt_y</p:attrName>
                                        </p:attrNameLst>
                                      </p:cBhvr>
                                      <p:tavLst>
                                        <p:tav tm="0">
                                          <p:val>
                                            <p:strVal val="#ppt_y+.1"/>
                                          </p:val>
                                        </p:tav>
                                        <p:tav tm="100000">
                                          <p:val>
                                            <p:strVal val="#ppt_y"/>
                                          </p:val>
                                        </p:tav>
                                      </p:tavLst>
                                    </p:anim>
                                  </p:childTnLst>
                                </p:cTn>
                              </p:par>
                            </p:childTnLst>
                          </p:cTn>
                        </p:par>
                        <p:par>
                          <p:cTn id="36" fill="hold">
                            <p:stCondLst>
                              <p:cond delay="385"/>
                            </p:stCondLst>
                            <p:childTnLst>
                              <p:par>
                                <p:cTn id="32" presetID="53" presetClass="entr" presetSubtype="16"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ppt_w</p:attrName>
                                        </p:attrNameLst>
                                      </p:cBhvr>
                                      <p:tavLst>
                                        <p:tav tm="0">
                                          <p:val>
                                            <p:strVal val="0"/>
                                          </p:val>
                                        </p:tav>
                                        <p:tav tm="100000">
                                          <p:val>
                                            <p:strVal val="#ppt_w"/>
                                          </p:val>
                                        </p:tav>
                                      </p:tavLst>
                                    </p:anim>
                                    <p:anim calcmode="lin" valueType="num">
                                      <p:cBhvr additive="base">
                                        <p:cTn id="30" dur="500" fill="hold"/>
                                        <p:tgtEl>
                                          <p:spTgt spid="7"/>
                                        </p:tgtEl>
                                        <p:attrNameLst>
                                          <p:attrName>ppt_h</p:attrName>
                                        </p:attrNameLst>
                                      </p:cBhvr>
                                      <p:tavLst>
                                        <p:tav tm="0">
                                          <p:val>
                                            <p:strVal val="0"/>
                                          </p:val>
                                        </p:tav>
                                        <p:tav tm="100000">
                                          <p:val>
                                            <p:strVal val="#ppt_h"/>
                                          </p:val>
                                        </p:tav>
                                      </p:tavLst>
                                    </p:anim>
                                    <p:animEffect transition="in" filter="fade">
                                      <p:cBhvr>
                                        <p:cTn id="31" dur="500"/>
                                        <p:tgtEl>
                                          <p:spTgt spid="7"/>
                                        </p:tgtEl>
                                      </p:cBhvr>
                                    </p:animEffect>
                                  </p:childTnLst>
                                </p:cTn>
                              </p:par>
                              <p:par>
                                <p:cTn id="35"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السالبية الكهربائية: التدرج خلال المجموعة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بصفة عامة وبفرض عدم وجود استثناءات، كلما انتقلنا عبر المجموعة تدريجيًّا </a:t>
            </a:r>
            <a:pPr rtl="1" algn="r" indent="0" marL="0">
              <a:lnSpc>
                <a:spcPct val="105000"/>
              </a:lnSpc>
              <a:buNone/>
            </a:pPr>
            <a:r>
              <a:rPr lang="ar-SA" altLang="en-US" sz="1700" b="1" dirty="0">
                <a:solidFill>
                  <a:srgbClr val="DB2777"/>
                </a:solidFill>
                <a:latin typeface="Segoe UI" pitchFamily="34" charset="0"/>
                <a:ea typeface="Segoe UI" pitchFamily="34" charset="-122"/>
                <a:cs typeface="Segoe UI" pitchFamily="34" charset="-120"/>
              </a:rPr>
              <a:t>من أعلى إلى أسفل</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514600"/>
            <a:ext cx="6766560" cy="914400"/>
          </a:xfrm>
          <a:prstGeom prst="roundRect">
            <a:avLst>
              <a:gd name="adj" fmla="val 14000"/>
            </a:avLst>
          </a:prstGeom>
          <a:solidFill>
            <a:srgbClr val="FFFFFF">
              <a:alpha val="94000"/>
            </a:srgbClr>
          </a:solidFill>
          <a:ln w="19050">
            <a:solidFill>
              <a:srgbClr val="DB2777"/>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تزداد مستويات الطاقة الرئيسية فيزداد تأثير الحجب</a:t>
            </a:r>
            <a:endParaRPr lang="ar-SA" sz="1700" dirty="0"/>
          </a:p>
        </p:txBody>
      </p:sp>
      <p:sp>
        <p:nvSpPr>
          <p:cNvPr id="5" name="zoom:w:4"/>
          <p:cNvSpPr/>
          <p:nvPr/>
        </p:nvSpPr>
        <p:spPr>
          <a:xfrm>
            <a:off x="11082528" y="2688336"/>
            <a:ext cx="566928" cy="566928"/>
          </a:xfrm>
          <a:prstGeom prst="ellipse">
            <a:avLst/>
          </a:prstGeom>
          <a:solidFill>
            <a:srgbClr val="DB2777"/>
          </a:solidFill>
          <a:ln w="25400">
            <a:solidFill>
              <a:srgbClr val="DB2777"/>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749040"/>
            <a:ext cx="6766560" cy="914400"/>
          </a:xfrm>
          <a:prstGeom prst="roundRect">
            <a:avLst>
              <a:gd name="adj" fmla="val 14000"/>
            </a:avLst>
          </a:prstGeom>
          <a:solidFill>
            <a:srgbClr val="FFFFFF">
              <a:alpha val="94000"/>
            </a:srgbClr>
          </a:solidFill>
          <a:ln w="19050">
            <a:solidFill>
              <a:srgbClr val="DB2777"/>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وتقل قوة جذب النواة للإلكترونات</a:t>
            </a:r>
            <a:endParaRPr lang="ar-SA" sz="1700" dirty="0"/>
          </a:p>
        </p:txBody>
      </p:sp>
      <p:sp>
        <p:nvSpPr>
          <p:cNvPr id="7" name="zoom:w:6"/>
          <p:cNvSpPr/>
          <p:nvPr/>
        </p:nvSpPr>
        <p:spPr>
          <a:xfrm>
            <a:off x="11082528" y="3922776"/>
            <a:ext cx="566928" cy="566928"/>
          </a:xfrm>
          <a:prstGeom prst="ellipse">
            <a:avLst/>
          </a:prstGeom>
          <a:solidFill>
            <a:srgbClr val="DB2777"/>
          </a:solidFill>
          <a:ln w="25400">
            <a:solidFill>
              <a:srgbClr val="DB2777"/>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983480"/>
            <a:ext cx="6766560" cy="914400"/>
          </a:xfrm>
          <a:prstGeom prst="roundRect">
            <a:avLst>
              <a:gd name="adj" fmla="val 14000"/>
            </a:avLst>
          </a:prstGeom>
          <a:solidFill>
            <a:srgbClr val="DB2777"/>
          </a:solidFill>
          <a:ln w="19050">
            <a:solidFill>
              <a:srgbClr val="DB2777"/>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فتقل السالبية الكهربائية</a:t>
            </a:r>
            <a:endParaRPr lang="ar-SA" sz="1700" dirty="0"/>
          </a:p>
        </p:txBody>
      </p:sp>
      <p:sp>
        <p:nvSpPr>
          <p:cNvPr id="9" name="zoom:w:8"/>
          <p:cNvSpPr/>
          <p:nvPr/>
        </p:nvSpPr>
        <p:spPr>
          <a:xfrm>
            <a:off x="11082528" y="5157216"/>
            <a:ext cx="566928" cy="566928"/>
          </a:xfrm>
          <a:prstGeom prst="ellipse">
            <a:avLst/>
          </a:prstGeom>
          <a:solidFill>
            <a:srgbClr val="FFFFFF"/>
          </a:solidFill>
          <a:ln w="25400">
            <a:solidFill>
              <a:srgbClr val="DB2777"/>
            </a:solidFill>
          </a:ln>
        </p:spPr>
        <p:txBody>
          <a:bodyPr wrap="square" lIns="0" tIns="0" rIns="0" bIns="0" rtlCol="0" anchor="ctr"/>
          <a:lstStyle/>
          <a:p>
            <a:pPr algn="ctr" indent="0" marL="0">
              <a:lnSpc>
                <a:spcPct val="105000"/>
              </a:lnSpc>
              <a:buNone/>
            </a:pPr>
            <a:r>
              <a:rPr lang="en-US" altLang="en-US" sz="1800" b="1" dirty="0">
                <a:solidFill>
                  <a:srgbClr val="DB2777"/>
                </a:solidFill>
                <a:latin typeface="Segoe UI" pitchFamily="34" charset="0"/>
                <a:ea typeface="Segoe UI" pitchFamily="34" charset="-122"/>
                <a:cs typeface="Segoe UI" pitchFamily="34" charset="-120"/>
              </a:rPr>
              <a:t>3</a:t>
            </a:r>
            <a:endParaRPr lang="en-US" sz="1800" dirty="0"/>
          </a:p>
        </p:txBody>
      </p:sp>
      <p:pic>
        <p:nvPicPr>
          <p:cNvPr id="10" name="zoom:a:9" descr="h_shield.png">    </p:cNvPr>
          <p:cNvPicPr>
            <a:picLocks noChangeAspect="1"/>
          </p:cNvPicPr>
          <p:nvPr/>
        </p:nvPicPr>
        <p:blipFill>
          <a:blip r:embed="rId1"/>
          <a:stretch>
            <a:fillRect/>
          </a:stretch>
        </p:blipFill>
        <p:spPr>
          <a:xfrm>
            <a:off x="728759" y="2514600"/>
            <a:ext cx="3480242" cy="2377440"/>
          </a:xfrm>
          <a:prstGeom prst="rect">
            <a:avLst/>
          </a:prstGeom>
        </p:spPr>
      </p:pic>
      <p:pic>
        <p:nvPicPr>
          <p:cNvPr id="11" name="zoom:a:10" descr="l/shielding.png">    </p:cNvPr>
          <p:cNvPicPr>
            <a:picLocks noChangeAspect="1"/>
          </p:cNvPicPr>
          <p:nvPr/>
        </p:nvPicPr>
        <p:blipFill>
          <a:blip r:embed="rId2"/>
          <a:stretch>
            <a:fillRect/>
          </a:stretch>
        </p:blipFill>
        <p:spPr>
          <a:xfrm>
            <a:off x="1691640" y="4983480"/>
            <a:ext cx="1554480" cy="1554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51"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par>
                          <p:cTn id="44" fill="hold">
                            <p:stCondLst>
                              <p:cond delay="330"/>
                            </p:stCondLst>
                            <p:childTnLst>
                              <p:par>
                                <p:cTn id="43" presetID="53" presetClass="entr" presetSubtype="16"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ppt_w</p:attrName>
                                        </p:attrNameLst>
                                      </p:cBhvr>
                                      <p:tavLst>
                                        <p:tav tm="0">
                                          <p:val>
                                            <p:strVal val="0"/>
                                          </p:val>
                                        </p:tav>
                                        <p:tav tm="100000">
                                          <p:val>
                                            <p:strVal val="#ppt_w"/>
                                          </p:val>
                                        </p:tav>
                                      </p:tavLst>
                                    </p:anim>
                                    <p:anim calcmode="lin" valueType="num">
                                      <p:cBhvr additive="base">
                                        <p:cTn id="41" dur="500" fill="hold"/>
                                        <p:tgtEl>
                                          <p:spTgt spid="10"/>
                                        </p:tgtEl>
                                        <p:attrNameLst>
                                          <p:attrName>ppt_h</p:attrName>
                                        </p:attrNameLst>
                                      </p:cBhvr>
                                      <p:tavLst>
                                        <p:tav tm="0">
                                          <p:val>
                                            <p:strVal val="0"/>
                                          </p:val>
                                        </p:tav>
                                        <p:tav tm="100000">
                                          <p:val>
                                            <p:strVal val="#ppt_h"/>
                                          </p:val>
                                        </p:tav>
                                      </p:tavLst>
                                    </p:anim>
                                    <p:animEffect transition="in" filter="fade">
                                      <p:cBhvr>
                                        <p:cTn id="42" dur="500"/>
                                        <p:tgtEl>
                                          <p:spTgt spid="10"/>
                                        </p:tgtEl>
                                      </p:cBhvr>
                                    </p:animEffect>
                                  </p:childTnLst>
                                </p:cTn>
                              </p:par>
                            </p:childTnLst>
                          </p:cTn>
                        </p:par>
                        <p:par>
                          <p:cTn id="50" fill="hold">
                            <p:stCondLst>
                              <p:cond delay="605"/>
                            </p:stCondLst>
                            <p:childTnLst>
                              <p:par>
                                <p:cTn id="49" presetID="53" presetClass="entr" presetSubtype="16" fill="hold" nodeType="after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500" fill="hold"/>
                                        <p:tgtEl>
                                          <p:spTgt spid="11"/>
                                        </p:tgtEl>
                                        <p:attrNameLst>
                                          <p:attrName>ppt_w</p:attrName>
                                        </p:attrNameLst>
                                      </p:cBhvr>
                                      <p:tavLst>
                                        <p:tav tm="0">
                                          <p:val>
                                            <p:strVal val="0"/>
                                          </p:val>
                                        </p:tav>
                                        <p:tav tm="100000">
                                          <p:val>
                                            <p:strVal val="#ppt_w"/>
                                          </p:val>
                                        </p:tav>
                                      </p:tavLst>
                                    </p:anim>
                                    <p:anim calcmode="lin" valueType="num">
                                      <p:cBhvr additive="base">
                                        <p:cTn id="47" dur="500" fill="hold"/>
                                        <p:tgtEl>
                                          <p:spTgt spid="11"/>
                                        </p:tgtEl>
                                        <p:attrNameLst>
                                          <p:attrName>ppt_h</p:attrName>
                                        </p:attrNameLst>
                                      </p:cBhvr>
                                      <p:tavLst>
                                        <p:tav tm="0">
                                          <p:val>
                                            <p:strVal val="0"/>
                                          </p:val>
                                        </p:tav>
                                        <p:tav tm="100000">
                                          <p:val>
                                            <p:strVal val="#ppt_h"/>
                                          </p:val>
                                        </p:tav>
                                      </p:tavLst>
                                    </p:anim>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(10)</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والمطلوب: (بفرض عدم وجود استثناءات)</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DB2777"/>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DB2777"/>
                </a:solidFill>
                <a:latin typeface="Segoe UI" pitchFamily="34" charset="0"/>
                <a:ea typeface="Segoe UI" pitchFamily="34" charset="-122"/>
                <a:cs typeface="Segoe UI" pitchFamily="34" charset="-120"/>
              </a:rPr>
              <a:t>8</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DB2777"/>
                </a:solidFill>
                <a:latin typeface="Segoe UI" pitchFamily="34" charset="0"/>
                <a:ea typeface="Segoe UI" pitchFamily="34" charset="-122"/>
                <a:cs typeface="Segoe UI" pitchFamily="34" charset="-120"/>
              </a:rPr>
              <a:t>16</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A</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DB2777"/>
                </a:solidFill>
                <a:latin typeface="Segoe UI" pitchFamily="34" charset="0"/>
                <a:ea typeface="Segoe UI" pitchFamily="34" charset="-122"/>
                <a:cs typeface="Segoe UI" pitchFamily="34" charset="-120"/>
              </a:rPr>
              <a:t>34</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endParaRPr lang="en-US" sz="2400" dirty="0"/>
          </a:p>
        </p:txBody>
      </p:sp>
      <p:sp>
        <p:nvSpPr>
          <p:cNvPr id="5" name="float:a:4"/>
          <p:cNvSpPr/>
          <p:nvPr/>
        </p:nvSpPr>
        <p:spPr>
          <a:xfrm>
            <a:off x="3246120" y="2331720"/>
            <a:ext cx="8549640" cy="658368"/>
          </a:xfrm>
          <a:prstGeom prst="roundRect">
            <a:avLst>
              <a:gd name="adj" fmla="val 19444"/>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أقل سالبية كهربائية (X – Z)</a:t>
            </a:r>
            <a:endParaRPr lang="ar-SA" sz="1700" dirty="0"/>
          </a:p>
        </p:txBody>
      </p:sp>
      <p:sp>
        <p:nvSpPr>
          <p:cNvPr id="6" name="fade:a:5"/>
          <p:cNvSpPr/>
          <p:nvPr/>
        </p:nvSpPr>
        <p:spPr>
          <a:xfrm>
            <a:off x="411480" y="2331720"/>
            <a:ext cx="2606040" cy="658368"/>
          </a:xfrm>
          <a:prstGeom prst="roundRect">
            <a:avLst>
              <a:gd name="adj" fmla="val 50000"/>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65836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Z</a:t>
            </a:r>
            <a:endParaRPr lang="ar-SA" sz="2000" dirty="0"/>
          </a:p>
        </p:txBody>
      </p:sp>
      <p:sp>
        <p:nvSpPr>
          <p:cNvPr id="8" name="zoom:a:7"/>
          <p:cNvSpPr/>
          <p:nvPr/>
        </p:nvSpPr>
        <p:spPr>
          <a:xfrm>
            <a:off x="10378440" y="3154680"/>
            <a:ext cx="1417320" cy="1097280"/>
          </a:xfrm>
          <a:prstGeom prst="roundRect">
            <a:avLst>
              <a:gd name="adj" fmla="val 11667"/>
            </a:avLst>
          </a:prstGeom>
          <a:solidFill>
            <a:srgbClr val="DB2777"/>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9" name="fade:a:8"/>
          <p:cNvSpPr/>
          <p:nvPr/>
        </p:nvSpPr>
        <p:spPr>
          <a:xfrm>
            <a:off x="411480" y="3154680"/>
            <a:ext cx="9784080" cy="1097280"/>
          </a:xfrm>
          <a:prstGeom prst="roundRect">
            <a:avLst>
              <a:gd name="adj" fmla="val 1166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0" name="wipe:c:9"/>
          <p:cNvSpPr/>
          <p:nvPr/>
        </p:nvSpPr>
        <p:spPr>
          <a:xfrm>
            <a:off x="411480" y="3154680"/>
            <a:ext cx="9784080" cy="1097280"/>
          </a:xfrm>
          <a:prstGeom prst="roundRect">
            <a:avLst>
              <a:gd name="adj" fmla="val 11667"/>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Z يقع أسفل X في المجموعة نفسها، فيزداد عدد مستويات الطاقة ويزداد تأثير الحجب وتقل قوة جذب النواة للإلكترونات.</a:t>
            </a:r>
            <a:endParaRPr lang="ar-SA" sz="1600" dirty="0"/>
          </a:p>
        </p:txBody>
      </p:sp>
      <p:sp>
        <p:nvSpPr>
          <p:cNvPr id="11" name="float:a:10"/>
          <p:cNvSpPr/>
          <p:nvPr/>
        </p:nvSpPr>
        <p:spPr>
          <a:xfrm>
            <a:off x="3246120" y="4416552"/>
            <a:ext cx="8549640" cy="658368"/>
          </a:xfrm>
          <a:prstGeom prst="roundRect">
            <a:avLst>
              <a:gd name="adj" fmla="val 19444"/>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أعلى سالبية كهربائية (X – A)</a:t>
            </a:r>
            <a:endParaRPr lang="ar-SA" sz="1700" dirty="0"/>
          </a:p>
        </p:txBody>
      </p:sp>
      <p:sp>
        <p:nvSpPr>
          <p:cNvPr id="12" name="fade:a:11"/>
          <p:cNvSpPr/>
          <p:nvPr/>
        </p:nvSpPr>
        <p:spPr>
          <a:xfrm>
            <a:off x="411480" y="4416552"/>
            <a:ext cx="2606040" cy="658368"/>
          </a:xfrm>
          <a:prstGeom prst="roundRect">
            <a:avLst>
              <a:gd name="adj" fmla="val 50000"/>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3" name="zoom:c:12"/>
          <p:cNvSpPr/>
          <p:nvPr/>
        </p:nvSpPr>
        <p:spPr>
          <a:xfrm>
            <a:off x="411480" y="4416552"/>
            <a:ext cx="2606040" cy="658368"/>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53" presetClass="entr" presetSubtype="16"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par>
                          <p:cTn id="41" fill="hold">
                            <p:stCondLst>
                              <p:cond delay="55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7" fill="hold">
                      <p:stCondLst>
                        <p:cond delay="indefinite"/>
                      </p:stCondLst>
                      <p:childTnLst>
                        <p:par>
                          <p:cTn id="46" fill="hold">
                            <p:stCondLst>
                              <p:cond delay="0"/>
                            </p:stCondLst>
                            <p:childTnLst>
                              <p:par>
                                <p:cTn id="45" presetID="22" presetClass="entr" presetSubtype="2"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right)">
                                      <p:cBhvr>
                                        <p:cTn id="44" dur="600"/>
                                        <p:tgtEl>
                                          <p:spTgt spid="10"/>
                                        </p:tgtEl>
                                      </p:cBhvr>
                                    </p:animEffect>
                                  </p:childTnLst>
                                </p:cTn>
                              </p:par>
                            </p:childTnLst>
                          </p:cTn>
                        </p:par>
                        <p:par>
                          <p:cTn id="52" fill="hold">
                            <p:stCondLst>
                              <p:cond delay="330"/>
                            </p:stCondLst>
                            <p:childTnLst>
                              <p:par>
                                <p:cTn id="51" presetID="42"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700"/>
                                        <p:tgtEl>
                                          <p:spTgt spid="11"/>
                                        </p:tgtEl>
                                      </p:cBhvr>
                                    </p:animEffect>
                                    <p:anim calcmode="lin" valueType="num">
                                      <p:cBhvr additive="base">
                                        <p:cTn id="49" dur="700" fill="hold"/>
                                        <p:tgtEl>
                                          <p:spTgt spid="11"/>
                                        </p:tgtEl>
                                        <p:attrNameLst>
                                          <p:attrName>ppt_x</p:attrName>
                                        </p:attrNameLst>
                                      </p:cBhvr>
                                      <p:tavLst>
                                        <p:tav tm="0">
                                          <p:val>
                                            <p:strVal val="#ppt_x"/>
                                          </p:val>
                                        </p:tav>
                                        <p:tav tm="100000">
                                          <p:val>
                                            <p:strVal val="#ppt_x"/>
                                          </p:val>
                                        </p:tav>
                                      </p:tavLst>
                                    </p:anim>
                                    <p:anim calcmode="lin" valueType="num">
                                      <p:cBhvr additive="base">
                                        <p:cTn id="50" dur="700" fill="hold"/>
                                        <p:tgtEl>
                                          <p:spTgt spid="11"/>
                                        </p:tgtEl>
                                        <p:attrNameLst>
                                          <p:attrName>ppt_y</p:attrName>
                                        </p:attrNameLst>
                                      </p:cBhvr>
                                      <p:tavLst>
                                        <p:tav tm="0">
                                          <p:val>
                                            <p:strVal val="#ppt_y+.1"/>
                                          </p:val>
                                        </p:tav>
                                        <p:tav tm="100000">
                                          <p:val>
                                            <p:strVal val="#ppt_y"/>
                                          </p:val>
                                        </p:tav>
                                      </p:tavLst>
                                    </p:anim>
                                  </p:childTnLst>
                                </p:cTn>
                              </p:par>
                            </p:childTnLst>
                          </p:cTn>
                        </p:par>
                        <p:par>
                          <p:cTn id="56" fill="hold">
                            <p:stCondLst>
                              <p:cond delay="715"/>
                            </p:stCondLst>
                            <p:childTnLst>
                              <p:par>
                                <p:cTn id="55" presetID="10"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600"/>
                                        <p:tgtEl>
                                          <p:spTgt spid="12"/>
                                        </p:tgtEl>
                                      </p:cBhvr>
                                    </p:animEffect>
                                  </p:childTnLst>
                                </p:cTn>
                              </p:par>
                            </p:childTnLst>
                          </p:cTn>
                        </p:par>
                      </p:childTnLst>
                    </p:cTn>
                  </p:par>
                  <p:par>
                    <p:cTn id="64" fill="hold">
                      <p:stCondLst>
                        <p:cond delay="indefinite"/>
                      </p:stCondLst>
                      <p:childTnLst>
                        <p:par>
                          <p:cTn id="63" fill="hold">
                            <p:stCondLst>
                              <p:cond delay="0"/>
                            </p:stCondLst>
                            <p:childTnLst>
                              <p:par>
                                <p:cTn id="62" presetID="53" presetClass="entr" presetSubtype="16"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ppt_w</p:attrName>
                                        </p:attrNameLst>
                                      </p:cBhvr>
                                      <p:tavLst>
                                        <p:tav tm="0">
                                          <p:val>
                                            <p:strVal val="0"/>
                                          </p:val>
                                        </p:tav>
                                        <p:tav tm="100000">
                                          <p:val>
                                            <p:strVal val="#ppt_w"/>
                                          </p:val>
                                        </p:tav>
                                      </p:tavLst>
                                    </p:anim>
                                    <p:anim calcmode="lin" valueType="num">
                                      <p:cBhvr additive="base">
                                        <p:cTn id="60" dur="500" fill="hold"/>
                                        <p:tgtEl>
                                          <p:spTgt spid="13"/>
                                        </p:tgtEl>
                                        <p:attrNameLst>
                                          <p:attrName>ppt_h</p:attrName>
                                        </p:attrNameLst>
                                      </p:cBhvr>
                                      <p:tavLst>
                                        <p:tav tm="0">
                                          <p:val>
                                            <p:strVal val="0"/>
                                          </p:val>
                                        </p:tav>
                                        <p:tav tm="100000">
                                          <p:val>
                                            <p:strVal val="#ppt_h"/>
                                          </p:val>
                                        </p:tav>
                                      </p:tavLst>
                                    </p:anim>
                                    <p:animEffect transition="in" filter="fade">
                                      <p:cBhvr>
                                        <p:cTn id="6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السالبية الكهربائية: التدرج خلال الدورة</a:t>
            </a:r>
            <a:endParaRPr lang="en-US" sz="2800" dirty="0"/>
          </a:p>
        </p:txBody>
      </p:sp>
      <p:sp>
        <p:nvSpPr>
          <p:cNvPr id="3" name="float:a:2"/>
          <p:cNvSpPr/>
          <p:nvPr/>
        </p:nvSpPr>
        <p:spPr>
          <a:xfrm>
            <a:off x="411480" y="1325880"/>
            <a:ext cx="11384280" cy="777240"/>
          </a:xfrm>
          <a:prstGeom prst="roundRect">
            <a:avLst>
              <a:gd name="adj" fmla="val 16471"/>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بصورة عامة وبفرض عدم وجود استثناءات، كلما انتقلنا عبر الدورة تدريجيًّا </a:t>
            </a:r>
            <a:pPr rtl="1" algn="r" indent="0" marL="0">
              <a:lnSpc>
                <a:spcPct val="105000"/>
              </a:lnSpc>
              <a:buNone/>
            </a:pPr>
            <a:r>
              <a:rPr lang="ar-SA" altLang="en-US" sz="1700" b="1" dirty="0">
                <a:solidFill>
                  <a:srgbClr val="DB2777"/>
                </a:solidFill>
                <a:latin typeface="Segoe UI" pitchFamily="34" charset="0"/>
                <a:ea typeface="Segoe UI" pitchFamily="34" charset="-122"/>
                <a:cs typeface="Segoe UI" pitchFamily="34" charset="-120"/>
              </a:rPr>
              <a:t>من اليسار إلى اليمين</a:t>
            </a:r>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 (بزيادة العدد الذري):</a:t>
            </a:r>
            <a:endParaRPr lang="ar-SA" sz="1700" dirty="0"/>
          </a:p>
        </p:txBody>
      </p:sp>
      <p:sp>
        <p:nvSpPr>
          <p:cNvPr id="4" name="wipe:c:3"/>
          <p:cNvSpPr/>
          <p:nvPr/>
        </p:nvSpPr>
        <p:spPr>
          <a:xfrm>
            <a:off x="4754880" y="2514600"/>
            <a:ext cx="6766560" cy="914400"/>
          </a:xfrm>
          <a:prstGeom prst="roundRect">
            <a:avLst>
              <a:gd name="adj" fmla="val 14000"/>
            </a:avLst>
          </a:prstGeom>
          <a:solidFill>
            <a:srgbClr val="FFFFFF">
              <a:alpha val="94000"/>
            </a:srgbClr>
          </a:solidFill>
          <a:ln w="19050">
            <a:solidFill>
              <a:srgbClr val="DB2777"/>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تزداد شحنة النواة وتزداد قوة جذب النواة للإلكترونات</a:t>
            </a:r>
            <a:endParaRPr lang="ar-SA" sz="1700" dirty="0"/>
          </a:p>
        </p:txBody>
      </p:sp>
      <p:sp>
        <p:nvSpPr>
          <p:cNvPr id="5" name="zoom:w:4"/>
          <p:cNvSpPr/>
          <p:nvPr/>
        </p:nvSpPr>
        <p:spPr>
          <a:xfrm>
            <a:off x="11082528" y="2688336"/>
            <a:ext cx="566928" cy="566928"/>
          </a:xfrm>
          <a:prstGeom prst="ellipse">
            <a:avLst/>
          </a:prstGeom>
          <a:solidFill>
            <a:srgbClr val="DB2777"/>
          </a:solidFill>
          <a:ln w="25400">
            <a:solidFill>
              <a:srgbClr val="DB2777"/>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6" name="wipe:c:5"/>
          <p:cNvSpPr/>
          <p:nvPr/>
        </p:nvSpPr>
        <p:spPr>
          <a:xfrm>
            <a:off x="4754880" y="3749040"/>
            <a:ext cx="6766560" cy="914400"/>
          </a:xfrm>
          <a:prstGeom prst="roundRect">
            <a:avLst>
              <a:gd name="adj" fmla="val 14000"/>
            </a:avLst>
          </a:prstGeom>
          <a:solidFill>
            <a:srgbClr val="FFFFFF">
              <a:alpha val="94000"/>
            </a:srgbClr>
          </a:solidFill>
          <a:ln w="19050">
            <a:solidFill>
              <a:srgbClr val="DB2777"/>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بينما تبقى درجة الحجب ثابتة (بسبب عدم زيادة عدد مستويات الطاقة الرئيسية)</a:t>
            </a:r>
            <a:endParaRPr lang="ar-SA" sz="1700" dirty="0"/>
          </a:p>
        </p:txBody>
      </p:sp>
      <p:sp>
        <p:nvSpPr>
          <p:cNvPr id="7" name="zoom:w:6"/>
          <p:cNvSpPr/>
          <p:nvPr/>
        </p:nvSpPr>
        <p:spPr>
          <a:xfrm>
            <a:off x="11082528" y="3922776"/>
            <a:ext cx="566928" cy="566928"/>
          </a:xfrm>
          <a:prstGeom prst="ellipse">
            <a:avLst/>
          </a:prstGeom>
          <a:solidFill>
            <a:srgbClr val="DB2777"/>
          </a:solidFill>
          <a:ln w="25400">
            <a:solidFill>
              <a:srgbClr val="DB2777"/>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8" name="wipe:c:7"/>
          <p:cNvSpPr/>
          <p:nvPr/>
        </p:nvSpPr>
        <p:spPr>
          <a:xfrm>
            <a:off x="4754880" y="4983480"/>
            <a:ext cx="6766560" cy="914400"/>
          </a:xfrm>
          <a:prstGeom prst="roundRect">
            <a:avLst>
              <a:gd name="adj" fmla="val 14000"/>
            </a:avLst>
          </a:prstGeom>
          <a:solidFill>
            <a:srgbClr val="DB2777"/>
          </a:solidFill>
          <a:ln w="19050">
            <a:solidFill>
              <a:srgbClr val="DB2777"/>
            </a:solidFill>
          </a:ln>
          <a:effectLst>
            <a:outerShdw sx="100000" sy="100000" kx="0" ky="0" algn="bl" rotWithShape="0" blurRad="101600" dist="25400" dir="5400000">
              <a:srgbClr val="0B2545">
                <a:alpha val="18000"/>
              </a:srgbClr>
            </a:outerShdw>
          </a:effectLst>
        </p:spPr>
        <p:txBody>
          <a:bodyPr wrap="square" lIns="50800" tIns="152400" rIns="685800" bIns="50800" rtlCol="0" anchor="ctr"/>
          <a:lstStyle/>
          <a:p>
            <a:pPr rtl="1" algn="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فتزداد السالبية الكهربائية</a:t>
            </a:r>
            <a:endParaRPr lang="ar-SA" sz="1700" dirty="0"/>
          </a:p>
        </p:txBody>
      </p:sp>
      <p:sp>
        <p:nvSpPr>
          <p:cNvPr id="9" name="zoom:w:8"/>
          <p:cNvSpPr/>
          <p:nvPr/>
        </p:nvSpPr>
        <p:spPr>
          <a:xfrm>
            <a:off x="11082528" y="5157216"/>
            <a:ext cx="566928" cy="566928"/>
          </a:xfrm>
          <a:prstGeom prst="ellipse">
            <a:avLst/>
          </a:prstGeom>
          <a:solidFill>
            <a:srgbClr val="FFFFFF"/>
          </a:solidFill>
          <a:ln w="25400">
            <a:solidFill>
              <a:srgbClr val="DB2777"/>
            </a:solidFill>
          </a:ln>
        </p:spPr>
        <p:txBody>
          <a:bodyPr wrap="square" lIns="0" tIns="0" rIns="0" bIns="0" rtlCol="0" anchor="ctr"/>
          <a:lstStyle/>
          <a:p>
            <a:pPr algn="ctr" indent="0" marL="0">
              <a:lnSpc>
                <a:spcPct val="105000"/>
              </a:lnSpc>
              <a:buNone/>
            </a:pPr>
            <a:r>
              <a:rPr lang="en-US" altLang="en-US" sz="1800" b="1" dirty="0">
                <a:solidFill>
                  <a:srgbClr val="DB2777"/>
                </a:solidFill>
                <a:latin typeface="Segoe UI" pitchFamily="34" charset="0"/>
                <a:ea typeface="Segoe UI" pitchFamily="34" charset="-122"/>
                <a:cs typeface="Segoe UI" pitchFamily="34" charset="-120"/>
              </a:rPr>
              <a:t>3</a:t>
            </a:r>
            <a:endParaRPr lang="en-US" sz="1800" dirty="0"/>
          </a:p>
        </p:txBody>
      </p:sp>
      <p:pic>
        <p:nvPicPr>
          <p:cNvPr id="10" name="zoom:a:9" descr="h_charge.png">    </p:cNvPr>
          <p:cNvPicPr>
            <a:picLocks noChangeAspect="1"/>
          </p:cNvPicPr>
          <p:nvPr/>
        </p:nvPicPr>
        <p:blipFill>
          <a:blip r:embed="rId1"/>
          <a:stretch>
            <a:fillRect/>
          </a:stretch>
        </p:blipFill>
        <p:spPr>
          <a:xfrm>
            <a:off x="766148" y="2514600"/>
            <a:ext cx="3405465" cy="2377440"/>
          </a:xfrm>
          <a:prstGeom prst="rect">
            <a:avLst/>
          </a:prstGeom>
        </p:spPr>
      </p:pic>
      <p:pic>
        <p:nvPicPr>
          <p:cNvPr id="11" name="zoom:a:10" descr="l/tug_of_war.png">    </p:cNvPr>
          <p:cNvPicPr>
            <a:picLocks noChangeAspect="1"/>
          </p:cNvPicPr>
          <p:nvPr/>
        </p:nvPicPr>
        <p:blipFill>
          <a:blip r:embed="rId2"/>
          <a:stretch>
            <a:fillRect/>
          </a:stretch>
        </p:blipFill>
        <p:spPr>
          <a:xfrm>
            <a:off x="411480" y="5046232"/>
            <a:ext cx="4114800" cy="13832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18" fill="hold">
                            <p:stCondLst>
                              <p:cond delay="0"/>
                            </p:stCondLst>
                            <p:childTnLst>
                              <p:par>
                                <p:cTn id="12" presetID="2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600"/>
                                        <p:tgtEl>
                                          <p:spTgt spid="4"/>
                                        </p:tgtEl>
                                      </p:cBhvr>
                                    </p:animEffect>
                                  </p:childTnLst>
                                </p:cTn>
                              </p:par>
                              <p:par>
                                <p:cTn id="17"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ppt_w</p:attrName>
                                        </p:attrNameLst>
                                      </p:cBhvr>
                                      <p:tavLst>
                                        <p:tav tm="0">
                                          <p:val>
                                            <p:strVal val="0"/>
                                          </p:val>
                                        </p:tav>
                                        <p:tav tm="100000">
                                          <p:val>
                                            <p:strVal val="#ppt_w"/>
                                          </p:val>
                                        </p:tav>
                                      </p:tavLst>
                                    </p:anim>
                                    <p:anim calcmode="lin" valueType="num">
                                      <p:cBhvr additive="base">
                                        <p:cTn id="15" dur="500" fill="hold"/>
                                        <p:tgtEl>
                                          <p:spTgt spid="5"/>
                                        </p:tgtEl>
                                        <p:attrNameLst>
                                          <p:attrName>ppt_h</p:attrName>
                                        </p:attrNameLst>
                                      </p:cBhvr>
                                      <p:tavLst>
                                        <p:tav tm="0">
                                          <p:val>
                                            <p:strVal val="0"/>
                                          </p:val>
                                        </p:tav>
                                        <p:tav tm="100000">
                                          <p:val>
                                            <p:strVal val="#ppt_h"/>
                                          </p:val>
                                        </p:tav>
                                      </p:tavLst>
                                    </p:anim>
                                    <p:animEffect transition="in" filter="fade">
                                      <p:cBhvr>
                                        <p:cTn id="16" dur="500"/>
                                        <p:tgtEl>
                                          <p:spTgt spid="5"/>
                                        </p:tgtEl>
                                      </p:cBhvr>
                                    </p:animEffect>
                                  </p:childTnLst>
                                </p:cTn>
                              </p:par>
                            </p:childTnLst>
                          </p:cTn>
                        </p:par>
                      </p:childTnLst>
                    </p:cTn>
                  </p:par>
                  <p:par>
                    <p:cTn id="29" fill="hold">
                      <p:stCondLst>
                        <p:cond delay="indefinite"/>
                      </p:stCondLst>
                      <p:childTnLst>
                        <p:par>
                          <p:cTn id="28" fill="hold">
                            <p:stCondLst>
                              <p:cond delay="0"/>
                            </p:stCondLst>
                            <p:childTnLst>
                              <p:par>
                                <p:cTn id="22" presetID="22" presetClass="entr" presetSubtype="2"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600"/>
                                        <p:tgtEl>
                                          <p:spTgt spid="6"/>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strVal val="0"/>
                                          </p:val>
                                        </p:tav>
                                        <p:tav tm="100000">
                                          <p:val>
                                            <p:strVal val="#ppt_w"/>
                                          </p:val>
                                        </p:tav>
                                      </p:tavLst>
                                    </p:anim>
                                    <p:anim calcmode="lin" valueType="num">
                                      <p:cBhvr additive="base">
                                        <p:cTn id="25" dur="500" fill="hold"/>
                                        <p:tgtEl>
                                          <p:spTgt spid="7"/>
                                        </p:tgtEl>
                                        <p:attrNameLst>
                                          <p:attrName>ppt_h</p:attrName>
                                        </p:attrNameLst>
                                      </p:cBhvr>
                                      <p:tavLst>
                                        <p:tav tm="0">
                                          <p:val>
                                            <p:strVal val="0"/>
                                          </p:val>
                                        </p:tav>
                                        <p:tav tm="100000">
                                          <p:val>
                                            <p:strVal val="#ppt_h"/>
                                          </p:val>
                                        </p:tav>
                                      </p:tavLst>
                                    </p:anim>
                                    <p:animEffect transition="in" filter="fade">
                                      <p:cBhvr>
                                        <p:cTn id="26" dur="500"/>
                                        <p:tgtEl>
                                          <p:spTgt spid="7"/>
                                        </p:tgtEl>
                                      </p:cBhvr>
                                    </p:animEffect>
                                  </p:childTnLst>
                                </p:cTn>
                              </p:par>
                            </p:childTnLst>
                          </p:cTn>
                        </p:par>
                      </p:childTnLst>
                    </p:cTn>
                  </p:par>
                  <p:par>
                    <p:cTn id="51" fill="hold">
                      <p:stCondLst>
                        <p:cond delay="indefinite"/>
                      </p:stCondLst>
                      <p:childTnLst>
                        <p:par>
                          <p:cTn id="38"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600"/>
                                        <p:tgtEl>
                                          <p:spTgt spid="8"/>
                                        </p:tgtEl>
                                      </p:cBhvr>
                                    </p:animEffect>
                                  </p:childTnLst>
                                </p:cTn>
                              </p:par>
                              <p:par>
                                <p:cTn id="37"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strVal val="0"/>
                                          </p:val>
                                        </p:tav>
                                        <p:tav tm="100000">
                                          <p:val>
                                            <p:strVal val="#ppt_w"/>
                                          </p:val>
                                        </p:tav>
                                      </p:tavLst>
                                    </p:anim>
                                    <p:anim calcmode="lin" valueType="num">
                                      <p:cBhvr additive="base">
                                        <p:cTn id="35" dur="500" fill="hold"/>
                                        <p:tgtEl>
                                          <p:spTgt spid="9"/>
                                        </p:tgtEl>
                                        <p:attrNameLst>
                                          <p:attrName>ppt_h</p:attrName>
                                        </p:attrNameLst>
                                      </p:cBhvr>
                                      <p:tavLst>
                                        <p:tav tm="0">
                                          <p:val>
                                            <p:strVal val="0"/>
                                          </p:val>
                                        </p:tav>
                                        <p:tav tm="100000">
                                          <p:val>
                                            <p:strVal val="#ppt_h"/>
                                          </p:val>
                                        </p:tav>
                                      </p:tavLst>
                                    </p:anim>
                                    <p:animEffect transition="in" filter="fade">
                                      <p:cBhvr>
                                        <p:cTn id="36" dur="500"/>
                                        <p:tgtEl>
                                          <p:spTgt spid="9"/>
                                        </p:tgtEl>
                                      </p:cBhvr>
                                    </p:animEffect>
                                  </p:childTnLst>
                                </p:cTn>
                              </p:par>
                            </p:childTnLst>
                          </p:cTn>
                        </p:par>
                        <p:par>
                          <p:cTn id="44" fill="hold">
                            <p:stCondLst>
                              <p:cond delay="330"/>
                            </p:stCondLst>
                            <p:childTnLst>
                              <p:par>
                                <p:cTn id="43" presetID="53" presetClass="entr" presetSubtype="16"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ppt_w</p:attrName>
                                        </p:attrNameLst>
                                      </p:cBhvr>
                                      <p:tavLst>
                                        <p:tav tm="0">
                                          <p:val>
                                            <p:strVal val="0"/>
                                          </p:val>
                                        </p:tav>
                                        <p:tav tm="100000">
                                          <p:val>
                                            <p:strVal val="#ppt_w"/>
                                          </p:val>
                                        </p:tav>
                                      </p:tavLst>
                                    </p:anim>
                                    <p:anim calcmode="lin" valueType="num">
                                      <p:cBhvr additive="base">
                                        <p:cTn id="41" dur="500" fill="hold"/>
                                        <p:tgtEl>
                                          <p:spTgt spid="10"/>
                                        </p:tgtEl>
                                        <p:attrNameLst>
                                          <p:attrName>ppt_h</p:attrName>
                                        </p:attrNameLst>
                                      </p:cBhvr>
                                      <p:tavLst>
                                        <p:tav tm="0">
                                          <p:val>
                                            <p:strVal val="0"/>
                                          </p:val>
                                        </p:tav>
                                        <p:tav tm="100000">
                                          <p:val>
                                            <p:strVal val="#ppt_h"/>
                                          </p:val>
                                        </p:tav>
                                      </p:tavLst>
                                    </p:anim>
                                    <p:animEffect transition="in" filter="fade">
                                      <p:cBhvr>
                                        <p:cTn id="42" dur="500"/>
                                        <p:tgtEl>
                                          <p:spTgt spid="10"/>
                                        </p:tgtEl>
                                      </p:cBhvr>
                                    </p:animEffect>
                                  </p:childTnLst>
                                </p:cTn>
                              </p:par>
                            </p:childTnLst>
                          </p:cTn>
                        </p:par>
                        <p:par>
                          <p:cTn id="50" fill="hold">
                            <p:stCondLst>
                              <p:cond delay="605"/>
                            </p:stCondLst>
                            <p:childTnLst>
                              <p:par>
                                <p:cTn id="49" presetID="53" presetClass="entr" presetSubtype="16" fill="hold" nodeType="after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500" fill="hold"/>
                                        <p:tgtEl>
                                          <p:spTgt spid="11"/>
                                        </p:tgtEl>
                                        <p:attrNameLst>
                                          <p:attrName>ppt_w</p:attrName>
                                        </p:attrNameLst>
                                      </p:cBhvr>
                                      <p:tavLst>
                                        <p:tav tm="0">
                                          <p:val>
                                            <p:strVal val="0"/>
                                          </p:val>
                                        </p:tav>
                                        <p:tav tm="100000">
                                          <p:val>
                                            <p:strVal val="#ppt_w"/>
                                          </p:val>
                                        </p:tav>
                                      </p:tavLst>
                                    </p:anim>
                                    <p:anim calcmode="lin" valueType="num">
                                      <p:cBhvr additive="base">
                                        <p:cTn id="47" dur="500" fill="hold"/>
                                        <p:tgtEl>
                                          <p:spTgt spid="11"/>
                                        </p:tgtEl>
                                        <p:attrNameLst>
                                          <p:attrName>ppt_h</p:attrName>
                                        </p:attrNameLst>
                                      </p:cBhvr>
                                      <p:tavLst>
                                        <p:tav tm="0">
                                          <p:val>
                                            <p:strVal val="0"/>
                                          </p:val>
                                        </p:tav>
                                        <p:tav tm="100000">
                                          <p:val>
                                            <p:strVal val="#ppt_h"/>
                                          </p:val>
                                        </p:tav>
                                      </p:tavLst>
                                    </p:anim>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تمرين (11)</a:t>
            </a:r>
            <a:endParaRPr lang="en-US" sz="2800" dirty="0"/>
          </a:p>
        </p:txBody>
      </p:sp>
      <p:sp>
        <p:nvSpPr>
          <p:cNvPr id="3" name="float:a:2"/>
          <p:cNvSpPr/>
          <p:nvPr/>
        </p:nvSpPr>
        <p:spPr>
          <a:xfrm>
            <a:off x="3931920" y="1325880"/>
            <a:ext cx="7863840" cy="749808"/>
          </a:xfrm>
          <a:prstGeom prst="roundRect">
            <a:avLst>
              <a:gd name="adj" fmla="val 170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لديك العناصر الافتراضية التالية، والمطلوب: (بفرض عدم وجود استثناءات)</a:t>
            </a:r>
            <a:endParaRPr lang="ar-SA" sz="1700" dirty="0"/>
          </a:p>
        </p:txBody>
      </p:sp>
      <p:sp>
        <p:nvSpPr>
          <p:cNvPr id="4" name="zoom:a:3"/>
          <p:cNvSpPr/>
          <p:nvPr/>
        </p:nvSpPr>
        <p:spPr>
          <a:xfrm>
            <a:off x="411480" y="1380744"/>
            <a:ext cx="3108960" cy="640080"/>
          </a:xfrm>
          <a:prstGeom prst="roundRect">
            <a:avLst>
              <a:gd name="adj" fmla="val 50000"/>
            </a:avLst>
          </a:prstGeom>
          <a:solidFill>
            <a:srgbClr val="FFFFFF">
              <a:alpha val="95000"/>
            </a:srgbClr>
          </a:solidFill>
          <a:ln w="25400">
            <a:solidFill>
              <a:srgbClr val="DB2777"/>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2400" b="1" baseline="-40000" dirty="0">
                <a:solidFill>
                  <a:srgbClr val="DB2777"/>
                </a:solidFill>
                <a:latin typeface="Segoe UI" pitchFamily="34" charset="0"/>
                <a:ea typeface="Segoe UI" pitchFamily="34" charset="-122"/>
                <a:cs typeface="Segoe UI" pitchFamily="34" charset="-120"/>
              </a:rPr>
              <a:t>5</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Z</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DB2777"/>
                </a:solidFill>
                <a:latin typeface="Segoe UI" pitchFamily="34" charset="0"/>
                <a:ea typeface="Segoe UI" pitchFamily="34" charset="-122"/>
                <a:cs typeface="Segoe UI" pitchFamily="34" charset="-120"/>
              </a:rPr>
              <a:t>4</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X</a:t>
            </a:r>
            <a:pPr algn="ctr" indent="0" marL="0">
              <a:lnSpc>
                <a:spcPct val="105000"/>
              </a:lnSpc>
              <a:buNone/>
            </a:pPr>
            <a:r>
              <a:rPr lang="en-US" altLang="en-US" sz="2400" dirty="0">
                <a:solidFill>
                  <a:srgbClr val="0B2545"/>
                </a:solidFill>
                <a:latin typeface="Segoe UI" pitchFamily="34" charset="0"/>
                <a:ea typeface="Segoe UI" pitchFamily="34" charset="-122"/>
                <a:cs typeface="Segoe UI" pitchFamily="34" charset="-120"/>
              </a:rPr>
              <a:t>   ,   </a:t>
            </a:r>
            <a:pPr algn="ctr" indent="0" marL="0">
              <a:lnSpc>
                <a:spcPct val="105000"/>
              </a:lnSpc>
              <a:buNone/>
            </a:pPr>
            <a:r>
              <a:rPr lang="en-US" altLang="en-US" sz="2400" b="1" baseline="-40000" dirty="0">
                <a:solidFill>
                  <a:srgbClr val="DB2777"/>
                </a:solidFill>
                <a:latin typeface="Segoe UI" pitchFamily="34" charset="0"/>
                <a:ea typeface="Segoe UI" pitchFamily="34" charset="-122"/>
                <a:cs typeface="Segoe UI" pitchFamily="34" charset="-120"/>
              </a:rPr>
              <a:t>9</a:t>
            </a:r>
            <a:pPr algn="ctr" indent="0" marL="0">
              <a:lnSpc>
                <a:spcPct val="105000"/>
              </a:lnSpc>
              <a:buNone/>
            </a:pPr>
            <a:r>
              <a:rPr lang="en-US" altLang="en-US" sz="2400" b="1" dirty="0">
                <a:solidFill>
                  <a:srgbClr val="0B2545"/>
                </a:solidFill>
                <a:latin typeface="Segoe UI" pitchFamily="34" charset="0"/>
                <a:ea typeface="Segoe UI" pitchFamily="34" charset="-122"/>
                <a:cs typeface="Segoe UI" pitchFamily="34" charset="-120"/>
              </a:rPr>
              <a:t>M</a:t>
            </a:r>
            <a:endParaRPr lang="en-US" sz="2400" dirty="0"/>
          </a:p>
        </p:txBody>
      </p:sp>
      <p:sp>
        <p:nvSpPr>
          <p:cNvPr id="5" name="float:a:4"/>
          <p:cNvSpPr/>
          <p:nvPr/>
        </p:nvSpPr>
        <p:spPr>
          <a:xfrm>
            <a:off x="3246120" y="2331720"/>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1 - العنصر الذي له أقل سالبية كهربائية (X – M)</a:t>
            </a:r>
            <a:endParaRPr lang="ar-SA" sz="1700" dirty="0"/>
          </a:p>
        </p:txBody>
      </p:sp>
      <p:sp>
        <p:nvSpPr>
          <p:cNvPr id="6" name="fade:a:5"/>
          <p:cNvSpPr/>
          <p:nvPr/>
        </p:nvSpPr>
        <p:spPr>
          <a:xfrm>
            <a:off x="411480" y="2331720"/>
            <a:ext cx="2606040" cy="594360"/>
          </a:xfrm>
          <a:prstGeom prst="roundRect">
            <a:avLst>
              <a:gd name="adj" fmla="val 50000"/>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7" name="zoom:c:6"/>
          <p:cNvSpPr/>
          <p:nvPr/>
        </p:nvSpPr>
        <p:spPr>
          <a:xfrm>
            <a:off x="411480" y="2331720"/>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X</a:t>
            </a:r>
            <a:endParaRPr lang="ar-SA" sz="2000" dirty="0"/>
          </a:p>
        </p:txBody>
      </p:sp>
      <p:sp>
        <p:nvSpPr>
          <p:cNvPr id="8" name="float:a:7"/>
          <p:cNvSpPr/>
          <p:nvPr/>
        </p:nvSpPr>
        <p:spPr>
          <a:xfrm>
            <a:off x="3246120" y="3090672"/>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2 - العنصر الذي له أعلى سالبية كهربائية (Z – M)</a:t>
            </a:r>
            <a:endParaRPr lang="ar-SA" sz="1700" dirty="0"/>
          </a:p>
        </p:txBody>
      </p:sp>
      <p:sp>
        <p:nvSpPr>
          <p:cNvPr id="9" name="fade:a:8"/>
          <p:cNvSpPr/>
          <p:nvPr/>
        </p:nvSpPr>
        <p:spPr>
          <a:xfrm>
            <a:off x="411480" y="3090672"/>
            <a:ext cx="2606040" cy="594360"/>
          </a:xfrm>
          <a:prstGeom prst="roundRect">
            <a:avLst>
              <a:gd name="adj" fmla="val 50000"/>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0" name="zoom:c:9"/>
          <p:cNvSpPr/>
          <p:nvPr/>
        </p:nvSpPr>
        <p:spPr>
          <a:xfrm>
            <a:off x="411480" y="3090672"/>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M</a:t>
            </a:r>
            <a:endParaRPr lang="ar-SA" sz="2000" dirty="0"/>
          </a:p>
        </p:txBody>
      </p:sp>
      <p:sp>
        <p:nvSpPr>
          <p:cNvPr id="11" name="zoom:a:10"/>
          <p:cNvSpPr/>
          <p:nvPr/>
        </p:nvSpPr>
        <p:spPr>
          <a:xfrm>
            <a:off x="10378440" y="3849624"/>
            <a:ext cx="1417320" cy="914400"/>
          </a:xfrm>
          <a:prstGeom prst="roundRect">
            <a:avLst>
              <a:gd name="adj" fmla="val 14000"/>
            </a:avLst>
          </a:prstGeom>
          <a:solidFill>
            <a:srgbClr val="DB2777"/>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السبب</a:t>
            </a:r>
            <a:endParaRPr lang="ar-SA" sz="1800" dirty="0"/>
          </a:p>
        </p:txBody>
      </p:sp>
      <p:sp>
        <p:nvSpPr>
          <p:cNvPr id="12" name="fade:a:11"/>
          <p:cNvSpPr/>
          <p:nvPr/>
        </p:nvSpPr>
        <p:spPr>
          <a:xfrm>
            <a:off x="411480" y="3849624"/>
            <a:ext cx="978408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 . . . . . . . . . . .</a:t>
            </a:r>
            <a:endParaRPr lang="ar-SA" sz="1700" dirty="0"/>
          </a:p>
        </p:txBody>
      </p:sp>
      <p:sp>
        <p:nvSpPr>
          <p:cNvPr id="13" name="wipe:c:12"/>
          <p:cNvSpPr/>
          <p:nvPr/>
        </p:nvSpPr>
        <p:spPr>
          <a:xfrm>
            <a:off x="411480" y="3849624"/>
            <a:ext cx="9784080" cy="914400"/>
          </a:xfrm>
          <a:prstGeom prst="roundRect">
            <a:avLst>
              <a:gd name="adj" fmla="val 14000"/>
            </a:avLst>
          </a:prstGeom>
          <a:solidFill>
            <a:srgbClr val="FFFFFF"/>
          </a:solidFill>
          <a:ln w="15875">
            <a:solidFill>
              <a:srgbClr val="059669"/>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لأنّ M يقع على يمين Z في الدورة نفسها، فتزداد شحنة النواة وتزداد قوة جذبها للإلكترونات بينما تبقى درجة الحجب ثابتة.</a:t>
            </a:r>
            <a:endParaRPr lang="ar-SA" sz="1600" dirty="0"/>
          </a:p>
        </p:txBody>
      </p:sp>
      <p:sp>
        <p:nvSpPr>
          <p:cNvPr id="14" name="float:a:13"/>
          <p:cNvSpPr/>
          <p:nvPr/>
        </p:nvSpPr>
        <p:spPr>
          <a:xfrm>
            <a:off x="3246120" y="4928616"/>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3 - اسم مجموعة العنصر الذي له أعلى سالبية كهربائية</a:t>
            </a:r>
            <a:endParaRPr lang="ar-SA" sz="1700" dirty="0"/>
          </a:p>
        </p:txBody>
      </p:sp>
      <p:sp>
        <p:nvSpPr>
          <p:cNvPr id="15" name="fade:a:14"/>
          <p:cNvSpPr/>
          <p:nvPr/>
        </p:nvSpPr>
        <p:spPr>
          <a:xfrm>
            <a:off x="411480" y="4928616"/>
            <a:ext cx="2606040" cy="594360"/>
          </a:xfrm>
          <a:prstGeom prst="roundRect">
            <a:avLst>
              <a:gd name="adj" fmla="val 50000"/>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6" name="zoom:c:15"/>
          <p:cNvSpPr/>
          <p:nvPr/>
        </p:nvSpPr>
        <p:spPr>
          <a:xfrm>
            <a:off x="411480" y="4928616"/>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الهالوجينات</a:t>
            </a:r>
            <a:endParaRPr lang="ar-SA" sz="1700" dirty="0"/>
          </a:p>
        </p:txBody>
      </p:sp>
      <p:sp>
        <p:nvSpPr>
          <p:cNvPr id="17" name="float:a:16"/>
          <p:cNvSpPr/>
          <p:nvPr/>
        </p:nvSpPr>
        <p:spPr>
          <a:xfrm>
            <a:off x="3246120" y="5687568"/>
            <a:ext cx="8549640" cy="594360"/>
          </a:xfrm>
          <a:prstGeom prst="roundRect">
            <a:avLst>
              <a:gd name="adj" fmla="val 2153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4 - اسم مجموعة العنصر الذي له أقل سالبية كهربائية</a:t>
            </a:r>
            <a:endParaRPr lang="ar-SA" sz="1700" dirty="0"/>
          </a:p>
        </p:txBody>
      </p:sp>
      <p:sp>
        <p:nvSpPr>
          <p:cNvPr id="18" name="fade:a:17"/>
          <p:cNvSpPr/>
          <p:nvPr/>
        </p:nvSpPr>
        <p:spPr>
          <a:xfrm>
            <a:off x="411480" y="5687568"/>
            <a:ext cx="2606040" cy="594360"/>
          </a:xfrm>
          <a:prstGeom prst="roundRect">
            <a:avLst>
              <a:gd name="adj" fmla="val 50000"/>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a:t>
            </a:r>
            <a:endParaRPr lang="ar-SA" sz="1700" dirty="0"/>
          </a:p>
        </p:txBody>
      </p:sp>
      <p:sp>
        <p:nvSpPr>
          <p:cNvPr id="19" name="zoom:c:18"/>
          <p:cNvSpPr/>
          <p:nvPr/>
        </p:nvSpPr>
        <p:spPr>
          <a:xfrm>
            <a:off x="411480" y="5687568"/>
            <a:ext cx="2606040" cy="59436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500" b="1" dirty="0">
                <a:solidFill>
                  <a:srgbClr val="FFFFFF"/>
                </a:solidFill>
                <a:latin typeface="Segoe UI" pitchFamily="34" charset="0"/>
                <a:ea typeface="Segoe UI" pitchFamily="34" charset="-122"/>
                <a:cs typeface="Segoe UI" pitchFamily="34" charset="-120"/>
              </a:rPr>
              <a:t>الفلزات القلوية الأرضية</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1045"/>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childTnLst>
                          </p:cTn>
                        </p:par>
                      </p:childTnLst>
                    </p:cTn>
                  </p:par>
                  <p:par>
                    <p:cTn id="42" fill="hold">
                      <p:stCondLst>
                        <p:cond delay="indefinite"/>
                      </p:stCondLst>
                      <p:childTnLst>
                        <p:par>
                          <p:cTn id="31"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ppt_w</p:attrName>
                                        </p:attrNameLst>
                                      </p:cBhvr>
                                      <p:tavLst>
                                        <p:tav tm="0">
                                          <p:val>
                                            <p:strVal val="0"/>
                                          </p:val>
                                        </p:tav>
                                        <p:tav tm="100000">
                                          <p:val>
                                            <p:strVal val="#ppt_w"/>
                                          </p:val>
                                        </p:tav>
                                      </p:tavLst>
                                    </p:anim>
                                    <p:anim calcmode="lin" valueType="num">
                                      <p:cBhvr additive="base">
                                        <p:cTn id="28" dur="500" fill="hold"/>
                                        <p:tgtEl>
                                          <p:spTgt spid="7"/>
                                        </p:tgtEl>
                                        <p:attrNameLst>
                                          <p:attrName>ppt_h</p:attrName>
                                        </p:attrNameLst>
                                      </p:cBhvr>
                                      <p:tavLst>
                                        <p:tav tm="0">
                                          <p:val>
                                            <p:strVal val="0"/>
                                          </p:val>
                                        </p:tav>
                                        <p:tav tm="100000">
                                          <p:val>
                                            <p:strVal val="#ppt_h"/>
                                          </p:val>
                                        </p:tav>
                                      </p:tavLst>
                                    </p:anim>
                                    <p:animEffect transition="in" filter="fade">
                                      <p:cBhvr>
                                        <p:cTn id="29" dur="500"/>
                                        <p:tgtEl>
                                          <p:spTgt spid="7"/>
                                        </p:tgtEl>
                                      </p:cBhvr>
                                    </p:animEffect>
                                  </p:childTnLst>
                                </p:cTn>
                              </p:par>
                            </p:childTnLst>
                          </p:cTn>
                        </p:par>
                        <p:par>
                          <p:cTn id="37" fill="hold">
                            <p:stCondLst>
                              <p:cond delay="275"/>
                            </p:stCondLst>
                            <p:childTnLst>
                              <p:par>
                                <p:cTn id="36"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childTnLst>
                          </p:cTn>
                        </p:par>
                        <p:par>
                          <p:cTn id="41" fill="hold">
                            <p:stCondLst>
                              <p:cond delay="660"/>
                            </p:stCondLst>
                            <p:childTnLst>
                              <p:par>
                                <p:cTn id="40" presetID="10" presetClass="entr" presetSubtype="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childTnLst>
                                </p:cTn>
                              </p:par>
                            </p:childTnLst>
                          </p:cTn>
                        </p:par>
                      </p:childTnLst>
                    </p:cTn>
                  </p:par>
                  <p:par>
                    <p:cTn id="59" fill="hold">
                      <p:stCondLst>
                        <p:cond delay="indefinite"/>
                      </p:stCondLst>
                      <p:childTnLst>
                        <p:par>
                          <p:cTn id="48" fill="hold">
                            <p:stCondLst>
                              <p:cond delay="0"/>
                            </p:stCondLst>
                            <p:childTnLst>
                              <p:par>
                                <p:cTn id="47" presetID="53" presetClass="entr" presetSubtype="16"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ppt_w</p:attrName>
                                        </p:attrNameLst>
                                      </p:cBhvr>
                                      <p:tavLst>
                                        <p:tav tm="0">
                                          <p:val>
                                            <p:strVal val="0"/>
                                          </p:val>
                                        </p:tav>
                                        <p:tav tm="100000">
                                          <p:val>
                                            <p:strVal val="#ppt_w"/>
                                          </p:val>
                                        </p:tav>
                                      </p:tavLst>
                                    </p:anim>
                                    <p:anim calcmode="lin" valueType="num">
                                      <p:cBhvr additive="base">
                                        <p:cTn id="45" dur="500" fill="hold"/>
                                        <p:tgtEl>
                                          <p:spTgt spid="10"/>
                                        </p:tgtEl>
                                        <p:attrNameLst>
                                          <p:attrName>ppt_h</p:attrName>
                                        </p:attrNameLst>
                                      </p:cBhvr>
                                      <p:tavLst>
                                        <p:tav tm="0">
                                          <p:val>
                                            <p:strVal val="0"/>
                                          </p:val>
                                        </p:tav>
                                        <p:tav tm="100000">
                                          <p:val>
                                            <p:strVal val="#ppt_h"/>
                                          </p:val>
                                        </p:tav>
                                      </p:tavLst>
                                    </p:anim>
                                    <p:animEffect transition="in" filter="fade">
                                      <p:cBhvr>
                                        <p:cTn id="46" dur="500"/>
                                        <p:tgtEl>
                                          <p:spTgt spid="10"/>
                                        </p:tgtEl>
                                      </p:cBhvr>
                                    </p:animEffect>
                                  </p:childTnLst>
                                </p:cTn>
                              </p:par>
                            </p:childTnLst>
                          </p:cTn>
                        </p:par>
                        <p:par>
                          <p:cTn id="54" fill="hold">
                            <p:stCondLst>
                              <p:cond delay="275"/>
                            </p:stCondLst>
                            <p:childTnLst>
                              <p:par>
                                <p:cTn id="53" presetID="53" presetClass="entr" presetSubtype="16"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ppt_w</p:attrName>
                                        </p:attrNameLst>
                                      </p:cBhvr>
                                      <p:tavLst>
                                        <p:tav tm="0">
                                          <p:val>
                                            <p:strVal val="0"/>
                                          </p:val>
                                        </p:tav>
                                        <p:tav tm="100000">
                                          <p:val>
                                            <p:strVal val="#ppt_w"/>
                                          </p:val>
                                        </p:tav>
                                      </p:tavLst>
                                    </p:anim>
                                    <p:anim calcmode="lin" valueType="num">
                                      <p:cBhvr additive="base">
                                        <p:cTn id="51" dur="500" fill="hold"/>
                                        <p:tgtEl>
                                          <p:spTgt spid="11"/>
                                        </p:tgtEl>
                                        <p:attrNameLst>
                                          <p:attrName>ppt_h</p:attrName>
                                        </p:attrNameLst>
                                      </p:cBhvr>
                                      <p:tavLst>
                                        <p:tav tm="0">
                                          <p:val>
                                            <p:strVal val="0"/>
                                          </p:val>
                                        </p:tav>
                                        <p:tav tm="100000">
                                          <p:val>
                                            <p:strVal val="#ppt_h"/>
                                          </p:val>
                                        </p:tav>
                                      </p:tavLst>
                                    </p:anim>
                                    <p:animEffect transition="in" filter="fade">
                                      <p:cBhvr>
                                        <p:cTn id="52" dur="500"/>
                                        <p:tgtEl>
                                          <p:spTgt spid="11"/>
                                        </p:tgtEl>
                                      </p:cBhvr>
                                    </p:animEffect>
                                  </p:childTnLst>
                                </p:cTn>
                              </p:par>
                            </p:childTnLst>
                          </p:cTn>
                        </p:par>
                        <p:par>
                          <p:cTn id="58" fill="hold">
                            <p:stCondLst>
                              <p:cond delay="550"/>
                            </p:stCondLst>
                            <p:childTnLst>
                              <p:par>
                                <p:cTn id="57"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childTnLst>
                                </p:cTn>
                              </p:par>
                            </p:childTnLst>
                          </p:cTn>
                        </p:par>
                      </p:childTnLst>
                    </p:cTn>
                  </p:par>
                  <p:par>
                    <p:cTn id="74" fill="hold">
                      <p:stCondLst>
                        <p:cond delay="indefinite"/>
                      </p:stCondLst>
                      <p:childTnLst>
                        <p:par>
                          <p:cTn id="63" fill="hold">
                            <p:stCondLst>
                              <p:cond delay="0"/>
                            </p:stCondLst>
                            <p:childTnLst>
                              <p:par>
                                <p:cTn id="62" presetID="22" presetClass="entr" presetSubtype="2"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600"/>
                                        <p:tgtEl>
                                          <p:spTgt spid="13"/>
                                        </p:tgtEl>
                                      </p:cBhvr>
                                    </p:animEffect>
                                  </p:childTnLst>
                                </p:cTn>
                              </p:par>
                            </p:childTnLst>
                          </p:cTn>
                        </p:par>
                        <p:par>
                          <p:cTn id="69" fill="hold">
                            <p:stCondLst>
                              <p:cond delay="330"/>
                            </p:stCondLst>
                            <p:childTnLst>
                              <p:par>
                                <p:cTn id="68" presetID="42" presetClass="entr" presetSubtype="0"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additive="base">
                                        <p:cTn id="66" dur="700" fill="hold"/>
                                        <p:tgtEl>
                                          <p:spTgt spid="14"/>
                                        </p:tgtEl>
                                        <p:attrNameLst>
                                          <p:attrName>ppt_x</p:attrName>
                                        </p:attrNameLst>
                                      </p:cBhvr>
                                      <p:tavLst>
                                        <p:tav tm="0">
                                          <p:val>
                                            <p:strVal val="#ppt_x"/>
                                          </p:val>
                                        </p:tav>
                                        <p:tav tm="100000">
                                          <p:val>
                                            <p:strVal val="#ppt_x"/>
                                          </p:val>
                                        </p:tav>
                                      </p:tavLst>
                                    </p:anim>
                                    <p:anim calcmode="lin" valueType="num">
                                      <p:cBhvr additive="base">
                                        <p:cTn id="67" dur="700" fill="hold"/>
                                        <p:tgtEl>
                                          <p:spTgt spid="14"/>
                                        </p:tgtEl>
                                        <p:attrNameLst>
                                          <p:attrName>ppt_y</p:attrName>
                                        </p:attrNameLst>
                                      </p:cBhvr>
                                      <p:tavLst>
                                        <p:tav tm="0">
                                          <p:val>
                                            <p:strVal val="#ppt_y+.1"/>
                                          </p:val>
                                        </p:tav>
                                        <p:tav tm="100000">
                                          <p:val>
                                            <p:strVal val="#ppt_y"/>
                                          </p:val>
                                        </p:tav>
                                      </p:tavLst>
                                    </p:anim>
                                  </p:childTnLst>
                                </p:cTn>
                              </p:par>
                            </p:childTnLst>
                          </p:cTn>
                        </p:par>
                        <p:par>
                          <p:cTn id="73" fill="hold">
                            <p:stCondLst>
                              <p:cond delay="715"/>
                            </p:stCondLst>
                            <p:childTnLst>
                              <p:par>
                                <p:cTn id="72"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childTnLst>
                                </p:cTn>
                              </p:par>
                            </p:childTnLst>
                          </p:cTn>
                        </p:par>
                      </p:childTnLst>
                    </p:cTn>
                  </p:par>
                  <p:par>
                    <p:cTn id="91" fill="hold">
                      <p:stCondLst>
                        <p:cond delay="indefinite"/>
                      </p:stCondLst>
                      <p:childTnLst>
                        <p:par>
                          <p:cTn id="80" fill="hold">
                            <p:stCondLst>
                              <p:cond delay="0"/>
                            </p:stCondLst>
                            <p:childTnLst>
                              <p:par>
                                <p:cTn id="79" presetID="53" presetClass="entr" presetSubtype="16"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additive="base">
                                        <p:cTn id="76" dur="500" fill="hold"/>
                                        <p:tgtEl>
                                          <p:spTgt spid="16"/>
                                        </p:tgtEl>
                                        <p:attrNameLst>
                                          <p:attrName>ppt_w</p:attrName>
                                        </p:attrNameLst>
                                      </p:cBhvr>
                                      <p:tavLst>
                                        <p:tav tm="0">
                                          <p:val>
                                            <p:strVal val="0"/>
                                          </p:val>
                                        </p:tav>
                                        <p:tav tm="100000">
                                          <p:val>
                                            <p:strVal val="#ppt_w"/>
                                          </p:val>
                                        </p:tav>
                                      </p:tavLst>
                                    </p:anim>
                                    <p:anim calcmode="lin" valueType="num">
                                      <p:cBhvr additive="base">
                                        <p:cTn id="77" dur="500" fill="hold"/>
                                        <p:tgtEl>
                                          <p:spTgt spid="16"/>
                                        </p:tgtEl>
                                        <p:attrNameLst>
                                          <p:attrName>ppt_h</p:attrName>
                                        </p:attrNameLst>
                                      </p:cBhvr>
                                      <p:tavLst>
                                        <p:tav tm="0">
                                          <p:val>
                                            <p:strVal val="0"/>
                                          </p:val>
                                        </p:tav>
                                        <p:tav tm="100000">
                                          <p:val>
                                            <p:strVal val="#ppt_h"/>
                                          </p:val>
                                        </p:tav>
                                      </p:tavLst>
                                    </p:anim>
                                    <p:animEffect transition="in" filter="fade">
                                      <p:cBhvr>
                                        <p:cTn id="78" dur="500"/>
                                        <p:tgtEl>
                                          <p:spTgt spid="16"/>
                                        </p:tgtEl>
                                      </p:cBhvr>
                                    </p:animEffect>
                                  </p:childTnLst>
                                </p:cTn>
                              </p:par>
                            </p:childTnLst>
                          </p:cTn>
                        </p:par>
                        <p:par>
                          <p:cTn id="86" fill="hold">
                            <p:stCondLst>
                              <p:cond delay="275"/>
                            </p:stCondLst>
                            <p:childTnLst>
                              <p:par>
                                <p:cTn id="85" presetID="42"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ppt_x</p:attrName>
                                        </p:attrNameLst>
                                      </p:cBhvr>
                                      <p:tavLst>
                                        <p:tav tm="0">
                                          <p:val>
                                            <p:strVal val="#ppt_x"/>
                                          </p:val>
                                        </p:tav>
                                        <p:tav tm="100000">
                                          <p:val>
                                            <p:strVal val="#ppt_x"/>
                                          </p:val>
                                        </p:tav>
                                      </p:tavLst>
                                    </p:anim>
                                    <p:anim calcmode="lin" valueType="num">
                                      <p:cBhvr additive="base">
                                        <p:cTn id="84" dur="700" fill="hold"/>
                                        <p:tgtEl>
                                          <p:spTgt spid="17"/>
                                        </p:tgtEl>
                                        <p:attrNameLst>
                                          <p:attrName>ppt_y</p:attrName>
                                        </p:attrNameLst>
                                      </p:cBhvr>
                                      <p:tavLst>
                                        <p:tav tm="0">
                                          <p:val>
                                            <p:strVal val="#ppt_y+.1"/>
                                          </p:val>
                                        </p:tav>
                                        <p:tav tm="100000">
                                          <p:val>
                                            <p:strVal val="#ppt_y"/>
                                          </p:val>
                                        </p:tav>
                                      </p:tavLst>
                                    </p:anim>
                                  </p:childTnLst>
                                </p:cTn>
                              </p:par>
                            </p:childTnLst>
                          </p:cTn>
                        </p:par>
                        <p:par>
                          <p:cTn id="90" fill="hold">
                            <p:stCondLst>
                              <p:cond delay="660"/>
                            </p:stCondLst>
                            <p:childTnLst>
                              <p:par>
                                <p:cTn id="89" presetID="10" presetClass="entr" presetSubtype="0" fill="hold" grpId="0" nodeType="after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childTnLst>
                                </p:cTn>
                              </p:par>
                            </p:childTnLst>
                          </p:cTn>
                        </p:par>
                      </p:childTnLst>
                    </p:cTn>
                  </p:par>
                  <p:par>
                    <p:cTn id="98" fill="hold">
                      <p:stCondLst>
                        <p:cond delay="indefinite"/>
                      </p:stCondLst>
                      <p:childTnLst>
                        <p:par>
                          <p:cTn id="97" fill="hold">
                            <p:stCondLst>
                              <p:cond delay="0"/>
                            </p:stCondLst>
                            <p:childTnLst>
                              <p:par>
                                <p:cTn id="96" presetID="53" presetClass="entr" presetSubtype="16"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additive="base">
                                        <p:cTn id="93" dur="500" fill="hold"/>
                                        <p:tgtEl>
                                          <p:spTgt spid="19"/>
                                        </p:tgtEl>
                                        <p:attrNameLst>
                                          <p:attrName>ppt_w</p:attrName>
                                        </p:attrNameLst>
                                      </p:cBhvr>
                                      <p:tavLst>
                                        <p:tav tm="0">
                                          <p:val>
                                            <p:strVal val="0"/>
                                          </p:val>
                                        </p:tav>
                                        <p:tav tm="100000">
                                          <p:val>
                                            <p:strVal val="#ppt_w"/>
                                          </p:val>
                                        </p:tav>
                                      </p:tavLst>
                                    </p:anim>
                                    <p:anim calcmode="lin" valueType="num">
                                      <p:cBhvr additive="base">
                                        <p:cTn id="94" dur="500" fill="hold"/>
                                        <p:tgtEl>
                                          <p:spTgt spid="19"/>
                                        </p:tgtEl>
                                        <p:attrNameLst>
                                          <p:attrName>ppt_h</p:attrName>
                                        </p:attrNameLst>
                                      </p:cBhvr>
                                      <p:tavLst>
                                        <p:tav tm="0">
                                          <p:val>
                                            <p:strVal val="0"/>
                                          </p:val>
                                        </p:tav>
                                        <p:tav tm="100000">
                                          <p:val>
                                            <p:strVal val="#ppt_h"/>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دعنا نلخص: السالبية الكهربائية</a:t>
            </a:r>
            <a:endParaRPr lang="en-US" sz="2800" dirty="0"/>
          </a:p>
        </p:txBody>
      </p:sp>
      <p:sp>
        <p:nvSpPr>
          <p:cNvPr id="3" name="float:c:2"/>
          <p:cNvSpPr/>
          <p:nvPr/>
        </p:nvSpPr>
        <p:spPr>
          <a:xfrm>
            <a:off x="5120640" y="1371600"/>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تقل</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السالبية الكهربائية للعناصر تدريجيًّا خلال المجموعة من أعلى إلى أسفل.</a:t>
            </a:r>
            <a:endParaRPr lang="ar-SA" sz="1500" dirty="0"/>
          </a:p>
        </p:txBody>
      </p:sp>
      <p:sp>
        <p:nvSpPr>
          <p:cNvPr id="4" name="zoom:w:3"/>
          <p:cNvSpPr/>
          <p:nvPr/>
        </p:nvSpPr>
        <p:spPr>
          <a:xfrm>
            <a:off x="11384280" y="1512570"/>
            <a:ext cx="457200" cy="45720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5" name="float:c:4"/>
          <p:cNvSpPr/>
          <p:nvPr/>
        </p:nvSpPr>
        <p:spPr>
          <a:xfrm>
            <a:off x="5120640" y="2238756"/>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تزداد</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السالبية الكهربائية للعناصر تدريجيًّا خلال الدورة من اليسار إلى اليمين.</a:t>
            </a:r>
            <a:endParaRPr lang="ar-SA" sz="1500" dirty="0"/>
          </a:p>
        </p:txBody>
      </p:sp>
      <p:sp>
        <p:nvSpPr>
          <p:cNvPr id="6" name="zoom:w:5"/>
          <p:cNvSpPr/>
          <p:nvPr/>
        </p:nvSpPr>
        <p:spPr>
          <a:xfrm>
            <a:off x="11384280" y="2379726"/>
            <a:ext cx="457200" cy="45720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7" name="float:c:6"/>
          <p:cNvSpPr/>
          <p:nvPr/>
        </p:nvSpPr>
        <p:spPr>
          <a:xfrm>
            <a:off x="5120640" y="3105912"/>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فلزات الأقلاء</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لها أقل سالبية كهربائية في دورتها.</a:t>
            </a:r>
            <a:endParaRPr lang="ar-SA" sz="1500" dirty="0"/>
          </a:p>
        </p:txBody>
      </p:sp>
      <p:sp>
        <p:nvSpPr>
          <p:cNvPr id="8" name="zoom:w:7"/>
          <p:cNvSpPr/>
          <p:nvPr/>
        </p:nvSpPr>
        <p:spPr>
          <a:xfrm>
            <a:off x="11384280" y="3246882"/>
            <a:ext cx="457200" cy="45720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9" name="float:c:8"/>
          <p:cNvSpPr/>
          <p:nvPr/>
        </p:nvSpPr>
        <p:spPr>
          <a:xfrm>
            <a:off x="5120640" y="3973068"/>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مجموعة </a:t>
            </a:r>
            <a:pPr rtl="1" algn="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الهالوجينات</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لها أعلى سالبية كهربائية.</a:t>
            </a:r>
            <a:endParaRPr lang="ar-SA" sz="1500" dirty="0"/>
          </a:p>
        </p:txBody>
      </p:sp>
      <p:sp>
        <p:nvSpPr>
          <p:cNvPr id="10" name="zoom:w:9"/>
          <p:cNvSpPr/>
          <p:nvPr/>
        </p:nvSpPr>
        <p:spPr>
          <a:xfrm>
            <a:off x="11384280" y="4114038"/>
            <a:ext cx="457200" cy="45720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1" name="float:c:10"/>
          <p:cNvSpPr/>
          <p:nvPr/>
        </p:nvSpPr>
        <p:spPr>
          <a:xfrm>
            <a:off x="5120640" y="4840224"/>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الفلور (F)</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أعلى عناصر الجدول الدوري في السالبية الكهربائية، بينما عنصر </a:t>
            </a:r>
            <a:pPr rtl="1" algn="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الفرانسيوم (Fr)</a:t>
            </a:r>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 هو أقلها.</a:t>
            </a:r>
            <a:endParaRPr lang="ar-SA" sz="1500" dirty="0"/>
          </a:p>
        </p:txBody>
      </p:sp>
      <p:sp>
        <p:nvSpPr>
          <p:cNvPr id="12" name="zoom:w:11"/>
          <p:cNvSpPr/>
          <p:nvPr/>
        </p:nvSpPr>
        <p:spPr>
          <a:xfrm>
            <a:off x="11384280" y="4981194"/>
            <a:ext cx="457200" cy="45720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13" name="float:c:12"/>
          <p:cNvSpPr/>
          <p:nvPr/>
        </p:nvSpPr>
        <p:spPr>
          <a:xfrm>
            <a:off x="5120640" y="5707380"/>
            <a:ext cx="6217920" cy="739140"/>
          </a:xfrm>
          <a:prstGeom prst="roundRect">
            <a:avLst>
              <a:gd name="adj" fmla="val 1732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38100" tIns="127000" rIns="127000" bIns="381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بصورة عامة الغازات النبيلة ليس لها قيم سالبية كهربائية (علل)، لأنّها مستقرة وغالبًا لا تكوّن روابط كيميائية.</a:t>
            </a:r>
            <a:endParaRPr lang="ar-SA" sz="1500" dirty="0"/>
          </a:p>
        </p:txBody>
      </p:sp>
      <p:sp>
        <p:nvSpPr>
          <p:cNvPr id="14" name="zoom:w:13"/>
          <p:cNvSpPr/>
          <p:nvPr/>
        </p:nvSpPr>
        <p:spPr>
          <a:xfrm>
            <a:off x="11384280" y="5848350"/>
            <a:ext cx="457200" cy="45720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6</a:t>
            </a:r>
            <a:endParaRPr lang="en-US" sz="1600" dirty="0"/>
          </a:p>
        </p:txBody>
      </p:sp>
      <p:sp>
        <p:nvSpPr>
          <p:cNvPr id="15" name="fade:a:14"/>
          <p:cNvSpPr/>
          <p:nvPr/>
        </p:nvSpPr>
        <p:spPr>
          <a:xfrm>
            <a:off x="411480" y="1371600"/>
            <a:ext cx="4480560" cy="3794760"/>
          </a:xfrm>
          <a:prstGeom prst="roundRect">
            <a:avLst>
              <a:gd name="adj" fmla="val 3373"/>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16" name="zoom:a:15" descr="l/trend_en.png">    </p:cNvPr>
          <p:cNvPicPr>
            <a:picLocks noChangeAspect="1"/>
          </p:cNvPicPr>
          <p:nvPr/>
        </p:nvPicPr>
        <p:blipFill>
          <a:blip r:embed="rId1"/>
          <a:stretch>
            <a:fillRect/>
          </a:stretch>
        </p:blipFill>
        <p:spPr>
          <a:xfrm>
            <a:off x="548640" y="2147316"/>
            <a:ext cx="4206240" cy="2243328"/>
          </a:xfrm>
          <a:prstGeom prst="rect">
            <a:avLst/>
          </a:prstGeom>
        </p:spPr>
      </p:pic>
      <p:sp>
        <p:nvSpPr>
          <p:cNvPr id="17" name="float:a:16"/>
          <p:cNvSpPr/>
          <p:nvPr/>
        </p:nvSpPr>
        <p:spPr>
          <a:xfrm>
            <a:off x="411480" y="5349240"/>
            <a:ext cx="2176272" cy="548640"/>
          </a:xfrm>
          <a:prstGeom prst="roundRect">
            <a:avLst>
              <a:gd name="adj" fmla="val 50000"/>
            </a:avLst>
          </a:prstGeom>
          <a:solidFill>
            <a:srgbClr val="DB2777"/>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المجموعة ↓ تقل</a:t>
            </a:r>
            <a:endParaRPr lang="ar-SA" sz="1400" dirty="0"/>
          </a:p>
        </p:txBody>
      </p:sp>
      <p:sp>
        <p:nvSpPr>
          <p:cNvPr id="18" name="float:w:17"/>
          <p:cNvSpPr/>
          <p:nvPr/>
        </p:nvSpPr>
        <p:spPr>
          <a:xfrm>
            <a:off x="2715768" y="5349240"/>
            <a:ext cx="2176272" cy="548640"/>
          </a:xfrm>
          <a:prstGeom prst="roundRect">
            <a:avLst>
              <a:gd name="adj" fmla="val 50000"/>
            </a:avLst>
          </a:prstGeom>
          <a:solidFill>
            <a:srgbClr val="0B2545"/>
          </a:solidFill>
          <a:ln/>
        </p:spPr>
        <p:txBody>
          <a:bodyPr wrap="square" lIns="0" tIns="0" rIns="0" bIns="0" rtlCol="0" anchor="ctr"/>
          <a:lstStyle/>
          <a:p>
            <a:pPr rtl="1" algn="ctr" indent="0" marL="0">
              <a:lnSpc>
                <a:spcPct val="105000"/>
              </a:lnSpc>
              <a:buNone/>
            </a:pPr>
            <a:r>
              <a:rPr lang="ar-SA" altLang="en-US" sz="1400" b="1" dirty="0">
                <a:solidFill>
                  <a:srgbClr val="FFFFFF"/>
                </a:solidFill>
                <a:latin typeface="Segoe UI" pitchFamily="34" charset="0"/>
                <a:ea typeface="Segoe UI" pitchFamily="34" charset="-122"/>
                <a:cs typeface="Segoe UI" pitchFamily="34" charset="-120"/>
              </a:rPr>
              <a:t>خلال الدورة ← تزداد</a:t>
            </a:r>
            <a:endParaRPr lang="ar-SA" sz="1400" dirty="0"/>
          </a:p>
        </p:txBody>
      </p:sp>
      <p:sp>
        <p:nvSpPr>
          <p:cNvPr id="19" name="fade:a:18"/>
          <p:cNvSpPr txBox="1"/>
          <p:nvPr/>
        </p:nvSpPr>
        <p:spPr>
          <a:xfrm>
            <a:off x="411480" y="6035040"/>
            <a:ext cx="4480560" cy="457200"/>
          </a:xfrm>
          <a:prstGeom prst="rect">
            <a:avLst/>
          </a:prstGeom>
          <a:noFill/>
          <a:ln/>
        </p:spPr>
        <p:txBody>
          <a:bodyPr wrap="square" lIns="76200" tIns="152400" rIns="152400" bIns="76200" rtlCol="0" anchor="ctr"/>
          <a:lstStyle/>
          <a:p>
            <a:pPr rtl="1" algn="ctr" indent="0" marL="0">
              <a:lnSpc>
                <a:spcPct val="105000"/>
              </a:lnSpc>
              <a:buNone/>
            </a:pPr>
            <a:r>
              <a:rPr lang="ar-SA" altLang="en-US" sz="1500" b="1" dirty="0">
                <a:solidFill>
                  <a:srgbClr val="DB2777"/>
                </a:solidFill>
                <a:latin typeface="Segoe UI" pitchFamily="34" charset="0"/>
                <a:ea typeface="Segoe UI" pitchFamily="34" charset="-122"/>
                <a:cs typeface="Segoe UI" pitchFamily="34" charset="-120"/>
              </a:rPr>
              <a:t>دعنا نلخص ما سبق</a:t>
            </a:r>
            <a:endParaRPr lang="ar-SA" sz="15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4" fill="hold">
                      <p:stCondLst>
                        <p:cond delay="indefinite"/>
                      </p:stCondLst>
                      <p:childTnLst>
                        <p:par>
                          <p:cTn id="13"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par>
                                <p:cTn id="12" presetID="53" presetClass="entr" presetSubtype="16"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ppt_w</p:attrName>
                                        </p:attrNameLst>
                                      </p:cBhvr>
                                      <p:tavLst>
                                        <p:tav tm="0">
                                          <p:val>
                                            <p:strVal val="0"/>
                                          </p:val>
                                        </p:tav>
                                        <p:tav tm="100000">
                                          <p:val>
                                            <p:strVal val="#ppt_w"/>
                                          </p:val>
                                        </p:tav>
                                      </p:tavLst>
                                    </p:anim>
                                    <p:anim calcmode="lin" valueType="num">
                                      <p:cBhvr additive="base">
                                        <p:cTn id="10" dur="500" fill="hold"/>
                                        <p:tgtEl>
                                          <p:spTgt spid="4"/>
                                        </p:tgtEl>
                                        <p:attrNameLst>
                                          <p:attrName>ppt_h</p:attrName>
                                        </p:attrNameLst>
                                      </p:cBhvr>
                                      <p:tavLst>
                                        <p:tav tm="0">
                                          <p:val>
                                            <p:strVal val="0"/>
                                          </p:val>
                                        </p:tav>
                                        <p:tav tm="100000">
                                          <p:val>
                                            <p:strVal val="#ppt_h"/>
                                          </p:val>
                                        </p:tav>
                                      </p:tavLst>
                                    </p:anim>
                                    <p:animEffect transition="in" filter="fade">
                                      <p:cBhvr>
                                        <p:cTn id="11" dur="500"/>
                                        <p:tgtEl>
                                          <p:spTgt spid="4"/>
                                        </p:tgtEl>
                                      </p:cBhvr>
                                    </p:animEffect>
                                  </p:childTnLst>
                                </p:cTn>
                              </p:par>
                            </p:childTnLst>
                          </p:cTn>
                        </p:par>
                      </p:childTnLst>
                    </p:cTn>
                  </p:par>
                  <p:par>
                    <p:cTn id="26" fill="hold">
                      <p:stCondLst>
                        <p:cond delay="indefinite"/>
                      </p:stCondLst>
                      <p:childTnLst>
                        <p:par>
                          <p:cTn id="25" fill="hold">
                            <p:stCondLst>
                              <p:cond delay="0"/>
                            </p:stCondLst>
                            <p:childTnLst>
                              <p:par>
                                <p:cTn id="19"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additive="base">
                                        <p:cTn id="17" dur="700" fill="hold"/>
                                        <p:tgtEl>
                                          <p:spTgt spid="5"/>
                                        </p:tgtEl>
                                        <p:attrNameLst>
                                          <p:attrName>ppt_x</p:attrName>
                                        </p:attrNameLst>
                                      </p:cBhvr>
                                      <p:tavLst>
                                        <p:tav tm="0">
                                          <p:val>
                                            <p:strVal val="#ppt_x"/>
                                          </p:val>
                                        </p:tav>
                                        <p:tav tm="100000">
                                          <p:val>
                                            <p:strVal val="#ppt_x"/>
                                          </p:val>
                                        </p:tav>
                                      </p:tavLst>
                                    </p:anim>
                                    <p:anim calcmode="lin" valueType="num">
                                      <p:cBhvr additive="base">
                                        <p:cTn id="18" dur="700" fill="hold"/>
                                        <p:tgtEl>
                                          <p:spTgt spid="5"/>
                                        </p:tgtEl>
                                        <p:attrNameLst>
                                          <p:attrName>ppt_y</p:attrName>
                                        </p:attrNameLst>
                                      </p:cBhvr>
                                      <p:tavLst>
                                        <p:tav tm="0">
                                          <p:val>
                                            <p:strVal val="#ppt_y+.1"/>
                                          </p:val>
                                        </p:tav>
                                        <p:tav tm="100000">
                                          <p:val>
                                            <p:strVal val="#ppt_y"/>
                                          </p:val>
                                        </p:tav>
                                      </p:tavLst>
                                    </p:anim>
                                  </p:childTnLst>
                                </p:cTn>
                              </p:par>
                              <p:par>
                                <p:cTn id="24" presetID="53" presetClass="entr" presetSubtype="16"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childTnLst>
                          </p:cTn>
                        </p:par>
                      </p:childTnLst>
                    </p:cTn>
                  </p:par>
                  <p:par>
                    <p:cTn id="38" fill="hold">
                      <p:stCondLst>
                        <p:cond delay="indefinite"/>
                      </p:stCondLst>
                      <p:childTnLst>
                        <p:par>
                          <p:cTn id="37"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anim calcmode="lin" valueType="num">
                                      <p:cBhvr additive="base">
                                        <p:cTn id="29" dur="700" fill="hold"/>
                                        <p:tgtEl>
                                          <p:spTgt spid="7"/>
                                        </p:tgtEl>
                                        <p:attrNameLst>
                                          <p:attrName>ppt_x</p:attrName>
                                        </p:attrNameLst>
                                      </p:cBhvr>
                                      <p:tavLst>
                                        <p:tav tm="0">
                                          <p:val>
                                            <p:strVal val="#ppt_x"/>
                                          </p:val>
                                        </p:tav>
                                        <p:tav tm="100000">
                                          <p:val>
                                            <p:strVal val="#ppt_x"/>
                                          </p:val>
                                        </p:tav>
                                      </p:tavLst>
                                    </p:anim>
                                    <p:anim calcmode="lin" valueType="num">
                                      <p:cBhvr additive="base">
                                        <p:cTn id="30" dur="700" fill="hold"/>
                                        <p:tgtEl>
                                          <p:spTgt spid="7"/>
                                        </p:tgtEl>
                                        <p:attrNameLst>
                                          <p:attrName>ppt_y</p:attrName>
                                        </p:attrNameLst>
                                      </p:cBhvr>
                                      <p:tavLst>
                                        <p:tav tm="0">
                                          <p:val>
                                            <p:strVal val="#ppt_y+.1"/>
                                          </p:val>
                                        </p:tav>
                                        <p:tav tm="100000">
                                          <p:val>
                                            <p:strVal val="#ppt_y"/>
                                          </p:val>
                                        </p:tav>
                                      </p:tavLst>
                                    </p:anim>
                                  </p:childTnLst>
                                </p:cTn>
                              </p:par>
                              <p:par>
                                <p:cTn id="36" presetID="53"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ppt_w</p:attrName>
                                        </p:attrNameLst>
                                      </p:cBhvr>
                                      <p:tavLst>
                                        <p:tav tm="0">
                                          <p:val>
                                            <p:strVal val="0"/>
                                          </p:val>
                                        </p:tav>
                                        <p:tav tm="100000">
                                          <p:val>
                                            <p:strVal val="#ppt_w"/>
                                          </p:val>
                                        </p:tav>
                                      </p:tavLst>
                                    </p:anim>
                                    <p:anim calcmode="lin" valueType="num">
                                      <p:cBhvr additive="base">
                                        <p:cTn id="34" dur="500" fill="hold"/>
                                        <p:tgtEl>
                                          <p:spTgt spid="8"/>
                                        </p:tgtEl>
                                        <p:attrNameLst>
                                          <p:attrName>ppt_h</p:attrName>
                                        </p:attrNameLst>
                                      </p:cBhvr>
                                      <p:tavLst>
                                        <p:tav tm="0">
                                          <p:val>
                                            <p:strVal val="0"/>
                                          </p:val>
                                        </p:tav>
                                        <p:tav tm="100000">
                                          <p:val>
                                            <p:strVal val="#ppt_h"/>
                                          </p:val>
                                        </p:tav>
                                      </p:tavLst>
                                    </p:anim>
                                    <p:animEffect transition="in" filter="fade">
                                      <p:cBhvr>
                                        <p:cTn id="35" dur="500"/>
                                        <p:tgtEl>
                                          <p:spTgt spid="8"/>
                                        </p:tgtEl>
                                      </p:cBhvr>
                                    </p:animEffect>
                                  </p:childTnLst>
                                </p:cTn>
                              </p:par>
                            </p:childTnLst>
                          </p:cTn>
                        </p:par>
                      </p:childTnLst>
                    </p:cTn>
                  </p:par>
                  <p:par>
                    <p:cTn id="50" fill="hold">
                      <p:stCondLst>
                        <p:cond delay="indefinite"/>
                      </p:stCondLst>
                      <p:childTnLst>
                        <p:par>
                          <p:cTn id="49" fill="hold">
                            <p:stCondLst>
                              <p:cond delay="0"/>
                            </p:stCondLst>
                            <p:childTnLst>
                              <p:par>
                                <p:cTn id="43" presetID="42"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additive="base">
                                        <p:cTn id="41" dur="700" fill="hold"/>
                                        <p:tgtEl>
                                          <p:spTgt spid="9"/>
                                        </p:tgtEl>
                                        <p:attrNameLst>
                                          <p:attrName>ppt_x</p:attrName>
                                        </p:attrNameLst>
                                      </p:cBhvr>
                                      <p:tavLst>
                                        <p:tav tm="0">
                                          <p:val>
                                            <p:strVal val="#ppt_x"/>
                                          </p:val>
                                        </p:tav>
                                        <p:tav tm="100000">
                                          <p:val>
                                            <p:strVal val="#ppt_x"/>
                                          </p:val>
                                        </p:tav>
                                      </p:tavLst>
                                    </p:anim>
                                    <p:anim calcmode="lin" valueType="num">
                                      <p:cBhvr additive="base">
                                        <p:cTn id="42" dur="700" fill="hold"/>
                                        <p:tgtEl>
                                          <p:spTgt spid="9"/>
                                        </p:tgtEl>
                                        <p:attrNameLst>
                                          <p:attrName>ppt_y</p:attrName>
                                        </p:attrNameLst>
                                      </p:cBhvr>
                                      <p:tavLst>
                                        <p:tav tm="0">
                                          <p:val>
                                            <p:strVal val="#ppt_y+.1"/>
                                          </p:val>
                                        </p:tav>
                                        <p:tav tm="100000">
                                          <p:val>
                                            <p:strVal val="#ppt_y"/>
                                          </p:val>
                                        </p:tav>
                                      </p:tavLst>
                                    </p:anim>
                                  </p:childTnLst>
                                </p:cTn>
                              </p:par>
                              <p:par>
                                <p:cTn id="48" presetID="53"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500" fill="hold"/>
                                        <p:tgtEl>
                                          <p:spTgt spid="10"/>
                                        </p:tgtEl>
                                        <p:attrNameLst>
                                          <p:attrName>ppt_w</p:attrName>
                                        </p:attrNameLst>
                                      </p:cBhvr>
                                      <p:tavLst>
                                        <p:tav tm="0">
                                          <p:val>
                                            <p:strVal val="0"/>
                                          </p:val>
                                        </p:tav>
                                        <p:tav tm="100000">
                                          <p:val>
                                            <p:strVal val="#ppt_w"/>
                                          </p:val>
                                        </p:tav>
                                      </p:tavLst>
                                    </p:anim>
                                    <p:anim calcmode="lin" valueType="num">
                                      <p:cBhvr additive="base">
                                        <p:cTn id="46" dur="500" fill="hold"/>
                                        <p:tgtEl>
                                          <p:spTgt spid="10"/>
                                        </p:tgtEl>
                                        <p:attrNameLst>
                                          <p:attrName>ppt_h</p:attrName>
                                        </p:attrNameLst>
                                      </p:cBhvr>
                                      <p:tavLst>
                                        <p:tav tm="0">
                                          <p:val>
                                            <p:strVal val="0"/>
                                          </p:val>
                                        </p:tav>
                                        <p:tav tm="100000">
                                          <p:val>
                                            <p:strVal val="#ppt_h"/>
                                          </p:val>
                                        </p:tav>
                                      </p:tavLst>
                                    </p:anim>
                                    <p:animEffect transition="in" filter="fade">
                                      <p:cBhvr>
                                        <p:cTn id="47" dur="500"/>
                                        <p:tgtEl>
                                          <p:spTgt spid="10"/>
                                        </p:tgtEl>
                                      </p:cBhvr>
                                    </p:animEffect>
                                  </p:childTnLst>
                                </p:cTn>
                              </p:par>
                            </p:childTnLst>
                          </p:cTn>
                        </p:par>
                      </p:childTnLst>
                    </p:cTn>
                  </p:par>
                  <p:par>
                    <p:cTn id="62" fill="hold">
                      <p:stCondLst>
                        <p:cond delay="indefinite"/>
                      </p:stCondLst>
                      <p:childTnLst>
                        <p:par>
                          <p:cTn id="61" fill="hold">
                            <p:stCondLst>
                              <p:cond delay="0"/>
                            </p:stCondLst>
                            <p:childTnLst>
                              <p:par>
                                <p:cTn id="55" presetID="42"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700"/>
                                        <p:tgtEl>
                                          <p:spTgt spid="11"/>
                                        </p:tgtEl>
                                      </p:cBhvr>
                                    </p:animEffect>
                                    <p:anim calcmode="lin" valueType="num">
                                      <p:cBhvr additive="base">
                                        <p:cTn id="53" dur="700" fill="hold"/>
                                        <p:tgtEl>
                                          <p:spTgt spid="11"/>
                                        </p:tgtEl>
                                        <p:attrNameLst>
                                          <p:attrName>ppt_x</p:attrName>
                                        </p:attrNameLst>
                                      </p:cBhvr>
                                      <p:tavLst>
                                        <p:tav tm="0">
                                          <p:val>
                                            <p:strVal val="#ppt_x"/>
                                          </p:val>
                                        </p:tav>
                                        <p:tav tm="100000">
                                          <p:val>
                                            <p:strVal val="#ppt_x"/>
                                          </p:val>
                                        </p:tav>
                                      </p:tavLst>
                                    </p:anim>
                                    <p:anim calcmode="lin" valueType="num">
                                      <p:cBhvr additive="base">
                                        <p:cTn id="54" dur="700" fill="hold"/>
                                        <p:tgtEl>
                                          <p:spTgt spid="11"/>
                                        </p:tgtEl>
                                        <p:attrNameLst>
                                          <p:attrName>ppt_y</p:attrName>
                                        </p:attrNameLst>
                                      </p:cBhvr>
                                      <p:tavLst>
                                        <p:tav tm="0">
                                          <p:val>
                                            <p:strVal val="#ppt_y+.1"/>
                                          </p:val>
                                        </p:tav>
                                        <p:tav tm="100000">
                                          <p:val>
                                            <p:strVal val="#ppt_y"/>
                                          </p:val>
                                        </p:tav>
                                      </p:tavLst>
                                    </p:anim>
                                  </p:childTnLst>
                                </p:cTn>
                              </p:par>
                              <p:par>
                                <p:cTn id="60"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ppt_w</p:attrName>
                                        </p:attrNameLst>
                                      </p:cBhvr>
                                      <p:tavLst>
                                        <p:tav tm="0">
                                          <p:val>
                                            <p:strVal val="0"/>
                                          </p:val>
                                        </p:tav>
                                        <p:tav tm="100000">
                                          <p:val>
                                            <p:strVal val="#ppt_w"/>
                                          </p:val>
                                        </p:tav>
                                      </p:tavLst>
                                    </p:anim>
                                    <p:anim calcmode="lin" valueType="num">
                                      <p:cBhvr additive="base">
                                        <p:cTn id="58" dur="500" fill="hold"/>
                                        <p:tgtEl>
                                          <p:spTgt spid="12"/>
                                        </p:tgtEl>
                                        <p:attrNameLst>
                                          <p:attrName>ppt_h</p:attrName>
                                        </p:attrNameLst>
                                      </p:cBhvr>
                                      <p:tavLst>
                                        <p:tav tm="0">
                                          <p:val>
                                            <p:strVal val="0"/>
                                          </p:val>
                                        </p:tav>
                                        <p:tav tm="100000">
                                          <p:val>
                                            <p:strVal val="#ppt_h"/>
                                          </p:val>
                                        </p:tav>
                                      </p:tavLst>
                                    </p:anim>
                                    <p:animEffect transition="in" filter="fade">
                                      <p:cBhvr>
                                        <p:cTn id="59" dur="500"/>
                                        <p:tgtEl>
                                          <p:spTgt spid="12"/>
                                        </p:tgtEl>
                                      </p:cBhvr>
                                    </p:animEffect>
                                  </p:childTnLst>
                                </p:cTn>
                              </p:par>
                            </p:childTnLst>
                          </p:cTn>
                        </p:par>
                      </p:childTnLst>
                    </p:cTn>
                  </p:par>
                  <p:par>
                    <p:cTn id="99" fill="hold">
                      <p:stCondLst>
                        <p:cond delay="indefinite"/>
                      </p:stCondLst>
                      <p:childTnLst>
                        <p:par>
                          <p:cTn id="73" fill="hold">
                            <p:stCondLst>
                              <p:cond delay="0"/>
                            </p:stCondLst>
                            <p:childTnLst>
                              <p:par>
                                <p:cTn id="67" presetID="42" presetClass="entr" presetSubtype="0"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700"/>
                                        <p:tgtEl>
                                          <p:spTgt spid="13"/>
                                        </p:tgtEl>
                                      </p:cBhvr>
                                    </p:animEffect>
                                    <p:anim calcmode="lin" valueType="num">
                                      <p:cBhvr additive="base">
                                        <p:cTn id="65" dur="700" fill="hold"/>
                                        <p:tgtEl>
                                          <p:spTgt spid="13"/>
                                        </p:tgtEl>
                                        <p:attrNameLst>
                                          <p:attrName>ppt_x</p:attrName>
                                        </p:attrNameLst>
                                      </p:cBhvr>
                                      <p:tavLst>
                                        <p:tav tm="0">
                                          <p:val>
                                            <p:strVal val="#ppt_x"/>
                                          </p:val>
                                        </p:tav>
                                        <p:tav tm="100000">
                                          <p:val>
                                            <p:strVal val="#ppt_x"/>
                                          </p:val>
                                        </p:tav>
                                      </p:tavLst>
                                    </p:anim>
                                    <p:anim calcmode="lin" valueType="num">
                                      <p:cBhvr additive="base">
                                        <p:cTn id="66" dur="700" fill="hold"/>
                                        <p:tgtEl>
                                          <p:spTgt spid="13"/>
                                        </p:tgtEl>
                                        <p:attrNameLst>
                                          <p:attrName>ppt_y</p:attrName>
                                        </p:attrNameLst>
                                      </p:cBhvr>
                                      <p:tavLst>
                                        <p:tav tm="0">
                                          <p:val>
                                            <p:strVal val="#ppt_y+.1"/>
                                          </p:val>
                                        </p:tav>
                                        <p:tav tm="100000">
                                          <p:val>
                                            <p:strVal val="#ppt_y"/>
                                          </p:val>
                                        </p:tav>
                                      </p:tavLst>
                                    </p:anim>
                                  </p:childTnLst>
                                </p:cTn>
                              </p:par>
                              <p:par>
                                <p:cTn id="72" presetID="53" presetClass="entr" presetSubtype="16"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ppt_w</p:attrName>
                                        </p:attrNameLst>
                                      </p:cBhvr>
                                      <p:tavLst>
                                        <p:tav tm="0">
                                          <p:val>
                                            <p:strVal val="0"/>
                                          </p:val>
                                        </p:tav>
                                        <p:tav tm="100000">
                                          <p:val>
                                            <p:strVal val="#ppt_w"/>
                                          </p:val>
                                        </p:tav>
                                      </p:tavLst>
                                    </p:anim>
                                    <p:anim calcmode="lin" valueType="num">
                                      <p:cBhvr additive="base">
                                        <p:cTn id="70" dur="500" fill="hold"/>
                                        <p:tgtEl>
                                          <p:spTgt spid="14"/>
                                        </p:tgtEl>
                                        <p:attrNameLst>
                                          <p:attrName>ppt_h</p:attrName>
                                        </p:attrNameLst>
                                      </p:cBhvr>
                                      <p:tavLst>
                                        <p:tav tm="0">
                                          <p:val>
                                            <p:strVal val="0"/>
                                          </p:val>
                                        </p:tav>
                                        <p:tav tm="100000">
                                          <p:val>
                                            <p:strVal val="#ppt_h"/>
                                          </p:val>
                                        </p:tav>
                                      </p:tavLst>
                                    </p:anim>
                                    <p:animEffect transition="in" filter="fade">
                                      <p:cBhvr>
                                        <p:cTn id="71" dur="500"/>
                                        <p:tgtEl>
                                          <p:spTgt spid="14"/>
                                        </p:tgtEl>
                                      </p:cBhvr>
                                    </p:animEffect>
                                  </p:childTnLst>
                                </p:cTn>
                              </p:par>
                            </p:childTnLst>
                          </p:cTn>
                        </p:par>
                        <p:par>
                          <p:cTn id="77" fill="hold">
                            <p:stCondLst>
                              <p:cond delay="385"/>
                            </p:stCondLst>
                            <p:childTnLst>
                              <p:par>
                                <p:cTn id="76" presetID="10" presetClass="entr" presetSubtype="0" fill="hold" grpId="0"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childTnLst>
                                </p:cTn>
                              </p:par>
                            </p:childTnLst>
                          </p:cTn>
                        </p:par>
                        <p:par>
                          <p:cTn id="83" fill="hold">
                            <p:stCondLst>
                              <p:cond delay="715"/>
                            </p:stCondLst>
                            <p:childTnLst>
                              <p:par>
                                <p:cTn id="82" presetID="53" presetClass="entr" presetSubtype="16" fill="hold" nodeType="after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ppt_w</p:attrName>
                                        </p:attrNameLst>
                                      </p:cBhvr>
                                      <p:tavLst>
                                        <p:tav tm="0">
                                          <p:val>
                                            <p:strVal val="0"/>
                                          </p:val>
                                        </p:tav>
                                        <p:tav tm="100000">
                                          <p:val>
                                            <p:strVal val="#ppt_w"/>
                                          </p:val>
                                        </p:tav>
                                      </p:tavLst>
                                    </p:anim>
                                    <p:anim calcmode="lin" valueType="num">
                                      <p:cBhvr additive="base">
                                        <p:cTn id="80" dur="500" fill="hold"/>
                                        <p:tgtEl>
                                          <p:spTgt spid="16"/>
                                        </p:tgtEl>
                                        <p:attrNameLst>
                                          <p:attrName>ppt_h</p:attrName>
                                        </p:attrNameLst>
                                      </p:cBhvr>
                                      <p:tavLst>
                                        <p:tav tm="0">
                                          <p:val>
                                            <p:strVal val="0"/>
                                          </p:val>
                                        </p:tav>
                                        <p:tav tm="100000">
                                          <p:val>
                                            <p:strVal val="#ppt_h"/>
                                          </p:val>
                                        </p:tav>
                                      </p:tavLst>
                                    </p:anim>
                                    <p:animEffect transition="in" filter="fade">
                                      <p:cBhvr>
                                        <p:cTn id="81" dur="500"/>
                                        <p:tgtEl>
                                          <p:spTgt spid="16"/>
                                        </p:tgtEl>
                                      </p:cBhvr>
                                    </p:animEffect>
                                  </p:childTnLst>
                                </p:cTn>
                              </p:par>
                            </p:childTnLst>
                          </p:cTn>
                        </p:par>
                        <p:par>
                          <p:cTn id="94" fill="hold">
                            <p:stCondLst>
                              <p:cond delay="990"/>
                            </p:stCondLst>
                            <p:childTnLst>
                              <p:par>
                                <p:cTn id="88" presetID="42" presetClass="entr" presetSubtype="0" fill="hold" grpId="0" nodeType="after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700"/>
                                        <p:tgtEl>
                                          <p:spTgt spid="17"/>
                                        </p:tgtEl>
                                      </p:cBhvr>
                                    </p:animEffect>
                                    <p:anim calcmode="lin" valueType="num">
                                      <p:cBhvr additive="base">
                                        <p:cTn id="86" dur="700" fill="hold"/>
                                        <p:tgtEl>
                                          <p:spTgt spid="17"/>
                                        </p:tgtEl>
                                        <p:attrNameLst>
                                          <p:attrName>ppt_x</p:attrName>
                                        </p:attrNameLst>
                                      </p:cBhvr>
                                      <p:tavLst>
                                        <p:tav tm="0">
                                          <p:val>
                                            <p:strVal val="#ppt_x"/>
                                          </p:val>
                                        </p:tav>
                                        <p:tav tm="100000">
                                          <p:val>
                                            <p:strVal val="#ppt_x"/>
                                          </p:val>
                                        </p:tav>
                                      </p:tavLst>
                                    </p:anim>
                                    <p:anim calcmode="lin" valueType="num">
                                      <p:cBhvr additive="base">
                                        <p:cTn id="87" dur="700" fill="hold"/>
                                        <p:tgtEl>
                                          <p:spTgt spid="17"/>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700"/>
                                        <p:tgtEl>
                                          <p:spTgt spid="18"/>
                                        </p:tgtEl>
                                      </p:cBhvr>
                                    </p:animEffect>
                                    <p:anim calcmode="lin" valueType="num">
                                      <p:cBhvr additive="base">
                                        <p:cTn id="91" dur="700" fill="hold"/>
                                        <p:tgtEl>
                                          <p:spTgt spid="18"/>
                                        </p:tgtEl>
                                        <p:attrNameLst>
                                          <p:attrName>ppt_x</p:attrName>
                                        </p:attrNameLst>
                                      </p:cBhvr>
                                      <p:tavLst>
                                        <p:tav tm="0">
                                          <p:val>
                                            <p:strVal val="#ppt_x"/>
                                          </p:val>
                                        </p:tav>
                                        <p:tav tm="100000">
                                          <p:val>
                                            <p:strVal val="#ppt_x"/>
                                          </p:val>
                                        </p:tav>
                                      </p:tavLst>
                                    </p:anim>
                                    <p:anim calcmode="lin" valueType="num">
                                      <p:cBhvr additive="base">
                                        <p:cTn id="92" dur="700" fill="hold"/>
                                        <p:tgtEl>
                                          <p:spTgt spid="18"/>
                                        </p:tgtEl>
                                        <p:attrNameLst>
                                          <p:attrName>ppt_y</p:attrName>
                                        </p:attrNameLst>
                                      </p:cBhvr>
                                      <p:tavLst>
                                        <p:tav tm="0">
                                          <p:val>
                                            <p:strVal val="#ppt_y+.1"/>
                                          </p:val>
                                        </p:tav>
                                        <p:tav tm="100000">
                                          <p:val>
                                            <p:strVal val="#ppt_y"/>
                                          </p:val>
                                        </p:tav>
                                      </p:tavLst>
                                    </p:anim>
                                  </p:childTnLst>
                                </p:cTn>
                              </p:par>
                            </p:childTnLst>
                          </p:cTn>
                        </p:par>
                        <p:par>
                          <p:cTn id="98" fill="hold">
                            <p:stCondLst>
                              <p:cond delay="1375"/>
                            </p:stCondLst>
                            <p:childTnLst>
                              <p:par>
                                <p:cTn id="97" presetID="10" presetClass="entr" presetSubtype="0"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إضاءات: تطبيقات الميول الدورية</a:t>
            </a:r>
            <a:endParaRPr lang="en-US" sz="2800" dirty="0"/>
          </a:p>
        </p:txBody>
      </p:sp>
      <p:sp>
        <p:nvSpPr>
          <p:cNvPr id="3" name="float:a:2"/>
          <p:cNvSpPr/>
          <p:nvPr/>
        </p:nvSpPr>
        <p:spPr>
          <a:xfrm>
            <a:off x="411480" y="1325880"/>
            <a:ext cx="1463040" cy="457200"/>
          </a:xfrm>
          <a:prstGeom prst="roundRect">
            <a:avLst>
              <a:gd name="adj" fmla="val 50000"/>
            </a:avLst>
          </a:prstGeom>
          <a:solidFill>
            <a:srgbClr val="F59E0B"/>
          </a:solidFill>
          <a:ln/>
        </p:spPr>
        <p:txBody>
          <a:bodyPr wrap="square" lIns="76200" tIns="152400" rIns="152400" bIns="76200" rtlCol="0" anchor="ctr"/>
          <a:lstStyle/>
          <a:p>
            <a:pPr rtl="1" algn="ctr" indent="0" marL="0">
              <a:lnSpc>
                <a:spcPct val="105000"/>
              </a:lnSpc>
              <a:buNone/>
            </a:pPr>
            <a:r>
              <a:rPr lang="ar-SA" altLang="en-US" sz="1500" b="1" dirty="0">
                <a:solidFill>
                  <a:srgbClr val="FFFFFF"/>
                </a:solidFill>
                <a:latin typeface="Segoe UI" pitchFamily="34" charset="0"/>
                <a:ea typeface="Segoe UI" pitchFamily="34" charset="-122"/>
                <a:cs typeface="Segoe UI" pitchFamily="34" charset="-120"/>
              </a:rPr>
              <a:t>إثرائي</a:t>
            </a:r>
            <a:endParaRPr lang="ar-SA" sz="1500" dirty="0"/>
          </a:p>
        </p:txBody>
      </p:sp>
      <p:sp>
        <p:nvSpPr>
          <p:cNvPr id="4" name="float:c:3"/>
          <p:cNvSpPr/>
          <p:nvPr/>
        </p:nvSpPr>
        <p:spPr>
          <a:xfrm>
            <a:off x="6172200" y="1920240"/>
            <a:ext cx="5623560" cy="4526280"/>
          </a:xfrm>
          <a:prstGeom prst="roundRect">
            <a:avLst>
              <a:gd name="adj" fmla="val 282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5" name="zoom:w:4" descr="h_battery.png">    </p:cNvPr>
          <p:cNvPicPr>
            <a:picLocks noChangeAspect="1"/>
          </p:cNvPicPr>
          <p:nvPr/>
        </p:nvPicPr>
        <p:blipFill>
          <a:blip r:embed="rId1"/>
          <a:stretch>
            <a:fillRect/>
          </a:stretch>
        </p:blipFill>
        <p:spPr>
          <a:xfrm>
            <a:off x="7155180" y="2057400"/>
            <a:ext cx="3657600" cy="2194560"/>
          </a:xfrm>
          <a:prstGeom prst="rect">
            <a:avLst/>
          </a:prstGeom>
        </p:spPr>
      </p:pic>
      <p:sp>
        <p:nvSpPr>
          <p:cNvPr id="6" name="float:a:5"/>
          <p:cNvSpPr/>
          <p:nvPr/>
        </p:nvSpPr>
        <p:spPr>
          <a:xfrm>
            <a:off x="6720840" y="4389120"/>
            <a:ext cx="4526280" cy="530352"/>
          </a:xfrm>
          <a:prstGeom prst="roundRect">
            <a:avLst>
              <a:gd name="adj" fmla="val 50000"/>
            </a:avLst>
          </a:prstGeom>
          <a:solidFill>
            <a:srgbClr val="7C3AED"/>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البطاريات والأجهزة الإلكترونية</a:t>
            </a:r>
            <a:endParaRPr lang="ar-SA" sz="1700" dirty="0"/>
          </a:p>
        </p:txBody>
      </p:sp>
      <p:sp>
        <p:nvSpPr>
          <p:cNvPr id="7" name="fade:a:6"/>
          <p:cNvSpPr txBox="1"/>
          <p:nvPr/>
        </p:nvSpPr>
        <p:spPr>
          <a:xfrm>
            <a:off x="6355080" y="4983480"/>
            <a:ext cx="5257800" cy="1371600"/>
          </a:xfrm>
          <a:prstGeom prst="rect">
            <a:avLst/>
          </a:prstGeom>
          <a:noFill/>
          <a:ln/>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يُستخدم الليثيوم في البطاريات لأنّ له </a:t>
            </a:r>
            <a:pPr rtl="1" algn="r" indent="0" marL="0">
              <a:lnSpc>
                <a:spcPct val="105000"/>
              </a:lnSpc>
              <a:buNone/>
            </a:pPr>
            <a:r>
              <a:rPr lang="ar-SA" altLang="en-US" sz="1600" b="1" dirty="0">
                <a:solidFill>
                  <a:srgbClr val="7C3AED"/>
                </a:solidFill>
                <a:latin typeface="Segoe UI" pitchFamily="34" charset="0"/>
                <a:ea typeface="Segoe UI" pitchFamily="34" charset="-122"/>
                <a:cs typeface="Segoe UI" pitchFamily="34" charset="-120"/>
              </a:rPr>
              <a:t>طاقة تأين منخفضة نسبيًّا</a:t>
            </a:r>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 مما يسمح له بفقد الإلكترونات بسهولة وتوليد التيار الكهربائي.</a:t>
            </a:r>
            <a:endParaRPr lang="ar-SA" sz="1600" dirty="0"/>
          </a:p>
        </p:txBody>
      </p:sp>
      <p:sp>
        <p:nvSpPr>
          <p:cNvPr id="8" name="float:c:7"/>
          <p:cNvSpPr/>
          <p:nvPr/>
        </p:nvSpPr>
        <p:spPr>
          <a:xfrm>
            <a:off x="411480" y="1920240"/>
            <a:ext cx="5623560" cy="4526280"/>
          </a:xfrm>
          <a:prstGeom prst="roundRect">
            <a:avLst>
              <a:gd name="adj" fmla="val 282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endParaRPr lang="ar-SA" sz="1700" dirty="0"/>
          </a:p>
        </p:txBody>
      </p:sp>
      <p:pic>
        <p:nvPicPr>
          <p:cNvPr id="9" name="zoom:w:8" descr="l/bleach.png">    </p:cNvPr>
          <p:cNvPicPr>
            <a:picLocks noChangeAspect="1"/>
          </p:cNvPicPr>
          <p:nvPr/>
        </p:nvPicPr>
        <p:blipFill>
          <a:blip r:embed="rId2"/>
          <a:stretch>
            <a:fillRect/>
          </a:stretch>
        </p:blipFill>
        <p:spPr>
          <a:xfrm>
            <a:off x="2506943" y="2057400"/>
            <a:ext cx="1432635" cy="2194560"/>
          </a:xfrm>
          <a:prstGeom prst="rect">
            <a:avLst/>
          </a:prstGeom>
        </p:spPr>
      </p:pic>
      <p:sp>
        <p:nvSpPr>
          <p:cNvPr id="10" name="float:a:9"/>
          <p:cNvSpPr/>
          <p:nvPr/>
        </p:nvSpPr>
        <p:spPr>
          <a:xfrm>
            <a:off x="960120" y="4389120"/>
            <a:ext cx="4526280" cy="530352"/>
          </a:xfrm>
          <a:prstGeom prst="roundRect">
            <a:avLst>
              <a:gd name="adj" fmla="val 50000"/>
            </a:avLst>
          </a:prstGeom>
          <a:solidFill>
            <a:srgbClr val="0D9488"/>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الكلور في غسيل الملابس</a:t>
            </a:r>
            <a:endParaRPr lang="ar-SA" sz="1700" dirty="0"/>
          </a:p>
        </p:txBody>
      </p:sp>
      <p:sp>
        <p:nvSpPr>
          <p:cNvPr id="11" name="fade:a:10"/>
          <p:cNvSpPr txBox="1"/>
          <p:nvPr/>
        </p:nvSpPr>
        <p:spPr>
          <a:xfrm>
            <a:off x="594360" y="4983480"/>
            <a:ext cx="5257800" cy="1371600"/>
          </a:xfrm>
          <a:prstGeom prst="rect">
            <a:avLst/>
          </a:prstGeom>
          <a:noFill/>
          <a:ln/>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يدخل الكلور في تركيب مركبات مثل </a:t>
            </a:r>
            <a:pPr rtl="1" algn="r" indent="0" marL="0">
              <a:lnSpc>
                <a:spcPct val="105000"/>
              </a:lnSpc>
              <a:buNone/>
            </a:pPr>
            <a:r>
              <a:rPr lang="ar-SA" altLang="en-US" sz="1600" b="1" dirty="0">
                <a:solidFill>
                  <a:srgbClr val="0D9488"/>
                </a:solidFill>
                <a:latin typeface="Segoe UI" pitchFamily="34" charset="0"/>
                <a:ea typeface="Segoe UI" pitchFamily="34" charset="-122"/>
                <a:cs typeface="Segoe UI" pitchFamily="34" charset="-120"/>
              </a:rPr>
              <a:t>هيبوكلوريت الصوديوم (NaClO)</a:t>
            </a:r>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 المستخدمة في المبيضات المنزلية، لإزالة البقع الصعبة.</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20" fill="hold">
                            <p:stCondLst>
                              <p:cond delay="0"/>
                            </p:stCondLst>
                            <p:childTnLst>
                              <p:par>
                                <p:cTn id="14"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1"/>
                                          </p:val>
                                        </p:tav>
                                        <p:tav tm="100000">
                                          <p:val>
                                            <p:strVal val="#ppt_y"/>
                                          </p:val>
                                        </p:tav>
                                      </p:tavLst>
                                    </p:anim>
                                  </p:childTnLst>
                                </p:cTn>
                              </p:par>
                              <p:par>
                                <p:cTn id="19" presetID="53"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ppt_w</p:attrName>
                                        </p:attrNameLst>
                                      </p:cBhvr>
                                      <p:tavLst>
                                        <p:tav tm="0">
                                          <p:val>
                                            <p:strVal val="0"/>
                                          </p:val>
                                        </p:tav>
                                        <p:tav tm="100000">
                                          <p:val>
                                            <p:strVal val="#ppt_w"/>
                                          </p:val>
                                        </p:tav>
                                      </p:tavLst>
                                    </p:anim>
                                    <p:anim calcmode="lin" valueType="num">
                                      <p:cBhvr additive="base">
                                        <p:cTn id="17" dur="500" fill="hold"/>
                                        <p:tgtEl>
                                          <p:spTgt spid="5"/>
                                        </p:tgtEl>
                                        <p:attrNameLst>
                                          <p:attrName>ppt_h</p:attrName>
                                        </p:attrNameLst>
                                      </p:cBhvr>
                                      <p:tavLst>
                                        <p:tav tm="0">
                                          <p:val>
                                            <p:strVal val="0"/>
                                          </p:val>
                                        </p:tav>
                                        <p:tav tm="100000">
                                          <p:val>
                                            <p:strVal val="#ppt_h"/>
                                          </p:val>
                                        </p:tav>
                                      </p:tavLst>
                                    </p:anim>
                                    <p:animEffect transition="in" filter="fade">
                                      <p:cBhvr>
                                        <p:cTn id="18" dur="500"/>
                                        <p:tgtEl>
                                          <p:spTgt spid="5"/>
                                        </p:tgtEl>
                                      </p:cBhvr>
                                    </p:animEffect>
                                  </p:childTnLst>
                                </p:cTn>
                              </p:par>
                            </p:childTnLst>
                          </p:cTn>
                        </p:par>
                        <p:par>
                          <p:cTn id="26" fill="hold">
                            <p:stCondLst>
                              <p:cond delay="385"/>
                            </p:stCondLst>
                            <p:childTnLst>
                              <p:par>
                                <p:cTn id="25" presetID="42"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p:tgtEl>
                                          <p:spTgt spid="6"/>
                                        </p:tgtEl>
                                        <p:attrNameLst>
                                          <p:attrName>ppt_x</p:attrName>
                                        </p:attrNameLst>
                                      </p:cBhvr>
                                      <p:tavLst>
                                        <p:tav tm="0">
                                          <p:val>
                                            <p:strVal val="#ppt_x"/>
                                          </p:val>
                                        </p:tav>
                                        <p:tav tm="100000">
                                          <p:val>
                                            <p:strVal val="#ppt_x"/>
                                          </p:val>
                                        </p:tav>
                                      </p:tavLst>
                                    </p:anim>
                                    <p:anim calcmode="lin" valueType="num">
                                      <p:cBhvr additive="base">
                                        <p:cTn id="24" dur="700" fill="hold"/>
                                        <p:tgtEl>
                                          <p:spTgt spid="6"/>
                                        </p:tgtEl>
                                        <p:attrNameLst>
                                          <p:attrName>ppt_y</p:attrName>
                                        </p:attrNameLst>
                                      </p:cBhvr>
                                      <p:tavLst>
                                        <p:tav tm="0">
                                          <p:val>
                                            <p:strVal val="#ppt_y+.1"/>
                                          </p:val>
                                        </p:tav>
                                        <p:tav tm="100000">
                                          <p:val>
                                            <p:strVal val="#ppt_y"/>
                                          </p:val>
                                        </p:tav>
                                      </p:tavLst>
                                    </p:anim>
                                  </p:childTnLst>
                                </p:cTn>
                              </p:par>
                            </p:childTnLst>
                          </p:cTn>
                        </p:par>
                        <p:par>
                          <p:cTn id="30" fill="hold">
                            <p:stCondLst>
                              <p:cond delay="770"/>
                            </p:stCondLst>
                            <p:childTnLst>
                              <p:par>
                                <p:cTn id="29"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childTnLst>
                          </p:cTn>
                        </p:par>
                      </p:childTnLst>
                    </p:cTn>
                  </p:par>
                  <p:par>
                    <p:cTn id="53" fill="hold">
                      <p:stCondLst>
                        <p:cond delay="indefinite"/>
                      </p:stCondLst>
                      <p:childTnLst>
                        <p:par>
                          <p:cTn id="42" fill="hold">
                            <p:stCondLst>
                              <p:cond delay="0"/>
                            </p:stCondLst>
                            <p:childTnLst>
                              <p:par>
                                <p:cTn id="36" presetID="42"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additive="base">
                                        <p:cTn id="34" dur="700" fill="hold"/>
                                        <p:tgtEl>
                                          <p:spTgt spid="8"/>
                                        </p:tgtEl>
                                        <p:attrNameLst>
                                          <p:attrName>ppt_x</p:attrName>
                                        </p:attrNameLst>
                                      </p:cBhvr>
                                      <p:tavLst>
                                        <p:tav tm="0">
                                          <p:val>
                                            <p:strVal val="#ppt_x"/>
                                          </p:val>
                                        </p:tav>
                                        <p:tav tm="100000">
                                          <p:val>
                                            <p:strVal val="#ppt_x"/>
                                          </p:val>
                                        </p:tav>
                                      </p:tavLst>
                                    </p:anim>
                                    <p:anim calcmode="lin" valueType="num">
                                      <p:cBhvr additive="base">
                                        <p:cTn id="35" dur="700" fill="hold"/>
                                        <p:tgtEl>
                                          <p:spTgt spid="8"/>
                                        </p:tgtEl>
                                        <p:attrNameLst>
                                          <p:attrName>ppt_y</p:attrName>
                                        </p:attrNameLst>
                                      </p:cBhvr>
                                      <p:tavLst>
                                        <p:tav tm="0">
                                          <p:val>
                                            <p:strVal val="#ppt_y+.1"/>
                                          </p:val>
                                        </p:tav>
                                        <p:tav tm="100000">
                                          <p:val>
                                            <p:strVal val="#ppt_y"/>
                                          </p:val>
                                        </p:tav>
                                      </p:tavLst>
                                    </p:anim>
                                  </p:childTnLst>
                                </p:cTn>
                              </p:par>
                              <p:par>
                                <p:cTn id="41" presetID="53" presetClass="entr" presetSubtype="16"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ppt_w</p:attrName>
                                        </p:attrNameLst>
                                      </p:cBhvr>
                                      <p:tavLst>
                                        <p:tav tm="0">
                                          <p:val>
                                            <p:strVal val="0"/>
                                          </p:val>
                                        </p:tav>
                                        <p:tav tm="100000">
                                          <p:val>
                                            <p:strVal val="#ppt_w"/>
                                          </p:val>
                                        </p:tav>
                                      </p:tavLst>
                                    </p:anim>
                                    <p:anim calcmode="lin" valueType="num">
                                      <p:cBhvr additive="base">
                                        <p:cTn id="39" dur="500" fill="hold"/>
                                        <p:tgtEl>
                                          <p:spTgt spid="9"/>
                                        </p:tgtEl>
                                        <p:attrNameLst>
                                          <p:attrName>ppt_h</p:attrName>
                                        </p:attrNameLst>
                                      </p:cBhvr>
                                      <p:tavLst>
                                        <p:tav tm="0">
                                          <p:val>
                                            <p:strVal val="0"/>
                                          </p:val>
                                        </p:tav>
                                        <p:tav tm="100000">
                                          <p:val>
                                            <p:strVal val="#ppt_h"/>
                                          </p:val>
                                        </p:tav>
                                      </p:tavLst>
                                    </p:anim>
                                    <p:animEffect transition="in" filter="fade">
                                      <p:cBhvr>
                                        <p:cTn id="40" dur="500"/>
                                        <p:tgtEl>
                                          <p:spTgt spid="9"/>
                                        </p:tgtEl>
                                      </p:cBhvr>
                                    </p:animEffect>
                                  </p:childTnLst>
                                </p:cTn>
                              </p:par>
                            </p:childTnLst>
                          </p:cTn>
                        </p:par>
                        <p:par>
                          <p:cTn id="48" fill="hold">
                            <p:stCondLst>
                              <p:cond delay="385"/>
                            </p:stCondLst>
                            <p:childTnLst>
                              <p:par>
                                <p:cTn id="47" presetID="42"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700"/>
                                        <p:tgtEl>
                                          <p:spTgt spid="10"/>
                                        </p:tgtEl>
                                      </p:cBhvr>
                                    </p:animEffect>
                                    <p:anim calcmode="lin" valueType="num">
                                      <p:cBhvr additive="base">
                                        <p:cTn id="45" dur="700" fill="hold"/>
                                        <p:tgtEl>
                                          <p:spTgt spid="10"/>
                                        </p:tgtEl>
                                        <p:attrNameLst>
                                          <p:attrName>ppt_x</p:attrName>
                                        </p:attrNameLst>
                                      </p:cBhvr>
                                      <p:tavLst>
                                        <p:tav tm="0">
                                          <p:val>
                                            <p:strVal val="#ppt_x"/>
                                          </p:val>
                                        </p:tav>
                                        <p:tav tm="100000">
                                          <p:val>
                                            <p:strVal val="#ppt_x"/>
                                          </p:val>
                                        </p:tav>
                                      </p:tavLst>
                                    </p:anim>
                                    <p:anim calcmode="lin" valueType="num">
                                      <p:cBhvr additive="base">
                                        <p:cTn id="46" dur="700" fill="hold"/>
                                        <p:tgtEl>
                                          <p:spTgt spid="10"/>
                                        </p:tgtEl>
                                        <p:attrNameLst>
                                          <p:attrName>ppt_y</p:attrName>
                                        </p:attrNameLst>
                                      </p:cBhvr>
                                      <p:tavLst>
                                        <p:tav tm="0">
                                          <p:val>
                                            <p:strVal val="#ppt_y+.1"/>
                                          </p:val>
                                        </p:tav>
                                        <p:tav tm="100000">
                                          <p:val>
                                            <p:strVal val="#ppt_y"/>
                                          </p:val>
                                        </p:tav>
                                      </p:tavLst>
                                    </p:anim>
                                  </p:childTnLst>
                                </p:cTn>
                              </p:par>
                            </p:childTnLst>
                          </p:cTn>
                        </p:par>
                        <p:par>
                          <p:cTn id="52" fill="hold">
                            <p:stCondLst>
                              <p:cond delay="770"/>
                            </p:stCondLst>
                            <p:childTnLst>
                              <p:par>
                                <p:cTn id="51" presetID="10" presetClass="entr" presetSubtype="0"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تحقق ممّا تعلمت: أكمل الفراغ</a:t>
            </a:r>
            <a:endParaRPr lang="en-US" sz="2800" dirty="0"/>
          </a:p>
        </p:txBody>
      </p:sp>
      <p:sp>
        <p:nvSpPr>
          <p:cNvPr id="3" name="float:a:2"/>
          <p:cNvSpPr/>
          <p:nvPr/>
        </p:nvSpPr>
        <p:spPr>
          <a:xfrm>
            <a:off x="9235440" y="1325880"/>
            <a:ext cx="2560320" cy="548640"/>
          </a:xfrm>
          <a:prstGeom prst="roundRect">
            <a:avLst>
              <a:gd name="adj" fmla="val 50000"/>
            </a:avLst>
          </a:prstGeom>
          <a:solidFill>
            <a:srgbClr val="0284C7"/>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خلال الدورة ←</a:t>
            </a:r>
            <a:endParaRPr lang="ar-SA" sz="1700" dirty="0"/>
          </a:p>
        </p:txBody>
      </p:sp>
      <p:sp>
        <p:nvSpPr>
          <p:cNvPr id="4" name="float:a:3"/>
          <p:cNvSpPr/>
          <p:nvPr/>
        </p:nvSpPr>
        <p:spPr>
          <a:xfrm>
            <a:off x="7680960" y="2057400"/>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نصف القطر الذري (الحجم الذري)</a:t>
            </a:r>
            <a:endParaRPr lang="ar-SA" sz="1500" dirty="0"/>
          </a:p>
        </p:txBody>
      </p:sp>
      <p:sp>
        <p:nvSpPr>
          <p:cNvPr id="5" name="fade:w:4"/>
          <p:cNvSpPr/>
          <p:nvPr/>
        </p:nvSpPr>
        <p:spPr>
          <a:xfrm>
            <a:off x="6172200" y="2212848"/>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6" name="float:c:5"/>
          <p:cNvSpPr/>
          <p:nvPr/>
        </p:nvSpPr>
        <p:spPr>
          <a:xfrm>
            <a:off x="6172200" y="2212848"/>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يقل</a:t>
            </a:r>
            <a:endParaRPr lang="ar-SA" sz="1700" dirty="0"/>
          </a:p>
        </p:txBody>
      </p:sp>
      <p:sp>
        <p:nvSpPr>
          <p:cNvPr id="7" name="float:a:6"/>
          <p:cNvSpPr/>
          <p:nvPr/>
        </p:nvSpPr>
        <p:spPr>
          <a:xfrm>
            <a:off x="7680960" y="3136392"/>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عدد مستويات الطاقة (تأثير الحجب)</a:t>
            </a:r>
            <a:endParaRPr lang="ar-SA" sz="1500" dirty="0"/>
          </a:p>
        </p:txBody>
      </p:sp>
      <p:sp>
        <p:nvSpPr>
          <p:cNvPr id="8" name="fade:w:7"/>
          <p:cNvSpPr/>
          <p:nvPr/>
        </p:nvSpPr>
        <p:spPr>
          <a:xfrm>
            <a:off x="6172200" y="3291840"/>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9" name="float:c:8"/>
          <p:cNvSpPr/>
          <p:nvPr/>
        </p:nvSpPr>
        <p:spPr>
          <a:xfrm>
            <a:off x="6172200" y="3291840"/>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ثابت</a:t>
            </a:r>
            <a:endParaRPr lang="ar-SA" sz="1700" dirty="0"/>
          </a:p>
        </p:txBody>
      </p:sp>
      <p:sp>
        <p:nvSpPr>
          <p:cNvPr id="10" name="float:a:9"/>
          <p:cNvSpPr/>
          <p:nvPr/>
        </p:nvSpPr>
        <p:spPr>
          <a:xfrm>
            <a:off x="7680960" y="4215384"/>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طاقة التأين، طاقة الميل الإلكتروني، السالبية الكهربائية</a:t>
            </a:r>
            <a:endParaRPr lang="ar-SA" sz="1500" dirty="0"/>
          </a:p>
        </p:txBody>
      </p:sp>
      <p:sp>
        <p:nvSpPr>
          <p:cNvPr id="11" name="fade:w:10"/>
          <p:cNvSpPr/>
          <p:nvPr/>
        </p:nvSpPr>
        <p:spPr>
          <a:xfrm>
            <a:off x="6172200" y="4370832"/>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2" name="float:c:11"/>
          <p:cNvSpPr/>
          <p:nvPr/>
        </p:nvSpPr>
        <p:spPr>
          <a:xfrm>
            <a:off x="6172200" y="4370832"/>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تزداد</a:t>
            </a:r>
            <a:endParaRPr lang="ar-SA" sz="1700" dirty="0"/>
          </a:p>
        </p:txBody>
      </p:sp>
      <p:sp>
        <p:nvSpPr>
          <p:cNvPr id="13" name="float:a:12"/>
          <p:cNvSpPr/>
          <p:nvPr/>
        </p:nvSpPr>
        <p:spPr>
          <a:xfrm>
            <a:off x="7680960" y="5294376"/>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قوة جذب النواة لإلكترونات المستوى الخارجي</a:t>
            </a:r>
            <a:endParaRPr lang="ar-SA" sz="1500" dirty="0"/>
          </a:p>
        </p:txBody>
      </p:sp>
      <p:sp>
        <p:nvSpPr>
          <p:cNvPr id="14" name="fade:w:13"/>
          <p:cNvSpPr/>
          <p:nvPr/>
        </p:nvSpPr>
        <p:spPr>
          <a:xfrm>
            <a:off x="6172200" y="5449824"/>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5" name="float:c:14"/>
          <p:cNvSpPr/>
          <p:nvPr/>
        </p:nvSpPr>
        <p:spPr>
          <a:xfrm>
            <a:off x="6172200" y="5449824"/>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تزداد</a:t>
            </a:r>
            <a:endParaRPr lang="ar-SA" sz="1700" dirty="0"/>
          </a:p>
        </p:txBody>
      </p:sp>
      <p:sp>
        <p:nvSpPr>
          <p:cNvPr id="16" name="float:a:15"/>
          <p:cNvSpPr/>
          <p:nvPr/>
        </p:nvSpPr>
        <p:spPr>
          <a:xfrm>
            <a:off x="3474720" y="1325880"/>
            <a:ext cx="2560320" cy="548640"/>
          </a:xfrm>
          <a:prstGeom prst="roundRect">
            <a:avLst>
              <a:gd name="adj" fmla="val 50000"/>
            </a:avLst>
          </a:prstGeom>
          <a:solidFill>
            <a:srgbClr val="0284C7"/>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خلال المجموعة ↓</a:t>
            </a:r>
            <a:endParaRPr lang="ar-SA" sz="1700" dirty="0"/>
          </a:p>
        </p:txBody>
      </p:sp>
      <p:sp>
        <p:nvSpPr>
          <p:cNvPr id="17" name="float:a:16"/>
          <p:cNvSpPr/>
          <p:nvPr/>
        </p:nvSpPr>
        <p:spPr>
          <a:xfrm>
            <a:off x="1920240" y="2057400"/>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نصف القطر الذري (الحجم الذري)</a:t>
            </a:r>
            <a:endParaRPr lang="ar-SA" sz="1500" dirty="0"/>
          </a:p>
        </p:txBody>
      </p:sp>
      <p:sp>
        <p:nvSpPr>
          <p:cNvPr id="18" name="fade:w:17"/>
          <p:cNvSpPr/>
          <p:nvPr/>
        </p:nvSpPr>
        <p:spPr>
          <a:xfrm>
            <a:off x="411480" y="2212848"/>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19" name="float:c:18"/>
          <p:cNvSpPr/>
          <p:nvPr/>
        </p:nvSpPr>
        <p:spPr>
          <a:xfrm>
            <a:off x="411480" y="2212848"/>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يزداد</a:t>
            </a:r>
            <a:endParaRPr lang="ar-SA" sz="1700" dirty="0"/>
          </a:p>
        </p:txBody>
      </p:sp>
      <p:sp>
        <p:nvSpPr>
          <p:cNvPr id="20" name="float:a:19"/>
          <p:cNvSpPr/>
          <p:nvPr/>
        </p:nvSpPr>
        <p:spPr>
          <a:xfrm>
            <a:off x="1920240" y="3136392"/>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عدد مستويات الطاقة (تأثير الحجب)</a:t>
            </a:r>
            <a:endParaRPr lang="ar-SA" sz="1500" dirty="0"/>
          </a:p>
        </p:txBody>
      </p:sp>
      <p:sp>
        <p:nvSpPr>
          <p:cNvPr id="21" name="fade:w:20"/>
          <p:cNvSpPr/>
          <p:nvPr/>
        </p:nvSpPr>
        <p:spPr>
          <a:xfrm>
            <a:off x="411480" y="3291840"/>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22" name="float:c:21"/>
          <p:cNvSpPr/>
          <p:nvPr/>
        </p:nvSpPr>
        <p:spPr>
          <a:xfrm>
            <a:off x="411480" y="3291840"/>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يزداد</a:t>
            </a:r>
            <a:endParaRPr lang="ar-SA" sz="1700" dirty="0"/>
          </a:p>
        </p:txBody>
      </p:sp>
      <p:sp>
        <p:nvSpPr>
          <p:cNvPr id="23" name="float:a:22"/>
          <p:cNvSpPr/>
          <p:nvPr/>
        </p:nvSpPr>
        <p:spPr>
          <a:xfrm>
            <a:off x="1920240" y="4215384"/>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طاقة التأين، طاقة الميل الإلكتروني، السالبية الكهربائية</a:t>
            </a:r>
            <a:endParaRPr lang="ar-SA" sz="1500" dirty="0"/>
          </a:p>
        </p:txBody>
      </p:sp>
      <p:sp>
        <p:nvSpPr>
          <p:cNvPr id="24" name="fade:w:23"/>
          <p:cNvSpPr/>
          <p:nvPr/>
        </p:nvSpPr>
        <p:spPr>
          <a:xfrm>
            <a:off x="411480" y="4370832"/>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25" name="float:c:24"/>
          <p:cNvSpPr/>
          <p:nvPr/>
        </p:nvSpPr>
        <p:spPr>
          <a:xfrm>
            <a:off x="411480" y="4370832"/>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تقل</a:t>
            </a:r>
            <a:endParaRPr lang="ar-SA" sz="1700" dirty="0"/>
          </a:p>
        </p:txBody>
      </p:sp>
      <p:sp>
        <p:nvSpPr>
          <p:cNvPr id="26" name="float:a:25"/>
          <p:cNvSpPr/>
          <p:nvPr/>
        </p:nvSpPr>
        <p:spPr>
          <a:xfrm>
            <a:off x="1920240" y="5294376"/>
            <a:ext cx="4114800" cy="914400"/>
          </a:xfrm>
          <a:prstGeom prst="roundRect">
            <a:avLst>
              <a:gd name="adj" fmla="val 140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500" dirty="0">
                <a:solidFill>
                  <a:srgbClr val="0B2545"/>
                </a:solidFill>
                <a:latin typeface="Segoe UI" pitchFamily="34" charset="0"/>
                <a:ea typeface="Segoe UI" pitchFamily="34" charset="-122"/>
                <a:cs typeface="Segoe UI" pitchFamily="34" charset="-120"/>
              </a:rPr>
              <a:t>قوة جذب النواة لإلكترونات المستوى الخارجي</a:t>
            </a:r>
            <a:endParaRPr lang="ar-SA" sz="1500" dirty="0"/>
          </a:p>
        </p:txBody>
      </p:sp>
      <p:sp>
        <p:nvSpPr>
          <p:cNvPr id="27" name="fade:w:26"/>
          <p:cNvSpPr/>
          <p:nvPr/>
        </p:nvSpPr>
        <p:spPr>
          <a:xfrm>
            <a:off x="411480" y="5449824"/>
            <a:ext cx="1371600" cy="603504"/>
          </a:xfrm>
          <a:prstGeom prst="roundRect">
            <a:avLst>
              <a:gd name="adj" fmla="val 50000"/>
            </a:avLst>
          </a:prstGeom>
          <a:solidFill>
            <a:srgbClr val="FFFFFF">
              <a:alpha val="70000"/>
            </a:srgbClr>
          </a:solidFill>
          <a:ln w="15875">
            <a:solidFill>
              <a:srgbClr val="0284C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a:t>
            </a:r>
            <a:endParaRPr lang="ar-SA" sz="1700" dirty="0"/>
          </a:p>
        </p:txBody>
      </p:sp>
      <p:sp>
        <p:nvSpPr>
          <p:cNvPr id="28" name="float:c:27"/>
          <p:cNvSpPr/>
          <p:nvPr/>
        </p:nvSpPr>
        <p:spPr>
          <a:xfrm>
            <a:off x="411480" y="5449824"/>
            <a:ext cx="1371600" cy="603504"/>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تقل</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7" fill="hold">
                            <p:stCondLst>
                              <p:cond delay="385"/>
                            </p:stCondLst>
                            <p:childTnLst>
                              <p:par>
                                <p:cTn id="13" presetID="42"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par>
                                <p:cTn id="16"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childTnLst>
                          </p:cTn>
                        </p:par>
                      </p:childTnLst>
                    </p:cTn>
                  </p:par>
                  <p:par>
                    <p:cTn id="34" fill="hold">
                      <p:stCondLst>
                        <p:cond delay="indefinite"/>
                      </p:stCondLst>
                      <p:childTnLst>
                        <p:par>
                          <p:cTn id="24" fill="hold">
                            <p:stCondLst>
                              <p:cond delay="0"/>
                            </p:stCondLst>
                            <p:childTnLst>
                              <p:par>
                                <p:cTn id="23" presetID="42"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p:tgtEl>
                                          <p:spTgt spid="6"/>
                                        </p:tgtEl>
                                        <p:attrNameLst>
                                          <p:attrName>ppt_x</p:attrName>
                                        </p:attrNameLst>
                                      </p:cBhvr>
                                      <p:tavLst>
                                        <p:tav tm="0">
                                          <p:val>
                                            <p:strVal val="#ppt_x"/>
                                          </p:val>
                                        </p:tav>
                                        <p:tav tm="100000">
                                          <p:val>
                                            <p:strVal val="#ppt_x"/>
                                          </p:val>
                                        </p:tav>
                                      </p:tavLst>
                                    </p:anim>
                                    <p:anim calcmode="lin" valueType="num">
                                      <p:cBhvr additive="base">
                                        <p:cTn id="22" dur="70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385"/>
                            </p:stCondLst>
                            <p:childTnLst>
                              <p:par>
                                <p:cTn id="29" presetID="42"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00"/>
                                        <p:tgtEl>
                                          <p:spTgt spid="7"/>
                                        </p:tgtEl>
                                      </p:cBhvr>
                                    </p:animEffect>
                                    <p:anim calcmode="lin" valueType="num">
                                      <p:cBhvr additive="base">
                                        <p:cTn id="27" dur="700" fill="hold"/>
                                        <p:tgtEl>
                                          <p:spTgt spid="7"/>
                                        </p:tgtEl>
                                        <p:attrNameLst>
                                          <p:attrName>ppt_x</p:attrName>
                                        </p:attrNameLst>
                                      </p:cBhvr>
                                      <p:tavLst>
                                        <p:tav tm="0">
                                          <p:val>
                                            <p:strVal val="#ppt_x"/>
                                          </p:val>
                                        </p:tav>
                                        <p:tav tm="100000">
                                          <p:val>
                                            <p:strVal val="#ppt_x"/>
                                          </p:val>
                                        </p:tav>
                                      </p:tavLst>
                                    </p:anim>
                                    <p:anim calcmode="lin" valueType="num">
                                      <p:cBhvr additive="base">
                                        <p:cTn id="28" dur="700" fill="hold"/>
                                        <p:tgtEl>
                                          <p:spTgt spid="7"/>
                                        </p:tgtEl>
                                        <p:attrNameLst>
                                          <p:attrName>ppt_y</p:attrName>
                                        </p:attrNameLst>
                                      </p:cBhvr>
                                      <p:tavLst>
                                        <p:tav tm="0">
                                          <p:val>
                                            <p:strVal val="#ppt_y+.1"/>
                                          </p:val>
                                        </p:tav>
                                        <p:tav tm="100000">
                                          <p:val>
                                            <p:strVal val="#ppt_y"/>
                                          </p:val>
                                        </p:tav>
                                      </p:tavLst>
                                    </p:anim>
                                  </p:childTnLst>
                                </p:cTn>
                              </p:par>
                              <p:par>
                                <p:cTn id="32"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childTnLst>
                                </p:cTn>
                              </p:par>
                            </p:childTnLst>
                          </p:cTn>
                        </p:par>
                      </p:childTnLst>
                    </p:cTn>
                  </p:par>
                  <p:par>
                    <p:cTn id="50" fill="hold">
                      <p:stCondLst>
                        <p:cond delay="indefinite"/>
                      </p:stCondLst>
                      <p:childTnLst>
                        <p:par>
                          <p:cTn id="40" fill="hold">
                            <p:stCondLst>
                              <p:cond delay="0"/>
                            </p:stCondLst>
                            <p:childTnLst>
                              <p:par>
                                <p:cTn id="39" presetID="42"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700"/>
                                        <p:tgtEl>
                                          <p:spTgt spid="9"/>
                                        </p:tgtEl>
                                      </p:cBhvr>
                                    </p:animEffect>
                                    <p:anim calcmode="lin" valueType="num">
                                      <p:cBhvr additive="base">
                                        <p:cTn id="37" dur="700" fill="hold"/>
                                        <p:tgtEl>
                                          <p:spTgt spid="9"/>
                                        </p:tgtEl>
                                        <p:attrNameLst>
                                          <p:attrName>ppt_x</p:attrName>
                                        </p:attrNameLst>
                                      </p:cBhvr>
                                      <p:tavLst>
                                        <p:tav tm="0">
                                          <p:val>
                                            <p:strVal val="#ppt_x"/>
                                          </p:val>
                                        </p:tav>
                                        <p:tav tm="100000">
                                          <p:val>
                                            <p:strVal val="#ppt_x"/>
                                          </p:val>
                                        </p:tav>
                                      </p:tavLst>
                                    </p:anim>
                                    <p:anim calcmode="lin" valueType="num">
                                      <p:cBhvr additive="base">
                                        <p:cTn id="38" dur="70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385"/>
                            </p:stCondLst>
                            <p:childTnLst>
                              <p:par>
                                <p:cTn id="45" presetID="42" presetClass="entr" presetSubtype="0"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700"/>
                                        <p:tgtEl>
                                          <p:spTgt spid="10"/>
                                        </p:tgtEl>
                                      </p:cBhvr>
                                    </p:animEffect>
                                    <p:anim calcmode="lin" valueType="num">
                                      <p:cBhvr additive="base">
                                        <p:cTn id="43" dur="700" fill="hold"/>
                                        <p:tgtEl>
                                          <p:spTgt spid="10"/>
                                        </p:tgtEl>
                                        <p:attrNameLst>
                                          <p:attrName>ppt_x</p:attrName>
                                        </p:attrNameLst>
                                      </p:cBhvr>
                                      <p:tavLst>
                                        <p:tav tm="0">
                                          <p:val>
                                            <p:strVal val="#ppt_x"/>
                                          </p:val>
                                        </p:tav>
                                        <p:tav tm="100000">
                                          <p:val>
                                            <p:strVal val="#ppt_x"/>
                                          </p:val>
                                        </p:tav>
                                      </p:tavLst>
                                    </p:anim>
                                    <p:anim calcmode="lin" valueType="num">
                                      <p:cBhvr additive="base">
                                        <p:cTn id="44" dur="700" fill="hold"/>
                                        <p:tgtEl>
                                          <p:spTgt spid="10"/>
                                        </p:tgtEl>
                                        <p:attrNameLst>
                                          <p:attrName>ppt_y</p:attrName>
                                        </p:attrNameLst>
                                      </p:cBhvr>
                                      <p:tavLst>
                                        <p:tav tm="0">
                                          <p:val>
                                            <p:strVal val="#ppt_y+.1"/>
                                          </p:val>
                                        </p:tav>
                                        <p:tav tm="100000">
                                          <p:val>
                                            <p:strVal val="#ppt_y"/>
                                          </p:val>
                                        </p:tav>
                                      </p:tavLst>
                                    </p:anim>
                                  </p:childTnLst>
                                </p:cTn>
                              </p:par>
                              <p:par>
                                <p:cTn id="48" presetID="10"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600"/>
                                        <p:tgtEl>
                                          <p:spTgt spid="11"/>
                                        </p:tgtEl>
                                      </p:cBhvr>
                                    </p:animEffect>
                                  </p:childTnLst>
                                </p:cTn>
                              </p:par>
                            </p:childTnLst>
                          </p:cTn>
                        </p:par>
                      </p:childTnLst>
                    </p:cTn>
                  </p:par>
                  <p:par>
                    <p:cTn id="66" fill="hold">
                      <p:stCondLst>
                        <p:cond delay="indefinite"/>
                      </p:stCondLst>
                      <p:childTnLst>
                        <p:par>
                          <p:cTn id="56" fill="hold">
                            <p:stCondLst>
                              <p:cond delay="0"/>
                            </p:stCondLst>
                            <p:childTnLst>
                              <p:par>
                                <p:cTn id="55" presetID="42"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700"/>
                                        <p:tgtEl>
                                          <p:spTgt spid="12"/>
                                        </p:tgtEl>
                                      </p:cBhvr>
                                    </p:animEffect>
                                    <p:anim calcmode="lin" valueType="num">
                                      <p:cBhvr additive="base">
                                        <p:cTn id="53" dur="700" fill="hold"/>
                                        <p:tgtEl>
                                          <p:spTgt spid="12"/>
                                        </p:tgtEl>
                                        <p:attrNameLst>
                                          <p:attrName>ppt_x</p:attrName>
                                        </p:attrNameLst>
                                      </p:cBhvr>
                                      <p:tavLst>
                                        <p:tav tm="0">
                                          <p:val>
                                            <p:strVal val="#ppt_x"/>
                                          </p:val>
                                        </p:tav>
                                        <p:tav tm="100000">
                                          <p:val>
                                            <p:strVal val="#ppt_x"/>
                                          </p:val>
                                        </p:tav>
                                      </p:tavLst>
                                    </p:anim>
                                    <p:anim calcmode="lin" valueType="num">
                                      <p:cBhvr additive="base">
                                        <p:cTn id="54" dur="700" fill="hold"/>
                                        <p:tgtEl>
                                          <p:spTgt spid="12"/>
                                        </p:tgtEl>
                                        <p:attrNameLst>
                                          <p:attrName>ppt_y</p:attrName>
                                        </p:attrNameLst>
                                      </p:cBhvr>
                                      <p:tavLst>
                                        <p:tav tm="0">
                                          <p:val>
                                            <p:strVal val="#ppt_y+.1"/>
                                          </p:val>
                                        </p:tav>
                                        <p:tav tm="100000">
                                          <p:val>
                                            <p:strVal val="#ppt_y"/>
                                          </p:val>
                                        </p:tav>
                                      </p:tavLst>
                                    </p:anim>
                                  </p:childTnLst>
                                </p:cTn>
                              </p:par>
                            </p:childTnLst>
                          </p:cTn>
                        </p:par>
                        <p:par>
                          <p:cTn id="65" fill="hold">
                            <p:stCondLst>
                              <p:cond delay="385"/>
                            </p:stCondLst>
                            <p:childTnLst>
                              <p:par>
                                <p:cTn id="61" presetID="42" presetClass="entr" presetSubtype="0"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700"/>
                                        <p:tgtEl>
                                          <p:spTgt spid="13"/>
                                        </p:tgtEl>
                                      </p:cBhvr>
                                    </p:animEffect>
                                    <p:anim calcmode="lin" valueType="num">
                                      <p:cBhvr additive="base">
                                        <p:cTn id="59" dur="700" fill="hold"/>
                                        <p:tgtEl>
                                          <p:spTgt spid="13"/>
                                        </p:tgtEl>
                                        <p:attrNameLst>
                                          <p:attrName>ppt_x</p:attrName>
                                        </p:attrNameLst>
                                      </p:cBhvr>
                                      <p:tavLst>
                                        <p:tav tm="0">
                                          <p:val>
                                            <p:strVal val="#ppt_x"/>
                                          </p:val>
                                        </p:tav>
                                        <p:tav tm="100000">
                                          <p:val>
                                            <p:strVal val="#ppt_x"/>
                                          </p:val>
                                        </p:tav>
                                      </p:tavLst>
                                    </p:anim>
                                    <p:anim calcmode="lin" valueType="num">
                                      <p:cBhvr additive="base">
                                        <p:cTn id="60" dur="700" fill="hold"/>
                                        <p:tgtEl>
                                          <p:spTgt spid="13"/>
                                        </p:tgtEl>
                                        <p:attrNameLst>
                                          <p:attrName>ppt_y</p:attrName>
                                        </p:attrNameLst>
                                      </p:cBhvr>
                                      <p:tavLst>
                                        <p:tav tm="0">
                                          <p:val>
                                            <p:strVal val="#ppt_y+.1"/>
                                          </p:val>
                                        </p:tav>
                                        <p:tav tm="100000">
                                          <p:val>
                                            <p:strVal val="#ppt_y"/>
                                          </p:val>
                                        </p:tav>
                                      </p:tavLst>
                                    </p:anim>
                                  </p:childTnLst>
                                </p:cTn>
                              </p:par>
                              <p:par>
                                <p:cTn id="64" presetID="10"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childTnLst>
                                </p:cTn>
                              </p:par>
                            </p:childTnLst>
                          </p:cTn>
                        </p:par>
                      </p:childTnLst>
                    </p:cTn>
                  </p:par>
                  <p:par>
                    <p:cTn id="88" fill="hold">
                      <p:stCondLst>
                        <p:cond delay="indefinite"/>
                      </p:stCondLst>
                      <p:childTnLst>
                        <p:par>
                          <p:cTn id="72" fill="hold">
                            <p:stCondLst>
                              <p:cond delay="0"/>
                            </p:stCondLst>
                            <p:childTnLst>
                              <p:par>
                                <p:cTn id="71" presetID="42"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700"/>
                                        <p:tgtEl>
                                          <p:spTgt spid="15"/>
                                        </p:tgtEl>
                                      </p:cBhvr>
                                    </p:animEffect>
                                    <p:anim calcmode="lin" valueType="num">
                                      <p:cBhvr additive="base">
                                        <p:cTn id="69" dur="700" fill="hold"/>
                                        <p:tgtEl>
                                          <p:spTgt spid="15"/>
                                        </p:tgtEl>
                                        <p:attrNameLst>
                                          <p:attrName>ppt_x</p:attrName>
                                        </p:attrNameLst>
                                      </p:cBhvr>
                                      <p:tavLst>
                                        <p:tav tm="0">
                                          <p:val>
                                            <p:strVal val="#ppt_x"/>
                                          </p:val>
                                        </p:tav>
                                        <p:tav tm="100000">
                                          <p:val>
                                            <p:strVal val="#ppt_x"/>
                                          </p:val>
                                        </p:tav>
                                      </p:tavLst>
                                    </p:anim>
                                    <p:anim calcmode="lin" valueType="num">
                                      <p:cBhvr additive="base">
                                        <p:cTn id="70" dur="700" fill="hold"/>
                                        <p:tgtEl>
                                          <p:spTgt spid="15"/>
                                        </p:tgtEl>
                                        <p:attrNameLst>
                                          <p:attrName>ppt_y</p:attrName>
                                        </p:attrNameLst>
                                      </p:cBhvr>
                                      <p:tavLst>
                                        <p:tav tm="0">
                                          <p:val>
                                            <p:strVal val="#ppt_y+.1"/>
                                          </p:val>
                                        </p:tav>
                                        <p:tav tm="100000">
                                          <p:val>
                                            <p:strVal val="#ppt_y"/>
                                          </p:val>
                                        </p:tav>
                                      </p:tavLst>
                                    </p:anim>
                                  </p:childTnLst>
                                </p:cTn>
                              </p:par>
                            </p:childTnLst>
                          </p:cTn>
                        </p:par>
                        <p:par>
                          <p:cTn id="78" fill="hold">
                            <p:stCondLst>
                              <p:cond delay="385"/>
                            </p:stCondLst>
                            <p:childTnLst>
                              <p:par>
                                <p:cTn id="77" presetID="42" presetClass="entr" presetSubtype="0"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700"/>
                                        <p:tgtEl>
                                          <p:spTgt spid="16"/>
                                        </p:tgtEl>
                                      </p:cBhvr>
                                    </p:animEffect>
                                    <p:anim calcmode="lin" valueType="num">
                                      <p:cBhvr additive="base">
                                        <p:cTn id="75" dur="700" fill="hold"/>
                                        <p:tgtEl>
                                          <p:spTgt spid="16"/>
                                        </p:tgtEl>
                                        <p:attrNameLst>
                                          <p:attrName>ppt_x</p:attrName>
                                        </p:attrNameLst>
                                      </p:cBhvr>
                                      <p:tavLst>
                                        <p:tav tm="0">
                                          <p:val>
                                            <p:strVal val="#ppt_x"/>
                                          </p:val>
                                        </p:tav>
                                        <p:tav tm="100000">
                                          <p:val>
                                            <p:strVal val="#ppt_x"/>
                                          </p:val>
                                        </p:tav>
                                      </p:tavLst>
                                    </p:anim>
                                    <p:anim calcmode="lin" valueType="num">
                                      <p:cBhvr additive="base">
                                        <p:cTn id="76" dur="700" fill="hold"/>
                                        <p:tgtEl>
                                          <p:spTgt spid="16"/>
                                        </p:tgtEl>
                                        <p:attrNameLst>
                                          <p:attrName>ppt_y</p:attrName>
                                        </p:attrNameLst>
                                      </p:cBhvr>
                                      <p:tavLst>
                                        <p:tav tm="0">
                                          <p:val>
                                            <p:strVal val="#ppt_y+.1"/>
                                          </p:val>
                                        </p:tav>
                                        <p:tav tm="100000">
                                          <p:val>
                                            <p:strVal val="#ppt_y"/>
                                          </p:val>
                                        </p:tav>
                                      </p:tavLst>
                                    </p:anim>
                                  </p:childTnLst>
                                </p:cTn>
                              </p:par>
                            </p:childTnLst>
                          </p:cTn>
                        </p:par>
                        <p:par>
                          <p:cTn id="87" fill="hold">
                            <p:stCondLst>
                              <p:cond delay="770"/>
                            </p:stCondLst>
                            <p:childTnLst>
                              <p:par>
                                <p:cTn id="83" presetID="42" presetClass="entr" presetSubtype="0" fill="hold" grpId="0" nodeType="after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700"/>
                                        <p:tgtEl>
                                          <p:spTgt spid="17"/>
                                        </p:tgtEl>
                                      </p:cBhvr>
                                    </p:animEffect>
                                    <p:anim calcmode="lin" valueType="num">
                                      <p:cBhvr additive="base">
                                        <p:cTn id="81" dur="700" fill="hold"/>
                                        <p:tgtEl>
                                          <p:spTgt spid="17"/>
                                        </p:tgtEl>
                                        <p:attrNameLst>
                                          <p:attrName>ppt_x</p:attrName>
                                        </p:attrNameLst>
                                      </p:cBhvr>
                                      <p:tavLst>
                                        <p:tav tm="0">
                                          <p:val>
                                            <p:strVal val="#ppt_x"/>
                                          </p:val>
                                        </p:tav>
                                        <p:tav tm="100000">
                                          <p:val>
                                            <p:strVal val="#ppt_x"/>
                                          </p:val>
                                        </p:tav>
                                      </p:tavLst>
                                    </p:anim>
                                    <p:anim calcmode="lin" valueType="num">
                                      <p:cBhvr additive="base">
                                        <p:cTn id="82" dur="700" fill="hold"/>
                                        <p:tgtEl>
                                          <p:spTgt spid="17"/>
                                        </p:tgtEl>
                                        <p:attrNameLst>
                                          <p:attrName>ppt_y</p:attrName>
                                        </p:attrNameLst>
                                      </p:cBhvr>
                                      <p:tavLst>
                                        <p:tav tm="0">
                                          <p:val>
                                            <p:strVal val="#ppt_y+.1"/>
                                          </p:val>
                                        </p:tav>
                                        <p:tav tm="100000">
                                          <p:val>
                                            <p:strVal val="#ppt_y"/>
                                          </p:val>
                                        </p:tav>
                                      </p:tavLst>
                                    </p:anim>
                                  </p:childTnLst>
                                </p:cTn>
                              </p:par>
                              <p:par>
                                <p:cTn id="86" presetID="10"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childTnLst>
                                </p:cTn>
                              </p:par>
                            </p:childTnLst>
                          </p:cTn>
                        </p:par>
                      </p:childTnLst>
                    </p:cTn>
                  </p:par>
                  <p:par>
                    <p:cTn id="104" fill="hold">
                      <p:stCondLst>
                        <p:cond delay="indefinite"/>
                      </p:stCondLst>
                      <p:childTnLst>
                        <p:par>
                          <p:cTn id="94" fill="hold">
                            <p:stCondLst>
                              <p:cond delay="0"/>
                            </p:stCondLst>
                            <p:childTnLst>
                              <p:par>
                                <p:cTn id="93" presetID="42" presetClass="entr" presetSubtype="0" fill="hold" grpId="0" nodeType="click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700"/>
                                        <p:tgtEl>
                                          <p:spTgt spid="19"/>
                                        </p:tgtEl>
                                      </p:cBhvr>
                                    </p:animEffect>
                                    <p:anim calcmode="lin" valueType="num">
                                      <p:cBhvr additive="base">
                                        <p:cTn id="91" dur="700" fill="hold"/>
                                        <p:tgtEl>
                                          <p:spTgt spid="19"/>
                                        </p:tgtEl>
                                        <p:attrNameLst>
                                          <p:attrName>ppt_x</p:attrName>
                                        </p:attrNameLst>
                                      </p:cBhvr>
                                      <p:tavLst>
                                        <p:tav tm="0">
                                          <p:val>
                                            <p:strVal val="#ppt_x"/>
                                          </p:val>
                                        </p:tav>
                                        <p:tav tm="100000">
                                          <p:val>
                                            <p:strVal val="#ppt_x"/>
                                          </p:val>
                                        </p:tav>
                                      </p:tavLst>
                                    </p:anim>
                                    <p:anim calcmode="lin" valueType="num">
                                      <p:cBhvr additive="base">
                                        <p:cTn id="92" dur="700" fill="hold"/>
                                        <p:tgtEl>
                                          <p:spTgt spid="19"/>
                                        </p:tgtEl>
                                        <p:attrNameLst>
                                          <p:attrName>ppt_y</p:attrName>
                                        </p:attrNameLst>
                                      </p:cBhvr>
                                      <p:tavLst>
                                        <p:tav tm="0">
                                          <p:val>
                                            <p:strVal val="#ppt_y+.1"/>
                                          </p:val>
                                        </p:tav>
                                        <p:tav tm="100000">
                                          <p:val>
                                            <p:strVal val="#ppt_y"/>
                                          </p:val>
                                        </p:tav>
                                      </p:tavLst>
                                    </p:anim>
                                  </p:childTnLst>
                                </p:cTn>
                              </p:par>
                            </p:childTnLst>
                          </p:cTn>
                        </p:par>
                        <p:par>
                          <p:cTn id="103" fill="hold">
                            <p:stCondLst>
                              <p:cond delay="385"/>
                            </p:stCondLst>
                            <p:childTnLst>
                              <p:par>
                                <p:cTn id="99" presetID="42" presetClass="entr" presetSubtype="0"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700"/>
                                        <p:tgtEl>
                                          <p:spTgt spid="20"/>
                                        </p:tgtEl>
                                      </p:cBhvr>
                                    </p:animEffect>
                                    <p:anim calcmode="lin" valueType="num">
                                      <p:cBhvr additive="base">
                                        <p:cTn id="97" dur="700" fill="hold"/>
                                        <p:tgtEl>
                                          <p:spTgt spid="20"/>
                                        </p:tgtEl>
                                        <p:attrNameLst>
                                          <p:attrName>ppt_x</p:attrName>
                                        </p:attrNameLst>
                                      </p:cBhvr>
                                      <p:tavLst>
                                        <p:tav tm="0">
                                          <p:val>
                                            <p:strVal val="#ppt_x"/>
                                          </p:val>
                                        </p:tav>
                                        <p:tav tm="100000">
                                          <p:val>
                                            <p:strVal val="#ppt_x"/>
                                          </p:val>
                                        </p:tav>
                                      </p:tavLst>
                                    </p:anim>
                                    <p:anim calcmode="lin" valueType="num">
                                      <p:cBhvr additive="base">
                                        <p:cTn id="98" dur="700" fill="hold"/>
                                        <p:tgtEl>
                                          <p:spTgt spid="20"/>
                                        </p:tgtEl>
                                        <p:attrNameLst>
                                          <p:attrName>ppt_y</p:attrName>
                                        </p:attrNameLst>
                                      </p:cBhvr>
                                      <p:tavLst>
                                        <p:tav tm="0">
                                          <p:val>
                                            <p:strVal val="#ppt_y+.1"/>
                                          </p:val>
                                        </p:tav>
                                        <p:tav tm="100000">
                                          <p:val>
                                            <p:strVal val="#ppt_y"/>
                                          </p:val>
                                        </p:tav>
                                      </p:tavLst>
                                    </p:anim>
                                  </p:childTnLst>
                                </p:cTn>
                              </p:par>
                              <p:par>
                                <p:cTn id="102" presetID="10"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600"/>
                                        <p:tgtEl>
                                          <p:spTgt spid="21"/>
                                        </p:tgtEl>
                                      </p:cBhvr>
                                    </p:animEffect>
                                  </p:childTnLst>
                                </p:cTn>
                              </p:par>
                            </p:childTnLst>
                          </p:cTn>
                        </p:par>
                      </p:childTnLst>
                    </p:cTn>
                  </p:par>
                  <p:par>
                    <p:cTn id="120" fill="hold">
                      <p:stCondLst>
                        <p:cond delay="indefinite"/>
                      </p:stCondLst>
                      <p:childTnLst>
                        <p:par>
                          <p:cTn id="110" fill="hold">
                            <p:stCondLst>
                              <p:cond delay="0"/>
                            </p:stCondLst>
                            <p:childTnLst>
                              <p:par>
                                <p:cTn id="109" presetID="42" presetClass="entr" presetSubtype="0" fill="hold" grpId="0" nodeType="click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700"/>
                                        <p:tgtEl>
                                          <p:spTgt spid="22"/>
                                        </p:tgtEl>
                                      </p:cBhvr>
                                    </p:animEffect>
                                    <p:anim calcmode="lin" valueType="num">
                                      <p:cBhvr additive="base">
                                        <p:cTn id="107" dur="700" fill="hold"/>
                                        <p:tgtEl>
                                          <p:spTgt spid="22"/>
                                        </p:tgtEl>
                                        <p:attrNameLst>
                                          <p:attrName>ppt_x</p:attrName>
                                        </p:attrNameLst>
                                      </p:cBhvr>
                                      <p:tavLst>
                                        <p:tav tm="0">
                                          <p:val>
                                            <p:strVal val="#ppt_x"/>
                                          </p:val>
                                        </p:tav>
                                        <p:tav tm="100000">
                                          <p:val>
                                            <p:strVal val="#ppt_x"/>
                                          </p:val>
                                        </p:tav>
                                      </p:tavLst>
                                    </p:anim>
                                    <p:anim calcmode="lin" valueType="num">
                                      <p:cBhvr additive="base">
                                        <p:cTn id="108" dur="700" fill="hold"/>
                                        <p:tgtEl>
                                          <p:spTgt spid="22"/>
                                        </p:tgtEl>
                                        <p:attrNameLst>
                                          <p:attrName>ppt_y</p:attrName>
                                        </p:attrNameLst>
                                      </p:cBhvr>
                                      <p:tavLst>
                                        <p:tav tm="0">
                                          <p:val>
                                            <p:strVal val="#ppt_y+.1"/>
                                          </p:val>
                                        </p:tav>
                                        <p:tav tm="100000">
                                          <p:val>
                                            <p:strVal val="#ppt_y"/>
                                          </p:val>
                                        </p:tav>
                                      </p:tavLst>
                                    </p:anim>
                                  </p:childTnLst>
                                </p:cTn>
                              </p:par>
                            </p:childTnLst>
                          </p:cTn>
                        </p:par>
                        <p:par>
                          <p:cTn id="119" fill="hold">
                            <p:stCondLst>
                              <p:cond delay="385"/>
                            </p:stCondLst>
                            <p:childTnLst>
                              <p:par>
                                <p:cTn id="115" presetID="42" presetClass="entr" presetSubtype="0" fill="hold" grpId="0" nodeType="after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700"/>
                                        <p:tgtEl>
                                          <p:spTgt spid="23"/>
                                        </p:tgtEl>
                                      </p:cBhvr>
                                    </p:animEffect>
                                    <p:anim calcmode="lin" valueType="num">
                                      <p:cBhvr additive="base">
                                        <p:cTn id="113" dur="700" fill="hold"/>
                                        <p:tgtEl>
                                          <p:spTgt spid="23"/>
                                        </p:tgtEl>
                                        <p:attrNameLst>
                                          <p:attrName>ppt_x</p:attrName>
                                        </p:attrNameLst>
                                      </p:cBhvr>
                                      <p:tavLst>
                                        <p:tav tm="0">
                                          <p:val>
                                            <p:strVal val="#ppt_x"/>
                                          </p:val>
                                        </p:tav>
                                        <p:tav tm="100000">
                                          <p:val>
                                            <p:strVal val="#ppt_x"/>
                                          </p:val>
                                        </p:tav>
                                      </p:tavLst>
                                    </p:anim>
                                    <p:anim calcmode="lin" valueType="num">
                                      <p:cBhvr additive="base">
                                        <p:cTn id="114" dur="700" fill="hold"/>
                                        <p:tgtEl>
                                          <p:spTgt spid="23"/>
                                        </p:tgtEl>
                                        <p:attrNameLst>
                                          <p:attrName>ppt_y</p:attrName>
                                        </p:attrNameLst>
                                      </p:cBhvr>
                                      <p:tavLst>
                                        <p:tav tm="0">
                                          <p:val>
                                            <p:strVal val="#ppt_y+.1"/>
                                          </p:val>
                                        </p:tav>
                                        <p:tav tm="100000">
                                          <p:val>
                                            <p:strVal val="#ppt_y"/>
                                          </p:val>
                                        </p:tav>
                                      </p:tavLst>
                                    </p:anim>
                                  </p:childTnLst>
                                </p:cTn>
                              </p:par>
                              <p:par>
                                <p:cTn id="118" presetID="10"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600"/>
                                        <p:tgtEl>
                                          <p:spTgt spid="24"/>
                                        </p:tgtEl>
                                      </p:cBhvr>
                                    </p:animEffect>
                                  </p:childTnLst>
                                </p:cTn>
                              </p:par>
                            </p:childTnLst>
                          </p:cTn>
                        </p:par>
                      </p:childTnLst>
                    </p:cTn>
                  </p:par>
                  <p:par>
                    <p:cTn id="136" fill="hold">
                      <p:stCondLst>
                        <p:cond delay="indefinite"/>
                      </p:stCondLst>
                      <p:childTnLst>
                        <p:par>
                          <p:cTn id="126" fill="hold">
                            <p:stCondLst>
                              <p:cond delay="0"/>
                            </p:stCondLst>
                            <p:childTnLst>
                              <p:par>
                                <p:cTn id="125" presetID="42" presetClass="entr" presetSubtype="0" fill="hold" grpId="0" nodeType="click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700"/>
                                        <p:tgtEl>
                                          <p:spTgt spid="25"/>
                                        </p:tgtEl>
                                      </p:cBhvr>
                                    </p:animEffect>
                                    <p:anim calcmode="lin" valueType="num">
                                      <p:cBhvr additive="base">
                                        <p:cTn id="123" dur="700" fill="hold"/>
                                        <p:tgtEl>
                                          <p:spTgt spid="25"/>
                                        </p:tgtEl>
                                        <p:attrNameLst>
                                          <p:attrName>ppt_x</p:attrName>
                                        </p:attrNameLst>
                                      </p:cBhvr>
                                      <p:tavLst>
                                        <p:tav tm="0">
                                          <p:val>
                                            <p:strVal val="#ppt_x"/>
                                          </p:val>
                                        </p:tav>
                                        <p:tav tm="100000">
                                          <p:val>
                                            <p:strVal val="#ppt_x"/>
                                          </p:val>
                                        </p:tav>
                                      </p:tavLst>
                                    </p:anim>
                                    <p:anim calcmode="lin" valueType="num">
                                      <p:cBhvr additive="base">
                                        <p:cTn id="124" dur="700" fill="hold"/>
                                        <p:tgtEl>
                                          <p:spTgt spid="25"/>
                                        </p:tgtEl>
                                        <p:attrNameLst>
                                          <p:attrName>ppt_y</p:attrName>
                                        </p:attrNameLst>
                                      </p:cBhvr>
                                      <p:tavLst>
                                        <p:tav tm="0">
                                          <p:val>
                                            <p:strVal val="#ppt_y+.1"/>
                                          </p:val>
                                        </p:tav>
                                        <p:tav tm="100000">
                                          <p:val>
                                            <p:strVal val="#ppt_y"/>
                                          </p:val>
                                        </p:tav>
                                      </p:tavLst>
                                    </p:anim>
                                  </p:childTnLst>
                                </p:cTn>
                              </p:par>
                            </p:childTnLst>
                          </p:cTn>
                        </p:par>
                        <p:par>
                          <p:cTn id="135" fill="hold">
                            <p:stCondLst>
                              <p:cond delay="385"/>
                            </p:stCondLst>
                            <p:childTnLst>
                              <p:par>
                                <p:cTn id="131" presetID="42" presetClass="entr" presetSubtype="0" fill="hold" grpId="0" nodeType="afterEffect">
                                  <p:stCondLst>
                                    <p:cond delay="0"/>
                                  </p:stCondLst>
                                  <p:childTnLst>
                                    <p:set>
                                      <p:cBhvr>
                                        <p:cTn id="127" dur="1" fill="hold">
                                          <p:stCondLst>
                                            <p:cond delay="0"/>
                                          </p:stCondLst>
                                        </p:cTn>
                                        <p:tgtEl>
                                          <p:spTgt spid="26"/>
                                        </p:tgtEl>
                                        <p:attrNameLst>
                                          <p:attrName>style.visibility</p:attrName>
                                        </p:attrNameLst>
                                      </p:cBhvr>
                                      <p:to>
                                        <p:strVal val="visible"/>
                                      </p:to>
                                    </p:set>
                                    <p:animEffect transition="in" filter="fade">
                                      <p:cBhvr>
                                        <p:cTn id="128" dur="700"/>
                                        <p:tgtEl>
                                          <p:spTgt spid="26"/>
                                        </p:tgtEl>
                                      </p:cBhvr>
                                    </p:animEffect>
                                    <p:anim calcmode="lin" valueType="num">
                                      <p:cBhvr additive="base">
                                        <p:cTn id="129" dur="700" fill="hold"/>
                                        <p:tgtEl>
                                          <p:spTgt spid="26"/>
                                        </p:tgtEl>
                                        <p:attrNameLst>
                                          <p:attrName>ppt_x</p:attrName>
                                        </p:attrNameLst>
                                      </p:cBhvr>
                                      <p:tavLst>
                                        <p:tav tm="0">
                                          <p:val>
                                            <p:strVal val="#ppt_x"/>
                                          </p:val>
                                        </p:tav>
                                        <p:tav tm="100000">
                                          <p:val>
                                            <p:strVal val="#ppt_x"/>
                                          </p:val>
                                        </p:tav>
                                      </p:tavLst>
                                    </p:anim>
                                    <p:anim calcmode="lin" valueType="num">
                                      <p:cBhvr additive="base">
                                        <p:cTn id="130" dur="700" fill="hold"/>
                                        <p:tgtEl>
                                          <p:spTgt spid="26"/>
                                        </p:tgtEl>
                                        <p:attrNameLst>
                                          <p:attrName>ppt_y</p:attrName>
                                        </p:attrNameLst>
                                      </p:cBhvr>
                                      <p:tavLst>
                                        <p:tav tm="0">
                                          <p:val>
                                            <p:strVal val="#ppt_y+.1"/>
                                          </p:val>
                                        </p:tav>
                                        <p:tav tm="100000">
                                          <p:val>
                                            <p:strVal val="#ppt_y"/>
                                          </p:val>
                                        </p:tav>
                                      </p:tavLst>
                                    </p:anim>
                                  </p:childTnLst>
                                </p:cTn>
                              </p:par>
                              <p:par>
                                <p:cTn id="134" presetID="10" presetClass="entr" presetSubtype="0" fill="hold" grpId="0" nodeType="withEffect">
                                  <p:stCondLst>
                                    <p:cond delay="0"/>
                                  </p:stCondLst>
                                  <p:childTnLst>
                                    <p:set>
                                      <p:cBhvr>
                                        <p:cTn id="132" dur="1" fill="hold">
                                          <p:stCondLst>
                                            <p:cond delay="0"/>
                                          </p:stCondLst>
                                        </p:cTn>
                                        <p:tgtEl>
                                          <p:spTgt spid="27"/>
                                        </p:tgtEl>
                                        <p:attrNameLst>
                                          <p:attrName>style.visibility</p:attrName>
                                        </p:attrNameLst>
                                      </p:cBhvr>
                                      <p:to>
                                        <p:strVal val="visible"/>
                                      </p:to>
                                    </p:set>
                                    <p:animEffect transition="in" filter="fade">
                                      <p:cBhvr>
                                        <p:cTn id="133" dur="600"/>
                                        <p:tgtEl>
                                          <p:spTgt spid="27"/>
                                        </p:tgtEl>
                                      </p:cBhvr>
                                    </p:animEffect>
                                  </p:childTnLst>
                                </p:cTn>
                              </p:par>
                            </p:childTnLst>
                          </p:cTn>
                        </p:par>
                      </p:childTnLst>
                    </p:cTn>
                  </p:par>
                  <p:par>
                    <p:cTn id="143" fill="hold">
                      <p:stCondLst>
                        <p:cond delay="indefinite"/>
                      </p:stCondLst>
                      <p:childTnLst>
                        <p:par>
                          <p:cTn id="142" fill="hold">
                            <p:stCondLst>
                              <p:cond delay="0"/>
                            </p:stCondLst>
                            <p:childTnLst>
                              <p:par>
                                <p:cTn id="141" presetID="42" presetClass="entr" presetSubtype="0" fill="hold" grpId="0" nodeType="clickEffect">
                                  <p:stCondLst>
                                    <p:cond delay="0"/>
                                  </p:stCondLst>
                                  <p:childTnLst>
                                    <p:set>
                                      <p:cBhvr>
                                        <p:cTn id="137" dur="1" fill="hold">
                                          <p:stCondLst>
                                            <p:cond delay="0"/>
                                          </p:stCondLst>
                                        </p:cTn>
                                        <p:tgtEl>
                                          <p:spTgt spid="28"/>
                                        </p:tgtEl>
                                        <p:attrNameLst>
                                          <p:attrName>style.visibility</p:attrName>
                                        </p:attrNameLst>
                                      </p:cBhvr>
                                      <p:to>
                                        <p:strVal val="visible"/>
                                      </p:to>
                                    </p:set>
                                    <p:animEffect transition="in" filter="fade">
                                      <p:cBhvr>
                                        <p:cTn id="138" dur="700"/>
                                        <p:tgtEl>
                                          <p:spTgt spid="28"/>
                                        </p:tgtEl>
                                      </p:cBhvr>
                                    </p:animEffect>
                                    <p:anim calcmode="lin" valueType="num">
                                      <p:cBhvr additive="base">
                                        <p:cTn id="139" dur="700" fill="hold"/>
                                        <p:tgtEl>
                                          <p:spTgt spid="28"/>
                                        </p:tgtEl>
                                        <p:attrNameLst>
                                          <p:attrName>ppt_x</p:attrName>
                                        </p:attrNameLst>
                                      </p:cBhvr>
                                      <p:tavLst>
                                        <p:tav tm="0">
                                          <p:val>
                                            <p:strVal val="#ppt_x"/>
                                          </p:val>
                                        </p:tav>
                                        <p:tav tm="100000">
                                          <p:val>
                                            <p:strVal val="#ppt_x"/>
                                          </p:val>
                                        </p:tav>
                                      </p:tavLst>
                                    </p:anim>
                                    <p:anim calcmode="lin" valueType="num">
                                      <p:cBhvr additive="base">
                                        <p:cTn id="140" dur="7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أنت الكيميائي: السؤال الأول</a:t>
            </a:r>
            <a:endParaRPr lang="en-US" sz="2800" dirty="0"/>
          </a:p>
        </p:txBody>
      </p:sp>
      <p:sp>
        <p:nvSpPr>
          <p:cNvPr id="3" name="float:a:2"/>
          <p:cNvSpPr/>
          <p:nvPr/>
        </p:nvSpPr>
        <p:spPr>
          <a:xfrm>
            <a:off x="411480" y="1325880"/>
            <a:ext cx="11384280" cy="685800"/>
          </a:xfrm>
          <a:prstGeom prst="roundRect">
            <a:avLst>
              <a:gd name="adj" fmla="val 1866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اكتب المصطلح العلمي الذي تدل عليه كل عبارة من العبارات الآتية:</a:t>
            </a:r>
            <a:endParaRPr lang="ar-SA" sz="1700" dirty="0"/>
          </a:p>
        </p:txBody>
      </p:sp>
      <p:sp>
        <p:nvSpPr>
          <p:cNvPr id="4" name="zoom:a:3"/>
          <p:cNvSpPr/>
          <p:nvPr/>
        </p:nvSpPr>
        <p:spPr>
          <a:xfrm>
            <a:off x="11247120" y="2578608"/>
            <a:ext cx="548640" cy="548640"/>
          </a:xfrm>
          <a:prstGeom prst="ellipse">
            <a:avLst/>
          </a:prstGeom>
          <a:solidFill>
            <a:srgbClr val="EA580C"/>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5" name="float:w:4"/>
          <p:cNvSpPr/>
          <p:nvPr/>
        </p:nvSpPr>
        <p:spPr>
          <a:xfrm>
            <a:off x="4023360" y="2286000"/>
            <a:ext cx="7086600" cy="1143000"/>
          </a:xfrm>
          <a:prstGeom prst="roundRect">
            <a:avLst>
              <a:gd name="adj" fmla="val 112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نصف المسافة بين نواتي ذرتين متماثلتين بينهما رابطة كيميائية.</a:t>
            </a:r>
            <a:endParaRPr lang="ar-SA" sz="1700" dirty="0"/>
          </a:p>
        </p:txBody>
      </p:sp>
      <p:sp>
        <p:nvSpPr>
          <p:cNvPr id="6" name="fade:w:5"/>
          <p:cNvSpPr/>
          <p:nvPr/>
        </p:nvSpPr>
        <p:spPr>
          <a:xfrm>
            <a:off x="411480" y="2468880"/>
            <a:ext cx="3429000" cy="777240"/>
          </a:xfrm>
          <a:prstGeom prst="roundRect">
            <a:avLst>
              <a:gd name="adj" fmla="val 49412"/>
            </a:avLst>
          </a:prstGeom>
          <a:solidFill>
            <a:srgbClr val="FFFFFF">
              <a:alpha val="70000"/>
            </a:srgbClr>
          </a:solidFill>
          <a:ln w="15875">
            <a:solidFill>
              <a:srgbClr val="EA580C"/>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a:t>
            </a:r>
            <a:endParaRPr lang="ar-SA" sz="1700" dirty="0"/>
          </a:p>
        </p:txBody>
      </p:sp>
      <p:sp>
        <p:nvSpPr>
          <p:cNvPr id="7" name="float:c:6"/>
          <p:cNvSpPr/>
          <p:nvPr/>
        </p:nvSpPr>
        <p:spPr>
          <a:xfrm>
            <a:off x="411480" y="2468880"/>
            <a:ext cx="3429000" cy="77724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نصف القطر الذري اللافلزي</a:t>
            </a:r>
            <a:endParaRPr lang="ar-SA" sz="1800" dirty="0"/>
          </a:p>
        </p:txBody>
      </p:sp>
      <p:sp>
        <p:nvSpPr>
          <p:cNvPr id="8" name="zoom:a:7"/>
          <p:cNvSpPr/>
          <p:nvPr/>
        </p:nvSpPr>
        <p:spPr>
          <a:xfrm>
            <a:off x="11247120" y="3950208"/>
            <a:ext cx="548640" cy="548640"/>
          </a:xfrm>
          <a:prstGeom prst="ellipse">
            <a:avLst/>
          </a:prstGeom>
          <a:solidFill>
            <a:srgbClr val="7C3AED"/>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9" name="float:w:8"/>
          <p:cNvSpPr/>
          <p:nvPr/>
        </p:nvSpPr>
        <p:spPr>
          <a:xfrm>
            <a:off x="4023360" y="3657600"/>
            <a:ext cx="7086600" cy="1143000"/>
          </a:xfrm>
          <a:prstGeom prst="roundRect">
            <a:avLst>
              <a:gd name="adj" fmla="val 112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مقدار الطاقة اللازمة لنزع أضعف إلكترون ارتباطًا بالنواة من ذرة متعادلة في الحالة الغازية.</a:t>
            </a:r>
            <a:endParaRPr lang="ar-SA" sz="1700" dirty="0"/>
          </a:p>
        </p:txBody>
      </p:sp>
      <p:sp>
        <p:nvSpPr>
          <p:cNvPr id="10" name="fade:w:9"/>
          <p:cNvSpPr/>
          <p:nvPr/>
        </p:nvSpPr>
        <p:spPr>
          <a:xfrm>
            <a:off x="411480" y="3840480"/>
            <a:ext cx="3429000" cy="777240"/>
          </a:xfrm>
          <a:prstGeom prst="roundRect">
            <a:avLst>
              <a:gd name="adj" fmla="val 49412"/>
            </a:avLst>
          </a:prstGeom>
          <a:solidFill>
            <a:srgbClr val="FFFFFF">
              <a:alpha val="70000"/>
            </a:srgbClr>
          </a:solidFill>
          <a:ln w="15875">
            <a:solidFill>
              <a:srgbClr val="7C3AED"/>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a:t>
            </a:r>
            <a:endParaRPr lang="ar-SA" sz="1700" dirty="0"/>
          </a:p>
        </p:txBody>
      </p:sp>
      <p:sp>
        <p:nvSpPr>
          <p:cNvPr id="11" name="float:c:10"/>
          <p:cNvSpPr/>
          <p:nvPr/>
        </p:nvSpPr>
        <p:spPr>
          <a:xfrm>
            <a:off x="411480" y="3840480"/>
            <a:ext cx="3429000" cy="77724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طاقة التأين الأولى</a:t>
            </a:r>
            <a:endParaRPr lang="ar-SA" sz="1800" dirty="0"/>
          </a:p>
        </p:txBody>
      </p:sp>
      <p:sp>
        <p:nvSpPr>
          <p:cNvPr id="12" name="zoom:a:11"/>
          <p:cNvSpPr/>
          <p:nvPr/>
        </p:nvSpPr>
        <p:spPr>
          <a:xfrm>
            <a:off x="11247120" y="5321808"/>
            <a:ext cx="548640" cy="548640"/>
          </a:xfrm>
          <a:prstGeom prst="ellipse">
            <a:avLst/>
          </a:prstGeom>
          <a:solidFill>
            <a:srgbClr val="DB2777"/>
          </a:solidFill>
          <a:ln/>
        </p:spPr>
        <p:txBody>
          <a:bodyPr wrap="square" lIns="0" tIns="0" rIns="0" bIns="0" rtlCol="0" anchor="ctr"/>
          <a:lstStyle/>
          <a:p>
            <a:pPr algn="ctr" indent="0" marL="0">
              <a:lnSpc>
                <a:spcPct val="105000"/>
              </a:lnSpc>
              <a:buNone/>
            </a:pPr>
            <a:r>
              <a:rPr lang="en-US" alt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3" name="float:w:12"/>
          <p:cNvSpPr/>
          <p:nvPr/>
        </p:nvSpPr>
        <p:spPr>
          <a:xfrm>
            <a:off x="4023360" y="5029200"/>
            <a:ext cx="7086600" cy="1143000"/>
          </a:xfrm>
          <a:prstGeom prst="roundRect">
            <a:avLst>
              <a:gd name="adj" fmla="val 112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dirty="0">
                <a:solidFill>
                  <a:srgbClr val="0B2545"/>
                </a:solidFill>
                <a:latin typeface="Segoe UI" pitchFamily="34" charset="0"/>
                <a:ea typeface="Segoe UI" pitchFamily="34" charset="-122"/>
                <a:cs typeface="Segoe UI" pitchFamily="34" charset="-120"/>
              </a:rPr>
              <a:t>مقياس قدرة الذرة على جذب الإلكترونات نحوها من ذرة أخرى مرتبطة معها برابطة كيميائية.</a:t>
            </a:r>
            <a:endParaRPr lang="ar-SA" sz="1700" dirty="0"/>
          </a:p>
        </p:txBody>
      </p:sp>
      <p:sp>
        <p:nvSpPr>
          <p:cNvPr id="14" name="fade:w:13"/>
          <p:cNvSpPr/>
          <p:nvPr/>
        </p:nvSpPr>
        <p:spPr>
          <a:xfrm>
            <a:off x="411480" y="5212080"/>
            <a:ext cx="3429000" cy="777240"/>
          </a:xfrm>
          <a:prstGeom prst="roundRect">
            <a:avLst>
              <a:gd name="adj" fmla="val 49412"/>
            </a:avLst>
          </a:prstGeom>
          <a:solidFill>
            <a:srgbClr val="FFFFFF">
              <a:alpha val="70000"/>
            </a:srgbClr>
          </a:solidFill>
          <a:ln w="15875">
            <a:solidFill>
              <a:srgbClr val="DB2777"/>
            </a:solidFill>
            <a:prstDash val="dash"/>
          </a:ln>
        </p:spPr>
        <p:txBody>
          <a:bodyPr wrap="square" lIns="76200" tIns="152400" rIns="152400" bIns="76200" rtlCol="0" anchor="ctr"/>
          <a:lstStyle/>
          <a:p>
            <a:pPr rtl="1" algn="ctr" indent="0" marL="0">
              <a:lnSpc>
                <a:spcPct val="105000"/>
              </a:lnSpc>
              <a:buNone/>
            </a:pPr>
            <a:r>
              <a:rPr lang="ar-SA" altLang="en-US" sz="1700" dirty="0">
                <a:solidFill>
                  <a:srgbClr val="8AA4B8"/>
                </a:solidFill>
                <a:latin typeface="Segoe UI" pitchFamily="34" charset="0"/>
                <a:ea typeface="Segoe UI" pitchFamily="34" charset="-122"/>
                <a:cs typeface="Segoe UI" pitchFamily="34" charset="-120"/>
              </a:rPr>
              <a:t>. . . . . . . . . .</a:t>
            </a:r>
            <a:endParaRPr lang="ar-SA" sz="1700" dirty="0"/>
          </a:p>
        </p:txBody>
      </p:sp>
      <p:sp>
        <p:nvSpPr>
          <p:cNvPr id="15" name="float:c:14"/>
          <p:cNvSpPr/>
          <p:nvPr/>
        </p:nvSpPr>
        <p:spPr>
          <a:xfrm>
            <a:off x="411480" y="5212080"/>
            <a:ext cx="3429000" cy="77724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800" b="1" dirty="0">
                <a:solidFill>
                  <a:srgbClr val="FFFFFF"/>
                </a:solidFill>
                <a:latin typeface="Segoe UI" pitchFamily="34" charset="0"/>
                <a:ea typeface="Segoe UI" pitchFamily="34" charset="-122"/>
                <a:cs typeface="Segoe UI" pitchFamily="34" charset="-120"/>
              </a:rPr>
              <a:t>السالبية الكهربائية</a:t>
            </a:r>
            <a:endParaRPr lang="ar-SA" sz="18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3"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par>
                                <p:cTn id="18" presetID="42"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1"/>
                                          </p:val>
                                        </p:tav>
                                        <p:tav tm="100000">
                                          <p:val>
                                            <p:strVal val="#ppt_y"/>
                                          </p:val>
                                        </p:tav>
                                      </p:tavLst>
                                    </p:anim>
                                  </p:childTnLst>
                                </p:cTn>
                              </p:par>
                              <p:par>
                                <p:cTn id="21"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600"/>
                                        <p:tgtEl>
                                          <p:spTgt spid="6"/>
                                        </p:tgtEl>
                                      </p:cBhvr>
                                    </p:animEffect>
                                  </p:childTnLst>
                                </p:cTn>
                              </p:par>
                            </p:childTnLst>
                          </p:cTn>
                        </p:par>
                      </p:childTnLst>
                    </p:cTn>
                  </p:par>
                  <p:par>
                    <p:cTn id="44" fill="hold">
                      <p:stCondLst>
                        <p:cond delay="indefinite"/>
                      </p:stCondLst>
                      <p:childTnLst>
                        <p:par>
                          <p:cTn id="29" fill="hold">
                            <p:stCondLst>
                              <p:cond delay="0"/>
                            </p:stCondLst>
                            <p:childTnLst>
                              <p:par>
                                <p:cTn id="28" presetID="42"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00"/>
                                        <p:tgtEl>
                                          <p:spTgt spid="7"/>
                                        </p:tgtEl>
                                      </p:cBhvr>
                                    </p:animEffect>
                                    <p:anim calcmode="lin" valueType="num">
                                      <p:cBhvr additive="base">
                                        <p:cTn id="26" dur="700" fill="hold"/>
                                        <p:tgtEl>
                                          <p:spTgt spid="7"/>
                                        </p:tgtEl>
                                        <p:attrNameLst>
                                          <p:attrName>ppt_x</p:attrName>
                                        </p:attrNameLst>
                                      </p:cBhvr>
                                      <p:tavLst>
                                        <p:tav tm="0">
                                          <p:val>
                                            <p:strVal val="#ppt_x"/>
                                          </p:val>
                                        </p:tav>
                                        <p:tav tm="100000">
                                          <p:val>
                                            <p:strVal val="#ppt_x"/>
                                          </p:val>
                                        </p:tav>
                                      </p:tavLst>
                                    </p:anim>
                                    <p:anim calcmode="lin" valueType="num">
                                      <p:cBhvr additive="base">
                                        <p:cTn id="27" dur="700" fill="hold"/>
                                        <p:tgtEl>
                                          <p:spTgt spid="7"/>
                                        </p:tgtEl>
                                        <p:attrNameLst>
                                          <p:attrName>ppt_y</p:attrName>
                                        </p:attrNameLst>
                                      </p:cBhvr>
                                      <p:tavLst>
                                        <p:tav tm="0">
                                          <p:val>
                                            <p:strVal val="#ppt_y+.1"/>
                                          </p:val>
                                        </p:tav>
                                        <p:tav tm="100000">
                                          <p:val>
                                            <p:strVal val="#ppt_y"/>
                                          </p:val>
                                        </p:tav>
                                      </p:tavLst>
                                    </p:anim>
                                  </p:childTnLst>
                                </p:cTn>
                              </p:par>
                            </p:childTnLst>
                          </p:cTn>
                        </p:par>
                        <p:par>
                          <p:cTn id="43" fill="hold">
                            <p:stCondLst>
                              <p:cond delay="385"/>
                            </p:stCondLst>
                            <p:childTnLst>
                              <p:par>
                                <p:cTn id="34"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ppt_w</p:attrName>
                                        </p:attrNameLst>
                                      </p:cBhvr>
                                      <p:tavLst>
                                        <p:tav tm="0">
                                          <p:val>
                                            <p:strVal val="0"/>
                                          </p:val>
                                        </p:tav>
                                        <p:tav tm="100000">
                                          <p:val>
                                            <p:strVal val="#ppt_w"/>
                                          </p:val>
                                        </p:tav>
                                      </p:tavLst>
                                    </p:anim>
                                    <p:anim calcmode="lin" valueType="num">
                                      <p:cBhvr additive="base">
                                        <p:cTn id="32" dur="500" fill="hold"/>
                                        <p:tgtEl>
                                          <p:spTgt spid="8"/>
                                        </p:tgtEl>
                                        <p:attrNameLst>
                                          <p:attrName>ppt_h</p:attrName>
                                        </p:attrNameLst>
                                      </p:cBhvr>
                                      <p:tavLst>
                                        <p:tav tm="0">
                                          <p:val>
                                            <p:strVal val="0"/>
                                          </p:val>
                                        </p:tav>
                                        <p:tav tm="100000">
                                          <p:val>
                                            <p:strVal val="#ppt_h"/>
                                          </p:val>
                                        </p:tav>
                                      </p:tavLst>
                                    </p:anim>
                                    <p:animEffect transition="in" filter="fade">
                                      <p:cBhvr>
                                        <p:cTn id="33" dur="500"/>
                                        <p:tgtEl>
                                          <p:spTgt spid="8"/>
                                        </p:tgtEl>
                                      </p:cBhvr>
                                    </p:animEffect>
                                  </p:childTnLst>
                                </p:cTn>
                              </p:par>
                              <p:par>
                                <p:cTn id="39"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700"/>
                                        <p:tgtEl>
                                          <p:spTgt spid="9"/>
                                        </p:tgtEl>
                                      </p:cBhvr>
                                    </p:animEffect>
                                    <p:anim calcmode="lin" valueType="num">
                                      <p:cBhvr additive="base">
                                        <p:cTn id="37" dur="700" fill="hold"/>
                                        <p:tgtEl>
                                          <p:spTgt spid="9"/>
                                        </p:tgtEl>
                                        <p:attrNameLst>
                                          <p:attrName>ppt_x</p:attrName>
                                        </p:attrNameLst>
                                      </p:cBhvr>
                                      <p:tavLst>
                                        <p:tav tm="0">
                                          <p:val>
                                            <p:strVal val="#ppt_x"/>
                                          </p:val>
                                        </p:tav>
                                        <p:tav tm="100000">
                                          <p:val>
                                            <p:strVal val="#ppt_x"/>
                                          </p:val>
                                        </p:tav>
                                      </p:tavLst>
                                    </p:anim>
                                    <p:anim calcmode="lin" valueType="num">
                                      <p:cBhvr additive="base">
                                        <p:cTn id="38" dur="700" fill="hold"/>
                                        <p:tgtEl>
                                          <p:spTgt spid="9"/>
                                        </p:tgtEl>
                                        <p:attrNameLst>
                                          <p:attrName>ppt_y</p:attrName>
                                        </p:attrNameLst>
                                      </p:cBhvr>
                                      <p:tavLst>
                                        <p:tav tm="0">
                                          <p:val>
                                            <p:strVal val="#ppt_y+.1"/>
                                          </p:val>
                                        </p:tav>
                                        <p:tav tm="100000">
                                          <p:val>
                                            <p:strVal val="#ppt_y"/>
                                          </p:val>
                                        </p:tav>
                                      </p:tavLst>
                                    </p:anim>
                                  </p:childTnLst>
                                </p:cTn>
                              </p:par>
                              <p:par>
                                <p:cTn id="42" presetID="10"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childTnLst>
                                </p:cTn>
                              </p:par>
                            </p:childTnLst>
                          </p:cTn>
                        </p:par>
                      </p:childTnLst>
                    </p:cTn>
                  </p:par>
                  <p:par>
                    <p:cTn id="65" fill="hold">
                      <p:stCondLst>
                        <p:cond delay="indefinite"/>
                      </p:stCondLst>
                      <p:childTnLst>
                        <p:par>
                          <p:cTn id="50" fill="hold">
                            <p:stCondLst>
                              <p:cond delay="0"/>
                            </p:stCondLst>
                            <p:childTnLst>
                              <p:par>
                                <p:cTn id="49"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700"/>
                                        <p:tgtEl>
                                          <p:spTgt spid="11"/>
                                        </p:tgtEl>
                                      </p:cBhvr>
                                    </p:animEffect>
                                    <p:anim calcmode="lin" valueType="num">
                                      <p:cBhvr additive="base">
                                        <p:cTn id="47" dur="700" fill="hold"/>
                                        <p:tgtEl>
                                          <p:spTgt spid="11"/>
                                        </p:tgtEl>
                                        <p:attrNameLst>
                                          <p:attrName>ppt_x</p:attrName>
                                        </p:attrNameLst>
                                      </p:cBhvr>
                                      <p:tavLst>
                                        <p:tav tm="0">
                                          <p:val>
                                            <p:strVal val="#ppt_x"/>
                                          </p:val>
                                        </p:tav>
                                        <p:tav tm="100000">
                                          <p:val>
                                            <p:strVal val="#ppt_x"/>
                                          </p:val>
                                        </p:tav>
                                      </p:tavLst>
                                    </p:anim>
                                    <p:anim calcmode="lin" valueType="num">
                                      <p:cBhvr additive="base">
                                        <p:cTn id="48" dur="700" fill="hold"/>
                                        <p:tgtEl>
                                          <p:spTgt spid="11"/>
                                        </p:tgtEl>
                                        <p:attrNameLst>
                                          <p:attrName>ppt_y</p:attrName>
                                        </p:attrNameLst>
                                      </p:cBhvr>
                                      <p:tavLst>
                                        <p:tav tm="0">
                                          <p:val>
                                            <p:strVal val="#ppt_y+.1"/>
                                          </p:val>
                                        </p:tav>
                                        <p:tav tm="100000">
                                          <p:val>
                                            <p:strVal val="#ppt_y"/>
                                          </p:val>
                                        </p:tav>
                                      </p:tavLst>
                                    </p:anim>
                                  </p:childTnLst>
                                </p:cTn>
                              </p:par>
                            </p:childTnLst>
                          </p:cTn>
                        </p:par>
                        <p:par>
                          <p:cTn id="64" fill="hold">
                            <p:stCondLst>
                              <p:cond delay="385"/>
                            </p:stCondLst>
                            <p:childTnLst>
                              <p:par>
                                <p:cTn id="55" presetID="53" presetClass="entr" presetSubtype="16"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00" fill="hold"/>
                                        <p:tgtEl>
                                          <p:spTgt spid="12"/>
                                        </p:tgtEl>
                                        <p:attrNameLst>
                                          <p:attrName>ppt_w</p:attrName>
                                        </p:attrNameLst>
                                      </p:cBhvr>
                                      <p:tavLst>
                                        <p:tav tm="0">
                                          <p:val>
                                            <p:strVal val="0"/>
                                          </p:val>
                                        </p:tav>
                                        <p:tav tm="100000">
                                          <p:val>
                                            <p:strVal val="#ppt_w"/>
                                          </p:val>
                                        </p:tav>
                                      </p:tavLst>
                                    </p:anim>
                                    <p:anim calcmode="lin" valueType="num">
                                      <p:cBhvr additive="base">
                                        <p:cTn id="53" dur="500" fill="hold"/>
                                        <p:tgtEl>
                                          <p:spTgt spid="12"/>
                                        </p:tgtEl>
                                        <p:attrNameLst>
                                          <p:attrName>ppt_h</p:attrName>
                                        </p:attrNameLst>
                                      </p:cBhvr>
                                      <p:tavLst>
                                        <p:tav tm="0">
                                          <p:val>
                                            <p:strVal val="0"/>
                                          </p:val>
                                        </p:tav>
                                        <p:tav tm="100000">
                                          <p:val>
                                            <p:strVal val="#ppt_h"/>
                                          </p:val>
                                        </p:tav>
                                      </p:tavLst>
                                    </p:anim>
                                    <p:animEffect transition="in" filter="fade">
                                      <p:cBhvr>
                                        <p:cTn id="54" dur="500"/>
                                        <p:tgtEl>
                                          <p:spTgt spid="12"/>
                                        </p:tgtEl>
                                      </p:cBhvr>
                                    </p:animEffect>
                                  </p:childTnLst>
                                </p:cTn>
                              </p:par>
                              <p:par>
                                <p:cTn id="60" presetID="42"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anim calcmode="lin" valueType="num">
                                      <p:cBhvr additive="base">
                                        <p:cTn id="58" dur="700" fill="hold"/>
                                        <p:tgtEl>
                                          <p:spTgt spid="13"/>
                                        </p:tgtEl>
                                        <p:attrNameLst>
                                          <p:attrName>ppt_x</p:attrName>
                                        </p:attrNameLst>
                                      </p:cBhvr>
                                      <p:tavLst>
                                        <p:tav tm="0">
                                          <p:val>
                                            <p:strVal val="#ppt_x"/>
                                          </p:val>
                                        </p:tav>
                                        <p:tav tm="100000">
                                          <p:val>
                                            <p:strVal val="#ppt_x"/>
                                          </p:val>
                                        </p:tav>
                                      </p:tavLst>
                                    </p:anim>
                                    <p:anim calcmode="lin" valueType="num">
                                      <p:cBhvr additive="base">
                                        <p:cTn id="59" dur="700" fill="hold"/>
                                        <p:tgtEl>
                                          <p:spTgt spid="13"/>
                                        </p:tgtEl>
                                        <p:attrNameLst>
                                          <p:attrName>ppt_y</p:attrName>
                                        </p:attrNameLst>
                                      </p:cBhvr>
                                      <p:tavLst>
                                        <p:tav tm="0">
                                          <p:val>
                                            <p:strVal val="#ppt_y+.1"/>
                                          </p:val>
                                        </p:tav>
                                        <p:tav tm="100000">
                                          <p:val>
                                            <p:strVal val="#ppt_y"/>
                                          </p:val>
                                        </p:tav>
                                      </p:tavLst>
                                    </p:anim>
                                  </p:childTnLst>
                                </p:cTn>
                              </p:par>
                              <p:par>
                                <p:cTn id="63" presetID="10"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600"/>
                                        <p:tgtEl>
                                          <p:spTgt spid="14"/>
                                        </p:tgtEl>
                                      </p:cBhvr>
                                    </p:animEffect>
                                  </p:childTnLst>
                                </p:cTn>
                              </p:par>
                            </p:childTnLst>
                          </p:cTn>
                        </p:par>
                      </p:childTnLst>
                    </p:cTn>
                  </p:par>
                  <p:par>
                    <p:cTn id="72" fill="hold">
                      <p:stCondLst>
                        <p:cond delay="indefinite"/>
                      </p:stCondLst>
                      <p:childTnLst>
                        <p:par>
                          <p:cTn id="71" fill="hold">
                            <p:stCondLst>
                              <p:cond delay="0"/>
                            </p:stCondLst>
                            <p:childTnLst>
                              <p:par>
                                <p:cTn id="70" presetID="42"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700"/>
                                        <p:tgtEl>
                                          <p:spTgt spid="15"/>
                                        </p:tgtEl>
                                      </p:cBhvr>
                                    </p:animEffect>
                                    <p:anim calcmode="lin" valueType="num">
                                      <p:cBhvr additive="base">
                                        <p:cTn id="68" dur="700" fill="hold"/>
                                        <p:tgtEl>
                                          <p:spTgt spid="15"/>
                                        </p:tgtEl>
                                        <p:attrNameLst>
                                          <p:attrName>ppt_x</p:attrName>
                                        </p:attrNameLst>
                                      </p:cBhvr>
                                      <p:tavLst>
                                        <p:tav tm="0">
                                          <p:val>
                                            <p:strVal val="#ppt_x"/>
                                          </p:val>
                                        </p:tav>
                                        <p:tav tm="100000">
                                          <p:val>
                                            <p:strVal val="#ppt_x"/>
                                          </p:val>
                                        </p:tav>
                                      </p:tavLst>
                                    </p:anim>
                                    <p:anim calcmode="lin" valueType="num">
                                      <p:cBhvr additive="base">
                                        <p:cTn id="69" dur="7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أنت الكيميائي: السؤال الثاني</a:t>
            </a:r>
            <a:endParaRPr lang="en-US" sz="2800" dirty="0"/>
          </a:p>
        </p:txBody>
      </p:sp>
      <p:sp>
        <p:nvSpPr>
          <p:cNvPr id="3" name="float:a:2"/>
          <p:cNvSpPr/>
          <p:nvPr/>
        </p:nvSpPr>
        <p:spPr>
          <a:xfrm>
            <a:off x="411480" y="1325880"/>
            <a:ext cx="11384280" cy="685800"/>
          </a:xfrm>
          <a:prstGeom prst="roundRect">
            <a:avLst>
              <a:gd name="adj" fmla="val 18667"/>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0B2545"/>
                </a:solidFill>
                <a:latin typeface="Segoe UI" pitchFamily="34" charset="0"/>
                <a:ea typeface="Segoe UI" pitchFamily="34" charset="-122"/>
                <a:cs typeface="Segoe UI" pitchFamily="34" charset="-120"/>
              </a:rPr>
              <a:t>اختر من القائمة (ب) ما يناسب القائمة (أ) بوضع الرقم المناسب أمامها بين القوسين:</a:t>
            </a:r>
            <a:endParaRPr lang="ar-SA" sz="1700" dirty="0"/>
          </a:p>
        </p:txBody>
      </p:sp>
      <p:sp>
        <p:nvSpPr>
          <p:cNvPr id="4" name="float:a:3"/>
          <p:cNvSpPr/>
          <p:nvPr/>
        </p:nvSpPr>
        <p:spPr>
          <a:xfrm>
            <a:off x="8595360" y="2194560"/>
            <a:ext cx="3200400" cy="502920"/>
          </a:xfrm>
          <a:prstGeom prst="roundRect">
            <a:avLst>
              <a:gd name="adj" fmla="val 50000"/>
            </a:avLst>
          </a:prstGeom>
          <a:solidFill>
            <a:srgbClr val="0B2545"/>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القائمة (أ)</a:t>
            </a:r>
            <a:endParaRPr lang="ar-SA" sz="1700" dirty="0"/>
          </a:p>
        </p:txBody>
      </p:sp>
      <p:sp>
        <p:nvSpPr>
          <p:cNvPr id="5" name="float:w:4"/>
          <p:cNvSpPr/>
          <p:nvPr/>
        </p:nvSpPr>
        <p:spPr>
          <a:xfrm>
            <a:off x="411480" y="2194560"/>
            <a:ext cx="4206240" cy="502920"/>
          </a:xfrm>
          <a:prstGeom prst="roundRect">
            <a:avLst>
              <a:gd name="adj" fmla="val 50000"/>
            </a:avLst>
          </a:prstGeom>
          <a:solidFill>
            <a:srgbClr val="0284C7"/>
          </a:solidFill>
          <a:ln/>
        </p:spPr>
        <p:txBody>
          <a:bodyPr wrap="square" lIns="76200" tIns="152400" rIns="152400" bIns="76200" rtlCol="0" anchor="ctr"/>
          <a:lstStyle/>
          <a:p>
            <a:pPr rtl="1" algn="ct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القائمة (ب)</a:t>
            </a:r>
            <a:endParaRPr lang="ar-SA" sz="1700" dirty="0"/>
          </a:p>
        </p:txBody>
      </p:sp>
      <p:sp>
        <p:nvSpPr>
          <p:cNvPr id="6" name="zoom:a:5"/>
          <p:cNvSpPr/>
          <p:nvPr/>
        </p:nvSpPr>
        <p:spPr>
          <a:xfrm>
            <a:off x="4114800" y="2898648"/>
            <a:ext cx="502920" cy="502920"/>
          </a:xfrm>
          <a:prstGeom prst="ellipse">
            <a:avLst/>
          </a:prstGeom>
          <a:solidFill>
            <a:srgbClr val="0284C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7" name="float:w:6"/>
          <p:cNvSpPr/>
          <p:nvPr/>
        </p:nvSpPr>
        <p:spPr>
          <a:xfrm>
            <a:off x="411480" y="2834640"/>
            <a:ext cx="3566160" cy="621792"/>
          </a:xfrm>
          <a:prstGeom prst="roundRect">
            <a:avLst>
              <a:gd name="adj" fmla="val 2058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الفلور</a:t>
            </a:r>
            <a:endParaRPr lang="ar-SA" sz="1600" dirty="0"/>
          </a:p>
        </p:txBody>
      </p:sp>
      <p:sp>
        <p:nvSpPr>
          <p:cNvPr id="8" name="zoom:a:7"/>
          <p:cNvSpPr/>
          <p:nvPr/>
        </p:nvSpPr>
        <p:spPr>
          <a:xfrm>
            <a:off x="4114800" y="3630168"/>
            <a:ext cx="502920" cy="502920"/>
          </a:xfrm>
          <a:prstGeom prst="ellipse">
            <a:avLst/>
          </a:prstGeom>
          <a:solidFill>
            <a:srgbClr val="0284C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9" name="float:w:8"/>
          <p:cNvSpPr/>
          <p:nvPr/>
        </p:nvSpPr>
        <p:spPr>
          <a:xfrm>
            <a:off x="411480" y="3566160"/>
            <a:ext cx="3566160" cy="621792"/>
          </a:xfrm>
          <a:prstGeom prst="roundRect">
            <a:avLst>
              <a:gd name="adj" fmla="val 2058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الغازات النبيلة</a:t>
            </a:r>
            <a:endParaRPr lang="ar-SA" sz="1600" dirty="0"/>
          </a:p>
        </p:txBody>
      </p:sp>
      <p:sp>
        <p:nvSpPr>
          <p:cNvPr id="10" name="zoom:a:9"/>
          <p:cNvSpPr/>
          <p:nvPr/>
        </p:nvSpPr>
        <p:spPr>
          <a:xfrm>
            <a:off x="4114800" y="4361688"/>
            <a:ext cx="502920" cy="502920"/>
          </a:xfrm>
          <a:prstGeom prst="ellipse">
            <a:avLst/>
          </a:prstGeom>
          <a:solidFill>
            <a:srgbClr val="0284C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1" name="float:w:10"/>
          <p:cNvSpPr/>
          <p:nvPr/>
        </p:nvSpPr>
        <p:spPr>
          <a:xfrm>
            <a:off x="411480" y="4297680"/>
            <a:ext cx="3566160" cy="621792"/>
          </a:xfrm>
          <a:prstGeom prst="roundRect">
            <a:avLst>
              <a:gd name="adj" fmla="val 2058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1600" dirty="0">
                <a:solidFill>
                  <a:srgbClr val="0B2545"/>
                </a:solidFill>
                <a:latin typeface="Segoe UI" pitchFamily="34" charset="0"/>
                <a:ea typeface="Segoe UI" pitchFamily="34" charset="-122"/>
                <a:cs typeface="Segoe UI" pitchFamily="34" charset="-120"/>
              </a:rPr>
              <a:t>X(g) + e</a:t>
            </a:r>
            <a:pPr algn="ctr" indent="0" marL="0">
              <a:lnSpc>
                <a:spcPct val="105000"/>
              </a:lnSpc>
              <a:buNone/>
            </a:pPr>
            <a:r>
              <a:rPr lang="en-US" altLang="en-US" sz="1600" baseline="30000" dirty="0">
                <a:solidFill>
                  <a:srgbClr val="0B2545"/>
                </a:solidFill>
                <a:latin typeface="Segoe UI" pitchFamily="34" charset="0"/>
                <a:ea typeface="Segoe UI" pitchFamily="34" charset="-122"/>
                <a:cs typeface="Segoe UI" pitchFamily="34" charset="-120"/>
              </a:rPr>
              <a:t>-</a:t>
            </a:r>
            <a:pPr algn="ctr" indent="0" marL="0">
              <a:lnSpc>
                <a:spcPct val="105000"/>
              </a:lnSpc>
              <a:buNone/>
            </a:pPr>
            <a:r>
              <a:rPr lang="en-US" altLang="en-US" sz="1600" dirty="0">
                <a:solidFill>
                  <a:srgbClr val="0B2545"/>
                </a:solidFill>
                <a:latin typeface="Segoe UI" pitchFamily="34" charset="0"/>
                <a:ea typeface="Segoe UI" pitchFamily="34" charset="-122"/>
                <a:cs typeface="Segoe UI" pitchFamily="34" charset="-120"/>
              </a:rPr>
              <a:t> → X</a:t>
            </a:r>
            <a:pPr algn="ctr" indent="0" marL="0">
              <a:lnSpc>
                <a:spcPct val="105000"/>
              </a:lnSpc>
              <a:buNone/>
            </a:pPr>
            <a:r>
              <a:rPr lang="en-US" altLang="en-US" sz="1600" baseline="30000" dirty="0">
                <a:solidFill>
                  <a:srgbClr val="0B2545"/>
                </a:solidFill>
                <a:latin typeface="Segoe UI" pitchFamily="34" charset="0"/>
                <a:ea typeface="Segoe UI" pitchFamily="34" charset="-122"/>
                <a:cs typeface="Segoe UI" pitchFamily="34" charset="-120"/>
              </a:rPr>
              <a:t>-</a:t>
            </a:r>
            <a:pPr algn="ctr" indent="0" marL="0">
              <a:lnSpc>
                <a:spcPct val="105000"/>
              </a:lnSpc>
              <a:buNone/>
            </a:pPr>
            <a:r>
              <a:rPr lang="en-US" altLang="en-US" sz="1600" dirty="0">
                <a:solidFill>
                  <a:srgbClr val="0B2545"/>
                </a:solidFill>
                <a:latin typeface="Segoe UI" pitchFamily="34" charset="0"/>
                <a:ea typeface="Segoe UI" pitchFamily="34" charset="-122"/>
                <a:cs typeface="Segoe UI" pitchFamily="34" charset="-120"/>
              </a:rPr>
              <a:t>(g) + طاقة</a:t>
            </a:r>
            <a:endParaRPr lang="en-US" sz="1600" dirty="0"/>
          </a:p>
        </p:txBody>
      </p:sp>
      <p:sp>
        <p:nvSpPr>
          <p:cNvPr id="12" name="zoom:a:11"/>
          <p:cNvSpPr/>
          <p:nvPr/>
        </p:nvSpPr>
        <p:spPr>
          <a:xfrm>
            <a:off x="4114800" y="5093208"/>
            <a:ext cx="502920" cy="502920"/>
          </a:xfrm>
          <a:prstGeom prst="ellipse">
            <a:avLst/>
          </a:prstGeom>
          <a:solidFill>
            <a:srgbClr val="0284C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3" name="float:w:12"/>
          <p:cNvSpPr/>
          <p:nvPr/>
        </p:nvSpPr>
        <p:spPr>
          <a:xfrm>
            <a:off x="411480" y="5029200"/>
            <a:ext cx="3566160" cy="621792"/>
          </a:xfrm>
          <a:prstGeom prst="roundRect">
            <a:avLst>
              <a:gd name="adj" fmla="val 2058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algn="ctr" indent="0" marL="0">
              <a:lnSpc>
                <a:spcPct val="105000"/>
              </a:lnSpc>
              <a:buNone/>
            </a:pPr>
            <a:r>
              <a:rPr lang="en-US" altLang="en-US" sz="1600" dirty="0">
                <a:solidFill>
                  <a:srgbClr val="0B2545"/>
                </a:solidFill>
                <a:latin typeface="Segoe UI" pitchFamily="34" charset="0"/>
                <a:ea typeface="Segoe UI" pitchFamily="34" charset="-122"/>
                <a:cs typeface="Segoe UI" pitchFamily="34" charset="-120"/>
              </a:rPr>
              <a:t>X(g) + طاقة → X</a:t>
            </a:r>
            <a:pPr algn="ctr" indent="0" marL="0">
              <a:lnSpc>
                <a:spcPct val="105000"/>
              </a:lnSpc>
              <a:buNone/>
            </a:pPr>
            <a:r>
              <a:rPr lang="en-US" altLang="en-US" sz="1600" baseline="30000" dirty="0">
                <a:solidFill>
                  <a:srgbClr val="0B2545"/>
                </a:solidFill>
                <a:latin typeface="Segoe UI" pitchFamily="34" charset="0"/>
                <a:ea typeface="Segoe UI" pitchFamily="34" charset="-122"/>
                <a:cs typeface="Segoe UI" pitchFamily="34" charset="-120"/>
              </a:rPr>
              <a:t>+</a:t>
            </a:r>
            <a:pPr algn="ctr" indent="0" marL="0">
              <a:lnSpc>
                <a:spcPct val="105000"/>
              </a:lnSpc>
              <a:buNone/>
            </a:pPr>
            <a:r>
              <a:rPr lang="en-US" altLang="en-US" sz="1600" dirty="0">
                <a:solidFill>
                  <a:srgbClr val="0B2545"/>
                </a:solidFill>
                <a:latin typeface="Segoe UI" pitchFamily="34" charset="0"/>
                <a:ea typeface="Segoe UI" pitchFamily="34" charset="-122"/>
                <a:cs typeface="Segoe UI" pitchFamily="34" charset="-120"/>
              </a:rPr>
              <a:t>(g) + e</a:t>
            </a:r>
            <a:pPr algn="ctr" indent="0" marL="0">
              <a:lnSpc>
                <a:spcPct val="105000"/>
              </a:lnSpc>
              <a:buNone/>
            </a:pPr>
            <a:r>
              <a:rPr lang="en-US" altLang="en-US" sz="1600" baseline="30000" dirty="0">
                <a:solidFill>
                  <a:srgbClr val="0B2545"/>
                </a:solidFill>
                <a:latin typeface="Segoe UI" pitchFamily="34" charset="0"/>
                <a:ea typeface="Segoe UI" pitchFamily="34" charset="-122"/>
                <a:cs typeface="Segoe UI" pitchFamily="34" charset="-120"/>
              </a:rPr>
              <a:t>-</a:t>
            </a:r>
            <a:endParaRPr lang="en-US" sz="1600" dirty="0"/>
          </a:p>
        </p:txBody>
      </p:sp>
      <p:sp>
        <p:nvSpPr>
          <p:cNvPr id="14" name="zoom:a:13"/>
          <p:cNvSpPr/>
          <p:nvPr/>
        </p:nvSpPr>
        <p:spPr>
          <a:xfrm>
            <a:off x="4114800" y="5824728"/>
            <a:ext cx="502920" cy="502920"/>
          </a:xfrm>
          <a:prstGeom prst="ellipse">
            <a:avLst/>
          </a:prstGeom>
          <a:solidFill>
            <a:srgbClr val="0284C7"/>
          </a:solidFill>
          <a:ln/>
        </p:spPr>
        <p:txBody>
          <a:bodyPr wrap="square" lIns="0" tIns="0" rIns="0" bIns="0" rtlCol="0" anchor="ctr"/>
          <a:lstStyle/>
          <a:p>
            <a:pPr algn="ctr" indent="0" marL="0">
              <a:lnSpc>
                <a:spcPct val="105000"/>
              </a:lnSpc>
              <a:buNone/>
            </a:pPr>
            <a:r>
              <a:rPr lang="en-US" alt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15" name="float:w:14"/>
          <p:cNvSpPr/>
          <p:nvPr/>
        </p:nvSpPr>
        <p:spPr>
          <a:xfrm>
            <a:off x="411480" y="5760720"/>
            <a:ext cx="3566160" cy="621792"/>
          </a:xfrm>
          <a:prstGeom prst="roundRect">
            <a:avLst>
              <a:gd name="adj" fmla="val 20588"/>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الليثيوم</a:t>
            </a:r>
            <a:endParaRPr lang="ar-SA" sz="1600" dirty="0"/>
          </a:p>
        </p:txBody>
      </p:sp>
      <p:sp>
        <p:nvSpPr>
          <p:cNvPr id="16" name="float:a:15"/>
          <p:cNvSpPr/>
          <p:nvPr/>
        </p:nvSpPr>
        <p:spPr>
          <a:xfrm>
            <a:off x="6309360" y="2834640"/>
            <a:ext cx="548640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العنصر الأقل سالبية كهربائية في الدورة الثانية.</a:t>
            </a:r>
            <a:endParaRPr lang="ar-SA" sz="1600" dirty="0"/>
          </a:p>
        </p:txBody>
      </p:sp>
      <p:sp>
        <p:nvSpPr>
          <p:cNvPr id="17" name="fade:w:16"/>
          <p:cNvSpPr txBox="1"/>
          <p:nvPr/>
        </p:nvSpPr>
        <p:spPr>
          <a:xfrm>
            <a:off x="5120640" y="2834640"/>
            <a:ext cx="1097280" cy="731520"/>
          </a:xfrm>
          <a:prstGeom prst="rect">
            <a:avLst/>
          </a:prstGeom>
          <a:noFill/>
          <a:ln/>
        </p:spPr>
        <p:txBody>
          <a:bodyPr wrap="square" lIns="0" tIns="0" rIns="0" bIns="0" rtlCol="0" anchor="ctr"/>
          <a:lstStyle/>
          <a:p>
            <a:pPr algn="ctr" indent="0" marL="0">
              <a:lnSpc>
                <a:spcPct val="105000"/>
              </a:lnSpc>
              <a:buNone/>
            </a:pPr>
            <a:r>
              <a:rPr lang="en-US" altLang="en-US" sz="2000" b="1" dirty="0">
                <a:solidFill>
                  <a:srgbClr val="0B2545"/>
                </a:solidFill>
                <a:latin typeface="Segoe UI" pitchFamily="34" charset="0"/>
                <a:ea typeface="Segoe UI" pitchFamily="34" charset="-122"/>
                <a:cs typeface="Segoe UI" pitchFamily="34" charset="-120"/>
              </a:rPr>
              <a:t>(     )</a:t>
            </a:r>
            <a:endParaRPr lang="en-US" sz="2000" dirty="0"/>
          </a:p>
        </p:txBody>
      </p:sp>
      <p:sp>
        <p:nvSpPr>
          <p:cNvPr id="18" name="float:c:17"/>
          <p:cNvSpPr/>
          <p:nvPr/>
        </p:nvSpPr>
        <p:spPr>
          <a:xfrm>
            <a:off x="5349240" y="2926080"/>
            <a:ext cx="640080" cy="548640"/>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5</a:t>
            </a:r>
            <a:endParaRPr lang="en-US" sz="1700" dirty="0"/>
          </a:p>
        </p:txBody>
      </p:sp>
      <p:sp>
        <p:nvSpPr>
          <p:cNvPr id="19" name="float:a:18"/>
          <p:cNvSpPr/>
          <p:nvPr/>
        </p:nvSpPr>
        <p:spPr>
          <a:xfrm>
            <a:off x="6309360" y="3749040"/>
            <a:ext cx="548640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المعادلة التي تمثل طاقة تأين أولى.</a:t>
            </a:r>
            <a:endParaRPr lang="ar-SA" sz="1600" dirty="0"/>
          </a:p>
        </p:txBody>
      </p:sp>
      <p:sp>
        <p:nvSpPr>
          <p:cNvPr id="20" name="fade:w:19"/>
          <p:cNvSpPr txBox="1"/>
          <p:nvPr/>
        </p:nvSpPr>
        <p:spPr>
          <a:xfrm>
            <a:off x="5120640" y="3749040"/>
            <a:ext cx="1097280" cy="731520"/>
          </a:xfrm>
          <a:prstGeom prst="rect">
            <a:avLst/>
          </a:prstGeom>
          <a:noFill/>
          <a:ln/>
        </p:spPr>
        <p:txBody>
          <a:bodyPr wrap="square" lIns="0" tIns="0" rIns="0" bIns="0" rtlCol="0" anchor="ctr"/>
          <a:lstStyle/>
          <a:p>
            <a:pPr algn="ctr" indent="0" marL="0">
              <a:lnSpc>
                <a:spcPct val="105000"/>
              </a:lnSpc>
              <a:buNone/>
            </a:pPr>
            <a:r>
              <a:rPr lang="en-US" altLang="en-US" sz="2000" b="1" dirty="0">
                <a:solidFill>
                  <a:srgbClr val="0B2545"/>
                </a:solidFill>
                <a:latin typeface="Segoe UI" pitchFamily="34" charset="0"/>
                <a:ea typeface="Segoe UI" pitchFamily="34" charset="-122"/>
                <a:cs typeface="Segoe UI" pitchFamily="34" charset="-120"/>
              </a:rPr>
              <a:t>(     )</a:t>
            </a:r>
            <a:endParaRPr lang="en-US" sz="2000" dirty="0"/>
          </a:p>
        </p:txBody>
      </p:sp>
      <p:sp>
        <p:nvSpPr>
          <p:cNvPr id="21" name="float:c:20"/>
          <p:cNvSpPr/>
          <p:nvPr/>
        </p:nvSpPr>
        <p:spPr>
          <a:xfrm>
            <a:off x="5349240" y="3840480"/>
            <a:ext cx="640080" cy="548640"/>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4</a:t>
            </a:r>
            <a:endParaRPr lang="en-US" sz="1700" dirty="0"/>
          </a:p>
        </p:txBody>
      </p:sp>
      <p:sp>
        <p:nvSpPr>
          <p:cNvPr id="22" name="float:a:21"/>
          <p:cNvSpPr/>
          <p:nvPr/>
        </p:nvSpPr>
        <p:spPr>
          <a:xfrm>
            <a:off x="6309360" y="4663440"/>
            <a:ext cx="548640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المعادلة التي تمثل طاقة ميل إلكتروني.</a:t>
            </a:r>
            <a:endParaRPr lang="ar-SA" sz="1600" dirty="0"/>
          </a:p>
        </p:txBody>
      </p:sp>
      <p:sp>
        <p:nvSpPr>
          <p:cNvPr id="23" name="fade:w:22"/>
          <p:cNvSpPr txBox="1"/>
          <p:nvPr/>
        </p:nvSpPr>
        <p:spPr>
          <a:xfrm>
            <a:off x="5120640" y="4663440"/>
            <a:ext cx="1097280" cy="731520"/>
          </a:xfrm>
          <a:prstGeom prst="rect">
            <a:avLst/>
          </a:prstGeom>
          <a:noFill/>
          <a:ln/>
        </p:spPr>
        <p:txBody>
          <a:bodyPr wrap="square" lIns="0" tIns="0" rIns="0" bIns="0" rtlCol="0" anchor="ctr"/>
          <a:lstStyle/>
          <a:p>
            <a:pPr algn="ctr" indent="0" marL="0">
              <a:lnSpc>
                <a:spcPct val="105000"/>
              </a:lnSpc>
              <a:buNone/>
            </a:pPr>
            <a:r>
              <a:rPr lang="en-US" altLang="en-US" sz="2000" b="1" dirty="0">
                <a:solidFill>
                  <a:srgbClr val="0B2545"/>
                </a:solidFill>
                <a:latin typeface="Segoe UI" pitchFamily="34" charset="0"/>
                <a:ea typeface="Segoe UI" pitchFamily="34" charset="-122"/>
                <a:cs typeface="Segoe UI" pitchFamily="34" charset="-120"/>
              </a:rPr>
              <a:t>(     )</a:t>
            </a:r>
            <a:endParaRPr lang="en-US" sz="2000" dirty="0"/>
          </a:p>
        </p:txBody>
      </p:sp>
      <p:sp>
        <p:nvSpPr>
          <p:cNvPr id="24" name="float:c:23"/>
          <p:cNvSpPr/>
          <p:nvPr/>
        </p:nvSpPr>
        <p:spPr>
          <a:xfrm>
            <a:off x="5349240" y="4754880"/>
            <a:ext cx="640080" cy="548640"/>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3</a:t>
            </a:r>
            <a:endParaRPr lang="en-US" sz="1700" dirty="0"/>
          </a:p>
        </p:txBody>
      </p:sp>
      <p:sp>
        <p:nvSpPr>
          <p:cNvPr id="25" name="float:a:24"/>
          <p:cNvSpPr/>
          <p:nvPr/>
        </p:nvSpPr>
        <p:spPr>
          <a:xfrm>
            <a:off x="6309360" y="5577840"/>
            <a:ext cx="5486400" cy="731520"/>
          </a:xfrm>
          <a:prstGeom prst="roundRect">
            <a:avLst>
              <a:gd name="adj" fmla="val 17500"/>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600" dirty="0">
                <a:solidFill>
                  <a:srgbClr val="0B2545"/>
                </a:solidFill>
                <a:latin typeface="Segoe UI" pitchFamily="34" charset="0"/>
                <a:ea typeface="Segoe UI" pitchFamily="34" charset="-122"/>
                <a:cs typeface="Segoe UI" pitchFamily="34" charset="-120"/>
              </a:rPr>
              <a:t>العنصر الأعلى ميل إلكتروني.</a:t>
            </a:r>
            <a:endParaRPr lang="ar-SA" sz="1600" dirty="0"/>
          </a:p>
        </p:txBody>
      </p:sp>
      <p:sp>
        <p:nvSpPr>
          <p:cNvPr id="26" name="fade:w:25"/>
          <p:cNvSpPr txBox="1"/>
          <p:nvPr/>
        </p:nvSpPr>
        <p:spPr>
          <a:xfrm>
            <a:off x="5120640" y="5577840"/>
            <a:ext cx="1097280" cy="731520"/>
          </a:xfrm>
          <a:prstGeom prst="rect">
            <a:avLst/>
          </a:prstGeom>
          <a:noFill/>
          <a:ln/>
        </p:spPr>
        <p:txBody>
          <a:bodyPr wrap="square" lIns="0" tIns="0" rIns="0" bIns="0" rtlCol="0" anchor="ctr"/>
          <a:lstStyle/>
          <a:p>
            <a:pPr algn="ctr" indent="0" marL="0">
              <a:lnSpc>
                <a:spcPct val="105000"/>
              </a:lnSpc>
              <a:buNone/>
            </a:pPr>
            <a:r>
              <a:rPr lang="en-US" altLang="en-US" sz="2000" b="1" dirty="0">
                <a:solidFill>
                  <a:srgbClr val="0B2545"/>
                </a:solidFill>
                <a:latin typeface="Segoe UI" pitchFamily="34" charset="0"/>
                <a:ea typeface="Segoe UI" pitchFamily="34" charset="-122"/>
                <a:cs typeface="Segoe UI" pitchFamily="34" charset="-120"/>
              </a:rPr>
              <a:t>(     )</a:t>
            </a:r>
            <a:endParaRPr lang="en-US" sz="2000" dirty="0"/>
          </a:p>
        </p:txBody>
      </p:sp>
      <p:sp>
        <p:nvSpPr>
          <p:cNvPr id="27" name="float:c:26"/>
          <p:cNvSpPr/>
          <p:nvPr/>
        </p:nvSpPr>
        <p:spPr>
          <a:xfrm>
            <a:off x="5349240" y="5669280"/>
            <a:ext cx="640080" cy="548640"/>
          </a:xfrm>
          <a:prstGeom prst="roundRect">
            <a:avLst>
              <a:gd name="adj" fmla="val 50000"/>
            </a:avLst>
          </a:prstGeom>
          <a:solidFill>
            <a:srgbClr val="059669"/>
          </a:solidFill>
          <a:ln/>
        </p:spPr>
        <p:txBody>
          <a:bodyPr wrap="square" lIns="0" tIns="0" rIns="0" bIns="0" rtlCol="0" anchor="ctr"/>
          <a:lstStyle/>
          <a:p>
            <a:pPr algn="ctr" indent="0" marL="0">
              <a:lnSpc>
                <a:spcPct val="105000"/>
              </a:lnSpc>
              <a:buNone/>
            </a:pPr>
            <a:r>
              <a:rPr lang="en-US" altLang="en-US" sz="1700" b="1" dirty="0">
                <a:solidFill>
                  <a:srgbClr val="FFFFFF"/>
                </a:solidFill>
                <a:latin typeface="Segoe UI" pitchFamily="34" charset="0"/>
                <a:ea typeface="Segoe UI" pitchFamily="34" charset="-122"/>
                <a:cs typeface="Segoe UI" pitchFamily="34" charset="-120"/>
              </a:rPr>
              <a:t>1</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9" fill="hold">
                            <p:stCondLst>
                              <p:cond delay="385"/>
                            </p:stCondLst>
                            <p:childTnLst>
                              <p:par>
                                <p:cTn id="13" presetID="42"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ppt_x</p:attrName>
                                        </p:attrNameLst>
                                      </p:cBhvr>
                                      <p:tavLst>
                                        <p:tav tm="0">
                                          <p:val>
                                            <p:strVal val="#ppt_x"/>
                                          </p:val>
                                        </p:tav>
                                        <p:tav tm="100000">
                                          <p:val>
                                            <p:strVal val="#ppt_x"/>
                                          </p:val>
                                        </p:tav>
                                      </p:tavLst>
                                    </p:anim>
                                    <p:anim calcmode="lin" valueType="num">
                                      <p:cBhvr additive="base">
                                        <p:cTn id="12" dur="700" fill="hold"/>
                                        <p:tgtEl>
                                          <p:spTgt spid="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1"/>
                                          </p:val>
                                        </p:tav>
                                        <p:tav tm="100000">
                                          <p:val>
                                            <p:strVal val="#ppt_y"/>
                                          </p:val>
                                        </p:tav>
                                      </p:tavLst>
                                    </p:anim>
                                  </p:childTnLst>
                                </p:cTn>
                              </p:par>
                            </p:childTnLst>
                          </p:cTn>
                        </p:par>
                        <p:par>
                          <p:cTn id="30" fill="hold">
                            <p:stCondLst>
                              <p:cond delay="770"/>
                            </p:stCondLst>
                            <p:childTnLst>
                              <p:par>
                                <p:cTn id="24" presetID="53" presetClass="entr" presetSubtype="16"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ppt_w</p:attrName>
                                        </p:attrNameLst>
                                      </p:cBhvr>
                                      <p:tavLst>
                                        <p:tav tm="0">
                                          <p:val>
                                            <p:strVal val="0"/>
                                          </p:val>
                                        </p:tav>
                                        <p:tav tm="100000">
                                          <p:val>
                                            <p:strVal val="#ppt_w"/>
                                          </p:val>
                                        </p:tav>
                                      </p:tavLst>
                                    </p:anim>
                                    <p:anim calcmode="lin" valueType="num">
                                      <p:cBhvr additive="base">
                                        <p:cTn id="22" dur="500" fill="hold"/>
                                        <p:tgtEl>
                                          <p:spTgt spid="6"/>
                                        </p:tgtEl>
                                        <p:attrNameLst>
                                          <p:attrName>ppt_h</p:attrName>
                                        </p:attrNameLst>
                                      </p:cBhvr>
                                      <p:tavLst>
                                        <p:tav tm="0">
                                          <p:val>
                                            <p:strVal val="0"/>
                                          </p:val>
                                        </p:tav>
                                        <p:tav tm="100000">
                                          <p:val>
                                            <p:strVal val="#ppt_h"/>
                                          </p:val>
                                        </p:tav>
                                      </p:tavLst>
                                    </p:anim>
                                    <p:animEffect transition="in" filter="fade">
                                      <p:cBhvr>
                                        <p:cTn id="23" dur="500"/>
                                        <p:tgtEl>
                                          <p:spTgt spid="6"/>
                                        </p:tgtEl>
                                      </p:cBhvr>
                                    </p:animEffect>
                                  </p:childTnLst>
                                </p:cTn>
                              </p:par>
                              <p:par>
                                <p:cTn id="29"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00"/>
                                        <p:tgtEl>
                                          <p:spTgt spid="7"/>
                                        </p:tgtEl>
                                      </p:cBhvr>
                                    </p:animEffect>
                                    <p:anim calcmode="lin" valueType="num">
                                      <p:cBhvr additive="base">
                                        <p:cTn id="27" dur="700" fill="hold"/>
                                        <p:tgtEl>
                                          <p:spTgt spid="7"/>
                                        </p:tgtEl>
                                        <p:attrNameLst>
                                          <p:attrName>ppt_x</p:attrName>
                                        </p:attrNameLst>
                                      </p:cBhvr>
                                      <p:tavLst>
                                        <p:tav tm="0">
                                          <p:val>
                                            <p:strVal val="#ppt_x"/>
                                          </p:val>
                                        </p:tav>
                                        <p:tav tm="100000">
                                          <p:val>
                                            <p:strVal val="#ppt_x"/>
                                          </p:val>
                                        </p:tav>
                                      </p:tavLst>
                                    </p:anim>
                                    <p:anim calcmode="lin" valueType="num">
                                      <p:cBhvr additive="base">
                                        <p:cTn id="28" dur="700" fill="hold"/>
                                        <p:tgtEl>
                                          <p:spTgt spid="7"/>
                                        </p:tgtEl>
                                        <p:attrNameLst>
                                          <p:attrName>ppt_y</p:attrName>
                                        </p:attrNameLst>
                                      </p:cBhvr>
                                      <p:tavLst>
                                        <p:tav tm="0">
                                          <p:val>
                                            <p:strVal val="#ppt_y+.1"/>
                                          </p:val>
                                        </p:tav>
                                        <p:tav tm="100000">
                                          <p:val>
                                            <p:strVal val="#ppt_y"/>
                                          </p:val>
                                        </p:tav>
                                      </p:tavLst>
                                    </p:anim>
                                  </p:childTnLst>
                                </p:cTn>
                              </p:par>
                            </p:childTnLst>
                          </p:cTn>
                        </p:par>
                        <p:par>
                          <p:cTn id="41" fill="hold">
                            <p:stCondLst>
                              <p:cond delay="1155"/>
                            </p:stCondLst>
                            <p:childTnLst>
                              <p:par>
                                <p:cTn id="35" presetID="53" presetClass="entr" presetSubtype="16"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ppt_w</p:attrName>
                                        </p:attrNameLst>
                                      </p:cBhvr>
                                      <p:tavLst>
                                        <p:tav tm="0">
                                          <p:val>
                                            <p:strVal val="0"/>
                                          </p:val>
                                        </p:tav>
                                        <p:tav tm="100000">
                                          <p:val>
                                            <p:strVal val="#ppt_w"/>
                                          </p:val>
                                        </p:tav>
                                      </p:tavLst>
                                    </p:anim>
                                    <p:anim calcmode="lin" valueType="num">
                                      <p:cBhvr additive="base">
                                        <p:cTn id="33" dur="500" fill="hold"/>
                                        <p:tgtEl>
                                          <p:spTgt spid="8"/>
                                        </p:tgtEl>
                                        <p:attrNameLst>
                                          <p:attrName>ppt_h</p:attrName>
                                        </p:attrNameLst>
                                      </p:cBhvr>
                                      <p:tavLst>
                                        <p:tav tm="0">
                                          <p:val>
                                            <p:strVal val="0"/>
                                          </p:val>
                                        </p:tav>
                                        <p:tav tm="100000">
                                          <p:val>
                                            <p:strVal val="#ppt_h"/>
                                          </p:val>
                                        </p:tav>
                                      </p:tavLst>
                                    </p:anim>
                                    <p:animEffect transition="in" filter="fade">
                                      <p:cBhvr>
                                        <p:cTn id="34" dur="500"/>
                                        <p:tgtEl>
                                          <p:spTgt spid="8"/>
                                        </p:tgtEl>
                                      </p:cBhvr>
                                    </p:animEffect>
                                  </p:childTnLst>
                                </p:cTn>
                              </p:par>
                              <p:par>
                                <p:cTn id="40" presetID="42"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700"/>
                                        <p:tgtEl>
                                          <p:spTgt spid="9"/>
                                        </p:tgtEl>
                                      </p:cBhvr>
                                    </p:animEffect>
                                    <p:anim calcmode="lin" valueType="num">
                                      <p:cBhvr additive="base">
                                        <p:cTn id="38" dur="700" fill="hold"/>
                                        <p:tgtEl>
                                          <p:spTgt spid="9"/>
                                        </p:tgtEl>
                                        <p:attrNameLst>
                                          <p:attrName>ppt_x</p:attrName>
                                        </p:attrNameLst>
                                      </p:cBhvr>
                                      <p:tavLst>
                                        <p:tav tm="0">
                                          <p:val>
                                            <p:strVal val="#ppt_x"/>
                                          </p:val>
                                        </p:tav>
                                        <p:tav tm="100000">
                                          <p:val>
                                            <p:strVal val="#ppt_x"/>
                                          </p:val>
                                        </p:tav>
                                      </p:tavLst>
                                    </p:anim>
                                    <p:anim calcmode="lin" valueType="num">
                                      <p:cBhvr additive="base">
                                        <p:cTn id="39" dur="700" fill="hold"/>
                                        <p:tgtEl>
                                          <p:spTgt spid="9"/>
                                        </p:tgtEl>
                                        <p:attrNameLst>
                                          <p:attrName>ppt_y</p:attrName>
                                        </p:attrNameLst>
                                      </p:cBhvr>
                                      <p:tavLst>
                                        <p:tav tm="0">
                                          <p:val>
                                            <p:strVal val="#ppt_y+.1"/>
                                          </p:val>
                                        </p:tav>
                                        <p:tav tm="100000">
                                          <p:val>
                                            <p:strVal val="#ppt_y"/>
                                          </p:val>
                                        </p:tav>
                                      </p:tavLst>
                                    </p:anim>
                                  </p:childTnLst>
                                </p:cTn>
                              </p:par>
                            </p:childTnLst>
                          </p:cTn>
                        </p:par>
                        <p:par>
                          <p:cTn id="52" fill="hold">
                            <p:stCondLst>
                              <p:cond delay="1540"/>
                            </p:stCondLst>
                            <p:childTnLst>
                              <p:par>
                                <p:cTn id="46" presetID="53" presetClass="entr" presetSubtype="16"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ppt_w</p:attrName>
                                        </p:attrNameLst>
                                      </p:cBhvr>
                                      <p:tavLst>
                                        <p:tav tm="0">
                                          <p:val>
                                            <p:strVal val="0"/>
                                          </p:val>
                                        </p:tav>
                                        <p:tav tm="100000">
                                          <p:val>
                                            <p:strVal val="#ppt_w"/>
                                          </p:val>
                                        </p:tav>
                                      </p:tavLst>
                                    </p:anim>
                                    <p:anim calcmode="lin" valueType="num">
                                      <p:cBhvr additive="base">
                                        <p:cTn id="44" dur="500" fill="hold"/>
                                        <p:tgtEl>
                                          <p:spTgt spid="10"/>
                                        </p:tgtEl>
                                        <p:attrNameLst>
                                          <p:attrName>ppt_h</p:attrName>
                                        </p:attrNameLst>
                                      </p:cBhvr>
                                      <p:tavLst>
                                        <p:tav tm="0">
                                          <p:val>
                                            <p:strVal val="0"/>
                                          </p:val>
                                        </p:tav>
                                        <p:tav tm="100000">
                                          <p:val>
                                            <p:strVal val="#ppt_h"/>
                                          </p:val>
                                        </p:tav>
                                      </p:tavLst>
                                    </p:anim>
                                    <p:animEffect transition="in" filter="fade">
                                      <p:cBhvr>
                                        <p:cTn id="45" dur="500"/>
                                        <p:tgtEl>
                                          <p:spTgt spid="10"/>
                                        </p:tgtEl>
                                      </p:cBhvr>
                                    </p:animEffect>
                                  </p:childTnLst>
                                </p:cTn>
                              </p:par>
                              <p:par>
                                <p:cTn id="51"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700"/>
                                        <p:tgtEl>
                                          <p:spTgt spid="11"/>
                                        </p:tgtEl>
                                      </p:cBhvr>
                                    </p:animEffect>
                                    <p:anim calcmode="lin" valueType="num">
                                      <p:cBhvr additive="base">
                                        <p:cTn id="49" dur="700" fill="hold"/>
                                        <p:tgtEl>
                                          <p:spTgt spid="11"/>
                                        </p:tgtEl>
                                        <p:attrNameLst>
                                          <p:attrName>ppt_x</p:attrName>
                                        </p:attrNameLst>
                                      </p:cBhvr>
                                      <p:tavLst>
                                        <p:tav tm="0">
                                          <p:val>
                                            <p:strVal val="#ppt_x"/>
                                          </p:val>
                                        </p:tav>
                                        <p:tav tm="100000">
                                          <p:val>
                                            <p:strVal val="#ppt_x"/>
                                          </p:val>
                                        </p:tav>
                                      </p:tavLst>
                                    </p:anim>
                                    <p:anim calcmode="lin" valueType="num">
                                      <p:cBhvr additive="base">
                                        <p:cTn id="50" dur="700" fill="hold"/>
                                        <p:tgtEl>
                                          <p:spTgt spid="11"/>
                                        </p:tgtEl>
                                        <p:attrNameLst>
                                          <p:attrName>ppt_y</p:attrName>
                                        </p:attrNameLst>
                                      </p:cBhvr>
                                      <p:tavLst>
                                        <p:tav tm="0">
                                          <p:val>
                                            <p:strVal val="#ppt_y+.1"/>
                                          </p:val>
                                        </p:tav>
                                        <p:tav tm="100000">
                                          <p:val>
                                            <p:strVal val="#ppt_y"/>
                                          </p:val>
                                        </p:tav>
                                      </p:tavLst>
                                    </p:anim>
                                  </p:childTnLst>
                                </p:cTn>
                              </p:par>
                            </p:childTnLst>
                          </p:cTn>
                        </p:par>
                        <p:par>
                          <p:cTn id="63" fill="hold">
                            <p:stCondLst>
                              <p:cond delay="1925"/>
                            </p:stCondLst>
                            <p:childTnLst>
                              <p:par>
                                <p:cTn id="57" presetID="53" presetClass="entr" presetSubtype="16"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ppt_w</p:attrName>
                                        </p:attrNameLst>
                                      </p:cBhvr>
                                      <p:tavLst>
                                        <p:tav tm="0">
                                          <p:val>
                                            <p:strVal val="0"/>
                                          </p:val>
                                        </p:tav>
                                        <p:tav tm="100000">
                                          <p:val>
                                            <p:strVal val="#ppt_w"/>
                                          </p:val>
                                        </p:tav>
                                      </p:tavLst>
                                    </p:anim>
                                    <p:anim calcmode="lin" valueType="num">
                                      <p:cBhvr additive="base">
                                        <p:cTn id="55" dur="500" fill="hold"/>
                                        <p:tgtEl>
                                          <p:spTgt spid="12"/>
                                        </p:tgtEl>
                                        <p:attrNameLst>
                                          <p:attrName>ppt_h</p:attrName>
                                        </p:attrNameLst>
                                      </p:cBhvr>
                                      <p:tavLst>
                                        <p:tav tm="0">
                                          <p:val>
                                            <p:strVal val="0"/>
                                          </p:val>
                                        </p:tav>
                                        <p:tav tm="100000">
                                          <p:val>
                                            <p:strVal val="#ppt_h"/>
                                          </p:val>
                                        </p:tav>
                                      </p:tavLst>
                                    </p:anim>
                                    <p:animEffect transition="in" filter="fade">
                                      <p:cBhvr>
                                        <p:cTn id="56" dur="500"/>
                                        <p:tgtEl>
                                          <p:spTgt spid="12"/>
                                        </p:tgtEl>
                                      </p:cBhvr>
                                    </p:animEffect>
                                  </p:childTnLst>
                                </p:cTn>
                              </p:par>
                              <p:par>
                                <p:cTn id="62"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700"/>
                                        <p:tgtEl>
                                          <p:spTgt spid="13"/>
                                        </p:tgtEl>
                                      </p:cBhvr>
                                    </p:animEffect>
                                    <p:anim calcmode="lin" valueType="num">
                                      <p:cBhvr additive="base">
                                        <p:cTn id="60" dur="700" fill="hold"/>
                                        <p:tgtEl>
                                          <p:spTgt spid="13"/>
                                        </p:tgtEl>
                                        <p:attrNameLst>
                                          <p:attrName>ppt_x</p:attrName>
                                        </p:attrNameLst>
                                      </p:cBhvr>
                                      <p:tavLst>
                                        <p:tav tm="0">
                                          <p:val>
                                            <p:strVal val="#ppt_x"/>
                                          </p:val>
                                        </p:tav>
                                        <p:tav tm="100000">
                                          <p:val>
                                            <p:strVal val="#ppt_x"/>
                                          </p:val>
                                        </p:tav>
                                      </p:tavLst>
                                    </p:anim>
                                    <p:anim calcmode="lin" valueType="num">
                                      <p:cBhvr additive="base">
                                        <p:cTn id="61" dur="700" fill="hold"/>
                                        <p:tgtEl>
                                          <p:spTgt spid="13"/>
                                        </p:tgtEl>
                                        <p:attrNameLst>
                                          <p:attrName>ppt_y</p:attrName>
                                        </p:attrNameLst>
                                      </p:cBhvr>
                                      <p:tavLst>
                                        <p:tav tm="0">
                                          <p:val>
                                            <p:strVal val="#ppt_y+.1"/>
                                          </p:val>
                                        </p:tav>
                                        <p:tav tm="100000">
                                          <p:val>
                                            <p:strVal val="#ppt_y"/>
                                          </p:val>
                                        </p:tav>
                                      </p:tavLst>
                                    </p:anim>
                                  </p:childTnLst>
                                </p:cTn>
                              </p:par>
                            </p:childTnLst>
                          </p:cTn>
                        </p:par>
                        <p:par>
                          <p:cTn id="74" fill="hold">
                            <p:stCondLst>
                              <p:cond delay="2310"/>
                            </p:stCondLst>
                            <p:childTnLst>
                              <p:par>
                                <p:cTn id="68" presetID="53" presetClass="entr" presetSubtype="16"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additive="base">
                                        <p:cTn id="65" dur="500" fill="hold"/>
                                        <p:tgtEl>
                                          <p:spTgt spid="14"/>
                                        </p:tgtEl>
                                        <p:attrNameLst>
                                          <p:attrName>ppt_w</p:attrName>
                                        </p:attrNameLst>
                                      </p:cBhvr>
                                      <p:tavLst>
                                        <p:tav tm="0">
                                          <p:val>
                                            <p:strVal val="0"/>
                                          </p:val>
                                        </p:tav>
                                        <p:tav tm="100000">
                                          <p:val>
                                            <p:strVal val="#ppt_w"/>
                                          </p:val>
                                        </p:tav>
                                      </p:tavLst>
                                    </p:anim>
                                    <p:anim calcmode="lin" valueType="num">
                                      <p:cBhvr additive="base">
                                        <p:cTn id="66" dur="500" fill="hold"/>
                                        <p:tgtEl>
                                          <p:spTgt spid="14"/>
                                        </p:tgtEl>
                                        <p:attrNameLst>
                                          <p:attrName>ppt_h</p:attrName>
                                        </p:attrNameLst>
                                      </p:cBhvr>
                                      <p:tavLst>
                                        <p:tav tm="0">
                                          <p:val>
                                            <p:strVal val="0"/>
                                          </p:val>
                                        </p:tav>
                                        <p:tav tm="100000">
                                          <p:val>
                                            <p:strVal val="#ppt_h"/>
                                          </p:val>
                                        </p:tav>
                                      </p:tavLst>
                                    </p:anim>
                                    <p:animEffect transition="in" filter="fade">
                                      <p:cBhvr>
                                        <p:cTn id="67" dur="500"/>
                                        <p:tgtEl>
                                          <p:spTgt spid="14"/>
                                        </p:tgtEl>
                                      </p:cBhvr>
                                    </p:animEffect>
                                  </p:childTnLst>
                                </p:cTn>
                              </p:par>
                              <p:par>
                                <p:cTn id="73" presetID="42"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700"/>
                                        <p:tgtEl>
                                          <p:spTgt spid="15"/>
                                        </p:tgtEl>
                                      </p:cBhvr>
                                    </p:animEffect>
                                    <p:anim calcmode="lin" valueType="num">
                                      <p:cBhvr additive="base">
                                        <p:cTn id="71" dur="700" fill="hold"/>
                                        <p:tgtEl>
                                          <p:spTgt spid="15"/>
                                        </p:tgtEl>
                                        <p:attrNameLst>
                                          <p:attrName>ppt_x</p:attrName>
                                        </p:attrNameLst>
                                      </p:cBhvr>
                                      <p:tavLst>
                                        <p:tav tm="0">
                                          <p:val>
                                            <p:strVal val="#ppt_x"/>
                                          </p:val>
                                        </p:tav>
                                        <p:tav tm="100000">
                                          <p:val>
                                            <p:strVal val="#ppt_x"/>
                                          </p:val>
                                        </p:tav>
                                      </p:tavLst>
                                    </p:anim>
                                    <p:anim calcmode="lin" valueType="num">
                                      <p:cBhvr additive="base">
                                        <p:cTn id="72" dur="700" fill="hold"/>
                                        <p:tgtEl>
                                          <p:spTgt spid="15"/>
                                        </p:tgtEl>
                                        <p:attrNameLst>
                                          <p:attrName>ppt_y</p:attrName>
                                        </p:attrNameLst>
                                      </p:cBhvr>
                                      <p:tavLst>
                                        <p:tav tm="0">
                                          <p:val>
                                            <p:strVal val="#ppt_y+.1"/>
                                          </p:val>
                                        </p:tav>
                                        <p:tav tm="100000">
                                          <p:val>
                                            <p:strVal val="#ppt_y"/>
                                          </p:val>
                                        </p:tav>
                                      </p:tavLst>
                                    </p:anim>
                                  </p:childTnLst>
                                </p:cTn>
                              </p:par>
                            </p:childTnLst>
                          </p:cTn>
                        </p:par>
                        <p:par>
                          <p:cTn id="83" fill="hold">
                            <p:stCondLst>
                              <p:cond delay="2695"/>
                            </p:stCondLst>
                            <p:childTnLst>
                              <p:par>
                                <p:cTn id="79" presetID="42" presetClass="entr" presetSubtype="0" fill="hold" grpId="0" nodeType="after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700"/>
                                        <p:tgtEl>
                                          <p:spTgt spid="16"/>
                                        </p:tgtEl>
                                      </p:cBhvr>
                                    </p:animEffect>
                                    <p:anim calcmode="lin" valueType="num">
                                      <p:cBhvr additive="base">
                                        <p:cTn id="77" dur="700" fill="hold"/>
                                        <p:tgtEl>
                                          <p:spTgt spid="16"/>
                                        </p:tgtEl>
                                        <p:attrNameLst>
                                          <p:attrName>ppt_x</p:attrName>
                                        </p:attrNameLst>
                                      </p:cBhvr>
                                      <p:tavLst>
                                        <p:tav tm="0">
                                          <p:val>
                                            <p:strVal val="#ppt_x"/>
                                          </p:val>
                                        </p:tav>
                                        <p:tav tm="100000">
                                          <p:val>
                                            <p:strVal val="#ppt_x"/>
                                          </p:val>
                                        </p:tav>
                                      </p:tavLst>
                                    </p:anim>
                                    <p:anim calcmode="lin" valueType="num">
                                      <p:cBhvr additive="base">
                                        <p:cTn id="78" dur="700" fill="hold"/>
                                        <p:tgtEl>
                                          <p:spTgt spid="16"/>
                                        </p:tgtEl>
                                        <p:attrNameLst>
                                          <p:attrName>ppt_y</p:attrName>
                                        </p:attrNameLst>
                                      </p:cBhvr>
                                      <p:tavLst>
                                        <p:tav tm="0">
                                          <p:val>
                                            <p:strVal val="#ppt_y+.1"/>
                                          </p:val>
                                        </p:tav>
                                        <p:tav tm="100000">
                                          <p:val>
                                            <p:strVal val="#ppt_y"/>
                                          </p:val>
                                        </p:tav>
                                      </p:tavLst>
                                    </p:anim>
                                  </p:childTnLst>
                                </p:cTn>
                              </p:par>
                              <p:par>
                                <p:cTn id="82" presetID="10"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childTnLst>
                                </p:cTn>
                              </p:par>
                            </p:childTnLst>
                          </p:cTn>
                        </p:par>
                      </p:childTnLst>
                    </p:cTn>
                  </p:par>
                  <p:par>
                    <p:cTn id="100" fill="hold">
                      <p:stCondLst>
                        <p:cond delay="indefinite"/>
                      </p:stCondLst>
                      <p:childTnLst>
                        <p:par>
                          <p:cTn id="90" fill="hold">
                            <p:stCondLst>
                              <p:cond delay="0"/>
                            </p:stCondLst>
                            <p:childTnLst>
                              <p:par>
                                <p:cTn id="89" presetID="42" presetClass="entr" presetSubtype="0"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700"/>
                                        <p:tgtEl>
                                          <p:spTgt spid="18"/>
                                        </p:tgtEl>
                                      </p:cBhvr>
                                    </p:animEffect>
                                    <p:anim calcmode="lin" valueType="num">
                                      <p:cBhvr additive="base">
                                        <p:cTn id="87" dur="700" fill="hold"/>
                                        <p:tgtEl>
                                          <p:spTgt spid="18"/>
                                        </p:tgtEl>
                                        <p:attrNameLst>
                                          <p:attrName>ppt_x</p:attrName>
                                        </p:attrNameLst>
                                      </p:cBhvr>
                                      <p:tavLst>
                                        <p:tav tm="0">
                                          <p:val>
                                            <p:strVal val="#ppt_x"/>
                                          </p:val>
                                        </p:tav>
                                        <p:tav tm="100000">
                                          <p:val>
                                            <p:strVal val="#ppt_x"/>
                                          </p:val>
                                        </p:tav>
                                      </p:tavLst>
                                    </p:anim>
                                    <p:anim calcmode="lin" valueType="num">
                                      <p:cBhvr additive="base">
                                        <p:cTn id="88" dur="700" fill="hold"/>
                                        <p:tgtEl>
                                          <p:spTgt spid="18"/>
                                        </p:tgtEl>
                                        <p:attrNameLst>
                                          <p:attrName>ppt_y</p:attrName>
                                        </p:attrNameLst>
                                      </p:cBhvr>
                                      <p:tavLst>
                                        <p:tav tm="0">
                                          <p:val>
                                            <p:strVal val="#ppt_y+.1"/>
                                          </p:val>
                                        </p:tav>
                                        <p:tav tm="100000">
                                          <p:val>
                                            <p:strVal val="#ppt_y"/>
                                          </p:val>
                                        </p:tav>
                                      </p:tavLst>
                                    </p:anim>
                                  </p:childTnLst>
                                </p:cTn>
                              </p:par>
                            </p:childTnLst>
                          </p:cTn>
                        </p:par>
                        <p:par>
                          <p:cTn id="99" fill="hold">
                            <p:stCondLst>
                              <p:cond delay="385"/>
                            </p:stCondLst>
                            <p:childTnLst>
                              <p:par>
                                <p:cTn id="95" presetID="42" presetClass="entr" presetSubtype="0" fill="hold" grpId="0" nodeType="after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700"/>
                                        <p:tgtEl>
                                          <p:spTgt spid="19"/>
                                        </p:tgtEl>
                                      </p:cBhvr>
                                    </p:animEffect>
                                    <p:anim calcmode="lin" valueType="num">
                                      <p:cBhvr additive="base">
                                        <p:cTn id="93" dur="700" fill="hold"/>
                                        <p:tgtEl>
                                          <p:spTgt spid="19"/>
                                        </p:tgtEl>
                                        <p:attrNameLst>
                                          <p:attrName>ppt_x</p:attrName>
                                        </p:attrNameLst>
                                      </p:cBhvr>
                                      <p:tavLst>
                                        <p:tav tm="0">
                                          <p:val>
                                            <p:strVal val="#ppt_x"/>
                                          </p:val>
                                        </p:tav>
                                        <p:tav tm="100000">
                                          <p:val>
                                            <p:strVal val="#ppt_x"/>
                                          </p:val>
                                        </p:tav>
                                      </p:tavLst>
                                    </p:anim>
                                    <p:anim calcmode="lin" valueType="num">
                                      <p:cBhvr additive="base">
                                        <p:cTn id="94" dur="700" fill="hold"/>
                                        <p:tgtEl>
                                          <p:spTgt spid="19"/>
                                        </p:tgtEl>
                                        <p:attrNameLst>
                                          <p:attrName>ppt_y</p:attrName>
                                        </p:attrNameLst>
                                      </p:cBhvr>
                                      <p:tavLst>
                                        <p:tav tm="0">
                                          <p:val>
                                            <p:strVal val="#ppt_y+.1"/>
                                          </p:val>
                                        </p:tav>
                                        <p:tav tm="100000">
                                          <p:val>
                                            <p:strVal val="#ppt_y"/>
                                          </p:val>
                                        </p:tav>
                                      </p:tavLst>
                                    </p:anim>
                                  </p:childTnLst>
                                </p:cTn>
                              </p:par>
                              <p:par>
                                <p:cTn id="98" presetID="10"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600"/>
                                        <p:tgtEl>
                                          <p:spTgt spid="20"/>
                                        </p:tgtEl>
                                      </p:cBhvr>
                                    </p:animEffect>
                                  </p:childTnLst>
                                </p:cTn>
                              </p:par>
                            </p:childTnLst>
                          </p:cTn>
                        </p:par>
                      </p:childTnLst>
                    </p:cTn>
                  </p:par>
                  <p:par>
                    <p:cTn id="116" fill="hold">
                      <p:stCondLst>
                        <p:cond delay="indefinite"/>
                      </p:stCondLst>
                      <p:childTnLst>
                        <p:par>
                          <p:cTn id="106" fill="hold">
                            <p:stCondLst>
                              <p:cond delay="0"/>
                            </p:stCondLst>
                            <p:childTnLst>
                              <p:par>
                                <p:cTn id="105" presetID="42" presetClass="entr" presetSubtype="0"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700"/>
                                        <p:tgtEl>
                                          <p:spTgt spid="21"/>
                                        </p:tgtEl>
                                      </p:cBhvr>
                                    </p:animEffect>
                                    <p:anim calcmode="lin" valueType="num">
                                      <p:cBhvr additive="base">
                                        <p:cTn id="103" dur="700" fill="hold"/>
                                        <p:tgtEl>
                                          <p:spTgt spid="21"/>
                                        </p:tgtEl>
                                        <p:attrNameLst>
                                          <p:attrName>ppt_x</p:attrName>
                                        </p:attrNameLst>
                                      </p:cBhvr>
                                      <p:tavLst>
                                        <p:tav tm="0">
                                          <p:val>
                                            <p:strVal val="#ppt_x"/>
                                          </p:val>
                                        </p:tav>
                                        <p:tav tm="100000">
                                          <p:val>
                                            <p:strVal val="#ppt_x"/>
                                          </p:val>
                                        </p:tav>
                                      </p:tavLst>
                                    </p:anim>
                                    <p:anim calcmode="lin" valueType="num">
                                      <p:cBhvr additive="base">
                                        <p:cTn id="104" dur="700" fill="hold"/>
                                        <p:tgtEl>
                                          <p:spTgt spid="21"/>
                                        </p:tgtEl>
                                        <p:attrNameLst>
                                          <p:attrName>ppt_y</p:attrName>
                                        </p:attrNameLst>
                                      </p:cBhvr>
                                      <p:tavLst>
                                        <p:tav tm="0">
                                          <p:val>
                                            <p:strVal val="#ppt_y+.1"/>
                                          </p:val>
                                        </p:tav>
                                        <p:tav tm="100000">
                                          <p:val>
                                            <p:strVal val="#ppt_y"/>
                                          </p:val>
                                        </p:tav>
                                      </p:tavLst>
                                    </p:anim>
                                  </p:childTnLst>
                                </p:cTn>
                              </p:par>
                            </p:childTnLst>
                          </p:cTn>
                        </p:par>
                        <p:par>
                          <p:cTn id="115" fill="hold">
                            <p:stCondLst>
                              <p:cond delay="385"/>
                            </p:stCondLst>
                            <p:childTnLst>
                              <p:par>
                                <p:cTn id="111" presetID="42" presetClass="entr" presetSubtype="0" fill="hold" grpId="0" nodeType="after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fade">
                                      <p:cBhvr>
                                        <p:cTn id="108" dur="700"/>
                                        <p:tgtEl>
                                          <p:spTgt spid="22"/>
                                        </p:tgtEl>
                                      </p:cBhvr>
                                    </p:animEffect>
                                    <p:anim calcmode="lin" valueType="num">
                                      <p:cBhvr additive="base">
                                        <p:cTn id="109" dur="700" fill="hold"/>
                                        <p:tgtEl>
                                          <p:spTgt spid="22"/>
                                        </p:tgtEl>
                                        <p:attrNameLst>
                                          <p:attrName>ppt_x</p:attrName>
                                        </p:attrNameLst>
                                      </p:cBhvr>
                                      <p:tavLst>
                                        <p:tav tm="0">
                                          <p:val>
                                            <p:strVal val="#ppt_x"/>
                                          </p:val>
                                        </p:tav>
                                        <p:tav tm="100000">
                                          <p:val>
                                            <p:strVal val="#ppt_x"/>
                                          </p:val>
                                        </p:tav>
                                      </p:tavLst>
                                    </p:anim>
                                    <p:anim calcmode="lin" valueType="num">
                                      <p:cBhvr additive="base">
                                        <p:cTn id="110" dur="700" fill="hold"/>
                                        <p:tgtEl>
                                          <p:spTgt spid="22"/>
                                        </p:tgtEl>
                                        <p:attrNameLst>
                                          <p:attrName>ppt_y</p:attrName>
                                        </p:attrNameLst>
                                      </p:cBhvr>
                                      <p:tavLst>
                                        <p:tav tm="0">
                                          <p:val>
                                            <p:strVal val="#ppt_y+.1"/>
                                          </p:val>
                                        </p:tav>
                                        <p:tav tm="100000">
                                          <p:val>
                                            <p:strVal val="#ppt_y"/>
                                          </p:val>
                                        </p:tav>
                                      </p:tavLst>
                                    </p:anim>
                                  </p:childTnLst>
                                </p:cTn>
                              </p:par>
                              <p:par>
                                <p:cTn id="114" presetID="10" presetClass="entr" presetSubtype="0" fill="hold" grpId="0" nodeType="with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600"/>
                                        <p:tgtEl>
                                          <p:spTgt spid="23"/>
                                        </p:tgtEl>
                                      </p:cBhvr>
                                    </p:animEffect>
                                  </p:childTnLst>
                                </p:cTn>
                              </p:par>
                            </p:childTnLst>
                          </p:cTn>
                        </p:par>
                      </p:childTnLst>
                    </p:cTn>
                  </p:par>
                  <p:par>
                    <p:cTn id="132" fill="hold">
                      <p:stCondLst>
                        <p:cond delay="indefinite"/>
                      </p:stCondLst>
                      <p:childTnLst>
                        <p:par>
                          <p:cTn id="122" fill="hold">
                            <p:stCondLst>
                              <p:cond delay="0"/>
                            </p:stCondLst>
                            <p:childTnLst>
                              <p:par>
                                <p:cTn id="121" presetID="42" presetClass="entr" presetSubtype="0" fill="hold" grpId="0" nodeType="clickEffect">
                                  <p:stCondLst>
                                    <p:cond delay="0"/>
                                  </p:stCondLst>
                                  <p:childTnLst>
                                    <p:set>
                                      <p:cBhvr>
                                        <p:cTn id="117" dur="1" fill="hold">
                                          <p:stCondLst>
                                            <p:cond delay="0"/>
                                          </p:stCondLst>
                                        </p:cTn>
                                        <p:tgtEl>
                                          <p:spTgt spid="24"/>
                                        </p:tgtEl>
                                        <p:attrNameLst>
                                          <p:attrName>style.visibility</p:attrName>
                                        </p:attrNameLst>
                                      </p:cBhvr>
                                      <p:to>
                                        <p:strVal val="visible"/>
                                      </p:to>
                                    </p:set>
                                    <p:animEffect transition="in" filter="fade">
                                      <p:cBhvr>
                                        <p:cTn id="118" dur="700"/>
                                        <p:tgtEl>
                                          <p:spTgt spid="24"/>
                                        </p:tgtEl>
                                      </p:cBhvr>
                                    </p:animEffect>
                                    <p:anim calcmode="lin" valueType="num">
                                      <p:cBhvr additive="base">
                                        <p:cTn id="119" dur="700" fill="hold"/>
                                        <p:tgtEl>
                                          <p:spTgt spid="24"/>
                                        </p:tgtEl>
                                        <p:attrNameLst>
                                          <p:attrName>ppt_x</p:attrName>
                                        </p:attrNameLst>
                                      </p:cBhvr>
                                      <p:tavLst>
                                        <p:tav tm="0">
                                          <p:val>
                                            <p:strVal val="#ppt_x"/>
                                          </p:val>
                                        </p:tav>
                                        <p:tav tm="100000">
                                          <p:val>
                                            <p:strVal val="#ppt_x"/>
                                          </p:val>
                                        </p:tav>
                                      </p:tavLst>
                                    </p:anim>
                                    <p:anim calcmode="lin" valueType="num">
                                      <p:cBhvr additive="base">
                                        <p:cTn id="120" dur="700" fill="hold"/>
                                        <p:tgtEl>
                                          <p:spTgt spid="24"/>
                                        </p:tgtEl>
                                        <p:attrNameLst>
                                          <p:attrName>ppt_y</p:attrName>
                                        </p:attrNameLst>
                                      </p:cBhvr>
                                      <p:tavLst>
                                        <p:tav tm="0">
                                          <p:val>
                                            <p:strVal val="#ppt_y+.1"/>
                                          </p:val>
                                        </p:tav>
                                        <p:tav tm="100000">
                                          <p:val>
                                            <p:strVal val="#ppt_y"/>
                                          </p:val>
                                        </p:tav>
                                      </p:tavLst>
                                    </p:anim>
                                  </p:childTnLst>
                                </p:cTn>
                              </p:par>
                            </p:childTnLst>
                          </p:cTn>
                        </p:par>
                        <p:par>
                          <p:cTn id="131" fill="hold">
                            <p:stCondLst>
                              <p:cond delay="385"/>
                            </p:stCondLst>
                            <p:childTnLst>
                              <p:par>
                                <p:cTn id="127" presetID="42" presetClass="entr" presetSubtype="0" fill="hold" grpId="0" nodeType="afterEffect">
                                  <p:stCondLst>
                                    <p:cond delay="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700"/>
                                        <p:tgtEl>
                                          <p:spTgt spid="25"/>
                                        </p:tgtEl>
                                      </p:cBhvr>
                                    </p:animEffect>
                                    <p:anim calcmode="lin" valueType="num">
                                      <p:cBhvr additive="base">
                                        <p:cTn id="125" dur="700" fill="hold"/>
                                        <p:tgtEl>
                                          <p:spTgt spid="25"/>
                                        </p:tgtEl>
                                        <p:attrNameLst>
                                          <p:attrName>ppt_x</p:attrName>
                                        </p:attrNameLst>
                                      </p:cBhvr>
                                      <p:tavLst>
                                        <p:tav tm="0">
                                          <p:val>
                                            <p:strVal val="#ppt_x"/>
                                          </p:val>
                                        </p:tav>
                                        <p:tav tm="100000">
                                          <p:val>
                                            <p:strVal val="#ppt_x"/>
                                          </p:val>
                                        </p:tav>
                                      </p:tavLst>
                                    </p:anim>
                                    <p:anim calcmode="lin" valueType="num">
                                      <p:cBhvr additive="base">
                                        <p:cTn id="126" dur="700" fill="hold"/>
                                        <p:tgtEl>
                                          <p:spTgt spid="25"/>
                                        </p:tgtEl>
                                        <p:attrNameLst>
                                          <p:attrName>ppt_y</p:attrName>
                                        </p:attrNameLst>
                                      </p:cBhvr>
                                      <p:tavLst>
                                        <p:tav tm="0">
                                          <p:val>
                                            <p:strVal val="#ppt_y+.1"/>
                                          </p:val>
                                        </p:tav>
                                        <p:tav tm="100000">
                                          <p:val>
                                            <p:strVal val="#ppt_y"/>
                                          </p:val>
                                        </p:tav>
                                      </p:tavLst>
                                    </p:anim>
                                  </p:childTnLst>
                                </p:cTn>
                              </p:par>
                              <p:par>
                                <p:cTn id="130" presetID="10" presetClass="entr" presetSubtype="0" fill="hold" grpId="0" nodeType="withEffect">
                                  <p:stCondLst>
                                    <p:cond delay="0"/>
                                  </p:stCondLst>
                                  <p:childTnLst>
                                    <p:set>
                                      <p:cBhvr>
                                        <p:cTn id="128" dur="1" fill="hold">
                                          <p:stCondLst>
                                            <p:cond delay="0"/>
                                          </p:stCondLst>
                                        </p:cTn>
                                        <p:tgtEl>
                                          <p:spTgt spid="26"/>
                                        </p:tgtEl>
                                        <p:attrNameLst>
                                          <p:attrName>style.visibility</p:attrName>
                                        </p:attrNameLst>
                                      </p:cBhvr>
                                      <p:to>
                                        <p:strVal val="visible"/>
                                      </p:to>
                                    </p:set>
                                    <p:animEffect transition="in" filter="fade">
                                      <p:cBhvr>
                                        <p:cTn id="129" dur="600"/>
                                        <p:tgtEl>
                                          <p:spTgt spid="26"/>
                                        </p:tgtEl>
                                      </p:cBhvr>
                                    </p:animEffect>
                                  </p:childTnLst>
                                </p:cTn>
                              </p:par>
                            </p:childTnLst>
                          </p:cTn>
                        </p:par>
                      </p:childTnLst>
                    </p:cTn>
                  </p:par>
                  <p:par>
                    <p:cTn id="139" fill="hold">
                      <p:stCondLst>
                        <p:cond delay="indefinite"/>
                      </p:stCondLst>
                      <p:childTnLst>
                        <p:par>
                          <p:cTn id="138" fill="hold">
                            <p:stCondLst>
                              <p:cond delay="0"/>
                            </p:stCondLst>
                            <p:childTnLst>
                              <p:par>
                                <p:cTn id="137" presetID="42" presetClass="entr" presetSubtype="0" fill="hold" grpId="0" nodeType="clickEffect">
                                  <p:stCondLst>
                                    <p:cond delay="0"/>
                                  </p:stCondLst>
                                  <p:childTnLst>
                                    <p:set>
                                      <p:cBhvr>
                                        <p:cTn id="133" dur="1" fill="hold">
                                          <p:stCondLst>
                                            <p:cond delay="0"/>
                                          </p:stCondLst>
                                        </p:cTn>
                                        <p:tgtEl>
                                          <p:spTgt spid="27"/>
                                        </p:tgtEl>
                                        <p:attrNameLst>
                                          <p:attrName>style.visibility</p:attrName>
                                        </p:attrNameLst>
                                      </p:cBhvr>
                                      <p:to>
                                        <p:strVal val="visible"/>
                                      </p:to>
                                    </p:set>
                                    <p:animEffect transition="in" filter="fade">
                                      <p:cBhvr>
                                        <p:cTn id="134" dur="700"/>
                                        <p:tgtEl>
                                          <p:spTgt spid="27"/>
                                        </p:tgtEl>
                                      </p:cBhvr>
                                    </p:animEffect>
                                    <p:anim calcmode="lin" valueType="num">
                                      <p:cBhvr additive="base">
                                        <p:cTn id="135" dur="700" fill="hold"/>
                                        <p:tgtEl>
                                          <p:spTgt spid="27"/>
                                        </p:tgtEl>
                                        <p:attrNameLst>
                                          <p:attrName>ppt_x</p:attrName>
                                        </p:attrNameLst>
                                      </p:cBhvr>
                                      <p:tavLst>
                                        <p:tav tm="0">
                                          <p:val>
                                            <p:strVal val="#ppt_x"/>
                                          </p:val>
                                        </p:tav>
                                        <p:tav tm="100000">
                                          <p:val>
                                            <p:strVal val="#ppt_x"/>
                                          </p:val>
                                        </p:tav>
                                      </p:tavLst>
                                    </p:anim>
                                    <p:anim calcmode="lin" valueType="num">
                                      <p:cBhvr additive="base">
                                        <p:cTn id="136" dur="7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3" type="title" hasCustomPrompt="1"/>
          </p:nvPr>
        </p:nvSpPr>
        <p:spPr>
          <a:xfrm>
            <a:off x="640080" y="292608"/>
            <a:ext cx="10287000" cy="731520"/>
          </a:xfrm>
          <a:prstGeom prst="rect">
            <a:avLst/>
          </a:prstGeom>
          <a:noFill/>
          <a:ln/>
        </p:spPr>
        <p:txBody>
          <a:bodyPr wrap="square" lIns="0" tIns="0" rIns="0" bIns="0" rtlCol="0" anchor="ctr"/>
          <a:lstStyle/>
          <a:p>
            <a:pPr rtl="1" algn="r" indent="0" marL="0">
              <a:buNone/>
            </a:pPr>
            <a:r>
              <a:rPr lang="en-US" sz="2800" b="1" dirty="0">
                <a:solidFill>
                  <a:srgbClr val="0B2545"/>
                </a:solidFill>
                <a:latin typeface="Segoe UI" pitchFamily="34" charset="0"/>
                <a:ea typeface="Segoe UI" pitchFamily="34" charset="-122"/>
                <a:cs typeface="Segoe UI" pitchFamily="34" charset="-120"/>
              </a:rPr>
              <a:t>أنت الكيميائي: السؤال الثالث</a:t>
            </a:r>
            <a:endParaRPr lang="en-US" sz="2800" dirty="0"/>
          </a:p>
        </p:txBody>
      </p:sp>
      <p:sp>
        <p:nvSpPr>
          <p:cNvPr id="3" name="float:a:2"/>
          <p:cNvSpPr/>
          <p:nvPr/>
        </p:nvSpPr>
        <p:spPr>
          <a:xfrm>
            <a:off x="5943600" y="1325880"/>
            <a:ext cx="5852160" cy="2377440"/>
          </a:xfrm>
          <a:prstGeom prst="roundRect">
            <a:avLst>
              <a:gd name="adj" fmla="val 5385"/>
            </a:avLst>
          </a:prstGeom>
          <a:solidFill>
            <a:srgbClr val="FFFFFF">
              <a:alpha val="90000"/>
            </a:srgbClr>
          </a:solidFill>
          <a:ln w="15875">
            <a:solidFill>
              <a:srgbClr val="9EDCF0"/>
            </a:solidFill>
          </a:ln>
          <a:effectLst>
            <a:outerShdw sx="100000" sy="100000" kx="0" ky="0" algn="bl" rotWithShape="0" blurRad="101600" dist="25400" dir="5400000">
              <a:srgbClr val="0B2545">
                <a:alpha val="18000"/>
              </a:srgbClr>
            </a:outerShdw>
          </a:effectLst>
        </p:spPr>
        <p:txBody>
          <a:bodyPr wrap="square" lIns="76200" tIns="152400" rIns="152400" bIns="76200" rtlCol="0" anchor="t"/>
          <a:lstStyle/>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تخيّل أنك </a:t>
            </a:r>
            <a:pPr rtl="1" algn="r" indent="0" marL="0">
              <a:lnSpc>
                <a:spcPct val="105000"/>
              </a:lnSpc>
              <a:buNone/>
            </a:pPr>
            <a:r>
              <a:rPr lang="ar-SA" altLang="en-US" sz="1800" b="1" dirty="0">
                <a:solidFill>
                  <a:srgbClr val="0284C7"/>
                </a:solidFill>
                <a:latin typeface="Segoe UI" pitchFamily="34" charset="0"/>
                <a:ea typeface="Segoe UI" pitchFamily="34" charset="-122"/>
                <a:cs typeface="Segoe UI" pitchFamily="34" charset="-120"/>
              </a:rPr>
              <a:t>مُحقق عناصر</a:t>
            </a:r>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حصلت على بطاقة عنصر مجهول مكتوب عليها فقط:</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يقع في الدورة 4</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سالبيته الكهربائية منخفضة</a:t>
            </a:r>
            <a:endParaRPr lang="ar-SA" sz="1800" dirty="0"/>
          </a:p>
          <a:p>
            <a:pPr rtl="1" algn="r" indent="0" marL="0">
              <a:lnSpc>
                <a:spcPct val="105000"/>
              </a:lnSpc>
              <a:buNone/>
            </a:pPr>
            <a:r>
              <a:rPr lang="ar-SA" altLang="en-US" sz="1800" dirty="0">
                <a:solidFill>
                  <a:srgbClr val="0B2545"/>
                </a:solidFill>
                <a:latin typeface="Segoe UI" pitchFamily="34" charset="0"/>
                <a:ea typeface="Segoe UI" pitchFamily="34" charset="-122"/>
                <a:cs typeface="Segoe UI" pitchFamily="34" charset="-120"/>
              </a:rPr>
              <a:t>• ينتهي ترتيبه الإلكتروني بـ 4s</a:t>
            </a:r>
            <a:pPr rtl="1" algn="r" indent="0" marL="0">
              <a:lnSpc>
                <a:spcPct val="105000"/>
              </a:lnSpc>
              <a:buNone/>
            </a:pPr>
            <a:r>
              <a:rPr lang="ar-SA" altLang="en-US" sz="1800" baseline="30000" dirty="0">
                <a:solidFill>
                  <a:srgbClr val="0B2545"/>
                </a:solidFill>
                <a:latin typeface="Segoe UI" pitchFamily="34" charset="0"/>
                <a:ea typeface="Segoe UI" pitchFamily="34" charset="-122"/>
                <a:cs typeface="Segoe UI" pitchFamily="34" charset="-120"/>
              </a:rPr>
              <a:t>2</a:t>
            </a:r>
            <a:endParaRPr lang="ar-SA" sz="1800" dirty="0"/>
          </a:p>
        </p:txBody>
      </p:sp>
      <p:sp>
        <p:nvSpPr>
          <p:cNvPr id="4" name="zoom:a:3"/>
          <p:cNvSpPr/>
          <p:nvPr/>
        </p:nvSpPr>
        <p:spPr>
          <a:xfrm>
            <a:off x="5943600" y="3840480"/>
            <a:ext cx="5852160" cy="777240"/>
          </a:xfrm>
          <a:prstGeom prst="roundRect">
            <a:avLst>
              <a:gd name="adj" fmla="val 16471"/>
            </a:avLst>
          </a:prstGeom>
          <a:solidFill>
            <a:srgbClr val="0284C7"/>
          </a:solidFill>
          <a:ln/>
          <a:effectLst>
            <a:outerShdw sx="100000" sy="100000" kx="0" ky="0" algn="bl" rotWithShape="0" blurRad="101600" dist="25400" dir="5400000">
              <a:srgbClr val="0B2545">
                <a:alpha val="18000"/>
              </a:srgbClr>
            </a:outerShdw>
          </a:effectLst>
        </p:spPr>
        <p:txBody>
          <a:bodyPr wrap="square" lIns="76200" tIns="152400" rIns="152400" bIns="76200" rtlCol="0" anchor="ctr"/>
          <a:lstStyle/>
          <a:p>
            <a:pPr rtl="1" algn="r" indent="0" marL="0">
              <a:lnSpc>
                <a:spcPct val="105000"/>
              </a:lnSpc>
              <a:buNone/>
            </a:pPr>
            <a:r>
              <a:rPr lang="ar-SA" altLang="en-US" sz="1700" b="1" dirty="0">
                <a:solidFill>
                  <a:srgbClr val="FFFFFF"/>
                </a:solidFill>
                <a:latin typeface="Segoe UI" pitchFamily="34" charset="0"/>
                <a:ea typeface="Segoe UI" pitchFamily="34" charset="-122"/>
                <a:cs typeface="Segoe UI" pitchFamily="34" charset="-120"/>
              </a:rPr>
              <a:t>المطلوب: اكشف هوية العنصر، وحدّد موقعه في الجدول الدوري.</a:t>
            </a:r>
            <a:endParaRPr lang="ar-SA" sz="1700" dirty="0"/>
          </a:p>
        </p:txBody>
      </p:sp>
      <p:pic>
        <p:nvPicPr>
          <p:cNvPr id="5" name="zoom:a:4" descr="h_ca.png">    </p:cNvPr>
          <p:cNvPicPr>
            <a:picLocks noChangeAspect="1"/>
          </p:cNvPicPr>
          <p:nvPr/>
        </p:nvPicPr>
        <p:blipFill>
          <a:blip r:embed="rId1"/>
          <a:stretch>
            <a:fillRect/>
          </a:stretch>
        </p:blipFill>
        <p:spPr>
          <a:xfrm>
            <a:off x="411480" y="1613973"/>
            <a:ext cx="5303520" cy="4544454"/>
          </a:xfrm>
          <a:prstGeom prst="rect">
            <a:avLst/>
          </a:prstGeom>
        </p:spPr>
      </p:pic>
      <p:sp>
        <p:nvSpPr>
          <p:cNvPr id="6" name="float:c:5"/>
          <p:cNvSpPr/>
          <p:nvPr/>
        </p:nvSpPr>
        <p:spPr>
          <a:xfrm>
            <a:off x="5943600" y="4800600"/>
            <a:ext cx="5852160" cy="64008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2000" b="1" dirty="0">
                <a:solidFill>
                  <a:srgbClr val="FFFFFF"/>
                </a:solidFill>
                <a:latin typeface="Segoe UI" pitchFamily="34" charset="0"/>
                <a:ea typeface="Segoe UI" pitchFamily="34" charset="-122"/>
                <a:cs typeface="Segoe UI" pitchFamily="34" charset="-120"/>
              </a:rPr>
              <a:t>العنصر: الكالسيوم (Ca)</a:t>
            </a:r>
            <a:endParaRPr lang="ar-SA" sz="2000" dirty="0"/>
          </a:p>
        </p:txBody>
      </p:sp>
      <p:sp>
        <p:nvSpPr>
          <p:cNvPr id="7" name="float:c:6"/>
          <p:cNvSpPr/>
          <p:nvPr/>
        </p:nvSpPr>
        <p:spPr>
          <a:xfrm>
            <a:off x="5943600" y="5577840"/>
            <a:ext cx="5852160" cy="777240"/>
          </a:xfrm>
          <a:prstGeom prst="roundRect">
            <a:avLst>
              <a:gd name="adj" fmla="val 50000"/>
            </a:avLst>
          </a:prstGeom>
          <a:solidFill>
            <a:srgbClr val="059669"/>
          </a:solidFill>
          <a:ln/>
        </p:spPr>
        <p:txBody>
          <a:bodyPr wrap="square" lIns="76200" tIns="152400" rIns="152400" bIns="76200" rtlCol="0" anchor="ctr"/>
          <a:lstStyle/>
          <a:p>
            <a:pPr rtl="1" algn="ctr" indent="0" marL="0">
              <a:lnSpc>
                <a:spcPct val="105000"/>
              </a:lnSpc>
              <a:buNone/>
            </a:pPr>
            <a:r>
              <a:rPr lang="ar-SA" altLang="en-US" sz="1600" b="1" dirty="0">
                <a:solidFill>
                  <a:srgbClr val="FFFFFF"/>
                </a:solidFill>
                <a:latin typeface="Segoe UI" pitchFamily="34" charset="0"/>
                <a:ea typeface="Segoe UI" pitchFamily="34" charset="-122"/>
                <a:cs typeface="Segoe UI" pitchFamily="34" charset="-120"/>
              </a:rPr>
              <a:t>موقعه: الدورة الرابعة – المجموعة الثانية (الفلزات القلوية الأرضية)</a:t>
            </a:r>
            <a:endParaRPr lang="ar-SA" sz="1600" dirty="0"/>
          </a:p>
        </p:txBody>
      </p:sp>
    </p:spTree>
  </p:cSld>
  <p:clrMapOvr>
    <a:masterClrMapping/>
  </p:clrMapOvr>
  <mc:AlternateContent xmlns:mc="http://schemas.openxmlformats.org/markup-compatibility/2006">
    <mc:Choice xmlns:p14="http://schemas.microsoft.com/office/powerpoint/2010/main" Requires="p14">
      <p:transition spd="slow" p14:dur="1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385"/>
                            </p:stCondLst>
                            <p:childTnLst>
                              <p:par>
                                <p:cTn id="13" presetID="5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ppt_w</p:attrName>
                                        </p:attrNameLst>
                                      </p:cBhvr>
                                      <p:tavLst>
                                        <p:tav tm="0">
                                          <p:val>
                                            <p:strVal val="0"/>
                                          </p:val>
                                        </p:tav>
                                        <p:tav tm="100000">
                                          <p:val>
                                            <p:strVal val="#ppt_w"/>
                                          </p:val>
                                        </p:tav>
                                      </p:tavLst>
                                    </p:anim>
                                    <p:anim calcmode="lin" valueType="num">
                                      <p:cBhvr additive="base">
                                        <p:cTn id="11" dur="500" fill="hold"/>
                                        <p:tgtEl>
                                          <p:spTgt spid="4"/>
                                        </p:tgtEl>
                                        <p:attrNameLst>
                                          <p:attrName>ppt_h</p:attrName>
                                        </p:attrNameLst>
                                      </p:cBhvr>
                                      <p:tavLst>
                                        <p:tav tm="0">
                                          <p:val>
                                            <p:strVal val="0"/>
                                          </p:val>
                                        </p:tav>
                                        <p:tav tm="100000">
                                          <p:val>
                                            <p:strVal val="#ppt_h"/>
                                          </p:val>
                                        </p:tav>
                                      </p:tavLst>
                                    </p:anim>
                                    <p:animEffect transition="in" filter="fade">
                                      <p:cBhvr>
                                        <p:cTn id="12" dur="500"/>
                                        <p:tgtEl>
                                          <p:spTgt spid="4"/>
                                        </p:tgtEl>
                                      </p:cBhvr>
                                    </p:animEffect>
                                  </p:childTnLst>
                                </p:cTn>
                              </p:par>
                            </p:childTnLst>
                          </p:cTn>
                        </p:par>
                        <p:par>
                          <p:cTn id="20" fill="hold">
                            <p:stCondLst>
                              <p:cond delay="660"/>
                            </p:stCondLst>
                            <p:childTnLst>
                              <p:par>
                                <p:cTn id="19" presetID="53" presetClass="entr" presetSubtype="16"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ppt_w</p:attrName>
                                        </p:attrNameLst>
                                      </p:cBhvr>
                                      <p:tavLst>
                                        <p:tav tm="0">
                                          <p:val>
                                            <p:strVal val="0"/>
                                          </p:val>
                                        </p:tav>
                                        <p:tav tm="100000">
                                          <p:val>
                                            <p:strVal val="#ppt_w"/>
                                          </p:val>
                                        </p:tav>
                                      </p:tavLst>
                                    </p:anim>
                                    <p:anim calcmode="lin" valueType="num">
                                      <p:cBhvr additive="base">
                                        <p:cTn id="17" dur="500" fill="hold"/>
                                        <p:tgtEl>
                                          <p:spTgt spid="5"/>
                                        </p:tgtEl>
                                        <p:attrNameLst>
                                          <p:attrName>ppt_h</p:attrName>
                                        </p:attrNameLst>
                                      </p:cBhvr>
                                      <p:tavLst>
                                        <p:tav tm="0">
                                          <p:val>
                                            <p:strVal val="0"/>
                                          </p:val>
                                        </p:tav>
                                        <p:tav tm="100000">
                                          <p:val>
                                            <p:strVal val="#ppt_h"/>
                                          </p:val>
                                        </p:tav>
                                      </p:tavLst>
                                    </p:anim>
                                    <p:animEffect transition="in" filter="fade">
                                      <p:cBhvr>
                                        <p:cTn id="18" dur="500"/>
                                        <p:tgtEl>
                                          <p:spTgt spid="5"/>
                                        </p:tgtEl>
                                      </p:cBhvr>
                                    </p:animEffect>
                                  </p:childTnLst>
                                </p:cTn>
                              </p:par>
                            </p:childTnLst>
                          </p:cTn>
                        </p:par>
                      </p:childTnLst>
                    </p:cTn>
                  </p:par>
                  <p:par>
                    <p:cTn id="28" fill="hold">
                      <p:stCondLst>
                        <p:cond delay="indefinite"/>
                      </p:stCondLst>
                      <p:childTnLst>
                        <p:par>
                          <p:cTn id="27" fill="hold">
                            <p:stCondLst>
                              <p:cond delay="0"/>
                            </p:stCondLst>
                            <p:childTnLst>
                              <p:par>
                                <p:cTn id="26" presetID="42"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00"/>
                                        <p:tgtEl>
                                          <p:spTgt spid="6"/>
                                        </p:tgtEl>
                                      </p:cBhvr>
                                    </p:animEffect>
                                    <p:anim calcmode="lin" valueType="num">
                                      <p:cBhvr additive="base">
                                        <p:cTn id="24" dur="700" fill="hold"/>
                                        <p:tgtEl>
                                          <p:spTgt spid="6"/>
                                        </p:tgtEl>
                                        <p:attrNameLst>
                                          <p:attrName>ppt_x</p:attrName>
                                        </p:attrNameLst>
                                      </p:cBhvr>
                                      <p:tavLst>
                                        <p:tav tm="0">
                                          <p:val>
                                            <p:strVal val="#ppt_x"/>
                                          </p:val>
                                        </p:tav>
                                        <p:tav tm="100000">
                                          <p:val>
                                            <p:strVal val="#ppt_x"/>
                                          </p:val>
                                        </p:tav>
                                      </p:tavLst>
                                    </p:anim>
                                    <p:anim calcmode="lin" valueType="num">
                                      <p:cBhvr additive="base">
                                        <p:cTn id="25" dur="7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4" fill="hold">
                            <p:stCondLst>
                              <p:cond delay="0"/>
                            </p:stCondLst>
                            <p:childTnLst>
                              <p:par>
                                <p:cTn id="33" presetID="42"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additive="base">
                                        <p:cTn id="31" dur="700" fill="hold"/>
                                        <p:tgtEl>
                                          <p:spTgt spid="7"/>
                                        </p:tgtEl>
                                        <p:attrNameLst>
                                          <p:attrName>ppt_x</p:attrName>
                                        </p:attrNameLst>
                                      </p:cBhvr>
                                      <p:tavLst>
                                        <p:tav tm="0">
                                          <p:val>
                                            <p:strVal val="#ppt_x"/>
                                          </p:val>
                                        </p:tav>
                                        <p:tav tm="100000">
                                          <p:val>
                                            <p:strVal val="#ppt_x"/>
                                          </p:val>
                                        </p:tav>
                                      </p:tavLst>
                                    </p:anim>
                                    <p:anim calcmode="lin" valueType="num">
                                      <p:cBhvr additive="base">
                                        <p:cTn id="32" dur="7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bg" descr="/tmp/claude-0/-home-user-Project-1/c7d0d2a1-f360-54f1-afe5-e7480b814ba9/scratchpad/build/a/ending.jpg">    </p:cNvPr>
          <p:cNvPicPr>
            <a:picLocks noChangeAspect="1"/>
          </p:cNvPicPr>
          <p:nvPr/>
        </p:nvPicPr>
        <p:blipFill>
          <a:blip r:embed="rId1"/>
          <a:stretch>
            <a:fillRect/>
          </a:stretch>
        </p:blipFill>
        <p:spPr>
          <a:xfrm>
            <a:off x="0" y="0"/>
            <a:ext cx="12191695" cy="6858000"/>
          </a:xfrm>
          <a:prstGeom prst="rect">
            <a:avLst/>
          </a:prstGeom>
        </p:spPr>
      </p:pic>
      <p:sp>
        <p:nvSpPr>
          <p:cNvPr id="3" name="float:a:1"/>
          <p:cNvSpPr/>
          <p:nvPr/>
        </p:nvSpPr>
        <p:spPr>
          <a:xfrm>
            <a:off x="914400" y="4800600"/>
            <a:ext cx="10360152" cy="1783080"/>
          </a:xfrm>
          <a:prstGeom prst="roundRect">
            <a:avLst>
              <a:gd name="adj" fmla="val 10256"/>
            </a:avLst>
          </a:prstGeom>
          <a:solidFill>
            <a:srgbClr val="0B2545">
              <a:alpha val="85000"/>
            </a:srgbClr>
          </a:solidFill>
          <a:ln w="25400">
            <a:solidFill>
              <a:srgbClr val="00B4D8"/>
            </a:solidFill>
          </a:ln>
        </p:spPr>
        <p:txBody>
          <a:bodyPr wrap="square" lIns="76200" tIns="152400" rIns="152400" bIns="76200" rtlCol="0" anchor="ctr"/>
          <a:lstStyle/>
          <a:p>
            <a:pPr rtl="1" algn="ctr" indent="0" marL="0">
              <a:lnSpc>
                <a:spcPct val="105000"/>
              </a:lnSpc>
              <a:buNone/>
            </a:pPr>
            <a:r>
              <a:rPr lang="ar-SA" altLang="en-US" sz="3400" b="1" dirty="0">
                <a:solidFill>
                  <a:srgbClr val="FFFFFF"/>
                </a:solidFill>
                <a:latin typeface="Segoe UI" pitchFamily="34" charset="0"/>
                <a:ea typeface="Segoe UI" pitchFamily="34" charset="-122"/>
                <a:cs typeface="Segoe UI" pitchFamily="34" charset="-120"/>
              </a:rPr>
              <a:t>أحسنت! أتممت المهمة بنجاح</a:t>
            </a:r>
            <a:endParaRPr lang="ar-SA" sz="1700" dirty="0"/>
          </a:p>
          <a:p>
            <a:pPr rtl="1" algn="ctr" indent="0" marL="0">
              <a:lnSpc>
                <a:spcPct val="105000"/>
              </a:lnSpc>
              <a:buNone/>
            </a:pPr>
            <a:r>
              <a:rPr lang="ar-SA" altLang="en-US" sz="1900" dirty="0">
                <a:solidFill>
                  <a:srgbClr val="D6F6FF"/>
                </a:solidFill>
                <a:latin typeface="Segoe UI" pitchFamily="34" charset="0"/>
                <a:ea typeface="Segoe UI" pitchFamily="34" charset="-122"/>
                <a:cs typeface="Segoe UI" pitchFamily="34" charset="-120"/>
              </a:rPr>
              <a:t>من قياس نصف القطر الذري إلى الفوز في شد حبل السالبية الكهربائية... أصبحت الآن خبيرًا في الميول الدورية!</a:t>
            </a:r>
            <a:endParaRPr lang="ar-SA" sz="1700" dirty="0"/>
          </a:p>
        </p:txBody>
      </p:sp>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8" fill="hold">
                            <p:stCondLst>
                              <p:cond delay="0"/>
                            </p:stCondLst>
                            <p:childTnLst>
                              <p:par>
                                <p:cTn id="7" presetID="42"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700"/>
                                        <p:tgtEl>
                                          <p:spTgt spid="3"/>
                                        </p:tgtEl>
                                      </p:cBhvr>
                                    </p:animEffect>
                                    <p:anim calcmode="lin" valueType="num">
                                      <p:cBhvr additive="base">
                                        <p:cTn id="5" dur="700" fill="hold"/>
                                        <p:tgtEl>
                                          <p:spTgt spid="3"/>
                                        </p:tgtEl>
                                        <p:attrNameLst>
                                          <p:attrName>ppt_x</p:attrName>
                                        </p:attrNameLst>
                                      </p:cBhvr>
                                      <p:tavLst>
                                        <p:tav tm="0">
                                          <p:val>
                                            <p:strVal val="#ppt_x"/>
                                          </p:val>
                                        </p:tav>
                                        <p:tav tm="100000">
                                          <p:val>
                                            <p:strVal val="#ppt_x"/>
                                          </p:val>
                                        </p:tav>
                                      </p:tavLst>
                                    </p:anim>
                                    <p:anim calcmode="lin" valueType="num">
                                      <p:cBhvr additive="base">
                                        <p:cTn id="6" dur="7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Atomic Arena">
  <a:themeElements>
    <a:clrScheme name="Atomic Arena">
      <a:dk1>
        <a:srgbClr val="0B2545"/>
      </a:dk1>
      <a:lt1>
        <a:srgbClr val="FFFFFF"/>
      </a:lt1>
      <a:dk2>
        <a:srgbClr val="13315C"/>
      </a:dk2>
      <a:lt2>
        <a:srgbClr val="E8F7FC"/>
      </a:lt2>
      <a:accent1>
        <a:srgbClr val="00B4D8"/>
      </a:accent1>
      <a:accent2>
        <a:srgbClr val="F97316"/>
      </a:accent2>
      <a:accent3>
        <a:srgbClr val="7C3AED"/>
      </a:accent3>
      <a:accent4>
        <a:srgbClr val="0D9488"/>
      </a:accent4>
      <a:accent5>
        <a:srgbClr val="DB2777"/>
      </a:accent5>
      <a:accent6>
        <a:srgbClr val="059669"/>
      </a:accent6>
      <a:hlink>
        <a:srgbClr val="0077B6"/>
      </a:hlink>
      <a:folHlink>
        <a:srgbClr val="7C3AED"/>
      </a:folHlink>
    </a:clrScheme>
    <a:fontScheme name="Atomic Arena">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الميول الدورية - الدرس 3-2</dc:title>
  <dc:subject>PptxGenJS Presentation</dc:subject>
  <dc:creator>م. انوار الفضلي</dc:creator>
  <cp:lastModifiedBy>م. انوار الفضلي</cp:lastModifiedBy>
  <cp:revision>1</cp:revision>
  <dcterms:created xsi:type="dcterms:W3CDTF">2026-10-22T20:16:43Z</dcterms:created>
  <dcterms:modified xsi:type="dcterms:W3CDTF">2026-10-22T20:16:43Z</dcterms:modified>
</cp:coreProperties>
</file>