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795720" y="3243708"/>
            <a:ext cx="13018976" cy="22433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92000"/>
              </a:lnSpc>
              <a:buNone/>
            </a:pPr>
            <a:r>
              <a:rPr lang="ar-SA" sz="746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الحسابات المتعلقة</a:t>
            </a:r>
            <a:endParaRPr lang="ar-SA" sz="746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92000"/>
              </a:lnSpc>
              <a:buNone/>
            </a:pPr>
            <a:r>
              <a:rPr lang="ar-SA" sz="746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بالخواص المجمعة للمحاليل</a:t>
            </a:r>
            <a:endParaRPr lang="ar-SA" sz="746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832639" y="5652343"/>
            <a:ext cx="12637976" cy="63757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4060" b="1" i="0" dirty="0">
                <a:solidFill>
                  <a:srgbClr val="CFCFC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(Calculations Related to Solutions Properties)</a:t>
            </a:r>
            <a:endParaRPr lang="ar-SA" sz="4060" b="1" i="0" dirty="0">
              <a:solidFill>
                <a:srgbClr val="CFCFC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795720" y="646162"/>
            <a:ext cx="12688186" cy="80287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1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لماذا نرش الملح على الطرق الجليدية؟</a:t>
            </a:r>
            <a:endParaRPr lang="ar-SA" sz="51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623680" y="1761926"/>
            <a:ext cx="13126779" cy="61396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080" b="1" i="0" dirty="0">
                <a:solidFill>
                  <a:srgbClr val="C8C8C8"/>
                </a:solidFill>
                <a:latin typeface="Tahoma"/>
                <a:ea typeface="Tahoma"/>
                <a:cs typeface="Tahoma"/>
              </a:rPr>
              <a:t>لغز علمي ينقذ ملايين الأرواح، وسره يكمن في "الخواص المجمعة".</a:t>
            </a:r>
            <a:endParaRPr lang="ar-SA" sz="3080" b="1" i="0" dirty="0">
              <a:solidFill>
                <a:srgbClr val="C8C8C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453116" y="1844575"/>
            <a:ext cx="4701953" cy="135780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33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الخواص المجمّعة</a:t>
            </a:r>
            <a:endParaRPr lang="ar-SA" sz="33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33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(التجمّعية) للمحاليل</a:t>
            </a:r>
            <a:endParaRPr lang="ar-SA" sz="33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22325" y="3485753"/>
            <a:ext cx="4843720" cy="3636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500" b="0" i="0" dirty="0">
                <a:solidFill>
                  <a:srgbClr val="F2F2F2"/>
                </a:solidFill>
                <a:latin typeface="Tahoma"/>
                <a:ea typeface="Tahoma"/>
                <a:cs typeface="Tahoma"/>
              </a:rPr>
              <a:t>هي الخواص الفيزيائية للمحاليل التي تتأثر بعدد جسيمات المذاب، وليس بطبيعتها.</a:t>
            </a:r>
            <a:endParaRPr lang="ar-SA" sz="2500" b="0" i="0" dirty="0">
              <a:solidFill>
                <a:srgbClr val="F2F2F2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200"/>
              </a:spcBef>
              <a:buNone/>
            </a:pPr>
            <a:r>
              <a:rPr lang="ar-SA" sz="2500" b="0" i="0" dirty="0">
                <a:solidFill>
                  <a:srgbClr val="F2F2F2"/>
                </a:solidFill>
                <a:latin typeface="Tahoma"/>
                <a:ea typeface="Tahoma"/>
                <a:cs typeface="Tahoma"/>
              </a:rPr>
              <a:t>عند إضافة مذاب غير متطاير (لا يتبخر بسهولة) إلى المذيب، تتغير خواص المذيب النقي بشكل جذري استناداً إلى عدد الجسيمات المضافة فقط.</a:t>
            </a:r>
            <a:endParaRPr lang="ar-SA" sz="2500" b="0" i="0" dirty="0">
              <a:solidFill>
                <a:srgbClr val="F2F2F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7556500" y="5699571"/>
            <a:ext cx="1946348" cy="63757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النوع</a:t>
            </a:r>
            <a:endParaRPr lang="ar-SA" sz="40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2830230" y="6573291"/>
            <a:ext cx="2055074" cy="63757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4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العدد</a:t>
            </a:r>
            <a:endParaRPr lang="ar-SA" sz="44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0148186" y="598933"/>
            <a:ext cx="4052186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9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المذيب النقي</a:t>
            </a:r>
            <a:endParaRPr lang="ar-SA" sz="399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2776279" y="533995"/>
            <a:ext cx="2693581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86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المحلول</a:t>
            </a:r>
            <a:endParaRPr lang="ar-SA" sz="386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5150883" y="6785818"/>
            <a:ext cx="5930604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7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الانخفاض في الضغط البخاري</a:t>
            </a:r>
            <a:endParaRPr lang="ar-SA" sz="287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453116" y="7441108"/>
            <a:ext cx="13373395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1770" b="1" i="0" dirty="0">
                <a:solidFill>
                  <a:srgbClr val="F2F2F2"/>
                </a:solidFill>
                <a:latin typeface="Tahoma"/>
                <a:ea typeface="Tahoma"/>
                <a:cs typeface="Tahoma"/>
              </a:rPr>
              <a:t>جسيمات المذاب تحتل مساحة على السطح، مما يقل من عدد جزيئات المذيب القادرة على الإفلات إلى الحالة الغازية.</a:t>
            </a:r>
            <a:endParaRPr lang="ar-SA" sz="1770" b="1" i="0" dirty="0">
              <a:solidFill>
                <a:srgbClr val="F2F2F2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0000"/>
              </a:lnSpc>
              <a:buNone/>
            </a:pPr>
            <a:r>
              <a:rPr lang="ar-SA" sz="1770" b="1" i="0" dirty="0">
                <a:solidFill>
                  <a:srgbClr val="F2F2F2"/>
                </a:solidFill>
                <a:latin typeface="Tahoma"/>
                <a:ea typeface="Tahoma"/>
                <a:cs typeface="Tahoma"/>
              </a:rPr>
              <a:t>النتيجة الحتمية: انخفاض الضغط البخاري للمحلول مقارنة بالمذيب النقي.</a:t>
            </a:r>
            <a:endParaRPr lang="ar-SA" sz="1770" b="1" i="0" dirty="0">
              <a:solidFill>
                <a:srgbClr val="F2F2F2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9356651" y="2122041"/>
            <a:ext cx="5682511" cy="64938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422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علاقة طردية حاكمة</a:t>
            </a:r>
            <a:endParaRPr lang="ar-SA" sz="422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9333023" y="3107928"/>
            <a:ext cx="5528930" cy="4014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30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كلما زاد عدد جسيمات </a:t>
            </a:r>
            <a:r>
              <a:rPr lang="ar-SA" sz="3000" b="1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المذاب،</a:t>
            </a:r>
            <a:r>
              <a:rPr lang="ar-SA" sz="30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</a:t>
            </a:r>
            <a:r>
              <a:rPr lang="ar-SA" sz="3000" b="1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قلّ الضغط البخاري</a:t>
            </a:r>
            <a:r>
              <a:rPr lang="ar-SA" sz="30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بشكل أكبر.</a:t>
            </a:r>
            <a:endParaRPr lang="ar-SA" sz="30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3000"/>
              </a:spcBef>
              <a:buNone/>
            </a:pPr>
            <a:r>
              <a:rPr lang="ar-SA" sz="30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هذا الانخفاض في الضغط البخاري هو </a:t>
            </a:r>
            <a:r>
              <a:rPr lang="ar-SA" sz="3000" b="1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"المحرك الأساسي"</a:t>
            </a:r>
            <a:r>
              <a:rPr lang="ar-SA" sz="30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الذي سيغير درجتي الغليان والتجمد!</a:t>
            </a:r>
            <a:endParaRPr lang="ar-SA" sz="30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4300279" y="3125638"/>
            <a:ext cx="1713023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0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مذيب</a:t>
            </a:r>
            <a:endParaRPr lang="ar-SA" sz="30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023731" y="4784526"/>
            <a:ext cx="2011140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170" b="1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محلول</a:t>
            </a:r>
            <a:endParaRPr lang="ar-SA" sz="3170" b="1" i="0" dirty="0">
              <a:solidFill>
                <a:srgbClr val="E8A94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3058060" y="7630021"/>
            <a:ext cx="3500437" cy="59035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0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درجة الحرارة (C)</a:t>
            </a:r>
            <a:endParaRPr lang="ar-SA" sz="270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 rot="16200000">
            <a:off x="-814044" y="4182212"/>
            <a:ext cx="3813671" cy="53162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0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الضغط البخاري (torr)</a:t>
            </a:r>
            <a:endParaRPr lang="ar-SA" sz="280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/>
      <p:bldP spid="105" grpId="0"/>
      <p:bldP spid="1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921488" y="1868189"/>
            <a:ext cx="6958418" cy="147587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EDEDED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4400" b="1" i="0" dirty="0">
              <a:solidFill>
                <a:srgbClr val="EDEDED"/>
              </a:solidFill>
              <a:latin typeface="Tahoma"/>
              <a:ea typeface="Tahoma"/>
              <a:cs typeface="Tahoma"/>
            </a:endParaRPr>
          </a:p>
          <a:p>
            <a:pPr algn="r" rtl="0">
              <a:lnSpc>
                <a:spcPct val="110000"/>
              </a:lnSpc>
              <a:buNone/>
            </a:pPr>
            <a:r>
              <a:rPr lang="ar-SA" sz="4400" b="1" i="0" dirty="0">
                <a:solidFill>
                  <a:srgbClr val="EDEDED"/>
                </a:solidFill>
                <a:latin typeface="Tahoma"/>
                <a:ea typeface="Tahoma"/>
                <a:cs typeface="Tahoma"/>
              </a:rPr>
              <a:t>(Boiling-Point Elevation)</a:t>
            </a:r>
            <a:endParaRPr lang="ar-SA" sz="4400" b="1" i="0" dirty="0">
              <a:solidFill>
                <a:srgbClr val="EDEDED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22325" y="3993455"/>
            <a:ext cx="6533116" cy="37192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9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بسبب انخفاض الضغط البخاري، يحتاج المحلول إلى </a:t>
            </a:r>
            <a:r>
              <a:rPr lang="ar-SA" sz="2900" b="0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طاقة حرارية أكبر</a:t>
            </a:r>
            <a:r>
              <a:rPr lang="ar-SA" sz="29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ليتمكن ضغطه البخاري من التغلب على الضغط الجوي.</a:t>
            </a:r>
            <a:endParaRPr lang="ar-SA" sz="29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800"/>
              </a:spcBef>
              <a:buNone/>
            </a:pPr>
            <a:r>
              <a:rPr lang="ar-SA" sz="29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لذلك: يغلي المحلول دائماً عند درجة </a:t>
            </a:r>
            <a:r>
              <a:rPr lang="ar-SA" sz="2900" b="0" i="0" dirty="0">
                <a:solidFill>
                  <a:srgbClr val="E8A94E"/>
                </a:solidFill>
                <a:latin typeface="Tahoma"/>
                <a:ea typeface="Tahoma"/>
                <a:cs typeface="Tahoma"/>
              </a:rPr>
              <a:t>حرارة أعلى</a:t>
            </a:r>
            <a:r>
              <a:rPr lang="ar-SA" sz="29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من المذيب النقي.</a:t>
            </a:r>
            <a:endParaRPr lang="ar-SA" sz="29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109404" y="2529383"/>
            <a:ext cx="6994968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314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قانون الارتفاع في درجة الغليان:</a:t>
            </a:r>
            <a:endParaRPr lang="ar-SA" sz="314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19741" y="3751411"/>
            <a:ext cx="6999029" cy="123973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6390" b="1" i="1" dirty="0">
                <a:solidFill>
                  <a:srgbClr val="B9BFC6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ΔT</a:t>
            </a:r>
            <a:r>
              <a:rPr lang="ar-SA" sz="6390" b="1" i="1" dirty="0" baseline="-25000">
                <a:solidFill>
                  <a:srgbClr val="B9BFC6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bp</a:t>
            </a:r>
            <a:r>
              <a:rPr lang="ar-SA" sz="6390" b="1" i="1" dirty="0">
                <a:solidFill>
                  <a:srgbClr val="B9BFC6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6390" b="1" i="1" dirty="0" baseline="-25000">
                <a:solidFill>
                  <a:srgbClr val="B9BFC6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bp</a:t>
            </a:r>
            <a:r>
              <a:rPr lang="ar-SA" sz="6390" b="1" i="1" dirty="0">
                <a:solidFill>
                  <a:srgbClr val="B9BFC6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 xml:space="preserve"> × m</a:t>
            </a:r>
            <a:endParaRPr lang="ar-SA" sz="6390" b="1" i="0" dirty="0">
              <a:solidFill>
                <a:srgbClr val="B9BFC6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772093" y="5410299"/>
            <a:ext cx="6025116" cy="1593949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noAutofit/>
          </a:bodyPr>
          <a:lstStyle/>
          <a:p>
            <a:pPr algn="r" rtl="1">
              <a:lnSpc>
                <a:spcPct val="118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400" b="0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مقدار الارتفاع في درجة الغليان.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8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00" b="0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ثابت الارتفاع المولالي لدرجة الغليان.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8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m: التركيز المولالي للمحلول.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0256819" y="2682875"/>
            <a:ext cx="1873803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6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المذيب</a:t>
            </a:r>
            <a:endParaRPr lang="ar-SA" sz="266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3125302" y="2647453"/>
            <a:ext cx="1275906" cy="59035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2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3220" b="0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bp</a:t>
            </a:r>
            <a:endParaRPr lang="ar-SA" sz="32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0538046" y="3763218"/>
            <a:ext cx="1311348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50" b="0" i="0" dirty="0">
                <a:solidFill>
                  <a:srgbClr val="F05555"/>
                </a:solidFill>
                <a:latin typeface="Tahoma"/>
                <a:ea typeface="Tahoma"/>
                <a:cs typeface="Tahoma"/>
              </a:rPr>
              <a:t>الماء</a:t>
            </a:r>
            <a:endParaRPr lang="ar-SA" sz="2450" b="0" i="0" dirty="0">
              <a:solidFill>
                <a:srgbClr val="F055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2971720" y="3763218"/>
            <a:ext cx="1571255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730" b="0" i="0" dirty="0">
                <a:solidFill>
                  <a:srgbClr val="F05555"/>
                </a:solidFill>
                <a:latin typeface="Tahoma"/>
                <a:ea typeface="Tahoma"/>
                <a:cs typeface="Tahoma"/>
              </a:rPr>
              <a:t>0.512</a:t>
            </a:r>
            <a:endParaRPr lang="ar-SA" sz="2730" b="0" i="0" dirty="0">
              <a:solidFill>
                <a:srgbClr val="F055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0289953" y="4837658"/>
            <a:ext cx="1807534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5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الإيثانول</a:t>
            </a:r>
            <a:endParaRPr lang="ar-SA" sz="265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13099736" y="4814044"/>
            <a:ext cx="1350667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58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1.19</a:t>
            </a:r>
            <a:endParaRPr lang="ar-SA" sz="258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10419906" y="5841255"/>
            <a:ext cx="1535813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4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البنزين</a:t>
            </a:r>
            <a:endParaRPr lang="ar-SA" sz="234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1" name="Text 11"/>
          <p:cNvSpPr txBox="1"/>
          <p:nvPr/>
        </p:nvSpPr>
        <p:spPr>
          <a:xfrm>
            <a:off x="13076385" y="5829448"/>
            <a:ext cx="1373741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8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2.53</a:t>
            </a:r>
            <a:endParaRPr lang="ar-SA" sz="268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6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 build="p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922232" y="457249"/>
            <a:ext cx="8411534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4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مثال تطبيقي: محلول الجلوكوز</a:t>
            </a:r>
            <a:endParaRPr lang="ar-SA" sz="404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722991" y="1283741"/>
            <a:ext cx="12798203" cy="61396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3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ما هي درجة غليان محلول الجلوكوز </a:t>
            </a:r>
            <a:r>
              <a:rPr lang="ar-SA" sz="33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</a:t>
            </a:r>
            <a:r>
              <a:rPr lang="ar-SA" sz="3320" b="1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33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3320" b="1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12</a:t>
            </a:r>
            <a:r>
              <a:rPr lang="ar-SA" sz="33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</a:t>
            </a:r>
            <a:r>
              <a:rPr lang="ar-SA" sz="3320" b="1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33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تركيزه 1.5‎ m ؟</a:t>
            </a:r>
            <a:endParaRPr lang="ar-SA" sz="33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752281" y="2240111"/>
            <a:ext cx="1879156" cy="34240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9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المعطيات</a:t>
            </a:r>
            <a:endParaRPr lang="ar-SA" sz="199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2023601" y="2783234"/>
            <a:ext cx="11878007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01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100 C = درجة غليان الماء النقي | K</a:t>
            </a:r>
            <a:r>
              <a:rPr lang="ar-SA" sz="2010" b="1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01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= 0.512 C/m للماء | ‎1.5 m = (m) التركيز المولالي</a:t>
            </a:r>
            <a:endParaRPr lang="ar-SA" sz="201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2406262" y="3893095"/>
            <a:ext cx="3185521" cy="36601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3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التعويض في القانون</a:t>
            </a:r>
            <a:endParaRPr lang="ar-SA" sz="193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5824279" y="3993455"/>
            <a:ext cx="4595627" cy="1298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rtl="0">
              <a:lnSpc>
                <a:spcPct val="105000"/>
              </a:lnSpc>
              <a:buNone/>
            </a:pPr>
            <a:r>
              <a:rPr lang="ar-SA" sz="3200" b="0" i="1" dirty="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ΔT</a:t>
            </a:r>
            <a:r>
              <a:rPr lang="ar-SA" sz="3200" b="0" i="1" dirty="0" baseline="-2500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bp</a:t>
            </a:r>
            <a:r>
              <a:rPr lang="ar-SA" sz="3200" b="0" i="1" dirty="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3200" b="0" i="1" dirty="0" baseline="-2500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bp</a:t>
            </a:r>
            <a:r>
              <a:rPr lang="ar-SA" sz="3200" b="0" i="1" dirty="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 xml:space="preserve"> × m</a:t>
            </a:r>
            <a:endParaRPr lang="ar-SA" sz="3200" b="1" i="0" dirty="0">
              <a:solidFill>
                <a:srgbClr val="AEB4BA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05000"/>
              </a:lnSpc>
              <a:buNone/>
            </a:pPr>
            <a:r>
              <a:rPr lang="ar-SA" sz="3200" b="0" i="1" dirty="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ΔT</a:t>
            </a:r>
            <a:r>
              <a:rPr lang="ar-SA" sz="3200" b="0" i="1" dirty="0" baseline="-2500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>bp</a:t>
            </a:r>
            <a:r>
              <a:rPr lang="ar-SA" sz="3200" b="0" i="1" dirty="0">
                <a:solidFill>
                  <a:srgbClr val="AEB4BA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Cambria"/>
                <a:ea typeface="Cambria"/>
                <a:cs typeface="Cambria"/>
              </a:rPr>
              <a:t xml:space="preserve"> = 0.512 × 1.5</a:t>
            </a:r>
            <a:endParaRPr lang="ar-SA" sz="3200" b="1" i="0" dirty="0">
              <a:solidFill>
                <a:srgbClr val="AEB4BA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2365559" y="5546080"/>
            <a:ext cx="3278741" cy="36601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2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حساب مقدار الارتفاع</a:t>
            </a:r>
            <a:endParaRPr lang="ar-SA" sz="192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6273209" y="6041975"/>
            <a:ext cx="3697767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41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341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341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 xml:space="preserve"> = </a:t>
            </a:r>
            <a:r>
              <a:rPr lang="ar-SA" sz="341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0.77 C</a:t>
            </a:r>
            <a:endParaRPr lang="ar-SA" sz="341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2554121" y="7163643"/>
            <a:ext cx="2559013" cy="36601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10" b="1" i="0" dirty="0">
                <a:solidFill>
                  <a:srgbClr val="E6E6E6"/>
                </a:solidFill>
                <a:latin typeface="Tahoma"/>
                <a:ea typeface="Tahoma"/>
                <a:cs typeface="Tahoma"/>
              </a:rPr>
              <a:t>النتيجة النهائية</a:t>
            </a:r>
            <a:endParaRPr lang="ar-SA" sz="2010" b="1" i="0" dirty="0">
              <a:solidFill>
                <a:srgbClr val="E6E6E6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2966040" y="7511950"/>
            <a:ext cx="10229406" cy="68480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0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100.77 C = 100 C + 0.77 C = درجة غليان المحلول</a:t>
            </a:r>
            <a:endParaRPr lang="ar-SA" sz="30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3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7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1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 build="p"/>
      <p:bldP spid="107" grpId="0"/>
      <p:bldP spid="108" grpId="0"/>
      <p:bldP spid="109" grpId="0"/>
      <p:bldP spid="1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-70883" y="421828"/>
            <a:ext cx="3804093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450" b="1" i="0" dirty="0">
                <a:solidFill>
                  <a:srgbClr val="1E1E1E"/>
                </a:solidFill>
                <a:latin typeface="Tahoma"/>
                <a:ea typeface="Tahoma"/>
                <a:cs typeface="Tahoma"/>
              </a:rPr>
              <a:t>المذيب النقي</a:t>
            </a:r>
            <a:endParaRPr lang="ar-SA" sz="3450" b="1" i="0" dirty="0">
              <a:solidFill>
                <a:srgbClr val="1E1E1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002113" y="941337"/>
            <a:ext cx="5100305" cy="257393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37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الانخفاض في درجة</a:t>
            </a:r>
            <a:endParaRPr lang="ar-SA" sz="37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buNone/>
            </a:pPr>
            <a:r>
              <a:rPr lang="ar-SA" sz="37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التجمد</a:t>
            </a:r>
            <a:endParaRPr lang="ar-SA" sz="37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0">
              <a:lnSpc>
                <a:spcPct val="100000"/>
              </a:lnSpc>
              <a:buNone/>
            </a:pPr>
            <a:r>
              <a:rPr lang="ar-SA" sz="37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(Freezing-Point</a:t>
            </a:r>
            <a:endParaRPr lang="ar-SA" sz="37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0">
              <a:lnSpc>
                <a:spcPct val="100000"/>
              </a:lnSpc>
              <a:buNone/>
            </a:pPr>
            <a:r>
              <a:rPr lang="ar-SA" sz="37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Depression)</a:t>
            </a:r>
            <a:endParaRPr lang="ar-SA" sz="37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514418" y="4052490"/>
            <a:ext cx="5375348" cy="3896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7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حل لغز رش الملح: جسيمات المذاب تتدخل وتمنع جزيئات المذيب من التقارب والترتيب لتكوين الحالة الصلبة (الجليد).</a:t>
            </a:r>
            <a:endParaRPr lang="ar-SA" sz="27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3000"/>
              </a:spcBef>
              <a:buNone/>
            </a:pPr>
            <a:r>
              <a:rPr lang="ar-SA" sz="27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النتيجة:</a:t>
            </a:r>
            <a:r>
              <a:rPr lang="ar-SA" sz="27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يجب خفض درجة الحرارة أكثر بكثير لإجبار المحلول على التجمد.</a:t>
            </a:r>
            <a:endParaRPr lang="ar-SA" sz="27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446976" y="8155433"/>
            <a:ext cx="2740837" cy="56673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450" b="1" i="0" dirty="0">
                <a:solidFill>
                  <a:srgbClr val="1E1E1E"/>
                </a:solidFill>
                <a:latin typeface="Tahoma"/>
                <a:ea typeface="Tahoma"/>
                <a:cs typeface="Tahoma"/>
              </a:rPr>
              <a:t>المحلول</a:t>
            </a:r>
            <a:endParaRPr lang="ar-SA" sz="3450" b="1" i="0" dirty="0">
              <a:solidFill>
                <a:srgbClr val="1E1E1E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 build="p"/>
      <p:bldP spid="1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291597" y="1632049"/>
            <a:ext cx="6245704" cy="15703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8000"/>
              </a:lnSpc>
              <a:buNone/>
            </a:pPr>
            <a:r>
              <a:rPr lang="ar-SA" sz="4420" b="1" i="0" dirty="0">
                <a:solidFill>
                  <a:srgbClr val="E4F4FF"/>
                </a:solidFill>
                <a:effectLst>
                  <a:glow rad="63500">
                    <a:srgbClr val="4FC3F7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قانون الانخفاض في</a:t>
            </a:r>
            <a:endParaRPr lang="ar-SA" sz="4420" b="1" i="0" dirty="0">
              <a:solidFill>
                <a:srgbClr val="E4F4FF"/>
              </a:solidFill>
              <a:effectLst>
                <a:glow rad="63500">
                  <a:srgbClr val="4FC3F7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8000"/>
              </a:lnSpc>
              <a:buNone/>
            </a:pPr>
            <a:r>
              <a:rPr lang="ar-SA" sz="4420" b="1" i="0" dirty="0">
                <a:solidFill>
                  <a:srgbClr val="E4F4FF"/>
                </a:solidFill>
                <a:effectLst>
                  <a:glow rad="63500">
                    <a:srgbClr val="4FC3F7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درجة التجمد:</a:t>
            </a:r>
            <a:endParaRPr lang="ar-SA" sz="4420" b="1" i="0" dirty="0">
              <a:solidFill>
                <a:srgbClr val="E4F4FF"/>
              </a:solidFill>
              <a:effectLst>
                <a:glow rad="63500">
                  <a:srgbClr val="4FC3F7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606697" y="4087911"/>
            <a:ext cx="5150883" cy="9445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5060" b="0" i="1" dirty="0">
                <a:solidFill>
                  <a:srgbClr val="D9E2EA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5060" b="0" i="1" dirty="0" baseline="-25000">
                <a:solidFill>
                  <a:srgbClr val="D9E2EA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5060" b="0" i="1" dirty="0">
                <a:solidFill>
                  <a:srgbClr val="D9E2EA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5060" b="0" i="1" dirty="0" baseline="-25000">
                <a:solidFill>
                  <a:srgbClr val="D9E2EA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5060" b="0" i="1" dirty="0">
                <a:solidFill>
                  <a:srgbClr val="D9E2EA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5060" b="1" i="0" dirty="0">
              <a:solidFill>
                <a:srgbClr val="D9E2E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63255" y="5764510"/>
            <a:ext cx="6285023" cy="1782861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noAutofit/>
          </a:bodyPr>
          <a:lstStyle/>
          <a:p>
            <a:pPr algn="r" rtl="1">
              <a:lnSpc>
                <a:spcPct val="125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40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مقدار الانخفاض في درجة التجمد.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0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ثابت الانخفاض المولالي لدرجة التجمد.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24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m: التركيز المولالي.</a:t>
            </a:r>
            <a:endParaRPr lang="ar-SA" sz="24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2378623" y="2547094"/>
            <a:ext cx="1954101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8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المذيب</a:t>
            </a:r>
            <a:endParaRPr lang="ar-SA" sz="288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9722699" y="2535287"/>
            <a:ext cx="1193578" cy="59035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8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800" b="1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fp</a:t>
            </a:r>
            <a:endParaRPr lang="ar-SA" sz="28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2652651" y="3710086"/>
            <a:ext cx="1417859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9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الماء</a:t>
            </a:r>
            <a:endParaRPr lang="ar-SA" sz="289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9616558" y="3721893"/>
            <a:ext cx="1429488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93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1.86</a:t>
            </a:r>
            <a:endParaRPr lang="ar-SA" sz="29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1726087" y="4873079"/>
            <a:ext cx="3259174" cy="5431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2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حمض الأسيتيك</a:t>
            </a:r>
            <a:endParaRPr lang="ar-SA" sz="32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9586746" y="4878982"/>
            <a:ext cx="1465484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03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3.90</a:t>
            </a:r>
            <a:endParaRPr lang="ar-SA" sz="30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12522790" y="6065589"/>
            <a:ext cx="1665767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البنزين</a:t>
            </a:r>
            <a:endParaRPr lang="ar-SA" sz="27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1" name="Text 11"/>
          <p:cNvSpPr txBox="1"/>
          <p:nvPr/>
        </p:nvSpPr>
        <p:spPr>
          <a:xfrm>
            <a:off x="9604744" y="6030168"/>
            <a:ext cx="1429488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93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5.12</a:t>
            </a:r>
            <a:endParaRPr lang="ar-SA" sz="29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6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 build="p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768651" y="593030"/>
            <a:ext cx="8730511" cy="75565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تحدي حسابي: إيجاد الكتلة المولية</a:t>
            </a:r>
            <a:endParaRPr lang="ar-SA" sz="39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890232" y="1384101"/>
            <a:ext cx="12534604" cy="8382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08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تنخفض درجة تجمد الماء إلى 0.390‎ °C عندما يُذاب 3.9‎ g من مذاب غير متطاير في 475‎ g من الماء. احسب</a:t>
            </a:r>
            <a:endParaRPr lang="ar-SA" sz="208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08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الكتلة المولية للمذاب. (</a:t>
            </a:r>
            <a:r>
              <a:rPr lang="ar-SA" sz="208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</a:t>
            </a:r>
            <a:r>
              <a:rPr lang="ar-SA" sz="208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08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= 1.86)</a:t>
            </a:r>
            <a:endParaRPr lang="ar-SA" sz="208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6828465" y="2635646"/>
            <a:ext cx="2587255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5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حساب المولالية:</a:t>
            </a:r>
            <a:endParaRPr lang="ar-SA" sz="185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5716661" y="3113831"/>
            <a:ext cx="4822677" cy="8737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180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</a:t>
            </a:r>
            <a:r>
              <a:rPr lang="ar-SA" sz="18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= </a:t>
            </a:r>
            <a:r>
              <a:rPr lang="ar-SA" sz="180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180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18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/ </a:t>
            </a:r>
            <a:r>
              <a:rPr lang="ar-SA" sz="180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</a:t>
            </a:r>
            <a:r>
              <a:rPr lang="ar-SA" sz="180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18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= 0.390 / 1.86 = 0.210 m</a:t>
            </a:r>
            <a:endParaRPr lang="ar-SA" sz="18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6615813" y="4766816"/>
            <a:ext cx="3012558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7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حساب عدد المولات:</a:t>
            </a:r>
            <a:endParaRPr lang="ar-SA" sz="187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5304465" y="5197772"/>
            <a:ext cx="5635255" cy="90914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8000"/>
              </a:lnSpc>
              <a:buNone/>
            </a:pPr>
            <a:r>
              <a:rPr lang="ar-SA" sz="216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التركيز المولالي × كتلة المذيب بالكيلوجرام</a:t>
            </a:r>
            <a:endParaRPr lang="ar-SA" sz="216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8000"/>
              </a:lnSpc>
              <a:buNone/>
            </a:pPr>
            <a:r>
              <a:rPr lang="ar-SA" sz="216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0.210 mol/kg × 0.475 kg = 0.0997 mol</a:t>
            </a:r>
            <a:endParaRPr lang="ar-SA" sz="216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6506073" y="6927502"/>
            <a:ext cx="3243853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4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استنتاج الكتلة المولية:</a:t>
            </a:r>
            <a:endParaRPr lang="ar-SA" sz="184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5729767" y="7352555"/>
            <a:ext cx="4784651" cy="89733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8000"/>
              </a:lnSpc>
              <a:buNone/>
            </a:pPr>
            <a:r>
              <a:rPr lang="ar-SA" sz="215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الكتلة (g) ÷ عدد المولات (mol)</a:t>
            </a:r>
            <a:endParaRPr lang="ar-SA" sz="215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8000"/>
              </a:lnSpc>
              <a:buNone/>
            </a:pPr>
            <a:r>
              <a:rPr lang="ar-SA" sz="215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3.9 g ÷ 0.0997 mol = 39.2 g/mol</a:t>
            </a:r>
            <a:endParaRPr lang="ar-SA" sz="215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3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7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4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 build="p"/>
      <p:bldP spid="107" grpId="0"/>
      <p:bldP spid="10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892447" y="522188"/>
            <a:ext cx="12412034" cy="75565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خلاصة الخواص المجمعة (The Synthesis Matrix)</a:t>
            </a:r>
            <a:endParaRPr lang="ar-SA" sz="40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861209" y="1667470"/>
            <a:ext cx="2563627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20" b="1" i="0" dirty="0">
                <a:solidFill>
                  <a:srgbClr val="F0F0F0"/>
                </a:solidFill>
                <a:latin typeface="Tahoma"/>
                <a:ea typeface="Tahoma"/>
                <a:cs typeface="Tahoma"/>
              </a:rPr>
              <a:t>درجة التجمد</a:t>
            </a:r>
            <a:endParaRPr lang="ar-SA" sz="2520" b="1" i="0" dirty="0">
              <a:solidFill>
                <a:srgbClr val="F0F0F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6834648" y="1673373"/>
            <a:ext cx="2563074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80" b="1" i="0" dirty="0">
                <a:solidFill>
                  <a:srgbClr val="F0F0F0"/>
                </a:solidFill>
                <a:latin typeface="Tahoma"/>
                <a:ea typeface="Tahoma"/>
                <a:cs typeface="Tahoma"/>
              </a:rPr>
              <a:t>درجة الغليان</a:t>
            </a:r>
            <a:endParaRPr lang="ar-SA" sz="2380" b="1" i="0" dirty="0">
              <a:solidFill>
                <a:srgbClr val="F0F0F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618419" y="1708794"/>
            <a:ext cx="2965486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80" b="1" i="0" dirty="0">
                <a:solidFill>
                  <a:srgbClr val="F0F0F0"/>
                </a:solidFill>
                <a:latin typeface="Tahoma"/>
                <a:ea typeface="Tahoma"/>
                <a:cs typeface="Tahoma"/>
              </a:rPr>
              <a:t>الضغط البخاري</a:t>
            </a:r>
            <a:endParaRPr lang="ar-SA" sz="2380" b="1" i="0" dirty="0">
              <a:solidFill>
                <a:srgbClr val="F0F0F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1922678" y="5079702"/>
            <a:ext cx="2428875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1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الأثر: تنخفض</a:t>
            </a:r>
            <a:endParaRPr lang="ar-SA" sz="211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1518604" y="5906194"/>
            <a:ext cx="3237023" cy="9917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53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القانون الرياضي:</a:t>
            </a:r>
            <a:endParaRPr lang="ar-SA" sz="25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253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253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25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7044623" y="5085605"/>
            <a:ext cx="2143125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2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الأثر: ترتفع</a:t>
            </a:r>
            <a:endParaRPr lang="ar-SA" sz="20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6485860" y="5900291"/>
            <a:ext cx="3272465" cy="9917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53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القانون الرياضي:</a:t>
            </a:r>
            <a:endParaRPr lang="ar-SA" sz="25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253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2530" b="0" i="1" dirty="0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253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253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1886725" y="5079702"/>
            <a:ext cx="2428875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0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الأثر: ينخفض</a:t>
            </a:r>
            <a:endParaRPr lang="ar-SA" sz="210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862418" y="5770413"/>
            <a:ext cx="4926418" cy="88552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3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السبب الجزيئي: إعاقة جسيمات</a:t>
            </a:r>
            <a:endParaRPr lang="ar-SA" sz="23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0000"/>
              </a:lnSpc>
              <a:buNone/>
            </a:pPr>
            <a:r>
              <a:rPr lang="ar-SA" sz="23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المذاب لعملية التبخر على السطح.</a:t>
            </a:r>
            <a:endParaRPr lang="ar-SA" sz="23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1" name="Text 11"/>
          <p:cNvSpPr txBox="1"/>
          <p:nvPr/>
        </p:nvSpPr>
        <p:spPr>
          <a:xfrm>
            <a:off x="1309318" y="7937003"/>
            <a:ext cx="13649177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9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القاسم المشترك: جميع هذه الخواص تعتمد حصرياً على عدد جسيمات المذاب، وليس على نوعها!</a:t>
            </a:r>
            <a:endParaRPr lang="ar-SA" sz="219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6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3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919430" y="770135"/>
            <a:ext cx="10428952" cy="8737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73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اختبر إتقانك (مراجعة الدرس 2-4)</a:t>
            </a:r>
            <a:endParaRPr lang="ar-SA" sz="473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0058196" y="2688778"/>
            <a:ext cx="3452443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60" b="1" i="0" dirty="0">
                <a:solidFill>
                  <a:srgbClr val="EDEDED"/>
                </a:solidFill>
                <a:latin typeface="Tahoma"/>
                <a:ea typeface="Tahoma"/>
                <a:cs typeface="Tahoma"/>
              </a:rPr>
              <a:t>التحدي الشامل</a:t>
            </a:r>
            <a:endParaRPr lang="ar-SA" sz="2960" b="1" i="0" dirty="0">
              <a:solidFill>
                <a:srgbClr val="EDEDED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929860" y="2612032"/>
            <a:ext cx="3118883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30" b="1" i="0" dirty="0">
                <a:solidFill>
                  <a:srgbClr val="EDEDED"/>
                </a:solidFill>
                <a:latin typeface="Tahoma"/>
                <a:ea typeface="Tahoma"/>
                <a:cs typeface="Tahoma"/>
              </a:rPr>
              <a:t>تحدي المفهوم</a:t>
            </a:r>
            <a:endParaRPr lang="ar-SA" sz="2730" b="1" i="0" dirty="0">
              <a:solidFill>
                <a:srgbClr val="EDEDED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446976" y="3438525"/>
            <a:ext cx="6261395" cy="11807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1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أُذيب 49.63‎ g من مركب غير إلكتروليتي في 1‎ kg من الماء، علماً أن درجة تجمد هذا المحلول هي 0.27°C-. احسب الكتلة المولية لهذا المركب.</a:t>
            </a:r>
            <a:endParaRPr lang="ar-SA" sz="21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1589488" y="4814044"/>
            <a:ext cx="3355162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187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(علماً أن K</a:t>
            </a:r>
            <a:r>
              <a:rPr lang="ar-SA" sz="1870" b="0" i="0" dirty="0" baseline="-250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187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 xml:space="preserve"> للماء = 1.86)</a:t>
            </a:r>
            <a:endParaRPr lang="ar-SA" sz="187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1700521" y="5687764"/>
            <a:ext cx="1798120" cy="4014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197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Molality =</a:t>
            </a:r>
            <a:endParaRPr lang="ar-SA" sz="197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3444279" y="5504755"/>
            <a:ext cx="980558" cy="36601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510" b="0" i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</a:t>
            </a:r>
            <a:endParaRPr lang="ar-SA" sz="251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2916619" y="5923905"/>
            <a:ext cx="2047690" cy="36601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12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Molar Mass</a:t>
            </a:r>
            <a:endParaRPr lang="ar-SA" sz="212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1772093" y="3462139"/>
            <a:ext cx="5458046" cy="15349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1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وضّح كيف يرتبط كلٌ من الارتفاع في درجة الغليان والانخفاض في درجة التجمد بالمولالية؟</a:t>
            </a:r>
            <a:endParaRPr lang="ar-SA" sz="21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000"/>
              </a:spcBef>
              <a:buNone/>
            </a:pPr>
            <a:r>
              <a:rPr lang="ar-SA" sz="2100" b="0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(تلميح: تذكر المعادلة الخطية والعلاقة الطردية).</a:t>
            </a:r>
            <a:endParaRPr lang="ar-SA" sz="2100" b="0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6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3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خلود فيصل محمود البلوشي</cp:lastModifiedBy>
  <cp:revision>2</cp:revision>
  <dcterms:created xsi:type="dcterms:W3CDTF">2006-08-16T00:00:00Z</dcterms:created>
  <dcterms:modified xsi:type="dcterms:W3CDTF">2026-10-23T14:57:52Z</dcterms:modified>
</cp:coreProperties>
</file>