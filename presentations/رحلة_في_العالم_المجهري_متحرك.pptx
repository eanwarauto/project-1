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6013302" y="3007568"/>
            <a:ext cx="7147441" cy="94456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120" b="1" i="0" dirty="0">
                <a:solidFill>
                  <a:srgbClr val="FFFFFF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Tahoma"/>
                <a:ea typeface="Tahoma"/>
                <a:cs typeface="Tahoma"/>
              </a:rPr>
              <a:t>رحلة في العالم المجهري:</a:t>
            </a:r>
            <a:endParaRPr lang="ar-SA" sz="4120" b="1" i="0" dirty="0">
              <a:solidFill>
                <a:srgbClr val="FFFFFF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7419162" y="3869481"/>
            <a:ext cx="4690139" cy="7792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310" b="1" i="0" dirty="0">
                <a:solidFill>
                  <a:srgbClr val="34C483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Tahoma"/>
                <a:ea typeface="Tahoma"/>
                <a:cs typeface="Tahoma"/>
              </a:rPr>
              <a:t>أسرار المحاليل</a:t>
            </a:r>
            <a:endParaRPr lang="ar-SA" sz="4310" b="1" i="0" dirty="0">
              <a:solidFill>
                <a:srgbClr val="34C483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6375196" y="4731394"/>
            <a:ext cx="6612675" cy="101540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5000"/>
              </a:lnSpc>
              <a:buNone/>
            </a:pPr>
            <a:r>
              <a:rPr lang="ar-SA" sz="3040" b="0" i="0" dirty="0">
                <a:solidFill>
                  <a:srgbClr val="26303F"/>
                </a:solidFill>
                <a:latin typeface="Tahoma"/>
                <a:ea typeface="Tahoma"/>
                <a:cs typeface="Tahoma"/>
              </a:rPr>
              <a:t>الحسابات المتعلقة بالخواص المجمعة</a:t>
            </a:r>
            <a:endParaRPr lang="ar-SA" sz="3040" b="0" i="0" dirty="0">
              <a:solidFill>
                <a:srgbClr val="26303F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05000"/>
              </a:lnSpc>
              <a:buNone/>
            </a:pPr>
            <a:r>
              <a:rPr lang="ar-SA" sz="3040" b="0" i="0" dirty="0">
                <a:solidFill>
                  <a:srgbClr val="26303F"/>
                </a:solidFill>
                <a:latin typeface="Tahoma"/>
                <a:ea typeface="Tahoma"/>
                <a:cs typeface="Tahoma"/>
              </a:rPr>
              <a:t>(التجمعية) للمحاليل</a:t>
            </a:r>
            <a:endParaRPr lang="ar-SA" sz="3040" b="0" i="0" dirty="0">
              <a:solidFill>
                <a:srgbClr val="26303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098697" y="2169269"/>
            <a:ext cx="5375348" cy="8264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44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لغز الجليد والملح</a:t>
            </a:r>
            <a:endParaRPr lang="ar-SA" sz="44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81395" y="3202384"/>
            <a:ext cx="5245395" cy="21724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60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لماذا ترش شاحنات الثلج الملح على الطرقات المتجمدة؟</a:t>
            </a:r>
            <a:endParaRPr lang="ar-SA" sz="260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1800"/>
              </a:spcBef>
              <a:buNone/>
            </a:pPr>
            <a:r>
              <a:rPr lang="ar-SA" sz="260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كيف يمنع الملح تجمع الجليد، وما علاقته بطهي الطعام؟</a:t>
            </a:r>
            <a:endParaRPr lang="ar-SA" sz="260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3579627" y="5929808"/>
            <a:ext cx="2811720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4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أهداف المهمة</a:t>
            </a:r>
            <a:endParaRPr lang="ar-SA" sz="24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1394046" y="6508353"/>
            <a:ext cx="4890976" cy="120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r" rtl="1">
              <a:lnSpc>
                <a:spcPct val="100000"/>
              </a:lnSpc>
              <a:buFont typeface="+mj-lt"/>
              <a:buAutoNum type="arabicPeriod"/>
            </a:pPr>
            <a:r>
              <a:rPr lang="ar-SA" sz="200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استكشاف الخواص المجمعة للمحاليل.</a:t>
            </a:r>
            <a:endParaRPr lang="ar-SA" sz="200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marL="342900" indent="-342900" algn="r" rtl="1">
              <a:lnSpc>
                <a:spcPct val="100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ar-SA" sz="200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حساب الكتلة المولية للمركبات من خلال درجات التجمد والغليان.</a:t>
            </a:r>
            <a:endParaRPr lang="ar-SA" sz="200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8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  <p:bldP spid="103" grpId="0"/>
      <p:bldP spid="10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4264837" y="935434"/>
            <a:ext cx="7726325" cy="70842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6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القاعدة الذهبية للعالم المجهري</a:t>
            </a:r>
            <a:endParaRPr lang="ar-SA" sz="36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10511" y="6036071"/>
            <a:ext cx="5611627" cy="2054423"/>
          </a:xfrm>
          <a:prstGeom prst="rect">
            <a:avLst/>
          </a:prstGeom>
          <a:noFill/>
        </p:spPr>
        <p:txBody>
          <a:bodyPr wrap="none" lIns="0" tIns="0" rIns="0" bIns="0" rtlCol="0" anchor="t" anchorCtr="1">
            <a:noAutofit/>
          </a:bodyPr>
          <a:lstStyle/>
          <a:p>
            <a:pPr algn="r" rtl="1">
              <a:lnSpc>
                <a:spcPct val="125000"/>
              </a:lnSpc>
              <a:buNone/>
            </a:pPr>
            <a:r>
              <a:rPr lang="ar-SA" sz="18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الخواص المجمعة (التجمعية) للمحاليل:</a:t>
            </a:r>
            <a:endParaRPr lang="ar-SA" sz="188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25000"/>
              </a:lnSpc>
              <a:buNone/>
            </a:pPr>
            <a:r>
              <a:rPr lang="ar-SA" sz="188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تعتمد فقط على عدد جسيمات المذاب.</a:t>
            </a:r>
            <a:endParaRPr lang="ar-SA" sz="188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25000"/>
              </a:lnSpc>
              <a:buNone/>
            </a:pPr>
            <a:r>
              <a:rPr lang="ar-SA" sz="188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لا تعتمد على نوع أو طبيعة هذه الجسيمات!</a:t>
            </a:r>
            <a:endParaRPr lang="ar-SA" sz="188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25000"/>
              </a:lnSpc>
              <a:buNone/>
            </a:pPr>
            <a:r>
              <a:rPr lang="ar-SA" sz="18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شرط هام:</a:t>
            </a:r>
            <a:r>
              <a:rPr lang="ar-SA" sz="188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المذاب غير متطاير وغير إلكتروليتي.</a:t>
            </a:r>
            <a:endParaRPr lang="ar-SA" sz="188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2270955" y="593030"/>
            <a:ext cx="11678646" cy="76745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970" b="1" i="0" dirty="0">
                <a:solidFill>
                  <a:srgbClr val="2A2F3A"/>
                </a:solidFill>
                <a:latin typeface="Tahoma"/>
                <a:ea typeface="Tahoma"/>
                <a:cs typeface="Tahoma"/>
              </a:rPr>
              <a:t>معركة السطح: الانخفاض في الضغط البخاري</a:t>
            </a:r>
            <a:endParaRPr lang="ar-SA" sz="3970" b="1" i="0" dirty="0">
              <a:solidFill>
                <a:srgbClr val="2A2F3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3461488" y="1685180"/>
            <a:ext cx="2516372" cy="37782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7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المذيب النقي</a:t>
            </a:r>
            <a:endParaRPr lang="ar-SA" sz="207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10766757" y="1685180"/>
            <a:ext cx="1704531" cy="37782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60" b="1" i="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المحلول</a:t>
            </a:r>
            <a:endParaRPr lang="ar-SA" sz="196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3752591" y="6915695"/>
            <a:ext cx="11369268" cy="15821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marL="342900" indent="-342900" algn="r" rtl="1">
              <a:lnSpc>
                <a:spcPct val="112000"/>
              </a:lnSpc>
              <a:buFont typeface="Arial"/>
              <a:buChar char="•"/>
            </a:pPr>
            <a:r>
              <a:rPr lang="ar-SA" sz="2780" b="1" i="0" dirty="0">
                <a:solidFill>
                  <a:srgbClr val="1A1E26"/>
                </a:solidFill>
                <a:latin typeface="Tahoma"/>
                <a:ea typeface="Tahoma"/>
                <a:cs typeface="Tahoma"/>
              </a:rPr>
              <a:t>جسيمات المذاب تحتل مساحة على السطح.</a:t>
            </a:r>
            <a:endParaRPr lang="ar-SA" sz="2780" b="1" i="0" dirty="0">
              <a:solidFill>
                <a:srgbClr val="1A1E26"/>
              </a:solidFill>
              <a:latin typeface="Tahoma"/>
              <a:ea typeface="Tahoma"/>
              <a:cs typeface="Tahoma"/>
            </a:endParaRPr>
          </a:p>
          <a:p>
            <a:pPr marL="342900" indent="-342900" algn="r" rtl="1">
              <a:lnSpc>
                <a:spcPct val="112000"/>
              </a:lnSpc>
              <a:buFont typeface="Arial"/>
              <a:buChar char="•"/>
            </a:pPr>
            <a:r>
              <a:rPr lang="ar-SA" sz="2780" b="1" i="0" dirty="0">
                <a:solidFill>
                  <a:srgbClr val="1A1E26"/>
                </a:solidFill>
                <a:latin typeface="Tahoma"/>
                <a:ea typeface="Tahoma"/>
                <a:cs typeface="Tahoma"/>
              </a:rPr>
              <a:t>يقل عدد جزيئات المذيب التي يمكنها الإفلات والتحول إلى بخار.</a:t>
            </a:r>
            <a:endParaRPr lang="ar-SA" sz="2780" b="1" i="0" dirty="0">
              <a:solidFill>
                <a:srgbClr val="1A1E26"/>
              </a:solidFill>
              <a:latin typeface="Tahoma"/>
              <a:ea typeface="Tahoma"/>
              <a:cs typeface="Tahoma"/>
            </a:endParaRPr>
          </a:p>
          <a:p>
            <a:pPr marL="342900" indent="-342900" algn="r" rtl="1">
              <a:lnSpc>
                <a:spcPct val="112000"/>
              </a:lnSpc>
              <a:buFont typeface="Arial"/>
              <a:buChar char="•"/>
            </a:pPr>
            <a:r>
              <a:rPr lang="ar-SA" sz="2780" b="1" i="0" dirty="0">
                <a:solidFill>
                  <a:srgbClr val="1A1E26"/>
                </a:solidFill>
                <a:latin typeface="Tahoma"/>
                <a:ea typeface="Tahoma"/>
                <a:cs typeface="Tahoma"/>
              </a:rPr>
              <a:t>كلما زاد تركيز المذاب ينخفض الضغط البخاري أكثر.</a:t>
            </a:r>
            <a:endParaRPr lang="ar-SA" sz="2780" b="1" i="0" dirty="0">
              <a:solidFill>
                <a:srgbClr val="1A1E26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108665" y="2269628"/>
            <a:ext cx="5731613" cy="135780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8000"/>
              </a:lnSpc>
              <a:buNone/>
            </a:pPr>
            <a:r>
              <a:rPr lang="ar-SA" sz="3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منطقة الغليان:</a:t>
            </a:r>
            <a:endParaRPr lang="ar-SA" sz="34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8000"/>
              </a:lnSpc>
              <a:buNone/>
            </a:pPr>
            <a:r>
              <a:rPr lang="ar-SA" sz="3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الحاجة لمزيد من الطاقة</a:t>
            </a:r>
            <a:endParaRPr lang="ar-SA" sz="34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571255" y="4619228"/>
            <a:ext cx="5139069" cy="22433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18000"/>
              </a:lnSpc>
              <a:buNone/>
            </a:pPr>
            <a:r>
              <a:rPr lang="ar-SA" sz="27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الارتفاع في درجة الغليان</a:t>
            </a:r>
            <a:endParaRPr lang="ar-SA" sz="250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18000"/>
              </a:lnSpc>
              <a:buNone/>
            </a:pPr>
            <a:r>
              <a:rPr lang="ar-SA" sz="250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بما أن الضغط البخاري أصبح منخفضاً، نحتاج إلى حرارة أعلى لنجعل المحلول يغلي مقارنة بالمذيب النقي.</a:t>
            </a:r>
            <a:endParaRPr lang="ar-SA" sz="250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9687441" y="2600225"/>
            <a:ext cx="3071627" cy="8264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5460" b="1" i="0" dirty="0">
                <a:solidFill>
                  <a:srgbClr val="FFFFFF"/>
                </a:solidFill>
                <a:effectLst>
                  <a:outerShdw blurRad="76200" dist="25400" dir="5400000" algn="t" rotWithShape="0">
                    <a:srgbClr val="000000">
                      <a:alpha val="55000"/>
                    </a:srgbClr>
                  </a:outerShdw>
                </a:effectLst>
                <a:latin typeface="Tahoma"/>
                <a:ea typeface="Tahoma"/>
                <a:cs typeface="Tahoma"/>
              </a:rPr>
              <a:t>100 °C</a:t>
            </a:r>
            <a:endParaRPr lang="ar-SA" sz="5460" b="1" i="0" dirty="0">
              <a:solidFill>
                <a:srgbClr val="FFFFFF"/>
              </a:solidFill>
              <a:effectLst>
                <a:outerShdw blurRad="76200" dist="25400" dir="5400000" algn="t" rotWithShape="0">
                  <a:srgbClr val="000000">
                    <a:alpha val="55000"/>
                  </a:srgbClr>
                </a:outerShdw>
              </a:effectLst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  <p:bldP spid="10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714288" y="528091"/>
            <a:ext cx="8839236" cy="73203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270" b="1" i="0" dirty="0">
                <a:solidFill>
                  <a:srgbClr val="2A2A30"/>
                </a:solidFill>
                <a:latin typeface="Tahoma"/>
                <a:ea typeface="Tahoma"/>
                <a:cs typeface="Tahoma"/>
              </a:rPr>
              <a:t>أداة فك الشفرة: معادلة الغليان</a:t>
            </a:r>
            <a:endParaRPr lang="ar-SA" sz="4270" b="1" i="0" dirty="0">
              <a:solidFill>
                <a:srgbClr val="2A2A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3775942" y="2635646"/>
            <a:ext cx="8444207" cy="114528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7880" b="1" i="0" dirty="0">
                <a:solidFill>
                  <a:srgbClr val="FBE3B4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ΔT</a:t>
            </a:r>
            <a:r>
              <a:rPr lang="ar-SA" sz="7880" b="1" i="0" dirty="0" baseline="-25000">
                <a:solidFill>
                  <a:srgbClr val="FBE3B4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bp</a:t>
            </a:r>
            <a:r>
              <a:rPr lang="ar-SA" sz="7880" b="1" i="0" dirty="0">
                <a:solidFill>
                  <a:srgbClr val="FFF6E0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 xml:space="preserve"> = </a:t>
            </a:r>
            <a:r>
              <a:rPr lang="ar-SA" sz="7880" b="1" i="0" dirty="0">
                <a:solidFill>
                  <a:srgbClr val="B8F3D6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K</a:t>
            </a:r>
            <a:r>
              <a:rPr lang="ar-SA" sz="7880" b="1" i="0" dirty="0" baseline="-25000">
                <a:solidFill>
                  <a:srgbClr val="B8F3D6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bp</a:t>
            </a:r>
            <a:r>
              <a:rPr lang="ar-SA" sz="7880" b="1" i="0" dirty="0">
                <a:solidFill>
                  <a:srgbClr val="D9C2FF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 xml:space="preserve"> × m</a:t>
            </a:r>
            <a:endParaRPr lang="ar-SA" sz="7880" b="1" i="0" dirty="0">
              <a:solidFill>
                <a:srgbClr val="FFFFFF"/>
              </a:solidFill>
              <a:effectLst>
                <a:glow rad="63500">
                  <a:srgbClr val="FFFFFF">
                    <a:alpha val="28000"/>
                  </a:srgbClr>
                </a:glo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1098697" y="6703169"/>
            <a:ext cx="4501116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8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189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18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: الارتفاع في درجة الغليان</a:t>
            </a:r>
            <a:endParaRPr lang="ar-SA" sz="18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6111413" y="6703169"/>
            <a:ext cx="4009545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0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200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20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: ثابت الغليان المولالي</a:t>
            </a:r>
            <a:endParaRPr lang="ar-SA" sz="20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0880651" y="6703169"/>
            <a:ext cx="4229395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m : التركيز المولالي للمحلول</a:t>
            </a:r>
            <a:endParaRPr lang="ar-SA" sz="19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1785199" y="7948810"/>
            <a:ext cx="12827369" cy="62577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560" b="1" i="0" dirty="0">
                <a:solidFill>
                  <a:srgbClr val="1A1E26"/>
                </a:solidFill>
                <a:latin typeface="Tahoma"/>
                <a:ea typeface="Tahoma"/>
                <a:cs typeface="Tahoma"/>
              </a:rPr>
              <a:t>يتناسب مقدار الارتفاع في درجة الغليان طردياً مع التركيز المولالي للمحلول.</a:t>
            </a:r>
            <a:endParaRPr lang="ar-SA" sz="2560" b="1" i="0" dirty="0">
              <a:solidFill>
                <a:srgbClr val="1A1E26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6581664" y="2045295"/>
            <a:ext cx="5539452" cy="141684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ar-SA" sz="34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بيانات الماسح الضوئي:</a:t>
            </a:r>
            <a:endParaRPr lang="ar-SA" sz="342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5000"/>
              </a:lnSpc>
              <a:buNone/>
            </a:pPr>
            <a:r>
              <a:rPr lang="ar-SA" sz="34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ثوابت الغليان (K</a:t>
            </a:r>
            <a:r>
              <a:rPr lang="ar-SA" sz="342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34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)</a:t>
            </a:r>
            <a:endParaRPr lang="ar-SA" sz="342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8697654" y="3786832"/>
            <a:ext cx="2440319" cy="40143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7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الماء | 0.512</a:t>
            </a:r>
            <a:endParaRPr lang="ar-SA" sz="247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8978604" y="4507061"/>
            <a:ext cx="2658139" cy="42505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6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الإيثانول | 1.19</a:t>
            </a:r>
            <a:endParaRPr lang="ar-SA" sz="246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8990418" y="5245000"/>
            <a:ext cx="2410046" cy="43686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2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البنزين | 2.53</a:t>
            </a:r>
            <a:endParaRPr lang="ar-SA" sz="232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7596741" y="6307633"/>
            <a:ext cx="4382238" cy="75565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82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وحدة القياس: (‎°C/m)</a:t>
            </a:r>
            <a:endParaRPr lang="ar-SA" sz="182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00000"/>
              </a:lnSpc>
              <a:buNone/>
            </a:pPr>
            <a:r>
              <a:rPr lang="ar-SA" sz="182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سنستخدم قيمة الماء كثيراً في مهمتنا!</a:t>
            </a:r>
            <a:endParaRPr lang="ar-SA" sz="182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2708533" y="1053504"/>
            <a:ext cx="10898002" cy="76745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160" b="1" i="0" dirty="0">
                <a:solidFill>
                  <a:srgbClr val="241C14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تطبيق عملي (مثال 1): تسخين الجلوكوز</a:t>
            </a:r>
            <a:endParaRPr lang="ar-SA" sz="4160" b="1" i="0" dirty="0">
              <a:solidFill>
                <a:srgbClr val="241C14"/>
              </a:solidFill>
              <a:effectLst>
                <a:glow rad="63500">
                  <a:srgbClr val="FFFFFF">
                    <a:alpha val="28000"/>
                  </a:srgbClr>
                </a:glo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2457394" y="2133848"/>
            <a:ext cx="11282140" cy="57854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8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ما هي درجة غليان محلول الجلوكوز (C</a:t>
            </a:r>
            <a:r>
              <a:rPr lang="ar-SA" sz="284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6</a:t>
            </a:r>
            <a:r>
              <a:rPr lang="ar-SA" sz="28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H</a:t>
            </a:r>
            <a:r>
              <a:rPr lang="ar-SA" sz="284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12</a:t>
            </a:r>
            <a:r>
              <a:rPr lang="ar-SA" sz="28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O</a:t>
            </a:r>
            <a:r>
              <a:rPr lang="ar-SA" sz="284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6</a:t>
            </a:r>
            <a:r>
              <a:rPr lang="ar-SA" sz="28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) بتركيز 1.5‎ m؟</a:t>
            </a:r>
            <a:endParaRPr lang="ar-SA" sz="28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12215627" y="4967535"/>
            <a:ext cx="2504558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0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المعطيات</a:t>
            </a:r>
            <a:endParaRPr lang="ar-SA" sz="302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12051986" y="5746799"/>
            <a:ext cx="2831841" cy="102721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12000"/>
              </a:lnSpc>
              <a:buNone/>
            </a:pPr>
            <a:r>
              <a:rPr lang="ar-SA" sz="24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m = 1.5 | K</a:t>
            </a:r>
            <a:r>
              <a:rPr lang="ar-SA" sz="248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endParaRPr lang="ar-SA" sz="248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2000"/>
              </a:lnSpc>
              <a:buNone/>
            </a:pPr>
            <a:r>
              <a:rPr lang="ar-SA" sz="24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للماء = 0.512</a:t>
            </a:r>
            <a:endParaRPr lang="ar-SA" sz="248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7075450" y="4973439"/>
            <a:ext cx="2152354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التطبيق</a:t>
            </a:r>
            <a:endParaRPr lang="ar-SA" sz="29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6214139" y="5764510"/>
            <a:ext cx="3721395" cy="102721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12000"/>
              </a:lnSpc>
              <a:buNone/>
            </a:pPr>
            <a:r>
              <a:rPr lang="ar-SA" sz="24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244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bp</a:t>
            </a:r>
            <a:r>
              <a:rPr lang="ar-SA" sz="24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= 0.512 × 1.5</a:t>
            </a:r>
            <a:endParaRPr lang="ar-SA" sz="24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2000"/>
              </a:lnSpc>
              <a:buNone/>
            </a:pPr>
            <a:r>
              <a:rPr lang="ar-SA" sz="24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0.77 °C</a:t>
            </a:r>
            <a:endParaRPr lang="ar-SA" sz="24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1165520" y="4973439"/>
            <a:ext cx="3398726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النتيجة النهائية</a:t>
            </a:r>
            <a:endParaRPr lang="ar-SA" sz="29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1249879" y="5675957"/>
            <a:ext cx="3312706" cy="141684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درجة الغليان =</a:t>
            </a:r>
            <a:endParaRPr lang="ar-SA" sz="24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100 °C + 0.77 °C</a:t>
            </a:r>
            <a:endParaRPr lang="ar-SA" sz="24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0000"/>
              </a:lnSpc>
              <a:buNone/>
            </a:pPr>
            <a:r>
              <a:rPr lang="ar-SA" sz="24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100.77 °C</a:t>
            </a:r>
            <a:endParaRPr lang="ar-SA" sz="24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9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10745344" y="1632049"/>
            <a:ext cx="4778190" cy="153491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ar-SA" sz="4420" b="1" i="0" dirty="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منطقة التجمد:</a:t>
            </a:r>
            <a:endParaRPr lang="ar-SA" sz="4420" b="1" i="0" dirty="0">
              <a:solidFill>
                <a:srgbClr val="183A5E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5000"/>
              </a:lnSpc>
              <a:buNone/>
            </a:pPr>
            <a:r>
              <a:rPr lang="ar-SA" sz="4420" b="1" i="0" dirty="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حصار الجزيئات</a:t>
            </a:r>
            <a:endParaRPr lang="ar-SA" sz="4420" b="1" i="0" dirty="0">
              <a:solidFill>
                <a:srgbClr val="183A5E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0786139" y="3757314"/>
            <a:ext cx="4654697" cy="3778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ar-SA" sz="2500" b="0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>الانخفاض في درجة التجمد</a:t>
            </a:r>
            <a:endParaRPr lang="ar-SA" sz="2500" b="0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2200"/>
              </a:spcBef>
              <a:buNone/>
            </a:pPr>
            <a:r>
              <a:rPr lang="ar-SA" sz="2500" b="0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>جسيمات المذاب تقف كعوائق تمنع جزيئات المذيب من الترتيب لتكوين مادة صلبة.</a:t>
            </a:r>
            <a:endParaRPr lang="ar-SA" sz="2500" b="0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0000"/>
              </a:lnSpc>
              <a:spcBef>
                <a:spcPts val="2200"/>
              </a:spcBef>
              <a:buNone/>
            </a:pPr>
            <a:r>
              <a:rPr lang="ar-SA" sz="2500" b="0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>نحتاج إلى تبريد المحلول لدرجات حرارة أقل من المعتاد لنجبره على التجمد!</a:t>
            </a:r>
            <a:endParaRPr lang="ar-SA" sz="2500" b="0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201581" y="634355"/>
            <a:ext cx="9911906" cy="80287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5060" b="1" i="0" dirty="0">
                <a:solidFill>
                  <a:srgbClr val="2A7DA8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أداة الجليد: معادلة التجمد</a:t>
            </a:r>
            <a:endParaRPr lang="ar-SA" sz="5060" b="1" i="0" dirty="0">
              <a:solidFill>
                <a:srgbClr val="2A7DA8"/>
              </a:solidFill>
              <a:effectLst>
                <a:glow rad="63500">
                  <a:srgbClr val="FFFFFF">
                    <a:alpha val="28000"/>
                  </a:srgbClr>
                </a:glo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3910418" y="2588418"/>
            <a:ext cx="8435162" cy="126335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7820" b="1" i="0" dirty="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7820" b="1" i="0" dirty="0" baseline="-2500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7820" b="1" i="0" dirty="0">
                <a:solidFill>
                  <a:srgbClr val="45A9C6"/>
                </a:solidFill>
                <a:latin typeface="Tahoma"/>
                <a:ea typeface="Tahoma"/>
                <a:cs typeface="Tahoma"/>
              </a:rPr>
              <a:t xml:space="preserve"> = </a:t>
            </a:r>
            <a:r>
              <a:rPr lang="ar-SA" sz="7820" b="1" i="0" dirty="0">
                <a:solidFill>
                  <a:srgbClr val="72CFA0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7820" b="1" i="0" dirty="0" baseline="-25000">
                <a:solidFill>
                  <a:srgbClr val="72CFA0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7820" b="1" i="0" dirty="0">
                <a:solidFill>
                  <a:srgbClr val="45A9C6"/>
                </a:solidFill>
                <a:latin typeface="Tahoma"/>
                <a:ea typeface="Tahoma"/>
                <a:cs typeface="Tahoma"/>
              </a:rPr>
              <a:t xml:space="preserve"> × </a:t>
            </a:r>
            <a:r>
              <a:rPr lang="ar-SA" sz="7820" b="1" i="0" dirty="0">
                <a:solidFill>
                  <a:srgbClr val="7A4FB0"/>
                </a:solidFill>
                <a:latin typeface="Tahoma"/>
                <a:ea typeface="Tahoma"/>
                <a:cs typeface="Tahoma"/>
              </a:rPr>
              <a:t>m</a:t>
            </a:r>
            <a:endParaRPr lang="ar-SA" sz="7820" b="1" i="0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448930" y="6962923"/>
            <a:ext cx="5032744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90" b="1" i="0" dirty="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2390" b="1" i="0" dirty="0" baseline="-2500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390" b="0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 xml:space="preserve"> : الانخفاض في درجة التجمد</a:t>
            </a:r>
            <a:endParaRPr lang="ar-SA" sz="239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6036930" y="6951116"/>
            <a:ext cx="4158511" cy="50770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10" b="1" i="0" dirty="0">
                <a:solidFill>
                  <a:srgbClr val="4CB884"/>
                </a:solidFill>
                <a:latin typeface="Tahoma"/>
                <a:ea typeface="Tahoma"/>
                <a:cs typeface="Tahoma"/>
              </a:rPr>
              <a:t>K</a:t>
            </a:r>
            <a:r>
              <a:rPr lang="ar-SA" sz="2410" b="1" i="0" dirty="0" baseline="-25000">
                <a:solidFill>
                  <a:srgbClr val="4CB884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410" b="0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 xml:space="preserve"> : ثابت التجمد المولالي</a:t>
            </a:r>
            <a:endParaRPr lang="ar-SA" sz="241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1128744" y="6968827"/>
            <a:ext cx="4406604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50" b="1" i="0" dirty="0">
                <a:solidFill>
                  <a:srgbClr val="7A4FB0"/>
                </a:solidFill>
                <a:latin typeface="Tahoma"/>
                <a:ea typeface="Tahoma"/>
                <a:cs typeface="Tahoma"/>
              </a:rPr>
              <a:t>m</a:t>
            </a:r>
            <a:r>
              <a:rPr lang="ar-SA" sz="2350" b="0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 xml:space="preserve"> : التركيز المولالي للمحلول</a:t>
            </a:r>
            <a:endParaRPr lang="ar-SA" sz="235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3142511" y="8149530"/>
            <a:ext cx="10041860" cy="53131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540" b="0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 xml:space="preserve">يمثل </a:t>
            </a:r>
            <a:r>
              <a:rPr lang="ar-SA" sz="2540" b="1" i="0" dirty="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ΔT</a:t>
            </a:r>
            <a:r>
              <a:rPr lang="ar-SA" sz="2540" b="1" i="0" dirty="0" baseline="-25000">
                <a:solidFill>
                  <a:srgbClr val="1F4E9A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540" b="0" i="0" dirty="0">
                <a:solidFill>
                  <a:srgbClr val="1E2A38"/>
                </a:solidFill>
                <a:latin typeface="Tahoma"/>
                <a:ea typeface="Tahoma"/>
                <a:cs typeface="Tahoma"/>
              </a:rPr>
              <a:t xml:space="preserve"> الفرق بين درجة تجمد المذيب النقي ودرجة تجمد المحلول.</a:t>
            </a:r>
            <a:endParaRPr lang="ar-SA" sz="2540" b="1" i="0" dirty="0">
              <a:solidFill>
                <a:srgbClr val="1E2A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969488" y="1909514"/>
            <a:ext cx="6733953" cy="159394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05000"/>
              </a:lnSpc>
              <a:buNone/>
            </a:pPr>
            <a:r>
              <a:rPr lang="ar-SA" sz="4290" b="1" i="0" dirty="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بيانات الماسح الضوئي:</a:t>
            </a:r>
            <a:endParaRPr lang="ar-SA" sz="4290" b="1" i="0" dirty="0">
              <a:solidFill>
                <a:srgbClr val="183A5E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05000"/>
              </a:lnSpc>
              <a:buNone/>
            </a:pPr>
            <a:r>
              <a:rPr lang="ar-SA" sz="4290" b="1" i="0" dirty="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ثوابت التجمد (K</a:t>
            </a:r>
            <a:r>
              <a:rPr lang="ar-SA" sz="4290" b="1" i="0" dirty="0" baseline="-2500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4290" b="1" i="0" dirty="0">
                <a:solidFill>
                  <a:srgbClr val="183A5E"/>
                </a:solidFill>
                <a:latin typeface="Tahoma"/>
                <a:ea typeface="Tahoma"/>
                <a:cs typeface="Tahoma"/>
              </a:rPr>
              <a:t>)</a:t>
            </a:r>
            <a:endParaRPr lang="ar-SA" sz="4290" b="1" i="0" dirty="0">
              <a:solidFill>
                <a:srgbClr val="183A5E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9014046" y="3904902"/>
            <a:ext cx="1701209" cy="42505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64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الماء</a:t>
            </a:r>
            <a:endParaRPr lang="ar-SA" sz="264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5611627" y="3922613"/>
            <a:ext cx="1417674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64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1.86</a:t>
            </a:r>
            <a:endParaRPr lang="ar-SA" sz="264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7608186" y="4554289"/>
            <a:ext cx="3024372" cy="43686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64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حمض الأسيتيك</a:t>
            </a:r>
            <a:endParaRPr lang="ar-SA" sz="264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5517116" y="4518868"/>
            <a:ext cx="1665767" cy="53131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64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3.90</a:t>
            </a:r>
            <a:endParaRPr lang="ar-SA" sz="264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9108558" y="5239097"/>
            <a:ext cx="1594883" cy="43686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48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البنزين</a:t>
            </a:r>
            <a:endParaRPr lang="ar-SA" sz="248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5564372" y="5250904"/>
            <a:ext cx="1653953" cy="53131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264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5.12</a:t>
            </a:r>
            <a:endParaRPr lang="ar-SA" sz="264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5245395" y="6313537"/>
            <a:ext cx="5871534" cy="94456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r" rtl="1">
              <a:lnSpc>
                <a:spcPct val="112000"/>
              </a:lnSpc>
              <a:buNone/>
            </a:pPr>
            <a:r>
              <a:rPr lang="ar-SA" sz="241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لاحظ أن ثابت التجمد للماء (1.86) أكبر</a:t>
            </a:r>
            <a:endParaRPr lang="ar-SA" sz="241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r" rtl="1">
              <a:lnSpc>
                <a:spcPct val="112000"/>
              </a:lnSpc>
              <a:buNone/>
            </a:pPr>
            <a:r>
              <a:rPr lang="ar-SA" sz="241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من ثابت الغليان للماء (0.512).</a:t>
            </a:r>
            <a:endParaRPr lang="ar-SA" sz="241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9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577135" y="628451"/>
            <a:ext cx="9101728" cy="73203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9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تحليل العينة: أسئلة تطبيقية</a:t>
            </a:r>
            <a:endParaRPr lang="ar-SA" sz="492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2740837" y="1856382"/>
            <a:ext cx="10951534" cy="89733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2000"/>
              </a:lnSpc>
              <a:buNone/>
            </a:pPr>
            <a:r>
              <a:rPr lang="ar-SA" sz="234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تنخفض درجة تجمد الماء إلى 0.390‎ °C عندما يذاب 3.9‎ g من مذاب في 475‎ g ماء.</a:t>
            </a:r>
            <a:endParaRPr lang="ar-SA" sz="234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2000"/>
              </a:lnSpc>
              <a:buNone/>
            </a:pPr>
            <a:r>
              <a:rPr lang="ar-SA" sz="234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نحسب التركيز أولاً.</a:t>
            </a:r>
            <a:endParaRPr lang="ar-SA" sz="234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9096744" y="3473946"/>
            <a:ext cx="4004930" cy="46047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8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الخطوة 1: المشكلة</a:t>
            </a:r>
            <a:endParaRPr lang="ar-SA" sz="281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8931348" y="4111525"/>
            <a:ext cx="4335720" cy="43686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64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انخفاض بمقدار 0.390‎ °C</a:t>
            </a:r>
            <a:endParaRPr lang="ar-SA" sz="264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8576930" y="6360765"/>
            <a:ext cx="5056372" cy="46047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6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الخطوة 2: استخراج التركيز</a:t>
            </a:r>
            <a:endParaRPr lang="ar-SA" sz="26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9250325" y="6939309"/>
            <a:ext cx="3674139" cy="161756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10000"/>
              </a:lnSpc>
              <a:buNone/>
            </a:pPr>
            <a:r>
              <a:rPr lang="ar-SA" sz="287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ΔT</a:t>
            </a:r>
            <a:r>
              <a:rPr lang="ar-SA" sz="2870" b="0" i="1" dirty="0" baseline="-2500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287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= K</a:t>
            </a:r>
            <a:r>
              <a:rPr lang="ar-SA" sz="2870" b="0" i="1" dirty="0" baseline="-2500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287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× m</a:t>
            </a:r>
            <a:endParaRPr lang="ar-SA" sz="287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0000"/>
              </a:lnSpc>
              <a:buNone/>
            </a:pPr>
            <a:r>
              <a:rPr lang="ar-SA" sz="287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0.390 = 1.86 × m</a:t>
            </a:r>
            <a:endParaRPr lang="ar-SA" sz="287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0000"/>
              </a:lnSpc>
              <a:buNone/>
            </a:pPr>
            <a:r>
              <a:rPr lang="ar-SA" sz="287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m</a:t>
            </a:r>
            <a:r>
              <a:rPr lang="ar-SA" sz="287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= 0.210 </a:t>
            </a:r>
            <a:r>
              <a:rPr lang="ar-SA" sz="287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m</a:t>
            </a:r>
            <a:endParaRPr lang="ar-SA" sz="287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9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2836640" y="663872"/>
            <a:ext cx="10582718" cy="7438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40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الصورة الكبرى: منطقة السيولة الممتدة</a:t>
            </a:r>
            <a:endParaRPr lang="ar-SA" sz="40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11743069" y="2192883"/>
            <a:ext cx="3556000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ارتفاع درجة الغليان</a:t>
            </a:r>
            <a:endParaRPr lang="ar-SA" sz="23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803348" y="2234207"/>
            <a:ext cx="3993116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53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انخفاض درجة التجمد</a:t>
            </a:r>
            <a:endParaRPr lang="ar-SA" sz="253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6150085" y="4347666"/>
            <a:ext cx="3932200" cy="59035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410" b="1" i="0" dirty="0">
                <a:solidFill>
                  <a:srgbClr val="16233A"/>
                </a:solidFill>
                <a:effectLst>
                  <a:glow rad="63500">
                    <a:srgbClr val="FFFFFF">
                      <a:alpha val="28000"/>
                    </a:srgbClr>
                  </a:glow>
                </a:effectLst>
                <a:latin typeface="Tahoma"/>
                <a:ea typeface="Tahoma"/>
                <a:cs typeface="Tahoma"/>
              </a:rPr>
              <a:t>منطقة السيولة</a:t>
            </a:r>
            <a:endParaRPr lang="ar-SA" sz="3410" b="1" i="0" dirty="0">
              <a:solidFill>
                <a:srgbClr val="16233A"/>
              </a:solidFill>
              <a:effectLst>
                <a:glow rad="63500">
                  <a:srgbClr val="FFFFFF">
                    <a:alpha val="28000"/>
                  </a:srgbClr>
                </a:glow>
              </a:effectLst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2168372" y="6531967"/>
            <a:ext cx="2681767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3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يصعب تبخرها</a:t>
            </a:r>
            <a:endParaRPr lang="ar-SA" sz="23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1299534" y="6531967"/>
            <a:ext cx="3000744" cy="47228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51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يصعب تجميدها</a:t>
            </a:r>
            <a:endParaRPr lang="ar-SA" sz="251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2599069" y="7813030"/>
            <a:ext cx="11057860" cy="62577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09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إضافة المذاب تجعل المادة عالقة في الحالة السائلة لفترة أطول!</a:t>
            </a:r>
            <a:endParaRPr lang="ar-SA" sz="309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4288465" y="616644"/>
            <a:ext cx="7655441" cy="76745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50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مقارنة أنظمة الملاحة</a:t>
            </a:r>
            <a:endParaRPr lang="ar-SA" sz="50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8706883" y="2275532"/>
            <a:ext cx="5304465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8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الارتفاع في درجة الغليان</a:t>
            </a:r>
            <a:endParaRPr lang="ar-SA" sz="298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2197395" y="2275532"/>
            <a:ext cx="5635255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9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الانخفاض في درجة التجمد</a:t>
            </a:r>
            <a:endParaRPr lang="ar-SA" sz="29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7276010" y="3556595"/>
            <a:ext cx="1739420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7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التأثير</a:t>
            </a:r>
            <a:endParaRPr lang="ar-SA" sz="27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10939720" y="3609726"/>
            <a:ext cx="1701209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9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ترتفع</a:t>
            </a:r>
            <a:endParaRPr lang="ar-SA" sz="299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4064000" y="3603823"/>
            <a:ext cx="2114697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99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تنخفض</a:t>
            </a:r>
            <a:endParaRPr lang="ar-SA" sz="299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7135627" y="5008860"/>
            <a:ext cx="2032000" cy="4958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7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القانون</a:t>
            </a:r>
            <a:endParaRPr lang="ar-SA" sz="27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9498418" y="4949825"/>
            <a:ext cx="4170325" cy="66119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45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ΔT</a:t>
            </a:r>
            <a:r>
              <a:rPr lang="ar-SA" sz="3450" b="0" i="1" dirty="0" baseline="-2500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bp</a:t>
            </a:r>
            <a:r>
              <a:rPr lang="ar-SA" sz="345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= K</a:t>
            </a:r>
            <a:r>
              <a:rPr lang="ar-SA" sz="3450" b="0" i="1" dirty="0" baseline="-2500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bp</a:t>
            </a:r>
            <a:r>
              <a:rPr lang="ar-SA" sz="345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× m</a:t>
            </a:r>
            <a:endParaRPr lang="ar-SA" sz="34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9" name="Text 9"/>
          <p:cNvSpPr txBox="1"/>
          <p:nvPr/>
        </p:nvSpPr>
        <p:spPr>
          <a:xfrm>
            <a:off x="2811720" y="4949825"/>
            <a:ext cx="4040372" cy="66119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45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ΔT</a:t>
            </a:r>
            <a:r>
              <a:rPr lang="ar-SA" sz="3450" b="0" i="1" dirty="0" baseline="-2500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345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= K</a:t>
            </a:r>
            <a:r>
              <a:rPr lang="ar-SA" sz="3450" b="0" i="1" dirty="0" baseline="-2500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>fp</a:t>
            </a:r>
            <a:r>
              <a:rPr lang="ar-SA" sz="3450" b="0" i="1" dirty="0">
                <a:solidFill>
                  <a:srgbClr val="1F2530"/>
                </a:solidFill>
                <a:latin typeface="Cambria"/>
                <a:ea typeface="Cambria"/>
                <a:cs typeface="Cambria"/>
              </a:rPr>
              <a:t xml:space="preserve"> × m</a:t>
            </a:r>
            <a:endParaRPr lang="ar-SA" sz="34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0" name="Text 10"/>
          <p:cNvSpPr txBox="1"/>
          <p:nvPr/>
        </p:nvSpPr>
        <p:spPr>
          <a:xfrm>
            <a:off x="6722139" y="6372572"/>
            <a:ext cx="2858976" cy="51950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76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الثابت للماء</a:t>
            </a:r>
            <a:endParaRPr lang="ar-SA" sz="276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1" name="Text 11"/>
          <p:cNvSpPr txBox="1"/>
          <p:nvPr/>
        </p:nvSpPr>
        <p:spPr>
          <a:xfrm>
            <a:off x="9982790" y="6313537"/>
            <a:ext cx="3213395" cy="57854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22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0.512 °C/m</a:t>
            </a:r>
            <a:endParaRPr lang="ar-SA" sz="322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2" name="Text 12"/>
          <p:cNvSpPr txBox="1"/>
          <p:nvPr/>
        </p:nvSpPr>
        <p:spPr>
          <a:xfrm>
            <a:off x="3414232" y="6319440"/>
            <a:ext cx="2894418" cy="57854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00000"/>
              </a:lnSpc>
              <a:buNone/>
            </a:pPr>
            <a:r>
              <a:rPr lang="ar-SA" sz="322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1.86 °C/m</a:t>
            </a:r>
            <a:endParaRPr lang="ar-SA" sz="322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2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9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6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3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7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3037385" y="1023987"/>
            <a:ext cx="9685042" cy="70842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397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التحدي النهائي: حساب الكتلة المولية</a:t>
            </a:r>
            <a:endParaRPr lang="ar-SA" sz="397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4808279" y="2429023"/>
            <a:ext cx="6722139" cy="132238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2000"/>
              </a:lnSpc>
              <a:buNone/>
            </a:pPr>
            <a:r>
              <a:rPr lang="ar-SA" sz="23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المهمة:</a:t>
            </a:r>
            <a:r>
              <a:rPr lang="ar-SA" sz="232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أذيب 49.63‎ g من مركب في </a:t>
            </a:r>
            <a:r>
              <a:rPr lang="ar-SA" sz="23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1‎ kg</a:t>
            </a:r>
            <a:r>
              <a:rPr lang="ar-SA" sz="232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ماء.</a:t>
            </a:r>
            <a:endParaRPr lang="ar-SA" sz="232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2000"/>
              </a:lnSpc>
              <a:buNone/>
            </a:pPr>
            <a:r>
              <a:rPr lang="ar-SA" sz="232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درجة تجمد المحلول ‎-0.27‎ °C.</a:t>
            </a:r>
            <a:endParaRPr lang="ar-SA" sz="232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2000"/>
              </a:lnSpc>
              <a:buNone/>
            </a:pPr>
            <a:r>
              <a:rPr lang="ar-SA" sz="23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احسب الكتلة المولية! (K</a:t>
            </a:r>
            <a:r>
              <a:rPr lang="ar-SA" sz="2320" b="1" i="0" dirty="0" baseline="-2500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fp</a:t>
            </a:r>
            <a:r>
              <a:rPr lang="ar-SA" sz="232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 xml:space="preserve"> = 1.86)</a:t>
            </a:r>
            <a:endParaRPr lang="ar-SA" sz="232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3" name="Text 3"/>
          <p:cNvSpPr txBox="1"/>
          <p:nvPr/>
        </p:nvSpPr>
        <p:spPr>
          <a:xfrm>
            <a:off x="2102883" y="4814044"/>
            <a:ext cx="3485116" cy="37782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خطوة 1: إيجاد المولالية</a:t>
            </a:r>
            <a:endParaRPr lang="ar-SA" sz="19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4" name="Text 4"/>
          <p:cNvSpPr txBox="1"/>
          <p:nvPr/>
        </p:nvSpPr>
        <p:spPr>
          <a:xfrm>
            <a:off x="2750159" y="5339457"/>
            <a:ext cx="2214193" cy="122793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0">
              <a:lnSpc>
                <a:spcPct val="125000"/>
              </a:lnSpc>
              <a:buNone/>
            </a:pPr>
            <a:r>
              <a:rPr lang="ar-SA" sz="165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m = 0.27 / 1.86</a:t>
            </a:r>
            <a:endParaRPr lang="ar-SA" sz="16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25000"/>
              </a:lnSpc>
              <a:buNone/>
            </a:pPr>
            <a:r>
              <a:rPr lang="ar-SA" sz="16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0.145 m</a:t>
            </a:r>
            <a:endParaRPr lang="ar-SA" sz="16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5" name="Text 5"/>
          <p:cNvSpPr txBox="1"/>
          <p:nvPr/>
        </p:nvSpPr>
        <p:spPr>
          <a:xfrm>
            <a:off x="6408146" y="4802237"/>
            <a:ext cx="3463334" cy="37782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65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خطوة 2: إيجاد عدد المولات</a:t>
            </a:r>
            <a:endParaRPr lang="ar-SA" sz="165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6" name="Text 6"/>
          <p:cNvSpPr txBox="1"/>
          <p:nvPr/>
        </p:nvSpPr>
        <p:spPr>
          <a:xfrm>
            <a:off x="6497674" y="5374878"/>
            <a:ext cx="3248837" cy="123973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2000"/>
              </a:lnSpc>
              <a:buNone/>
            </a:pPr>
            <a:r>
              <a:rPr lang="ar-SA" sz="204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المولالية × كتلة المذيب</a:t>
            </a:r>
            <a:endParaRPr lang="ar-SA" sz="20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12000"/>
              </a:lnSpc>
              <a:buNone/>
            </a:pPr>
            <a:r>
              <a:rPr lang="ar-SA" sz="204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0.145 × 1</a:t>
            </a:r>
            <a:endParaRPr lang="ar-SA" sz="20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2000"/>
              </a:lnSpc>
              <a:buNone/>
            </a:pPr>
            <a:r>
              <a:rPr lang="ar-SA" sz="204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0.145 mol</a:t>
            </a:r>
            <a:endParaRPr lang="ar-SA" sz="204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7" name="Text 7"/>
          <p:cNvSpPr txBox="1"/>
          <p:nvPr/>
        </p:nvSpPr>
        <p:spPr>
          <a:xfrm>
            <a:off x="10691627" y="4790430"/>
            <a:ext cx="3402418" cy="401439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1900" b="1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خطوة 3: الكتلة المولية</a:t>
            </a:r>
            <a:endParaRPr lang="ar-SA" sz="190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8" name="Text 8"/>
          <p:cNvSpPr txBox="1"/>
          <p:nvPr/>
        </p:nvSpPr>
        <p:spPr>
          <a:xfrm>
            <a:off x="10561674" y="5398492"/>
            <a:ext cx="3674139" cy="123973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12000"/>
              </a:lnSpc>
              <a:buNone/>
            </a:pPr>
            <a:r>
              <a:rPr lang="ar-SA" sz="199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الكتلة بالغرام / عدد المولات</a:t>
            </a:r>
            <a:endParaRPr lang="ar-SA" sz="19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2000"/>
              </a:lnSpc>
              <a:buNone/>
            </a:pPr>
            <a:r>
              <a:rPr lang="ar-SA" sz="199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= 49.63 / 0.145</a:t>
            </a:r>
            <a:endParaRPr lang="ar-SA" sz="19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0">
              <a:lnSpc>
                <a:spcPct val="112000"/>
              </a:lnSpc>
              <a:buNone/>
            </a:pPr>
            <a:r>
              <a:rPr lang="ar-SA" sz="1990" b="1" i="0" dirty="0">
                <a:solidFill>
                  <a:srgbClr val="5A4A12"/>
                </a:solidFill>
                <a:latin typeface="Tahoma"/>
                <a:ea typeface="Tahoma"/>
                <a:cs typeface="Tahoma"/>
              </a:rPr>
              <a:t>= 342 g/mol</a:t>
            </a:r>
            <a:endParaRPr lang="ar-SA" sz="1990" b="1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9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6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3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  <p:bldP spid="103" grpId="0"/>
      <p:bldP spid="104" grpId="0"/>
      <p:bldP spid="105" grpId="0"/>
      <p:bldP spid="106" grpId="0"/>
      <p:bldP spid="107" grpId="0"/>
      <p:bldP spid="10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1" name="Text 1"/>
          <p:cNvSpPr txBox="1"/>
          <p:nvPr/>
        </p:nvSpPr>
        <p:spPr>
          <a:xfrm>
            <a:off x="4839106" y="1212899"/>
            <a:ext cx="6636857" cy="82649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5210" b="1" i="0" dirty="0">
                <a:solidFill>
                  <a:srgbClr val="1A2A40"/>
                </a:solidFill>
                <a:latin typeface="Tahoma"/>
                <a:ea typeface="Tahoma"/>
                <a:cs typeface="Tahoma"/>
              </a:rPr>
              <a:t>تمت المهمة بنجاح!</a:t>
            </a:r>
            <a:endParaRPr lang="ar-SA" sz="5210" b="1" i="0" dirty="0">
              <a:solidFill>
                <a:srgbClr val="1A2A4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2" name="Text 2"/>
          <p:cNvSpPr txBox="1"/>
          <p:nvPr/>
        </p:nvSpPr>
        <p:spPr>
          <a:xfrm>
            <a:off x="5588000" y="3639244"/>
            <a:ext cx="5068186" cy="212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ct val="100000"/>
              </a:lnSpc>
              <a:buNone/>
            </a:pPr>
            <a:r>
              <a:rPr lang="ar-SA" sz="210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الآن نعرف السر: الملح ينشر جسيماته ليعيق ترابط جزيئات الماء، مما يخفض درجة تجمد الجليد ويذيبه في الشتاء!</a:t>
            </a:r>
            <a:endParaRPr lang="ar-SA" sz="210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  <a:p>
            <a:pPr algn="ctr" rtl="1">
              <a:lnSpc>
                <a:spcPct val="100000"/>
              </a:lnSpc>
              <a:spcBef>
                <a:spcPts val="1800"/>
              </a:spcBef>
              <a:buNone/>
            </a:pPr>
            <a:r>
              <a:rPr lang="ar-SA" sz="2100" b="0" i="0" dirty="0">
                <a:solidFill>
                  <a:srgbClr val="1F2530"/>
                </a:solidFill>
                <a:latin typeface="Tahoma"/>
                <a:ea typeface="Tahoma"/>
                <a:cs typeface="Tahoma"/>
              </a:rPr>
              <a:t>تذكر دائماً: في الخواص المجمعة، العدد يصنع الفارق!</a:t>
            </a:r>
            <a:endParaRPr lang="ar-SA" sz="2100" b="0" i="0" dirty="0">
              <a:solidFill>
                <a:srgbClr val="1F253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خلود فيصل محمود البلوشي</cp:lastModifiedBy>
  <cp:revision>2</cp:revision>
  <dcterms:created xsi:type="dcterms:W3CDTF">2006-08-16T00:00:00Z</dcterms:created>
  <dcterms:modified xsi:type="dcterms:W3CDTF">2026-10-23T14:57:32Z</dcterms:modified>
</cp:coreProperties>
</file>