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19"/>
    <p:sldId id="270" r:id="rId20"/>
    <p:sldId id="271" r:id="rId21"/>
    <p:sldId id="272" r:id="rId22"/>
    <p:sldId id="273" r:id="rId23"/>
    <p:sldId id="261" r:id="rId7"/>
    <p:sldId id="262" r:id="rId8"/>
    <p:sldId id="263" r:id="rId9"/>
    <p:sldId id="274" r:id="rId24"/>
    <p:sldId id="275" r:id="rId25"/>
    <p:sldId id="276" r:id="rId26"/>
    <p:sldId id="277" r:id="rId27"/>
    <p:sldId id="278" r:id="rId28"/>
    <p:sldId id="279" r:id="rId29"/>
    <p:sldId id="264" r:id="rId10"/>
    <p:sldId id="265" r:id="rId11"/>
    <p:sldId id="280" r:id="rId30"/>
    <p:sldId id="281" r:id="rId31"/>
    <p:sldId id="282" r:id="rId32"/>
    <p:sldId id="283" r:id="rId33"/>
    <p:sldId id="284" r:id="rId34"/>
    <p:sldId id="266" r:id="rId12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67" r:id="rId13"/>
    <p:sldId id="268" r:id="rId1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theme" Target="theme/theme1.xml" /><Relationship Id="rId2" Type="http://schemas.openxmlformats.org/officeDocument/2006/relationships/slide" Target="slides/slid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presProps" Target="presProps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4.jpe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5.jpe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6.jpe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7.jpe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8.jpe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9.jpe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0.jpe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1.jpe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2.jpe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3.jpe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4.jpe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5.jpe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6.jpe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7.jpe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8.jpe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9.jpe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0.jpe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1.jpe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2.jpe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3.jpe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4.jpe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5.jpe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6.jpe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7.jpe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8.jpe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795720" y="3243708"/>
            <a:ext cx="13018976" cy="224333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92000"/>
              </a:lnSpc>
              <a:buNone/>
            </a:pPr>
            <a:r>
              <a:rPr lang="ar-SA" sz="7460" b="1" i="0" dirty="0">
                <a:solidFill>
                  <a:srgbClr val="FFFFFF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Tahoma"/>
                <a:ea typeface="Tahoma"/>
                <a:cs typeface="Tahoma"/>
              </a:rPr>
              <a:t>الحسابات المتعلقة</a:t>
            </a:r>
            <a:endParaRPr lang="ar-SA" sz="7460" b="1" i="0" dirty="0">
              <a:solidFill>
                <a:srgbClr val="FFFFFF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92000"/>
              </a:lnSpc>
              <a:buNone/>
            </a:pPr>
            <a:r>
              <a:rPr lang="ar-SA" sz="7460" b="1" i="0" dirty="0">
                <a:solidFill>
                  <a:srgbClr val="FFFFFF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Tahoma"/>
                <a:ea typeface="Tahoma"/>
                <a:cs typeface="Tahoma"/>
              </a:rPr>
              <a:t>بالخواص المجمعة للمحاليل</a:t>
            </a:r>
            <a:endParaRPr lang="ar-SA" sz="7460" b="1" i="0" dirty="0">
              <a:solidFill>
                <a:srgbClr val="FFFFFF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832639" y="5652343"/>
            <a:ext cx="12637976" cy="63757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4060" b="1" i="0" dirty="0">
                <a:solidFill>
                  <a:srgbClr val="CFCFCF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Tahoma"/>
                <a:ea typeface="Tahoma"/>
                <a:cs typeface="Tahoma"/>
              </a:rPr>
              <a:t>(Calculations Related to Solutions Properties)</a:t>
            </a:r>
            <a:endParaRPr lang="ar-SA" sz="4060" b="1" i="0" dirty="0">
              <a:solidFill>
                <a:srgbClr val="CFCFCF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795720" y="646162"/>
            <a:ext cx="12688186" cy="80287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51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لماذا نرش الملح على الطرق الجليدية؟</a:t>
            </a:r>
            <a:endParaRPr lang="ar-SA" sz="51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623680" y="1761926"/>
            <a:ext cx="13126779" cy="61396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080" b="1" i="0" dirty="0">
                <a:solidFill>
                  <a:srgbClr val="C8C8C8"/>
                </a:solidFill>
                <a:latin typeface="Tahoma"/>
                <a:ea typeface="Tahoma"/>
                <a:cs typeface="Tahoma"/>
              </a:rPr>
              <a:t>لغز علمي ينقذ ملايين الأرواح، وسره يكمن في "الخواص المجمعة".</a:t>
            </a:r>
            <a:endParaRPr lang="ar-SA" sz="3080" b="1" i="0" dirty="0">
              <a:solidFill>
                <a:srgbClr val="C8C8C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453116" y="1844575"/>
            <a:ext cx="4701953" cy="135780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ar-SA" sz="33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الخواص المجمّعة</a:t>
            </a:r>
            <a:endParaRPr lang="ar-SA" sz="33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5000"/>
              </a:lnSpc>
              <a:buNone/>
            </a:pPr>
            <a:r>
              <a:rPr lang="ar-SA" sz="33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(التجمّعية) للمحاليل</a:t>
            </a:r>
            <a:endParaRPr lang="ar-SA" sz="33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22325" y="3485753"/>
            <a:ext cx="4843720" cy="36365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500" b="0" i="0" dirty="0">
                <a:solidFill>
                  <a:srgbClr val="F2F2F2"/>
                </a:solidFill>
                <a:latin typeface="Tahoma"/>
                <a:ea typeface="Tahoma"/>
                <a:cs typeface="Tahoma"/>
              </a:rPr>
              <a:t>هي الخواص الفيزيائية للمحاليل التي تتأثر بعدد جسيمات المذاب، وليس بطبيعتها.</a:t>
            </a:r>
            <a:endParaRPr lang="ar-SA" sz="2500" b="0" i="0" dirty="0">
              <a:solidFill>
                <a:srgbClr val="F2F2F2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2200"/>
              </a:spcBef>
              <a:buNone/>
            </a:pPr>
            <a:r>
              <a:rPr lang="ar-SA" sz="2500" b="0" i="0" dirty="0">
                <a:solidFill>
                  <a:srgbClr val="F2F2F2"/>
                </a:solidFill>
                <a:latin typeface="Tahoma"/>
                <a:ea typeface="Tahoma"/>
                <a:cs typeface="Tahoma"/>
              </a:rPr>
              <a:t>عند إضافة مذاب غير متطاير (لا يتبخر بسهولة) إلى المذيب، تتغير خواص المذيب النقي بشكل جذري استناداً إلى عدد الجسيمات المضافة فقط.</a:t>
            </a:r>
            <a:endParaRPr lang="ar-SA" sz="2500" b="0" i="0" dirty="0">
              <a:solidFill>
                <a:srgbClr val="F2F2F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7556500" y="5699571"/>
            <a:ext cx="1946348" cy="63757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النوع</a:t>
            </a:r>
            <a:endParaRPr lang="ar-SA" sz="40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2830230" y="6573291"/>
            <a:ext cx="2055074" cy="63757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4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العدد</a:t>
            </a:r>
            <a:endParaRPr lang="ar-SA" sz="442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  <p:bldP spid="103" grpId="0"/>
      <p:bldP spid="10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0148186" y="598933"/>
            <a:ext cx="4052186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99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المذيب النقي</a:t>
            </a:r>
            <a:endParaRPr lang="ar-SA" sz="399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2776279" y="533995"/>
            <a:ext cx="2693581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6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المحلول</a:t>
            </a:r>
            <a:endParaRPr lang="ar-SA" sz="386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5150883" y="6785818"/>
            <a:ext cx="5930604" cy="57854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7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الانخفاض في الضغط البخاري</a:t>
            </a:r>
            <a:endParaRPr lang="ar-SA" sz="287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453116" y="7441108"/>
            <a:ext cx="13373395" cy="8264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770" b="1" i="0" dirty="0">
                <a:solidFill>
                  <a:srgbClr val="F2F2F2"/>
                </a:solidFill>
                <a:latin typeface="Tahoma"/>
                <a:ea typeface="Tahoma"/>
                <a:cs typeface="Tahoma"/>
              </a:rPr>
              <a:t>جسيمات المذاب تحتل مساحة على السطح، مما يقل من عدد جزيئات المذيب القادرة على الإفلات إلى الحالة الغازية.</a:t>
            </a:r>
            <a:endParaRPr lang="ar-SA" sz="1770" b="1" i="0" dirty="0">
              <a:solidFill>
                <a:srgbClr val="F2F2F2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10000"/>
              </a:lnSpc>
              <a:buNone/>
            </a:pPr>
            <a:r>
              <a:rPr lang="ar-SA" sz="1770" b="1" i="0" dirty="0">
                <a:solidFill>
                  <a:srgbClr val="F2F2F2"/>
                </a:solidFill>
                <a:latin typeface="Tahoma"/>
                <a:ea typeface="Tahoma"/>
                <a:cs typeface="Tahoma"/>
              </a:rPr>
              <a:t>النتيجة الحتمية: انخفاض الضغط البخاري للمحلول مقارنة بالمذيب النقي.</a:t>
            </a:r>
            <a:endParaRPr lang="ar-SA" sz="1770" b="1" i="0" dirty="0">
              <a:solidFill>
                <a:srgbClr val="F2F2F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9356651" y="2122041"/>
            <a:ext cx="5682511" cy="64938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22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علاقة طردية حاكمة</a:t>
            </a:r>
            <a:endParaRPr lang="ar-SA" sz="422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9333023" y="3107928"/>
            <a:ext cx="5528930" cy="401439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0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كلما زاد عدد جسيمات </a:t>
            </a:r>
            <a:r>
              <a:rPr lang="ar-SA" sz="30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المذاب،</a:t>
            </a:r>
            <a:r>
              <a:rPr lang="ar-SA" sz="30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</a:t>
            </a:r>
            <a:r>
              <a:rPr lang="ar-SA" sz="30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قلّ الضغط البخاري</a:t>
            </a:r>
            <a:r>
              <a:rPr lang="ar-SA" sz="30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بشكل أكبر.</a:t>
            </a:r>
            <a:endParaRPr lang="ar-SA" sz="30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3000"/>
              </a:spcBef>
              <a:buNone/>
            </a:pPr>
            <a:r>
              <a:rPr lang="ar-SA" sz="30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هذا الانخفاض في الضغط البخاري هو </a:t>
            </a:r>
            <a:r>
              <a:rPr lang="ar-SA" sz="30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"المحرك الأساسي"</a:t>
            </a:r>
            <a:r>
              <a:rPr lang="ar-SA" sz="30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الذي سيغير درجتي الغليان والتجمد!</a:t>
            </a:r>
            <a:endParaRPr lang="ar-SA" sz="30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4300279" y="3125638"/>
            <a:ext cx="1713023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0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مذيب</a:t>
            </a:r>
            <a:endParaRPr lang="ar-SA" sz="302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6023731" y="4784526"/>
            <a:ext cx="2011140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17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محلول</a:t>
            </a:r>
            <a:endParaRPr lang="ar-SA" sz="317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3058060" y="7630021"/>
            <a:ext cx="3500437" cy="59035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0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درجة الحرارة (C)</a:t>
            </a:r>
            <a:endParaRPr lang="ar-SA" sz="270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 rot="16200000">
            <a:off x="-814044" y="4182212"/>
            <a:ext cx="3813671" cy="53162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0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الضغط البخاري (torr)</a:t>
            </a:r>
            <a:endParaRPr lang="ar-SA" sz="280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2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  <p:bldP spid="103" grpId="0"/>
      <p:bldP spid="104" grpId="0"/>
      <p:bldP spid="105" grpId="0"/>
      <p:bldP spid="10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921488" y="1868189"/>
            <a:ext cx="6958418" cy="1475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EDEDED"/>
                </a:solidFill>
                <a:latin typeface="Tahoma"/>
                <a:ea typeface="Tahoma"/>
                <a:cs typeface="Tahoma"/>
              </a:rPr>
              <a:t>الارتفاع في درجة الغليان</a:t>
            </a:r>
            <a:endParaRPr lang="ar-SA" sz="4400" b="1" i="0" dirty="0">
              <a:solidFill>
                <a:srgbClr val="EDEDED"/>
              </a:solidFill>
              <a:latin typeface="Tahoma"/>
              <a:ea typeface="Tahoma"/>
              <a:cs typeface="Tahoma"/>
            </a:endParaRPr>
          </a:p>
          <a:p>
            <a:pPr algn="r" rtl="0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EDEDED"/>
                </a:solidFill>
                <a:latin typeface="Tahoma"/>
                <a:ea typeface="Tahoma"/>
                <a:cs typeface="Tahoma"/>
              </a:rPr>
              <a:t>(Boiling-Point Elevation)</a:t>
            </a:r>
            <a:endParaRPr lang="ar-SA" sz="4400" b="1" i="0" dirty="0">
              <a:solidFill>
                <a:srgbClr val="EDEDE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22325" y="3993455"/>
            <a:ext cx="6533116" cy="371921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9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بسبب انخفاض الضغط البخاري، يحتاج المحلول إلى </a:t>
            </a:r>
            <a:r>
              <a:rPr lang="ar-SA" sz="2900" b="0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طاقة حرارية أكبر</a:t>
            </a:r>
            <a:r>
              <a:rPr lang="ar-SA" sz="29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ليتمكن ضغطه البخاري من التغلب على الضغط الجوي.</a:t>
            </a:r>
            <a:endParaRPr lang="ar-SA" sz="29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2800"/>
              </a:spcBef>
              <a:buNone/>
            </a:pPr>
            <a:r>
              <a:rPr lang="ar-SA" sz="29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لذلك: يغلي المحلول دائماً عند درجة </a:t>
            </a:r>
            <a:r>
              <a:rPr lang="ar-SA" sz="2900" b="0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حرارة أعلى</a:t>
            </a:r>
            <a:r>
              <a:rPr lang="ar-SA" sz="29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من المذيب النقي.</a:t>
            </a:r>
            <a:endParaRPr lang="ar-SA" sz="29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109404" y="2529383"/>
            <a:ext cx="6994968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14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قانون الارتفاع في درجة الغليان:</a:t>
            </a:r>
            <a:endParaRPr lang="ar-SA" sz="314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19741" y="3751411"/>
            <a:ext cx="6999029" cy="123973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6390" b="1" i="1" dirty="0">
                <a:solidFill>
                  <a:srgbClr val="B9BFC6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ΔT</a:t>
            </a:r>
            <a:r>
              <a:rPr lang="ar-SA" sz="6390" b="1" i="1" dirty="0" baseline="-25000">
                <a:solidFill>
                  <a:srgbClr val="B9BFC6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bp</a:t>
            </a:r>
            <a:r>
              <a:rPr lang="ar-SA" sz="6390" b="1" i="1" dirty="0">
                <a:solidFill>
                  <a:srgbClr val="B9BFC6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6390" b="1" i="1" dirty="0" baseline="-25000">
                <a:solidFill>
                  <a:srgbClr val="B9BFC6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bp</a:t>
            </a:r>
            <a:r>
              <a:rPr lang="ar-SA" sz="6390" b="1" i="1" dirty="0">
                <a:solidFill>
                  <a:srgbClr val="B9BFC6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 xml:space="preserve"> × m</a:t>
            </a:r>
            <a:endParaRPr lang="ar-SA" sz="6390" b="1" i="0" dirty="0">
              <a:solidFill>
                <a:srgbClr val="B9BFC6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1772093" y="5410299"/>
            <a:ext cx="6025116" cy="1593949"/>
          </a:xfrm>
          <a:prstGeom prst="rect">
            <a:avLst/>
          </a:prstGeom>
          <a:noFill/>
        </p:spPr>
        <p:txBody>
          <a:bodyPr wrap="none" lIns="0" tIns="0" rIns="0" bIns="0" rtlCol="0" anchor="t" anchorCtr="1">
            <a:noAutofit/>
          </a:bodyPr>
          <a:lstStyle/>
          <a:p>
            <a:pPr algn="r" rtl="1">
              <a:lnSpc>
                <a:spcPct val="118000"/>
              </a:lnSpc>
              <a:buNone/>
            </a:pP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0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: مقدار الارتفاع في درجة الغليان.</a:t>
            </a:r>
            <a:endParaRPr lang="ar-SA" sz="24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8000"/>
              </a:lnSpc>
              <a:buNone/>
            </a:pP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0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: ثابت الارتفاع المولالي لدرجة الغليان.</a:t>
            </a:r>
            <a:endParaRPr lang="ar-SA" sz="24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8000"/>
              </a:lnSpc>
              <a:buNone/>
            </a:pP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m: التركيز المولالي للمحلول.</a:t>
            </a:r>
            <a:endParaRPr lang="ar-SA" sz="24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0256819" y="2682875"/>
            <a:ext cx="1873803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66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المذيب</a:t>
            </a:r>
            <a:endParaRPr lang="ar-SA" sz="266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3125302" y="2647453"/>
            <a:ext cx="1275906" cy="59035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22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3220" b="0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bp</a:t>
            </a:r>
            <a:endParaRPr lang="ar-SA" sz="322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10538046" y="3763218"/>
            <a:ext cx="1311348" cy="43686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50" b="0" i="0" dirty="0">
                <a:solidFill>
                  <a:srgbClr val="F05555"/>
                </a:solidFill>
                <a:latin typeface="Tahoma"/>
                <a:ea typeface="Tahoma"/>
                <a:cs typeface="Tahoma"/>
              </a:rPr>
              <a:t>الماء</a:t>
            </a:r>
            <a:endParaRPr lang="ar-SA" sz="2450" b="0" i="0" dirty="0">
              <a:solidFill>
                <a:srgbClr val="F05555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12971720" y="3763218"/>
            <a:ext cx="1571255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730" b="0" i="0" dirty="0">
                <a:solidFill>
                  <a:srgbClr val="F05555"/>
                </a:solidFill>
                <a:latin typeface="Tahoma"/>
                <a:ea typeface="Tahoma"/>
                <a:cs typeface="Tahoma"/>
              </a:rPr>
              <a:t>0.512</a:t>
            </a:r>
            <a:endParaRPr lang="ar-SA" sz="2730" b="0" i="0" dirty="0">
              <a:solidFill>
                <a:srgbClr val="F05555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10289953" y="4837658"/>
            <a:ext cx="1807534" cy="5077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65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الإيثانول</a:t>
            </a:r>
            <a:endParaRPr lang="ar-SA" sz="265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9" name="Text 9"/>
          <p:cNvSpPr txBox="1"/>
          <p:nvPr/>
        </p:nvSpPr>
        <p:spPr>
          <a:xfrm>
            <a:off x="13099736" y="4814044"/>
            <a:ext cx="1350667" cy="5077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58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1.19</a:t>
            </a:r>
            <a:endParaRPr lang="ar-SA" sz="258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0" name="Text 10"/>
          <p:cNvSpPr txBox="1"/>
          <p:nvPr/>
        </p:nvSpPr>
        <p:spPr>
          <a:xfrm>
            <a:off x="10419906" y="5841255"/>
            <a:ext cx="1535813" cy="5077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4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البنزين</a:t>
            </a:r>
            <a:endParaRPr lang="ar-SA" sz="234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1" name="Text 11"/>
          <p:cNvSpPr txBox="1"/>
          <p:nvPr/>
        </p:nvSpPr>
        <p:spPr>
          <a:xfrm>
            <a:off x="13076385" y="5829448"/>
            <a:ext cx="1373741" cy="5077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68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2.53</a:t>
            </a:r>
            <a:endParaRPr lang="ar-SA" sz="268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2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9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6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300"/>
                            </p:stCondLst>
                            <p:childTnLst>
                              <p:par>
                                <p:cTn id="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7700"/>
                            </p:stCondLst>
                            <p:childTnLst>
                              <p:par>
                                <p:cTn id="7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8400"/>
                            </p:stCondLst>
                            <p:childTnLst>
                              <p:par>
                                <p:cTn id="7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 build="p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922232" y="457249"/>
            <a:ext cx="8411534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4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مثال تطبيقي: محلول الجلوكوز</a:t>
            </a:r>
            <a:endParaRPr lang="ar-SA" sz="404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722991" y="1283741"/>
            <a:ext cx="12798203" cy="61396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3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ما هي درجة غليان محلول الجلوكوز </a:t>
            </a:r>
            <a:r>
              <a:rPr lang="ar-SA" sz="33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3320" b="1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33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3320" b="1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12</a:t>
            </a:r>
            <a:r>
              <a:rPr lang="ar-SA" sz="33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O</a:t>
            </a:r>
            <a:r>
              <a:rPr lang="ar-SA" sz="3320" b="1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33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تركيزه 1.5‎ m ؟</a:t>
            </a:r>
            <a:endParaRPr lang="ar-SA" sz="332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2752281" y="2240111"/>
            <a:ext cx="1879156" cy="34240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9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المعطيات</a:t>
            </a:r>
            <a:endParaRPr lang="ar-SA" sz="199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2023601" y="2783234"/>
            <a:ext cx="11878007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01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100 C = درجة غليان الماء النقي | K</a:t>
            </a:r>
            <a:r>
              <a:rPr lang="ar-SA" sz="2010" b="1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01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= 0.512 C/m للماء | ‎1.5 m = (m) التركيز المولالي</a:t>
            </a:r>
            <a:endParaRPr lang="ar-SA" sz="201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2406262" y="3893095"/>
            <a:ext cx="3185521" cy="36601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3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التعويض في القانون</a:t>
            </a:r>
            <a:endParaRPr lang="ar-SA" sz="193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5824279" y="3993455"/>
            <a:ext cx="4595627" cy="12987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5000"/>
              </a:lnSpc>
              <a:buNone/>
            </a:pPr>
            <a:r>
              <a:rPr lang="ar-SA" sz="3200" b="0" i="1" dirty="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ΔT</a:t>
            </a:r>
            <a:r>
              <a:rPr lang="ar-SA" sz="3200" b="0" i="1" dirty="0" baseline="-2500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bp</a:t>
            </a:r>
            <a:r>
              <a:rPr lang="ar-SA" sz="3200" b="0" i="1" dirty="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3200" b="0" i="1" dirty="0" baseline="-2500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bp</a:t>
            </a:r>
            <a:r>
              <a:rPr lang="ar-SA" sz="3200" b="0" i="1" dirty="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 xml:space="preserve"> × m</a:t>
            </a:r>
            <a:endParaRPr lang="ar-SA" sz="3200" b="1" i="0" dirty="0">
              <a:solidFill>
                <a:srgbClr val="AEB4BA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05000"/>
              </a:lnSpc>
              <a:buNone/>
            </a:pPr>
            <a:r>
              <a:rPr lang="ar-SA" sz="3200" b="0" i="1" dirty="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ΔT</a:t>
            </a:r>
            <a:r>
              <a:rPr lang="ar-SA" sz="3200" b="0" i="1" dirty="0" baseline="-2500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>bp</a:t>
            </a:r>
            <a:r>
              <a:rPr lang="ar-SA" sz="3200" b="0" i="1" dirty="0">
                <a:solidFill>
                  <a:srgbClr val="AEB4BA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Cambria"/>
                <a:ea typeface="Cambria"/>
                <a:cs typeface="Cambria"/>
              </a:rPr>
              <a:t xml:space="preserve"> = 0.512 × 1.5</a:t>
            </a:r>
            <a:endParaRPr lang="ar-SA" sz="3200" b="1" i="0" dirty="0">
              <a:solidFill>
                <a:srgbClr val="AEB4BA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2365559" y="5546080"/>
            <a:ext cx="3278741" cy="36601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2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حساب مقدار الارتفاع</a:t>
            </a:r>
            <a:endParaRPr lang="ar-SA" sz="192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6273209" y="6041975"/>
            <a:ext cx="3697767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41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341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bp</a:t>
            </a:r>
            <a:r>
              <a:rPr lang="ar-SA" sz="341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 xml:space="preserve"> = </a:t>
            </a:r>
            <a:r>
              <a:rPr lang="ar-SA" sz="341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0.77 C</a:t>
            </a:r>
            <a:endParaRPr lang="ar-SA" sz="341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9" name="Text 9"/>
          <p:cNvSpPr txBox="1"/>
          <p:nvPr/>
        </p:nvSpPr>
        <p:spPr>
          <a:xfrm>
            <a:off x="2554121" y="7163643"/>
            <a:ext cx="2559013" cy="36601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10" b="1" i="0" dirty="0">
                <a:solidFill>
                  <a:srgbClr val="E6E6E6"/>
                </a:solidFill>
                <a:latin typeface="Tahoma"/>
                <a:ea typeface="Tahoma"/>
                <a:cs typeface="Tahoma"/>
              </a:rPr>
              <a:t>النتيجة النهائية</a:t>
            </a:r>
            <a:endParaRPr lang="ar-SA" sz="2010" b="1" i="0" dirty="0">
              <a:solidFill>
                <a:srgbClr val="E6E6E6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0" name="Text 10"/>
          <p:cNvSpPr txBox="1"/>
          <p:nvPr/>
        </p:nvSpPr>
        <p:spPr>
          <a:xfrm>
            <a:off x="2966040" y="7511950"/>
            <a:ext cx="10229406" cy="68480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0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100.77 C = 100 C + 0.77 C = درجة غليان المحلول</a:t>
            </a:r>
            <a:endParaRPr lang="ar-SA" sz="30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9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6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70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4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100"/>
                            </p:stCondLst>
                            <p:childTnLst>
                              <p:par>
                                <p:cTn id="5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 build="p"/>
      <p:bldP spid="107" grpId="0"/>
      <p:bldP spid="108" grpId="0"/>
      <p:bldP spid="109" grpId="0"/>
      <p:bldP spid="1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-70883" y="421828"/>
            <a:ext cx="3804093" cy="5077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450" b="1" i="0" dirty="0">
                <a:solidFill>
                  <a:srgbClr val="1E1E1E"/>
                </a:solidFill>
                <a:latin typeface="Tahoma"/>
                <a:ea typeface="Tahoma"/>
                <a:cs typeface="Tahoma"/>
              </a:rPr>
              <a:t>المذيب النقي</a:t>
            </a:r>
            <a:endParaRPr lang="ar-SA" sz="3450" b="1" i="0" dirty="0">
              <a:solidFill>
                <a:srgbClr val="1E1E1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002113" y="941337"/>
            <a:ext cx="5100305" cy="257393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7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الانخفاض في درجة</a:t>
            </a:r>
            <a:endParaRPr lang="ar-SA" sz="37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buNone/>
            </a:pPr>
            <a:r>
              <a:rPr lang="ar-SA" sz="37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التجمد</a:t>
            </a:r>
            <a:endParaRPr lang="ar-SA" sz="37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0">
              <a:lnSpc>
                <a:spcPct val="100000"/>
              </a:lnSpc>
              <a:buNone/>
            </a:pPr>
            <a:r>
              <a:rPr lang="ar-SA" sz="37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(Freezing-Point</a:t>
            </a:r>
            <a:endParaRPr lang="ar-SA" sz="37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0">
              <a:lnSpc>
                <a:spcPct val="100000"/>
              </a:lnSpc>
              <a:buNone/>
            </a:pPr>
            <a:r>
              <a:rPr lang="ar-SA" sz="37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Depression)</a:t>
            </a:r>
            <a:endParaRPr lang="ar-SA" sz="37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10514418" y="4052490"/>
            <a:ext cx="5375348" cy="38963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7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حل لغز رش الملح: جسيمات المذاب تتدخل وتمنع جزيئات المذيب من التقارب والترتيب لتكوين الحالة الصلبة (الجليد).</a:t>
            </a:r>
            <a:endParaRPr lang="ar-SA" sz="27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3000"/>
              </a:spcBef>
              <a:buNone/>
            </a:pPr>
            <a:r>
              <a:rPr lang="ar-SA" sz="2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النتيجة:</a:t>
            </a:r>
            <a:r>
              <a:rPr lang="ar-SA" sz="27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يجب خفض درجة الحرارة أكثر بكثير لإجبار المحلول على التجمد.</a:t>
            </a:r>
            <a:endParaRPr lang="ar-SA" sz="27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8446976" y="8155433"/>
            <a:ext cx="2740837" cy="56673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450" b="1" i="0" dirty="0">
                <a:solidFill>
                  <a:srgbClr val="1E1E1E"/>
                </a:solidFill>
                <a:latin typeface="Tahoma"/>
                <a:ea typeface="Tahoma"/>
                <a:cs typeface="Tahoma"/>
              </a:rPr>
              <a:t>المحلول</a:t>
            </a:r>
            <a:endParaRPr lang="ar-SA" sz="3450" b="1" i="0" dirty="0">
              <a:solidFill>
                <a:srgbClr val="1E1E1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 build="p"/>
      <p:bldP spid="10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291597" y="1632049"/>
            <a:ext cx="6245704" cy="157033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8000"/>
              </a:lnSpc>
              <a:buNone/>
            </a:pPr>
            <a:r>
              <a:rPr lang="ar-SA" sz="4420" b="1" i="0" dirty="0">
                <a:solidFill>
                  <a:srgbClr val="E4F4FF"/>
                </a:solidFill>
                <a:effectLst>
                  <a:glow rad="63500">
                    <a:srgbClr val="4FC3F7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قانون الانخفاض في</a:t>
            </a:r>
            <a:endParaRPr lang="ar-SA" sz="4420" b="1" i="0" dirty="0">
              <a:solidFill>
                <a:srgbClr val="E4F4FF"/>
              </a:solidFill>
              <a:effectLst>
                <a:glow rad="63500">
                  <a:srgbClr val="4FC3F7">
                    <a:alpha val="28000"/>
                  </a:srgbClr>
                </a:glow>
              </a:effectLst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8000"/>
              </a:lnSpc>
              <a:buNone/>
            </a:pPr>
            <a:r>
              <a:rPr lang="ar-SA" sz="4420" b="1" i="0" dirty="0">
                <a:solidFill>
                  <a:srgbClr val="E4F4FF"/>
                </a:solidFill>
                <a:effectLst>
                  <a:glow rad="63500">
                    <a:srgbClr val="4FC3F7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درجة التجمد:</a:t>
            </a:r>
            <a:endParaRPr lang="ar-SA" sz="4420" b="1" i="0" dirty="0">
              <a:solidFill>
                <a:srgbClr val="E4F4FF"/>
              </a:solidFill>
              <a:effectLst>
                <a:glow rad="63500">
                  <a:srgbClr val="4FC3F7">
                    <a:alpha val="28000"/>
                  </a:srgbClr>
                </a:glo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606697" y="4087911"/>
            <a:ext cx="5150883" cy="9445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5060" b="0" i="1" dirty="0">
                <a:solidFill>
                  <a:srgbClr val="D9E2EA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5060" b="0" i="1" dirty="0" baseline="-25000">
                <a:solidFill>
                  <a:srgbClr val="D9E2EA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5060" b="0" i="1" dirty="0">
                <a:solidFill>
                  <a:srgbClr val="D9E2EA"/>
                </a:solidFill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5060" b="0" i="1" dirty="0" baseline="-25000">
                <a:solidFill>
                  <a:srgbClr val="D9E2EA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5060" b="0" i="1" dirty="0">
                <a:solidFill>
                  <a:srgbClr val="D9E2EA"/>
                </a:solidFill>
                <a:latin typeface="Cambria"/>
                <a:ea typeface="Cambria"/>
                <a:cs typeface="Cambria"/>
              </a:rPr>
              <a:t xml:space="preserve"> × m</a:t>
            </a:r>
            <a:endParaRPr lang="ar-SA" sz="5060" b="1" i="0" dirty="0">
              <a:solidFill>
                <a:srgbClr val="D9E2EA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1063255" y="5764510"/>
            <a:ext cx="6285023" cy="1782861"/>
          </a:xfrm>
          <a:prstGeom prst="rect">
            <a:avLst/>
          </a:prstGeom>
          <a:noFill/>
        </p:spPr>
        <p:txBody>
          <a:bodyPr wrap="none" lIns="0" tIns="0" rIns="0" bIns="0" rtlCol="0" anchor="t" anchorCtr="1">
            <a:noAutofit/>
          </a:bodyPr>
          <a:lstStyle/>
          <a:p>
            <a:pPr algn="r" rtl="1">
              <a:lnSpc>
                <a:spcPct val="125000"/>
              </a:lnSpc>
              <a:buNone/>
            </a:pP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: مقدار الانخفاض في درجة التجمد.</a:t>
            </a:r>
            <a:endParaRPr lang="ar-SA" sz="24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25000"/>
              </a:lnSpc>
              <a:buNone/>
            </a:pP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: ثابت الانخفاض المولالي لدرجة التجمد.</a:t>
            </a:r>
            <a:endParaRPr lang="ar-SA" sz="24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25000"/>
              </a:lnSpc>
              <a:buNone/>
            </a:pPr>
            <a:r>
              <a:rPr lang="ar-SA" sz="24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m: التركيز المولالي.</a:t>
            </a:r>
            <a:endParaRPr lang="ar-SA" sz="24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2378623" y="2547094"/>
            <a:ext cx="1954101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8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المذيب</a:t>
            </a:r>
            <a:endParaRPr lang="ar-SA" sz="288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9722699" y="2535287"/>
            <a:ext cx="1193578" cy="59035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8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800" b="1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fp</a:t>
            </a:r>
            <a:endParaRPr lang="ar-SA" sz="28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12652651" y="3710086"/>
            <a:ext cx="1417859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9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الماء</a:t>
            </a:r>
            <a:endParaRPr lang="ar-SA" sz="289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9616558" y="3721893"/>
            <a:ext cx="1429488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93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1.86</a:t>
            </a:r>
            <a:endParaRPr lang="ar-SA" sz="29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11726087" y="4873079"/>
            <a:ext cx="3259174" cy="5431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22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حمض الأسيتيك</a:t>
            </a:r>
            <a:endParaRPr lang="ar-SA" sz="322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9" name="Text 9"/>
          <p:cNvSpPr txBox="1"/>
          <p:nvPr/>
        </p:nvSpPr>
        <p:spPr>
          <a:xfrm>
            <a:off x="9586746" y="4878982"/>
            <a:ext cx="1465484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03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3.90</a:t>
            </a:r>
            <a:endParaRPr lang="ar-SA" sz="30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0" name="Text 10"/>
          <p:cNvSpPr txBox="1"/>
          <p:nvPr/>
        </p:nvSpPr>
        <p:spPr>
          <a:xfrm>
            <a:off x="12522790" y="6065589"/>
            <a:ext cx="1665767" cy="53131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2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البنزين</a:t>
            </a:r>
            <a:endParaRPr lang="ar-SA" sz="272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1" name="Text 11"/>
          <p:cNvSpPr txBox="1"/>
          <p:nvPr/>
        </p:nvSpPr>
        <p:spPr>
          <a:xfrm>
            <a:off x="9604744" y="6030168"/>
            <a:ext cx="1429488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93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5.12</a:t>
            </a:r>
            <a:endParaRPr lang="ar-SA" sz="29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2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9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6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300"/>
                            </p:stCondLst>
                            <p:childTnLst>
                              <p:par>
                                <p:cTn id="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7700"/>
                            </p:stCondLst>
                            <p:childTnLst>
                              <p:par>
                                <p:cTn id="7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8400"/>
                            </p:stCondLst>
                            <p:childTnLst>
                              <p:par>
                                <p:cTn id="7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 build="p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768651" y="593030"/>
            <a:ext cx="8730511" cy="75565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9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تحدي حسابي: إيجاد الكتلة المولية</a:t>
            </a:r>
            <a:endParaRPr lang="ar-SA" sz="39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890232" y="1384101"/>
            <a:ext cx="12534604" cy="83829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2000"/>
              </a:lnSpc>
              <a:buNone/>
            </a:pPr>
            <a:r>
              <a:rPr lang="ar-SA" sz="208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تنخفض درجة تجمد الماء إلى 0.390‎ °C عندما يُذاب 3.9‎ g من مذاب غير متطاير في 475‎ g من الماء. احسب</a:t>
            </a:r>
            <a:endParaRPr lang="ar-SA" sz="208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12000"/>
              </a:lnSpc>
              <a:buNone/>
            </a:pPr>
            <a:r>
              <a:rPr lang="ar-SA" sz="208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الكتلة المولية للمذاب. (</a:t>
            </a:r>
            <a:r>
              <a:rPr lang="ar-SA" sz="208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</a:t>
            </a:r>
            <a:r>
              <a:rPr lang="ar-SA" sz="208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08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= 1.86)</a:t>
            </a:r>
            <a:endParaRPr lang="ar-SA" sz="208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6828465" y="2635646"/>
            <a:ext cx="2587255" cy="42505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85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حساب المولالية:</a:t>
            </a:r>
            <a:endParaRPr lang="ar-SA" sz="185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5716661" y="3113831"/>
            <a:ext cx="4822677" cy="8737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180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</a:t>
            </a:r>
            <a:r>
              <a:rPr lang="ar-SA" sz="18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= </a:t>
            </a:r>
            <a:r>
              <a:rPr lang="ar-SA" sz="180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180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18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/ </a:t>
            </a:r>
            <a:r>
              <a:rPr lang="ar-SA" sz="180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</a:t>
            </a:r>
            <a:r>
              <a:rPr lang="ar-SA" sz="180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18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= 0.390 / 1.86 = 0.210 m</a:t>
            </a:r>
            <a:endParaRPr lang="ar-SA" sz="18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6615813" y="4766816"/>
            <a:ext cx="3012558" cy="42505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87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حساب عدد المولات:</a:t>
            </a:r>
            <a:endParaRPr lang="ar-SA" sz="187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5304465" y="5197772"/>
            <a:ext cx="5635255" cy="9091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8000"/>
              </a:lnSpc>
              <a:buNone/>
            </a:pPr>
            <a:r>
              <a:rPr lang="ar-SA" sz="216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التركيز المولالي × كتلة المذيب بالكيلوجرام</a:t>
            </a:r>
            <a:endParaRPr lang="ar-SA" sz="216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8000"/>
              </a:lnSpc>
              <a:buNone/>
            </a:pPr>
            <a:r>
              <a:rPr lang="ar-SA" sz="216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0.210 mol/kg × 0.475 kg = 0.0997 mol</a:t>
            </a:r>
            <a:endParaRPr lang="ar-SA" sz="216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6506073" y="6927502"/>
            <a:ext cx="3243853" cy="42505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84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استنتاج الكتلة المولية:</a:t>
            </a:r>
            <a:endParaRPr lang="ar-SA" sz="184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5729767" y="7352555"/>
            <a:ext cx="4784651" cy="89733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8000"/>
              </a:lnSpc>
              <a:buNone/>
            </a:pPr>
            <a:r>
              <a:rPr lang="ar-SA" sz="215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الكتلة (g) ÷ عدد المولات (mol)</a:t>
            </a:r>
            <a:endParaRPr lang="ar-SA" sz="215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8000"/>
              </a:lnSpc>
              <a:buNone/>
            </a:pPr>
            <a:r>
              <a:rPr lang="ar-SA" sz="215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3.9 g ÷ 0.0997 mol = 39.2 g/mol</a:t>
            </a:r>
            <a:endParaRPr lang="ar-SA" sz="215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9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300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70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400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 build="p"/>
      <p:bldP spid="107" grpId="0"/>
      <p:bldP spid="108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892447" y="522188"/>
            <a:ext cx="12412034" cy="75565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خلاصة الخواص المجمعة (The Synthesis Matrix)</a:t>
            </a:r>
            <a:endParaRPr lang="ar-SA" sz="40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861209" y="1667470"/>
            <a:ext cx="2563627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20" b="1" i="0" dirty="0">
                <a:solidFill>
                  <a:srgbClr val="F0F0F0"/>
                </a:solidFill>
                <a:latin typeface="Tahoma"/>
                <a:ea typeface="Tahoma"/>
                <a:cs typeface="Tahoma"/>
              </a:rPr>
              <a:t>درجة التجمد</a:t>
            </a:r>
            <a:endParaRPr lang="ar-SA" sz="2520" b="1" i="0" dirty="0">
              <a:solidFill>
                <a:srgbClr val="F0F0F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6834648" y="1673373"/>
            <a:ext cx="2563074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80" b="1" i="0" dirty="0">
                <a:solidFill>
                  <a:srgbClr val="F0F0F0"/>
                </a:solidFill>
                <a:latin typeface="Tahoma"/>
                <a:ea typeface="Tahoma"/>
                <a:cs typeface="Tahoma"/>
              </a:rPr>
              <a:t>درجة الغليان</a:t>
            </a:r>
            <a:endParaRPr lang="ar-SA" sz="2380" b="1" i="0" dirty="0">
              <a:solidFill>
                <a:srgbClr val="F0F0F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618419" y="1708794"/>
            <a:ext cx="2965486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80" b="1" i="0" dirty="0">
                <a:solidFill>
                  <a:srgbClr val="F0F0F0"/>
                </a:solidFill>
                <a:latin typeface="Tahoma"/>
                <a:ea typeface="Tahoma"/>
                <a:cs typeface="Tahoma"/>
              </a:rPr>
              <a:t>الضغط البخاري</a:t>
            </a:r>
            <a:endParaRPr lang="ar-SA" sz="2380" b="1" i="0" dirty="0">
              <a:solidFill>
                <a:srgbClr val="F0F0F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1922678" y="5079702"/>
            <a:ext cx="2428875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1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الأثر: تنخفض</a:t>
            </a:r>
            <a:endParaRPr lang="ar-SA" sz="211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11518604" y="5906194"/>
            <a:ext cx="3237023" cy="99179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53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القانون الرياضي:</a:t>
            </a:r>
            <a:endParaRPr lang="ar-SA" sz="25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0000"/>
              </a:lnSpc>
              <a:buNone/>
            </a:pPr>
            <a:r>
              <a:rPr lang="ar-SA" sz="253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253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53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253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53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 xml:space="preserve"> × m</a:t>
            </a:r>
            <a:endParaRPr lang="ar-SA" sz="25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7044623" y="5085605"/>
            <a:ext cx="2143125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2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الأثر: ترتفع</a:t>
            </a:r>
            <a:endParaRPr lang="ar-SA" sz="202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6485860" y="5900291"/>
            <a:ext cx="3272465" cy="99179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53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القانون الرياضي:</a:t>
            </a:r>
            <a:endParaRPr lang="ar-SA" sz="25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0000"/>
              </a:lnSpc>
              <a:buNone/>
            </a:pPr>
            <a:r>
              <a:rPr lang="ar-SA" sz="253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253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bp</a:t>
            </a:r>
            <a:r>
              <a:rPr lang="ar-SA" sz="253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2530" b="0" i="1" dirty="0" baseline="-2500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bp</a:t>
            </a:r>
            <a:r>
              <a:rPr lang="ar-SA" sz="253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 xml:space="preserve"> × m</a:t>
            </a:r>
            <a:endParaRPr lang="ar-SA" sz="253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9" name="Text 9"/>
          <p:cNvSpPr txBox="1"/>
          <p:nvPr/>
        </p:nvSpPr>
        <p:spPr>
          <a:xfrm>
            <a:off x="1886725" y="5079702"/>
            <a:ext cx="2428875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الأثر: ينخفض</a:t>
            </a:r>
            <a:endParaRPr lang="ar-SA" sz="21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0" name="Text 10"/>
          <p:cNvSpPr txBox="1"/>
          <p:nvPr/>
        </p:nvSpPr>
        <p:spPr>
          <a:xfrm>
            <a:off x="862418" y="5770413"/>
            <a:ext cx="4926418" cy="88552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32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السبب الجزيئي: إعاقة جسيمات</a:t>
            </a:r>
            <a:endParaRPr lang="ar-SA" sz="232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10000"/>
              </a:lnSpc>
              <a:buNone/>
            </a:pPr>
            <a:r>
              <a:rPr lang="ar-SA" sz="232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المذاب لعملية التبخر على السطح.</a:t>
            </a:r>
            <a:endParaRPr lang="ar-SA" sz="232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1" name="Text 11"/>
          <p:cNvSpPr txBox="1"/>
          <p:nvPr/>
        </p:nvSpPr>
        <p:spPr>
          <a:xfrm>
            <a:off x="1309318" y="7937003"/>
            <a:ext cx="13649177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9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القاسم المشترك: جميع هذه الخواص تعتمد حصرياً على عدد جسيمات المذاب، وليس على نوعها!</a:t>
            </a:r>
            <a:endParaRPr lang="ar-SA" sz="219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8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2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9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600"/>
                            </p:stCondLst>
                            <p:childTnLst>
                              <p:par>
                                <p:cTn id="5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3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2919430" y="770135"/>
            <a:ext cx="10428952" cy="8737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73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اختبر إتقانك (مراجعة الدرس 2-4)</a:t>
            </a:r>
            <a:endParaRPr lang="ar-SA" sz="473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0058196" y="2688778"/>
            <a:ext cx="3452443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960" b="1" i="0" dirty="0">
                <a:solidFill>
                  <a:srgbClr val="EDEDED"/>
                </a:solidFill>
                <a:latin typeface="Tahoma"/>
                <a:ea typeface="Tahoma"/>
                <a:cs typeface="Tahoma"/>
              </a:rPr>
              <a:t>التحدي الشامل</a:t>
            </a:r>
            <a:endParaRPr lang="ar-SA" sz="2960" b="1" i="0" dirty="0">
              <a:solidFill>
                <a:srgbClr val="EDEDE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2929860" y="2612032"/>
            <a:ext cx="3118883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30" b="1" i="0" dirty="0">
                <a:solidFill>
                  <a:srgbClr val="EDEDED"/>
                </a:solidFill>
                <a:latin typeface="Tahoma"/>
                <a:ea typeface="Tahoma"/>
                <a:cs typeface="Tahoma"/>
              </a:rPr>
              <a:t>تحدي المفهوم</a:t>
            </a:r>
            <a:endParaRPr lang="ar-SA" sz="2730" b="1" i="0" dirty="0">
              <a:solidFill>
                <a:srgbClr val="EDEDE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8446976" y="3438525"/>
            <a:ext cx="6261395" cy="118070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أُذيب 49.63‎ g من مركب غير إلكتروليتي في 1‎ kg من الماء، علماً أن درجة تجمد هذا المحلول هي 0.27°C-. احسب الكتلة المولية لهذا المركب.</a:t>
            </a:r>
            <a:endParaRPr lang="ar-SA" sz="21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1589488" y="4814044"/>
            <a:ext cx="3355162" cy="42505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87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(علماً أن K</a:t>
            </a:r>
            <a:r>
              <a:rPr lang="ar-SA" sz="1870" b="0" i="0" dirty="0" baseline="-2500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187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 xml:space="preserve"> للماء = 1.86)</a:t>
            </a:r>
            <a:endParaRPr lang="ar-SA" sz="187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11700521" y="5687764"/>
            <a:ext cx="1798120" cy="4014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197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Molality =</a:t>
            </a:r>
            <a:endParaRPr lang="ar-SA" sz="197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13444279" y="5504755"/>
            <a:ext cx="980558" cy="36601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510" b="0" i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</a:t>
            </a:r>
            <a:endParaRPr lang="ar-SA" sz="251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12916619" y="5923905"/>
            <a:ext cx="2047690" cy="36601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12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Molar Mass</a:t>
            </a:r>
            <a:endParaRPr lang="ar-SA" sz="212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9" name="Text 9"/>
          <p:cNvSpPr txBox="1"/>
          <p:nvPr/>
        </p:nvSpPr>
        <p:spPr>
          <a:xfrm>
            <a:off x="1772093" y="3462139"/>
            <a:ext cx="5458046" cy="153491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وضّح كيف يرتبط كلٌ من الارتفاع في درجة الغليان والانخفاض في درجة التجمد بالمولالية؟</a:t>
            </a:r>
            <a:endParaRPr lang="ar-SA" sz="21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2000"/>
              </a:spcBef>
              <a:buNone/>
            </a:pPr>
            <a:r>
              <a:rPr lang="ar-SA" sz="2100" b="0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(تلميح: تذكر المعادلة الخطية والعلاقة الطردية).</a:t>
            </a:r>
            <a:endParaRPr lang="ar-SA" sz="2100" b="0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2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9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6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3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6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بنك الأسئلة • الحصة الأولى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الانخفاض في الضغط البخاري</a:t>
            </a:r>
            <a:endParaRPr lang="ar-SA" sz="4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0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اختبر فهمك: السؤال أولاً، ثم اضغط لإظهار الإجابة</a:t>
            </a:r>
            <a:endParaRPr lang="ar-SA" sz="2100" b="0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45256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200025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التغيرات التي تحدث للخواص الفيزيائية للسائل المذيب عند إضافة المذاب إليه.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1"/>
          <p:cNvSpPr/>
          <p:nvPr/>
        </p:nvSpPr>
        <p:spPr>
          <a:xfrm>
            <a:off x="10166645" y="2599608"/>
            <a:ext cx="4506284" cy="571499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الخواص المجمعة للمحاليل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2"/>
          <p:cNvSpPr/>
          <p:nvPr/>
        </p:nvSpPr>
        <p:spPr>
          <a:xfrm>
            <a:off x="708837" y="3814045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2"/>
          <p:cNvSpPr/>
          <p:nvPr/>
        </p:nvSpPr>
        <p:spPr>
          <a:xfrm>
            <a:off x="14838325" y="4004545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2"/>
          <p:cNvSpPr txBox="1"/>
          <p:nvPr/>
        </p:nvSpPr>
        <p:spPr>
          <a:xfrm>
            <a:off x="1016000" y="398073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2"/>
          <p:cNvSpPr txBox="1"/>
          <p:nvPr/>
        </p:nvSpPr>
        <p:spPr>
          <a:xfrm>
            <a:off x="1016000" y="4361733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الخواص التي تتأثر بعدد جزيئات المذاب بالنسبة إلى عدد جزيئات المذيب ولا تتأثر بنوعها.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2"/>
          <p:cNvSpPr/>
          <p:nvPr/>
        </p:nvSpPr>
        <p:spPr>
          <a:xfrm>
            <a:off x="10166645" y="4961091"/>
            <a:ext cx="4506284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الخواص المجمعة للمحاليل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3"/>
          <p:cNvSpPr/>
          <p:nvPr/>
        </p:nvSpPr>
        <p:spPr>
          <a:xfrm>
            <a:off x="708837" y="6175528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3"/>
          <p:cNvSpPr/>
          <p:nvPr/>
        </p:nvSpPr>
        <p:spPr>
          <a:xfrm>
            <a:off x="14838325" y="6366028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3"/>
          <p:cNvSpPr txBox="1"/>
          <p:nvPr/>
        </p:nvSpPr>
        <p:spPr>
          <a:xfrm>
            <a:off x="1016000" y="6342216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3"/>
          <p:cNvSpPr txBox="1"/>
          <p:nvPr/>
        </p:nvSpPr>
        <p:spPr>
          <a:xfrm>
            <a:off x="1016000" y="6723216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ضغط البخار على السائل عند حدوث حالة اتزان بين السائل وبخاره عند درجة حرارة معينة.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3"/>
          <p:cNvSpPr/>
          <p:nvPr/>
        </p:nvSpPr>
        <p:spPr>
          <a:xfrm>
            <a:off x="11754699" y="7322574"/>
            <a:ext cx="2918231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الضغط البخاري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45256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200025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الخواص المجمعة للمحاليل تعتمد على ............ في كمية معينة من المذيب.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4"/>
          <p:cNvSpPr/>
          <p:nvPr/>
        </p:nvSpPr>
        <p:spPr>
          <a:xfrm>
            <a:off x="10979223" y="2599608"/>
            <a:ext cx="3693706" cy="571499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عدد جسيمات المذاب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5"/>
          <p:cNvSpPr/>
          <p:nvPr/>
        </p:nvSpPr>
        <p:spPr>
          <a:xfrm>
            <a:off x="708837" y="3814045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5"/>
          <p:cNvSpPr/>
          <p:nvPr/>
        </p:nvSpPr>
        <p:spPr>
          <a:xfrm>
            <a:off x="14838325" y="4004545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5"/>
          <p:cNvSpPr txBox="1"/>
          <p:nvPr/>
        </p:nvSpPr>
        <p:spPr>
          <a:xfrm>
            <a:off x="1016000" y="398073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5"/>
          <p:cNvSpPr txBox="1"/>
          <p:nvPr/>
        </p:nvSpPr>
        <p:spPr>
          <a:xfrm>
            <a:off x="1016000" y="4361733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الضغط البخاري للماء النقي ............ الضغط البخاري لمحلول الجلوكوز.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5"/>
          <p:cNvSpPr/>
          <p:nvPr/>
        </p:nvSpPr>
        <p:spPr>
          <a:xfrm>
            <a:off x="12854504" y="4961091"/>
            <a:ext cx="1818425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أكبر من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6"/>
          <p:cNvSpPr/>
          <p:nvPr/>
        </p:nvSpPr>
        <p:spPr>
          <a:xfrm>
            <a:off x="708837" y="6175528"/>
            <a:ext cx="14838325" cy="2004295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6"/>
          <p:cNvSpPr/>
          <p:nvPr/>
        </p:nvSpPr>
        <p:spPr>
          <a:xfrm>
            <a:off x="14838325" y="6366028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6"/>
          <p:cNvSpPr txBox="1"/>
          <p:nvPr/>
        </p:nvSpPr>
        <p:spPr>
          <a:xfrm>
            <a:off x="1016000" y="6342216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6"/>
          <p:cNvSpPr txBox="1"/>
          <p:nvPr/>
        </p:nvSpPr>
        <p:spPr>
          <a:xfrm>
            <a:off x="1016000" y="6723216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أحد التراكيز المولالية التالية لمحاليل السكر في الماء يكون له أقل ضغط بخاري: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Option 6.1"/>
          <p:cNvSpPr/>
          <p:nvPr/>
        </p:nvSpPr>
        <p:spPr>
          <a:xfrm>
            <a:off x="11400465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0.1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Option 6.2"/>
          <p:cNvSpPr/>
          <p:nvPr/>
        </p:nvSpPr>
        <p:spPr>
          <a:xfrm>
            <a:off x="7938976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0.2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Option 6.3"/>
          <p:cNvSpPr/>
          <p:nvPr/>
        </p:nvSpPr>
        <p:spPr>
          <a:xfrm>
            <a:off x="4477488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0.3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0" name="Option 6.4"/>
          <p:cNvSpPr/>
          <p:nvPr/>
        </p:nvSpPr>
        <p:spPr>
          <a:xfrm>
            <a:off x="1016000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0.4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Correct 6"/>
          <p:cNvSpPr/>
          <p:nvPr/>
        </p:nvSpPr>
        <p:spPr>
          <a:xfrm>
            <a:off x="1016000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5FD38D">
              <a:alpha val="20000"/>
            </a:srgbClr>
          </a:solidFill>
          <a:ln w="31750" cap="rnd">
            <a:solidFill>
              <a:srgbClr val="5FD38D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17" grpId="0" animBg="1"/>
      <p:bldP spid="22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7"/>
          <p:cNvSpPr/>
          <p:nvPr/>
        </p:nvSpPr>
        <p:spPr>
          <a:xfrm>
            <a:off x="708837" y="1452562"/>
            <a:ext cx="14838325" cy="2839611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7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7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7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عند إذابة مادة غير متطايرة وغير إلكتروليتية في مذيب سائل يقل الضغط البخاري للمحلول الناتج عن الضغط البخاري للسائل النقي.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7"/>
          <p:cNvSpPr/>
          <p:nvPr/>
        </p:nvSpPr>
        <p:spPr>
          <a:xfrm>
            <a:off x="1016000" y="3008466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E8A94E">
              <a:alpha val="10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لأن بعض جسيمات المذاب تحل محل بعض جزيئات المذيب الموجودة على سطح المحلول، وبالتالي يقل عدد جزيئات المذيب التي يمكنها الانطلاق إلى الحالة الغازية.</a:t>
            </a:r>
            <a:endParaRPr lang="ar-SA" sz="23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8"/>
          <p:cNvSpPr/>
          <p:nvPr/>
        </p:nvSpPr>
        <p:spPr>
          <a:xfrm>
            <a:off x="708837" y="4696986"/>
            <a:ext cx="14838325" cy="2839611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8"/>
          <p:cNvSpPr/>
          <p:nvPr/>
        </p:nvSpPr>
        <p:spPr>
          <a:xfrm>
            <a:off x="14838325" y="4887486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8"/>
          <p:cNvSpPr txBox="1"/>
          <p:nvPr/>
        </p:nvSpPr>
        <p:spPr>
          <a:xfrm>
            <a:off x="1016000" y="486367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8"/>
          <p:cNvSpPr txBox="1"/>
          <p:nvPr/>
        </p:nvSpPr>
        <p:spPr>
          <a:xfrm>
            <a:off x="1016000" y="524467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الضغط البخاري لمحلول السكر في الماء الذي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 m)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يساوي الضغط البخاري لمحلول اليوريا في الماء الذي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 m)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8"/>
          <p:cNvSpPr/>
          <p:nvPr/>
        </p:nvSpPr>
        <p:spPr>
          <a:xfrm>
            <a:off x="1016000" y="6252890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E8A94E">
              <a:alpha val="10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لأن كليهما من المركبات غير الإلكتروليتية وغير المتطايرة وتركيزهما متساوٍ، ولأن الضغط البخاري لا يعتمد على نوع المذاب وإنما يعتمد على عدد جسيماته (تركيزه) في المحلول.</a:t>
            </a:r>
            <a:endParaRPr lang="ar-SA" sz="23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17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9"/>
          <p:cNvSpPr/>
          <p:nvPr/>
        </p:nvSpPr>
        <p:spPr>
          <a:xfrm>
            <a:off x="708837" y="2309812"/>
            <a:ext cx="14838325" cy="2917825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9"/>
          <p:cNvSpPr/>
          <p:nvPr/>
        </p:nvSpPr>
        <p:spPr>
          <a:xfrm>
            <a:off x="14838325" y="250031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9"/>
          <p:cNvSpPr txBox="1"/>
          <p:nvPr/>
        </p:nvSpPr>
        <p:spPr>
          <a:xfrm>
            <a:off x="1016000" y="247650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ماذا يحدث في الحالة التالية مع التفسير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9"/>
          <p:cNvSpPr txBox="1"/>
          <p:nvPr/>
        </p:nvSpPr>
        <p:spPr>
          <a:xfrm>
            <a:off x="1016000" y="285750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ماذا يحدث للضغط البخاري للماء النقي عند إذابة مادة غير متطايرة وغير إلكتروليتية فيه وتكوين محلول؟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9"/>
          <p:cNvSpPr/>
          <p:nvPr/>
        </p:nvSpPr>
        <p:spPr>
          <a:xfrm>
            <a:off x="1016000" y="3456858"/>
            <a:ext cx="13656930" cy="1532654"/>
          </a:xfrm>
          <a:prstGeom prst="roundRect">
            <a:avLst>
              <a:gd name="adj" fmla="val 9000"/>
            </a:avLst>
          </a:prstGeom>
          <a:solidFill>
            <a:srgbClr val="E8A94E">
              <a:alpha val="10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الحدث:</a:t>
            </a:r>
            <a:r>
              <a:rPr lang="ar-SA" sz="23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يقل الضغط البخاري للمحلول عن الضغط البخاري للماء النقي.</a:t>
            </a:r>
            <a:endParaRPr lang="ar-SA" sz="23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0000"/>
              </a:lnSpc>
              <a:spcBef>
                <a:spcPts val="800"/>
              </a:spcBef>
              <a:buNone/>
            </a:pPr>
            <a:r>
              <a:rPr lang="ar-SA" sz="23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لأن بعض جسيمات المذاب (غير المتطايرة) تحل محل بعض الجزيئات السطحية للماء النقي، فيقل عدد جزيئات الماء التي يمكنها الانطلاق إلى الحالة الغازية.</a:t>
            </a:r>
            <a:endParaRPr lang="ar-SA" sz="23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6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بنك الأسئلة • الحصة الثانية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الارتفاع في درجة الغليان</a:t>
            </a:r>
            <a:endParaRPr lang="ar-SA" sz="4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0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اختبر فهمك: السؤال أولاً، ثم اضغط لإظهار الإجابة</a:t>
            </a:r>
            <a:endParaRPr lang="ar-SA" sz="2100" b="0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430657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621157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597344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978344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التغير في درجة غليان محلول تركيزه المولالي واحد لمذاب جزيئي غير متطاير.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1"/>
          <p:cNvSpPr/>
          <p:nvPr/>
        </p:nvSpPr>
        <p:spPr>
          <a:xfrm>
            <a:off x="9506171" y="2577703"/>
            <a:ext cx="5166758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 xml:space="preserve">ثابت الغليان المولالي 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1" i="0" dirty="0" baseline="-2500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)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2"/>
          <p:cNvSpPr/>
          <p:nvPr/>
        </p:nvSpPr>
        <p:spPr>
          <a:xfrm>
            <a:off x="708837" y="3770235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2"/>
          <p:cNvSpPr/>
          <p:nvPr/>
        </p:nvSpPr>
        <p:spPr>
          <a:xfrm>
            <a:off x="14838325" y="3960735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2"/>
          <p:cNvSpPr txBox="1"/>
          <p:nvPr/>
        </p:nvSpPr>
        <p:spPr>
          <a:xfrm>
            <a:off x="1016000" y="393692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2"/>
          <p:cNvSpPr txBox="1"/>
          <p:nvPr/>
        </p:nvSpPr>
        <p:spPr>
          <a:xfrm>
            <a:off x="1016000" y="431792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عند إذابة مذاب جزيئي غير متطاير في ماء نقي فإن مقدار الانخفاض في الضغط البخاري للمحلول يتناسب طردياً مع مقدار الارتفاع في درجة غليان المحلول.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2"/>
          <p:cNvSpPr/>
          <p:nvPr/>
        </p:nvSpPr>
        <p:spPr>
          <a:xfrm>
            <a:off x="12563031" y="5326139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5FD38D">
              <a:alpha val="14000"/>
            </a:srgbClr>
          </a:solidFill>
          <a:ln w="15875" cap="rnd">
            <a:solidFill>
              <a:srgbClr val="5FD38D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3"/>
          <p:cNvSpPr/>
          <p:nvPr/>
        </p:nvSpPr>
        <p:spPr>
          <a:xfrm>
            <a:off x="708837" y="6518671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3"/>
          <p:cNvSpPr/>
          <p:nvPr/>
        </p:nvSpPr>
        <p:spPr>
          <a:xfrm>
            <a:off x="14838325" y="6709171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3"/>
          <p:cNvSpPr txBox="1"/>
          <p:nvPr/>
        </p:nvSpPr>
        <p:spPr>
          <a:xfrm>
            <a:off x="1016000" y="6685359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3"/>
          <p:cNvSpPr txBox="1"/>
          <p:nvPr/>
        </p:nvSpPr>
        <p:spPr>
          <a:xfrm>
            <a:off x="1016000" y="7066359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غليان الماء النقي ............ درجة غليان المحلول المائي لأي مادة غير إلكتروليتية وغير متطايرة.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3"/>
          <p:cNvSpPr/>
          <p:nvPr/>
        </p:nvSpPr>
        <p:spPr>
          <a:xfrm>
            <a:off x="12874255" y="7665717"/>
            <a:ext cx="1798674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أقل من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304630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49513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47131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1852317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درجة غليان محلول السكروز الذي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0.4 m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............ درجة غليان نفس المحلول الذي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0.1 m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4"/>
          <p:cNvSpPr/>
          <p:nvPr/>
        </p:nvSpPr>
        <p:spPr>
          <a:xfrm>
            <a:off x="12854504" y="2451676"/>
            <a:ext cx="1818425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أكبر من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5"/>
          <p:cNvSpPr/>
          <p:nvPr/>
        </p:nvSpPr>
        <p:spPr>
          <a:xfrm>
            <a:off x="708837" y="3518181"/>
            <a:ext cx="14838325" cy="241315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5"/>
          <p:cNvSpPr/>
          <p:nvPr/>
        </p:nvSpPr>
        <p:spPr>
          <a:xfrm>
            <a:off x="14838325" y="3708681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5"/>
          <p:cNvSpPr txBox="1"/>
          <p:nvPr/>
        </p:nvSpPr>
        <p:spPr>
          <a:xfrm>
            <a:off x="1016000" y="3684868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5"/>
          <p:cNvSpPr txBox="1"/>
          <p:nvPr/>
        </p:nvSpPr>
        <p:spPr>
          <a:xfrm>
            <a:off x="1016000" y="4065868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مقدار الارتفاع في درجة غليان محلول مائي لليوريا يكون أكبر ما يمكن عندما يكون تركيزه المولالي أحد ما يلي: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Option 5.1"/>
          <p:cNvSpPr/>
          <p:nvPr/>
        </p:nvSpPr>
        <p:spPr>
          <a:xfrm>
            <a:off x="11400465" y="5074085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0.1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Option 5.2"/>
          <p:cNvSpPr/>
          <p:nvPr/>
        </p:nvSpPr>
        <p:spPr>
          <a:xfrm>
            <a:off x="7938976" y="5074085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0.2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Option 5.3"/>
          <p:cNvSpPr/>
          <p:nvPr/>
        </p:nvSpPr>
        <p:spPr>
          <a:xfrm>
            <a:off x="4477488" y="5074085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Option 5.4"/>
          <p:cNvSpPr/>
          <p:nvPr/>
        </p:nvSpPr>
        <p:spPr>
          <a:xfrm>
            <a:off x="1016000" y="5074085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2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Correct 5"/>
          <p:cNvSpPr/>
          <p:nvPr/>
        </p:nvSpPr>
        <p:spPr>
          <a:xfrm>
            <a:off x="1016000" y="5074085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5FD38D">
              <a:alpha val="20000"/>
            </a:srgbClr>
          </a:solidFill>
          <a:ln w="31750" cap="rnd">
            <a:solidFill>
              <a:srgbClr val="5FD38D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Card 6"/>
          <p:cNvSpPr/>
          <p:nvPr/>
        </p:nvSpPr>
        <p:spPr>
          <a:xfrm>
            <a:off x="708837" y="6188215"/>
            <a:ext cx="14838325" cy="241315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8" name="Number 6"/>
          <p:cNvSpPr/>
          <p:nvPr/>
        </p:nvSpPr>
        <p:spPr>
          <a:xfrm>
            <a:off x="14838325" y="6378715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Tag 6"/>
          <p:cNvSpPr txBox="1"/>
          <p:nvPr/>
        </p:nvSpPr>
        <p:spPr>
          <a:xfrm>
            <a:off x="1016000" y="635490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0" name="Question 6"/>
          <p:cNvSpPr txBox="1"/>
          <p:nvPr/>
        </p:nvSpPr>
        <p:spPr>
          <a:xfrm>
            <a:off x="1016000" y="673590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محلول المادة غير الإلكتروليتية وغير المتطايرة الذي له أعلى درجة غليان هو الذي يكون تركيزه المولالي أحد ما يلي: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Option 6.1"/>
          <p:cNvSpPr/>
          <p:nvPr/>
        </p:nvSpPr>
        <p:spPr>
          <a:xfrm>
            <a:off x="11400465" y="7744119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2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2" name="Correct 6"/>
          <p:cNvSpPr/>
          <p:nvPr/>
        </p:nvSpPr>
        <p:spPr>
          <a:xfrm>
            <a:off x="11400465" y="7744119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5FD38D">
              <a:alpha val="20000"/>
            </a:srgbClr>
          </a:solidFill>
          <a:ln w="31750" cap="rnd">
            <a:solidFill>
              <a:srgbClr val="5FD38D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3" name="Option 6.2"/>
          <p:cNvSpPr/>
          <p:nvPr/>
        </p:nvSpPr>
        <p:spPr>
          <a:xfrm>
            <a:off x="7938976" y="7744119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4" name="Option 6.3"/>
          <p:cNvSpPr/>
          <p:nvPr/>
        </p:nvSpPr>
        <p:spPr>
          <a:xfrm>
            <a:off x="4477488" y="7744119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0.2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5" name="Option 6.4"/>
          <p:cNvSpPr/>
          <p:nvPr/>
        </p:nvSpPr>
        <p:spPr>
          <a:xfrm>
            <a:off x="1016000" y="7744119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0.1 m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8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17" grpId="0" animBg="1"/>
      <p:bldP spid="26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7"/>
          <p:cNvSpPr/>
          <p:nvPr/>
        </p:nvSpPr>
        <p:spPr>
          <a:xfrm>
            <a:off x="708837" y="1452562"/>
            <a:ext cx="14838325" cy="241315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7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7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7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درجة الحرارة السيليزية التي يغلي عندها محلول مائي للسكر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 m)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إذا كان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للماء يساوي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0.512 °C/m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هي: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Option 7.1"/>
          <p:cNvSpPr/>
          <p:nvPr/>
        </p:nvSpPr>
        <p:spPr>
          <a:xfrm>
            <a:off x="11400465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99.488 °C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Option 7.2"/>
          <p:cNvSpPr/>
          <p:nvPr/>
        </p:nvSpPr>
        <p:spPr>
          <a:xfrm>
            <a:off x="7938976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100 °C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Option 7.3"/>
          <p:cNvSpPr/>
          <p:nvPr/>
        </p:nvSpPr>
        <p:spPr>
          <a:xfrm>
            <a:off x="4477488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100.512 °C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Correct 7"/>
          <p:cNvSpPr/>
          <p:nvPr/>
        </p:nvSpPr>
        <p:spPr>
          <a:xfrm>
            <a:off x="4477488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5FD38D">
              <a:alpha val="20000"/>
            </a:srgbClr>
          </a:solidFill>
          <a:ln w="31750" cap="rnd">
            <a:solidFill>
              <a:srgbClr val="5FD38D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Option 7.4"/>
          <p:cNvSpPr/>
          <p:nvPr/>
        </p:nvSpPr>
        <p:spPr>
          <a:xfrm>
            <a:off x="1016000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101 °C</a:t>
            </a:r>
            <a:endParaRPr lang="ar-SA" sz="22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Card 8"/>
          <p:cNvSpPr/>
          <p:nvPr/>
        </p:nvSpPr>
        <p:spPr>
          <a:xfrm>
            <a:off x="708837" y="4270528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3" name="Number 8"/>
          <p:cNvSpPr/>
          <p:nvPr/>
        </p:nvSpPr>
        <p:spPr>
          <a:xfrm>
            <a:off x="14838325" y="4461028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Tag 8"/>
          <p:cNvSpPr txBox="1"/>
          <p:nvPr/>
        </p:nvSpPr>
        <p:spPr>
          <a:xfrm>
            <a:off x="1016000" y="4437216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Question 8"/>
          <p:cNvSpPr txBox="1"/>
          <p:nvPr/>
        </p:nvSpPr>
        <p:spPr>
          <a:xfrm>
            <a:off x="1016000" y="4818216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إذا كان ثابت الغليان للماء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يساوي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(0.512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وكانت درجة غليان محلول مائي لمادة غير إلكتروليتية تساوي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100.256 °C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فإن تركيز المحلول يساوي ............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Answer 8"/>
          <p:cNvSpPr/>
          <p:nvPr/>
        </p:nvSpPr>
        <p:spPr>
          <a:xfrm>
            <a:off x="13140992" y="5826432"/>
            <a:ext cx="1531937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0.5 m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97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0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9"/>
          <p:cNvSpPr/>
          <p:nvPr/>
        </p:nvSpPr>
        <p:spPr>
          <a:xfrm>
            <a:off x="708837" y="2309812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9"/>
          <p:cNvSpPr/>
          <p:nvPr/>
        </p:nvSpPr>
        <p:spPr>
          <a:xfrm>
            <a:off x="14838325" y="250031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9"/>
          <p:cNvSpPr txBox="1"/>
          <p:nvPr/>
        </p:nvSpPr>
        <p:spPr>
          <a:xfrm>
            <a:off x="1016000" y="247650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9"/>
          <p:cNvSpPr txBox="1"/>
          <p:nvPr/>
        </p:nvSpPr>
        <p:spPr>
          <a:xfrm>
            <a:off x="1016000" y="285750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إذا كانت قيمة ثابت الغليان للماء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(0.512 °C/m)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فإن درجة غليان محلول مادة غير إلكتروليتية وغير متطايرة في الماء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(0.2 m)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تساوي ............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9"/>
          <p:cNvSpPr/>
          <p:nvPr/>
        </p:nvSpPr>
        <p:spPr>
          <a:xfrm>
            <a:off x="12090843" y="3865716"/>
            <a:ext cx="2582087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100.1024 °C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Graph card"/>
          <p:cNvSpPr/>
          <p:nvPr/>
        </p:nvSpPr>
        <p:spPr>
          <a:xfrm>
            <a:off x="708837" y="1238250"/>
            <a:ext cx="7560930" cy="7429500"/>
          </a:xfrm>
          <a:prstGeom prst="roundRect">
            <a:avLst>
              <a:gd name="adj" fmla="val 5000"/>
            </a:avLst>
          </a:prstGeom>
          <a:solidFill>
            <a:srgbClr val="FFFFFF">
              <a:alpha val="5000"/>
            </a:srgbClr>
          </a:solidFill>
          <a:ln w="12700" cap="rnd">
            <a:solidFill>
              <a:srgbClr val="FFFFFF">
                <a:alpha val="22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Axes"/>
          <p:cNvSpPr/>
          <p:nvPr/>
        </p:nvSpPr>
        <p:spPr>
          <a:xfrm>
            <a:off x="1772093" y="1666875"/>
            <a:ext cx="5907094" cy="5715119"/>
          </a:xfrm>
          <a:custGeom>
            <a:avLst/>
            <a:gdLst/>
            <a:ahLst/>
            <a:cxnLst/>
            <a:rect l="0" t="0" r="r" b="b"/>
            <a:pathLst>
              <a:path w="5907094" h="5715119" fill="none">
                <a:moveTo>
                  <a:pt x="0" y="0"/>
                </a:moveTo>
                <a:lnTo>
                  <a:pt x="0" y="5715000"/>
                </a:lnTo>
                <a:lnTo>
                  <a:pt x="5906976" y="5715000"/>
                </a:lnTo>
              </a:path>
            </a:pathLst>
          </a:custGeom>
          <a:noFill/>
          <a:ln w="22225" cap="rnd">
            <a:solidFill>
              <a:srgbClr val="D9DEE4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5" name="1 atm line"/>
          <p:cNvSpPr/>
          <p:nvPr/>
        </p:nvSpPr>
        <p:spPr>
          <a:xfrm>
            <a:off x="1772093" y="3236736"/>
            <a:ext cx="5788955" cy="119"/>
          </a:xfrm>
          <a:custGeom>
            <a:avLst/>
            <a:gdLst/>
            <a:ahLst/>
            <a:cxnLst/>
            <a:rect l="0" t="0" r="r" b="b"/>
            <a:pathLst>
              <a:path w="5788955" h="119" fill="none">
                <a:moveTo>
                  <a:pt x="0" y="0"/>
                </a:moveTo>
                <a:lnTo>
                  <a:pt x="5788837" y="0"/>
                </a:lnTo>
              </a:path>
            </a:pathLst>
          </a:custGeom>
          <a:noFill/>
          <a:ln w="15875" cap="rnd">
            <a:solidFill>
              <a:srgbClr val="D9DEE4">
                <a:alpha val="70000"/>
              </a:srgbClr>
            </a:solidFill>
            <a:prstDash val="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6" name="Curve A"/>
          <p:cNvSpPr/>
          <p:nvPr/>
        </p:nvSpPr>
        <p:spPr>
          <a:xfrm>
            <a:off x="1091053" y="1828330"/>
            <a:ext cx="3303160" cy="4927449"/>
          </a:xfrm>
          <a:custGeom>
            <a:avLst/>
            <a:gdLst/>
            <a:ahLst/>
            <a:cxnLst/>
            <a:rect l="0" t="0" r="r" b="b"/>
            <a:pathLst>
              <a:path w="3303160" h="4927449" fill="none">
                <a:moveTo>
                  <a:pt x="0" y="4927330"/>
                </a:moveTo>
                <a:lnTo>
                  <a:pt x="84693" y="4891287"/>
                </a:lnTo>
                <a:lnTo>
                  <a:pt x="169386" y="4853169"/>
                </a:lnTo>
                <a:lnTo>
                  <a:pt x="254080" y="4812858"/>
                </a:lnTo>
                <a:lnTo>
                  <a:pt x="338773" y="4770226"/>
                </a:lnTo>
                <a:lnTo>
                  <a:pt x="423466" y="4725141"/>
                </a:lnTo>
                <a:lnTo>
                  <a:pt x="508160" y="4677461"/>
                </a:lnTo>
                <a:lnTo>
                  <a:pt x="592853" y="4627036"/>
                </a:lnTo>
                <a:lnTo>
                  <a:pt x="677547" y="4573709"/>
                </a:lnTo>
                <a:lnTo>
                  <a:pt x="762240" y="4517313"/>
                </a:lnTo>
                <a:lnTo>
                  <a:pt x="846933" y="4457670"/>
                </a:lnTo>
                <a:lnTo>
                  <a:pt x="931627" y="4394595"/>
                </a:lnTo>
                <a:lnTo>
                  <a:pt x="1016320" y="4327889"/>
                </a:lnTo>
                <a:lnTo>
                  <a:pt x="1101014" y="4257344"/>
                </a:lnTo>
                <a:lnTo>
                  <a:pt x="1185707" y="4182739"/>
                </a:lnTo>
                <a:lnTo>
                  <a:pt x="1270400" y="4103840"/>
                </a:lnTo>
                <a:lnTo>
                  <a:pt x="1355094" y="4020399"/>
                </a:lnTo>
                <a:lnTo>
                  <a:pt x="1439787" y="3932156"/>
                </a:lnTo>
                <a:lnTo>
                  <a:pt x="1524481" y="3838834"/>
                </a:lnTo>
                <a:lnTo>
                  <a:pt x="1609174" y="3740140"/>
                </a:lnTo>
                <a:lnTo>
                  <a:pt x="1693867" y="3635766"/>
                </a:lnTo>
                <a:lnTo>
                  <a:pt x="1778561" y="3525384"/>
                </a:lnTo>
                <a:lnTo>
                  <a:pt x="1863254" y="3408650"/>
                </a:lnTo>
                <a:lnTo>
                  <a:pt x="1947948" y="3285196"/>
                </a:lnTo>
                <a:lnTo>
                  <a:pt x="2032641" y="3154637"/>
                </a:lnTo>
                <a:lnTo>
                  <a:pt x="2117334" y="3016563"/>
                </a:lnTo>
                <a:lnTo>
                  <a:pt x="2202028" y="2870542"/>
                </a:lnTo>
                <a:lnTo>
                  <a:pt x="2286721" y="2716116"/>
                </a:lnTo>
                <a:lnTo>
                  <a:pt x="2371415" y="2552802"/>
                </a:lnTo>
                <a:lnTo>
                  <a:pt x="2456108" y="2380089"/>
                </a:lnTo>
                <a:lnTo>
                  <a:pt x="2540801" y="2197434"/>
                </a:lnTo>
                <a:lnTo>
                  <a:pt x="2625495" y="2004266"/>
                </a:lnTo>
                <a:lnTo>
                  <a:pt x="2710188" y="1799981"/>
                </a:lnTo>
                <a:lnTo>
                  <a:pt x="2794882" y="1583937"/>
                </a:lnTo>
                <a:lnTo>
                  <a:pt x="2879575" y="1355458"/>
                </a:lnTo>
                <a:lnTo>
                  <a:pt x="2964268" y="1113829"/>
                </a:lnTo>
                <a:lnTo>
                  <a:pt x="3048962" y="858292"/>
                </a:lnTo>
                <a:lnTo>
                  <a:pt x="3133655" y="588047"/>
                </a:lnTo>
                <a:lnTo>
                  <a:pt x="3218349" y="302248"/>
                </a:lnTo>
                <a:lnTo>
                  <a:pt x="3303042" y="0"/>
                </a:lnTo>
              </a:path>
            </a:pathLst>
          </a:custGeom>
          <a:noFill/>
          <a:ln w="31750" cap="rnd">
            <a:solidFill>
              <a:srgbClr val="7FC8F8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7" name="Guide 52"/>
          <p:cNvSpPr/>
          <p:nvPr/>
        </p:nvSpPr>
        <p:spPr>
          <a:xfrm>
            <a:off x="3951419" y="3236736"/>
            <a:ext cx="118" cy="4145257"/>
          </a:xfrm>
          <a:custGeom>
            <a:avLst/>
            <a:gdLst/>
            <a:ahLst/>
            <a:cxnLst/>
            <a:rect l="0" t="0" r="r" b="b"/>
            <a:pathLst>
              <a:path w="118" h="4145257" fill="none">
                <a:moveTo>
                  <a:pt x="0" y="0"/>
                </a:moveTo>
                <a:lnTo>
                  <a:pt x="0" y="4145138"/>
                </a:lnTo>
              </a:path>
            </a:pathLst>
          </a:custGeom>
          <a:noFill/>
          <a:ln w="12700" cap="rnd">
            <a:solidFill>
              <a:srgbClr val="D9DEE4">
                <a:alpha val="55000"/>
              </a:srgbClr>
            </a:solidFill>
            <a:prstDash val="sys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Label A"/>
          <p:cNvSpPr txBox="1"/>
          <p:nvPr/>
        </p:nvSpPr>
        <p:spPr>
          <a:xfrm>
            <a:off x="1197539" y="6148604"/>
            <a:ext cx="330790" cy="309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7FC8F8"/>
                </a:solidFill>
                <a:latin typeface="Tahoma"/>
                <a:ea typeface="Tahoma"/>
                <a:cs typeface="Tahoma"/>
              </a:rPr>
              <a:t>A</a:t>
            </a:r>
            <a:endParaRPr lang="ar-SA" sz="1600" b="1" i="0" dirty="0">
              <a:solidFill>
                <a:srgbClr val="7FC8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Tick 52"/>
          <p:cNvSpPr txBox="1"/>
          <p:nvPr/>
        </p:nvSpPr>
        <p:spPr>
          <a:xfrm>
            <a:off x="3597001" y="7453312"/>
            <a:ext cx="708837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52</a:t>
            </a:r>
            <a:endParaRPr lang="ar-SA" sz="15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Curve B"/>
          <p:cNvSpPr/>
          <p:nvPr/>
        </p:nvSpPr>
        <p:spPr>
          <a:xfrm>
            <a:off x="2453132" y="1828330"/>
            <a:ext cx="3303160" cy="4927449"/>
          </a:xfrm>
          <a:custGeom>
            <a:avLst/>
            <a:gdLst/>
            <a:ahLst/>
            <a:cxnLst/>
            <a:rect l="0" t="0" r="r" b="b"/>
            <a:pathLst>
              <a:path w="3303160" h="4927449" fill="none">
                <a:moveTo>
                  <a:pt x="0" y="4927330"/>
                </a:moveTo>
                <a:lnTo>
                  <a:pt x="84693" y="4891287"/>
                </a:lnTo>
                <a:lnTo>
                  <a:pt x="169386" y="4853169"/>
                </a:lnTo>
                <a:lnTo>
                  <a:pt x="254080" y="4812858"/>
                </a:lnTo>
                <a:lnTo>
                  <a:pt x="338773" y="4770226"/>
                </a:lnTo>
                <a:lnTo>
                  <a:pt x="423466" y="4725141"/>
                </a:lnTo>
                <a:lnTo>
                  <a:pt x="508160" y="4677461"/>
                </a:lnTo>
                <a:lnTo>
                  <a:pt x="592853" y="4627036"/>
                </a:lnTo>
                <a:lnTo>
                  <a:pt x="677547" y="4573709"/>
                </a:lnTo>
                <a:lnTo>
                  <a:pt x="762240" y="4517313"/>
                </a:lnTo>
                <a:lnTo>
                  <a:pt x="846933" y="4457670"/>
                </a:lnTo>
                <a:lnTo>
                  <a:pt x="931627" y="4394595"/>
                </a:lnTo>
                <a:lnTo>
                  <a:pt x="1016320" y="4327889"/>
                </a:lnTo>
                <a:lnTo>
                  <a:pt x="1101014" y="4257344"/>
                </a:lnTo>
                <a:lnTo>
                  <a:pt x="1185707" y="4182739"/>
                </a:lnTo>
                <a:lnTo>
                  <a:pt x="1270400" y="4103840"/>
                </a:lnTo>
                <a:lnTo>
                  <a:pt x="1355094" y="4020399"/>
                </a:lnTo>
                <a:lnTo>
                  <a:pt x="1439787" y="3932156"/>
                </a:lnTo>
                <a:lnTo>
                  <a:pt x="1524481" y="3838834"/>
                </a:lnTo>
                <a:lnTo>
                  <a:pt x="1609174" y="3740140"/>
                </a:lnTo>
                <a:lnTo>
                  <a:pt x="1693867" y="3635766"/>
                </a:lnTo>
                <a:lnTo>
                  <a:pt x="1778561" y="3525384"/>
                </a:lnTo>
                <a:lnTo>
                  <a:pt x="1863254" y="3408650"/>
                </a:lnTo>
                <a:lnTo>
                  <a:pt x="1947948" y="3285196"/>
                </a:lnTo>
                <a:lnTo>
                  <a:pt x="2032641" y="3154637"/>
                </a:lnTo>
                <a:lnTo>
                  <a:pt x="2117334" y="3016563"/>
                </a:lnTo>
                <a:lnTo>
                  <a:pt x="2202028" y="2870542"/>
                </a:lnTo>
                <a:lnTo>
                  <a:pt x="2286721" y="2716116"/>
                </a:lnTo>
                <a:lnTo>
                  <a:pt x="2371415" y="2552802"/>
                </a:lnTo>
                <a:lnTo>
                  <a:pt x="2456108" y="2380089"/>
                </a:lnTo>
                <a:lnTo>
                  <a:pt x="2540801" y="2197434"/>
                </a:lnTo>
                <a:lnTo>
                  <a:pt x="2625495" y="2004266"/>
                </a:lnTo>
                <a:lnTo>
                  <a:pt x="2710188" y="1799981"/>
                </a:lnTo>
                <a:lnTo>
                  <a:pt x="2794882" y="1583937"/>
                </a:lnTo>
                <a:lnTo>
                  <a:pt x="2879575" y="1355458"/>
                </a:lnTo>
                <a:lnTo>
                  <a:pt x="2964268" y="1113829"/>
                </a:lnTo>
                <a:lnTo>
                  <a:pt x="3048962" y="858292"/>
                </a:lnTo>
                <a:lnTo>
                  <a:pt x="3133655" y="588047"/>
                </a:lnTo>
                <a:lnTo>
                  <a:pt x="3218349" y="302248"/>
                </a:lnTo>
                <a:lnTo>
                  <a:pt x="3303042" y="0"/>
                </a:lnTo>
              </a:path>
            </a:pathLst>
          </a:custGeom>
          <a:noFill/>
          <a:ln w="31750" cap="rnd">
            <a:solidFill>
              <a:srgbClr val="E8A94E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1" name="Guide 72"/>
          <p:cNvSpPr/>
          <p:nvPr/>
        </p:nvSpPr>
        <p:spPr>
          <a:xfrm>
            <a:off x="5313499" y="3236736"/>
            <a:ext cx="118" cy="4145257"/>
          </a:xfrm>
          <a:custGeom>
            <a:avLst/>
            <a:gdLst/>
            <a:ahLst/>
            <a:cxnLst/>
            <a:rect l="0" t="0" r="r" b="b"/>
            <a:pathLst>
              <a:path w="118" h="4145257" fill="none">
                <a:moveTo>
                  <a:pt x="0" y="0"/>
                </a:moveTo>
                <a:lnTo>
                  <a:pt x="0" y="4145138"/>
                </a:lnTo>
              </a:path>
            </a:pathLst>
          </a:custGeom>
          <a:noFill/>
          <a:ln w="12700" cap="rnd">
            <a:solidFill>
              <a:srgbClr val="D9DEE4">
                <a:alpha val="55000"/>
              </a:srgbClr>
            </a:solidFill>
            <a:prstDash val="sys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2" name="Label B"/>
          <p:cNvSpPr txBox="1"/>
          <p:nvPr/>
        </p:nvSpPr>
        <p:spPr>
          <a:xfrm>
            <a:off x="2559618" y="6148604"/>
            <a:ext cx="330790" cy="309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B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Tick 72"/>
          <p:cNvSpPr txBox="1"/>
          <p:nvPr/>
        </p:nvSpPr>
        <p:spPr>
          <a:xfrm>
            <a:off x="4959080" y="7453312"/>
            <a:ext cx="708837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72</a:t>
            </a:r>
            <a:endParaRPr lang="ar-SA" sz="15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Curve C"/>
          <p:cNvSpPr/>
          <p:nvPr/>
        </p:nvSpPr>
        <p:spPr>
          <a:xfrm>
            <a:off x="3815212" y="1828330"/>
            <a:ext cx="3303160" cy="4927449"/>
          </a:xfrm>
          <a:custGeom>
            <a:avLst/>
            <a:gdLst/>
            <a:ahLst/>
            <a:cxnLst/>
            <a:rect l="0" t="0" r="r" b="b"/>
            <a:pathLst>
              <a:path w="3303160" h="4927449" fill="none">
                <a:moveTo>
                  <a:pt x="0" y="4927330"/>
                </a:moveTo>
                <a:lnTo>
                  <a:pt x="84693" y="4891287"/>
                </a:lnTo>
                <a:lnTo>
                  <a:pt x="169386" y="4853169"/>
                </a:lnTo>
                <a:lnTo>
                  <a:pt x="254080" y="4812858"/>
                </a:lnTo>
                <a:lnTo>
                  <a:pt x="338773" y="4770226"/>
                </a:lnTo>
                <a:lnTo>
                  <a:pt x="423466" y="4725141"/>
                </a:lnTo>
                <a:lnTo>
                  <a:pt x="508160" y="4677461"/>
                </a:lnTo>
                <a:lnTo>
                  <a:pt x="592853" y="4627036"/>
                </a:lnTo>
                <a:lnTo>
                  <a:pt x="677547" y="4573709"/>
                </a:lnTo>
                <a:lnTo>
                  <a:pt x="762240" y="4517313"/>
                </a:lnTo>
                <a:lnTo>
                  <a:pt x="846933" y="4457670"/>
                </a:lnTo>
                <a:lnTo>
                  <a:pt x="931627" y="4394595"/>
                </a:lnTo>
                <a:lnTo>
                  <a:pt x="1016320" y="4327889"/>
                </a:lnTo>
                <a:lnTo>
                  <a:pt x="1101014" y="4257344"/>
                </a:lnTo>
                <a:lnTo>
                  <a:pt x="1185707" y="4182739"/>
                </a:lnTo>
                <a:lnTo>
                  <a:pt x="1270400" y="4103840"/>
                </a:lnTo>
                <a:lnTo>
                  <a:pt x="1355094" y="4020399"/>
                </a:lnTo>
                <a:lnTo>
                  <a:pt x="1439787" y="3932156"/>
                </a:lnTo>
                <a:lnTo>
                  <a:pt x="1524481" y="3838834"/>
                </a:lnTo>
                <a:lnTo>
                  <a:pt x="1609174" y="3740140"/>
                </a:lnTo>
                <a:lnTo>
                  <a:pt x="1693867" y="3635766"/>
                </a:lnTo>
                <a:lnTo>
                  <a:pt x="1778561" y="3525384"/>
                </a:lnTo>
                <a:lnTo>
                  <a:pt x="1863254" y="3408650"/>
                </a:lnTo>
                <a:lnTo>
                  <a:pt x="1947948" y="3285196"/>
                </a:lnTo>
                <a:lnTo>
                  <a:pt x="2032641" y="3154637"/>
                </a:lnTo>
                <a:lnTo>
                  <a:pt x="2117334" y="3016563"/>
                </a:lnTo>
                <a:lnTo>
                  <a:pt x="2202028" y="2870542"/>
                </a:lnTo>
                <a:lnTo>
                  <a:pt x="2286721" y="2716116"/>
                </a:lnTo>
                <a:lnTo>
                  <a:pt x="2371415" y="2552802"/>
                </a:lnTo>
                <a:lnTo>
                  <a:pt x="2456108" y="2380089"/>
                </a:lnTo>
                <a:lnTo>
                  <a:pt x="2540801" y="2197434"/>
                </a:lnTo>
                <a:lnTo>
                  <a:pt x="2625495" y="2004266"/>
                </a:lnTo>
                <a:lnTo>
                  <a:pt x="2710188" y="1799981"/>
                </a:lnTo>
                <a:lnTo>
                  <a:pt x="2794882" y="1583937"/>
                </a:lnTo>
                <a:lnTo>
                  <a:pt x="2879575" y="1355458"/>
                </a:lnTo>
                <a:lnTo>
                  <a:pt x="2964268" y="1113829"/>
                </a:lnTo>
                <a:lnTo>
                  <a:pt x="3048962" y="858292"/>
                </a:lnTo>
                <a:lnTo>
                  <a:pt x="3133655" y="588047"/>
                </a:lnTo>
                <a:lnTo>
                  <a:pt x="3218349" y="302248"/>
                </a:lnTo>
                <a:lnTo>
                  <a:pt x="3303042" y="0"/>
                </a:lnTo>
              </a:path>
            </a:pathLst>
          </a:custGeom>
          <a:noFill/>
          <a:ln w="31750" cap="rnd">
            <a:solidFill>
              <a:srgbClr val="F07C7C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5" name="Guide 92"/>
          <p:cNvSpPr/>
          <p:nvPr/>
        </p:nvSpPr>
        <p:spPr>
          <a:xfrm>
            <a:off x="6675578" y="3236736"/>
            <a:ext cx="118" cy="4145257"/>
          </a:xfrm>
          <a:custGeom>
            <a:avLst/>
            <a:gdLst/>
            <a:ahLst/>
            <a:cxnLst/>
            <a:rect l="0" t="0" r="r" b="b"/>
            <a:pathLst>
              <a:path w="118" h="4145257" fill="none">
                <a:moveTo>
                  <a:pt x="0" y="0"/>
                </a:moveTo>
                <a:lnTo>
                  <a:pt x="0" y="4145138"/>
                </a:lnTo>
              </a:path>
            </a:pathLst>
          </a:custGeom>
          <a:noFill/>
          <a:ln w="12700" cap="rnd">
            <a:solidFill>
              <a:srgbClr val="D9DEE4">
                <a:alpha val="55000"/>
              </a:srgbClr>
            </a:solidFill>
            <a:prstDash val="sys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6" name="Label C"/>
          <p:cNvSpPr txBox="1"/>
          <p:nvPr/>
        </p:nvSpPr>
        <p:spPr>
          <a:xfrm>
            <a:off x="3921697" y="6148604"/>
            <a:ext cx="330790" cy="309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F07C7C"/>
                </a:solidFill>
                <a:latin typeface="Tahoma"/>
                <a:ea typeface="Tahoma"/>
                <a:cs typeface="Tahoma"/>
              </a:rPr>
              <a:t>C</a:t>
            </a:r>
            <a:endParaRPr lang="ar-SA" sz="1600" b="1" i="0" dirty="0">
              <a:solidFill>
                <a:srgbClr val="F07C7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Tick 92"/>
          <p:cNvSpPr txBox="1"/>
          <p:nvPr/>
        </p:nvSpPr>
        <p:spPr>
          <a:xfrm>
            <a:off x="6321160" y="7453312"/>
            <a:ext cx="708837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92</a:t>
            </a:r>
            <a:endParaRPr lang="ar-SA" sz="15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1 atm"/>
          <p:cNvSpPr txBox="1"/>
          <p:nvPr/>
        </p:nvSpPr>
        <p:spPr>
          <a:xfrm>
            <a:off x="921488" y="3070048"/>
            <a:ext cx="77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13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1 atm</a:t>
            </a:r>
            <a:endParaRPr lang="ar-SA" sz="1300" b="1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x axis"/>
          <p:cNvSpPr txBox="1"/>
          <p:nvPr/>
        </p:nvSpPr>
        <p:spPr>
          <a:xfrm>
            <a:off x="1772093" y="7858125"/>
            <a:ext cx="5788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 xml:space="preserve">درجة الحرارة </a:t>
            </a: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(°C)</a:t>
            </a: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‬</a:t>
            </a:r>
            <a:endParaRPr lang="ar-SA" sz="1600" b="1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0" name="y axis"/>
          <p:cNvSpPr txBox="1"/>
          <p:nvPr/>
        </p:nvSpPr>
        <p:spPr>
          <a:xfrm rot="16200000">
            <a:off x="-295348" y="4393406"/>
            <a:ext cx="3426046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 xml:space="preserve">الضغط البخاري </a:t>
            </a: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(atm)</a:t>
            </a:r>
            <a:r>
              <a:rPr lang="ar-SA" sz="1600" b="1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‬</a:t>
            </a:r>
            <a:endParaRPr lang="ar-SA" sz="1600" b="1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Card 1"/>
          <p:cNvSpPr/>
          <p:nvPr/>
        </p:nvSpPr>
        <p:spPr>
          <a:xfrm>
            <a:off x="8506046" y="1238250"/>
            <a:ext cx="7041116" cy="2060012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2" name="Number 1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3" name="Tag 1"/>
          <p:cNvSpPr txBox="1"/>
          <p:nvPr/>
        </p:nvSpPr>
        <p:spPr>
          <a:xfrm>
            <a:off x="8813209" y="1404937"/>
            <a:ext cx="585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ادرس الرسم البياني المقابل ثم أكمل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4" name="Question 1"/>
          <p:cNvSpPr txBox="1"/>
          <p:nvPr/>
        </p:nvSpPr>
        <p:spPr>
          <a:xfrm>
            <a:off x="8813209" y="1785937"/>
            <a:ext cx="585972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الشكل المقابل يوضح العلاقة بين الضغط البخاري لمحلول ما ذي تراكيز مختلفة ودرجة الحرارة، ومن خلال الرسم فإن: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5" name="Card 2"/>
          <p:cNvSpPr/>
          <p:nvPr/>
        </p:nvSpPr>
        <p:spPr>
          <a:xfrm>
            <a:off x="8506046" y="3488762"/>
            <a:ext cx="7041116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6" name="Number 2"/>
          <p:cNvSpPr/>
          <p:nvPr/>
        </p:nvSpPr>
        <p:spPr>
          <a:xfrm>
            <a:off x="14838325" y="367926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7" name="Tag 2"/>
          <p:cNvSpPr txBox="1"/>
          <p:nvPr/>
        </p:nvSpPr>
        <p:spPr>
          <a:xfrm>
            <a:off x="8813209" y="3655449"/>
            <a:ext cx="585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8" name="Question 2"/>
          <p:cNvSpPr txBox="1"/>
          <p:nvPr/>
        </p:nvSpPr>
        <p:spPr>
          <a:xfrm>
            <a:off x="8813209" y="4036449"/>
            <a:ext cx="585972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المحلول الذي تتحول جزيئاته للحالة الغازية أولاً هو ............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9" name="Answer 2"/>
          <p:cNvSpPr/>
          <p:nvPr/>
        </p:nvSpPr>
        <p:spPr>
          <a:xfrm>
            <a:off x="13801097" y="5044666"/>
            <a:ext cx="871832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A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0" name="Card 3"/>
          <p:cNvSpPr/>
          <p:nvPr/>
        </p:nvSpPr>
        <p:spPr>
          <a:xfrm>
            <a:off x="8506046" y="6044791"/>
            <a:ext cx="7041116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1" name="Number 3"/>
          <p:cNvSpPr/>
          <p:nvPr/>
        </p:nvSpPr>
        <p:spPr>
          <a:xfrm>
            <a:off x="14838325" y="6235291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2" name="Tag 3"/>
          <p:cNvSpPr txBox="1"/>
          <p:nvPr/>
        </p:nvSpPr>
        <p:spPr>
          <a:xfrm>
            <a:off x="8813209" y="6211478"/>
            <a:ext cx="585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3" name="Question 3"/>
          <p:cNvSpPr txBox="1"/>
          <p:nvPr/>
        </p:nvSpPr>
        <p:spPr>
          <a:xfrm>
            <a:off x="8813209" y="6592478"/>
            <a:ext cx="585972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المحلول الأعلى تركيزاً من بين المحاليل هو ............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4" name="Answer 3"/>
          <p:cNvSpPr/>
          <p:nvPr/>
        </p:nvSpPr>
        <p:spPr>
          <a:xfrm>
            <a:off x="13806265" y="7600695"/>
            <a:ext cx="866664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C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20"/>
                            </p:stCondLst>
                            <p:childTnLst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78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440"/>
                            </p:stCondLst>
                            <p:childTnLst>
                              <p:par>
                                <p:cTn id="6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1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61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12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16" grpId="0" animBg="1"/>
      <p:bldP spid="20" grpId="0" animBg="1"/>
      <p:bldP spid="24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39" grpId="0" animBg="1"/>
      <p:bldP spid="4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6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بنك الأسئلة • الحصة الثالثة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الانخفاض في درجة التجمد</a:t>
            </a:r>
            <a:endParaRPr lang="ar-SA" sz="4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0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اختبر فهمك: السؤال أولاً، ثم اضغط لإظهار الإجابة</a:t>
            </a:r>
            <a:endParaRPr lang="ar-SA" sz="2100" b="0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32844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51894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9513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87613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التغير في درجة تجمد محلول تركيزه المولالي واحد لمذاب جزيئي وغير متطاير.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1"/>
          <p:cNvSpPr/>
          <p:nvPr/>
        </p:nvSpPr>
        <p:spPr>
          <a:xfrm>
            <a:off x="9655691" y="2475488"/>
            <a:ext cx="5017238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 xml:space="preserve">ثابت التجمد المولالي 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1" i="0" dirty="0" baseline="-2500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)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2"/>
          <p:cNvSpPr/>
          <p:nvPr/>
        </p:nvSpPr>
        <p:spPr>
          <a:xfrm>
            <a:off x="708837" y="3565806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2"/>
          <p:cNvSpPr/>
          <p:nvPr/>
        </p:nvSpPr>
        <p:spPr>
          <a:xfrm>
            <a:off x="14838325" y="3756306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2"/>
          <p:cNvSpPr txBox="1"/>
          <p:nvPr/>
        </p:nvSpPr>
        <p:spPr>
          <a:xfrm>
            <a:off x="1016000" y="373249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2"/>
          <p:cNvSpPr txBox="1"/>
          <p:nvPr/>
        </p:nvSpPr>
        <p:spPr>
          <a:xfrm>
            <a:off x="1016000" y="411349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عند إذابة مذاب جزيئي غير متطاير في ماء نقي فإن مقدار الانخفاض في درجة تجمد المحلول يزداد بزيادة التركيز المولالي للمحلول.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2"/>
          <p:cNvSpPr/>
          <p:nvPr/>
        </p:nvSpPr>
        <p:spPr>
          <a:xfrm>
            <a:off x="12563031" y="5121710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5FD38D">
              <a:alpha val="14000"/>
            </a:srgbClr>
          </a:solidFill>
          <a:ln w="15875" cap="rnd">
            <a:solidFill>
              <a:srgbClr val="5FD38D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3"/>
          <p:cNvSpPr/>
          <p:nvPr/>
        </p:nvSpPr>
        <p:spPr>
          <a:xfrm>
            <a:off x="708837" y="6212028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3"/>
          <p:cNvSpPr/>
          <p:nvPr/>
        </p:nvSpPr>
        <p:spPr>
          <a:xfrm>
            <a:off x="14838325" y="6402528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3"/>
          <p:cNvSpPr txBox="1"/>
          <p:nvPr/>
        </p:nvSpPr>
        <p:spPr>
          <a:xfrm>
            <a:off x="1016000" y="6378715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3"/>
          <p:cNvSpPr txBox="1"/>
          <p:nvPr/>
        </p:nvSpPr>
        <p:spPr>
          <a:xfrm>
            <a:off x="1016000" y="6759715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عند إذابة مذاب جزيئي غير متطاير في ماء نقي فإن مقدار الانخفاض في الضغط البخاري للمحلول يتناسب طردياً مع مقدار الانخفاض في درجة تجمد المحلول.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3"/>
          <p:cNvSpPr/>
          <p:nvPr/>
        </p:nvSpPr>
        <p:spPr>
          <a:xfrm>
            <a:off x="12563031" y="7767932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5FD38D">
              <a:alpha val="14000"/>
            </a:srgbClr>
          </a:solidFill>
          <a:ln w="15875" cap="rnd">
            <a:solidFill>
              <a:srgbClr val="5FD38D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328442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51894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49513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187613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مقدار الانخفاض في درجة تجمد محلول السكر الذي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2 m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يساوي مقدار الانخفاض في درجة تجمد محلول اليوريا الذي له نفس التركيز المولالي.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4"/>
          <p:cNvSpPr/>
          <p:nvPr/>
        </p:nvSpPr>
        <p:spPr>
          <a:xfrm>
            <a:off x="12563031" y="2884346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5FD38D">
              <a:alpha val="14000"/>
            </a:srgbClr>
          </a:solidFill>
          <a:ln w="15875" cap="rnd">
            <a:solidFill>
              <a:srgbClr val="5FD38D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5"/>
          <p:cNvSpPr/>
          <p:nvPr/>
        </p:nvSpPr>
        <p:spPr>
          <a:xfrm>
            <a:off x="708837" y="3974664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5"/>
          <p:cNvSpPr/>
          <p:nvPr/>
        </p:nvSpPr>
        <p:spPr>
          <a:xfrm>
            <a:off x="14838325" y="4165164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5"/>
          <p:cNvSpPr txBox="1"/>
          <p:nvPr/>
        </p:nvSpPr>
        <p:spPr>
          <a:xfrm>
            <a:off x="1016000" y="4141352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5"/>
          <p:cNvSpPr txBox="1"/>
          <p:nvPr/>
        </p:nvSpPr>
        <p:spPr>
          <a:xfrm>
            <a:off x="1016000" y="4522352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تضاف مادة مضادة للتجمد (جليكول الإيثيلين) إلى مبرد السيارات في المناطق المتجمدة لتجنب تجمد المياه في المبرد.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5"/>
          <p:cNvSpPr/>
          <p:nvPr/>
        </p:nvSpPr>
        <p:spPr>
          <a:xfrm>
            <a:off x="12563031" y="5530568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5FD38D">
              <a:alpha val="14000"/>
            </a:srgbClr>
          </a:solidFill>
          <a:ln w="15875" cap="rnd">
            <a:solidFill>
              <a:srgbClr val="5FD38D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5FD38D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5FD38D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6"/>
          <p:cNvSpPr/>
          <p:nvPr/>
        </p:nvSpPr>
        <p:spPr>
          <a:xfrm>
            <a:off x="708837" y="6620886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6"/>
          <p:cNvSpPr/>
          <p:nvPr/>
        </p:nvSpPr>
        <p:spPr>
          <a:xfrm>
            <a:off x="14838325" y="6811386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6"/>
          <p:cNvSpPr txBox="1"/>
          <p:nvPr/>
        </p:nvSpPr>
        <p:spPr>
          <a:xfrm>
            <a:off x="1016000" y="678757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6"/>
          <p:cNvSpPr txBox="1"/>
          <p:nvPr/>
        </p:nvSpPr>
        <p:spPr>
          <a:xfrm>
            <a:off x="1016000" y="7168573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تجمد المحلول المائي للسكروز ............ درجة تجمد الماء النقي.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6"/>
          <p:cNvSpPr/>
          <p:nvPr/>
        </p:nvSpPr>
        <p:spPr>
          <a:xfrm>
            <a:off x="12874255" y="7767932"/>
            <a:ext cx="1798674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أقل من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7"/>
          <p:cNvSpPr/>
          <p:nvPr/>
        </p:nvSpPr>
        <p:spPr>
          <a:xfrm>
            <a:off x="708837" y="1291571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7"/>
          <p:cNvSpPr/>
          <p:nvPr/>
        </p:nvSpPr>
        <p:spPr>
          <a:xfrm>
            <a:off x="14838325" y="1482071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7"/>
          <p:cNvSpPr txBox="1"/>
          <p:nvPr/>
        </p:nvSpPr>
        <p:spPr>
          <a:xfrm>
            <a:off x="1016000" y="1458259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7"/>
          <p:cNvSpPr txBox="1"/>
          <p:nvPr/>
        </p:nvSpPr>
        <p:spPr>
          <a:xfrm>
            <a:off x="1016000" y="1839259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إذا كان ثابت التجمد للماء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يساوي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(1.86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فإن درجة تجمد محلول مائي للسكر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0.1 m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تساوي ............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7"/>
          <p:cNvSpPr/>
          <p:nvPr/>
        </p:nvSpPr>
        <p:spPr>
          <a:xfrm>
            <a:off x="12426433" y="2847475"/>
            <a:ext cx="2246497" cy="571500"/>
          </a:xfrm>
          <a:prstGeom prst="roundRect">
            <a:avLst>
              <a:gd name="adj" fmla="val 50000"/>
            </a:avLst>
          </a:prstGeom>
          <a:solidFill>
            <a:srgbClr val="E8A94E">
              <a:alpha val="14000"/>
            </a:srgbClr>
          </a:solidFill>
          <a:ln w="15875" cap="rnd">
            <a:solidFill>
              <a:srgbClr val="E8A94E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−0.186 °C</a:t>
            </a:r>
            <a:r>
              <a:rPr lang="ar-SA" sz="2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8"/>
          <p:cNvSpPr/>
          <p:nvPr/>
        </p:nvSpPr>
        <p:spPr>
          <a:xfrm>
            <a:off x="708837" y="3900922"/>
            <a:ext cx="14838325" cy="243075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8"/>
          <p:cNvSpPr/>
          <p:nvPr/>
        </p:nvSpPr>
        <p:spPr>
          <a:xfrm>
            <a:off x="14838325" y="4091422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8"/>
          <p:cNvSpPr txBox="1"/>
          <p:nvPr/>
        </p:nvSpPr>
        <p:spPr>
          <a:xfrm>
            <a:off x="1016000" y="406761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8"/>
          <p:cNvSpPr txBox="1"/>
          <p:nvPr/>
        </p:nvSpPr>
        <p:spPr>
          <a:xfrm>
            <a:off x="1016000" y="444861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يُضاف جليكول الإيثيلين (مادة مضادة للتجمد) إلى نظام تبريد السيارات.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8"/>
          <p:cNvSpPr/>
          <p:nvPr/>
        </p:nvSpPr>
        <p:spPr>
          <a:xfrm>
            <a:off x="1016000" y="5047968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E8A94E">
              <a:alpha val="10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لأنه مادة غير متطايرة وغير إلكتروليتية تعمل على خفض درجة تجمد المحلول ورفع درجة غليانه، مما يزيد من كفاءة التبريد.</a:t>
            </a:r>
            <a:endParaRPr lang="ar-SA" sz="23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9"/>
          <p:cNvSpPr/>
          <p:nvPr/>
        </p:nvSpPr>
        <p:spPr>
          <a:xfrm>
            <a:off x="708837" y="6575497"/>
            <a:ext cx="14838325" cy="203893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9"/>
          <p:cNvSpPr/>
          <p:nvPr/>
        </p:nvSpPr>
        <p:spPr>
          <a:xfrm>
            <a:off x="14838325" y="6765997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9"/>
          <p:cNvSpPr txBox="1"/>
          <p:nvPr/>
        </p:nvSpPr>
        <p:spPr>
          <a:xfrm>
            <a:off x="1016000" y="6742185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9"/>
          <p:cNvSpPr txBox="1"/>
          <p:nvPr/>
        </p:nvSpPr>
        <p:spPr>
          <a:xfrm>
            <a:off x="1016000" y="7123185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يتم رش الطرقات بالملح شتاءً في المناطق الباردة جداً.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9"/>
          <p:cNvSpPr/>
          <p:nvPr/>
        </p:nvSpPr>
        <p:spPr>
          <a:xfrm>
            <a:off x="1016000" y="7722543"/>
            <a:ext cx="13656930" cy="653759"/>
          </a:xfrm>
          <a:prstGeom prst="roundRect">
            <a:avLst>
              <a:gd name="adj" fmla="val 9000"/>
            </a:avLst>
          </a:prstGeom>
          <a:solidFill>
            <a:srgbClr val="E8A94E">
              <a:alpha val="10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لكي يمنع تكوّن الجليد عليها للحد من حوادث الطرق، حيث يعمل الملح على خفض درجة تجمد الماء.</a:t>
            </a:r>
            <a:endParaRPr lang="ar-SA" sz="23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190625"/>
            <a:ext cx="14838325" cy="165115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381125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357312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أكمل الفراغات في الجدول التالي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738312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أمامك إناءان حجمهما متساوٍ، أُذيبت كتل متساوية من السكروز في حجمين مختلفين من الماء لعمل محلولين عند درجة حرارة معينة. لاحظ الإناءين جيداً ثم أكمل الجدول: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Head 0"/>
          <p:cNvSpPr/>
          <p:nvPr/>
        </p:nvSpPr>
        <p:spPr>
          <a:xfrm>
            <a:off x="9994604" y="3008466"/>
            <a:ext cx="5552558" cy="1666875"/>
          </a:xfrm>
          <a:prstGeom prst="rect">
            <a:avLst/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وجه المقارنة</a:t>
            </a:r>
            <a:endParaRPr lang="ar-SA" sz="22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Head 1"/>
          <p:cNvSpPr/>
          <p:nvPr/>
        </p:nvSpPr>
        <p:spPr>
          <a:xfrm>
            <a:off x="5387162" y="3008466"/>
            <a:ext cx="4607441" cy="1666875"/>
          </a:xfrm>
          <a:prstGeom prst="rect">
            <a:avLst/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Head label 1"/>
          <p:cNvSpPr txBox="1"/>
          <p:nvPr/>
        </p:nvSpPr>
        <p:spPr>
          <a:xfrm>
            <a:off x="5505302" y="3079903"/>
            <a:ext cx="437116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الإناء (1)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Head 2"/>
          <p:cNvSpPr/>
          <p:nvPr/>
        </p:nvSpPr>
        <p:spPr>
          <a:xfrm>
            <a:off x="708837" y="3008466"/>
            <a:ext cx="4678325" cy="1666875"/>
          </a:xfrm>
          <a:prstGeom prst="rect">
            <a:avLst/>
          </a:prstGeom>
          <a:solidFill>
            <a:srgbClr val="FFFFFF">
              <a:alpha val="8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1" name="Head label 2"/>
          <p:cNvSpPr txBox="1"/>
          <p:nvPr/>
        </p:nvSpPr>
        <p:spPr>
          <a:xfrm>
            <a:off x="826976" y="3079903"/>
            <a:ext cx="4442046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الإناء (2)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Row 1"/>
          <p:cNvSpPr/>
          <p:nvPr/>
        </p:nvSpPr>
        <p:spPr>
          <a:xfrm>
            <a:off x="9994604" y="4675341"/>
            <a:ext cx="5552558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حجم المحلول (أكبر – أقل)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ell 1.1"/>
          <p:cNvSpPr/>
          <p:nvPr/>
        </p:nvSpPr>
        <p:spPr>
          <a:xfrm>
            <a:off x="5387162" y="4675341"/>
            <a:ext cx="4607441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Cell 1.2"/>
          <p:cNvSpPr/>
          <p:nvPr/>
        </p:nvSpPr>
        <p:spPr>
          <a:xfrm>
            <a:off x="708837" y="4675341"/>
            <a:ext cx="4678325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5" name="Answer 1.1"/>
          <p:cNvSpPr txBox="1"/>
          <p:nvPr/>
        </p:nvSpPr>
        <p:spPr>
          <a:xfrm>
            <a:off x="5481674" y="4722966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Answer 1.2"/>
          <p:cNvSpPr txBox="1"/>
          <p:nvPr/>
        </p:nvSpPr>
        <p:spPr>
          <a:xfrm>
            <a:off x="803348" y="4722966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Row 2"/>
          <p:cNvSpPr/>
          <p:nvPr/>
        </p:nvSpPr>
        <p:spPr>
          <a:xfrm>
            <a:off x="9994604" y="5473823"/>
            <a:ext cx="5552558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تركيز المحلول (أكبر – أقل)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Cell 2.1"/>
          <p:cNvSpPr/>
          <p:nvPr/>
        </p:nvSpPr>
        <p:spPr>
          <a:xfrm>
            <a:off x="5387162" y="5473823"/>
            <a:ext cx="4607441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9" name="Cell 2.2"/>
          <p:cNvSpPr/>
          <p:nvPr/>
        </p:nvSpPr>
        <p:spPr>
          <a:xfrm>
            <a:off x="708837" y="5473823"/>
            <a:ext cx="4678325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0" name="Answer 2.1"/>
          <p:cNvSpPr txBox="1"/>
          <p:nvPr/>
        </p:nvSpPr>
        <p:spPr>
          <a:xfrm>
            <a:off x="5481674" y="5521448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Answer 2.2"/>
          <p:cNvSpPr txBox="1"/>
          <p:nvPr/>
        </p:nvSpPr>
        <p:spPr>
          <a:xfrm>
            <a:off x="803348" y="5521448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2" name="Row 3"/>
          <p:cNvSpPr/>
          <p:nvPr/>
        </p:nvSpPr>
        <p:spPr>
          <a:xfrm>
            <a:off x="9994604" y="6272304"/>
            <a:ext cx="5552558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نوع المحلول (مركز – مخفف)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3" name="Cell 3.1"/>
          <p:cNvSpPr/>
          <p:nvPr/>
        </p:nvSpPr>
        <p:spPr>
          <a:xfrm>
            <a:off x="5387162" y="6272304"/>
            <a:ext cx="4607441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4" name="Cell 3.2"/>
          <p:cNvSpPr/>
          <p:nvPr/>
        </p:nvSpPr>
        <p:spPr>
          <a:xfrm>
            <a:off x="708837" y="6272304"/>
            <a:ext cx="4678325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5" name="Answer 3.1"/>
          <p:cNvSpPr txBox="1"/>
          <p:nvPr/>
        </p:nvSpPr>
        <p:spPr>
          <a:xfrm>
            <a:off x="5481674" y="6319929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مخفف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6" name="Answer 3.2"/>
          <p:cNvSpPr txBox="1"/>
          <p:nvPr/>
        </p:nvSpPr>
        <p:spPr>
          <a:xfrm>
            <a:off x="803348" y="6319929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مركز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7" name="Row 4"/>
          <p:cNvSpPr/>
          <p:nvPr/>
        </p:nvSpPr>
        <p:spPr>
          <a:xfrm>
            <a:off x="9994604" y="7070786"/>
            <a:ext cx="5552558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الغليان (أكبر – أقل)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8" name="Cell 4.1"/>
          <p:cNvSpPr/>
          <p:nvPr/>
        </p:nvSpPr>
        <p:spPr>
          <a:xfrm>
            <a:off x="5387162" y="7070786"/>
            <a:ext cx="4607441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9" name="Cell 4.2"/>
          <p:cNvSpPr/>
          <p:nvPr/>
        </p:nvSpPr>
        <p:spPr>
          <a:xfrm>
            <a:off x="708837" y="7070786"/>
            <a:ext cx="4678325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0" name="Answer 4.1"/>
          <p:cNvSpPr txBox="1"/>
          <p:nvPr/>
        </p:nvSpPr>
        <p:spPr>
          <a:xfrm>
            <a:off x="5481674" y="7118411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1" name="Answer 4.2"/>
          <p:cNvSpPr txBox="1"/>
          <p:nvPr/>
        </p:nvSpPr>
        <p:spPr>
          <a:xfrm>
            <a:off x="803348" y="7118411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2" name="Row 5"/>
          <p:cNvSpPr/>
          <p:nvPr/>
        </p:nvSpPr>
        <p:spPr>
          <a:xfrm>
            <a:off x="9994604" y="7869268"/>
            <a:ext cx="5552558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التجمد (أكبر – أقل)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3" name="Cell 5.1"/>
          <p:cNvSpPr/>
          <p:nvPr/>
        </p:nvSpPr>
        <p:spPr>
          <a:xfrm>
            <a:off x="5387162" y="7869268"/>
            <a:ext cx="4607441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4" name="Cell 5.2"/>
          <p:cNvSpPr/>
          <p:nvPr/>
        </p:nvSpPr>
        <p:spPr>
          <a:xfrm>
            <a:off x="708837" y="7869268"/>
            <a:ext cx="4678325" cy="798481"/>
          </a:xfrm>
          <a:prstGeom prst="rect">
            <a:avLst/>
          </a:prstGeom>
          <a:solidFill>
            <a:srgbClr val="FFFFFF">
              <a:alpha val="4000"/>
            </a:srgbClr>
          </a:solidFill>
          <a:ln w="12700" cap="rnd">
            <a:solidFill>
              <a:srgbClr val="FFFFFF">
                <a:alpha val="3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5" name="Answer 5.1"/>
          <p:cNvSpPr txBox="1"/>
          <p:nvPr/>
        </p:nvSpPr>
        <p:spPr>
          <a:xfrm>
            <a:off x="5481674" y="7916893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6" name="Answer 5.2"/>
          <p:cNvSpPr txBox="1"/>
          <p:nvPr/>
        </p:nvSpPr>
        <p:spPr>
          <a:xfrm>
            <a:off x="803348" y="7916893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8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84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2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6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92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1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2" grpId="0" animBg="1"/>
      <p:bldP spid="43" grpId="0" animBg="1"/>
      <p:bldP spid="44" grpId="0" animBg="1"/>
      <p:bldP spid="25" grpId="0" animBg="1"/>
      <p:bldP spid="26" grpId="0" animBg="1"/>
      <p:bldP spid="30" grpId="0" animBg="1"/>
      <p:bldP spid="31" grpId="0" animBg="1"/>
      <p:bldP spid="35" grpId="0" animBg="1"/>
      <p:bldP spid="36" grpId="0" animBg="1"/>
      <p:bldP spid="40" grpId="0" animBg="1"/>
      <p:bldP spid="41" grpId="0" animBg="1"/>
      <p:bldP spid="45" grpId="0" animBg="1"/>
      <p:bldP spid="4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6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بنك الأسئلة • الحصة الرابعة</a:t>
            </a:r>
            <a:endParaRPr lang="ar-SA" sz="16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</a:t>
            </a:r>
            <a:endParaRPr lang="ar-SA" sz="4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0" i="0" dirty="0">
                <a:solidFill>
                  <a:srgbClr val="B9C0C8"/>
                </a:solidFill>
                <a:latin typeface="Tahoma"/>
                <a:ea typeface="Tahoma"/>
                <a:cs typeface="Tahoma"/>
              </a:rPr>
              <a:t>درجة الغليان ودرجة التجمد وحساب الكتلة المولية</a:t>
            </a:r>
            <a:endParaRPr lang="ar-SA" sz="2100" b="0" i="0" dirty="0">
              <a:solidFill>
                <a:srgbClr val="B9C0C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(1)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(45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سكر الجلوكوز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12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O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(500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الماء، فإذا كان ثابت الغليان للماء يساوي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(0.512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، احسب درجة غليان المحلول الناتج.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(C = 12 , H = 1 , O = 16)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(6 × 12) + (12 × 1) + (6 × 16) = 180 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n =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/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45 g / 180 g/mol = 0.25 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n / 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0.25 / 0.5 kg = 0.5 mol/kg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 = 0.512 × 0.5 = 0.256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غليان المحلول‎ = 100 + 0.256 = 100.256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(2)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2"/>
          <p:cNvSpPr/>
          <p:nvPr/>
        </p:nvSpPr>
        <p:spPr>
          <a:xfrm>
            <a:off x="708837" y="1238250"/>
            <a:ext cx="14838325" cy="2373620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2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2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2"/>
          <p:cNvSpPr txBox="1"/>
          <p:nvPr/>
        </p:nvSpPr>
        <p:spPr>
          <a:xfrm>
            <a:off x="1016000" y="1785937"/>
            <a:ext cx="13656930" cy="16830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حُضّر محلول بإذابة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(20.8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النفثالين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(C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10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8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 = 128)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(100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البنزين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، فإذا علمت أن درجة غليان البنزين النقي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(80.1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ودرجة تجمد البنزين النقي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(5.5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، فالمطلوب: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أولاً: حساب درجة تجمد المحلول إذا علمت أن ثابت تجمد البنزين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 = 5.2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ثانياً: حساب درجة غليان المحلول إذا علمت أن ثابت غليان البنزين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 = 2.53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8246139" y="3802370"/>
            <a:ext cx="7301023" cy="2352332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8482418" y="3945245"/>
            <a:ext cx="682846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أولاً: درجة تجمد المحلول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8482418" y="4397682"/>
            <a:ext cx="6828465" cy="1637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n = m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/ M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20.8 / 128 = 0.1625 mol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n / kg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0.1625 / 0.1 kg = 1.625 mol/kg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 = 5.2 × 1.625 = 8.45 °C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تجمد المحلول‎ = 5.5 − 8.45 = −2.95 °C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Solution panel 2"/>
          <p:cNvSpPr/>
          <p:nvPr/>
        </p:nvSpPr>
        <p:spPr>
          <a:xfrm>
            <a:off x="708837" y="3802370"/>
            <a:ext cx="7301023" cy="2352332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1" name="Solution label 2"/>
          <p:cNvSpPr txBox="1"/>
          <p:nvPr/>
        </p:nvSpPr>
        <p:spPr>
          <a:xfrm>
            <a:off x="945116" y="3945245"/>
            <a:ext cx="682846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ثانياً: درجة غليان المحلول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Solution 2"/>
          <p:cNvSpPr txBox="1"/>
          <p:nvPr/>
        </p:nvSpPr>
        <p:spPr>
          <a:xfrm>
            <a:off x="945116" y="4397682"/>
            <a:ext cx="6828465" cy="1637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19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 = 2.53 × 1.625 = 4.11 °C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درجة غليان المحلول‎ = 80.1 + 4.11 = 84.21 °C</a:t>
            </a:r>
            <a:endParaRPr lang="ar-SA" sz="19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3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6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92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8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460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00" fill="hold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19" grpId="0" build="p"/>
      <p:bldP spid="22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(3)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3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3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3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3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يُستخلص كحول اللورايل من زيت جوز الهند ويُستخدم في صناعة المنظفات الصناعية. محلول مكوّن من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(5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كحول اللورايل و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(10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البنزين يغلي عند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(80.87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، فإذا كانت درجة غليان البنزين النقي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(80.1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وثابت الغليان للبنزين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(2.53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، احسب الكتلة الجزيئية للكحول.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80.87 − 80.1 = 0.77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0.77 / 2.53 = 0.304 mol/kg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n = m × 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0.304 × 0.01 = 0.003 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/ n = 5 / 0.003 = 1666.6 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(4)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مادة كتلتها الجزيئية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(254 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أُذيبت كتلة معينة منها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(45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إيثر، فكان الارتفاع في درجة الغليان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(0.585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. احسب كتلة هذه المادة إذا علمت أن ثابت الغليان للإيثر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(2.16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2739509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20251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0.585 / 2.16 = 0.27 mol/kg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0.27 × 254 × 0.045 = 3.1 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(5)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5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5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5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5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إذا علمت أن محلول اليوريا في الماء الذي تركيزه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(0.1 mol/kg)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يغلي عند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(100.052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، فاحسب قيمة ثابت الغليان للماء.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2274897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15605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100.052 − 100 = 0.052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0.052 / 0.1 = 0.52 °C kg/mol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(6)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6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6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6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6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احسب كتلة الجليسرول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3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8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O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3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اللازم إذابتها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(500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الماء لكي يغلي المحلول الناتج عند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(100.208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، علماً بأن ثابت غليان الماء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(0.52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.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(C = 12 , O = 16 , H = 1)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(3 × 12) + (1 × 8) + (3 × 16) = 92 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100.208 − 100 = 0.208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0.208 / 0.52 = 0.4 mol/kg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0.4 × 92 × 0.5 = 18.4 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(7)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7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7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7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7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(2.5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مادة صلبة غير إلكتروليتية وغير متطايرة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(72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مذيب، فتجمد المحلول عند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(4.79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. احسب الكتلة الجزيئية للمذاب علماً بأن درجة تجمد المذيب النقي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(5.5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وأن ثابت التجمد لهذا المذيب يساوي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(5.1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5.5 − 4.79 = 0.71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0.71 / 5.1 = 0.14 mol/kg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2.5 / (0.14 × 0.072 kg) = 248 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(8)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8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8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8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8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(6.67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مادة غير إلكتروليتية وغير متطايرة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(20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الماء، فكانت درجة غليان المحلول تساوي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(100.5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. فما الكتلة المولية لهذه المادة؟ علماً بأن ثابت الغليان للماء يساوي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(0.512 °C/m)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100.5 − 100 = 0.5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 = 0.5 / 0.512 = 0.976 mol/kg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6.67 / (0.976 × 0.02) = 341.5 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مسائل تطبيقية: المسألة (9)</a:t>
            </a:r>
            <a:endParaRPr lang="ar-SA" sz="3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E8A94E">
              <a:alpha val="12000"/>
            </a:srgbClr>
          </a:solidFill>
          <a:ln w="12700" cap="rnd">
            <a:solidFill>
              <a:srgbClr val="E8A94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9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6000"/>
            </a:srgbClr>
          </a:solidFill>
          <a:ln w="12700" cap="rnd">
            <a:solidFill>
              <a:srgbClr val="FFFFFF">
                <a:alpha val="24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9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E8A94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1A1D22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1A1D2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9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9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(49.63 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مركب غير إلكتروليتي وغير متطاير في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 kg)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من الماء، فإذا علمت أن درجة تجمد المحلول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(−0.27 °C)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، احسب الكتلة المولية للمركب علماً بأن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0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للماء 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(1.86 °C kg/mol)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0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0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2274897"/>
          </a:xfrm>
          <a:prstGeom prst="roundRect">
            <a:avLst>
              <a:gd name="adj" fmla="val 6000"/>
            </a:avLst>
          </a:prstGeom>
          <a:solidFill>
            <a:srgbClr val="E8A94E">
              <a:alpha val="6000"/>
            </a:srgbClr>
          </a:solidFill>
          <a:ln w="12700" cap="rnd">
            <a:solidFill>
              <a:srgbClr val="E8A94E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E8A94E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E8A94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15605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0 − (−0.27) = 0.27 °C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(m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K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) / (kg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× ΔT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)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F4F6F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F4F6F8"/>
                </a:solidFill>
                <a:latin typeface="Tahoma"/>
                <a:ea typeface="Tahoma"/>
                <a:cs typeface="Tahoma"/>
              </a:rPr>
              <a:t xml:space="preserve"> = (49.63 × 1.86) / (1 × 0.27) = 341.895 g/mol</a:t>
            </a:r>
            <a:endParaRPr lang="ar-SA" sz="2400" b="1" i="0" dirty="0">
              <a:solidFill>
                <a:srgbClr val="F4F6F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خلود فيصل محمود البلوشي</cp:lastModifiedBy>
  <cp:revision>2</cp:revision>
  <dcterms:created xsi:type="dcterms:W3CDTF">2006-08-16T00:00:00Z</dcterms:created>
  <dcterms:modified xsi:type="dcterms:W3CDTF">2026-10-23T14:57:52Z</dcterms:modified>
</cp:coreProperties>
</file>