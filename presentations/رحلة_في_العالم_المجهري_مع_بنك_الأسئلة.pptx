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 /><Relationship Id="rId2" Type="http://schemas.openxmlformats.org/package/2006/relationships/metadata/thumbnail" Target="docProps/thumbnail.jpeg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2" r:id="rId22"/>
    <p:sldId id="273" r:id="rId23"/>
    <p:sldId id="274" r:id="rId24"/>
    <p:sldId id="275" r:id="rId25"/>
    <p:sldId id="276" r:id="rId26"/>
    <p:sldId id="260" r:id="rId6"/>
    <p:sldId id="261" r:id="rId7"/>
    <p:sldId id="262" r:id="rId8"/>
    <p:sldId id="263" r:id="rId9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64" r:id="rId10"/>
    <p:sldId id="265" r:id="rId11"/>
    <p:sldId id="266" r:id="rId12"/>
    <p:sldId id="267" r:id="rId13"/>
    <p:sldId id="285" r:id="rId35"/>
    <p:sldId id="286" r:id="rId36"/>
    <p:sldId id="287" r:id="rId37"/>
    <p:sldId id="288" r:id="rId38"/>
    <p:sldId id="289" r:id="rId39"/>
    <p:sldId id="290" r:id="rId40"/>
    <p:sldId id="268" r:id="rId14"/>
    <p:sldId id="269" r:id="rId15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70" r:id="rId16"/>
    <p:sldId id="271" r:id="rId17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 /><Relationship Id="rId13" Type="http://schemas.openxmlformats.org/officeDocument/2006/relationships/slide" Target="slides/slide12.xml" /><Relationship Id="rId18" Type="http://schemas.openxmlformats.org/officeDocument/2006/relationships/presProps" Target="presProps.xml" /><Relationship Id="rId3" Type="http://schemas.openxmlformats.org/officeDocument/2006/relationships/slide" Target="slides/slide2.xml" /><Relationship Id="rId21" Type="http://schemas.openxmlformats.org/officeDocument/2006/relationships/tableStyles" Target="tableStyles.xml" /><Relationship Id="rId7" Type="http://schemas.openxmlformats.org/officeDocument/2006/relationships/slide" Target="slides/slide6.xml" /><Relationship Id="rId12" Type="http://schemas.openxmlformats.org/officeDocument/2006/relationships/slide" Target="slides/slide11.xml" /><Relationship Id="rId17" Type="http://schemas.openxmlformats.org/officeDocument/2006/relationships/slide" Target="slides/slide16.xml" /><Relationship Id="rId2" Type="http://schemas.openxmlformats.org/officeDocument/2006/relationships/slide" Target="slides/slide1.xml" /><Relationship Id="rId16" Type="http://schemas.openxmlformats.org/officeDocument/2006/relationships/slide" Target="slides/slide15.xml" /><Relationship Id="rId20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6" Type="http://schemas.openxmlformats.org/officeDocument/2006/relationships/slide" Target="slides/slide5.xml" /><Relationship Id="rId11" Type="http://schemas.openxmlformats.org/officeDocument/2006/relationships/slide" Target="slides/slide10.xml" /><Relationship Id="rId5" Type="http://schemas.openxmlformats.org/officeDocument/2006/relationships/slide" Target="slides/slide4.xml" /><Relationship Id="rId15" Type="http://schemas.openxmlformats.org/officeDocument/2006/relationships/slide" Target="slides/slide14.xml" /><Relationship Id="rId10" Type="http://schemas.openxmlformats.org/officeDocument/2006/relationships/slide" Target="slides/slide9.xml" /><Relationship Id="rId19" Type="http://schemas.openxmlformats.org/officeDocument/2006/relationships/viewProps" Target="viewProps.xml" /><Relationship Id="rId4" Type="http://schemas.openxmlformats.org/officeDocument/2006/relationships/slide" Target="slides/slide3.xml" /><Relationship Id="rId9" Type="http://schemas.openxmlformats.org/officeDocument/2006/relationships/slide" Target="slides/slide8.xml" /><Relationship Id="rId14" Type="http://schemas.openxmlformats.org/officeDocument/2006/relationships/slide" Target="slides/slide13.xml" 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 /><Relationship Id="rId3" Type="http://schemas.openxmlformats.org/officeDocument/2006/relationships/slideLayout" Target="../slideLayouts/slideLayout3.xml" /><Relationship Id="rId7" Type="http://schemas.openxmlformats.org/officeDocument/2006/relationships/slideLayout" Target="../slideLayouts/slideLayout7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1" Type="http://schemas.openxmlformats.org/officeDocument/2006/relationships/slideLayout" Target="../slideLayouts/slideLayout1.xml" /><Relationship Id="rId6" Type="http://schemas.openxmlformats.org/officeDocument/2006/relationships/slideLayout" Target="../slideLayouts/slideLayout6.xml" /><Relationship Id="rId11" Type="http://schemas.openxmlformats.org/officeDocument/2006/relationships/slideLayout" Target="../slideLayouts/slideLayout11.xml" /><Relationship Id="rId5" Type="http://schemas.openxmlformats.org/officeDocument/2006/relationships/slideLayout" Target="../slideLayouts/slideLayout5.xml" /><Relationship Id="rId10" Type="http://schemas.openxmlformats.org/officeDocument/2006/relationships/slideLayout" Target="../slideLayouts/slideLayout10.xml" /><Relationship Id="rId4" Type="http://schemas.openxmlformats.org/officeDocument/2006/relationships/slideLayout" Target="../slideLayouts/slideLayout4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 /><Relationship Id="rId1" Type="http://schemas.openxmlformats.org/officeDocument/2006/relationships/slideLayout" Target="../slideLayouts/slideLayout7.xml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 /><Relationship Id="rId1" Type="http://schemas.openxmlformats.org/officeDocument/2006/relationships/slideLayout" Target="../slideLayouts/slideLayout7.xml" 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 /><Relationship Id="rId1" Type="http://schemas.openxmlformats.org/officeDocument/2006/relationships/slideLayout" Target="../slideLayouts/slideLayout7.xml" 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 /><Relationship Id="rId1" Type="http://schemas.openxmlformats.org/officeDocument/2006/relationships/slideLayout" Target="../slideLayouts/slideLayout7.xml" 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 /><Relationship Id="rId1" Type="http://schemas.openxmlformats.org/officeDocument/2006/relationships/slideLayout" Target="../slideLayouts/slideLayout7.xml" 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 /><Relationship Id="rId1" Type="http://schemas.openxmlformats.org/officeDocument/2006/relationships/slideLayout" Target="../slideLayouts/slideLayout7.xml" 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 /><Relationship Id="rId1" Type="http://schemas.openxmlformats.org/officeDocument/2006/relationships/slideLayout" Target="../slideLayouts/slideLayout7.xml" 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 /><Relationship Id="rId1" Type="http://schemas.openxmlformats.org/officeDocument/2006/relationships/slideLayout" Target="../slideLayouts/slideLayout7.xml" 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 /><Relationship Id="rId1" Type="http://schemas.openxmlformats.org/officeDocument/2006/relationships/slideLayout" Target="../slideLayouts/slideLayout7.xml" 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 /><Relationship Id="rId1" Type="http://schemas.openxmlformats.org/officeDocument/2006/relationships/slideLayout" Target="../slideLayouts/slideLayout7.xml" 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 /><Relationship Id="rId1" Type="http://schemas.openxmlformats.org/officeDocument/2006/relationships/slideLayout" Target="../slideLayouts/slideLayout7.xml" 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 /><Relationship Id="rId1" Type="http://schemas.openxmlformats.org/officeDocument/2006/relationships/slideLayout" Target="../slideLayouts/slideLayout7.xml" 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 /><Relationship Id="rId1" Type="http://schemas.openxmlformats.org/officeDocument/2006/relationships/slideLayout" Target="../slideLayouts/slideLayout7.xml" 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 /><Relationship Id="rId1" Type="http://schemas.openxmlformats.org/officeDocument/2006/relationships/slideLayout" Target="../slideLayouts/slideLayout7.xml" 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 /><Relationship Id="rId1" Type="http://schemas.openxmlformats.org/officeDocument/2006/relationships/slideLayout" Target="../slideLayouts/slideLayout7.xml" 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 /><Relationship Id="rId1" Type="http://schemas.openxmlformats.org/officeDocument/2006/relationships/slideLayout" Target="../slideLayouts/slideLayout7.xml" 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17.jpe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18.jpe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19.jpe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0.jpe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1.jpe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2.jpe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3.jpe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4.jpe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5.jpe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6.jpe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7.jpe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8.jpe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29.jpe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0.jpe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1.jpe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2.jpe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3.jpeg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4.jpeg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5.jpeg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6.jpeg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7.jpeg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8.jpeg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39.jpeg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40.jpeg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41.jpeg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qbg4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6013302" y="3007568"/>
            <a:ext cx="7147441" cy="94456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120" b="1" i="0" dirty="0">
                <a:solidFill>
                  <a:srgbClr val="FFFFFF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Tahoma"/>
                <a:ea typeface="Tahoma"/>
                <a:cs typeface="Tahoma"/>
              </a:rPr>
              <a:t>رحلة في العالم المجهري:</a:t>
            </a:r>
            <a:endParaRPr lang="ar-SA" sz="4120" b="1" i="0" dirty="0">
              <a:solidFill>
                <a:srgbClr val="FFFFFF"/>
              </a:solidFill>
              <a:effectLst>
                <a:outerShdw blurRad="76200" dist="25400" dir="5400000" algn="t" rotWithShape="0">
                  <a:srgbClr val="000000">
                    <a:alpha val="55000"/>
                  </a:srgbClr>
                </a:outerShdw>
              </a:effectLst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7419162" y="3869481"/>
            <a:ext cx="4690139" cy="7792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310" b="1" i="0" dirty="0">
                <a:solidFill>
                  <a:srgbClr val="34C483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Tahoma"/>
                <a:ea typeface="Tahoma"/>
                <a:cs typeface="Tahoma"/>
              </a:rPr>
              <a:t>أسرار المحاليل</a:t>
            </a:r>
            <a:endParaRPr lang="ar-SA" sz="4310" b="1" i="0" dirty="0">
              <a:solidFill>
                <a:srgbClr val="34C483"/>
              </a:solidFill>
              <a:effectLst>
                <a:outerShdw blurRad="76200" dist="25400" dir="5400000" algn="t" rotWithShape="0">
                  <a:srgbClr val="000000">
                    <a:alpha val="55000"/>
                  </a:srgbClr>
                </a:outerShdw>
              </a:effectLst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6403162" y="4731394"/>
            <a:ext cx="6556744" cy="101540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5000"/>
              </a:lnSpc>
              <a:buNone/>
            </a:pPr>
            <a:r>
              <a:rPr lang="ar-SA" sz="2610" b="1" i="0" dirty="0">
                <a:solidFill>
                  <a:srgbClr val="26303F"/>
                </a:solidFill>
                <a:latin typeface="Tahoma"/>
                <a:ea typeface="Tahoma"/>
                <a:cs typeface="Tahoma"/>
              </a:rPr>
              <a:t>الحسابات المتعلقة بالخواص المجمعة</a:t>
            </a:r>
            <a:endParaRPr lang="ar-SA" sz="2610" b="1" i="0" dirty="0">
              <a:solidFill>
                <a:srgbClr val="26303F"/>
              </a:solidFill>
              <a:latin typeface="Tahoma"/>
              <a:ea typeface="Tahoma"/>
              <a:cs typeface="Tahoma"/>
            </a:endParaRPr>
          </a:p>
          <a:p>
            <a:pPr algn="ctr" rtl="1">
              <a:lnSpc>
                <a:spcPct val="105000"/>
              </a:lnSpc>
              <a:buNone/>
            </a:pPr>
            <a:r>
              <a:rPr lang="ar-SA" sz="2610" b="1" i="0" dirty="0">
                <a:solidFill>
                  <a:srgbClr val="26303F"/>
                </a:solidFill>
                <a:latin typeface="Tahoma"/>
                <a:ea typeface="Tahoma"/>
                <a:cs typeface="Tahoma"/>
              </a:rPr>
              <a:t>(التجمعية) للمحاليل</a:t>
            </a:r>
            <a:endParaRPr lang="ar-SA" sz="2610" b="1" i="0" dirty="0">
              <a:solidFill>
                <a:srgbClr val="26303F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1098697" y="2169269"/>
            <a:ext cx="5375348" cy="8264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449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لغز الجليد والملح</a:t>
            </a:r>
            <a:endParaRPr lang="ar-SA" sz="449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181395" y="3202384"/>
            <a:ext cx="5245395" cy="2172493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6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لماذا ترش شاحنات الثلج الملح على الطرقات المتجمدة؟</a:t>
            </a:r>
            <a:endParaRPr lang="ar-SA" sz="26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0000"/>
              </a:lnSpc>
              <a:spcBef>
                <a:spcPts val="1800"/>
              </a:spcBef>
              <a:buNone/>
            </a:pPr>
            <a:r>
              <a:rPr lang="ar-SA" sz="26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كيف يمنع الملح تجمع الجليد، وما علاقته بطهي الطعام؟</a:t>
            </a:r>
            <a:endParaRPr lang="ar-SA" sz="26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3579627" y="5929808"/>
            <a:ext cx="2811720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4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أهداف المهمة</a:t>
            </a:r>
            <a:endParaRPr lang="ar-SA" sz="244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1394046" y="6508353"/>
            <a:ext cx="4890976" cy="120431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342900" indent="-342900" algn="r" rtl="1">
              <a:lnSpc>
                <a:spcPct val="100000"/>
              </a:lnSpc>
              <a:buFont typeface="+mj-lt"/>
              <a:buAutoNum type="arabicPeriod"/>
            </a:pPr>
            <a:r>
              <a:rPr lang="ar-SA" sz="20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استكشاف الخواص المجمعة للمحاليل.</a:t>
            </a:r>
            <a:endParaRPr lang="ar-SA" sz="20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marL="342900" indent="-342900" algn="r" rtl="1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</a:pPr>
            <a:r>
              <a:rPr lang="ar-SA" sz="20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حساب الكتلة المولية للمركبات من خلال درجات التجمد والغليان.</a:t>
            </a:r>
            <a:endParaRPr lang="ar-SA" sz="20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800"/>
                            </p:stCondLst>
                            <p:childTnLst>
                              <p:par>
                                <p:cTn id="3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 build="p"/>
      <p:bldP spid="103" grpId="0"/>
      <p:bldP spid="10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4264837" y="935434"/>
            <a:ext cx="7726325" cy="70842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6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القاعدة الذهبية للعالم المجهري</a:t>
            </a:r>
            <a:endParaRPr lang="ar-SA" sz="363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110511" y="6036071"/>
            <a:ext cx="5611627" cy="2054423"/>
          </a:xfrm>
          <a:prstGeom prst="rect">
            <a:avLst/>
          </a:prstGeom>
          <a:noFill/>
        </p:spPr>
        <p:txBody>
          <a:bodyPr wrap="none" lIns="0" tIns="0" rIns="0" bIns="0" rtlCol="0" anchor="t" anchorCtr="1">
            <a:noAutofit/>
          </a:bodyPr>
          <a:lstStyle/>
          <a:p>
            <a:pPr algn="r" rtl="1">
              <a:lnSpc>
                <a:spcPct val="125000"/>
              </a:lnSpc>
              <a:buNone/>
            </a:pPr>
            <a:r>
              <a:rPr lang="ar-SA" sz="166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الخواص المجمعة (التجمعية) للمحاليل:</a:t>
            </a:r>
            <a:endParaRPr lang="ar-SA" sz="166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25000"/>
              </a:lnSpc>
              <a:buNone/>
            </a:pPr>
            <a:r>
              <a:rPr lang="ar-SA" sz="166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تعتمد فقط على عدد جسيمات المذاب.</a:t>
            </a:r>
            <a:endParaRPr lang="ar-SA" sz="166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25000"/>
              </a:lnSpc>
              <a:buNone/>
            </a:pPr>
            <a:r>
              <a:rPr lang="ar-SA" sz="166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لا تعتمد على نوع أو طبيعة هذه الجسيمات!</a:t>
            </a:r>
            <a:endParaRPr lang="ar-SA" sz="166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25000"/>
              </a:lnSpc>
              <a:buNone/>
            </a:pPr>
            <a:r>
              <a:rPr lang="ar-SA" sz="166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شرط هام:</a:t>
            </a:r>
            <a:r>
              <a:rPr lang="ar-SA" sz="166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 xml:space="preserve"> المذاب غير متطاير وغير إلكتروليتي.</a:t>
            </a:r>
            <a:endParaRPr lang="ar-SA" sz="166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2270955" y="593030"/>
            <a:ext cx="11678646" cy="7674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970" b="1" i="0" dirty="0">
                <a:solidFill>
                  <a:srgbClr val="2A2F3A"/>
                </a:solidFill>
                <a:latin typeface="Tahoma"/>
                <a:ea typeface="Tahoma"/>
                <a:cs typeface="Tahoma"/>
              </a:rPr>
              <a:t>معركة السطح: الانخفاض في الضغط البخاري</a:t>
            </a:r>
            <a:endParaRPr lang="ar-SA" sz="3970" b="1" i="0" dirty="0">
              <a:solidFill>
                <a:srgbClr val="2A2F3A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3461488" y="1685180"/>
            <a:ext cx="2516372" cy="37782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7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المذيب النقي</a:t>
            </a:r>
            <a:endParaRPr lang="ar-SA" sz="207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10766757" y="1685180"/>
            <a:ext cx="1704531" cy="37782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96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المحلول</a:t>
            </a:r>
            <a:endParaRPr lang="ar-SA" sz="196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3752591" y="6915695"/>
            <a:ext cx="11369268" cy="15821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342900" indent="-342900" algn="r" rtl="1">
              <a:lnSpc>
                <a:spcPct val="112000"/>
              </a:lnSpc>
              <a:buFont typeface="Arial"/>
              <a:buChar char="•"/>
            </a:pPr>
            <a:r>
              <a:rPr lang="ar-SA" sz="2780" b="1" i="0" dirty="0">
                <a:solidFill>
                  <a:srgbClr val="1A1E26"/>
                </a:solidFill>
                <a:latin typeface="Tahoma"/>
                <a:ea typeface="Tahoma"/>
                <a:cs typeface="Tahoma"/>
              </a:rPr>
              <a:t>جسيمات المذاب تحتل مساحة على السطح.</a:t>
            </a:r>
            <a:endParaRPr lang="ar-SA" sz="2780" b="1" i="0" dirty="0">
              <a:solidFill>
                <a:srgbClr val="1A1E26"/>
              </a:solidFill>
              <a:latin typeface="Tahoma"/>
              <a:ea typeface="Tahoma"/>
              <a:cs typeface="Tahoma"/>
            </a:endParaRPr>
          </a:p>
          <a:p>
            <a:pPr marL="342900" indent="-342900" algn="r" rtl="1">
              <a:lnSpc>
                <a:spcPct val="112000"/>
              </a:lnSpc>
              <a:buFont typeface="Arial"/>
              <a:buChar char="•"/>
            </a:pPr>
            <a:r>
              <a:rPr lang="ar-SA" sz="2780" b="1" i="0" dirty="0">
                <a:solidFill>
                  <a:srgbClr val="1A1E26"/>
                </a:solidFill>
                <a:latin typeface="Tahoma"/>
                <a:ea typeface="Tahoma"/>
                <a:cs typeface="Tahoma"/>
              </a:rPr>
              <a:t>يقل عدد جزيئات المذيب التي يمكنها الإفلات والتحول إلى بخار.</a:t>
            </a:r>
            <a:endParaRPr lang="ar-SA" sz="2780" b="1" i="0" dirty="0">
              <a:solidFill>
                <a:srgbClr val="1A1E26"/>
              </a:solidFill>
              <a:latin typeface="Tahoma"/>
              <a:ea typeface="Tahoma"/>
              <a:cs typeface="Tahoma"/>
            </a:endParaRPr>
          </a:p>
          <a:p>
            <a:pPr marL="342900" indent="-342900" algn="r" rtl="1">
              <a:lnSpc>
                <a:spcPct val="112000"/>
              </a:lnSpc>
              <a:buFont typeface="Arial"/>
              <a:buChar char="•"/>
            </a:pPr>
            <a:r>
              <a:rPr lang="ar-SA" sz="2780" b="1" i="0" dirty="0">
                <a:solidFill>
                  <a:srgbClr val="1A1E26"/>
                </a:solidFill>
                <a:latin typeface="Tahoma"/>
                <a:ea typeface="Tahoma"/>
                <a:cs typeface="Tahoma"/>
              </a:rPr>
              <a:t>كلما زاد تركيز المذاب ينخفض الضغط البخاري أكثر.</a:t>
            </a:r>
            <a:endParaRPr lang="ar-SA" sz="2780" b="1" i="0" dirty="0">
              <a:solidFill>
                <a:srgbClr val="1A1E26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1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1108665" y="2269628"/>
            <a:ext cx="5731613" cy="135780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r" rtl="1">
              <a:lnSpc>
                <a:spcPct val="108000"/>
              </a:lnSpc>
              <a:buNone/>
            </a:pPr>
            <a:r>
              <a:rPr lang="ar-SA" sz="34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منطقة الغليان:</a:t>
            </a:r>
            <a:endParaRPr lang="ar-SA" sz="34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8000"/>
              </a:lnSpc>
              <a:buNone/>
            </a:pPr>
            <a:r>
              <a:rPr lang="ar-SA" sz="34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الحاجة لمزيد من الطاقة</a:t>
            </a:r>
            <a:endParaRPr lang="ar-SA" sz="34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571255" y="4619228"/>
            <a:ext cx="5139069" cy="224333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8000"/>
              </a:lnSpc>
              <a:buNone/>
            </a:pPr>
            <a:r>
              <a:rPr lang="ar-SA" sz="27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الارتفاع في درجة الغليان</a:t>
            </a:r>
            <a:endParaRPr lang="ar-SA" sz="25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18000"/>
              </a:lnSpc>
              <a:buNone/>
            </a:pPr>
            <a:r>
              <a:rPr lang="ar-SA" sz="25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بما أن الضغط البخاري أصبح منخفضاً، نحتاج إلى حرارة أعلى لنجعل المحلول يغلي مقارنة بالمذيب النقي.</a:t>
            </a:r>
            <a:endParaRPr lang="ar-SA" sz="25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9687441" y="2600225"/>
            <a:ext cx="3071627" cy="8264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5460" b="1" i="0" dirty="0">
                <a:solidFill>
                  <a:srgbClr val="FFFFFF"/>
                </a:solidFill>
                <a:effectLst>
                  <a:outerShdw blurRad="76200" dist="25400" dir="5400000" algn="t" rotWithShape="0">
                    <a:srgbClr val="000000">
                      <a:alpha val="55000"/>
                    </a:srgbClr>
                  </a:outerShdw>
                </a:effectLst>
                <a:latin typeface="Tahoma"/>
                <a:ea typeface="Tahoma"/>
                <a:cs typeface="Tahoma"/>
              </a:rPr>
              <a:t>100 °C</a:t>
            </a:r>
            <a:endParaRPr lang="ar-SA" sz="5460" b="1" i="0" dirty="0">
              <a:solidFill>
                <a:srgbClr val="FFFFFF"/>
              </a:solidFill>
              <a:effectLst>
                <a:outerShdw blurRad="76200" dist="25400" dir="5400000" algn="t" rotWithShape="0">
                  <a:srgbClr val="000000">
                    <a:alpha val="55000"/>
                  </a:srgbClr>
                </a:outerShdw>
              </a:effectLst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 build="p"/>
      <p:bldP spid="10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3714288" y="528091"/>
            <a:ext cx="8839236" cy="73203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270" b="1" i="0" dirty="0">
                <a:solidFill>
                  <a:srgbClr val="2A2A30"/>
                </a:solidFill>
                <a:latin typeface="Tahoma"/>
                <a:ea typeface="Tahoma"/>
                <a:cs typeface="Tahoma"/>
              </a:rPr>
              <a:t>أداة فك الشفرة: معادلة الغليان</a:t>
            </a:r>
            <a:endParaRPr lang="ar-SA" sz="4270" b="1" i="0" dirty="0">
              <a:solidFill>
                <a:srgbClr val="2A2A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3775942" y="2635646"/>
            <a:ext cx="8444207" cy="114528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7880" b="1" i="0" dirty="0">
                <a:solidFill>
                  <a:srgbClr val="FBE3B4"/>
                </a:solidFill>
                <a:effectLst>
                  <a:glow rad="63500">
                    <a:srgbClr val="FFFFFF">
                      <a:alpha val="28000"/>
                    </a:srgbClr>
                  </a:glow>
                </a:effectLst>
                <a:latin typeface="Tahoma"/>
                <a:ea typeface="Tahoma"/>
                <a:cs typeface="Tahoma"/>
              </a:rPr>
              <a:t>ΔT</a:t>
            </a:r>
            <a:r>
              <a:rPr lang="ar-SA" sz="7880" b="1" i="0" dirty="0" baseline="-25000">
                <a:solidFill>
                  <a:srgbClr val="FBE3B4"/>
                </a:solidFill>
                <a:effectLst>
                  <a:glow rad="63500">
                    <a:srgbClr val="FFFFFF">
                      <a:alpha val="28000"/>
                    </a:srgbClr>
                  </a:glow>
                </a:effectLst>
                <a:latin typeface="Tahoma"/>
                <a:ea typeface="Tahoma"/>
                <a:cs typeface="Tahoma"/>
              </a:rPr>
              <a:t>bp</a:t>
            </a:r>
            <a:r>
              <a:rPr lang="ar-SA" sz="7880" b="1" i="0" dirty="0">
                <a:solidFill>
                  <a:srgbClr val="FFF6E0"/>
                </a:solidFill>
                <a:effectLst>
                  <a:glow rad="63500">
                    <a:srgbClr val="FFFFFF">
                      <a:alpha val="28000"/>
                    </a:srgbClr>
                  </a:glow>
                </a:effectLst>
                <a:latin typeface="Tahoma"/>
                <a:ea typeface="Tahoma"/>
                <a:cs typeface="Tahoma"/>
              </a:rPr>
              <a:t xml:space="preserve"> = </a:t>
            </a:r>
            <a:r>
              <a:rPr lang="ar-SA" sz="7880" b="1" i="0" dirty="0">
                <a:solidFill>
                  <a:srgbClr val="B8F3D6"/>
                </a:solidFill>
                <a:effectLst>
                  <a:glow rad="63500">
                    <a:srgbClr val="FFFFFF">
                      <a:alpha val="28000"/>
                    </a:srgbClr>
                  </a:glow>
                </a:effectLst>
                <a:latin typeface="Tahoma"/>
                <a:ea typeface="Tahoma"/>
                <a:cs typeface="Tahoma"/>
              </a:rPr>
              <a:t>K</a:t>
            </a:r>
            <a:r>
              <a:rPr lang="ar-SA" sz="7880" b="1" i="0" dirty="0" baseline="-25000">
                <a:solidFill>
                  <a:srgbClr val="B8F3D6"/>
                </a:solidFill>
                <a:effectLst>
                  <a:glow rad="63500">
                    <a:srgbClr val="FFFFFF">
                      <a:alpha val="28000"/>
                    </a:srgbClr>
                  </a:glow>
                </a:effectLst>
                <a:latin typeface="Tahoma"/>
                <a:ea typeface="Tahoma"/>
                <a:cs typeface="Tahoma"/>
              </a:rPr>
              <a:t>bp</a:t>
            </a:r>
            <a:r>
              <a:rPr lang="ar-SA" sz="7880" b="1" i="0" dirty="0">
                <a:solidFill>
                  <a:srgbClr val="D9C2FF"/>
                </a:solidFill>
                <a:effectLst>
                  <a:glow rad="63500">
                    <a:srgbClr val="FFFFFF">
                      <a:alpha val="28000"/>
                    </a:srgbClr>
                  </a:glow>
                </a:effectLst>
                <a:latin typeface="Tahoma"/>
                <a:ea typeface="Tahoma"/>
                <a:cs typeface="Tahoma"/>
              </a:rPr>
              <a:t xml:space="preserve"> × m</a:t>
            </a:r>
            <a:endParaRPr lang="ar-SA" sz="7880" b="1" i="0" dirty="0">
              <a:solidFill>
                <a:srgbClr val="FFFFFF"/>
              </a:solidFill>
              <a:effectLst>
                <a:glow rad="63500">
                  <a:srgbClr val="FFFFFF">
                    <a:alpha val="28000"/>
                  </a:srgbClr>
                </a:glow>
              </a:effectLst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1098697" y="6703169"/>
            <a:ext cx="4501116" cy="4958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89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1890" b="1" i="0" dirty="0" baseline="-2500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189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 xml:space="preserve"> : الارتفاع في درجة الغليان</a:t>
            </a:r>
            <a:endParaRPr lang="ar-SA" sz="189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6111413" y="6703169"/>
            <a:ext cx="4009545" cy="4958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000" b="1" i="0" dirty="0" baseline="-2500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0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 xml:space="preserve"> : ثابت الغليان المولالي</a:t>
            </a:r>
            <a:endParaRPr lang="ar-SA" sz="20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10880651" y="6703169"/>
            <a:ext cx="4229395" cy="4958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9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m : التركيز المولالي للمحلول</a:t>
            </a:r>
            <a:endParaRPr lang="ar-SA" sz="193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1785199" y="7948810"/>
            <a:ext cx="12827369" cy="62577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560" b="1" i="0" dirty="0">
                <a:solidFill>
                  <a:srgbClr val="1A1E26"/>
                </a:solidFill>
                <a:latin typeface="Tahoma"/>
                <a:ea typeface="Tahoma"/>
                <a:cs typeface="Tahoma"/>
              </a:rPr>
              <a:t>يتناسب مقدار الارتفاع في درجة الغليان طردياً مع التركيز المولالي للمحلول.</a:t>
            </a:r>
            <a:endParaRPr lang="ar-SA" sz="2560" b="1" i="0" dirty="0">
              <a:solidFill>
                <a:srgbClr val="1A1E26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7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/>
      <p:bldP spid="105" grpId="0"/>
      <p:bldP spid="10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6581664" y="2045295"/>
            <a:ext cx="5539452" cy="141684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ar-SA" sz="342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بيانات الماسح الضوئي:</a:t>
            </a:r>
            <a:endParaRPr lang="ar-SA" sz="342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5000"/>
              </a:lnSpc>
              <a:buNone/>
            </a:pPr>
            <a:r>
              <a:rPr lang="ar-SA" sz="342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ثوابت الغليان (K</a:t>
            </a:r>
            <a:r>
              <a:rPr lang="ar-SA" sz="3420" b="1" i="0" dirty="0" baseline="-2500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342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)</a:t>
            </a:r>
            <a:endParaRPr lang="ar-SA" sz="342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8699684" y="3786832"/>
            <a:ext cx="2436258" cy="4014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1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الماء | 0.512</a:t>
            </a:r>
            <a:endParaRPr lang="ar-SA" sz="21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8970113" y="4507061"/>
            <a:ext cx="2675122" cy="42505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1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الإيثانول | 1.19</a:t>
            </a:r>
            <a:endParaRPr lang="ar-SA" sz="201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8987649" y="5245000"/>
            <a:ext cx="2415584" cy="43686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9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البنزين | 2.53</a:t>
            </a:r>
            <a:endParaRPr lang="ar-SA" sz="193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7667255" y="6307633"/>
            <a:ext cx="4241209" cy="75565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5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وحدة القياس: (‎°C/m)</a:t>
            </a:r>
            <a:endParaRPr lang="ar-SA" sz="153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1">
              <a:lnSpc>
                <a:spcPct val="100000"/>
              </a:lnSpc>
              <a:buNone/>
            </a:pPr>
            <a:r>
              <a:rPr lang="ar-SA" sz="15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سنستخدم قيمة الماء كثيراً في مهمتنا!</a:t>
            </a:r>
            <a:endParaRPr lang="ar-SA" sz="153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/>
      <p:bldP spid="10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2708533" y="1053504"/>
            <a:ext cx="10898002" cy="7674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160" b="1" i="0" dirty="0">
                <a:solidFill>
                  <a:srgbClr val="241C14"/>
                </a:solidFill>
                <a:effectLst>
                  <a:glow rad="63500">
                    <a:srgbClr val="FFFFFF">
                      <a:alpha val="28000"/>
                    </a:srgbClr>
                  </a:glow>
                </a:effectLst>
                <a:latin typeface="Tahoma"/>
                <a:ea typeface="Tahoma"/>
                <a:cs typeface="Tahoma"/>
              </a:rPr>
              <a:t>تطبيق عملي (مثال 1): تسخين الجلوكوز</a:t>
            </a:r>
            <a:endParaRPr lang="ar-SA" sz="4160" b="1" i="0" dirty="0">
              <a:solidFill>
                <a:srgbClr val="241C14"/>
              </a:solidFill>
              <a:effectLst>
                <a:glow rad="63500">
                  <a:srgbClr val="FFFFFF">
                    <a:alpha val="28000"/>
                  </a:srgbClr>
                </a:glow>
              </a:effectLst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2457394" y="2133848"/>
            <a:ext cx="11282140" cy="57854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8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ما هي درجة غليان محلول الجلوكوز (C</a:t>
            </a:r>
            <a:r>
              <a:rPr lang="ar-SA" sz="2840" b="1" i="0" dirty="0" baseline="-2500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6</a:t>
            </a:r>
            <a:r>
              <a:rPr lang="ar-SA" sz="28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H</a:t>
            </a:r>
            <a:r>
              <a:rPr lang="ar-SA" sz="2840" b="1" i="0" dirty="0" baseline="-2500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12</a:t>
            </a:r>
            <a:r>
              <a:rPr lang="ar-SA" sz="28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O</a:t>
            </a:r>
            <a:r>
              <a:rPr lang="ar-SA" sz="2840" b="1" i="0" dirty="0" baseline="-2500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6</a:t>
            </a:r>
            <a:r>
              <a:rPr lang="ar-SA" sz="28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) بتركيز 1.5‎ m؟</a:t>
            </a:r>
            <a:endParaRPr lang="ar-SA" sz="284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12215627" y="4967535"/>
            <a:ext cx="2504558" cy="5195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02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المعطيات</a:t>
            </a:r>
            <a:endParaRPr lang="ar-SA" sz="302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12062046" y="5746799"/>
            <a:ext cx="2811720" cy="102721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12000"/>
              </a:lnSpc>
              <a:buNone/>
            </a:pPr>
            <a:r>
              <a:rPr lang="ar-SA" sz="188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m = 1.5 mol/kg</a:t>
            </a:r>
            <a:endParaRPr lang="ar-SA" sz="188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2000"/>
              </a:lnSpc>
              <a:buNone/>
            </a:pPr>
            <a:r>
              <a:rPr lang="ar-SA" sz="188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1880" b="1" i="0" dirty="0" baseline="-2500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188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 xml:space="preserve"> = 0.512 °C/m</a:t>
            </a:r>
            <a:endParaRPr lang="ar-SA" sz="188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7075450" y="4973439"/>
            <a:ext cx="2152354" cy="5195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95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التطبيق</a:t>
            </a:r>
            <a:endParaRPr lang="ar-SA" sz="295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6214139" y="5764510"/>
            <a:ext cx="3721395" cy="102721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12000"/>
              </a:lnSpc>
              <a:buNone/>
            </a:pPr>
            <a:r>
              <a:rPr lang="ar-SA" sz="24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40" b="1" i="0" dirty="0" baseline="-2500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 xml:space="preserve"> = 0.512 × 1.5</a:t>
            </a:r>
            <a:endParaRPr lang="ar-SA" sz="244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2000"/>
              </a:lnSpc>
              <a:buNone/>
            </a:pPr>
            <a:r>
              <a:rPr lang="ar-SA" sz="24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= 0.77 °C</a:t>
            </a:r>
            <a:endParaRPr lang="ar-SA" sz="244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7" name="Text 7"/>
          <p:cNvSpPr txBox="1"/>
          <p:nvPr/>
        </p:nvSpPr>
        <p:spPr>
          <a:xfrm>
            <a:off x="1165520" y="4973439"/>
            <a:ext cx="3398726" cy="5195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99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النتيجة النهائية</a:t>
            </a:r>
            <a:endParaRPr lang="ar-SA" sz="299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8" name="Text 8"/>
          <p:cNvSpPr txBox="1"/>
          <p:nvPr/>
        </p:nvSpPr>
        <p:spPr>
          <a:xfrm>
            <a:off x="1249879" y="5675957"/>
            <a:ext cx="3312706" cy="141684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درجة الغليان =</a:t>
            </a:r>
            <a:endParaRPr lang="ar-SA" sz="24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100 °C + 0.77 °C</a:t>
            </a:r>
            <a:endParaRPr lang="ar-SA" sz="24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= 100.77 °C</a:t>
            </a:r>
            <a:endParaRPr lang="ar-SA" sz="24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20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9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/>
      <p:bldP spid="105" grpId="0"/>
      <p:bldP spid="106" grpId="0"/>
      <p:bldP spid="107" grpId="0"/>
      <p:bldP spid="10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10745344" y="1632049"/>
            <a:ext cx="4778190" cy="153491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ar-SA" sz="4420" b="1" i="0" dirty="0">
                <a:solidFill>
                  <a:srgbClr val="183A5E"/>
                </a:solidFill>
                <a:latin typeface="Tahoma"/>
                <a:ea typeface="Tahoma"/>
                <a:cs typeface="Tahoma"/>
              </a:rPr>
              <a:t>منطقة التجمد:</a:t>
            </a:r>
            <a:endParaRPr lang="ar-SA" sz="4420" b="1" i="0" dirty="0">
              <a:solidFill>
                <a:srgbClr val="183A5E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5000"/>
              </a:lnSpc>
              <a:buNone/>
            </a:pPr>
            <a:r>
              <a:rPr lang="ar-SA" sz="4420" b="1" i="0" dirty="0">
                <a:solidFill>
                  <a:srgbClr val="183A5E"/>
                </a:solidFill>
                <a:latin typeface="Tahoma"/>
                <a:ea typeface="Tahoma"/>
                <a:cs typeface="Tahoma"/>
              </a:rPr>
              <a:t>حصار الجزيئات</a:t>
            </a:r>
            <a:endParaRPr lang="ar-SA" sz="4420" b="1" i="0" dirty="0">
              <a:solidFill>
                <a:srgbClr val="183A5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0786139" y="3757314"/>
            <a:ext cx="4654697" cy="377825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ar-SA" sz="2500" b="1" i="0" dirty="0">
                <a:solidFill>
                  <a:srgbClr val="1E2A38"/>
                </a:solidFill>
                <a:latin typeface="Tahoma"/>
                <a:ea typeface="Tahoma"/>
                <a:cs typeface="Tahoma"/>
              </a:rPr>
              <a:t>الانخفاض في درجة التجمد</a:t>
            </a:r>
            <a:endParaRPr lang="ar-SA" sz="2500" b="1" i="0" dirty="0">
              <a:solidFill>
                <a:srgbClr val="1E2A38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0000"/>
              </a:lnSpc>
              <a:spcBef>
                <a:spcPts val="2200"/>
              </a:spcBef>
              <a:buNone/>
            </a:pPr>
            <a:r>
              <a:rPr lang="ar-SA" sz="2500" b="1" i="0" dirty="0">
                <a:solidFill>
                  <a:srgbClr val="1E2A38"/>
                </a:solidFill>
                <a:latin typeface="Tahoma"/>
                <a:ea typeface="Tahoma"/>
                <a:cs typeface="Tahoma"/>
              </a:rPr>
              <a:t>جسيمات المذاب تقف كعوائق تمنع جزيئات المذيب من الترتيب لتكوين مادة صلبة.</a:t>
            </a:r>
            <a:endParaRPr lang="ar-SA" sz="2500" b="1" i="0" dirty="0">
              <a:solidFill>
                <a:srgbClr val="1E2A38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0000"/>
              </a:lnSpc>
              <a:spcBef>
                <a:spcPts val="2200"/>
              </a:spcBef>
              <a:buNone/>
            </a:pPr>
            <a:r>
              <a:rPr lang="ar-SA" sz="2500" b="1" i="0" dirty="0">
                <a:solidFill>
                  <a:srgbClr val="1E2A38"/>
                </a:solidFill>
                <a:latin typeface="Tahoma"/>
                <a:ea typeface="Tahoma"/>
                <a:cs typeface="Tahoma"/>
              </a:rPr>
              <a:t>نحتاج إلى تبريد المحلول لدرجات حرارة أقل من المعتاد لنجبره على التجمد!</a:t>
            </a:r>
            <a:endParaRPr lang="ar-SA" sz="2500" b="1" i="0" dirty="0">
              <a:solidFill>
                <a:srgbClr val="1E2A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3201581" y="634355"/>
            <a:ext cx="9911906" cy="80287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5060" b="1" i="0" dirty="0">
                <a:solidFill>
                  <a:srgbClr val="2A7DA8"/>
                </a:solidFill>
                <a:effectLst>
                  <a:glow rad="63500">
                    <a:srgbClr val="FFFFFF">
                      <a:alpha val="28000"/>
                    </a:srgbClr>
                  </a:glow>
                </a:effectLst>
                <a:latin typeface="Tahoma"/>
                <a:ea typeface="Tahoma"/>
                <a:cs typeface="Tahoma"/>
              </a:rPr>
              <a:t>أداة الجليد: معادلة التجمد</a:t>
            </a:r>
            <a:endParaRPr lang="ar-SA" sz="5060" b="1" i="0" dirty="0">
              <a:solidFill>
                <a:srgbClr val="2A7DA8"/>
              </a:solidFill>
              <a:effectLst>
                <a:glow rad="63500">
                  <a:srgbClr val="FFFFFF">
                    <a:alpha val="28000"/>
                  </a:srgbClr>
                </a:glow>
              </a:effectLst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3910418" y="2588418"/>
            <a:ext cx="8435162" cy="126335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7820" b="1" i="0" dirty="0">
                <a:solidFill>
                  <a:srgbClr val="1F4E9A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7820" b="1" i="0" dirty="0" baseline="-25000">
                <a:solidFill>
                  <a:srgbClr val="1F4E9A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7820" b="1" i="0" dirty="0">
                <a:solidFill>
                  <a:srgbClr val="45A9C6"/>
                </a:solidFill>
                <a:latin typeface="Tahoma"/>
                <a:ea typeface="Tahoma"/>
                <a:cs typeface="Tahoma"/>
              </a:rPr>
              <a:t xml:space="preserve"> = </a:t>
            </a:r>
            <a:r>
              <a:rPr lang="ar-SA" sz="7820" b="1" i="0" dirty="0">
                <a:solidFill>
                  <a:srgbClr val="72CFA0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7820" b="1" i="0" dirty="0" baseline="-25000">
                <a:solidFill>
                  <a:srgbClr val="72CFA0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7820" b="1" i="0" dirty="0">
                <a:solidFill>
                  <a:srgbClr val="45A9C6"/>
                </a:solidFill>
                <a:latin typeface="Tahoma"/>
                <a:ea typeface="Tahoma"/>
                <a:cs typeface="Tahoma"/>
              </a:rPr>
              <a:t xml:space="preserve"> × </a:t>
            </a:r>
            <a:r>
              <a:rPr lang="ar-SA" sz="7820" b="1" i="0" dirty="0">
                <a:solidFill>
                  <a:srgbClr val="7A4FB0"/>
                </a:solidFill>
                <a:latin typeface="Tahoma"/>
                <a:ea typeface="Tahoma"/>
                <a:cs typeface="Tahoma"/>
              </a:rPr>
              <a:t>m</a:t>
            </a:r>
            <a:endParaRPr lang="ar-SA" sz="782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448930" y="6962923"/>
            <a:ext cx="5032744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100" b="1" i="0" dirty="0">
                <a:solidFill>
                  <a:srgbClr val="1F4E9A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100" b="1" i="0" dirty="0" baseline="-25000">
                <a:solidFill>
                  <a:srgbClr val="1F4E9A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100" b="1" i="0" dirty="0">
                <a:solidFill>
                  <a:srgbClr val="1E2A38"/>
                </a:solidFill>
                <a:latin typeface="Tahoma"/>
                <a:ea typeface="Tahoma"/>
                <a:cs typeface="Tahoma"/>
              </a:rPr>
              <a:t xml:space="preserve"> : الانخفاض في درجة التجمد</a:t>
            </a:r>
            <a:endParaRPr lang="ar-SA" sz="2100" b="1" i="0" dirty="0">
              <a:solidFill>
                <a:srgbClr val="1E2A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6036930" y="6951116"/>
            <a:ext cx="4158511" cy="50770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160" b="1" i="0" dirty="0">
                <a:solidFill>
                  <a:srgbClr val="4CB884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160" b="1" i="0" dirty="0" baseline="-25000">
                <a:solidFill>
                  <a:srgbClr val="4CB884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160" b="1" i="0" dirty="0">
                <a:solidFill>
                  <a:srgbClr val="1E2A38"/>
                </a:solidFill>
                <a:latin typeface="Tahoma"/>
                <a:ea typeface="Tahoma"/>
                <a:cs typeface="Tahoma"/>
              </a:rPr>
              <a:t xml:space="preserve"> : ثابت التجمد المولالي</a:t>
            </a:r>
            <a:endParaRPr lang="ar-SA" sz="2160" b="1" i="0" dirty="0">
              <a:solidFill>
                <a:srgbClr val="1E2A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11128744" y="6968827"/>
            <a:ext cx="4406604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30" b="1" i="0" dirty="0">
                <a:solidFill>
                  <a:srgbClr val="7A4FB0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030" b="1" i="0" dirty="0">
                <a:solidFill>
                  <a:srgbClr val="1E2A38"/>
                </a:solidFill>
                <a:latin typeface="Tahoma"/>
                <a:ea typeface="Tahoma"/>
                <a:cs typeface="Tahoma"/>
              </a:rPr>
              <a:t xml:space="preserve"> : التركيز المولالي للمحلول</a:t>
            </a:r>
            <a:endParaRPr lang="ar-SA" sz="2030" b="1" i="0" dirty="0">
              <a:solidFill>
                <a:srgbClr val="1E2A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3142511" y="8149530"/>
            <a:ext cx="10041860" cy="53131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210" b="1" i="0" dirty="0">
                <a:solidFill>
                  <a:srgbClr val="1E2A38"/>
                </a:solidFill>
                <a:latin typeface="Tahoma"/>
                <a:ea typeface="Tahoma"/>
                <a:cs typeface="Tahoma"/>
              </a:rPr>
              <a:t xml:space="preserve">يمثل </a:t>
            </a:r>
            <a:r>
              <a:rPr lang="ar-SA" sz="2210" b="1" i="0" dirty="0">
                <a:solidFill>
                  <a:srgbClr val="1F4E9A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210" b="1" i="0" dirty="0" baseline="-25000">
                <a:solidFill>
                  <a:srgbClr val="1F4E9A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210" b="1" i="0" dirty="0">
                <a:solidFill>
                  <a:srgbClr val="1E2A38"/>
                </a:solidFill>
                <a:latin typeface="Tahoma"/>
                <a:ea typeface="Tahoma"/>
                <a:cs typeface="Tahoma"/>
              </a:rPr>
              <a:t xml:space="preserve"> الفرق بين درجة تجمد المذيب النقي ودرجة تجمد المحلول.</a:t>
            </a:r>
            <a:endParaRPr lang="ar-SA" sz="2210" b="1" i="0" dirty="0">
              <a:solidFill>
                <a:srgbClr val="1E2A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7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/>
      <p:bldP spid="105" grpId="0"/>
      <p:bldP spid="10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3969488" y="1909514"/>
            <a:ext cx="6733953" cy="159394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ar-SA" sz="4290" b="1" i="0" dirty="0">
                <a:solidFill>
                  <a:srgbClr val="183A5E"/>
                </a:solidFill>
                <a:latin typeface="Tahoma"/>
                <a:ea typeface="Tahoma"/>
                <a:cs typeface="Tahoma"/>
              </a:rPr>
              <a:t>بيانات الماسح الضوئي:</a:t>
            </a:r>
            <a:endParaRPr lang="ar-SA" sz="4290" b="1" i="0" dirty="0">
              <a:solidFill>
                <a:srgbClr val="183A5E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05000"/>
              </a:lnSpc>
              <a:buNone/>
            </a:pPr>
            <a:r>
              <a:rPr lang="ar-SA" sz="4290" b="1" i="0" dirty="0">
                <a:solidFill>
                  <a:srgbClr val="183A5E"/>
                </a:solidFill>
                <a:latin typeface="Tahoma"/>
                <a:ea typeface="Tahoma"/>
                <a:cs typeface="Tahoma"/>
              </a:rPr>
              <a:t>ثوابت التجمد (K</a:t>
            </a:r>
            <a:r>
              <a:rPr lang="ar-SA" sz="4290" b="1" i="0" dirty="0" baseline="-25000">
                <a:solidFill>
                  <a:srgbClr val="183A5E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4290" b="1" i="0" dirty="0">
                <a:solidFill>
                  <a:srgbClr val="183A5E"/>
                </a:solidFill>
                <a:latin typeface="Tahoma"/>
                <a:ea typeface="Tahoma"/>
                <a:cs typeface="Tahoma"/>
              </a:rPr>
              <a:t>)</a:t>
            </a:r>
            <a:endParaRPr lang="ar-SA" sz="4290" b="1" i="0" dirty="0">
              <a:solidFill>
                <a:srgbClr val="183A5E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9014046" y="3904902"/>
            <a:ext cx="1701209" cy="42505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6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الماء</a:t>
            </a:r>
            <a:endParaRPr lang="ar-SA" sz="264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5611627" y="3922613"/>
            <a:ext cx="1417674" cy="4958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248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1.86</a:t>
            </a:r>
            <a:endParaRPr lang="ar-SA" sz="248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7605970" y="4554289"/>
            <a:ext cx="3028802" cy="43686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48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حمض الأسيتيك</a:t>
            </a:r>
            <a:endParaRPr lang="ar-SA" sz="248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5517116" y="4518868"/>
            <a:ext cx="1665767" cy="53131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26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3.90</a:t>
            </a:r>
            <a:endParaRPr lang="ar-SA" sz="264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9105420" y="5239097"/>
            <a:ext cx="1601159" cy="43686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01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البنزين</a:t>
            </a:r>
            <a:endParaRPr lang="ar-SA" sz="201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7" name="Text 7"/>
          <p:cNvSpPr txBox="1"/>
          <p:nvPr/>
        </p:nvSpPr>
        <p:spPr>
          <a:xfrm>
            <a:off x="5564372" y="5250904"/>
            <a:ext cx="1653953" cy="53131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26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5.12</a:t>
            </a:r>
            <a:endParaRPr lang="ar-SA" sz="264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8" name="Text 8"/>
          <p:cNvSpPr txBox="1"/>
          <p:nvPr/>
        </p:nvSpPr>
        <p:spPr>
          <a:xfrm>
            <a:off x="5245395" y="6313537"/>
            <a:ext cx="5871534" cy="94456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r" rtl="1">
              <a:lnSpc>
                <a:spcPct val="112000"/>
              </a:lnSpc>
              <a:buNone/>
            </a:pPr>
            <a:r>
              <a:rPr lang="ar-SA" sz="219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لاحظ أن ثابت التجمد للماء (1.86) أكبر</a:t>
            </a:r>
            <a:endParaRPr lang="ar-SA" sz="219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12000"/>
              </a:lnSpc>
              <a:buNone/>
            </a:pPr>
            <a:r>
              <a:rPr lang="ar-SA" sz="219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من ثابت الغليان للماء (0.512).</a:t>
            </a:r>
            <a:endParaRPr lang="ar-SA" sz="219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2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9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/>
      <p:bldP spid="105" grpId="0"/>
      <p:bldP spid="106" grpId="0"/>
      <p:bldP spid="107" grpId="0"/>
      <p:bldP spid="10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3577135" y="628451"/>
            <a:ext cx="9101728" cy="73203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92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تحليل العينة: أسئلة تطبيقية</a:t>
            </a:r>
            <a:endParaRPr lang="ar-SA" sz="492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2740837" y="1856382"/>
            <a:ext cx="10951534" cy="89733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12000"/>
              </a:lnSpc>
              <a:buNone/>
            </a:pPr>
            <a:r>
              <a:rPr lang="ar-SA" sz="206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تنخفض درجة تجمد الماء إلى 0.390‎ °C عندما يذاب 3.9‎ g من مذاب في 475‎ g ماء.</a:t>
            </a:r>
            <a:endParaRPr lang="ar-SA" sz="206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1">
              <a:lnSpc>
                <a:spcPct val="112000"/>
              </a:lnSpc>
              <a:buNone/>
            </a:pPr>
            <a:r>
              <a:rPr lang="ar-SA" sz="206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نحسب التركيز أولاً.</a:t>
            </a:r>
            <a:endParaRPr lang="ar-SA" sz="206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9096744" y="3473946"/>
            <a:ext cx="4004930" cy="46047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81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الخطوة 1: المشكلة</a:t>
            </a:r>
            <a:endParaRPr lang="ar-SA" sz="281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8931348" y="4111525"/>
            <a:ext cx="4335720" cy="43686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3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انخفاض بمقدار 0.390‎ °C</a:t>
            </a:r>
            <a:endParaRPr lang="ar-SA" sz="234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8576930" y="6360765"/>
            <a:ext cx="5056372" cy="46047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6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الخطوة 2: استخراج التركيز</a:t>
            </a:r>
            <a:endParaRPr lang="ar-SA" sz="263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9250325" y="6939309"/>
            <a:ext cx="3674139" cy="16175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630" b="1" i="1" dirty="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>ΔT</a:t>
            </a:r>
            <a:r>
              <a:rPr lang="ar-SA" sz="2630" b="1" i="1" dirty="0" baseline="-2500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>fp</a:t>
            </a:r>
            <a:r>
              <a:rPr lang="ar-SA" sz="2630" b="1" i="1" dirty="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 xml:space="preserve"> = K</a:t>
            </a:r>
            <a:r>
              <a:rPr lang="ar-SA" sz="2630" b="1" i="1" dirty="0" baseline="-2500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>fp</a:t>
            </a:r>
            <a:r>
              <a:rPr lang="ar-SA" sz="2630" b="1" i="1" dirty="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 xml:space="preserve"> × m</a:t>
            </a:r>
            <a:endParaRPr lang="ar-SA" sz="263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0000"/>
              </a:lnSpc>
              <a:buNone/>
            </a:pPr>
            <a:r>
              <a:rPr lang="ar-SA" sz="2630" b="1" i="1" dirty="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>0.390 = 1.86 × m</a:t>
            </a:r>
            <a:endParaRPr lang="ar-SA" sz="263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0000"/>
              </a:lnSpc>
              <a:buNone/>
            </a:pPr>
            <a:r>
              <a:rPr lang="ar-SA" sz="2630" b="1" i="1" dirty="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>m</a:t>
            </a:r>
            <a:r>
              <a:rPr lang="ar-SA" sz="2630" b="1" i="1" dirty="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 xml:space="preserve"> = 0.210 </a:t>
            </a:r>
            <a:r>
              <a:rPr lang="ar-SA" sz="26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m</a:t>
            </a:r>
            <a:endParaRPr lang="ar-SA" sz="263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200"/>
                            </p:stCondLst>
                            <p:childTnLst>
                              <p:par>
                                <p:cTn id="4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9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0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/>
      <p:bldP spid="105" grpId="0"/>
      <p:bldP spid="106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2836640" y="663872"/>
            <a:ext cx="10582718" cy="7438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405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الصورة الكبرى: منطقة السيولة الممتدة</a:t>
            </a:r>
            <a:endParaRPr lang="ar-SA" sz="405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11743069" y="2192883"/>
            <a:ext cx="3556000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35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ارتفاع درجة الغليان</a:t>
            </a:r>
            <a:endParaRPr lang="ar-SA" sz="235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803348" y="2234207"/>
            <a:ext cx="3993116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5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انخفاض درجة التجمد</a:t>
            </a:r>
            <a:endParaRPr lang="ar-SA" sz="253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6150085" y="4347666"/>
            <a:ext cx="3932200" cy="59035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410" b="1" i="0" dirty="0">
                <a:solidFill>
                  <a:srgbClr val="16233A"/>
                </a:solidFill>
                <a:effectLst>
                  <a:glow rad="63500">
                    <a:srgbClr val="FFFFFF">
                      <a:alpha val="28000"/>
                    </a:srgbClr>
                  </a:glow>
                </a:effectLst>
                <a:latin typeface="Tahoma"/>
                <a:ea typeface="Tahoma"/>
                <a:cs typeface="Tahoma"/>
              </a:rPr>
              <a:t>منطقة السيولة</a:t>
            </a:r>
            <a:endParaRPr lang="ar-SA" sz="3410" b="1" i="0" dirty="0">
              <a:solidFill>
                <a:srgbClr val="16233A"/>
              </a:solidFill>
              <a:effectLst>
                <a:glow rad="63500">
                  <a:srgbClr val="FFFFFF">
                    <a:alpha val="28000"/>
                  </a:srgbClr>
                </a:glow>
              </a:effectLst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12168372" y="6531967"/>
            <a:ext cx="2681767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36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يصعب تبخرها</a:t>
            </a:r>
            <a:endParaRPr lang="ar-SA" sz="236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1299534" y="6531967"/>
            <a:ext cx="3000744" cy="47228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51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يصعب تجميدها</a:t>
            </a:r>
            <a:endParaRPr lang="ar-SA" sz="251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7" name="Text 7"/>
          <p:cNvSpPr txBox="1"/>
          <p:nvPr/>
        </p:nvSpPr>
        <p:spPr>
          <a:xfrm>
            <a:off x="2599069" y="7813030"/>
            <a:ext cx="11057860" cy="62577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65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إضافة المذاب تجعل المادة عالقة في الحالة السائلة لفترة أطول!</a:t>
            </a:r>
            <a:endParaRPr lang="ar-SA" sz="265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200"/>
                            </p:stCondLst>
                            <p:childTnLst>
                              <p:par>
                                <p:cTn id="4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7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/>
      <p:bldP spid="105" grpId="0"/>
      <p:bldP spid="106" grpId="0"/>
      <p:bldP spid="10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4288465" y="616644"/>
            <a:ext cx="7655441" cy="76745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506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مقارنة أنظمة الملاحة</a:t>
            </a:r>
            <a:endParaRPr lang="ar-SA" sz="506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8706883" y="2275532"/>
            <a:ext cx="5304465" cy="5195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98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الارتفاع في درجة الغليان</a:t>
            </a:r>
            <a:endParaRPr lang="ar-SA" sz="298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2197395" y="2275532"/>
            <a:ext cx="5635255" cy="5195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99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الانخفاض في درجة التجمد</a:t>
            </a:r>
            <a:endParaRPr lang="ar-SA" sz="299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7276010" y="3556595"/>
            <a:ext cx="1739420" cy="4958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76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التأثير</a:t>
            </a:r>
            <a:endParaRPr lang="ar-SA" sz="276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10939720" y="3609726"/>
            <a:ext cx="1701209" cy="5195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81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ترتفع</a:t>
            </a:r>
            <a:endParaRPr lang="ar-SA" sz="281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4064000" y="3603823"/>
            <a:ext cx="2114697" cy="5195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99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تنخفض</a:t>
            </a:r>
            <a:endParaRPr lang="ar-SA" sz="299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7" name="Text 7"/>
          <p:cNvSpPr txBox="1"/>
          <p:nvPr/>
        </p:nvSpPr>
        <p:spPr>
          <a:xfrm>
            <a:off x="7135627" y="5008860"/>
            <a:ext cx="2032000" cy="4958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76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القانون</a:t>
            </a:r>
            <a:endParaRPr lang="ar-SA" sz="276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8" name="Text 8"/>
          <p:cNvSpPr txBox="1"/>
          <p:nvPr/>
        </p:nvSpPr>
        <p:spPr>
          <a:xfrm>
            <a:off x="9498418" y="4949825"/>
            <a:ext cx="4170325" cy="66119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3450" b="1" i="1" dirty="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>ΔT</a:t>
            </a:r>
            <a:r>
              <a:rPr lang="ar-SA" sz="3450" b="1" i="1" dirty="0" baseline="-2500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>bp</a:t>
            </a:r>
            <a:r>
              <a:rPr lang="ar-SA" sz="3450" b="1" i="1" dirty="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 xml:space="preserve"> = K</a:t>
            </a:r>
            <a:r>
              <a:rPr lang="ar-SA" sz="3450" b="1" i="1" dirty="0" baseline="-2500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>bp</a:t>
            </a:r>
            <a:r>
              <a:rPr lang="ar-SA" sz="3450" b="1" i="1" dirty="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 xml:space="preserve"> × m</a:t>
            </a:r>
            <a:endParaRPr lang="ar-SA" sz="345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9" name="Text 9"/>
          <p:cNvSpPr txBox="1"/>
          <p:nvPr/>
        </p:nvSpPr>
        <p:spPr>
          <a:xfrm>
            <a:off x="2811720" y="4949825"/>
            <a:ext cx="4040372" cy="66119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3450" b="1" i="1" dirty="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>ΔT</a:t>
            </a:r>
            <a:r>
              <a:rPr lang="ar-SA" sz="3450" b="1" i="1" dirty="0" baseline="-2500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>fp</a:t>
            </a:r>
            <a:r>
              <a:rPr lang="ar-SA" sz="3450" b="1" i="1" dirty="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 xml:space="preserve"> = K</a:t>
            </a:r>
            <a:r>
              <a:rPr lang="ar-SA" sz="3450" b="1" i="1" dirty="0" baseline="-2500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>fp</a:t>
            </a:r>
            <a:r>
              <a:rPr lang="ar-SA" sz="3450" b="1" i="1" dirty="0">
                <a:solidFill>
                  <a:srgbClr val="1F2530"/>
                </a:solidFill>
                <a:latin typeface="Cambria"/>
                <a:ea typeface="Cambria"/>
                <a:cs typeface="Cambria"/>
              </a:rPr>
              <a:t xml:space="preserve"> × m</a:t>
            </a:r>
            <a:endParaRPr lang="ar-SA" sz="345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10" name="Text 10"/>
          <p:cNvSpPr txBox="1"/>
          <p:nvPr/>
        </p:nvSpPr>
        <p:spPr>
          <a:xfrm>
            <a:off x="6722139" y="6372572"/>
            <a:ext cx="2858976" cy="51950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76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الثابت للماء</a:t>
            </a:r>
            <a:endParaRPr lang="ar-SA" sz="276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11" name="Text 11"/>
          <p:cNvSpPr txBox="1"/>
          <p:nvPr/>
        </p:nvSpPr>
        <p:spPr>
          <a:xfrm>
            <a:off x="9982790" y="6313537"/>
            <a:ext cx="3213395" cy="57854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322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0.512 °C/m</a:t>
            </a:r>
            <a:endParaRPr lang="ar-SA" sz="322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12" name="Text 12"/>
          <p:cNvSpPr txBox="1"/>
          <p:nvPr/>
        </p:nvSpPr>
        <p:spPr>
          <a:xfrm>
            <a:off x="3414232" y="6319440"/>
            <a:ext cx="2894418" cy="57854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00000"/>
              </a:lnSpc>
              <a:buNone/>
            </a:pPr>
            <a:r>
              <a:rPr lang="ar-SA" sz="322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1.86 °C/m</a:t>
            </a:r>
            <a:endParaRPr lang="ar-SA" sz="322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100"/>
                            </p:stCondLst>
                            <p:childTnLst>
                              <p:par>
                                <p:cTn id="2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800"/>
                            </p:stCondLst>
                            <p:childTnLst>
                              <p:par>
                                <p:cTn id="2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500"/>
                            </p:stCondLst>
                            <p:childTnLst>
                              <p:par>
                                <p:cTn id="3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200"/>
                            </p:stCondLst>
                            <p:childTnLst>
                              <p:par>
                                <p:cTn id="4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4900"/>
                            </p:stCondLst>
                            <p:childTnLst>
                              <p:par>
                                <p:cTn id="4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6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600"/>
                            </p:stCondLst>
                            <p:childTnLst>
                              <p:par>
                                <p:cTn id="5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300"/>
                            </p:stCondLst>
                            <p:childTnLst>
                              <p:par>
                                <p:cTn id="5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6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000"/>
                            </p:stCondLst>
                            <p:childTnLst>
                              <p:par>
                                <p:cTn id="6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7700"/>
                            </p:stCondLst>
                            <p:childTnLst>
                              <p:par>
                                <p:cTn id="7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6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/>
      <p:bldP spid="103" grpId="0"/>
      <p:bldP spid="104" grpId="0"/>
      <p:bldP spid="105" grpId="0"/>
      <p:bldP spid="106" grpId="0"/>
      <p:bldP spid="107" grpId="0"/>
      <p:bldP spid="108" grpId="0"/>
      <p:bldP spid="109" grpId="0"/>
      <p:bldP spid="110" grpId="0"/>
      <p:bldP spid="111" grpId="0"/>
      <p:bldP spid="1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3037385" y="1023987"/>
            <a:ext cx="9685042" cy="70842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397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التحدي النهائي: حساب الكتلة المولية</a:t>
            </a:r>
            <a:endParaRPr lang="ar-SA" sz="397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4808279" y="2429023"/>
            <a:ext cx="6722139" cy="1322387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12000"/>
              </a:lnSpc>
              <a:buNone/>
            </a:pPr>
            <a:r>
              <a:rPr lang="ar-SA" sz="21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المهمة:</a:t>
            </a:r>
            <a:r>
              <a:rPr lang="ar-SA" sz="21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 xml:space="preserve"> أذيب 49.63‎ g من مركب في </a:t>
            </a:r>
            <a:r>
              <a:rPr lang="ar-SA" sz="21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1‎ kg</a:t>
            </a:r>
            <a:r>
              <a:rPr lang="ar-SA" sz="21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 xml:space="preserve"> ماء.</a:t>
            </a:r>
            <a:endParaRPr lang="ar-SA" sz="213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1">
              <a:lnSpc>
                <a:spcPct val="112000"/>
              </a:lnSpc>
              <a:buNone/>
            </a:pPr>
            <a:r>
              <a:rPr lang="ar-SA" sz="21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درجة تجمد المحلول 0.27‎ °C تحت الصفر.</a:t>
            </a:r>
            <a:endParaRPr lang="ar-SA" sz="213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1">
              <a:lnSpc>
                <a:spcPct val="112000"/>
              </a:lnSpc>
              <a:buNone/>
            </a:pPr>
            <a:r>
              <a:rPr lang="ar-SA" sz="21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احسب الكتلة المولية! (K</a:t>
            </a:r>
            <a:r>
              <a:rPr lang="ar-SA" sz="2130" b="1" i="0" dirty="0" baseline="-2500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13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 xml:space="preserve"> = 1.86)</a:t>
            </a:r>
            <a:endParaRPr lang="ar-SA" sz="213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3" name="Text 3"/>
          <p:cNvSpPr txBox="1"/>
          <p:nvPr/>
        </p:nvSpPr>
        <p:spPr>
          <a:xfrm>
            <a:off x="2102883" y="4814044"/>
            <a:ext cx="3485116" cy="37782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9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خطوة 1: إيجاد المولالية</a:t>
            </a:r>
            <a:endParaRPr lang="ar-SA" sz="19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4" name="Text 4"/>
          <p:cNvSpPr txBox="1"/>
          <p:nvPr/>
        </p:nvSpPr>
        <p:spPr>
          <a:xfrm>
            <a:off x="2655278" y="5339457"/>
            <a:ext cx="2403954" cy="122793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165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m = 0.27 / 1.86</a:t>
            </a:r>
            <a:endParaRPr lang="ar-SA" sz="165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165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= 0.145 m</a:t>
            </a:r>
            <a:endParaRPr lang="ar-SA" sz="165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5" name="Text 5"/>
          <p:cNvSpPr txBox="1"/>
          <p:nvPr/>
        </p:nvSpPr>
        <p:spPr>
          <a:xfrm>
            <a:off x="6408146" y="4802237"/>
            <a:ext cx="3463334" cy="37782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65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خطوة 2: إيجاد عدد المولات</a:t>
            </a:r>
            <a:endParaRPr lang="ar-SA" sz="165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6" name="Text 6"/>
          <p:cNvSpPr txBox="1"/>
          <p:nvPr/>
        </p:nvSpPr>
        <p:spPr>
          <a:xfrm>
            <a:off x="6497674" y="5374878"/>
            <a:ext cx="3248837" cy="123973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12000"/>
              </a:lnSpc>
              <a:buNone/>
            </a:pPr>
            <a:r>
              <a:rPr lang="ar-SA" sz="17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المولالية × كتلة المذيب</a:t>
            </a:r>
            <a:endParaRPr lang="ar-SA" sz="174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2000"/>
              </a:lnSpc>
              <a:buNone/>
            </a:pPr>
            <a:r>
              <a:rPr lang="ar-SA" sz="17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= 0.145 × 1</a:t>
            </a:r>
            <a:endParaRPr lang="ar-SA" sz="174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2000"/>
              </a:lnSpc>
              <a:buNone/>
            </a:pPr>
            <a:r>
              <a:rPr lang="ar-SA" sz="174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= 0.145 mol</a:t>
            </a:r>
            <a:endParaRPr lang="ar-SA" sz="174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7" name="Text 7"/>
          <p:cNvSpPr txBox="1"/>
          <p:nvPr/>
        </p:nvSpPr>
        <p:spPr>
          <a:xfrm>
            <a:off x="10691627" y="4790430"/>
            <a:ext cx="3402418" cy="401439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19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خطوة 3: الكتلة المولية</a:t>
            </a:r>
            <a:endParaRPr lang="ar-SA" sz="19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8" name="Text 8"/>
          <p:cNvSpPr txBox="1"/>
          <p:nvPr/>
        </p:nvSpPr>
        <p:spPr>
          <a:xfrm>
            <a:off x="10561674" y="5398492"/>
            <a:ext cx="3674139" cy="123973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12000"/>
              </a:lnSpc>
              <a:buNone/>
            </a:pPr>
            <a:r>
              <a:rPr lang="ar-SA" sz="171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الكتلة بالغرام / عدد المولات</a:t>
            </a:r>
            <a:endParaRPr lang="ar-SA" sz="171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2000"/>
              </a:lnSpc>
              <a:buNone/>
            </a:pPr>
            <a:r>
              <a:rPr lang="ar-SA" sz="171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= 49.63 / 0.145</a:t>
            </a:r>
            <a:endParaRPr lang="ar-SA" sz="171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12000"/>
              </a:lnSpc>
              <a:buNone/>
            </a:pPr>
            <a:r>
              <a:rPr lang="ar-SA" sz="1710" b="1" i="0" dirty="0">
                <a:solidFill>
                  <a:srgbClr val="5A4A12"/>
                </a:solidFill>
                <a:latin typeface="Tahoma"/>
                <a:ea typeface="Tahoma"/>
                <a:cs typeface="Tahoma"/>
              </a:rPr>
              <a:t>= 342 g/mol</a:t>
            </a:r>
            <a:endParaRPr lang="ar-SA" sz="171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1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8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6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200"/>
                            </p:stCondLst>
                            <p:childTnLst>
                              <p:par>
                                <p:cTn id="4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90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600"/>
                            </p:stCondLst>
                            <p:childTnLst>
                              <p:par>
                                <p:cTn id="5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630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 build="p"/>
      <p:bldP spid="103" grpId="0"/>
      <p:bldP spid="104" grpId="0"/>
      <p:bldP spid="105" grpId="0"/>
      <p:bldP spid="106" grpId="0"/>
      <p:bldP spid="107" grpId="0"/>
      <p:bldP spid="10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sp>
        <p:nvSpPr>
          <p:cNvPr id="101" name="Text 1"/>
          <p:cNvSpPr txBox="1"/>
          <p:nvPr/>
        </p:nvSpPr>
        <p:spPr>
          <a:xfrm>
            <a:off x="4839106" y="1212899"/>
            <a:ext cx="6636857" cy="82649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5210" b="1" i="0" dirty="0">
                <a:solidFill>
                  <a:srgbClr val="1A2A40"/>
                </a:solidFill>
                <a:latin typeface="Tahoma"/>
                <a:ea typeface="Tahoma"/>
                <a:cs typeface="Tahoma"/>
              </a:rPr>
              <a:t>تمت المهمة بنجاح!</a:t>
            </a:r>
            <a:endParaRPr lang="ar-SA" sz="5210" b="1" i="0" dirty="0">
              <a:solidFill>
                <a:srgbClr val="1A2A4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02" name="Text 2"/>
          <p:cNvSpPr txBox="1"/>
          <p:nvPr/>
        </p:nvSpPr>
        <p:spPr>
          <a:xfrm>
            <a:off x="5588000" y="3639244"/>
            <a:ext cx="5068186" cy="2125265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ctr" rtl="1">
              <a:lnSpc>
                <a:spcPct val="100000"/>
              </a:lnSpc>
              <a:buNone/>
            </a:pPr>
            <a:r>
              <a:rPr lang="ar-SA" sz="21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الآن نعرف السر: الملح ينشر جسيماته ليعيق ترابط جزيئات الماء، مما يخفض درجة تجمد الجليد ويذيبه في الشتاء!</a:t>
            </a:r>
            <a:endParaRPr lang="ar-SA" sz="21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  <a:p>
            <a:pPr algn="ctr" rtl="1">
              <a:lnSpc>
                <a:spcPct val="100000"/>
              </a:lnSpc>
              <a:spcBef>
                <a:spcPts val="1800"/>
              </a:spcBef>
              <a:buNone/>
            </a:pPr>
            <a:r>
              <a:rPr lang="ar-SA" sz="2100" b="1" i="0" dirty="0">
                <a:solidFill>
                  <a:srgbClr val="1F2530"/>
                </a:solidFill>
                <a:latin typeface="Tahoma"/>
                <a:ea typeface="Tahoma"/>
                <a:cs typeface="Tahoma"/>
              </a:rPr>
              <a:t>تذكر دائماً: في الخواص المجمعة، العدد يصنع الفارق!</a:t>
            </a:r>
            <a:endParaRPr lang="ar-SA" sz="2100" b="1" i="0" dirty="0">
              <a:solidFill>
                <a:srgbClr val="1F253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6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1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600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1" grpId="0"/>
      <p:bldP spid="102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Divider card"/>
          <p:cNvSpPr/>
          <p:nvPr/>
        </p:nvSpPr>
        <p:spPr>
          <a:xfrm>
            <a:off x="3520558" y="2500312"/>
            <a:ext cx="9214883" cy="4167187"/>
          </a:xfrm>
          <a:prstGeom prst="roundRect">
            <a:avLst>
              <a:gd name="adj" fmla="val 8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2" name="Chip"/>
          <p:cNvSpPr/>
          <p:nvPr/>
        </p:nvSpPr>
        <p:spPr>
          <a:xfrm>
            <a:off x="6355906" y="2976562"/>
            <a:ext cx="3544186" cy="476250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بنك الأسئلة • الحصة الأولى</a:t>
            </a:r>
            <a:endParaRPr lang="ar-SA" sz="16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Title"/>
          <p:cNvSpPr txBox="1"/>
          <p:nvPr/>
        </p:nvSpPr>
        <p:spPr>
          <a:xfrm>
            <a:off x="3756837" y="3786187"/>
            <a:ext cx="8742325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4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الانخفاض في الضغط البخاري</a:t>
            </a:r>
            <a:endParaRPr lang="ar-SA" sz="4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Subtitle"/>
          <p:cNvSpPr txBox="1"/>
          <p:nvPr/>
        </p:nvSpPr>
        <p:spPr>
          <a:xfrm>
            <a:off x="3756837" y="5238750"/>
            <a:ext cx="8742325" cy="714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5D6570"/>
                </a:solidFill>
                <a:latin typeface="Tahoma"/>
                <a:ea typeface="Tahoma"/>
                <a:cs typeface="Tahoma"/>
              </a:rPr>
              <a:t>اختبر فهمك: السؤال أولاً، ثم اضغط لإظهار الإجابة</a:t>
            </a:r>
            <a:endParaRPr lang="ar-SA" sz="2100" b="1" i="0" dirty="0">
              <a:solidFill>
                <a:srgbClr val="5D657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6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7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3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أسئلة: الانخفاض في الضغط البخاري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الأولى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1"/>
          <p:cNvSpPr/>
          <p:nvPr/>
        </p:nvSpPr>
        <p:spPr>
          <a:xfrm>
            <a:off x="708837" y="1452562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1"/>
          <p:cNvSpPr/>
          <p:nvPr/>
        </p:nvSpPr>
        <p:spPr>
          <a:xfrm>
            <a:off x="14838325" y="1643062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1"/>
          <p:cNvSpPr txBox="1"/>
          <p:nvPr/>
        </p:nvSpPr>
        <p:spPr>
          <a:xfrm>
            <a:off x="1016000" y="161925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اكتب الاسم أو المصطلح العلمي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1"/>
          <p:cNvSpPr txBox="1"/>
          <p:nvPr/>
        </p:nvSpPr>
        <p:spPr>
          <a:xfrm>
            <a:off x="1016000" y="2000250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التغيرات التي تحدث للخواص الفيزيائية للسائل المذيب عند إضافة المذاب إليه.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1"/>
          <p:cNvSpPr/>
          <p:nvPr/>
        </p:nvSpPr>
        <p:spPr>
          <a:xfrm>
            <a:off x="10166645" y="2599608"/>
            <a:ext cx="4506284" cy="571499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الخواص المجمعة للمحاليل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2"/>
          <p:cNvSpPr/>
          <p:nvPr/>
        </p:nvSpPr>
        <p:spPr>
          <a:xfrm>
            <a:off x="708837" y="3814045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2"/>
          <p:cNvSpPr/>
          <p:nvPr/>
        </p:nvSpPr>
        <p:spPr>
          <a:xfrm>
            <a:off x="14838325" y="4004545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2"/>
          <p:cNvSpPr txBox="1"/>
          <p:nvPr/>
        </p:nvSpPr>
        <p:spPr>
          <a:xfrm>
            <a:off x="1016000" y="3980733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اكتب الاسم أو المصطلح العلمي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2"/>
          <p:cNvSpPr txBox="1"/>
          <p:nvPr/>
        </p:nvSpPr>
        <p:spPr>
          <a:xfrm>
            <a:off x="1016000" y="4361733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الخواص التي تتأثر بعدد جزيئات المذاب بالنسبة إلى عدد جزيئات المذيب ولا تتأثر بنوعها.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2"/>
          <p:cNvSpPr/>
          <p:nvPr/>
        </p:nvSpPr>
        <p:spPr>
          <a:xfrm>
            <a:off x="10166645" y="4961091"/>
            <a:ext cx="4506284" cy="571500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الخواص المجمعة للمحاليل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Card 3"/>
          <p:cNvSpPr/>
          <p:nvPr/>
        </p:nvSpPr>
        <p:spPr>
          <a:xfrm>
            <a:off x="708837" y="6175528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24" name="Number 3"/>
          <p:cNvSpPr/>
          <p:nvPr/>
        </p:nvSpPr>
        <p:spPr>
          <a:xfrm>
            <a:off x="14838325" y="6366028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Tag 3"/>
          <p:cNvSpPr txBox="1"/>
          <p:nvPr/>
        </p:nvSpPr>
        <p:spPr>
          <a:xfrm>
            <a:off x="1016000" y="6342216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اكتب الاسم أو المصطلح العلمي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Question 3"/>
          <p:cNvSpPr txBox="1"/>
          <p:nvPr/>
        </p:nvSpPr>
        <p:spPr>
          <a:xfrm>
            <a:off x="1016000" y="6723216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ضغط البخار على السائل عند حدوث حالة اتزان بين السائل وبخاره عند درجة حرارة معينة.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Answer 3"/>
          <p:cNvSpPr/>
          <p:nvPr/>
        </p:nvSpPr>
        <p:spPr>
          <a:xfrm>
            <a:off x="11754699" y="7322574"/>
            <a:ext cx="2918231" cy="571500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الضغط البخاري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48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17" grpId="0" animBg="1"/>
      <p:bldP spid="22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أسئلة: الانخفاض في الضغط البخاري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الأولى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4"/>
          <p:cNvSpPr/>
          <p:nvPr/>
        </p:nvSpPr>
        <p:spPr>
          <a:xfrm>
            <a:off x="708837" y="1452562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4"/>
          <p:cNvSpPr/>
          <p:nvPr/>
        </p:nvSpPr>
        <p:spPr>
          <a:xfrm>
            <a:off x="14838325" y="1643062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4"/>
          <p:cNvSpPr txBox="1"/>
          <p:nvPr/>
        </p:nvSpPr>
        <p:spPr>
          <a:xfrm>
            <a:off x="1016000" y="161925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4"/>
          <p:cNvSpPr txBox="1"/>
          <p:nvPr/>
        </p:nvSpPr>
        <p:spPr>
          <a:xfrm>
            <a:off x="1016000" y="2000250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الخواص المجمعة للمحاليل تعتمد على ............ في كمية معينة من المذيب.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4"/>
          <p:cNvSpPr/>
          <p:nvPr/>
        </p:nvSpPr>
        <p:spPr>
          <a:xfrm>
            <a:off x="10979223" y="2599608"/>
            <a:ext cx="3693706" cy="571499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عدد جسيمات المذاب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5"/>
          <p:cNvSpPr/>
          <p:nvPr/>
        </p:nvSpPr>
        <p:spPr>
          <a:xfrm>
            <a:off x="708837" y="3814045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5"/>
          <p:cNvSpPr/>
          <p:nvPr/>
        </p:nvSpPr>
        <p:spPr>
          <a:xfrm>
            <a:off x="14838325" y="4004545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5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5"/>
          <p:cNvSpPr txBox="1"/>
          <p:nvPr/>
        </p:nvSpPr>
        <p:spPr>
          <a:xfrm>
            <a:off x="1016000" y="3980733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5"/>
          <p:cNvSpPr txBox="1"/>
          <p:nvPr/>
        </p:nvSpPr>
        <p:spPr>
          <a:xfrm>
            <a:off x="1016000" y="4361733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الضغط البخاري للماء النقي ............ الضغط البخاري لمحلول الجلوكوز.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5"/>
          <p:cNvSpPr/>
          <p:nvPr/>
        </p:nvSpPr>
        <p:spPr>
          <a:xfrm>
            <a:off x="12854504" y="4961091"/>
            <a:ext cx="1818425" cy="571500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أكبر من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Card 6"/>
          <p:cNvSpPr/>
          <p:nvPr/>
        </p:nvSpPr>
        <p:spPr>
          <a:xfrm>
            <a:off x="708837" y="6175528"/>
            <a:ext cx="14838325" cy="2004295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24" name="Number 6"/>
          <p:cNvSpPr/>
          <p:nvPr/>
        </p:nvSpPr>
        <p:spPr>
          <a:xfrm>
            <a:off x="14838325" y="6366028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6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Tag 6"/>
          <p:cNvSpPr txBox="1"/>
          <p:nvPr/>
        </p:nvSpPr>
        <p:spPr>
          <a:xfrm>
            <a:off x="1016000" y="6342216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اختر الإجابة الصحيحة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Question 6"/>
          <p:cNvSpPr txBox="1"/>
          <p:nvPr/>
        </p:nvSpPr>
        <p:spPr>
          <a:xfrm>
            <a:off x="1016000" y="6723216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أحد التراكيز المولالية التالية لمحاليل السكر في الماء يكون له أقل ضغط بخاري: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Option 6.1"/>
          <p:cNvSpPr/>
          <p:nvPr/>
        </p:nvSpPr>
        <p:spPr>
          <a:xfrm>
            <a:off x="11400465" y="7322574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0.1 m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8" name="Option 6.2"/>
          <p:cNvSpPr/>
          <p:nvPr/>
        </p:nvSpPr>
        <p:spPr>
          <a:xfrm>
            <a:off x="7938976" y="7322574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0.2 m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9" name="Option 6.3"/>
          <p:cNvSpPr/>
          <p:nvPr/>
        </p:nvSpPr>
        <p:spPr>
          <a:xfrm>
            <a:off x="4477488" y="7322574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0.3 m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0" name="Option 6.4"/>
          <p:cNvSpPr/>
          <p:nvPr/>
        </p:nvSpPr>
        <p:spPr>
          <a:xfrm>
            <a:off x="1016000" y="7322574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0.4 m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1" name="Correct 6"/>
          <p:cNvSpPr/>
          <p:nvPr/>
        </p:nvSpPr>
        <p:spPr>
          <a:xfrm>
            <a:off x="1016000" y="7322574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2E8B57">
              <a:alpha val="20000"/>
            </a:srgbClr>
          </a:solidFill>
          <a:ln w="31750" cap="rnd">
            <a:solidFill>
              <a:srgbClr val="2E8B57">
                <a:alpha val="100000"/>
              </a:srgbClr>
            </a:solidFill>
            <a:round/>
          </a:ln>
        </p:spPr>
        <p:txBody>
          <a:bodyPr wrap="square" lIns="0" tIns="0" rIns="165395" bIns="0" rtlCol="0" anchor="ctr">
            <a:noAutofit/>
          </a:bodyPr>
          <a:lstStyle/>
          <a:p>
            <a:pPr algn="r" rtl="0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E8B57"/>
                </a:solidFill>
                <a:latin typeface="Tahoma"/>
                <a:ea typeface="Tahoma"/>
                <a:cs typeface="Tahoma"/>
              </a:rPr>
              <a:t>✓</a:t>
            </a:r>
            <a:endParaRPr lang="ar-SA" sz="2400" b="1" i="0" dirty="0">
              <a:solidFill>
                <a:srgbClr val="2E8B57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48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7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4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17" grpId="0" animBg="1"/>
      <p:bldP spid="22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أسئلة: الانخفاض في الضغط البخاري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الأولى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7"/>
          <p:cNvSpPr/>
          <p:nvPr/>
        </p:nvSpPr>
        <p:spPr>
          <a:xfrm>
            <a:off x="708837" y="1452562"/>
            <a:ext cx="14838325" cy="2839611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7"/>
          <p:cNvSpPr/>
          <p:nvPr/>
        </p:nvSpPr>
        <p:spPr>
          <a:xfrm>
            <a:off x="14838325" y="1643062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7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7"/>
          <p:cNvSpPr txBox="1"/>
          <p:nvPr/>
        </p:nvSpPr>
        <p:spPr>
          <a:xfrm>
            <a:off x="1016000" y="161925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علّل (فسّر) ما يلي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7"/>
          <p:cNvSpPr txBox="1"/>
          <p:nvPr/>
        </p:nvSpPr>
        <p:spPr>
          <a:xfrm>
            <a:off x="1016000" y="2000250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عند إذابة مادة غير متطايرة وغير إلكتروليتية في مذيب سائل يقل الضغط البخاري للمحلول الناتج عن الضغط البخاري للسائل النقي.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7"/>
          <p:cNvSpPr/>
          <p:nvPr/>
        </p:nvSpPr>
        <p:spPr>
          <a:xfrm>
            <a:off x="1016000" y="3008466"/>
            <a:ext cx="13656930" cy="1045582"/>
          </a:xfrm>
          <a:prstGeom prst="roundRect">
            <a:avLst>
              <a:gd name="adj" fmla="val 9000"/>
            </a:avLst>
          </a:prstGeom>
          <a:solidFill>
            <a:srgbClr val="A86A12">
              <a:alpha val="10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212651" tIns="118139" rIns="212651" bIns="118139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3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التفسير:</a:t>
            </a:r>
            <a:r>
              <a:rPr lang="ar-SA" sz="23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لأن بعض جسيمات المذاب تحل محل بعض جزيئات المذيب الموجودة على سطح المحلول، وبالتالي يقل عدد جزيئات المذيب التي يمكنها الانطلاق إلى الحالة الغازية.</a:t>
            </a:r>
            <a:endParaRPr lang="ar-SA" sz="23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8"/>
          <p:cNvSpPr/>
          <p:nvPr/>
        </p:nvSpPr>
        <p:spPr>
          <a:xfrm>
            <a:off x="708837" y="4696986"/>
            <a:ext cx="14838325" cy="2839611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8"/>
          <p:cNvSpPr/>
          <p:nvPr/>
        </p:nvSpPr>
        <p:spPr>
          <a:xfrm>
            <a:off x="14838325" y="4887486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8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8"/>
          <p:cNvSpPr txBox="1"/>
          <p:nvPr/>
        </p:nvSpPr>
        <p:spPr>
          <a:xfrm>
            <a:off x="1016000" y="4863673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علّل (فسّر) ما يلي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8"/>
          <p:cNvSpPr txBox="1"/>
          <p:nvPr/>
        </p:nvSpPr>
        <p:spPr>
          <a:xfrm>
            <a:off x="1016000" y="5244673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الضغط البخاري لمحلول السكر في الماء الذي تركيزه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(1 m)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يساوي الضغط البخاري لمحلول اليوريا في الماء الذي تركيزه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(1 m)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8"/>
          <p:cNvSpPr/>
          <p:nvPr/>
        </p:nvSpPr>
        <p:spPr>
          <a:xfrm>
            <a:off x="1016000" y="6252890"/>
            <a:ext cx="13656930" cy="1045582"/>
          </a:xfrm>
          <a:prstGeom prst="roundRect">
            <a:avLst>
              <a:gd name="adj" fmla="val 9000"/>
            </a:avLst>
          </a:prstGeom>
          <a:solidFill>
            <a:srgbClr val="A86A12">
              <a:alpha val="10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212651" tIns="118139" rIns="212651" bIns="118139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3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التفسير:</a:t>
            </a:r>
            <a:r>
              <a:rPr lang="ar-SA" sz="23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لأن كليهما من المركبات غير الإلكتروليتية وغير المتطايرة وتركيزهما متساوٍ، ولأن الضغط البخاري لا يعتمد على نوع المذاب وإنما يعتمد على عدد جسيماته (تركيزه) في المحلول.</a:t>
            </a:r>
            <a:endParaRPr lang="ar-SA" sz="23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17" grpId="0" animBg="1"/>
      <p:bldP spid="2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أسئلة: الانخفاض في الضغط البخاري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الأولى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9"/>
          <p:cNvSpPr/>
          <p:nvPr/>
        </p:nvSpPr>
        <p:spPr>
          <a:xfrm>
            <a:off x="708837" y="2309812"/>
            <a:ext cx="14838325" cy="3326683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9"/>
          <p:cNvSpPr/>
          <p:nvPr/>
        </p:nvSpPr>
        <p:spPr>
          <a:xfrm>
            <a:off x="14838325" y="2500312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9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9"/>
          <p:cNvSpPr txBox="1"/>
          <p:nvPr/>
        </p:nvSpPr>
        <p:spPr>
          <a:xfrm>
            <a:off x="1016000" y="247650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ماذا يحدث في الحالة التالية مع التفسير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9"/>
          <p:cNvSpPr txBox="1"/>
          <p:nvPr/>
        </p:nvSpPr>
        <p:spPr>
          <a:xfrm>
            <a:off x="1016000" y="2857500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ماذا يحدث للضغط البخاري للماء النقي عند إذابة مادة غير متطايرة وغير إلكتروليتية فيه وتكوين محلول؟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9"/>
          <p:cNvSpPr/>
          <p:nvPr/>
        </p:nvSpPr>
        <p:spPr>
          <a:xfrm>
            <a:off x="1016000" y="3865716"/>
            <a:ext cx="13656930" cy="1532654"/>
          </a:xfrm>
          <a:prstGeom prst="roundRect">
            <a:avLst>
              <a:gd name="adj" fmla="val 9000"/>
            </a:avLst>
          </a:prstGeom>
          <a:solidFill>
            <a:srgbClr val="A86A12">
              <a:alpha val="10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212651" tIns="118139" rIns="212651" bIns="118139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3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الحدث:</a:t>
            </a:r>
            <a:r>
              <a:rPr lang="ar-SA" sz="23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يقل الضغط البخاري للمحلول عن الضغط البخاري للماء النقي.</a:t>
            </a:r>
            <a:endParaRPr lang="ar-SA" sz="23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10000"/>
              </a:lnSpc>
              <a:spcBef>
                <a:spcPts val="800"/>
              </a:spcBef>
              <a:buNone/>
            </a:pPr>
            <a:r>
              <a:rPr lang="ar-SA" sz="23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التفسير:</a:t>
            </a:r>
            <a:r>
              <a:rPr lang="ar-SA" sz="23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لأن بعض جسيمات المذاب (غير المتطايرة) تحل محل بعض الجزيئات السطحية للماء النقي، فيقل عدد جزيئات الماء التي يمكنها الانطلاق إلى الحالة الغازية.</a:t>
            </a:r>
            <a:endParaRPr lang="ar-SA" sz="23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Divider card"/>
          <p:cNvSpPr/>
          <p:nvPr/>
        </p:nvSpPr>
        <p:spPr>
          <a:xfrm>
            <a:off x="3520558" y="2500312"/>
            <a:ext cx="9214883" cy="4167187"/>
          </a:xfrm>
          <a:prstGeom prst="roundRect">
            <a:avLst>
              <a:gd name="adj" fmla="val 8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2" name="Chip"/>
          <p:cNvSpPr/>
          <p:nvPr/>
        </p:nvSpPr>
        <p:spPr>
          <a:xfrm>
            <a:off x="6355906" y="2976562"/>
            <a:ext cx="3544186" cy="476250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بنك الأسئلة • الحصة الثانية</a:t>
            </a:r>
            <a:endParaRPr lang="ar-SA" sz="16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Title"/>
          <p:cNvSpPr txBox="1"/>
          <p:nvPr/>
        </p:nvSpPr>
        <p:spPr>
          <a:xfrm>
            <a:off x="3756837" y="3786187"/>
            <a:ext cx="8742325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4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الارتفاع في درجة الغليان</a:t>
            </a:r>
            <a:endParaRPr lang="ar-SA" sz="4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Subtitle"/>
          <p:cNvSpPr txBox="1"/>
          <p:nvPr/>
        </p:nvSpPr>
        <p:spPr>
          <a:xfrm>
            <a:off x="3756837" y="5238750"/>
            <a:ext cx="8742325" cy="714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5D6570"/>
                </a:solidFill>
                <a:latin typeface="Tahoma"/>
                <a:ea typeface="Tahoma"/>
                <a:cs typeface="Tahoma"/>
              </a:rPr>
              <a:t>اختبر فهمك: السؤال أولاً، ثم اضغط لإظهار الإجابة</a:t>
            </a:r>
            <a:endParaRPr lang="ar-SA" sz="2100" b="1" i="0" dirty="0">
              <a:solidFill>
                <a:srgbClr val="5D657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6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7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3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أسئلة: الارتفاع في درجة الغليان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الثانية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1"/>
          <p:cNvSpPr/>
          <p:nvPr/>
        </p:nvSpPr>
        <p:spPr>
          <a:xfrm>
            <a:off x="708837" y="1328442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1"/>
          <p:cNvSpPr/>
          <p:nvPr/>
        </p:nvSpPr>
        <p:spPr>
          <a:xfrm>
            <a:off x="14838325" y="1518942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1"/>
          <p:cNvSpPr txBox="1"/>
          <p:nvPr/>
        </p:nvSpPr>
        <p:spPr>
          <a:xfrm>
            <a:off x="1016000" y="149513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اكتب الاسم أو المصطلح العلمي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1"/>
          <p:cNvSpPr txBox="1"/>
          <p:nvPr/>
        </p:nvSpPr>
        <p:spPr>
          <a:xfrm>
            <a:off x="1016000" y="1876130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التغير في درجة غليان محلول تركيزه المولالي واحد لمذاب جزيئي غير متطاير.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1"/>
          <p:cNvSpPr/>
          <p:nvPr/>
        </p:nvSpPr>
        <p:spPr>
          <a:xfrm>
            <a:off x="9506171" y="2475488"/>
            <a:ext cx="5166758" cy="571500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 xml:space="preserve">ثابت الغليان المولالي 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(K</a:t>
            </a:r>
            <a:r>
              <a:rPr lang="ar-SA" sz="2400" b="1" i="0" dirty="0" baseline="-2500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)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2"/>
          <p:cNvSpPr/>
          <p:nvPr/>
        </p:nvSpPr>
        <p:spPr>
          <a:xfrm>
            <a:off x="708837" y="3565806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2"/>
          <p:cNvSpPr/>
          <p:nvPr/>
        </p:nvSpPr>
        <p:spPr>
          <a:xfrm>
            <a:off x="14838325" y="3756306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2"/>
          <p:cNvSpPr txBox="1"/>
          <p:nvPr/>
        </p:nvSpPr>
        <p:spPr>
          <a:xfrm>
            <a:off x="1016000" y="3732493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ضع كلمة (صحيحة) أو (خطأ)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2"/>
          <p:cNvSpPr txBox="1"/>
          <p:nvPr/>
        </p:nvSpPr>
        <p:spPr>
          <a:xfrm>
            <a:off x="1016000" y="4113493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عند إذابة مذاب جزيئي غير متطاير في ماء نقي فإن مقدار الانخفاض في الضغط البخاري للمحلول يتناسب طردياً مع مقدار الارتفاع في درجة غليان المحلول.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2"/>
          <p:cNvSpPr/>
          <p:nvPr/>
        </p:nvSpPr>
        <p:spPr>
          <a:xfrm>
            <a:off x="12563031" y="5121710"/>
            <a:ext cx="2109898" cy="571500"/>
          </a:xfrm>
          <a:prstGeom prst="roundRect">
            <a:avLst>
              <a:gd name="adj" fmla="val 50000"/>
            </a:avLst>
          </a:prstGeom>
          <a:solidFill>
            <a:srgbClr val="2E8B57">
              <a:alpha val="14000"/>
            </a:srgbClr>
          </a:solidFill>
          <a:ln w="15875" cap="rnd">
            <a:solidFill>
              <a:srgbClr val="2E8B57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E8B57"/>
                </a:solidFill>
                <a:latin typeface="Tahoma"/>
                <a:ea typeface="Tahoma"/>
                <a:cs typeface="Tahoma"/>
              </a:rPr>
              <a:t>صحيحة ✓</a:t>
            </a:r>
            <a:endParaRPr lang="ar-SA" sz="2400" b="1" i="0" dirty="0">
              <a:solidFill>
                <a:srgbClr val="2E8B57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Card 3"/>
          <p:cNvSpPr/>
          <p:nvPr/>
        </p:nvSpPr>
        <p:spPr>
          <a:xfrm>
            <a:off x="708837" y="6212028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24" name="Number 3"/>
          <p:cNvSpPr/>
          <p:nvPr/>
        </p:nvSpPr>
        <p:spPr>
          <a:xfrm>
            <a:off x="14838325" y="6402528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Tag 3"/>
          <p:cNvSpPr txBox="1"/>
          <p:nvPr/>
        </p:nvSpPr>
        <p:spPr>
          <a:xfrm>
            <a:off x="1016000" y="6378715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Question 3"/>
          <p:cNvSpPr txBox="1"/>
          <p:nvPr/>
        </p:nvSpPr>
        <p:spPr>
          <a:xfrm>
            <a:off x="1016000" y="6759715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درجة غليان الماء النقي ............ درجة غليان المحلول المائي لأي مادة غير إلكتروليتية وغير متطايرة.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Answer 3"/>
          <p:cNvSpPr/>
          <p:nvPr/>
        </p:nvSpPr>
        <p:spPr>
          <a:xfrm>
            <a:off x="12874255" y="7767932"/>
            <a:ext cx="1798674" cy="571500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أقل من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48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17" grpId="0" animBg="1"/>
      <p:bldP spid="22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أسئلة: الارتفاع في درجة الغليان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الثانية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4"/>
          <p:cNvSpPr/>
          <p:nvPr/>
        </p:nvSpPr>
        <p:spPr>
          <a:xfrm>
            <a:off x="708837" y="1452562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4"/>
          <p:cNvSpPr/>
          <p:nvPr/>
        </p:nvSpPr>
        <p:spPr>
          <a:xfrm>
            <a:off x="14838325" y="1643062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4"/>
          <p:cNvSpPr txBox="1"/>
          <p:nvPr/>
        </p:nvSpPr>
        <p:spPr>
          <a:xfrm>
            <a:off x="1016000" y="161925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4"/>
          <p:cNvSpPr txBox="1"/>
          <p:nvPr/>
        </p:nvSpPr>
        <p:spPr>
          <a:xfrm>
            <a:off x="1016000" y="2000250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درجة غليان محلول السكروز الذي تركيزه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0.4 m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............ درجة غليان نفس المحلول الذي تركيزه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0.1 m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4"/>
          <p:cNvSpPr/>
          <p:nvPr/>
        </p:nvSpPr>
        <p:spPr>
          <a:xfrm>
            <a:off x="12854504" y="3008466"/>
            <a:ext cx="1818425" cy="571500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أكبر من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5"/>
          <p:cNvSpPr/>
          <p:nvPr/>
        </p:nvSpPr>
        <p:spPr>
          <a:xfrm>
            <a:off x="708837" y="4222903"/>
            <a:ext cx="14838325" cy="2413153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5"/>
          <p:cNvSpPr/>
          <p:nvPr/>
        </p:nvSpPr>
        <p:spPr>
          <a:xfrm>
            <a:off x="14838325" y="4413403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5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5"/>
          <p:cNvSpPr txBox="1"/>
          <p:nvPr/>
        </p:nvSpPr>
        <p:spPr>
          <a:xfrm>
            <a:off x="1016000" y="4389591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اختر الإجابة الصحيحة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5"/>
          <p:cNvSpPr txBox="1"/>
          <p:nvPr/>
        </p:nvSpPr>
        <p:spPr>
          <a:xfrm>
            <a:off x="1016000" y="4770591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مقدار الارتفاع في درجة غليان محلول مائي لليوريا يكون أكبر ما يمكن عندما يكون تركيزه المولالي أحد ما يلي: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Option 5.1"/>
          <p:cNvSpPr/>
          <p:nvPr/>
        </p:nvSpPr>
        <p:spPr>
          <a:xfrm>
            <a:off x="11400465" y="5778807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0.1 m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Option 5.2"/>
          <p:cNvSpPr/>
          <p:nvPr/>
        </p:nvSpPr>
        <p:spPr>
          <a:xfrm>
            <a:off x="7938976" y="5778807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0.2 m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4" name="Option 5.3"/>
          <p:cNvSpPr/>
          <p:nvPr/>
        </p:nvSpPr>
        <p:spPr>
          <a:xfrm>
            <a:off x="4477488" y="5778807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1 m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Option 5.4"/>
          <p:cNvSpPr/>
          <p:nvPr/>
        </p:nvSpPr>
        <p:spPr>
          <a:xfrm>
            <a:off x="1016000" y="5778807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2 m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Correct 5"/>
          <p:cNvSpPr/>
          <p:nvPr/>
        </p:nvSpPr>
        <p:spPr>
          <a:xfrm>
            <a:off x="1016000" y="5778807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2E8B57">
              <a:alpha val="20000"/>
            </a:srgbClr>
          </a:solidFill>
          <a:ln w="31750" cap="rnd">
            <a:solidFill>
              <a:srgbClr val="2E8B57">
                <a:alpha val="100000"/>
              </a:srgbClr>
            </a:solidFill>
            <a:round/>
          </a:ln>
        </p:spPr>
        <p:txBody>
          <a:bodyPr wrap="square" lIns="0" tIns="0" rIns="165395" bIns="0" rtlCol="0" anchor="ctr">
            <a:noAutofit/>
          </a:bodyPr>
          <a:lstStyle/>
          <a:p>
            <a:pPr algn="r" rtl="0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E8B57"/>
                </a:solidFill>
                <a:latin typeface="Tahoma"/>
                <a:ea typeface="Tahoma"/>
                <a:cs typeface="Tahoma"/>
              </a:rPr>
              <a:t>✓</a:t>
            </a:r>
            <a:endParaRPr lang="ar-SA" sz="2400" b="1" i="0" dirty="0">
              <a:solidFill>
                <a:srgbClr val="2E8B57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17" grpId="0" animBg="1"/>
      <p:bldP spid="2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أسئلة: الارتفاع في درجة الغليان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الثانية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6"/>
          <p:cNvSpPr/>
          <p:nvPr/>
        </p:nvSpPr>
        <p:spPr>
          <a:xfrm>
            <a:off x="708837" y="1452562"/>
            <a:ext cx="14838325" cy="2413153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6"/>
          <p:cNvSpPr/>
          <p:nvPr/>
        </p:nvSpPr>
        <p:spPr>
          <a:xfrm>
            <a:off x="14838325" y="1643062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6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6"/>
          <p:cNvSpPr txBox="1"/>
          <p:nvPr/>
        </p:nvSpPr>
        <p:spPr>
          <a:xfrm>
            <a:off x="1016000" y="161925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اختر الإجابة الصحيحة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6"/>
          <p:cNvSpPr txBox="1"/>
          <p:nvPr/>
        </p:nvSpPr>
        <p:spPr>
          <a:xfrm>
            <a:off x="1016000" y="2000250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محلول المادة غير الإلكتروليتية وغير المتطايرة الذي له أعلى درجة غليان هو الذي يكون تركيزه المولالي أحد ما يلي: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Option 6.1"/>
          <p:cNvSpPr/>
          <p:nvPr/>
        </p:nvSpPr>
        <p:spPr>
          <a:xfrm>
            <a:off x="11400465" y="3008466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2 m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orrect 6"/>
          <p:cNvSpPr/>
          <p:nvPr/>
        </p:nvSpPr>
        <p:spPr>
          <a:xfrm>
            <a:off x="11400465" y="3008466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2E8B57">
              <a:alpha val="20000"/>
            </a:srgbClr>
          </a:solidFill>
          <a:ln w="31750" cap="rnd">
            <a:solidFill>
              <a:srgbClr val="2E8B57">
                <a:alpha val="100000"/>
              </a:srgbClr>
            </a:solidFill>
            <a:round/>
          </a:ln>
        </p:spPr>
        <p:txBody>
          <a:bodyPr wrap="square" lIns="0" tIns="0" rIns="165395" bIns="0" rtlCol="0" anchor="ctr">
            <a:noAutofit/>
          </a:bodyPr>
          <a:lstStyle/>
          <a:p>
            <a:pPr algn="r" rtl="0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E8B57"/>
                </a:solidFill>
                <a:latin typeface="Tahoma"/>
                <a:ea typeface="Tahoma"/>
                <a:cs typeface="Tahoma"/>
              </a:rPr>
              <a:t>✓</a:t>
            </a:r>
            <a:endParaRPr lang="ar-SA" sz="2400" b="1" i="0" dirty="0">
              <a:solidFill>
                <a:srgbClr val="2E8B57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Option 6.2"/>
          <p:cNvSpPr/>
          <p:nvPr/>
        </p:nvSpPr>
        <p:spPr>
          <a:xfrm>
            <a:off x="7938976" y="3008466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1 m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Option 6.3"/>
          <p:cNvSpPr/>
          <p:nvPr/>
        </p:nvSpPr>
        <p:spPr>
          <a:xfrm>
            <a:off x="4477488" y="3008466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0.2 m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Option 6.4"/>
          <p:cNvSpPr/>
          <p:nvPr/>
        </p:nvSpPr>
        <p:spPr>
          <a:xfrm>
            <a:off x="1016000" y="3008466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0.1 m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Card 7"/>
          <p:cNvSpPr/>
          <p:nvPr/>
        </p:nvSpPr>
        <p:spPr>
          <a:xfrm>
            <a:off x="708837" y="4270528"/>
            <a:ext cx="14838325" cy="2413153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23" name="Number 7"/>
          <p:cNvSpPr/>
          <p:nvPr/>
        </p:nvSpPr>
        <p:spPr>
          <a:xfrm>
            <a:off x="14838325" y="4461028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7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4" name="Tag 7"/>
          <p:cNvSpPr txBox="1"/>
          <p:nvPr/>
        </p:nvSpPr>
        <p:spPr>
          <a:xfrm>
            <a:off x="1016000" y="4437216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اختر الإجابة الصحيحة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Question 7"/>
          <p:cNvSpPr txBox="1"/>
          <p:nvPr/>
        </p:nvSpPr>
        <p:spPr>
          <a:xfrm>
            <a:off x="1016000" y="4818216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درجة الحرارة السيليزية التي يغلي عندها محلول مائي للسكر تركيزه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(1 m)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إذا كان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للماء يساوي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0.512 °C/m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هي: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Option 7.1"/>
          <p:cNvSpPr/>
          <p:nvPr/>
        </p:nvSpPr>
        <p:spPr>
          <a:xfrm>
            <a:off x="11400465" y="5826432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99.488 °C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Option 7.2"/>
          <p:cNvSpPr/>
          <p:nvPr/>
        </p:nvSpPr>
        <p:spPr>
          <a:xfrm>
            <a:off x="7938976" y="5826432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100 °C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8" name="Option 7.3"/>
          <p:cNvSpPr/>
          <p:nvPr/>
        </p:nvSpPr>
        <p:spPr>
          <a:xfrm>
            <a:off x="4477488" y="5826432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100.512 °C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9" name="Correct 7"/>
          <p:cNvSpPr/>
          <p:nvPr/>
        </p:nvSpPr>
        <p:spPr>
          <a:xfrm>
            <a:off x="4477488" y="5826432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2E8B57">
              <a:alpha val="20000"/>
            </a:srgbClr>
          </a:solidFill>
          <a:ln w="31750" cap="rnd">
            <a:solidFill>
              <a:srgbClr val="2E8B57">
                <a:alpha val="100000"/>
              </a:srgbClr>
            </a:solidFill>
            <a:round/>
          </a:ln>
        </p:spPr>
        <p:txBody>
          <a:bodyPr wrap="square" lIns="0" tIns="0" rIns="165395" bIns="0" rtlCol="0" anchor="ctr">
            <a:noAutofit/>
          </a:bodyPr>
          <a:lstStyle/>
          <a:p>
            <a:pPr algn="r" rtl="0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E8B57"/>
                </a:solidFill>
                <a:latin typeface="Tahoma"/>
                <a:ea typeface="Tahoma"/>
                <a:cs typeface="Tahoma"/>
              </a:rPr>
              <a:t>✓</a:t>
            </a:r>
            <a:endParaRPr lang="ar-SA" sz="2400" b="1" i="0" dirty="0">
              <a:solidFill>
                <a:srgbClr val="2E8B57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0" name="Option 7.4"/>
          <p:cNvSpPr/>
          <p:nvPr/>
        </p:nvSpPr>
        <p:spPr>
          <a:xfrm>
            <a:off x="1016000" y="5826432"/>
            <a:ext cx="3272465" cy="619125"/>
          </a:xfrm>
          <a:prstGeom prst="roundRect">
            <a:avLst>
              <a:gd name="adj" fmla="val 30000"/>
            </a:avLst>
          </a:prstGeom>
          <a:solidFill>
            <a:srgbClr val="FFFFFF">
              <a:alpha val="92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101 °C</a:t>
            </a:r>
            <a:endParaRPr lang="ar-SA" sz="22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97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4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0" grpId="0" animBg="1"/>
      <p:bldP spid="1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أسئلة: الارتفاع في درجة الغليان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الثانية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8"/>
          <p:cNvSpPr/>
          <p:nvPr/>
        </p:nvSpPr>
        <p:spPr>
          <a:xfrm>
            <a:off x="708837" y="1452562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8"/>
          <p:cNvSpPr/>
          <p:nvPr/>
        </p:nvSpPr>
        <p:spPr>
          <a:xfrm>
            <a:off x="14838325" y="1643062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8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8"/>
          <p:cNvSpPr txBox="1"/>
          <p:nvPr/>
        </p:nvSpPr>
        <p:spPr>
          <a:xfrm>
            <a:off x="1016000" y="161925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8"/>
          <p:cNvSpPr txBox="1"/>
          <p:nvPr/>
        </p:nvSpPr>
        <p:spPr>
          <a:xfrm>
            <a:off x="1016000" y="2000250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إذا كان ثابت الغليان للماء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يساوي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(0.512 °C kg/mol)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وكانت درجة غليان محلول مائي لمادة غير إلكتروليتية تساوي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100.256 °C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فإن تركيز المحلول يساوي ............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8"/>
          <p:cNvSpPr/>
          <p:nvPr/>
        </p:nvSpPr>
        <p:spPr>
          <a:xfrm>
            <a:off x="13140992" y="3008466"/>
            <a:ext cx="1531937" cy="571500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0.5 m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9"/>
          <p:cNvSpPr/>
          <p:nvPr/>
        </p:nvSpPr>
        <p:spPr>
          <a:xfrm>
            <a:off x="708837" y="4222903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9"/>
          <p:cNvSpPr/>
          <p:nvPr/>
        </p:nvSpPr>
        <p:spPr>
          <a:xfrm>
            <a:off x="14838325" y="4413403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9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9"/>
          <p:cNvSpPr txBox="1"/>
          <p:nvPr/>
        </p:nvSpPr>
        <p:spPr>
          <a:xfrm>
            <a:off x="1016000" y="4389591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9"/>
          <p:cNvSpPr txBox="1"/>
          <p:nvPr/>
        </p:nvSpPr>
        <p:spPr>
          <a:xfrm>
            <a:off x="1016000" y="4770591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إذا كانت قيمة ثابت الغليان للماء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(0.512 °C/m)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فإن درجة غليان محلول مادة غير إلكتروليتية وغير متطايرة في الماء تركيزه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(0.2 m)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تساوي ............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9"/>
          <p:cNvSpPr/>
          <p:nvPr/>
        </p:nvSpPr>
        <p:spPr>
          <a:xfrm>
            <a:off x="12090843" y="5778807"/>
            <a:ext cx="2582087" cy="571500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100.1024 °C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17" grpId="0" animBg="1"/>
      <p:bldP spid="2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أسئلة: الارتفاع في درجة الغليان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الثانية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Graph card"/>
          <p:cNvSpPr/>
          <p:nvPr/>
        </p:nvSpPr>
        <p:spPr>
          <a:xfrm>
            <a:off x="708837" y="1238250"/>
            <a:ext cx="7560930" cy="7429500"/>
          </a:xfrm>
          <a:prstGeom prst="roundRect">
            <a:avLst>
              <a:gd name="adj" fmla="val 5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Axes"/>
          <p:cNvSpPr/>
          <p:nvPr/>
        </p:nvSpPr>
        <p:spPr>
          <a:xfrm>
            <a:off x="1772093" y="1666875"/>
            <a:ext cx="5907094" cy="5715119"/>
          </a:xfrm>
          <a:custGeom>
            <a:avLst/>
            <a:gdLst/>
            <a:ahLst/>
            <a:cxnLst/>
            <a:rect l="0" t="0" r="r" b="b"/>
            <a:pathLst>
              <a:path w="5907094" h="5715119" fill="none">
                <a:moveTo>
                  <a:pt x="0" y="0"/>
                </a:moveTo>
                <a:lnTo>
                  <a:pt x="0" y="5715000"/>
                </a:lnTo>
                <a:lnTo>
                  <a:pt x="5906976" y="5715000"/>
                </a:lnTo>
              </a:path>
            </a:pathLst>
          </a:custGeom>
          <a:noFill/>
          <a:ln w="22225" cap="rnd">
            <a:solidFill>
              <a:srgbClr val="6B7380">
                <a:alpha val="10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5" name="1 atm line"/>
          <p:cNvSpPr/>
          <p:nvPr/>
        </p:nvSpPr>
        <p:spPr>
          <a:xfrm>
            <a:off x="1772093" y="3236736"/>
            <a:ext cx="5788955" cy="119"/>
          </a:xfrm>
          <a:custGeom>
            <a:avLst/>
            <a:gdLst/>
            <a:ahLst/>
            <a:cxnLst/>
            <a:rect l="0" t="0" r="r" b="b"/>
            <a:pathLst>
              <a:path w="5788955" h="119" fill="none">
                <a:moveTo>
                  <a:pt x="0" y="0"/>
                </a:moveTo>
                <a:lnTo>
                  <a:pt x="5788837" y="0"/>
                </a:lnTo>
              </a:path>
            </a:pathLst>
          </a:custGeom>
          <a:noFill/>
          <a:ln w="15875" cap="rnd">
            <a:solidFill>
              <a:srgbClr val="6B7380">
                <a:alpha val="70000"/>
              </a:srgbClr>
            </a:solidFill>
            <a:prstDash val="dash"/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6" name="Curve A"/>
          <p:cNvSpPr/>
          <p:nvPr/>
        </p:nvSpPr>
        <p:spPr>
          <a:xfrm>
            <a:off x="1091053" y="1828330"/>
            <a:ext cx="3303160" cy="4927449"/>
          </a:xfrm>
          <a:custGeom>
            <a:avLst/>
            <a:gdLst/>
            <a:ahLst/>
            <a:cxnLst/>
            <a:rect l="0" t="0" r="r" b="b"/>
            <a:pathLst>
              <a:path w="3303160" h="4927449" fill="none">
                <a:moveTo>
                  <a:pt x="0" y="4927330"/>
                </a:moveTo>
                <a:lnTo>
                  <a:pt x="84693" y="4891287"/>
                </a:lnTo>
                <a:lnTo>
                  <a:pt x="169386" y="4853169"/>
                </a:lnTo>
                <a:lnTo>
                  <a:pt x="254080" y="4812858"/>
                </a:lnTo>
                <a:lnTo>
                  <a:pt x="338773" y="4770226"/>
                </a:lnTo>
                <a:lnTo>
                  <a:pt x="423466" y="4725141"/>
                </a:lnTo>
                <a:lnTo>
                  <a:pt x="508160" y="4677461"/>
                </a:lnTo>
                <a:lnTo>
                  <a:pt x="592853" y="4627036"/>
                </a:lnTo>
                <a:lnTo>
                  <a:pt x="677547" y="4573709"/>
                </a:lnTo>
                <a:lnTo>
                  <a:pt x="762240" y="4517313"/>
                </a:lnTo>
                <a:lnTo>
                  <a:pt x="846933" y="4457670"/>
                </a:lnTo>
                <a:lnTo>
                  <a:pt x="931627" y="4394595"/>
                </a:lnTo>
                <a:lnTo>
                  <a:pt x="1016320" y="4327889"/>
                </a:lnTo>
                <a:lnTo>
                  <a:pt x="1101014" y="4257344"/>
                </a:lnTo>
                <a:lnTo>
                  <a:pt x="1185707" y="4182739"/>
                </a:lnTo>
                <a:lnTo>
                  <a:pt x="1270400" y="4103840"/>
                </a:lnTo>
                <a:lnTo>
                  <a:pt x="1355094" y="4020399"/>
                </a:lnTo>
                <a:lnTo>
                  <a:pt x="1439787" y="3932156"/>
                </a:lnTo>
                <a:lnTo>
                  <a:pt x="1524481" y="3838834"/>
                </a:lnTo>
                <a:lnTo>
                  <a:pt x="1609174" y="3740140"/>
                </a:lnTo>
                <a:lnTo>
                  <a:pt x="1693867" y="3635766"/>
                </a:lnTo>
                <a:lnTo>
                  <a:pt x="1778561" y="3525384"/>
                </a:lnTo>
                <a:lnTo>
                  <a:pt x="1863254" y="3408650"/>
                </a:lnTo>
                <a:lnTo>
                  <a:pt x="1947948" y="3285196"/>
                </a:lnTo>
                <a:lnTo>
                  <a:pt x="2032641" y="3154637"/>
                </a:lnTo>
                <a:lnTo>
                  <a:pt x="2117334" y="3016563"/>
                </a:lnTo>
                <a:lnTo>
                  <a:pt x="2202028" y="2870542"/>
                </a:lnTo>
                <a:lnTo>
                  <a:pt x="2286721" y="2716116"/>
                </a:lnTo>
                <a:lnTo>
                  <a:pt x="2371415" y="2552802"/>
                </a:lnTo>
                <a:lnTo>
                  <a:pt x="2456108" y="2380089"/>
                </a:lnTo>
                <a:lnTo>
                  <a:pt x="2540801" y="2197434"/>
                </a:lnTo>
                <a:lnTo>
                  <a:pt x="2625495" y="2004266"/>
                </a:lnTo>
                <a:lnTo>
                  <a:pt x="2710188" y="1799981"/>
                </a:lnTo>
                <a:lnTo>
                  <a:pt x="2794882" y="1583937"/>
                </a:lnTo>
                <a:lnTo>
                  <a:pt x="2879575" y="1355458"/>
                </a:lnTo>
                <a:lnTo>
                  <a:pt x="2964268" y="1113829"/>
                </a:lnTo>
                <a:lnTo>
                  <a:pt x="3048962" y="858292"/>
                </a:lnTo>
                <a:lnTo>
                  <a:pt x="3133655" y="588047"/>
                </a:lnTo>
                <a:lnTo>
                  <a:pt x="3218349" y="302248"/>
                </a:lnTo>
                <a:lnTo>
                  <a:pt x="3303042" y="0"/>
                </a:lnTo>
              </a:path>
            </a:pathLst>
          </a:custGeom>
          <a:noFill/>
          <a:ln w="31750" cap="rnd">
            <a:solidFill>
              <a:srgbClr val="2F7FC1">
                <a:alpha val="10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7" name="Guide 52"/>
          <p:cNvSpPr/>
          <p:nvPr/>
        </p:nvSpPr>
        <p:spPr>
          <a:xfrm>
            <a:off x="3951419" y="3236736"/>
            <a:ext cx="118" cy="4145257"/>
          </a:xfrm>
          <a:custGeom>
            <a:avLst/>
            <a:gdLst/>
            <a:ahLst/>
            <a:cxnLst/>
            <a:rect l="0" t="0" r="r" b="b"/>
            <a:pathLst>
              <a:path w="118" h="4145257" fill="none">
                <a:moveTo>
                  <a:pt x="0" y="0"/>
                </a:moveTo>
                <a:lnTo>
                  <a:pt x="0" y="4145138"/>
                </a:lnTo>
              </a:path>
            </a:pathLst>
          </a:custGeom>
          <a:noFill/>
          <a:ln w="12700" cap="rnd">
            <a:solidFill>
              <a:srgbClr val="6B7380">
                <a:alpha val="55000"/>
              </a:srgbClr>
            </a:solidFill>
            <a:prstDash val="sysDash"/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Label A"/>
          <p:cNvSpPr txBox="1"/>
          <p:nvPr/>
        </p:nvSpPr>
        <p:spPr>
          <a:xfrm>
            <a:off x="1197539" y="6148604"/>
            <a:ext cx="330790" cy="309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2F7FC1"/>
                </a:solidFill>
                <a:latin typeface="Tahoma"/>
                <a:ea typeface="Tahoma"/>
                <a:cs typeface="Tahoma"/>
              </a:rPr>
              <a:t>A</a:t>
            </a:r>
            <a:endParaRPr lang="ar-SA" sz="1600" b="1" i="0" dirty="0">
              <a:solidFill>
                <a:srgbClr val="2F7FC1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Tick 52"/>
          <p:cNvSpPr txBox="1"/>
          <p:nvPr/>
        </p:nvSpPr>
        <p:spPr>
          <a:xfrm>
            <a:off x="3597001" y="7453312"/>
            <a:ext cx="708837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52</a:t>
            </a:r>
            <a:endParaRPr lang="ar-SA" sz="15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Curve B"/>
          <p:cNvSpPr/>
          <p:nvPr/>
        </p:nvSpPr>
        <p:spPr>
          <a:xfrm>
            <a:off x="2453132" y="1828330"/>
            <a:ext cx="3303160" cy="4927449"/>
          </a:xfrm>
          <a:custGeom>
            <a:avLst/>
            <a:gdLst/>
            <a:ahLst/>
            <a:cxnLst/>
            <a:rect l="0" t="0" r="r" b="b"/>
            <a:pathLst>
              <a:path w="3303160" h="4927449" fill="none">
                <a:moveTo>
                  <a:pt x="0" y="4927330"/>
                </a:moveTo>
                <a:lnTo>
                  <a:pt x="84693" y="4891287"/>
                </a:lnTo>
                <a:lnTo>
                  <a:pt x="169386" y="4853169"/>
                </a:lnTo>
                <a:lnTo>
                  <a:pt x="254080" y="4812858"/>
                </a:lnTo>
                <a:lnTo>
                  <a:pt x="338773" y="4770226"/>
                </a:lnTo>
                <a:lnTo>
                  <a:pt x="423466" y="4725141"/>
                </a:lnTo>
                <a:lnTo>
                  <a:pt x="508160" y="4677461"/>
                </a:lnTo>
                <a:lnTo>
                  <a:pt x="592853" y="4627036"/>
                </a:lnTo>
                <a:lnTo>
                  <a:pt x="677547" y="4573709"/>
                </a:lnTo>
                <a:lnTo>
                  <a:pt x="762240" y="4517313"/>
                </a:lnTo>
                <a:lnTo>
                  <a:pt x="846933" y="4457670"/>
                </a:lnTo>
                <a:lnTo>
                  <a:pt x="931627" y="4394595"/>
                </a:lnTo>
                <a:lnTo>
                  <a:pt x="1016320" y="4327889"/>
                </a:lnTo>
                <a:lnTo>
                  <a:pt x="1101014" y="4257344"/>
                </a:lnTo>
                <a:lnTo>
                  <a:pt x="1185707" y="4182739"/>
                </a:lnTo>
                <a:lnTo>
                  <a:pt x="1270400" y="4103840"/>
                </a:lnTo>
                <a:lnTo>
                  <a:pt x="1355094" y="4020399"/>
                </a:lnTo>
                <a:lnTo>
                  <a:pt x="1439787" y="3932156"/>
                </a:lnTo>
                <a:lnTo>
                  <a:pt x="1524481" y="3838834"/>
                </a:lnTo>
                <a:lnTo>
                  <a:pt x="1609174" y="3740140"/>
                </a:lnTo>
                <a:lnTo>
                  <a:pt x="1693867" y="3635766"/>
                </a:lnTo>
                <a:lnTo>
                  <a:pt x="1778561" y="3525384"/>
                </a:lnTo>
                <a:lnTo>
                  <a:pt x="1863254" y="3408650"/>
                </a:lnTo>
                <a:lnTo>
                  <a:pt x="1947948" y="3285196"/>
                </a:lnTo>
                <a:lnTo>
                  <a:pt x="2032641" y="3154637"/>
                </a:lnTo>
                <a:lnTo>
                  <a:pt x="2117334" y="3016563"/>
                </a:lnTo>
                <a:lnTo>
                  <a:pt x="2202028" y="2870542"/>
                </a:lnTo>
                <a:lnTo>
                  <a:pt x="2286721" y="2716116"/>
                </a:lnTo>
                <a:lnTo>
                  <a:pt x="2371415" y="2552802"/>
                </a:lnTo>
                <a:lnTo>
                  <a:pt x="2456108" y="2380089"/>
                </a:lnTo>
                <a:lnTo>
                  <a:pt x="2540801" y="2197434"/>
                </a:lnTo>
                <a:lnTo>
                  <a:pt x="2625495" y="2004266"/>
                </a:lnTo>
                <a:lnTo>
                  <a:pt x="2710188" y="1799981"/>
                </a:lnTo>
                <a:lnTo>
                  <a:pt x="2794882" y="1583937"/>
                </a:lnTo>
                <a:lnTo>
                  <a:pt x="2879575" y="1355458"/>
                </a:lnTo>
                <a:lnTo>
                  <a:pt x="2964268" y="1113829"/>
                </a:lnTo>
                <a:lnTo>
                  <a:pt x="3048962" y="858292"/>
                </a:lnTo>
                <a:lnTo>
                  <a:pt x="3133655" y="588047"/>
                </a:lnTo>
                <a:lnTo>
                  <a:pt x="3218349" y="302248"/>
                </a:lnTo>
                <a:lnTo>
                  <a:pt x="3303042" y="0"/>
                </a:lnTo>
              </a:path>
            </a:pathLst>
          </a:custGeom>
          <a:noFill/>
          <a:ln w="31750" cap="rnd">
            <a:solidFill>
              <a:srgbClr val="A86A12">
                <a:alpha val="10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1" name="Guide 72"/>
          <p:cNvSpPr/>
          <p:nvPr/>
        </p:nvSpPr>
        <p:spPr>
          <a:xfrm>
            <a:off x="5313499" y="3236736"/>
            <a:ext cx="118" cy="4145257"/>
          </a:xfrm>
          <a:custGeom>
            <a:avLst/>
            <a:gdLst/>
            <a:ahLst/>
            <a:cxnLst/>
            <a:rect l="0" t="0" r="r" b="b"/>
            <a:pathLst>
              <a:path w="118" h="4145257" fill="none">
                <a:moveTo>
                  <a:pt x="0" y="0"/>
                </a:moveTo>
                <a:lnTo>
                  <a:pt x="0" y="4145138"/>
                </a:lnTo>
              </a:path>
            </a:pathLst>
          </a:custGeom>
          <a:noFill/>
          <a:ln w="12700" cap="rnd">
            <a:solidFill>
              <a:srgbClr val="6B7380">
                <a:alpha val="55000"/>
              </a:srgbClr>
            </a:solidFill>
            <a:prstDash val="sysDash"/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2" name="Label B"/>
          <p:cNvSpPr txBox="1"/>
          <p:nvPr/>
        </p:nvSpPr>
        <p:spPr>
          <a:xfrm>
            <a:off x="2559618" y="6148604"/>
            <a:ext cx="330790" cy="309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B</a:t>
            </a:r>
            <a:endParaRPr lang="ar-SA" sz="16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Tick 72"/>
          <p:cNvSpPr txBox="1"/>
          <p:nvPr/>
        </p:nvSpPr>
        <p:spPr>
          <a:xfrm>
            <a:off x="4959080" y="7453312"/>
            <a:ext cx="708837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72</a:t>
            </a:r>
            <a:endParaRPr lang="ar-SA" sz="15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4" name="Curve C"/>
          <p:cNvSpPr/>
          <p:nvPr/>
        </p:nvSpPr>
        <p:spPr>
          <a:xfrm>
            <a:off x="3815212" y="1828330"/>
            <a:ext cx="3303160" cy="4927449"/>
          </a:xfrm>
          <a:custGeom>
            <a:avLst/>
            <a:gdLst/>
            <a:ahLst/>
            <a:cxnLst/>
            <a:rect l="0" t="0" r="r" b="b"/>
            <a:pathLst>
              <a:path w="3303160" h="4927449" fill="none">
                <a:moveTo>
                  <a:pt x="0" y="4927330"/>
                </a:moveTo>
                <a:lnTo>
                  <a:pt x="84693" y="4891287"/>
                </a:lnTo>
                <a:lnTo>
                  <a:pt x="169386" y="4853169"/>
                </a:lnTo>
                <a:lnTo>
                  <a:pt x="254080" y="4812858"/>
                </a:lnTo>
                <a:lnTo>
                  <a:pt x="338773" y="4770226"/>
                </a:lnTo>
                <a:lnTo>
                  <a:pt x="423466" y="4725141"/>
                </a:lnTo>
                <a:lnTo>
                  <a:pt x="508160" y="4677461"/>
                </a:lnTo>
                <a:lnTo>
                  <a:pt x="592853" y="4627036"/>
                </a:lnTo>
                <a:lnTo>
                  <a:pt x="677547" y="4573709"/>
                </a:lnTo>
                <a:lnTo>
                  <a:pt x="762240" y="4517313"/>
                </a:lnTo>
                <a:lnTo>
                  <a:pt x="846933" y="4457670"/>
                </a:lnTo>
                <a:lnTo>
                  <a:pt x="931627" y="4394595"/>
                </a:lnTo>
                <a:lnTo>
                  <a:pt x="1016320" y="4327889"/>
                </a:lnTo>
                <a:lnTo>
                  <a:pt x="1101014" y="4257344"/>
                </a:lnTo>
                <a:lnTo>
                  <a:pt x="1185707" y="4182739"/>
                </a:lnTo>
                <a:lnTo>
                  <a:pt x="1270400" y="4103840"/>
                </a:lnTo>
                <a:lnTo>
                  <a:pt x="1355094" y="4020399"/>
                </a:lnTo>
                <a:lnTo>
                  <a:pt x="1439787" y="3932156"/>
                </a:lnTo>
                <a:lnTo>
                  <a:pt x="1524481" y="3838834"/>
                </a:lnTo>
                <a:lnTo>
                  <a:pt x="1609174" y="3740140"/>
                </a:lnTo>
                <a:lnTo>
                  <a:pt x="1693867" y="3635766"/>
                </a:lnTo>
                <a:lnTo>
                  <a:pt x="1778561" y="3525384"/>
                </a:lnTo>
                <a:lnTo>
                  <a:pt x="1863254" y="3408650"/>
                </a:lnTo>
                <a:lnTo>
                  <a:pt x="1947948" y="3285196"/>
                </a:lnTo>
                <a:lnTo>
                  <a:pt x="2032641" y="3154637"/>
                </a:lnTo>
                <a:lnTo>
                  <a:pt x="2117334" y="3016563"/>
                </a:lnTo>
                <a:lnTo>
                  <a:pt x="2202028" y="2870542"/>
                </a:lnTo>
                <a:lnTo>
                  <a:pt x="2286721" y="2716116"/>
                </a:lnTo>
                <a:lnTo>
                  <a:pt x="2371415" y="2552802"/>
                </a:lnTo>
                <a:lnTo>
                  <a:pt x="2456108" y="2380089"/>
                </a:lnTo>
                <a:lnTo>
                  <a:pt x="2540801" y="2197434"/>
                </a:lnTo>
                <a:lnTo>
                  <a:pt x="2625495" y="2004266"/>
                </a:lnTo>
                <a:lnTo>
                  <a:pt x="2710188" y="1799981"/>
                </a:lnTo>
                <a:lnTo>
                  <a:pt x="2794882" y="1583937"/>
                </a:lnTo>
                <a:lnTo>
                  <a:pt x="2879575" y="1355458"/>
                </a:lnTo>
                <a:lnTo>
                  <a:pt x="2964268" y="1113829"/>
                </a:lnTo>
                <a:lnTo>
                  <a:pt x="3048962" y="858292"/>
                </a:lnTo>
                <a:lnTo>
                  <a:pt x="3133655" y="588047"/>
                </a:lnTo>
                <a:lnTo>
                  <a:pt x="3218349" y="302248"/>
                </a:lnTo>
                <a:lnTo>
                  <a:pt x="3303042" y="0"/>
                </a:lnTo>
              </a:path>
            </a:pathLst>
          </a:custGeom>
          <a:noFill/>
          <a:ln w="31750" cap="rnd">
            <a:solidFill>
              <a:srgbClr val="C8453F">
                <a:alpha val="10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5" name="Guide 92"/>
          <p:cNvSpPr/>
          <p:nvPr/>
        </p:nvSpPr>
        <p:spPr>
          <a:xfrm>
            <a:off x="6675578" y="3236736"/>
            <a:ext cx="118" cy="4145257"/>
          </a:xfrm>
          <a:custGeom>
            <a:avLst/>
            <a:gdLst/>
            <a:ahLst/>
            <a:cxnLst/>
            <a:rect l="0" t="0" r="r" b="b"/>
            <a:pathLst>
              <a:path w="118" h="4145257" fill="none">
                <a:moveTo>
                  <a:pt x="0" y="0"/>
                </a:moveTo>
                <a:lnTo>
                  <a:pt x="0" y="4145138"/>
                </a:lnTo>
              </a:path>
            </a:pathLst>
          </a:custGeom>
          <a:noFill/>
          <a:ln w="12700" cap="rnd">
            <a:solidFill>
              <a:srgbClr val="6B7380">
                <a:alpha val="55000"/>
              </a:srgbClr>
            </a:solidFill>
            <a:prstDash val="sysDash"/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6" name="Label C"/>
          <p:cNvSpPr txBox="1"/>
          <p:nvPr/>
        </p:nvSpPr>
        <p:spPr>
          <a:xfrm>
            <a:off x="3921697" y="6148604"/>
            <a:ext cx="330790" cy="309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C8453F"/>
                </a:solidFill>
                <a:latin typeface="Tahoma"/>
                <a:ea typeface="Tahoma"/>
                <a:cs typeface="Tahoma"/>
              </a:rPr>
              <a:t>C</a:t>
            </a:r>
            <a:endParaRPr lang="ar-SA" sz="1600" b="1" i="0" dirty="0">
              <a:solidFill>
                <a:srgbClr val="C8453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Tick 92"/>
          <p:cNvSpPr txBox="1"/>
          <p:nvPr/>
        </p:nvSpPr>
        <p:spPr>
          <a:xfrm>
            <a:off x="6321160" y="7453312"/>
            <a:ext cx="708837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92</a:t>
            </a:r>
            <a:endParaRPr lang="ar-SA" sz="15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8" name="1 atm"/>
          <p:cNvSpPr txBox="1"/>
          <p:nvPr/>
        </p:nvSpPr>
        <p:spPr>
          <a:xfrm>
            <a:off x="921488" y="3070048"/>
            <a:ext cx="77972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0">
              <a:lnSpc>
                <a:spcPct val="110000"/>
              </a:lnSpc>
              <a:buNone/>
            </a:pPr>
            <a:r>
              <a:rPr lang="ar-SA" sz="1300" b="1" i="0" dirty="0">
                <a:solidFill>
                  <a:srgbClr val="5D6570"/>
                </a:solidFill>
                <a:latin typeface="Tahoma"/>
                <a:ea typeface="Tahoma"/>
                <a:cs typeface="Tahoma"/>
              </a:rPr>
              <a:t>1 atm</a:t>
            </a:r>
            <a:endParaRPr lang="ar-SA" sz="1300" b="1" i="0" dirty="0">
              <a:solidFill>
                <a:srgbClr val="5D657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9" name="x axis"/>
          <p:cNvSpPr txBox="1"/>
          <p:nvPr/>
        </p:nvSpPr>
        <p:spPr>
          <a:xfrm>
            <a:off x="1772093" y="7858125"/>
            <a:ext cx="578883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5D6570"/>
                </a:solidFill>
                <a:latin typeface="Tahoma"/>
                <a:ea typeface="Tahoma"/>
                <a:cs typeface="Tahoma"/>
              </a:rPr>
              <a:t xml:space="preserve">درجة الحرارة </a:t>
            </a:r>
            <a:r>
              <a:rPr lang="ar-SA" sz="1600" b="1" i="0" dirty="0">
                <a:solidFill>
                  <a:srgbClr val="5D6570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1600" b="1" i="0" dirty="0">
                <a:solidFill>
                  <a:srgbClr val="5D6570"/>
                </a:solidFill>
                <a:latin typeface="Tahoma"/>
                <a:ea typeface="Tahoma"/>
                <a:cs typeface="Tahoma"/>
              </a:rPr>
              <a:t>(°C)</a:t>
            </a:r>
            <a:r>
              <a:rPr lang="ar-SA" sz="1600" b="1" i="0" dirty="0">
                <a:solidFill>
                  <a:srgbClr val="5D6570"/>
                </a:solidFill>
                <a:latin typeface="Tahoma"/>
                <a:ea typeface="Tahoma"/>
                <a:cs typeface="Tahoma"/>
              </a:rPr>
              <a:t>‬</a:t>
            </a:r>
            <a:endParaRPr lang="ar-SA" sz="1600" b="1" i="0" dirty="0">
              <a:solidFill>
                <a:srgbClr val="5D657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0" name="y axis"/>
          <p:cNvSpPr txBox="1"/>
          <p:nvPr/>
        </p:nvSpPr>
        <p:spPr>
          <a:xfrm rot="16200000">
            <a:off x="-295348" y="4393406"/>
            <a:ext cx="3426046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5D6570"/>
                </a:solidFill>
                <a:latin typeface="Tahoma"/>
                <a:ea typeface="Tahoma"/>
                <a:cs typeface="Tahoma"/>
              </a:rPr>
              <a:t xml:space="preserve">الضغط البخاري </a:t>
            </a:r>
            <a:r>
              <a:rPr lang="ar-SA" sz="1600" b="1" i="0" dirty="0">
                <a:solidFill>
                  <a:srgbClr val="5D6570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1600" b="1" i="0" dirty="0">
                <a:solidFill>
                  <a:srgbClr val="5D6570"/>
                </a:solidFill>
                <a:latin typeface="Tahoma"/>
                <a:ea typeface="Tahoma"/>
                <a:cs typeface="Tahoma"/>
              </a:rPr>
              <a:t>(atm)</a:t>
            </a:r>
            <a:r>
              <a:rPr lang="ar-SA" sz="1600" b="1" i="0" dirty="0">
                <a:solidFill>
                  <a:srgbClr val="5D6570"/>
                </a:solidFill>
                <a:latin typeface="Tahoma"/>
                <a:ea typeface="Tahoma"/>
                <a:cs typeface="Tahoma"/>
              </a:rPr>
              <a:t>‬</a:t>
            </a:r>
            <a:endParaRPr lang="ar-SA" sz="1600" b="1" i="0" dirty="0">
              <a:solidFill>
                <a:srgbClr val="5D6570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1" name="Card 1"/>
          <p:cNvSpPr/>
          <p:nvPr/>
        </p:nvSpPr>
        <p:spPr>
          <a:xfrm>
            <a:off x="8506046" y="1238250"/>
            <a:ext cx="7041116" cy="246887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32" name="Number 1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3" name="Tag 1"/>
          <p:cNvSpPr txBox="1"/>
          <p:nvPr/>
        </p:nvSpPr>
        <p:spPr>
          <a:xfrm>
            <a:off x="8813209" y="1404937"/>
            <a:ext cx="585972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ادرس الرسم البياني المقابل ثم أكمل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4" name="Question 1"/>
          <p:cNvSpPr txBox="1"/>
          <p:nvPr/>
        </p:nvSpPr>
        <p:spPr>
          <a:xfrm>
            <a:off x="8813209" y="1785937"/>
            <a:ext cx="5859720" cy="16830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الشكل المقابل يوضح العلاقة بين الضغط البخاري لمحلول ما ذي تراكيز مختلفة ودرجة الحرارة، ومن خلال الرسم فإن: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5" name="Card 2"/>
          <p:cNvSpPr/>
          <p:nvPr/>
        </p:nvSpPr>
        <p:spPr>
          <a:xfrm>
            <a:off x="8506046" y="3897620"/>
            <a:ext cx="7041116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36" name="Number 2"/>
          <p:cNvSpPr/>
          <p:nvPr/>
        </p:nvSpPr>
        <p:spPr>
          <a:xfrm>
            <a:off x="14838325" y="4088120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7" name="Tag 2"/>
          <p:cNvSpPr txBox="1"/>
          <p:nvPr/>
        </p:nvSpPr>
        <p:spPr>
          <a:xfrm>
            <a:off x="8813209" y="4064307"/>
            <a:ext cx="585972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أكمل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8" name="Question 2"/>
          <p:cNvSpPr txBox="1"/>
          <p:nvPr/>
        </p:nvSpPr>
        <p:spPr>
          <a:xfrm>
            <a:off x="8813209" y="4445307"/>
            <a:ext cx="585972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المحلول الذي تتحول جزيئاته للحالة الغازية أولاً هو ............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9" name="Answer 2"/>
          <p:cNvSpPr/>
          <p:nvPr/>
        </p:nvSpPr>
        <p:spPr>
          <a:xfrm>
            <a:off x="13801097" y="5453524"/>
            <a:ext cx="871832" cy="571500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A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0" name="Card 3"/>
          <p:cNvSpPr/>
          <p:nvPr/>
        </p:nvSpPr>
        <p:spPr>
          <a:xfrm>
            <a:off x="8506046" y="6453649"/>
            <a:ext cx="7041116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41" name="Number 3"/>
          <p:cNvSpPr/>
          <p:nvPr/>
        </p:nvSpPr>
        <p:spPr>
          <a:xfrm>
            <a:off x="14838325" y="6644149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2" name="Tag 3"/>
          <p:cNvSpPr txBox="1"/>
          <p:nvPr/>
        </p:nvSpPr>
        <p:spPr>
          <a:xfrm>
            <a:off x="8813209" y="6620336"/>
            <a:ext cx="585972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أكمل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3" name="Question 3"/>
          <p:cNvSpPr txBox="1"/>
          <p:nvPr/>
        </p:nvSpPr>
        <p:spPr>
          <a:xfrm>
            <a:off x="8813209" y="7001336"/>
            <a:ext cx="585972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المحلول الأعلى تركيزاً من بين المحاليل هو ............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4" name="Answer 3"/>
          <p:cNvSpPr/>
          <p:nvPr/>
        </p:nvSpPr>
        <p:spPr>
          <a:xfrm>
            <a:off x="13806265" y="8009553"/>
            <a:ext cx="866664" cy="571500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C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020"/>
                            </p:stCondLst>
                            <p:childTnLst>
                              <p:par>
                                <p:cTn id="61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780"/>
                            </p:stCondLst>
                            <p:childTnLst>
                              <p:par>
                                <p:cTn id="65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440"/>
                            </p:stCondLst>
                            <p:childTnLst>
                              <p:par>
                                <p:cTn id="6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31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610"/>
                            </p:stCondLst>
                            <p:childTnLst>
                              <p:par>
                                <p:cTn id="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4120"/>
                            </p:stCondLst>
                            <p:childTnLst>
                              <p:par>
                                <p:cTn id="9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4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0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4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16" grpId="0" animBg="1"/>
      <p:bldP spid="20" grpId="0" animBg="1"/>
      <p:bldP spid="24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39" grpId="0" animBg="1"/>
      <p:bldP spid="4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مسائل على الارتفاع في درجة الغليان (1)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الثانية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1"/>
          <p:cNvSpPr/>
          <p:nvPr/>
        </p:nvSpPr>
        <p:spPr>
          <a:xfrm>
            <a:off x="708837" y="1238250"/>
            <a:ext cx="14838325" cy="1964762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1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1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1"/>
          <p:cNvSpPr txBox="1"/>
          <p:nvPr/>
        </p:nvSpPr>
        <p:spPr>
          <a:xfrm>
            <a:off x="1016000" y="1785937"/>
            <a:ext cx="13656930" cy="12741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أُذيب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(45 g)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من سكر الجلوكوز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C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6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H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12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O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6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في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(500 g)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من الماء، فإذا كان ثابت الغليان للماء يساوي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(0.512 °C kg/mol)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، احسب درجة غليان المحلول الناتج.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(C = 12 , H = 1 , O = 16)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3393512"/>
            <a:ext cx="14838325" cy="3204120"/>
          </a:xfrm>
          <a:prstGeom prst="roundRect">
            <a:avLst>
              <a:gd name="adj" fmla="val 6000"/>
            </a:avLst>
          </a:prstGeom>
          <a:solidFill>
            <a:srgbClr val="A86A12">
              <a:alpha val="6000"/>
            </a:srgbClr>
          </a:solidFill>
          <a:ln w="12700" cap="rnd">
            <a:solidFill>
              <a:srgbClr val="A86A12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536387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988824"/>
            <a:ext cx="14365767" cy="2489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(6 × 12) + (12 × 1) + (6 × 16) = 180 g/mol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n = 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/ 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45 g / 180 g/mol = 0.25 mol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 = n / kg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solvent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0.25 / 0.5 kg = 0.5 mol/kg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× m = 0.512 × 0.5 = 0.256 °C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درجة غليان المحلول‎ = 100 + 0.256 = 100.256 °C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38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84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مسائل على الارتفاع في درجة الغليان (2)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الثانية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2"/>
          <p:cNvSpPr/>
          <p:nvPr/>
        </p:nvSpPr>
        <p:spPr>
          <a:xfrm>
            <a:off x="708837" y="1238250"/>
            <a:ext cx="14838325" cy="1555903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2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2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2"/>
          <p:cNvSpPr txBox="1"/>
          <p:nvPr/>
        </p:nvSpPr>
        <p:spPr>
          <a:xfrm>
            <a:off x="1016000" y="1785937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إذا علمت أن محلول اليوريا في الماء الذي تركيزه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(0.1 mol/kg)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يغلي عند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(100.052 °C)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، فاحسب قيمة ثابت الغليان للماء.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2984653"/>
            <a:ext cx="14838325" cy="2274897"/>
          </a:xfrm>
          <a:prstGeom prst="roundRect">
            <a:avLst>
              <a:gd name="adj" fmla="val 6000"/>
            </a:avLst>
          </a:prstGeom>
          <a:solidFill>
            <a:srgbClr val="A86A12">
              <a:alpha val="6000"/>
            </a:srgbClr>
          </a:solidFill>
          <a:ln w="12700" cap="rnd">
            <a:solidFill>
              <a:srgbClr val="A86A12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127528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579966"/>
            <a:ext cx="14365767" cy="15605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100.052 − 100 = 0.052 °C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× m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0.052 / 0.1 = 0.52 °C kg/mol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Divider card"/>
          <p:cNvSpPr/>
          <p:nvPr/>
        </p:nvSpPr>
        <p:spPr>
          <a:xfrm>
            <a:off x="3520558" y="2500312"/>
            <a:ext cx="9214883" cy="4167187"/>
          </a:xfrm>
          <a:prstGeom prst="roundRect">
            <a:avLst>
              <a:gd name="adj" fmla="val 8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2" name="Chip"/>
          <p:cNvSpPr/>
          <p:nvPr/>
        </p:nvSpPr>
        <p:spPr>
          <a:xfrm>
            <a:off x="6355906" y="2976562"/>
            <a:ext cx="3544186" cy="476250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بنك الأسئلة • الحصة الثالثة</a:t>
            </a:r>
            <a:endParaRPr lang="ar-SA" sz="16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Title"/>
          <p:cNvSpPr txBox="1"/>
          <p:nvPr/>
        </p:nvSpPr>
        <p:spPr>
          <a:xfrm>
            <a:off x="3756837" y="3786187"/>
            <a:ext cx="8742325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4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الانخفاض في درجة التجمد</a:t>
            </a:r>
            <a:endParaRPr lang="ar-SA" sz="4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Subtitle"/>
          <p:cNvSpPr txBox="1"/>
          <p:nvPr/>
        </p:nvSpPr>
        <p:spPr>
          <a:xfrm>
            <a:off x="3756837" y="5238750"/>
            <a:ext cx="8742325" cy="714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5D6570"/>
                </a:solidFill>
                <a:latin typeface="Tahoma"/>
                <a:ea typeface="Tahoma"/>
                <a:cs typeface="Tahoma"/>
              </a:rPr>
              <a:t>اختبر فهمك: السؤال أولاً، ثم اضغط لإظهار الإجابة</a:t>
            </a:r>
            <a:endParaRPr lang="ar-SA" sz="2100" b="1" i="0" dirty="0">
              <a:solidFill>
                <a:srgbClr val="5D657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6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7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3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أسئلة: الانخفاض في درجة التجمد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الثالثة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1"/>
          <p:cNvSpPr/>
          <p:nvPr/>
        </p:nvSpPr>
        <p:spPr>
          <a:xfrm>
            <a:off x="708837" y="1328442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1"/>
          <p:cNvSpPr/>
          <p:nvPr/>
        </p:nvSpPr>
        <p:spPr>
          <a:xfrm>
            <a:off x="14838325" y="1518942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1"/>
          <p:cNvSpPr txBox="1"/>
          <p:nvPr/>
        </p:nvSpPr>
        <p:spPr>
          <a:xfrm>
            <a:off x="1016000" y="149513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اكتب الاسم أو المصطلح العلمي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1"/>
          <p:cNvSpPr txBox="1"/>
          <p:nvPr/>
        </p:nvSpPr>
        <p:spPr>
          <a:xfrm>
            <a:off x="1016000" y="1876130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التغير في درجة تجمد محلول تركيزه المولالي واحد لمذاب جزيئي وغير متطاير.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1"/>
          <p:cNvSpPr/>
          <p:nvPr/>
        </p:nvSpPr>
        <p:spPr>
          <a:xfrm>
            <a:off x="9655691" y="2475488"/>
            <a:ext cx="5017238" cy="571500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 xml:space="preserve">ثابت التجمد المولالي 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(K</a:t>
            </a:r>
            <a:r>
              <a:rPr lang="ar-SA" sz="2400" b="1" i="0" dirty="0" baseline="-2500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)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2"/>
          <p:cNvSpPr/>
          <p:nvPr/>
        </p:nvSpPr>
        <p:spPr>
          <a:xfrm>
            <a:off x="708837" y="3565806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2"/>
          <p:cNvSpPr/>
          <p:nvPr/>
        </p:nvSpPr>
        <p:spPr>
          <a:xfrm>
            <a:off x="14838325" y="3756306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2"/>
          <p:cNvSpPr txBox="1"/>
          <p:nvPr/>
        </p:nvSpPr>
        <p:spPr>
          <a:xfrm>
            <a:off x="1016000" y="3732493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ضع كلمة (صحيحة) أو (خطأ)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2"/>
          <p:cNvSpPr txBox="1"/>
          <p:nvPr/>
        </p:nvSpPr>
        <p:spPr>
          <a:xfrm>
            <a:off x="1016000" y="4113493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عند إذابة مذاب جزيئي غير متطاير في ماء نقي فإن مقدار الانخفاض في درجة تجمد المحلول يزداد بزيادة التركيز المولالي للمحلول.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2"/>
          <p:cNvSpPr/>
          <p:nvPr/>
        </p:nvSpPr>
        <p:spPr>
          <a:xfrm>
            <a:off x="12563031" y="5121710"/>
            <a:ext cx="2109898" cy="571500"/>
          </a:xfrm>
          <a:prstGeom prst="roundRect">
            <a:avLst>
              <a:gd name="adj" fmla="val 50000"/>
            </a:avLst>
          </a:prstGeom>
          <a:solidFill>
            <a:srgbClr val="2E8B57">
              <a:alpha val="14000"/>
            </a:srgbClr>
          </a:solidFill>
          <a:ln w="15875" cap="rnd">
            <a:solidFill>
              <a:srgbClr val="2E8B57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E8B57"/>
                </a:solidFill>
                <a:latin typeface="Tahoma"/>
                <a:ea typeface="Tahoma"/>
                <a:cs typeface="Tahoma"/>
              </a:rPr>
              <a:t>صحيحة ✓</a:t>
            </a:r>
            <a:endParaRPr lang="ar-SA" sz="2400" b="1" i="0" dirty="0">
              <a:solidFill>
                <a:srgbClr val="2E8B57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Card 3"/>
          <p:cNvSpPr/>
          <p:nvPr/>
        </p:nvSpPr>
        <p:spPr>
          <a:xfrm>
            <a:off x="708837" y="6212028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24" name="Number 3"/>
          <p:cNvSpPr/>
          <p:nvPr/>
        </p:nvSpPr>
        <p:spPr>
          <a:xfrm>
            <a:off x="14838325" y="6402528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Tag 3"/>
          <p:cNvSpPr txBox="1"/>
          <p:nvPr/>
        </p:nvSpPr>
        <p:spPr>
          <a:xfrm>
            <a:off x="1016000" y="6378715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ضع كلمة (صحيحة) أو (خطأ)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Question 3"/>
          <p:cNvSpPr txBox="1"/>
          <p:nvPr/>
        </p:nvSpPr>
        <p:spPr>
          <a:xfrm>
            <a:off x="1016000" y="6759715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عند إذابة مذاب جزيئي غير متطاير في ماء نقي فإن مقدار الانخفاض في الضغط البخاري للمحلول يتناسب طردياً مع مقدار الانخفاض في درجة تجمد المحلول.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Answer 3"/>
          <p:cNvSpPr/>
          <p:nvPr/>
        </p:nvSpPr>
        <p:spPr>
          <a:xfrm>
            <a:off x="12563031" y="7767932"/>
            <a:ext cx="2109898" cy="571500"/>
          </a:xfrm>
          <a:prstGeom prst="roundRect">
            <a:avLst>
              <a:gd name="adj" fmla="val 50000"/>
            </a:avLst>
          </a:prstGeom>
          <a:solidFill>
            <a:srgbClr val="2E8B57">
              <a:alpha val="14000"/>
            </a:srgbClr>
          </a:solidFill>
          <a:ln w="15875" cap="rnd">
            <a:solidFill>
              <a:srgbClr val="2E8B57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E8B57"/>
                </a:solidFill>
                <a:latin typeface="Tahoma"/>
                <a:ea typeface="Tahoma"/>
                <a:cs typeface="Tahoma"/>
              </a:rPr>
              <a:t>صحيحة ✓</a:t>
            </a:r>
            <a:endParaRPr lang="ar-SA" sz="2400" b="1" i="0" dirty="0">
              <a:solidFill>
                <a:srgbClr val="2E8B57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48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17" grpId="0" animBg="1"/>
      <p:bldP spid="22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أسئلة: الانخفاض في درجة التجمد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الثالثة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4"/>
          <p:cNvSpPr/>
          <p:nvPr/>
        </p:nvSpPr>
        <p:spPr>
          <a:xfrm>
            <a:off x="708837" y="1328442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4"/>
          <p:cNvSpPr/>
          <p:nvPr/>
        </p:nvSpPr>
        <p:spPr>
          <a:xfrm>
            <a:off x="14838325" y="1518942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4"/>
          <p:cNvSpPr txBox="1"/>
          <p:nvPr/>
        </p:nvSpPr>
        <p:spPr>
          <a:xfrm>
            <a:off x="1016000" y="149513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ضع كلمة (صحيحة) أو (خطأ)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4"/>
          <p:cNvSpPr txBox="1"/>
          <p:nvPr/>
        </p:nvSpPr>
        <p:spPr>
          <a:xfrm>
            <a:off x="1016000" y="1876130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مقدار الانخفاض في درجة تجمد محلول السكر الذي تركيزه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2 m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يساوي مقدار الانخفاض في درجة تجمد محلول اليوريا الذي له نفس التركيز المولالي.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4"/>
          <p:cNvSpPr/>
          <p:nvPr/>
        </p:nvSpPr>
        <p:spPr>
          <a:xfrm>
            <a:off x="12563031" y="2884346"/>
            <a:ext cx="2109898" cy="571500"/>
          </a:xfrm>
          <a:prstGeom prst="roundRect">
            <a:avLst>
              <a:gd name="adj" fmla="val 50000"/>
            </a:avLst>
          </a:prstGeom>
          <a:solidFill>
            <a:srgbClr val="2E8B57">
              <a:alpha val="14000"/>
            </a:srgbClr>
          </a:solidFill>
          <a:ln w="15875" cap="rnd">
            <a:solidFill>
              <a:srgbClr val="2E8B57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E8B57"/>
                </a:solidFill>
                <a:latin typeface="Tahoma"/>
                <a:ea typeface="Tahoma"/>
                <a:cs typeface="Tahoma"/>
              </a:rPr>
              <a:t>صحيحة ✓</a:t>
            </a:r>
            <a:endParaRPr lang="ar-SA" sz="2400" b="1" i="0" dirty="0">
              <a:solidFill>
                <a:srgbClr val="2E8B57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5"/>
          <p:cNvSpPr/>
          <p:nvPr/>
        </p:nvSpPr>
        <p:spPr>
          <a:xfrm>
            <a:off x="708837" y="3974664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5"/>
          <p:cNvSpPr/>
          <p:nvPr/>
        </p:nvSpPr>
        <p:spPr>
          <a:xfrm>
            <a:off x="14838325" y="4165164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5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5"/>
          <p:cNvSpPr txBox="1"/>
          <p:nvPr/>
        </p:nvSpPr>
        <p:spPr>
          <a:xfrm>
            <a:off x="1016000" y="4141352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ضع كلمة (صحيحة) أو (خطأ)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5"/>
          <p:cNvSpPr txBox="1"/>
          <p:nvPr/>
        </p:nvSpPr>
        <p:spPr>
          <a:xfrm>
            <a:off x="1016000" y="4522352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تضاف مادة مضادة للتجمد (جليكول الإيثيلين) إلى مبرد السيارات في المناطق المتجمدة لتجنب تجمد المياه في المبرد.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5"/>
          <p:cNvSpPr/>
          <p:nvPr/>
        </p:nvSpPr>
        <p:spPr>
          <a:xfrm>
            <a:off x="12563031" y="5530568"/>
            <a:ext cx="2109898" cy="571500"/>
          </a:xfrm>
          <a:prstGeom prst="roundRect">
            <a:avLst>
              <a:gd name="adj" fmla="val 50000"/>
            </a:avLst>
          </a:prstGeom>
          <a:solidFill>
            <a:srgbClr val="2E8B57">
              <a:alpha val="14000"/>
            </a:srgbClr>
          </a:solidFill>
          <a:ln w="15875" cap="rnd">
            <a:solidFill>
              <a:srgbClr val="2E8B57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E8B57"/>
                </a:solidFill>
                <a:latin typeface="Tahoma"/>
                <a:ea typeface="Tahoma"/>
                <a:cs typeface="Tahoma"/>
              </a:rPr>
              <a:t>صحيحة ✓</a:t>
            </a:r>
            <a:endParaRPr lang="ar-SA" sz="2400" b="1" i="0" dirty="0">
              <a:solidFill>
                <a:srgbClr val="2E8B57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Card 6"/>
          <p:cNvSpPr/>
          <p:nvPr/>
        </p:nvSpPr>
        <p:spPr>
          <a:xfrm>
            <a:off x="708837" y="6620886"/>
            <a:ext cx="14838325" cy="195667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24" name="Number 6"/>
          <p:cNvSpPr/>
          <p:nvPr/>
        </p:nvSpPr>
        <p:spPr>
          <a:xfrm>
            <a:off x="14838325" y="6811386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6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5" name="Tag 6"/>
          <p:cNvSpPr txBox="1"/>
          <p:nvPr/>
        </p:nvSpPr>
        <p:spPr>
          <a:xfrm>
            <a:off x="1016000" y="6787573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Question 6"/>
          <p:cNvSpPr txBox="1"/>
          <p:nvPr/>
        </p:nvSpPr>
        <p:spPr>
          <a:xfrm>
            <a:off x="1016000" y="7168573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درجة تجمد المحلول المائي للسكروز ............ درجة تجمد الماء النقي.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Answer 6"/>
          <p:cNvSpPr/>
          <p:nvPr/>
        </p:nvSpPr>
        <p:spPr>
          <a:xfrm>
            <a:off x="12874255" y="7767932"/>
            <a:ext cx="1798674" cy="571500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أقل من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48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4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17" grpId="0" animBg="1"/>
      <p:bldP spid="22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أسئلة: الانخفاض في درجة التجمد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الثالثة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7"/>
          <p:cNvSpPr/>
          <p:nvPr/>
        </p:nvSpPr>
        <p:spPr>
          <a:xfrm>
            <a:off x="708837" y="1452562"/>
            <a:ext cx="14838325" cy="2365528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7"/>
          <p:cNvSpPr/>
          <p:nvPr/>
        </p:nvSpPr>
        <p:spPr>
          <a:xfrm>
            <a:off x="14838325" y="1643062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7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7"/>
          <p:cNvSpPr txBox="1"/>
          <p:nvPr/>
        </p:nvSpPr>
        <p:spPr>
          <a:xfrm>
            <a:off x="1016000" y="161925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أكمل الفراغ بما يناسبه علمياً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7"/>
          <p:cNvSpPr txBox="1"/>
          <p:nvPr/>
        </p:nvSpPr>
        <p:spPr>
          <a:xfrm>
            <a:off x="1016000" y="2000250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إذا كان ثابت التجمد للماء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K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يساوي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(1.86 °C kg/mol)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فإن درجة تجمد محلول مائي للسكر تركيزه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0.1 m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تساوي ............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7"/>
          <p:cNvSpPr/>
          <p:nvPr/>
        </p:nvSpPr>
        <p:spPr>
          <a:xfrm>
            <a:off x="12426433" y="3008466"/>
            <a:ext cx="2246497" cy="571500"/>
          </a:xfrm>
          <a:prstGeom prst="roundRect">
            <a:avLst>
              <a:gd name="adj" fmla="val 50000"/>
            </a:avLst>
          </a:prstGeom>
          <a:solidFill>
            <a:srgbClr val="A86A12">
              <a:alpha val="14000"/>
            </a:srgbClr>
          </a:solidFill>
          <a:ln w="15875" cap="rnd">
            <a:solidFill>
              <a:srgbClr val="A86A12">
                <a:alpha val="85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−0.186 °C</a:t>
            </a:r>
            <a:r>
              <a:rPr lang="ar-SA" sz="2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Card 8"/>
          <p:cNvSpPr/>
          <p:nvPr/>
        </p:nvSpPr>
        <p:spPr>
          <a:xfrm>
            <a:off x="708837" y="4222903"/>
            <a:ext cx="14838325" cy="2430753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Number 8"/>
          <p:cNvSpPr/>
          <p:nvPr/>
        </p:nvSpPr>
        <p:spPr>
          <a:xfrm>
            <a:off x="14838325" y="4413403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8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Tag 8"/>
          <p:cNvSpPr txBox="1"/>
          <p:nvPr/>
        </p:nvSpPr>
        <p:spPr>
          <a:xfrm>
            <a:off x="1016000" y="4389591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علّل (فسّر) ما يلي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1" name="Question 8"/>
          <p:cNvSpPr txBox="1"/>
          <p:nvPr/>
        </p:nvSpPr>
        <p:spPr>
          <a:xfrm>
            <a:off x="1016000" y="4770591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يُضاف جليكول الإيثيلين (مادة مضادة للتجمد) إلى نظام تبريد السيارات.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Answer 8"/>
          <p:cNvSpPr/>
          <p:nvPr/>
        </p:nvSpPr>
        <p:spPr>
          <a:xfrm>
            <a:off x="1016000" y="5369949"/>
            <a:ext cx="13656930" cy="1045582"/>
          </a:xfrm>
          <a:prstGeom prst="roundRect">
            <a:avLst>
              <a:gd name="adj" fmla="val 9000"/>
            </a:avLst>
          </a:prstGeom>
          <a:solidFill>
            <a:srgbClr val="A86A12">
              <a:alpha val="10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212651" tIns="118139" rIns="212651" bIns="118139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3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التفسير:</a:t>
            </a:r>
            <a:r>
              <a:rPr lang="ar-SA" sz="23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لأنه مادة غير متطايرة وغير إلكتروليتية تعمل على خفض درجة تجمد المحلول ورفع درجة غليانه، مما يزيد من كفاءة التبريد.</a:t>
            </a:r>
            <a:endParaRPr lang="ar-SA" sz="23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17" grpId="0" animBg="1"/>
      <p:bldP spid="2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أسئلة: الانخفاض في درجة التجمد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الثالثة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9"/>
          <p:cNvSpPr/>
          <p:nvPr/>
        </p:nvSpPr>
        <p:spPr>
          <a:xfrm>
            <a:off x="708837" y="2309812"/>
            <a:ext cx="14838325" cy="2430753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9"/>
          <p:cNvSpPr/>
          <p:nvPr/>
        </p:nvSpPr>
        <p:spPr>
          <a:xfrm>
            <a:off x="14838325" y="2500312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9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9"/>
          <p:cNvSpPr txBox="1"/>
          <p:nvPr/>
        </p:nvSpPr>
        <p:spPr>
          <a:xfrm>
            <a:off x="1016000" y="2476500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علّل (فسّر) ما يلي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9"/>
          <p:cNvSpPr txBox="1"/>
          <p:nvPr/>
        </p:nvSpPr>
        <p:spPr>
          <a:xfrm>
            <a:off x="1016000" y="2857500"/>
            <a:ext cx="13656930" cy="4564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يتم رش الطرقات بالملح شتاءً في المناطق الباردة جداً.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Answer 9"/>
          <p:cNvSpPr/>
          <p:nvPr/>
        </p:nvSpPr>
        <p:spPr>
          <a:xfrm>
            <a:off x="1016000" y="3456858"/>
            <a:ext cx="13656930" cy="1045582"/>
          </a:xfrm>
          <a:prstGeom prst="roundRect">
            <a:avLst>
              <a:gd name="adj" fmla="val 9000"/>
            </a:avLst>
          </a:prstGeom>
          <a:solidFill>
            <a:srgbClr val="A86A12">
              <a:alpha val="10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212651" tIns="118139" rIns="212651" bIns="118139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3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التفسير:</a:t>
            </a:r>
            <a:r>
              <a:rPr lang="ar-SA" sz="23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لكي يمنع تكوّن الجليد عليها للحد من حوادث الطرق، حيث يعمل الملح على خفض درجة تجمد الماء.</a:t>
            </a:r>
            <a:endParaRPr lang="ar-SA" sz="23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مسائل على الانخفاض في درجة التجمد (1)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الثالثة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1"/>
          <p:cNvSpPr/>
          <p:nvPr/>
        </p:nvSpPr>
        <p:spPr>
          <a:xfrm>
            <a:off x="708837" y="1238250"/>
            <a:ext cx="14838325" cy="1964762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1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1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1"/>
          <p:cNvSpPr txBox="1"/>
          <p:nvPr/>
        </p:nvSpPr>
        <p:spPr>
          <a:xfrm>
            <a:off x="1016000" y="1785937"/>
            <a:ext cx="13656930" cy="12741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أُذيب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(2.5 g)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من مادة صلبة غير إلكتروليتية وغير متطايرة في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(72 g)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من مذيب، فتجمد المحلول عند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(4.79 °C)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. احسب الكتلة الجزيئية للمذاب علماً بأن درجة تجمد المذيب النقي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(5.5 °C)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وأن ثابت التجمد لهذا المذيب يساوي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(5.1 °C kg/mol)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3393512"/>
            <a:ext cx="14838325" cy="3204120"/>
          </a:xfrm>
          <a:prstGeom prst="roundRect">
            <a:avLst>
              <a:gd name="adj" fmla="val 6000"/>
            </a:avLst>
          </a:prstGeom>
          <a:solidFill>
            <a:srgbClr val="A86A12">
              <a:alpha val="6000"/>
            </a:srgbClr>
          </a:solidFill>
          <a:ln w="12700" cap="rnd">
            <a:solidFill>
              <a:srgbClr val="A86A12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536387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988824"/>
            <a:ext cx="14365767" cy="2489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5.5 − 4.79 = 0.71 °C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× m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 = 0.71 / 5.1 = 0.14 mol/kg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m × 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× kg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solvent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2.5 / (0.14 × 0.072 kg) = 248 g/mol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38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84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Divider card"/>
          <p:cNvSpPr/>
          <p:nvPr/>
        </p:nvSpPr>
        <p:spPr>
          <a:xfrm>
            <a:off x="3520558" y="2500312"/>
            <a:ext cx="9214883" cy="4167187"/>
          </a:xfrm>
          <a:prstGeom prst="roundRect">
            <a:avLst>
              <a:gd name="adj" fmla="val 8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2" name="Chip"/>
          <p:cNvSpPr/>
          <p:nvPr/>
        </p:nvSpPr>
        <p:spPr>
          <a:xfrm>
            <a:off x="6355906" y="2976562"/>
            <a:ext cx="3544186" cy="476250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بنك الأسئلة • الحصة الرابعة</a:t>
            </a:r>
            <a:endParaRPr lang="ar-SA" sz="16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Title"/>
          <p:cNvSpPr txBox="1"/>
          <p:nvPr/>
        </p:nvSpPr>
        <p:spPr>
          <a:xfrm>
            <a:off x="3756837" y="3786187"/>
            <a:ext cx="8742325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4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مسائل تطبيقية</a:t>
            </a:r>
            <a:endParaRPr lang="ar-SA" sz="4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Subtitle"/>
          <p:cNvSpPr txBox="1"/>
          <p:nvPr/>
        </p:nvSpPr>
        <p:spPr>
          <a:xfrm>
            <a:off x="3756837" y="5238750"/>
            <a:ext cx="8742325" cy="714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5D6570"/>
                </a:solidFill>
                <a:latin typeface="Tahoma"/>
                <a:ea typeface="Tahoma"/>
                <a:cs typeface="Tahoma"/>
              </a:rPr>
              <a:t>تطبيقات على درجة الغليان ودرجة التجمد وحساب الكتلة المولية</a:t>
            </a:r>
            <a:endParaRPr lang="ar-SA" sz="2100" b="1" i="0" dirty="0">
              <a:solidFill>
                <a:srgbClr val="5D6570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460"/>
                            </p:stCondLst>
                            <p:childTnLst>
                              <p:par>
                                <p:cTn id="1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7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3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مسائل تطبيقية: المسألة (1)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1"/>
          <p:cNvSpPr/>
          <p:nvPr/>
        </p:nvSpPr>
        <p:spPr>
          <a:xfrm>
            <a:off x="708837" y="1238250"/>
            <a:ext cx="14838325" cy="3191336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1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1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1"/>
          <p:cNvSpPr txBox="1"/>
          <p:nvPr/>
        </p:nvSpPr>
        <p:spPr>
          <a:xfrm>
            <a:off x="1016000" y="1785937"/>
            <a:ext cx="13656930" cy="25007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حُضّر محلول بإذابة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(20.8 g)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من النفثالين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(C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10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H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8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 = 128)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في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(100 g)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من البنزين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C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6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H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6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، فإذا علمت أن درجة غليان البنزين النقي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(80.1 °C)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ودرجة تجمد البنزين النقي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(5.5 °C)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، فالمطلوب: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أولاً: حساب درجة تجمد المحلول إذا علمت أن ثابت تجمد البنزين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(K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 = 5.2 °C kg/mol)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ثانياً: حساب درجة غليان المحلول إذا علمت أن ثابت غليان البنزين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(K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 = 2.53 °C kg/mol)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8246139" y="4620086"/>
            <a:ext cx="7301023" cy="2352332"/>
          </a:xfrm>
          <a:prstGeom prst="roundRect">
            <a:avLst>
              <a:gd name="adj" fmla="val 6000"/>
            </a:avLst>
          </a:prstGeom>
          <a:solidFill>
            <a:srgbClr val="A86A12">
              <a:alpha val="6000"/>
            </a:srgbClr>
          </a:solidFill>
          <a:ln w="12700" cap="rnd">
            <a:solidFill>
              <a:srgbClr val="A86A12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8482418" y="4762961"/>
            <a:ext cx="6828465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أولاً: درجة تجمد المحلول</a:t>
            </a:r>
            <a:endParaRPr lang="ar-SA" sz="18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8482418" y="5215399"/>
            <a:ext cx="6828465" cy="1637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n = m</a:t>
            </a:r>
            <a:r>
              <a:rPr lang="ar-SA" sz="19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/ M</a:t>
            </a:r>
            <a:r>
              <a:rPr lang="ar-SA" sz="19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20.8 / 128 = 0.1625 mol</a:t>
            </a:r>
            <a:endParaRPr lang="ar-SA" sz="19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 = n / kg</a:t>
            </a:r>
            <a:r>
              <a:rPr lang="ar-SA" sz="19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solvent</a:t>
            </a: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0.1625 / 0.1 kg = 1.625 mol/kg</a:t>
            </a:r>
            <a:endParaRPr lang="ar-SA" sz="19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19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19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fp</a:t>
            </a: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× m = 5.2 × 1.625 = 8.45 °C</a:t>
            </a:r>
            <a:endParaRPr lang="ar-SA" sz="19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درجة تجمد المحلول‎ = 5.5 − 8.45 = −2.95 °C</a:t>
            </a:r>
            <a:endParaRPr lang="ar-SA" sz="19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Solution panel 2"/>
          <p:cNvSpPr/>
          <p:nvPr/>
        </p:nvSpPr>
        <p:spPr>
          <a:xfrm>
            <a:off x="708837" y="4620086"/>
            <a:ext cx="7301023" cy="2352332"/>
          </a:xfrm>
          <a:prstGeom prst="roundRect">
            <a:avLst>
              <a:gd name="adj" fmla="val 6000"/>
            </a:avLst>
          </a:prstGeom>
          <a:solidFill>
            <a:srgbClr val="A86A12">
              <a:alpha val="6000"/>
            </a:srgbClr>
          </a:solidFill>
          <a:ln w="12700" cap="rnd">
            <a:solidFill>
              <a:srgbClr val="A86A12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1" name="Solution label 2"/>
          <p:cNvSpPr txBox="1"/>
          <p:nvPr/>
        </p:nvSpPr>
        <p:spPr>
          <a:xfrm>
            <a:off x="945116" y="4762961"/>
            <a:ext cx="6828465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ثانياً: درجة غليان المحلول</a:t>
            </a:r>
            <a:endParaRPr lang="ar-SA" sz="18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Solution 2"/>
          <p:cNvSpPr txBox="1"/>
          <p:nvPr/>
        </p:nvSpPr>
        <p:spPr>
          <a:xfrm>
            <a:off x="945116" y="5215399"/>
            <a:ext cx="6828465" cy="16379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19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19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× m = 2.53 × 1.625 = 4.11 °C</a:t>
            </a:r>
            <a:endParaRPr lang="ar-SA" sz="19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درجة غليان المحلول‎ = 80.1 + 4.11 = 84.21 °C</a:t>
            </a:r>
            <a:endParaRPr lang="ar-SA" sz="19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43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60"/>
                            </p:stCondLst>
                            <p:childTnLst>
                              <p:par>
                                <p:cTn id="5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920"/>
                            </p:stCondLst>
                            <p:childTnLst>
                              <p:par>
                                <p:cTn id="5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380"/>
                            </p:stCondLst>
                            <p:childTnLst>
                              <p:par>
                                <p:cTn id="6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4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4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460"/>
                            </p:stCondLst>
                            <p:childTnLst>
                              <p:par>
                                <p:cTn id="7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400" fill="hold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400" fill="hold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19" grpId="0" build="p"/>
      <p:bldP spid="22" grpId="0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مسائل تطبيقية: المسألة (2)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2"/>
          <p:cNvSpPr/>
          <p:nvPr/>
        </p:nvSpPr>
        <p:spPr>
          <a:xfrm>
            <a:off x="708837" y="1238250"/>
            <a:ext cx="14838325" cy="237362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2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2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2"/>
          <p:cNvSpPr txBox="1"/>
          <p:nvPr/>
        </p:nvSpPr>
        <p:spPr>
          <a:xfrm>
            <a:off x="1016000" y="1785937"/>
            <a:ext cx="13656930" cy="168305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يُستخلص كحول اللورايل من زيت جوز الهند ويُستخدم في صناعة المنظفات الصناعية. محلول مكوّن من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(5 g)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من كحول اللورايل و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(10 g)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من البنزين يغلي عند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(80.87 °C)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، فإذا كانت درجة غليان البنزين النقي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(80.1 °C)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وثابت الغليان للبنزين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(2.53 °C kg/mol)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، احسب الكتلة الجزيئية للكحول.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3802370"/>
            <a:ext cx="14838325" cy="3204120"/>
          </a:xfrm>
          <a:prstGeom prst="roundRect">
            <a:avLst>
              <a:gd name="adj" fmla="val 6000"/>
            </a:avLst>
          </a:prstGeom>
          <a:solidFill>
            <a:srgbClr val="A86A12">
              <a:alpha val="6000"/>
            </a:srgbClr>
          </a:solidFill>
          <a:ln w="12700" cap="rnd">
            <a:solidFill>
              <a:srgbClr val="A86A12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945245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4397682"/>
            <a:ext cx="14365767" cy="2489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80.87 − 80.1 = 0.77 °C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× m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 = 0.77 / 2.53 = 0.304 mol/kg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n = m × kg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solvent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0.304 × 0.01 = 0.003 mol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/ n = 5 / 0.003 = 1666.6 g/mol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38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84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مسائل تطبيقية: المسألة (3)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3"/>
          <p:cNvSpPr/>
          <p:nvPr/>
        </p:nvSpPr>
        <p:spPr>
          <a:xfrm>
            <a:off x="708837" y="1238250"/>
            <a:ext cx="14838325" cy="1964762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3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3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3"/>
          <p:cNvSpPr txBox="1"/>
          <p:nvPr/>
        </p:nvSpPr>
        <p:spPr>
          <a:xfrm>
            <a:off x="1016000" y="1785937"/>
            <a:ext cx="13656930" cy="12741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مادة كتلتها الجزيئية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(254 g/mol)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أُذيبت كتلة معينة منها في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(45 g)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إيثر، فكان الارتفاع في درجة الغليان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(0.585 °C)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. احسب كتلة هذه المادة إذا علمت أن ثابت الغليان للإيثر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(2.16 °C kg/mol)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3393512"/>
            <a:ext cx="14838325" cy="2739509"/>
          </a:xfrm>
          <a:prstGeom prst="roundRect">
            <a:avLst>
              <a:gd name="adj" fmla="val 6000"/>
            </a:avLst>
          </a:prstGeom>
          <a:solidFill>
            <a:srgbClr val="A86A12">
              <a:alpha val="6000"/>
            </a:srgbClr>
          </a:solidFill>
          <a:ln w="12700" cap="rnd">
            <a:solidFill>
              <a:srgbClr val="A86A12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536387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988824"/>
            <a:ext cx="14365767" cy="20251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× m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 = 0.585 / 2.16 = 0.27 mol/kg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m × 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× kg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solvent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0.27 × 254 × 0.045 = 3.1 g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38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مسائل تطبيقية: المسألة (4)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4"/>
          <p:cNvSpPr/>
          <p:nvPr/>
        </p:nvSpPr>
        <p:spPr>
          <a:xfrm>
            <a:off x="708837" y="1238250"/>
            <a:ext cx="14838325" cy="1964762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4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4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4"/>
          <p:cNvSpPr txBox="1"/>
          <p:nvPr/>
        </p:nvSpPr>
        <p:spPr>
          <a:xfrm>
            <a:off x="1016000" y="1785937"/>
            <a:ext cx="13656930" cy="12741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احسب كتلة الجليسرول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C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3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H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8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O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3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اللازم إذابتها في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(500 g)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من الماء لكي يغلي المحلول الناتج عند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(100.208 °C)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، علماً بأن ثابت غليان الماء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(0.52 °C kg/mol)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.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(C = 12 , O = 16 , H = 1)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3393512"/>
            <a:ext cx="14838325" cy="3204120"/>
          </a:xfrm>
          <a:prstGeom prst="roundRect">
            <a:avLst>
              <a:gd name="adj" fmla="val 6000"/>
            </a:avLst>
          </a:prstGeom>
          <a:solidFill>
            <a:srgbClr val="A86A12">
              <a:alpha val="6000"/>
            </a:srgbClr>
          </a:solidFill>
          <a:ln w="12700" cap="rnd">
            <a:solidFill>
              <a:srgbClr val="A86A12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536387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988824"/>
            <a:ext cx="14365767" cy="2489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(3 × 12) + (1 × 8) + (3 × 16) = 92 g/mol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100.208 − 100 = 0.208 °C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× m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 = 0.208 / 0.52 = 0.4 mol/kg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m × 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× kg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solvent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0.4 × 92 × 0.5 = 18.4 g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38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84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مسائل تطبيقية: المسألة (5)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5"/>
          <p:cNvSpPr/>
          <p:nvPr/>
        </p:nvSpPr>
        <p:spPr>
          <a:xfrm>
            <a:off x="708837" y="1238250"/>
            <a:ext cx="14838325" cy="1964762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5"/>
          <p:cNvSpPr/>
          <p:nvPr/>
        </p:nvSpPr>
        <p:spPr>
          <a:xfrm>
            <a:off x="14838325" y="1428750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5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5"/>
          <p:cNvSpPr txBox="1"/>
          <p:nvPr/>
        </p:nvSpPr>
        <p:spPr>
          <a:xfrm>
            <a:off x="1016000" y="1404937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حل المسألة التالية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5"/>
          <p:cNvSpPr txBox="1"/>
          <p:nvPr/>
        </p:nvSpPr>
        <p:spPr>
          <a:xfrm>
            <a:off x="1016000" y="1785937"/>
            <a:ext cx="13656930" cy="127419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أُذيب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(6.67 g)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من مادة غير إلكتروليتية وغير متطايرة في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(20 g)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من الماء، فكانت درجة غليان المحلول تساوي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(100.5 °C)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. فما الكتلة المولية لهذه المادة؟ علماً بأن ثابت الغليان للماء يساوي 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‪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(0.512 °C/m)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‬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.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Solution panel 1"/>
          <p:cNvSpPr/>
          <p:nvPr/>
        </p:nvSpPr>
        <p:spPr>
          <a:xfrm>
            <a:off x="708837" y="3393512"/>
            <a:ext cx="14838325" cy="3204120"/>
          </a:xfrm>
          <a:prstGeom prst="roundRect">
            <a:avLst>
              <a:gd name="adj" fmla="val 6000"/>
            </a:avLst>
          </a:prstGeom>
          <a:solidFill>
            <a:srgbClr val="A86A12">
              <a:alpha val="6000"/>
            </a:srgbClr>
          </a:solidFill>
          <a:ln w="12700" cap="rnd">
            <a:solidFill>
              <a:srgbClr val="A86A12">
                <a:alpha val="55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8" name="Solution label 1"/>
          <p:cNvSpPr txBox="1"/>
          <p:nvPr/>
        </p:nvSpPr>
        <p:spPr>
          <a:xfrm>
            <a:off x="945116" y="3536387"/>
            <a:ext cx="14365767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8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الحل</a:t>
            </a:r>
            <a:endParaRPr lang="ar-SA" sz="18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9" name="Solution 1"/>
          <p:cNvSpPr txBox="1"/>
          <p:nvPr/>
        </p:nvSpPr>
        <p:spPr>
          <a:xfrm>
            <a:off x="945116" y="3988824"/>
            <a:ext cx="14365767" cy="248974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100.5 − 100 = 0.5 °C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ΔT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K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bp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× m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 = 0.5 / 0.512 = 0.976 mol/kg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m × 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× kg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solvent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  <a:p>
            <a:pPr algn="ctr" rtl="0">
              <a:lnSpc>
                <a:spcPct val="125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M</a:t>
            </a:r>
            <a:r>
              <a:rPr lang="ar-SA" sz="2400" b="1" i="0" dirty="0" baseline="-2500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wt</a:t>
            </a: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 xml:space="preserve"> = 6.67 / (0.976 × 0.02) = 341.5 g/mol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400" fill="hold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60"/>
                            </p:stCondLst>
                            <p:childTnLst>
                              <p:par>
                                <p:cTn id="44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400" fill="hold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920"/>
                            </p:stCondLst>
                            <p:childTnLst>
                              <p:par>
                                <p:cTn id="50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400" fill="hold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380"/>
                            </p:stCondLst>
                            <p:childTnLst>
                              <p:par>
                                <p:cTn id="5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400" fill="hold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840"/>
                            </p:stCondLst>
                            <p:childTnLst>
                              <p:par>
                                <p:cTn id="6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11" name="Title"/>
          <p:cNvSpPr txBox="1"/>
          <p:nvPr/>
        </p:nvSpPr>
        <p:spPr>
          <a:xfrm>
            <a:off x="3662325" y="309562"/>
            <a:ext cx="11884837" cy="69056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3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تطبيقات: مقارنة بين محلولين</a:t>
            </a:r>
            <a:endParaRPr lang="ar-SA" sz="3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2" name="Chip"/>
          <p:cNvSpPr/>
          <p:nvPr/>
        </p:nvSpPr>
        <p:spPr>
          <a:xfrm>
            <a:off x="708837" y="452437"/>
            <a:ext cx="2480930" cy="404812"/>
          </a:xfrm>
          <a:prstGeom prst="roundRect">
            <a:avLst>
              <a:gd name="adj" fmla="val 50000"/>
            </a:avLst>
          </a:prstGeom>
          <a:solidFill>
            <a:srgbClr val="A86A12">
              <a:alpha val="12000"/>
            </a:srgbClr>
          </a:solidFill>
          <a:ln w="12700" cap="rnd">
            <a:solidFill>
              <a:srgbClr val="A86A12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4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الحصة الرابعة</a:t>
            </a:r>
            <a:endParaRPr lang="ar-SA" sz="14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Card 1"/>
          <p:cNvSpPr/>
          <p:nvPr/>
        </p:nvSpPr>
        <p:spPr>
          <a:xfrm>
            <a:off x="708837" y="1190625"/>
            <a:ext cx="14838325" cy="1651153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12700" cap="rnd">
            <a:solidFill>
              <a:srgbClr val="FFFFFF">
                <a:alpha val="100000"/>
              </a:srgbClr>
            </a:solidFill>
            <a:round/>
          </a:ln>
          <a:effectLst>
            <a:outerShdw blurRad="88900" dist="25400" dir="5400000" algn="t" rotWithShape="0">
              <a:srgbClr val="5A6470">
                <a:alpha val="20000"/>
              </a:srgbClr>
            </a:outerShdw>
          </a:effectLst>
        </p:spPr>
        <p:txBody>
          <a:bodyPr rtlCol="0" anchor="ctr"/>
          <a:lstStyle/>
          <a:p>
            <a:endParaRPr lang="ar-SA"/>
          </a:p>
        </p:txBody>
      </p:sp>
      <p:sp>
        <p:nvSpPr>
          <p:cNvPr id="14" name="Number 1"/>
          <p:cNvSpPr/>
          <p:nvPr/>
        </p:nvSpPr>
        <p:spPr>
          <a:xfrm>
            <a:off x="14838325" y="1381125"/>
            <a:ext cx="448930" cy="452437"/>
          </a:xfrm>
          <a:prstGeom prst="ellipse">
            <a:avLst/>
          </a:prstGeom>
          <a:solidFill>
            <a:srgbClr val="A86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0">
              <a:lnSpc>
                <a:spcPct val="110000"/>
              </a:lnSpc>
              <a:buNone/>
            </a:pPr>
            <a:r>
              <a:rPr lang="ar-SA" sz="1700" b="1" i="0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  <a:endParaRPr lang="ar-SA" sz="1700" b="1" i="0" dirty="0">
              <a:solidFill>
                <a:srgbClr val="FFFFFF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5" name="Tag 1"/>
          <p:cNvSpPr txBox="1"/>
          <p:nvPr/>
        </p:nvSpPr>
        <p:spPr>
          <a:xfrm>
            <a:off x="1016000" y="1357312"/>
            <a:ext cx="1365693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15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أكمل الفراغات في الجدول التالي</a:t>
            </a:r>
            <a:endParaRPr lang="ar-SA" sz="15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6" name="Question 1"/>
          <p:cNvSpPr txBox="1"/>
          <p:nvPr/>
        </p:nvSpPr>
        <p:spPr>
          <a:xfrm>
            <a:off x="1016000" y="1738312"/>
            <a:ext cx="13656930" cy="86534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 rtl="1">
              <a:lnSpc>
                <a:spcPct val="110000"/>
              </a:lnSpc>
              <a:buNone/>
            </a:pPr>
            <a:r>
              <a:rPr lang="ar-SA" sz="24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أمامك إناءان حجمهما متساوٍ، أُذيبت كتل متساوية من السكروز في حجمين مختلفين من الماء لعمل محلولين عند درجة حرارة معينة. لاحظ الإناءين جيداً ثم أكمل الجدول:</a:t>
            </a:r>
            <a:endParaRPr lang="ar-SA" sz="24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7" name="Head 0"/>
          <p:cNvSpPr/>
          <p:nvPr/>
        </p:nvSpPr>
        <p:spPr>
          <a:xfrm>
            <a:off x="9994604" y="3008466"/>
            <a:ext cx="5552558" cy="1666875"/>
          </a:xfrm>
          <a:prstGeom prst="rect">
            <a:avLst/>
          </a:prstGeom>
          <a:solidFill>
            <a:srgbClr val="FFFFFF">
              <a:alpha val="92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2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وجه المقارنة</a:t>
            </a:r>
            <a:endParaRPr lang="ar-SA" sz="22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Head 1"/>
          <p:cNvSpPr/>
          <p:nvPr/>
        </p:nvSpPr>
        <p:spPr>
          <a:xfrm>
            <a:off x="5387162" y="3008466"/>
            <a:ext cx="4607441" cy="1666875"/>
          </a:xfrm>
          <a:prstGeom prst="rect">
            <a:avLst/>
          </a:prstGeom>
          <a:noFill/>
          <a:ln w="12700" cap="rnd">
            <a:solidFill>
              <a:srgbClr val="FFFFFF">
                <a:alpha val="92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19" name="Head label 1"/>
          <p:cNvSpPr txBox="1"/>
          <p:nvPr/>
        </p:nvSpPr>
        <p:spPr>
          <a:xfrm>
            <a:off x="5505302" y="3079903"/>
            <a:ext cx="437116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الإناء (1)</a:t>
            </a:r>
            <a:endParaRPr lang="ar-SA" sz="16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0" name="Head 2"/>
          <p:cNvSpPr/>
          <p:nvPr/>
        </p:nvSpPr>
        <p:spPr>
          <a:xfrm>
            <a:off x="708837" y="3008466"/>
            <a:ext cx="4678325" cy="1666875"/>
          </a:xfrm>
          <a:prstGeom prst="rect">
            <a:avLst/>
          </a:prstGeom>
          <a:noFill/>
          <a:ln w="12700" cap="rnd">
            <a:solidFill>
              <a:srgbClr val="FFFFFF">
                <a:alpha val="92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1" name="Head label 2"/>
          <p:cNvSpPr txBox="1"/>
          <p:nvPr/>
        </p:nvSpPr>
        <p:spPr>
          <a:xfrm>
            <a:off x="826976" y="3079903"/>
            <a:ext cx="4442046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6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الإناء (2)</a:t>
            </a:r>
            <a:endParaRPr lang="ar-SA" sz="16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2" name="Row 1"/>
          <p:cNvSpPr/>
          <p:nvPr/>
        </p:nvSpPr>
        <p:spPr>
          <a:xfrm>
            <a:off x="9994604" y="4675341"/>
            <a:ext cx="5552558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حجم المحلول (أكبر – أقل)</a:t>
            </a:r>
            <a:endParaRPr lang="ar-SA" sz="19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3" name="Cell 1.1"/>
          <p:cNvSpPr/>
          <p:nvPr/>
        </p:nvSpPr>
        <p:spPr>
          <a:xfrm>
            <a:off x="5387162" y="4675341"/>
            <a:ext cx="4607441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4" name="Cell 1.2"/>
          <p:cNvSpPr/>
          <p:nvPr/>
        </p:nvSpPr>
        <p:spPr>
          <a:xfrm>
            <a:off x="708837" y="4675341"/>
            <a:ext cx="4678325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5" name="Answer 1.1"/>
          <p:cNvSpPr txBox="1"/>
          <p:nvPr/>
        </p:nvSpPr>
        <p:spPr>
          <a:xfrm>
            <a:off x="5481674" y="4722966"/>
            <a:ext cx="4418418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أكبر</a:t>
            </a:r>
            <a:endParaRPr lang="ar-SA" sz="21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6" name="Answer 1.2"/>
          <p:cNvSpPr txBox="1"/>
          <p:nvPr/>
        </p:nvSpPr>
        <p:spPr>
          <a:xfrm>
            <a:off x="803348" y="4722966"/>
            <a:ext cx="4489302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أقل</a:t>
            </a:r>
            <a:endParaRPr lang="ar-SA" sz="21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7" name="Row 2"/>
          <p:cNvSpPr/>
          <p:nvPr/>
        </p:nvSpPr>
        <p:spPr>
          <a:xfrm>
            <a:off x="9994604" y="5473823"/>
            <a:ext cx="5552558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تركيز المحلول (أكبر – أقل)</a:t>
            </a:r>
            <a:endParaRPr lang="ar-SA" sz="19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28" name="Cell 2.1"/>
          <p:cNvSpPr/>
          <p:nvPr/>
        </p:nvSpPr>
        <p:spPr>
          <a:xfrm>
            <a:off x="5387162" y="5473823"/>
            <a:ext cx="4607441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29" name="Cell 2.2"/>
          <p:cNvSpPr/>
          <p:nvPr/>
        </p:nvSpPr>
        <p:spPr>
          <a:xfrm>
            <a:off x="708837" y="5473823"/>
            <a:ext cx="4678325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30" name="Answer 2.1"/>
          <p:cNvSpPr txBox="1"/>
          <p:nvPr/>
        </p:nvSpPr>
        <p:spPr>
          <a:xfrm>
            <a:off x="5481674" y="5521448"/>
            <a:ext cx="4418418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أقل</a:t>
            </a:r>
            <a:endParaRPr lang="ar-SA" sz="21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1" name="Answer 2.2"/>
          <p:cNvSpPr txBox="1"/>
          <p:nvPr/>
        </p:nvSpPr>
        <p:spPr>
          <a:xfrm>
            <a:off x="803348" y="5521448"/>
            <a:ext cx="4489302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أكبر</a:t>
            </a:r>
            <a:endParaRPr lang="ar-SA" sz="21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2" name="Row 3"/>
          <p:cNvSpPr/>
          <p:nvPr/>
        </p:nvSpPr>
        <p:spPr>
          <a:xfrm>
            <a:off x="9994604" y="6272304"/>
            <a:ext cx="5552558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نوع المحلول (مركز – مخفف)</a:t>
            </a:r>
            <a:endParaRPr lang="ar-SA" sz="19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3" name="Cell 3.1"/>
          <p:cNvSpPr/>
          <p:nvPr/>
        </p:nvSpPr>
        <p:spPr>
          <a:xfrm>
            <a:off x="5387162" y="6272304"/>
            <a:ext cx="4607441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34" name="Cell 3.2"/>
          <p:cNvSpPr/>
          <p:nvPr/>
        </p:nvSpPr>
        <p:spPr>
          <a:xfrm>
            <a:off x="708837" y="6272304"/>
            <a:ext cx="4678325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35" name="Answer 3.1"/>
          <p:cNvSpPr txBox="1"/>
          <p:nvPr/>
        </p:nvSpPr>
        <p:spPr>
          <a:xfrm>
            <a:off x="5481674" y="6319929"/>
            <a:ext cx="4418418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مخفف</a:t>
            </a:r>
            <a:endParaRPr lang="ar-SA" sz="21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6" name="Answer 3.2"/>
          <p:cNvSpPr txBox="1"/>
          <p:nvPr/>
        </p:nvSpPr>
        <p:spPr>
          <a:xfrm>
            <a:off x="803348" y="6319929"/>
            <a:ext cx="4489302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مركز</a:t>
            </a:r>
            <a:endParaRPr lang="ar-SA" sz="21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7" name="Row 4"/>
          <p:cNvSpPr/>
          <p:nvPr/>
        </p:nvSpPr>
        <p:spPr>
          <a:xfrm>
            <a:off x="9994604" y="7070786"/>
            <a:ext cx="5552558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درجة الغليان (أكبر – أقل)</a:t>
            </a:r>
            <a:endParaRPr lang="ar-SA" sz="19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8" name="Cell 4.1"/>
          <p:cNvSpPr/>
          <p:nvPr/>
        </p:nvSpPr>
        <p:spPr>
          <a:xfrm>
            <a:off x="5387162" y="7070786"/>
            <a:ext cx="4607441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39" name="Cell 4.2"/>
          <p:cNvSpPr/>
          <p:nvPr/>
        </p:nvSpPr>
        <p:spPr>
          <a:xfrm>
            <a:off x="708837" y="7070786"/>
            <a:ext cx="4678325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40" name="Answer 4.1"/>
          <p:cNvSpPr txBox="1"/>
          <p:nvPr/>
        </p:nvSpPr>
        <p:spPr>
          <a:xfrm>
            <a:off x="5481674" y="7118411"/>
            <a:ext cx="4418418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أقل</a:t>
            </a:r>
            <a:endParaRPr lang="ar-SA" sz="21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1" name="Answer 4.2"/>
          <p:cNvSpPr txBox="1"/>
          <p:nvPr/>
        </p:nvSpPr>
        <p:spPr>
          <a:xfrm>
            <a:off x="803348" y="7118411"/>
            <a:ext cx="4489302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أكبر</a:t>
            </a:r>
            <a:endParaRPr lang="ar-SA" sz="21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2" name="Row 5"/>
          <p:cNvSpPr/>
          <p:nvPr/>
        </p:nvSpPr>
        <p:spPr>
          <a:xfrm>
            <a:off x="9994604" y="7869268"/>
            <a:ext cx="5552558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1900" b="1" i="0" dirty="0">
                <a:solidFill>
                  <a:srgbClr val="2B3038"/>
                </a:solidFill>
                <a:latin typeface="Tahoma"/>
                <a:ea typeface="Tahoma"/>
                <a:cs typeface="Tahoma"/>
              </a:rPr>
              <a:t>درجة التجمد (أكبر – أقل)</a:t>
            </a:r>
            <a:endParaRPr lang="ar-SA" sz="1900" b="1" i="0" dirty="0">
              <a:solidFill>
                <a:srgbClr val="2B3038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3" name="Cell 5.1"/>
          <p:cNvSpPr/>
          <p:nvPr/>
        </p:nvSpPr>
        <p:spPr>
          <a:xfrm>
            <a:off x="5387162" y="7869268"/>
            <a:ext cx="4607441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44" name="Cell 5.2"/>
          <p:cNvSpPr/>
          <p:nvPr/>
        </p:nvSpPr>
        <p:spPr>
          <a:xfrm>
            <a:off x="708837" y="7869268"/>
            <a:ext cx="4678325" cy="798481"/>
          </a:xfrm>
          <a:prstGeom prst="rect">
            <a:avLst/>
          </a:prstGeom>
          <a:solidFill>
            <a:srgbClr val="FFFFFF">
              <a:alpha val="78000"/>
            </a:srgbClr>
          </a:solidFill>
          <a:ln w="12700" cap="rnd">
            <a:solidFill>
              <a:srgbClr val="9AA3AE">
                <a:alpha val="70000"/>
              </a:srgbClr>
            </a:solidFill>
            <a:round/>
          </a:ln>
        </p:spPr>
        <p:txBody>
          <a:bodyPr rtlCol="0" anchor="ctr"/>
          <a:lstStyle/>
          <a:p>
            <a:endParaRPr lang="ar-SA"/>
          </a:p>
        </p:txBody>
      </p:sp>
      <p:sp>
        <p:nvSpPr>
          <p:cNvPr id="45" name="Answer 5.1"/>
          <p:cNvSpPr txBox="1"/>
          <p:nvPr/>
        </p:nvSpPr>
        <p:spPr>
          <a:xfrm>
            <a:off x="5481674" y="7916893"/>
            <a:ext cx="4418418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أكبر</a:t>
            </a:r>
            <a:endParaRPr lang="ar-SA" sz="21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6" name="Answer 5.2"/>
          <p:cNvSpPr txBox="1"/>
          <p:nvPr/>
        </p:nvSpPr>
        <p:spPr>
          <a:xfrm>
            <a:off x="803348" y="7916893"/>
            <a:ext cx="4489302" cy="70323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 rtl="1">
              <a:lnSpc>
                <a:spcPct val="110000"/>
              </a:lnSpc>
              <a:buNone/>
            </a:pPr>
            <a:r>
              <a:rPr lang="ar-SA" sz="2100" b="1" i="0" dirty="0">
                <a:solidFill>
                  <a:srgbClr val="A86A12"/>
                </a:solidFill>
                <a:latin typeface="Tahoma"/>
                <a:ea typeface="Tahoma"/>
                <a:cs typeface="Tahoma"/>
              </a:rPr>
              <a:t>أقل</a:t>
            </a:r>
            <a:endParaRPr lang="ar-SA" sz="2100" b="1" i="0" dirty="0">
              <a:solidFill>
                <a:srgbClr val="A86A12"/>
              </a:solidFill>
              <a:latin typeface="Tahoma"/>
              <a:ea typeface="Tahoma"/>
              <a:cs typeface="Tahoma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6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97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8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84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22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6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920"/>
                            </p:stCondLst>
                            <p:childTnLst>
                              <p:par>
                                <p:cTn id="8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9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4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4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4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4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20" grpId="0" animBg="1"/>
      <p:bldP spid="17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7" grpId="0" animBg="1"/>
      <p:bldP spid="38" grpId="0" animBg="1"/>
      <p:bldP spid="39" grpId="0" animBg="1"/>
      <p:bldP spid="42" grpId="0" animBg="1"/>
      <p:bldP spid="43" grpId="0" animBg="1"/>
      <p:bldP spid="44" grpId="0" animBg="1"/>
      <p:bldP spid="25" grpId="0" animBg="1"/>
      <p:bldP spid="26" grpId="0" animBg="1"/>
      <p:bldP spid="30" grpId="0" animBg="1"/>
      <p:bldP spid="31" grpId="0" animBg="1"/>
      <p:bldP spid="35" grpId="0" animBg="1"/>
      <p:bldP spid="36" grpId="0" animBg="1"/>
      <p:bldP spid="40" grpId="0" animBg="1"/>
      <p:bldP spid="41" grpId="0" animBg="1"/>
      <p:bldP spid="45" grpId="0" animBg="1"/>
      <p:bldP spid="4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خلود فيصل محمود البلوشي</cp:lastModifiedBy>
  <cp:revision>2</cp:revision>
  <dcterms:created xsi:type="dcterms:W3CDTF">2006-08-16T00:00:00Z</dcterms:created>
  <dcterms:modified xsi:type="dcterms:W3CDTF">2026-10-23T14:57:32Z</dcterms:modified>
</cp:coreProperties>
</file>