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1-2.png"/><Relationship Id="rId6" Type="http://schemas.openxmlformats.org/officeDocument/2006/relationships/image" Target="../media/image-1-2.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2-1.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1-2.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1-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1-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1-2.png"/><Relationship Id="rId3" Type="http://schemas.openxmlformats.org/officeDocument/2006/relationships/image" Target="../media/image-1-1.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14-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14-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2" name=""/>
        <p:cNvGrpSpPr/>
        <p:nvPr/>
      </p:nvGrpSpPr>
      <p:grpSpPr>
        <a:xfrm>
          <a:off x="0" y="0"/>
          <a:ext cx="0" cy="0"/>
          <a:chOff x="0" y="0"/>
          <a:chExt cx="0" cy="0"/>
        </a:xfrm>
      </p:grpSpPr>
      <p:pic>
        <p:nvPicPr>
          <p:cNvPr id="3" name="anim_1_1" descr="lattice_big.png">    </p:cNvPr>
          <p:cNvPicPr>
            <a:picLocks noChangeAspect="1"/>
          </p:cNvPicPr>
          <p:nvPr/>
        </p:nvPicPr>
        <p:blipFill>
          <a:blip r:embed="rId1"/>
          <a:stretch>
            <a:fillRect/>
          </a:stretch>
        </p:blipFill>
        <p:spPr>
          <a:xfrm>
            <a:off x="320040" y="960120"/>
            <a:ext cx="4937760" cy="4937760"/>
          </a:xfrm>
          <a:prstGeom prst="rect">
            <a:avLst/>
          </a:prstGeom>
        </p:spPr>
      </p:pic>
      <p:sp>
        <p:nvSpPr>
          <p:cNvPr id="4" name="anim_1_2"/>
          <p:cNvSpPr txBox="1"/>
          <p:nvPr/>
        </p:nvSpPr>
        <p:spPr>
          <a:xfrm>
            <a:off x="8778240" y="1005840"/>
            <a:ext cx="2834640" cy="685800"/>
          </a:xfrm>
          <a:prstGeom prst="roundRect">
            <a:avLst>
              <a:gd name="adj" fmla="val 49333"/>
            </a:avLst>
          </a:prstGeom>
          <a:solidFill>
            <a:srgbClr val="0F9D8E"/>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1" algn="ctr" indent="0" marL="0">
              <a:lnSpc>
                <a:spcPct val="105000"/>
              </a:lnSpc>
              <a:spcAft>
                <a:spcPts val="600"/>
              </a:spcAft>
              <a:buNone/>
            </a:pPr>
            <a:r>
              <a:rPr lang="ar-KW" altLang="en-US" sz="2800" b="1" dirty="0">
                <a:solidFill>
                  <a:srgbClr val="FFFFFF"/>
                </a:solidFill>
                <a:latin typeface="Arial" pitchFamily="34" charset="0"/>
                <a:ea typeface="Arial" pitchFamily="34" charset="-122"/>
                <a:cs typeface="Arial" pitchFamily="34" charset="-120"/>
              </a:rPr>
              <a:t>الدرس [‎3-1]</a:t>
            </a:r>
            <a:endParaRPr lang="ar-KW" sz="2800" dirty="0"/>
          </a:p>
        </p:txBody>
      </p:sp>
      <p:sp>
        <p:nvSpPr>
          <p:cNvPr id="5" name="anim_1_3"/>
          <p:cNvSpPr txBox="1"/>
          <p:nvPr/>
        </p:nvSpPr>
        <p:spPr>
          <a:xfrm>
            <a:off x="5120640" y="1783080"/>
            <a:ext cx="6583680" cy="2194560"/>
          </a:xfrm>
          <a:prstGeom prst="rect">
            <a:avLst/>
          </a:prstGeom>
          <a:noFill/>
          <a:ln/>
        </p:spPr>
        <p:txBody>
          <a:bodyPr wrap="square" lIns="0" tIns="0" rIns="0" bIns="0" rtlCol="0" anchor="ctr"/>
          <a:lstStyle/>
          <a:p>
            <a:pPr rtl="0" algn="r" indent="0" marL="0">
              <a:lnSpc>
                <a:spcPct val="95000"/>
              </a:lnSpc>
              <a:buNone/>
            </a:pPr>
            <a:r>
              <a:rPr lang="ar-KW" altLang="en-US" sz="6400" b="1" dirty="0">
                <a:solidFill>
                  <a:srgbClr val="16325C"/>
                </a:solidFill>
                <a:latin typeface="Arial" pitchFamily="34" charset="0"/>
                <a:ea typeface="Arial" pitchFamily="34" charset="-122"/>
                <a:cs typeface="Arial" pitchFamily="34" charset="-120"/>
              </a:rPr>
              <a:t>خواص المركبات</a:t>
            </a:r>
            <a:endParaRPr lang="ar-KW" sz="6400" dirty="0"/>
          </a:p>
          <a:p>
            <a:pPr rtl="0" algn="r" indent="0" marL="0">
              <a:lnSpc>
                <a:spcPct val="95000"/>
              </a:lnSpc>
              <a:buNone/>
            </a:pPr>
            <a:r>
              <a:rPr lang="ar-KW" altLang="en-US" sz="6400" b="1" dirty="0">
                <a:solidFill>
                  <a:srgbClr val="16325C"/>
                </a:solidFill>
                <a:latin typeface="Arial" pitchFamily="34" charset="0"/>
                <a:ea typeface="Arial" pitchFamily="34" charset="-122"/>
                <a:cs typeface="Arial" pitchFamily="34" charset="-120"/>
              </a:rPr>
              <a:t>الأيونية</a:t>
            </a:r>
            <a:endParaRPr lang="ar-KW" sz="6400" dirty="0"/>
          </a:p>
        </p:txBody>
      </p:sp>
      <p:sp>
        <p:nvSpPr>
          <p:cNvPr id="6" name="anim_1_4"/>
          <p:cNvSpPr txBox="1"/>
          <p:nvPr/>
        </p:nvSpPr>
        <p:spPr>
          <a:xfrm>
            <a:off x="5120640" y="3977640"/>
            <a:ext cx="6583680" cy="640080"/>
          </a:xfrm>
          <a:prstGeom prst="rect">
            <a:avLst/>
          </a:prstGeom>
          <a:noFill/>
          <a:ln/>
        </p:spPr>
        <p:txBody>
          <a:bodyPr wrap="square" lIns="0" tIns="0" rIns="0" bIns="0" rtlCol="0" anchor="t"/>
          <a:lstStyle/>
          <a:p>
            <a:pPr rtl="1" algn="r" indent="0" marL="0">
              <a:lnSpc>
                <a:spcPct val="105000"/>
              </a:lnSpc>
              <a:spcAft>
                <a:spcPts val="600"/>
              </a:spcAft>
              <a:buNone/>
            </a:pPr>
            <a:r>
              <a:rPr lang="ar-KW" altLang="en-US" sz="3000" b="1" dirty="0">
                <a:solidFill>
                  <a:srgbClr val="1F6FB2"/>
                </a:solidFill>
                <a:latin typeface="Arial" pitchFamily="34" charset="0"/>
                <a:ea typeface="Arial" pitchFamily="34" charset="-122"/>
                <a:cs typeface="Arial" pitchFamily="34" charset="-120"/>
              </a:rPr>
              <a:t>(الكشف عن المركبات الأيونية)</a:t>
            </a:r>
            <a:endParaRPr lang="ar-KW" sz="3000" dirty="0"/>
          </a:p>
        </p:txBody>
      </p:sp>
      <p:sp>
        <p:nvSpPr>
          <p:cNvPr id="7" name="anim_1_5"/>
          <p:cNvSpPr txBox="1"/>
          <p:nvPr/>
        </p:nvSpPr>
        <p:spPr>
          <a:xfrm>
            <a:off x="7589520" y="4754880"/>
            <a:ext cx="4114800" cy="640080"/>
          </a:xfrm>
          <a:prstGeom prst="roundRect">
            <a:avLst>
              <a:gd name="adj" fmla="val 50000"/>
            </a:avLst>
          </a:prstGeom>
          <a:solidFill>
            <a:srgbClr val="E8335F"/>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1" algn="ctr" indent="0" marL="0">
              <a:lnSpc>
                <a:spcPct val="105000"/>
              </a:lnSpc>
              <a:spcAft>
                <a:spcPts val="600"/>
              </a:spcAft>
              <a:buNone/>
            </a:pPr>
            <a:r>
              <a:rPr lang="ar-KW" altLang="en-US" sz="2600" b="1" dirty="0">
                <a:solidFill>
                  <a:srgbClr val="FFFFFF"/>
                </a:solidFill>
                <a:latin typeface="Arial" pitchFamily="34" charset="0"/>
                <a:ea typeface="Arial" pitchFamily="34" charset="-122"/>
                <a:cs typeface="Arial" pitchFamily="34" charset="-120"/>
              </a:rPr>
              <a:t>النشاط العملي الأول</a:t>
            </a:r>
            <a:endParaRPr lang="ar-KW" sz="2600" dirty="0"/>
          </a:p>
        </p:txBody>
      </p:sp>
      <p:pic>
        <p:nvPicPr>
          <p:cNvPr id="8" name="anim_1_6" descr="beaker.png">    </p:cNvPr>
          <p:cNvPicPr>
            <a:picLocks noChangeAspect="1"/>
          </p:cNvPicPr>
          <p:nvPr/>
        </p:nvPicPr>
        <p:blipFill>
          <a:blip r:embed="rId2"/>
          <a:stretch>
            <a:fillRect/>
          </a:stretch>
        </p:blipFill>
        <p:spPr>
          <a:xfrm>
            <a:off x="6035040" y="4480560"/>
            <a:ext cx="1580606" cy="201168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29"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1100" fill="hold"/>
                                        <p:tgtEl>
                                          <p:spTgt spid="3"/>
                                        </p:tgtEl>
                                        <p:attrNameLst>
                                          <p:attrName>ppt_w</p:attrName>
                                        </p:attrNameLst>
                                      </p:cBhvr>
                                      <p:tavLst>
                                        <p:tav tm="0">
                                          <p:val>
                                            <p:fltVal val="0"/>
                                          </p:val>
                                        </p:tav>
                                        <p:tav tm="100000">
                                          <p:val>
                                            <p:strVal val="#ppt_w"/>
                                          </p:val>
                                        </p:tav>
                                      </p:tavLst>
                                    </p:anim>
                                    <p:anim calcmode="lin" valueType="num">
                                      <p:cBhvr additive="base">
                                        <p:cTn id="6" dur="1100" fill="hold"/>
                                        <p:tgtEl>
                                          <p:spTgt spid="3"/>
                                        </p:tgtEl>
                                        <p:attrNameLst>
                                          <p:attrName>ppt_h</p:attrName>
                                        </p:attrNameLst>
                                      </p:cBhvr>
                                      <p:tavLst>
                                        <p:tav tm="0">
                                          <p:val>
                                            <p:fltVal val="0"/>
                                          </p:val>
                                        </p:tav>
                                        <p:tav tm="100000">
                                          <p:val>
                                            <p:strVal val="#ppt_h"/>
                                          </p:val>
                                        </p:tav>
                                      </p:tavLst>
                                    </p:anim>
                                    <p:animEffect transition="in" filter="fade">
                                      <p:cBhvr>
                                        <p:cTn id="7" dur="1100"/>
                                        <p:tgtEl>
                                          <p:spTgt spid="3"/>
                                        </p:tgtEl>
                                      </p:cBhvr>
                                    </p:animEffect>
                                  </p:childTnLst>
                                </p:cTn>
                              </p:par>
                            </p:childTnLst>
                          </p:cTn>
                        </p:par>
                        <p:par>
                          <p:cTn id="30" fill="hold">
                            <p:stCondLst>
                              <p:cond delay="1100"/>
                            </p:stCondLst>
                            <p:childTnLst>
                              <p:par>
                                <p:cTn id="8" presetID="2" presetClass="entr" presetSubtype="2"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700" fill="hold"/>
                                        <p:tgtEl>
                                          <p:spTgt spid="4"/>
                                        </p:tgtEl>
                                        <p:attrNameLst>
                                          <p:attrName>ppt_x</p:attrName>
                                        </p:attrNameLst>
                                      </p:cBhvr>
                                      <p:tavLst>
                                        <p:tav tm="0">
                                          <p:val>
                                            <p:strVal val="1+#ppt_w/2"/>
                                          </p:val>
                                        </p:tav>
                                        <p:tav tm="100000">
                                          <p:val>
                                            <p:strVal val="#ppt_x"/>
                                          </p:val>
                                        </p:tav>
                                      </p:tavLst>
                                    </p:anim>
                                    <p:anim calcmode="lin" valueType="num">
                                      <p:cBhvr additive="base">
                                        <p:cTn id="11" dur="700" fill="hold"/>
                                        <p:tgtEl>
                                          <p:spTgt spid="4"/>
                                        </p:tgtEl>
                                        <p:attrNameLst>
                                          <p:attrName>ppt_y</p:attrName>
                                        </p:attrNameLst>
                                      </p:cBhvr>
                                      <p:tavLst>
                                        <p:tav tm="0">
                                          <p:val>
                                            <p:strVal val="#ppt_y"/>
                                          </p:val>
                                        </p:tav>
                                        <p:tav tm="100000">
                                          <p:val>
                                            <p:strVal val="#ppt_y"/>
                                          </p:val>
                                        </p:tav>
                                      </p:tavLst>
                                    </p:anim>
                                  </p:childTnLst>
                                </p:cTn>
                              </p:par>
                            </p:childTnLst>
                          </p:cTn>
                        </p:par>
                        <p:par>
                          <p:cTn id="31" fill="hold">
                            <p:stCondLst>
                              <p:cond delay="1800"/>
                            </p:stCondLst>
                            <p:childTnLst>
                              <p:par>
                                <p:cTn id="12" presetID="22" presetClass="entr" presetSubtype="2"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right)">
                                      <p:cBhvr>
                                        <p:cTn id="14" dur="1300"/>
                                        <p:tgtEl>
                                          <p:spTgt spid="5"/>
                                        </p:tgtEl>
                                      </p:cBhvr>
                                    </p:animEffect>
                                  </p:childTnLst>
                                </p:cTn>
                              </p:par>
                            </p:childTnLst>
                          </p:cTn>
                        </p:par>
                        <p:par>
                          <p:cTn id="32" fill="hold">
                            <p:stCondLst>
                              <p:cond delay="3100"/>
                            </p:stCondLst>
                            <p:childTnLst>
                              <p:par>
                                <p:cTn id="15" presetID="42"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800"/>
                                        <p:tgtEl>
                                          <p:spTgt spid="6"/>
                                        </p:tgtEl>
                                      </p:cBhvr>
                                    </p:animEffect>
                                    <p:anim calcmode="lin" valueType="num">
                                      <p:cBhvr additive="base">
                                        <p:cTn id="18" dur="800" fill="hold"/>
                                        <p:tgtEl>
                                          <p:spTgt spid="6"/>
                                        </p:tgtEl>
                                        <p:attrNameLst>
                                          <p:attrName>ppt_x</p:attrName>
                                        </p:attrNameLst>
                                      </p:cBhvr>
                                      <p:tavLst>
                                        <p:tav tm="0">
                                          <p:val>
                                            <p:strVal val="#ppt_x"/>
                                          </p:val>
                                        </p:tav>
                                        <p:tav tm="100000">
                                          <p:val>
                                            <p:strVal val="#ppt_x"/>
                                          </p:val>
                                        </p:tav>
                                      </p:tavLst>
                                    </p:anim>
                                    <p:anim calcmode="lin" valueType="num">
                                      <p:cBhvr additive="base">
                                        <p:cTn id="19" dur="80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3900"/>
                            </p:stCondLst>
                            <p:childTnLst>
                              <p:par>
                                <p:cTn id="20" presetID="53" presetClass="entr" presetSubtype="16"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600" fill="hold"/>
                                        <p:tgtEl>
                                          <p:spTgt spid="7"/>
                                        </p:tgtEl>
                                        <p:attrNameLst>
                                          <p:attrName>ppt_w</p:attrName>
                                        </p:attrNameLst>
                                      </p:cBhvr>
                                      <p:tavLst>
                                        <p:tav tm="0">
                                          <p:val>
                                            <p:fltVal val="0"/>
                                          </p:val>
                                        </p:tav>
                                        <p:tav tm="100000">
                                          <p:val>
                                            <p:strVal val="#ppt_w"/>
                                          </p:val>
                                        </p:tav>
                                      </p:tavLst>
                                    </p:anim>
                                    <p:anim calcmode="lin" valueType="num">
                                      <p:cBhvr additive="base">
                                        <p:cTn id="23" dur="600" fill="hold"/>
                                        <p:tgtEl>
                                          <p:spTgt spid="7"/>
                                        </p:tgtEl>
                                        <p:attrNameLst>
                                          <p:attrName>ppt_h</p:attrName>
                                        </p:attrNameLst>
                                      </p:cBhvr>
                                      <p:tavLst>
                                        <p:tav tm="0">
                                          <p:val>
                                            <p:fltVal val="0"/>
                                          </p:val>
                                        </p:tav>
                                        <p:tav tm="100000">
                                          <p:val>
                                            <p:strVal val="#ppt_h"/>
                                          </p:val>
                                        </p:tav>
                                      </p:tavLst>
                                    </p:anim>
                                    <p:animEffect transition="in" filter="fade">
                                      <p:cBhvr>
                                        <p:cTn id="24" dur="600"/>
                                        <p:tgtEl>
                                          <p:spTgt spid="7"/>
                                        </p:tgtEl>
                                      </p:cBhvr>
                                    </p:animEffect>
                                  </p:childTnLst>
                                </p:cTn>
                              </p:par>
                            </p:childTnLst>
                          </p:cTn>
                        </p:par>
                        <p:par>
                          <p:cTn id="34" fill="hold">
                            <p:stCondLst>
                              <p:cond delay="4500"/>
                            </p:stCondLst>
                            <p:childTnLst>
                              <p:par>
                                <p:cTn id="25" presetID="2" presetClass="entr" presetSubtype="4"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800" fill="hold"/>
                                        <p:tgtEl>
                                          <p:spTgt spid="8"/>
                                        </p:tgtEl>
                                        <p:attrNameLst>
                                          <p:attrName>ppt_x</p:attrName>
                                        </p:attrNameLst>
                                      </p:cBhvr>
                                      <p:tavLst>
                                        <p:tav tm="0">
                                          <p:val>
                                            <p:strVal val="#ppt_x"/>
                                          </p:val>
                                        </p:tav>
                                        <p:tav tm="100000">
                                          <p:val>
                                            <p:strVal val="#ppt_x"/>
                                          </p:val>
                                        </p:tav>
                                      </p:tavLst>
                                    </p:anim>
                                    <p:anim calcmode="lin" valueType="num">
                                      <p:cBhvr additive="base">
                                        <p:cTn id="28" dur="8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2" name=""/>
        <p:cNvGrpSpPr/>
        <p:nvPr/>
      </p:nvGrpSpPr>
      <p:grpSpPr>
        <a:xfrm>
          <a:off x="0" y="0"/>
          <a:ext cx="0" cy="0"/>
          <a:chOff x="0" y="0"/>
          <a:chExt cx="0" cy="0"/>
        </a:xfrm>
      </p:grpSpPr>
      <p:sp>
        <p:nvSpPr>
          <p:cNvPr id="3" name="anim_2_7"/>
          <p:cNvSpPr/>
          <p:nvPr/>
        </p:nvSpPr>
        <p:spPr>
          <a:xfrm>
            <a:off x="4709160" y="502920"/>
            <a:ext cx="7040880" cy="868680"/>
          </a:xfrm>
          <a:prstGeom prst="roundRect">
            <a:avLst>
              <a:gd name="adj" fmla="val 49474"/>
            </a:avLst>
          </a:prstGeom>
          <a:solidFill>
            <a:srgbClr val="E8335F"/>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النشاط العملي الأول</a:t>
            </a:r>
            <a:endParaRPr lang="ar-KW" sz="3600" dirty="0"/>
          </a:p>
        </p:txBody>
      </p:sp>
      <p:pic>
        <p:nvPicPr>
          <p:cNvPr id="4" name="anim_2_8" descr="sp_coral.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2_9"/>
          <p:cNvSpPr/>
          <p:nvPr/>
        </p:nvSpPr>
        <p:spPr>
          <a:xfrm>
            <a:off x="2258568" y="1572768"/>
            <a:ext cx="9747504" cy="4306824"/>
          </a:xfrm>
          <a:prstGeom prst="roundRect">
            <a:avLst>
              <a:gd name="adj" fmla="val 7431"/>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6" name="anim_2_10"/>
          <p:cNvGraphicFramePr>
            <a:graphicFrameLocks noGrp="1"/>
          </p:cNvGraphicFramePr>
          <p:nvPr>
            <p:extLst>
              <p:ext uri="{D42A27DB-BD31-4B8C-83A1-F6EECF244321}">
                <p14:modId xmlns:p14="http://schemas.microsoft.com/office/powerpoint/2010/main" val="1579011935"/>
              </p:ext>
            </p:extLst>
          </p:nvPr>
        </p:nvGraphicFramePr>
        <p:xfrm>
          <a:off x="2514600" y="1828800"/>
          <a:ext cx="9235440" cy="914400"/>
        </p:xfrm>
        <a:graphic>
          <a:graphicData uri="http://schemas.openxmlformats.org/drawingml/2006/table">
            <a:tbl>
              <a:tblPr/>
              <a:tblGrid>
                <a:gridCol w="6492240"/>
                <a:gridCol w="2743200"/>
              </a:tblGrid>
              <a:tr h="685800">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الكشف عن المركبات الأيونية عن طريق التجربة العملية</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الهدف من النشاط</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960120">
                <a:tc>
                  <a:txBody>
                    <a:bodyPr/>
                    <a:lstStyle/>
                    <a:p>
                      <a:pPr rtl="1" algn="r" indent="0" marL="0">
                        <a:buNone/>
                      </a:pPr>
                      <a:r>
                        <a:rPr lang="en-US" sz="2200" b="1" dirty="0">
                          <a:solidFill>
                            <a:srgbClr val="16325C"/>
                          </a:solidFill>
                          <a:latin typeface="Arial" pitchFamily="34" charset="0"/>
                          <a:ea typeface="Arial" pitchFamily="34" charset="-122"/>
                          <a:cs typeface="Arial" pitchFamily="34" charset="-120"/>
                        </a:rPr>
                        <a:t>الملاحظة – تسجيل البيانات – المقارنة – التمييز – الاستنتاج – العمل الجماعي والتعاوني</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المهارات المكتسبة</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1463040">
                <a:tc>
                  <a:txBody>
                    <a:bodyPr/>
                    <a:lstStyle/>
                    <a:p>
                      <a:pPr rtl="1" algn="r" indent="0" marL="0">
                        <a:buNone/>
                      </a:pPr>
                      <a:r>
                        <a:rPr lang="en-US" sz="2200" b="1" dirty="0">
                          <a:solidFill>
                            <a:srgbClr val="16325C"/>
                          </a:solidFill>
                          <a:latin typeface="Arial" pitchFamily="34" charset="0"/>
                          <a:ea typeface="Arial" pitchFamily="34" charset="-122"/>
                          <a:cs typeface="Arial" pitchFamily="34" charset="-120"/>
                        </a:rPr>
                        <a:t>عينة (A,B) – كأس زجاجية 150 mL – ميزان إلكتروني – دائرة كهربائية باستخدام أقطاب الكربون – عبوة ماء مقطر – ساق زجاجية – ملعقة معدنية – ورق شفّاف</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أدوات النشاط</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685800">
                <a:tc>
                  <a:txBody>
                    <a:bodyPr/>
                    <a:lstStyle/>
                    <a:p>
                      <a:pPr rtl="1" algn="r" indent="0" marL="0">
                        <a:buNone/>
                      </a:pPr>
                      <a:r>
                        <a:rPr lang="en-US" sz="2200" b="1" dirty="0">
                          <a:solidFill>
                            <a:srgbClr val="16325C"/>
                          </a:solidFill>
                          <a:latin typeface="Arial" pitchFamily="34" charset="0"/>
                          <a:ea typeface="Arial" pitchFamily="34" charset="-122"/>
                          <a:cs typeface="Arial" pitchFamily="34" charset="-120"/>
                        </a:rPr>
                        <a:t>نظارات واقية – قفازات – معطف المختبر</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الأمن والسلامة</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bl>
          </a:graphicData>
        </a:graphic>
      </p:graphicFrame>
      <p:pic>
        <p:nvPicPr>
          <p:cNvPr id="7" name="anim_2_11" descr="beaker.png">    </p:cNvPr>
          <p:cNvPicPr>
            <a:picLocks noChangeAspect="1"/>
          </p:cNvPicPr>
          <p:nvPr/>
        </p:nvPicPr>
        <p:blipFill>
          <a:blip r:embed="rId2"/>
          <a:stretch>
            <a:fillRect/>
          </a:stretch>
        </p:blipFill>
        <p:spPr>
          <a:xfrm>
            <a:off x="320040" y="2011680"/>
            <a:ext cx="2801983" cy="3566160"/>
          </a:xfrm>
          <a:prstGeom prst="rect">
            <a:avLst/>
          </a:prstGeom>
        </p:spPr>
      </p:pic>
    </p:spTree>
  </p:cSld>
  <p:clrMapOvr>
    <a:masterClrMapping/>
  </p:clrMapOvr>
  <p:transition spd="slow">
    <p:push dir="l"/>
  </p:transition>
  <p:timing>
    <p:tnLst>
      <p:par>
        <p:cTn id="1" dur="indefinite" restart="never" nodeType="tmRoot">
          <p:childTnLst>
            <p:seq concurrent="1" nextAc="seek">
              <p:cTn id="2" dur="indefinite" nodeType="mainSeq">
                <p:childTnLst>
                  <p:par>
                    <p:cTn id="27" fill="hold">
                      <p:stCondLst>
                        <p:cond delay="indefinite"/>
                        <p:cond evt="onBegin" delay="0">
                          <p:tn val="2"/>
                        </p:cond>
                      </p:stCondLst>
                      <p:childTnLst>
                        <p:par>
                          <p:cTn id="23"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4"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25" fill="hold">
                            <p:stCondLst>
                              <p:cond delay="140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700"/>
                                        <p:tgtEl>
                                          <p:spTgt spid="6"/>
                                        </p:tgtEl>
                                      </p:cBhvr>
                                    </p:animEffect>
                                  </p:childTnLst>
                                </p:cTn>
                              </p:par>
                            </p:childTnLst>
                          </p:cTn>
                        </p:par>
                        <p:par>
                          <p:cTn id="26" fill="hold">
                            <p:stCondLst>
                              <p:cond delay="2100"/>
                            </p:stCondLst>
                            <p:childTnLst>
                              <p:par>
                                <p:cTn id="19" presetID="2" presetClass="entr" presetSubtype="8"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800" fill="hold"/>
                                        <p:tgtEl>
                                          <p:spTgt spid="7"/>
                                        </p:tgtEl>
                                        <p:attrNameLst>
                                          <p:attrName>ppt_x</p:attrName>
                                        </p:attrNameLst>
                                      </p:cBhvr>
                                      <p:tavLst>
                                        <p:tav tm="0">
                                          <p:val>
                                            <p:strVal val="0-#ppt_w/2"/>
                                          </p:val>
                                        </p:tav>
                                        <p:tav tm="100000">
                                          <p:val>
                                            <p:strVal val="#ppt_x"/>
                                          </p:val>
                                        </p:tav>
                                      </p:tavLst>
                                    </p:anim>
                                    <p:anim calcmode="lin" valueType="num">
                                      <p:cBhvr additive="base">
                                        <p:cTn id="22" dur="8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Graphic spid="6"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2" name=""/>
        <p:cNvGrpSpPr/>
        <p:nvPr/>
      </p:nvGrpSpPr>
      <p:grpSpPr>
        <a:xfrm>
          <a:off x="0" y="0"/>
          <a:ext cx="0" cy="0"/>
          <a:chOff x="0" y="0"/>
          <a:chExt cx="0" cy="0"/>
        </a:xfrm>
      </p:grpSpPr>
      <p:sp>
        <p:nvSpPr>
          <p:cNvPr id="3" name="anim_3_12"/>
          <p:cNvSpPr/>
          <p:nvPr/>
        </p:nvSpPr>
        <p:spPr>
          <a:xfrm>
            <a:off x="6903720" y="502920"/>
            <a:ext cx="4846320" cy="868680"/>
          </a:xfrm>
          <a:prstGeom prst="roundRect">
            <a:avLst>
              <a:gd name="adj" fmla="val 49474"/>
            </a:avLst>
          </a:prstGeom>
          <a:solidFill>
            <a:srgbClr val="1F6FB2"/>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خطوات العمل</a:t>
            </a:r>
            <a:endParaRPr lang="ar-KW" sz="3600" dirty="0"/>
          </a:p>
        </p:txBody>
      </p:sp>
      <p:pic>
        <p:nvPicPr>
          <p:cNvPr id="4" name="anim_3_13" descr="sp_blue.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3_14"/>
          <p:cNvSpPr txBox="1"/>
          <p:nvPr/>
        </p:nvSpPr>
        <p:spPr>
          <a:xfrm>
            <a:off x="3657600" y="1691640"/>
            <a:ext cx="8092440" cy="59436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700" b="1" dirty="0">
                <a:solidFill>
                  <a:srgbClr val="1F6FB2"/>
                </a:solidFill>
                <a:latin typeface="Arial" pitchFamily="34" charset="0"/>
                <a:ea typeface="Arial" pitchFamily="34" charset="-122"/>
                <a:cs typeface="Arial" pitchFamily="34" charset="-120"/>
              </a:rPr>
              <a:t>أمامك عينتين لهما الرمز (A, B) والمطلوب:</a:t>
            </a:r>
            <a:endParaRPr lang="ar-KW" sz="2700" dirty="0"/>
          </a:p>
        </p:txBody>
      </p:sp>
      <p:sp>
        <p:nvSpPr>
          <p:cNvPr id="6" name="anim_3_15"/>
          <p:cNvSpPr/>
          <p:nvPr/>
        </p:nvSpPr>
        <p:spPr>
          <a:xfrm>
            <a:off x="3657600" y="2423160"/>
            <a:ext cx="8092440" cy="914400"/>
          </a:xfrm>
          <a:prstGeom prst="roundRect">
            <a:avLst>
              <a:gd name="adj" fmla="val 30000"/>
            </a:avLst>
          </a:prstGeom>
          <a:solidFill>
            <a:srgbClr val="FFFFFF">
              <a:alpha val="95000"/>
            </a:srgbClr>
          </a:solidFill>
          <a:ln/>
          <a:effectLst>
            <a:outerShdw sx="100000" sy="100000" kx="0" ky="0" algn="bl" rotWithShape="0" blurRad="152400" dist="50800" dir="5400000">
              <a:srgbClr val="1F4F8A">
                <a:alpha val="18000"/>
              </a:srgbClr>
            </a:outerShdw>
          </a:effectLst>
        </p:spPr>
      </p:sp>
      <p:pic>
        <p:nvPicPr>
          <p:cNvPr id="7" name="anim_3_16" descr="sp_blue.png">    </p:cNvPr>
          <p:cNvPicPr>
            <a:picLocks noChangeAspect="1"/>
          </p:cNvPicPr>
          <p:nvPr/>
        </p:nvPicPr>
        <p:blipFill>
          <a:blip r:embed="rId2"/>
          <a:stretch>
            <a:fillRect/>
          </a:stretch>
        </p:blipFill>
        <p:spPr>
          <a:xfrm>
            <a:off x="11018520" y="2542032"/>
            <a:ext cx="658368" cy="658368"/>
          </a:xfrm>
          <a:prstGeom prst="rect">
            <a:avLst/>
          </a:prstGeom>
        </p:spPr>
      </p:pic>
      <p:sp>
        <p:nvSpPr>
          <p:cNvPr id="8" name="anim_3_17"/>
          <p:cNvSpPr txBox="1"/>
          <p:nvPr/>
        </p:nvSpPr>
        <p:spPr>
          <a:xfrm>
            <a:off x="11018520" y="2594701"/>
            <a:ext cx="658368" cy="526694"/>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160" b="1" dirty="0">
                <a:solidFill>
                  <a:srgbClr val="FFFFFF"/>
                </a:solidFill>
                <a:latin typeface="Arial" pitchFamily="34" charset="0"/>
                <a:ea typeface="Arial" pitchFamily="34" charset="-122"/>
                <a:cs typeface="Arial" pitchFamily="34" charset="-120"/>
              </a:rPr>
              <a:t>1</a:t>
            </a:r>
            <a:endParaRPr lang="en-US" sz="2160" dirty="0"/>
          </a:p>
        </p:txBody>
      </p:sp>
      <p:sp>
        <p:nvSpPr>
          <p:cNvPr id="9" name="anim_3_18"/>
          <p:cNvSpPr txBox="1"/>
          <p:nvPr/>
        </p:nvSpPr>
        <p:spPr>
          <a:xfrm>
            <a:off x="3794760" y="2423160"/>
            <a:ext cx="7132320" cy="914400"/>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انظر إلى العينات التي أمامك وحدد الحالة الفيزيائية لكل منها.</a:t>
            </a:r>
            <a:endParaRPr lang="ar-KW" sz="2200" dirty="0"/>
          </a:p>
        </p:txBody>
      </p:sp>
      <p:sp>
        <p:nvSpPr>
          <p:cNvPr id="10" name="anim_3_19"/>
          <p:cNvSpPr/>
          <p:nvPr/>
        </p:nvSpPr>
        <p:spPr>
          <a:xfrm>
            <a:off x="3657600" y="3429000"/>
            <a:ext cx="8092440" cy="1280160"/>
          </a:xfrm>
          <a:prstGeom prst="roundRect">
            <a:avLst>
              <a:gd name="adj" fmla="val 21429"/>
            </a:avLst>
          </a:prstGeom>
          <a:solidFill>
            <a:srgbClr val="FFFFFF">
              <a:alpha val="95000"/>
            </a:srgbClr>
          </a:solidFill>
          <a:ln/>
          <a:effectLst>
            <a:outerShdw sx="100000" sy="100000" kx="0" ky="0" algn="bl" rotWithShape="0" blurRad="152400" dist="50800" dir="5400000">
              <a:srgbClr val="1F4F8A">
                <a:alpha val="18000"/>
              </a:srgbClr>
            </a:outerShdw>
          </a:effectLst>
        </p:spPr>
      </p:sp>
      <p:pic>
        <p:nvPicPr>
          <p:cNvPr id="11" name="anim_3_20" descr="sp_teal.png">    </p:cNvPr>
          <p:cNvPicPr>
            <a:picLocks noChangeAspect="1"/>
          </p:cNvPicPr>
          <p:nvPr/>
        </p:nvPicPr>
        <p:blipFill>
          <a:blip r:embed="rId3"/>
          <a:stretch>
            <a:fillRect/>
          </a:stretch>
        </p:blipFill>
        <p:spPr>
          <a:xfrm>
            <a:off x="11018520" y="3730752"/>
            <a:ext cx="658368" cy="658368"/>
          </a:xfrm>
          <a:prstGeom prst="rect">
            <a:avLst/>
          </a:prstGeom>
        </p:spPr>
      </p:pic>
      <p:sp>
        <p:nvSpPr>
          <p:cNvPr id="12" name="anim_3_21"/>
          <p:cNvSpPr txBox="1"/>
          <p:nvPr/>
        </p:nvSpPr>
        <p:spPr>
          <a:xfrm>
            <a:off x="11018520" y="3783421"/>
            <a:ext cx="658368" cy="526694"/>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160" b="1" dirty="0">
                <a:solidFill>
                  <a:srgbClr val="FFFFFF"/>
                </a:solidFill>
                <a:latin typeface="Arial" pitchFamily="34" charset="0"/>
                <a:ea typeface="Arial" pitchFamily="34" charset="-122"/>
                <a:cs typeface="Arial" pitchFamily="34" charset="-120"/>
              </a:rPr>
              <a:t>2</a:t>
            </a:r>
            <a:endParaRPr lang="en-US" sz="2160" dirty="0"/>
          </a:p>
        </p:txBody>
      </p:sp>
      <p:sp>
        <p:nvSpPr>
          <p:cNvPr id="13" name="anim_3_22"/>
          <p:cNvSpPr txBox="1"/>
          <p:nvPr/>
        </p:nvSpPr>
        <p:spPr>
          <a:xfrm>
            <a:off x="3794760" y="3429000"/>
            <a:ext cx="7132320" cy="1280160"/>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خذ كأسين زجاجيتين وسجّل عليهما رموز العينات كالتالي: الكأس الأول: سجّل عليه الرمز (A)، الكأس الثاني: سجّل عليه الرمز (B)</a:t>
            </a:r>
            <a:endParaRPr lang="ar-KW" sz="2200" dirty="0"/>
          </a:p>
        </p:txBody>
      </p:sp>
      <p:sp>
        <p:nvSpPr>
          <p:cNvPr id="14" name="anim_3_23"/>
          <p:cNvSpPr/>
          <p:nvPr/>
        </p:nvSpPr>
        <p:spPr>
          <a:xfrm>
            <a:off x="3657600" y="4846320"/>
            <a:ext cx="8092440" cy="914400"/>
          </a:xfrm>
          <a:prstGeom prst="roundRect">
            <a:avLst>
              <a:gd name="adj" fmla="val 30000"/>
            </a:avLst>
          </a:prstGeom>
          <a:solidFill>
            <a:srgbClr val="FFFFFF">
              <a:alpha val="95000"/>
            </a:srgbClr>
          </a:solidFill>
          <a:ln/>
          <a:effectLst>
            <a:outerShdw sx="100000" sy="100000" kx="0" ky="0" algn="bl" rotWithShape="0" blurRad="152400" dist="50800" dir="5400000">
              <a:srgbClr val="1F4F8A">
                <a:alpha val="18000"/>
              </a:srgbClr>
            </a:outerShdw>
          </a:effectLst>
        </p:spPr>
      </p:sp>
      <p:pic>
        <p:nvPicPr>
          <p:cNvPr id="15" name="anim_3_24" descr="sp_purple.png">    </p:cNvPr>
          <p:cNvPicPr>
            <a:picLocks noChangeAspect="1"/>
          </p:cNvPicPr>
          <p:nvPr/>
        </p:nvPicPr>
        <p:blipFill>
          <a:blip r:embed="rId4"/>
          <a:stretch>
            <a:fillRect/>
          </a:stretch>
        </p:blipFill>
        <p:spPr>
          <a:xfrm>
            <a:off x="11018520" y="4965192"/>
            <a:ext cx="658368" cy="658368"/>
          </a:xfrm>
          <a:prstGeom prst="rect">
            <a:avLst/>
          </a:prstGeom>
        </p:spPr>
      </p:pic>
      <p:sp>
        <p:nvSpPr>
          <p:cNvPr id="16" name="anim_3_25"/>
          <p:cNvSpPr txBox="1"/>
          <p:nvPr/>
        </p:nvSpPr>
        <p:spPr>
          <a:xfrm>
            <a:off x="11018520" y="5017861"/>
            <a:ext cx="658368" cy="526694"/>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160" b="1" dirty="0">
                <a:solidFill>
                  <a:srgbClr val="FFFFFF"/>
                </a:solidFill>
                <a:latin typeface="Arial" pitchFamily="34" charset="0"/>
                <a:ea typeface="Arial" pitchFamily="34" charset="-122"/>
                <a:cs typeface="Arial" pitchFamily="34" charset="-120"/>
              </a:rPr>
              <a:t>3</a:t>
            </a:r>
            <a:endParaRPr lang="en-US" sz="2160" dirty="0"/>
          </a:p>
        </p:txBody>
      </p:sp>
      <p:sp>
        <p:nvSpPr>
          <p:cNvPr id="17" name="anim_3_26"/>
          <p:cNvSpPr txBox="1"/>
          <p:nvPr/>
        </p:nvSpPr>
        <p:spPr>
          <a:xfrm>
            <a:off x="3794760" y="4846320"/>
            <a:ext cx="7132320" cy="914400"/>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زِن كتلة (.....g) من العينات باستخدام الميزان الإلكتروني وانقلها إلى الكأس الزجاجي الخاص به.</a:t>
            </a:r>
            <a:endParaRPr lang="ar-KW" sz="2200" dirty="0"/>
          </a:p>
        </p:txBody>
      </p:sp>
      <p:pic>
        <p:nvPicPr>
          <p:cNvPr id="18" name="anim_3_27" descr="beaker.png">    </p:cNvPr>
          <p:cNvPicPr>
            <a:picLocks noChangeAspect="1"/>
          </p:cNvPicPr>
          <p:nvPr/>
        </p:nvPicPr>
        <p:blipFill>
          <a:blip r:embed="rId5"/>
          <a:stretch>
            <a:fillRect/>
          </a:stretch>
        </p:blipFill>
        <p:spPr>
          <a:xfrm>
            <a:off x="548640" y="2194560"/>
            <a:ext cx="2083526" cy="2651760"/>
          </a:xfrm>
          <a:prstGeom prst="rect">
            <a:avLst/>
          </a:prstGeom>
        </p:spPr>
      </p:pic>
      <p:pic>
        <p:nvPicPr>
          <p:cNvPr id="19" name="anim_3_28" descr="beaker.png">    </p:cNvPr>
          <p:cNvPicPr>
            <a:picLocks noChangeAspect="1"/>
          </p:cNvPicPr>
          <p:nvPr/>
        </p:nvPicPr>
        <p:blipFill>
          <a:blip r:embed="rId6"/>
          <a:stretch>
            <a:fillRect/>
          </a:stretch>
        </p:blipFill>
        <p:spPr>
          <a:xfrm>
            <a:off x="1874520" y="2834640"/>
            <a:ext cx="2083526" cy="2651760"/>
          </a:xfrm>
          <a:prstGeom prst="rect">
            <a:avLst/>
          </a:prstGeom>
        </p:spPr>
      </p:pic>
      <p:sp>
        <p:nvSpPr>
          <p:cNvPr id="20" name="anim_3_29"/>
          <p:cNvSpPr txBox="1"/>
          <p:nvPr/>
        </p:nvSpPr>
        <p:spPr>
          <a:xfrm>
            <a:off x="868680" y="5440680"/>
            <a:ext cx="822960" cy="548640"/>
          </a:xfrm>
          <a:prstGeom prst="roundRect">
            <a:avLst>
              <a:gd name="adj" fmla="val 50000"/>
            </a:avLst>
          </a:prstGeom>
          <a:solidFill>
            <a:srgbClr val="6C4FE0"/>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0" algn="ctr" indent="0" marL="0">
              <a:lnSpc>
                <a:spcPct val="105000"/>
              </a:lnSpc>
              <a:spcAft>
                <a:spcPts val="600"/>
              </a:spcAft>
              <a:buNone/>
            </a:pPr>
            <a:r>
              <a:rPr lang="en-US" altLang="en-US" sz="2800" b="1" dirty="0">
                <a:solidFill>
                  <a:srgbClr val="FFFFFF"/>
                </a:solidFill>
                <a:latin typeface="Arial" pitchFamily="34" charset="0"/>
                <a:ea typeface="Arial" pitchFamily="34" charset="-122"/>
                <a:cs typeface="Arial" pitchFamily="34" charset="-120"/>
              </a:rPr>
              <a:t>A</a:t>
            </a:r>
            <a:endParaRPr lang="en-US" sz="2800" dirty="0"/>
          </a:p>
        </p:txBody>
      </p:sp>
      <p:sp>
        <p:nvSpPr>
          <p:cNvPr id="21" name="anim_3_30"/>
          <p:cNvSpPr txBox="1"/>
          <p:nvPr/>
        </p:nvSpPr>
        <p:spPr>
          <a:xfrm>
            <a:off x="2194560" y="5623560"/>
            <a:ext cx="822960" cy="548640"/>
          </a:xfrm>
          <a:prstGeom prst="roundRect">
            <a:avLst>
              <a:gd name="adj" fmla="val 50000"/>
            </a:avLst>
          </a:prstGeom>
          <a:solidFill>
            <a:srgbClr val="0F9D8E"/>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0" algn="ctr" indent="0" marL="0">
              <a:lnSpc>
                <a:spcPct val="105000"/>
              </a:lnSpc>
              <a:spcAft>
                <a:spcPts val="600"/>
              </a:spcAft>
              <a:buNone/>
            </a:pPr>
            <a:r>
              <a:rPr lang="en-US" altLang="en-US" sz="2800" b="1" dirty="0">
                <a:solidFill>
                  <a:srgbClr val="FFFFFF"/>
                </a:solidFill>
                <a:latin typeface="Arial" pitchFamily="34" charset="0"/>
                <a:ea typeface="Arial" pitchFamily="34" charset="-122"/>
                <a:cs typeface="Arial" pitchFamily="34" charset="-120"/>
              </a:rPr>
              <a:t>B</a:t>
            </a:r>
            <a:endParaRPr lang="en-US" sz="2800" dirty="0"/>
          </a:p>
        </p:txBody>
      </p:sp>
    </p:spTree>
  </p:cSld>
  <p:clrMapOvr>
    <a:masterClrMapping/>
  </p:clrMapOvr>
  <p:transition spd="slow">
    <p:wipe dir="l"/>
  </p:transition>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4"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15"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900"/>
                                        <p:tgtEl>
                                          <p:spTgt spid="5"/>
                                        </p:tgtEl>
                                      </p:cBhvr>
                                    </p:animEffect>
                                  </p:childTnLst>
                                </p:cTn>
                              </p:par>
                            </p:childTnLst>
                          </p:cTn>
                        </p:par>
                      </p:childTnLst>
                    </p:cTn>
                  </p:par>
                  <p:par>
                    <p:cTn id="33" fill="hold">
                      <p:stCondLst>
                        <p:cond delay="indefinite"/>
                      </p:stCondLst>
                      <p:childTnLst>
                        <p:par>
                          <p:cTn id="32"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par>
                                <p:cTn id="21" presetID="53" presetClass="entr" presetSubtype="16"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ppt_w</p:attrName>
                                        </p:attrNameLst>
                                      </p:cBhvr>
                                      <p:tavLst>
                                        <p:tav tm="0">
                                          <p:val>
                                            <p:fltVal val="0"/>
                                          </p:val>
                                        </p:tav>
                                        <p:tav tm="100000">
                                          <p:val>
                                            <p:strVal val="#ppt_w"/>
                                          </p:val>
                                        </p:tav>
                                      </p:tavLst>
                                    </p:anim>
                                    <p:anim calcmode="lin" valueType="num">
                                      <p:cBhvr additive="base">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300"/>
                                        <p:tgtEl>
                                          <p:spTgt spid="8"/>
                                        </p:tgtEl>
                                      </p:cBhvr>
                                    </p:animEffect>
                                  </p:childTnLst>
                                </p:cTn>
                              </p:par>
                              <p:par>
                                <p:cTn id="29" presetID="22" presetClass="entr" presetSubtype="2" fill="hold" grpId="0" nodeType="withEffect">
                                  <p:stCondLst>
                                    <p:cond delay="150"/>
                                  </p:stCondLst>
                                  <p:childTnLst>
                                    <p:set>
                                      <p:cBhvr>
                                        <p:cTn id="30" dur="1" fill="hold">
                                          <p:stCondLst>
                                            <p:cond delay="0"/>
                                          </p:stCondLst>
                                        </p:cTn>
                                        <p:tgtEl>
                                          <p:spTgt spid="9"/>
                                        </p:tgtEl>
                                        <p:attrNameLst>
                                          <p:attrName>style.visibility</p:attrName>
                                        </p:attrNameLst>
                                      </p:cBhvr>
                                      <p:to>
                                        <p:strVal val="visible"/>
                                      </p:to>
                                    </p:set>
                                    <p:animEffect transition="in" filter="wipe(right)">
                                      <p:cBhvr>
                                        <p:cTn id="31" dur="1000"/>
                                        <p:tgtEl>
                                          <p:spTgt spid="9"/>
                                        </p:tgtEl>
                                      </p:cBhvr>
                                    </p:animEffect>
                                  </p:childTnLst>
                                </p:cTn>
                              </p:par>
                            </p:childTnLst>
                          </p:cTn>
                        </p:par>
                      </p:childTnLst>
                    </p:cTn>
                  </p:par>
                  <p:par>
                    <p:cTn id="50" fill="hold">
                      <p:stCondLst>
                        <p:cond delay="indefinite"/>
                      </p:stCondLst>
                      <p:childTnLst>
                        <p:par>
                          <p:cTn id="49"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1+#ppt_w/2"/>
                                          </p:val>
                                        </p:tav>
                                        <p:tav tm="100000">
                                          <p:val>
                                            <p:strVal val="#ppt_x"/>
                                          </p:val>
                                        </p:tav>
                                      </p:tavLst>
                                    </p:anim>
                                    <p:anim calcmode="lin" valueType="num">
                                      <p:cBhvr additive="base">
                                        <p:cTn id="37" dur="500" fill="hold"/>
                                        <p:tgtEl>
                                          <p:spTgt spid="10"/>
                                        </p:tgtEl>
                                        <p:attrNameLst>
                                          <p:attrName>ppt_y</p:attrName>
                                        </p:attrNameLst>
                                      </p:cBhvr>
                                      <p:tavLst>
                                        <p:tav tm="0">
                                          <p:val>
                                            <p:strVal val="#ppt_y"/>
                                          </p:val>
                                        </p:tav>
                                        <p:tav tm="100000">
                                          <p:val>
                                            <p:strVal val="#ppt_y"/>
                                          </p:val>
                                        </p:tav>
                                      </p:tavLst>
                                    </p:anim>
                                  </p:childTnLst>
                                </p:cTn>
                              </p:par>
                              <p:par>
                                <p:cTn id="38" presetID="53" presetClass="entr" presetSubtype="16"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ppt_w</p:attrName>
                                        </p:attrNameLst>
                                      </p:cBhvr>
                                      <p:tavLst>
                                        <p:tav tm="0">
                                          <p:val>
                                            <p:fltVal val="0"/>
                                          </p:val>
                                        </p:tav>
                                        <p:tav tm="100000">
                                          <p:val>
                                            <p:strVal val="#ppt_w"/>
                                          </p:val>
                                        </p:tav>
                                      </p:tavLst>
                                    </p:anim>
                                    <p:anim calcmode="lin" valueType="num">
                                      <p:cBhvr additive="base">
                                        <p:cTn id="41" dur="500" fill="hold"/>
                                        <p:tgtEl>
                                          <p:spTgt spid="11"/>
                                        </p:tgtEl>
                                        <p:attrNameLst>
                                          <p:attrName>ppt_h</p:attrName>
                                        </p:attrNameLst>
                                      </p:cBhvr>
                                      <p:tavLst>
                                        <p:tav tm="0">
                                          <p:val>
                                            <p:fltVal val="0"/>
                                          </p:val>
                                        </p:tav>
                                        <p:tav tm="100000">
                                          <p:val>
                                            <p:strVal val="#ppt_h"/>
                                          </p:val>
                                        </p:tav>
                                      </p:tavLst>
                                    </p:anim>
                                    <p:animEffect transition="in" filter="fade">
                                      <p:cBhvr>
                                        <p:cTn id="42" dur="5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300"/>
                                        <p:tgtEl>
                                          <p:spTgt spid="12"/>
                                        </p:tgtEl>
                                      </p:cBhvr>
                                    </p:animEffect>
                                  </p:childTnLst>
                                </p:cTn>
                              </p:par>
                              <p:par>
                                <p:cTn id="46" presetID="22" presetClass="entr" presetSubtype="2" fill="hold" grpId="0" nodeType="withEffect">
                                  <p:stCondLst>
                                    <p:cond delay="150"/>
                                  </p:stCondLst>
                                  <p:childTnLst>
                                    <p:set>
                                      <p:cBhvr>
                                        <p:cTn id="47" dur="1" fill="hold">
                                          <p:stCondLst>
                                            <p:cond delay="0"/>
                                          </p:stCondLst>
                                        </p:cTn>
                                        <p:tgtEl>
                                          <p:spTgt spid="13"/>
                                        </p:tgtEl>
                                        <p:attrNameLst>
                                          <p:attrName>style.visibility</p:attrName>
                                        </p:attrNameLst>
                                      </p:cBhvr>
                                      <p:to>
                                        <p:strVal val="visible"/>
                                      </p:to>
                                    </p:set>
                                    <p:animEffect transition="in" filter="wipe(right)">
                                      <p:cBhvr>
                                        <p:cTn id="48" dur="1000"/>
                                        <p:tgtEl>
                                          <p:spTgt spid="13"/>
                                        </p:tgtEl>
                                      </p:cBhvr>
                                    </p:animEffect>
                                  </p:childTnLst>
                                </p:cTn>
                              </p:par>
                            </p:childTnLst>
                          </p:cTn>
                        </p:par>
                      </p:childTnLst>
                    </p:cTn>
                  </p:par>
                  <p:par>
                    <p:cTn id="89" fill="hold">
                      <p:stCondLst>
                        <p:cond delay="indefinite"/>
                      </p:stCondLst>
                      <p:childTnLst>
                        <p:par>
                          <p:cTn id="86"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ppt_x</p:attrName>
                                        </p:attrNameLst>
                                      </p:cBhvr>
                                      <p:tavLst>
                                        <p:tav tm="0">
                                          <p:val>
                                            <p:strVal val="1+#ppt_w/2"/>
                                          </p:val>
                                        </p:tav>
                                        <p:tav tm="100000">
                                          <p:val>
                                            <p:strVal val="#ppt_x"/>
                                          </p:val>
                                        </p:tav>
                                      </p:tavLst>
                                    </p:anim>
                                    <p:anim calcmode="lin" valueType="num">
                                      <p:cBhvr additive="base">
                                        <p:cTn id="54" dur="500" fill="hold"/>
                                        <p:tgtEl>
                                          <p:spTgt spid="14"/>
                                        </p:tgtEl>
                                        <p:attrNameLst>
                                          <p:attrName>ppt_y</p:attrName>
                                        </p:attrNameLst>
                                      </p:cBhvr>
                                      <p:tavLst>
                                        <p:tav tm="0">
                                          <p:val>
                                            <p:strVal val="#ppt_y"/>
                                          </p:val>
                                        </p:tav>
                                        <p:tav tm="100000">
                                          <p:val>
                                            <p:strVal val="#ppt_y"/>
                                          </p:val>
                                        </p:tav>
                                      </p:tavLst>
                                    </p:anim>
                                  </p:childTnLst>
                                </p:cTn>
                              </p:par>
                              <p:par>
                                <p:cTn id="55" presetID="53" presetClass="entr" presetSubtype="16"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ppt_w</p:attrName>
                                        </p:attrNameLst>
                                      </p:cBhvr>
                                      <p:tavLst>
                                        <p:tav tm="0">
                                          <p:val>
                                            <p:fltVal val="0"/>
                                          </p:val>
                                        </p:tav>
                                        <p:tav tm="100000">
                                          <p:val>
                                            <p:strVal val="#ppt_w"/>
                                          </p:val>
                                        </p:tav>
                                      </p:tavLst>
                                    </p:anim>
                                    <p:anim calcmode="lin" valueType="num">
                                      <p:cBhvr additive="base">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300"/>
                                        <p:tgtEl>
                                          <p:spTgt spid="16"/>
                                        </p:tgtEl>
                                      </p:cBhvr>
                                    </p:animEffect>
                                  </p:childTnLst>
                                </p:cTn>
                              </p:par>
                              <p:par>
                                <p:cTn id="63" presetID="22" presetClass="entr" presetSubtype="2" fill="hold" grpId="0" nodeType="withEffect">
                                  <p:stCondLst>
                                    <p:cond delay="150"/>
                                  </p:stCondLst>
                                  <p:childTnLst>
                                    <p:set>
                                      <p:cBhvr>
                                        <p:cTn id="64" dur="1" fill="hold">
                                          <p:stCondLst>
                                            <p:cond delay="0"/>
                                          </p:stCondLst>
                                        </p:cTn>
                                        <p:tgtEl>
                                          <p:spTgt spid="17"/>
                                        </p:tgtEl>
                                        <p:attrNameLst>
                                          <p:attrName>style.visibility</p:attrName>
                                        </p:attrNameLst>
                                      </p:cBhvr>
                                      <p:to>
                                        <p:strVal val="visible"/>
                                      </p:to>
                                    </p:set>
                                    <p:animEffect transition="in" filter="wipe(right)">
                                      <p:cBhvr>
                                        <p:cTn id="65" dur="1000"/>
                                        <p:tgtEl>
                                          <p:spTgt spid="17"/>
                                        </p:tgtEl>
                                      </p:cBhvr>
                                    </p:animEffect>
                                  </p:childTnLst>
                                </p:cTn>
                              </p:par>
                            </p:childTnLst>
                          </p:cTn>
                        </p:par>
                        <p:par>
                          <p:cTn id="87" fill="hold">
                            <p:stCondLst>
                              <p:cond delay="1150"/>
                            </p:stCondLst>
                            <p:childTnLst>
                              <p:par>
                                <p:cTn id="66" presetID="53" presetClass="entr" presetSubtype="16" fill="hold" grpId="0" nodeType="afterEffect">
                                  <p:stCondLst>
                                    <p:cond delay="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700" fill="hold"/>
                                        <p:tgtEl>
                                          <p:spTgt spid="18"/>
                                        </p:tgtEl>
                                        <p:attrNameLst>
                                          <p:attrName>ppt_w</p:attrName>
                                        </p:attrNameLst>
                                      </p:cBhvr>
                                      <p:tavLst>
                                        <p:tav tm="0">
                                          <p:val>
                                            <p:fltVal val="0"/>
                                          </p:val>
                                        </p:tav>
                                        <p:tav tm="100000">
                                          <p:val>
                                            <p:strVal val="#ppt_w"/>
                                          </p:val>
                                        </p:tav>
                                      </p:tavLst>
                                    </p:anim>
                                    <p:anim calcmode="lin" valueType="num">
                                      <p:cBhvr additive="base">
                                        <p:cTn id="69" dur="700" fill="hold"/>
                                        <p:tgtEl>
                                          <p:spTgt spid="18"/>
                                        </p:tgtEl>
                                        <p:attrNameLst>
                                          <p:attrName>ppt_h</p:attrName>
                                        </p:attrNameLst>
                                      </p:cBhvr>
                                      <p:tavLst>
                                        <p:tav tm="0">
                                          <p:val>
                                            <p:fltVal val="0"/>
                                          </p:val>
                                        </p:tav>
                                        <p:tav tm="100000">
                                          <p:val>
                                            <p:strVal val="#ppt_h"/>
                                          </p:val>
                                        </p:tav>
                                      </p:tavLst>
                                    </p:anim>
                                    <p:animEffect transition="in" filter="fade">
                                      <p:cBhvr>
                                        <p:cTn id="70" dur="700"/>
                                        <p:tgtEl>
                                          <p:spTgt spid="18"/>
                                        </p:tgtEl>
                                      </p:cBhvr>
                                    </p:animEffect>
                                  </p:childTnLst>
                                </p:cTn>
                              </p:par>
                              <p:par>
                                <p:cTn id="71" presetID="53" presetClass="entr" presetSubtype="16" fill="hold" grpId="0" nodeType="withEffect">
                                  <p:stCondLst>
                                    <p:cond delay="20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700" fill="hold"/>
                                        <p:tgtEl>
                                          <p:spTgt spid="19"/>
                                        </p:tgtEl>
                                        <p:attrNameLst>
                                          <p:attrName>ppt_w</p:attrName>
                                        </p:attrNameLst>
                                      </p:cBhvr>
                                      <p:tavLst>
                                        <p:tav tm="0">
                                          <p:val>
                                            <p:fltVal val="0"/>
                                          </p:val>
                                        </p:tav>
                                        <p:tav tm="100000">
                                          <p:val>
                                            <p:strVal val="#ppt_w"/>
                                          </p:val>
                                        </p:tav>
                                      </p:tavLst>
                                    </p:anim>
                                    <p:anim calcmode="lin" valueType="num">
                                      <p:cBhvr additive="base">
                                        <p:cTn id="74" dur="700" fill="hold"/>
                                        <p:tgtEl>
                                          <p:spTgt spid="19"/>
                                        </p:tgtEl>
                                        <p:attrNameLst>
                                          <p:attrName>ppt_h</p:attrName>
                                        </p:attrNameLst>
                                      </p:cBhvr>
                                      <p:tavLst>
                                        <p:tav tm="0">
                                          <p:val>
                                            <p:fltVal val="0"/>
                                          </p:val>
                                        </p:tav>
                                        <p:tav tm="100000">
                                          <p:val>
                                            <p:strVal val="#ppt_h"/>
                                          </p:val>
                                        </p:tav>
                                      </p:tavLst>
                                    </p:anim>
                                    <p:animEffect transition="in" filter="fade">
                                      <p:cBhvr>
                                        <p:cTn id="75" dur="700"/>
                                        <p:tgtEl>
                                          <p:spTgt spid="19"/>
                                        </p:tgtEl>
                                      </p:cBhvr>
                                    </p:animEffect>
                                  </p:childTnLst>
                                </p:cTn>
                              </p:par>
                            </p:childTnLst>
                          </p:cTn>
                        </p:par>
                        <p:par>
                          <p:cTn id="88" fill="hold">
                            <p:stCondLst>
                              <p:cond delay="2050"/>
                            </p:stCondLst>
                            <p:childTnLst>
                              <p:par>
                                <p:cTn id="76" presetID="53" presetClass="entr" presetSubtype="16" fill="hold" grpId="0" nodeType="afterEffect">
                                  <p:stCondLst>
                                    <p:cond delay="0"/>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500" fill="hold"/>
                                        <p:tgtEl>
                                          <p:spTgt spid="20"/>
                                        </p:tgtEl>
                                        <p:attrNameLst>
                                          <p:attrName>ppt_w</p:attrName>
                                        </p:attrNameLst>
                                      </p:cBhvr>
                                      <p:tavLst>
                                        <p:tav tm="0">
                                          <p:val>
                                            <p:fltVal val="0"/>
                                          </p:val>
                                        </p:tav>
                                        <p:tav tm="100000">
                                          <p:val>
                                            <p:strVal val="#ppt_w"/>
                                          </p:val>
                                        </p:tav>
                                      </p:tavLst>
                                    </p:anim>
                                    <p:anim calcmode="lin" valueType="num">
                                      <p:cBhvr additive="base">
                                        <p:cTn id="79" dur="500" fill="hold"/>
                                        <p:tgtEl>
                                          <p:spTgt spid="20"/>
                                        </p:tgtEl>
                                        <p:attrNameLst>
                                          <p:attrName>ppt_h</p:attrName>
                                        </p:attrNameLst>
                                      </p:cBhvr>
                                      <p:tavLst>
                                        <p:tav tm="0">
                                          <p:val>
                                            <p:fltVal val="0"/>
                                          </p:val>
                                        </p:tav>
                                        <p:tav tm="100000">
                                          <p:val>
                                            <p:strVal val="#ppt_h"/>
                                          </p:val>
                                        </p:tav>
                                      </p:tavLst>
                                    </p:anim>
                                    <p:animEffect transition="in" filter="fade">
                                      <p:cBhvr>
                                        <p:cTn id="80" dur="500"/>
                                        <p:tgtEl>
                                          <p:spTgt spid="20"/>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500" fill="hold"/>
                                        <p:tgtEl>
                                          <p:spTgt spid="21"/>
                                        </p:tgtEl>
                                        <p:attrNameLst>
                                          <p:attrName>ppt_w</p:attrName>
                                        </p:attrNameLst>
                                      </p:cBhvr>
                                      <p:tavLst>
                                        <p:tav tm="0">
                                          <p:val>
                                            <p:fltVal val="0"/>
                                          </p:val>
                                        </p:tav>
                                        <p:tav tm="100000">
                                          <p:val>
                                            <p:strVal val="#ppt_w"/>
                                          </p:val>
                                        </p:tav>
                                      </p:tavLst>
                                    </p:anim>
                                    <p:anim calcmode="lin" valueType="num">
                                      <p:cBhvr additive="base">
                                        <p:cTn id="84" dur="500" fill="hold"/>
                                        <p:tgtEl>
                                          <p:spTgt spid="21"/>
                                        </p:tgtEl>
                                        <p:attrNameLst>
                                          <p:attrName>ppt_h</p:attrName>
                                        </p:attrNameLst>
                                      </p:cBhvr>
                                      <p:tavLst>
                                        <p:tav tm="0">
                                          <p:val>
                                            <p:fltVal val="0"/>
                                          </p:val>
                                        </p:tav>
                                        <p:tav tm="100000">
                                          <p:val>
                                            <p:strVal val="#ppt_h"/>
                                          </p:val>
                                        </p:tav>
                                      </p:tavLst>
                                    </p:anim>
                                    <p:animEffect transition="in" filter="fade">
                                      <p:cBhvr>
                                        <p:cTn id="8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20"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2" name=""/>
        <p:cNvGrpSpPr/>
        <p:nvPr/>
      </p:nvGrpSpPr>
      <p:grpSpPr>
        <a:xfrm>
          <a:off x="0" y="0"/>
          <a:ext cx="0" cy="0"/>
          <a:chOff x="0" y="0"/>
          <a:chExt cx="0" cy="0"/>
        </a:xfrm>
      </p:grpSpPr>
      <p:sp>
        <p:nvSpPr>
          <p:cNvPr id="3" name="anim_4_31"/>
          <p:cNvSpPr/>
          <p:nvPr/>
        </p:nvSpPr>
        <p:spPr>
          <a:xfrm>
            <a:off x="6903720" y="502920"/>
            <a:ext cx="4846320" cy="868680"/>
          </a:xfrm>
          <a:prstGeom prst="roundRect">
            <a:avLst>
              <a:gd name="adj" fmla="val 49474"/>
            </a:avLst>
          </a:prstGeom>
          <a:solidFill>
            <a:srgbClr val="1F6FB2"/>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خطوات العمل</a:t>
            </a:r>
            <a:endParaRPr lang="ar-KW" sz="3600" dirty="0"/>
          </a:p>
        </p:txBody>
      </p:sp>
      <p:pic>
        <p:nvPicPr>
          <p:cNvPr id="4" name="anim_4_32" descr="sp_blue.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4_33"/>
          <p:cNvSpPr/>
          <p:nvPr/>
        </p:nvSpPr>
        <p:spPr>
          <a:xfrm>
            <a:off x="3657600" y="1737360"/>
            <a:ext cx="8092440" cy="1325880"/>
          </a:xfrm>
          <a:prstGeom prst="roundRect">
            <a:avLst>
              <a:gd name="adj" fmla="val 20690"/>
            </a:avLst>
          </a:prstGeom>
          <a:solidFill>
            <a:srgbClr val="FFFFFF">
              <a:alpha val="95000"/>
            </a:srgbClr>
          </a:solidFill>
          <a:ln/>
          <a:effectLst>
            <a:outerShdw sx="100000" sy="100000" kx="0" ky="0" algn="bl" rotWithShape="0" blurRad="152400" dist="50800" dir="5400000">
              <a:srgbClr val="1F4F8A">
                <a:alpha val="18000"/>
              </a:srgbClr>
            </a:outerShdw>
          </a:effectLst>
        </p:spPr>
      </p:sp>
      <p:pic>
        <p:nvPicPr>
          <p:cNvPr id="6" name="anim_4_34" descr="sp_coral.png">    </p:cNvPr>
          <p:cNvPicPr>
            <a:picLocks noChangeAspect="1"/>
          </p:cNvPicPr>
          <p:nvPr/>
        </p:nvPicPr>
        <p:blipFill>
          <a:blip r:embed="rId2"/>
          <a:stretch>
            <a:fillRect/>
          </a:stretch>
        </p:blipFill>
        <p:spPr>
          <a:xfrm>
            <a:off x="11018520" y="2066544"/>
            <a:ext cx="658368" cy="658368"/>
          </a:xfrm>
          <a:prstGeom prst="rect">
            <a:avLst/>
          </a:prstGeom>
        </p:spPr>
      </p:pic>
      <p:sp>
        <p:nvSpPr>
          <p:cNvPr id="7" name="anim_4_35"/>
          <p:cNvSpPr txBox="1"/>
          <p:nvPr/>
        </p:nvSpPr>
        <p:spPr>
          <a:xfrm>
            <a:off x="11018520" y="2119213"/>
            <a:ext cx="658368" cy="526694"/>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160" b="1" dirty="0">
                <a:solidFill>
                  <a:srgbClr val="FFFFFF"/>
                </a:solidFill>
                <a:latin typeface="Arial" pitchFamily="34" charset="0"/>
                <a:ea typeface="Arial" pitchFamily="34" charset="-122"/>
                <a:cs typeface="Arial" pitchFamily="34" charset="-120"/>
              </a:rPr>
              <a:t>4</a:t>
            </a:r>
            <a:endParaRPr lang="en-US" sz="2160" dirty="0"/>
          </a:p>
        </p:txBody>
      </p:sp>
      <p:sp>
        <p:nvSpPr>
          <p:cNvPr id="8" name="anim_4_36"/>
          <p:cNvSpPr txBox="1"/>
          <p:nvPr/>
        </p:nvSpPr>
        <p:spPr>
          <a:xfrm>
            <a:off x="3794760" y="1737360"/>
            <a:ext cx="7132320" cy="1325880"/>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أذِب الكتلة الموزونة لكل عينة في الكأس المخصص لها باستخدام الماء المقطر. هل تذوب العينة في الماء المقطر وتكوّن محلولًا؟ سجّل مشاهدتك في الجدول.</a:t>
            </a:r>
            <a:endParaRPr lang="ar-KW" sz="2200" dirty="0"/>
          </a:p>
        </p:txBody>
      </p:sp>
      <p:sp>
        <p:nvSpPr>
          <p:cNvPr id="9" name="anim_4_37"/>
          <p:cNvSpPr/>
          <p:nvPr/>
        </p:nvSpPr>
        <p:spPr>
          <a:xfrm>
            <a:off x="3657600" y="3246120"/>
            <a:ext cx="8092440" cy="1325880"/>
          </a:xfrm>
          <a:prstGeom prst="roundRect">
            <a:avLst>
              <a:gd name="adj" fmla="val 20690"/>
            </a:avLst>
          </a:prstGeom>
          <a:solidFill>
            <a:srgbClr val="FFFFFF">
              <a:alpha val="95000"/>
            </a:srgbClr>
          </a:solidFill>
          <a:ln/>
          <a:effectLst>
            <a:outerShdw sx="100000" sy="100000" kx="0" ky="0" algn="bl" rotWithShape="0" blurRad="152400" dist="50800" dir="5400000">
              <a:srgbClr val="1F4F8A">
                <a:alpha val="18000"/>
              </a:srgbClr>
            </a:outerShdw>
          </a:effectLst>
        </p:spPr>
      </p:sp>
      <p:pic>
        <p:nvPicPr>
          <p:cNvPr id="10" name="anim_4_38" descr="sp_gold.png">    </p:cNvPr>
          <p:cNvPicPr>
            <a:picLocks noChangeAspect="1"/>
          </p:cNvPicPr>
          <p:nvPr/>
        </p:nvPicPr>
        <p:blipFill>
          <a:blip r:embed="rId3"/>
          <a:stretch>
            <a:fillRect/>
          </a:stretch>
        </p:blipFill>
        <p:spPr>
          <a:xfrm>
            <a:off x="11018520" y="3575304"/>
            <a:ext cx="658368" cy="658368"/>
          </a:xfrm>
          <a:prstGeom prst="rect">
            <a:avLst/>
          </a:prstGeom>
        </p:spPr>
      </p:pic>
      <p:sp>
        <p:nvSpPr>
          <p:cNvPr id="11" name="anim_4_39"/>
          <p:cNvSpPr txBox="1"/>
          <p:nvPr/>
        </p:nvSpPr>
        <p:spPr>
          <a:xfrm>
            <a:off x="11018520" y="3627973"/>
            <a:ext cx="658368" cy="526694"/>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160" b="1" dirty="0">
                <a:solidFill>
                  <a:srgbClr val="FFFFFF"/>
                </a:solidFill>
                <a:latin typeface="Arial" pitchFamily="34" charset="0"/>
                <a:ea typeface="Arial" pitchFamily="34" charset="-122"/>
                <a:cs typeface="Arial" pitchFamily="34" charset="-120"/>
              </a:rPr>
              <a:t>5</a:t>
            </a:r>
            <a:endParaRPr lang="en-US" sz="2160" dirty="0"/>
          </a:p>
        </p:txBody>
      </p:sp>
      <p:sp>
        <p:nvSpPr>
          <p:cNvPr id="12" name="anim_4_40"/>
          <p:cNvSpPr txBox="1"/>
          <p:nvPr/>
        </p:nvSpPr>
        <p:spPr>
          <a:xfrm>
            <a:off x="3794760" y="3246120"/>
            <a:ext cx="7132320" cy="1325880"/>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باستخدام الدائرة الكهربائية التي أمامك، ضع قطبيّ الكربون في الكأس (A). هل يوصّل المحلول التيار الكهربائي؟ سجّل مشاهدتك في الجدول.</a:t>
            </a:r>
            <a:endParaRPr lang="ar-KW" sz="2200" dirty="0"/>
          </a:p>
        </p:txBody>
      </p:sp>
      <p:sp>
        <p:nvSpPr>
          <p:cNvPr id="13" name="anim_4_41"/>
          <p:cNvSpPr/>
          <p:nvPr/>
        </p:nvSpPr>
        <p:spPr>
          <a:xfrm>
            <a:off x="3657600" y="4754880"/>
            <a:ext cx="8092440" cy="868680"/>
          </a:xfrm>
          <a:prstGeom prst="roundRect">
            <a:avLst>
              <a:gd name="adj" fmla="val 31579"/>
            </a:avLst>
          </a:prstGeom>
          <a:solidFill>
            <a:srgbClr val="FFFFFF">
              <a:alpha val="95000"/>
            </a:srgbClr>
          </a:solidFill>
          <a:ln/>
          <a:effectLst>
            <a:outerShdw sx="100000" sy="100000" kx="0" ky="0" algn="bl" rotWithShape="0" blurRad="152400" dist="50800" dir="5400000">
              <a:srgbClr val="1F4F8A">
                <a:alpha val="18000"/>
              </a:srgbClr>
            </a:outerShdw>
          </a:effectLst>
        </p:spPr>
      </p:sp>
      <p:pic>
        <p:nvPicPr>
          <p:cNvPr id="14" name="anim_4_42" descr="sp_green.png">    </p:cNvPr>
          <p:cNvPicPr>
            <a:picLocks noChangeAspect="1"/>
          </p:cNvPicPr>
          <p:nvPr/>
        </p:nvPicPr>
        <p:blipFill>
          <a:blip r:embed="rId4"/>
          <a:stretch>
            <a:fillRect/>
          </a:stretch>
        </p:blipFill>
        <p:spPr>
          <a:xfrm>
            <a:off x="11018520" y="4864608"/>
            <a:ext cx="658368" cy="658368"/>
          </a:xfrm>
          <a:prstGeom prst="rect">
            <a:avLst/>
          </a:prstGeom>
        </p:spPr>
      </p:pic>
      <p:sp>
        <p:nvSpPr>
          <p:cNvPr id="15" name="anim_4_43"/>
          <p:cNvSpPr txBox="1"/>
          <p:nvPr/>
        </p:nvSpPr>
        <p:spPr>
          <a:xfrm>
            <a:off x="11018520" y="4917277"/>
            <a:ext cx="658368" cy="526694"/>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160" b="1" dirty="0">
                <a:solidFill>
                  <a:srgbClr val="FFFFFF"/>
                </a:solidFill>
                <a:latin typeface="Arial" pitchFamily="34" charset="0"/>
                <a:ea typeface="Arial" pitchFamily="34" charset="-122"/>
                <a:cs typeface="Arial" pitchFamily="34" charset="-120"/>
              </a:rPr>
              <a:t>6</a:t>
            </a:r>
            <a:endParaRPr lang="en-US" sz="2160" dirty="0"/>
          </a:p>
        </p:txBody>
      </p:sp>
      <p:sp>
        <p:nvSpPr>
          <p:cNvPr id="16" name="anim_4_44"/>
          <p:cNvSpPr txBox="1"/>
          <p:nvPr/>
        </p:nvSpPr>
        <p:spPr>
          <a:xfrm>
            <a:off x="3794760" y="4754880"/>
            <a:ext cx="7132320" cy="868680"/>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كرّر الخطوة رقم 5 للكأس (B).</a:t>
            </a:r>
            <a:endParaRPr lang="ar-KW" sz="2200" dirty="0"/>
          </a:p>
        </p:txBody>
      </p:sp>
      <p:pic>
        <p:nvPicPr>
          <p:cNvPr id="17" name="anim_4_45" descr="beaker.png">    </p:cNvPr>
          <p:cNvPicPr>
            <a:picLocks noChangeAspect="1"/>
          </p:cNvPicPr>
          <p:nvPr/>
        </p:nvPicPr>
        <p:blipFill>
          <a:blip r:embed="rId5"/>
          <a:stretch>
            <a:fillRect/>
          </a:stretch>
        </p:blipFill>
        <p:spPr>
          <a:xfrm>
            <a:off x="822960" y="1828800"/>
            <a:ext cx="2945674" cy="3749040"/>
          </a:xfrm>
          <a:prstGeom prst="rect">
            <a:avLst/>
          </a:prstGeom>
        </p:spPr>
      </p:pic>
    </p:spTree>
  </p:cSld>
  <p:clrMapOvr>
    <a:masterClrMapping/>
  </p:clrMapOvr>
  <p:transition spd="slow">
    <p:cover dir="l"/>
  </p:transition>
  <p:timing>
    <p:tnLst>
      <p:par>
        <p:cTn id="1" dur="indefinite" restart="never" nodeType="tmRoot">
          <p:childTnLst>
            <p:seq concurrent="1" nextAc="seek">
              <p:cTn id="2" dur="indefinite" nodeType="mainSeq">
                <p:childTnLst>
                  <p:par>
                    <p:cTn id="28" fill="hold">
                      <p:stCondLst>
                        <p:cond delay="indefinite"/>
                        <p:cond evt="onBegin" delay="0">
                          <p:tn val="2"/>
                        </p:cond>
                      </p:stCondLst>
                      <p:childTnLst>
                        <p:par>
                          <p:cTn id="26"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7" fill="hold">
                            <p:stCondLst>
                              <p:cond delay="800"/>
                            </p:stCondLst>
                            <p:childTnLst>
                              <p:par>
                                <p:cTn id="11" presetID="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ppt_w</p:attrName>
                                        </p:attrNameLst>
                                      </p:cBhvr>
                                      <p:tavLst>
                                        <p:tav tm="0">
                                          <p:val>
                                            <p:fltVal val="0"/>
                                          </p:val>
                                        </p:tav>
                                        <p:tav tm="100000">
                                          <p:val>
                                            <p:strVal val="#ppt_w"/>
                                          </p:val>
                                        </p:tav>
                                      </p:tavLst>
                                    </p:anim>
                                    <p:anim calcmode="lin" valueType="num">
                                      <p:cBhvr additive="base">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00"/>
                                        <p:tgtEl>
                                          <p:spTgt spid="7"/>
                                        </p:tgtEl>
                                      </p:cBhvr>
                                    </p:animEffect>
                                  </p:childTnLst>
                                </p:cTn>
                              </p:par>
                              <p:par>
                                <p:cTn id="23" presetID="22" presetClass="entr" presetSubtype="2" fill="hold" grpId="0" nodeType="withEffect">
                                  <p:stCondLst>
                                    <p:cond delay="150"/>
                                  </p:stCondLst>
                                  <p:childTnLst>
                                    <p:set>
                                      <p:cBhvr>
                                        <p:cTn id="24" dur="1" fill="hold">
                                          <p:stCondLst>
                                            <p:cond delay="0"/>
                                          </p:stCondLst>
                                        </p:cTn>
                                        <p:tgtEl>
                                          <p:spTgt spid="8"/>
                                        </p:tgtEl>
                                        <p:attrNameLst>
                                          <p:attrName>style.visibility</p:attrName>
                                        </p:attrNameLst>
                                      </p:cBhvr>
                                      <p:to>
                                        <p:strVal val="visible"/>
                                      </p:to>
                                    </p:set>
                                    <p:animEffect transition="in" filter="wipe(right)">
                                      <p:cBhvr>
                                        <p:cTn id="25" dur="1200"/>
                                        <p:tgtEl>
                                          <p:spTgt spid="8"/>
                                        </p:tgtEl>
                                      </p:cBhvr>
                                    </p:animEffect>
                                  </p:childTnLst>
                                </p:cTn>
                              </p:par>
                            </p:childTnLst>
                          </p:cTn>
                        </p:par>
                      </p:childTnLst>
                    </p:cTn>
                  </p:par>
                  <p:par>
                    <p:cTn id="45" fill="hold">
                      <p:stCondLst>
                        <p:cond delay="indefinite"/>
                      </p:stCondLst>
                      <p:childTnLst>
                        <p:par>
                          <p:cTn id="44"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1+#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par>
                                <p:cTn id="33" presetID="53" presetClass="entr" presetSubtype="16"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ppt_w</p:attrName>
                                        </p:attrNameLst>
                                      </p:cBhvr>
                                      <p:tavLst>
                                        <p:tav tm="0">
                                          <p:val>
                                            <p:fltVal val="0"/>
                                          </p:val>
                                        </p:tav>
                                        <p:tav tm="100000">
                                          <p:val>
                                            <p:strVal val="#ppt_w"/>
                                          </p:val>
                                        </p:tav>
                                      </p:tavLst>
                                    </p:anim>
                                    <p:anim calcmode="lin" valueType="num">
                                      <p:cBhvr additive="base">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300"/>
                                        <p:tgtEl>
                                          <p:spTgt spid="11"/>
                                        </p:tgtEl>
                                      </p:cBhvr>
                                    </p:animEffect>
                                  </p:childTnLst>
                                </p:cTn>
                              </p:par>
                              <p:par>
                                <p:cTn id="41" presetID="22" presetClass="entr" presetSubtype="2" fill="hold" grpId="0" nodeType="withEffect">
                                  <p:stCondLst>
                                    <p:cond delay="150"/>
                                  </p:stCondLst>
                                  <p:childTnLst>
                                    <p:set>
                                      <p:cBhvr>
                                        <p:cTn id="42" dur="1" fill="hold">
                                          <p:stCondLst>
                                            <p:cond delay="0"/>
                                          </p:stCondLst>
                                        </p:cTn>
                                        <p:tgtEl>
                                          <p:spTgt spid="12"/>
                                        </p:tgtEl>
                                        <p:attrNameLst>
                                          <p:attrName>style.visibility</p:attrName>
                                        </p:attrNameLst>
                                      </p:cBhvr>
                                      <p:to>
                                        <p:strVal val="visible"/>
                                      </p:to>
                                    </p:set>
                                    <p:animEffect transition="in" filter="wipe(right)">
                                      <p:cBhvr>
                                        <p:cTn id="43" dur="1200"/>
                                        <p:tgtEl>
                                          <p:spTgt spid="12"/>
                                        </p:tgtEl>
                                      </p:cBhvr>
                                    </p:animEffect>
                                  </p:childTnLst>
                                </p:cTn>
                              </p:par>
                            </p:childTnLst>
                          </p:cTn>
                        </p:par>
                      </p:childTnLst>
                    </p:cTn>
                  </p:par>
                  <p:par>
                    <p:cTn id="68" fill="hold">
                      <p:stCondLst>
                        <p:cond delay="indefinite"/>
                      </p:stCondLst>
                      <p:childTnLst>
                        <p:par>
                          <p:cTn id="66"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ppt_x</p:attrName>
                                        </p:attrNameLst>
                                      </p:cBhvr>
                                      <p:tavLst>
                                        <p:tav tm="0">
                                          <p:val>
                                            <p:strVal val="1+#ppt_w/2"/>
                                          </p:val>
                                        </p:tav>
                                        <p:tav tm="100000">
                                          <p:val>
                                            <p:strVal val="#ppt_x"/>
                                          </p:val>
                                        </p:tav>
                                      </p:tavLst>
                                    </p:anim>
                                    <p:anim calcmode="lin" valueType="num">
                                      <p:cBhvr additive="base">
                                        <p:cTn id="49" dur="500" fill="hold"/>
                                        <p:tgtEl>
                                          <p:spTgt spid="13"/>
                                        </p:tgtEl>
                                        <p:attrNameLst>
                                          <p:attrName>ppt_y</p:attrName>
                                        </p:attrNameLst>
                                      </p:cBhvr>
                                      <p:tavLst>
                                        <p:tav tm="0">
                                          <p:val>
                                            <p:strVal val="#ppt_y"/>
                                          </p:val>
                                        </p:tav>
                                        <p:tav tm="100000">
                                          <p:val>
                                            <p:strVal val="#ppt_y"/>
                                          </p:val>
                                        </p:tav>
                                      </p:tavLst>
                                    </p:anim>
                                  </p:childTnLst>
                                </p:cTn>
                              </p:par>
                              <p:par>
                                <p:cTn id="50" presetID="53" presetClass="entr" presetSubtype="16"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ppt_w</p:attrName>
                                        </p:attrNameLst>
                                      </p:cBhvr>
                                      <p:tavLst>
                                        <p:tav tm="0">
                                          <p:val>
                                            <p:fltVal val="0"/>
                                          </p:val>
                                        </p:tav>
                                        <p:tav tm="100000">
                                          <p:val>
                                            <p:strVal val="#ppt_w"/>
                                          </p:val>
                                        </p:tav>
                                      </p:tavLst>
                                    </p:anim>
                                    <p:anim calcmode="lin" valueType="num">
                                      <p:cBhvr additive="base">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300"/>
                                        <p:tgtEl>
                                          <p:spTgt spid="15"/>
                                        </p:tgtEl>
                                      </p:cBhvr>
                                    </p:animEffect>
                                  </p:childTnLst>
                                </p:cTn>
                              </p:par>
                              <p:par>
                                <p:cTn id="58" presetID="22" presetClass="entr" presetSubtype="2" fill="hold" grpId="0" nodeType="withEffect">
                                  <p:stCondLst>
                                    <p:cond delay="150"/>
                                  </p:stCondLst>
                                  <p:childTnLst>
                                    <p:set>
                                      <p:cBhvr>
                                        <p:cTn id="59" dur="1" fill="hold">
                                          <p:stCondLst>
                                            <p:cond delay="0"/>
                                          </p:stCondLst>
                                        </p:cTn>
                                        <p:tgtEl>
                                          <p:spTgt spid="16"/>
                                        </p:tgtEl>
                                        <p:attrNameLst>
                                          <p:attrName>style.visibility</p:attrName>
                                        </p:attrNameLst>
                                      </p:cBhvr>
                                      <p:to>
                                        <p:strVal val="visible"/>
                                      </p:to>
                                    </p:set>
                                    <p:animEffect transition="in" filter="wipe(right)">
                                      <p:cBhvr>
                                        <p:cTn id="60" dur="1200"/>
                                        <p:tgtEl>
                                          <p:spTgt spid="16"/>
                                        </p:tgtEl>
                                      </p:cBhvr>
                                    </p:animEffect>
                                  </p:childTnLst>
                                </p:cTn>
                              </p:par>
                            </p:childTnLst>
                          </p:cTn>
                        </p:par>
                        <p:par>
                          <p:cTn id="67" fill="hold">
                            <p:stCondLst>
                              <p:cond delay="1350"/>
                            </p:stCondLst>
                            <p:childTnLst>
                              <p:par>
                                <p:cTn id="61" presetID="53" presetClass="entr" presetSubtype="16" fill="hold" grpId="0" nodeType="after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800" fill="hold"/>
                                        <p:tgtEl>
                                          <p:spTgt spid="17"/>
                                        </p:tgtEl>
                                        <p:attrNameLst>
                                          <p:attrName>ppt_w</p:attrName>
                                        </p:attrNameLst>
                                      </p:cBhvr>
                                      <p:tavLst>
                                        <p:tav tm="0">
                                          <p:val>
                                            <p:fltVal val="0"/>
                                          </p:val>
                                        </p:tav>
                                        <p:tav tm="100000">
                                          <p:val>
                                            <p:strVal val="#ppt_w"/>
                                          </p:val>
                                        </p:tav>
                                      </p:tavLst>
                                    </p:anim>
                                    <p:anim calcmode="lin" valueType="num">
                                      <p:cBhvr additive="base">
                                        <p:cTn id="64" dur="800" fill="hold"/>
                                        <p:tgtEl>
                                          <p:spTgt spid="17"/>
                                        </p:tgtEl>
                                        <p:attrNameLst>
                                          <p:attrName>ppt_h</p:attrName>
                                        </p:attrNameLst>
                                      </p:cBhvr>
                                      <p:tavLst>
                                        <p:tav tm="0">
                                          <p:val>
                                            <p:fltVal val="0"/>
                                          </p:val>
                                        </p:tav>
                                        <p:tav tm="100000">
                                          <p:val>
                                            <p:strVal val="#ppt_h"/>
                                          </p:val>
                                        </p:tav>
                                      </p:tavLst>
                                    </p:anim>
                                    <p:animEffect transition="in" filter="fade">
                                      <p:cBhvr>
                                        <p:cTn id="65" dur="8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9" grpId="0" animBg="1"/>
      <p:bldP spid="11" grpId="0" animBg="1"/>
      <p:bldP spid="12" grpId="0" animBg="1"/>
      <p:bldP spid="13"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2" name=""/>
        <p:cNvGrpSpPr/>
        <p:nvPr/>
      </p:nvGrpSpPr>
      <p:grpSpPr>
        <a:xfrm>
          <a:off x="0" y="0"/>
          <a:ext cx="0" cy="0"/>
          <a:chOff x="0" y="0"/>
          <a:chExt cx="0" cy="0"/>
        </a:xfrm>
      </p:grpSpPr>
      <p:sp>
        <p:nvSpPr>
          <p:cNvPr id="3" name="anim_5_46"/>
          <p:cNvSpPr/>
          <p:nvPr/>
        </p:nvSpPr>
        <p:spPr>
          <a:xfrm>
            <a:off x="6355080" y="502920"/>
            <a:ext cx="539496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سجّل مشاهداتك</a:t>
            </a:r>
            <a:endParaRPr lang="ar-KW" sz="3600" dirty="0"/>
          </a:p>
        </p:txBody>
      </p:sp>
      <p:pic>
        <p:nvPicPr>
          <p:cNvPr id="4" name="anim_5_47" descr="sp_teal.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5_48"/>
          <p:cNvSpPr/>
          <p:nvPr/>
        </p:nvSpPr>
        <p:spPr>
          <a:xfrm>
            <a:off x="658368" y="1527048"/>
            <a:ext cx="10890504" cy="2615184"/>
          </a:xfrm>
          <a:prstGeom prst="roundRect">
            <a:avLst>
              <a:gd name="adj" fmla="val 12238"/>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6" name="anim_5_49"/>
          <p:cNvGraphicFramePr>
            <a:graphicFrameLocks noGrp="1"/>
          </p:cNvGraphicFramePr>
          <p:nvPr>
            <p:extLst>
              <p:ext uri="{D42A27DB-BD31-4B8C-83A1-F6EECF244321}">
                <p14:modId xmlns:p14="http://schemas.microsoft.com/office/powerpoint/2010/main" val="1579011935"/>
              </p:ext>
            </p:extLst>
          </p:nvPr>
        </p:nvGraphicFramePr>
        <p:xfrm>
          <a:off x="914400" y="1783080"/>
          <a:ext cx="10378440" cy="914400"/>
        </p:xfrm>
        <a:graphic>
          <a:graphicData uri="http://schemas.openxmlformats.org/drawingml/2006/table">
            <a:tbl>
              <a:tblPr/>
              <a:tblGrid>
                <a:gridCol w="2514600"/>
                <a:gridCol w="2514600"/>
                <a:gridCol w="2514600"/>
                <a:gridCol w="2834640"/>
              </a:tblGrid>
              <a:tr h="731520">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التوصيل الكهربائي</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الذوبان في الماء</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الحالة الفيزيائية</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وجه المقارنة / رمز العينة</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68580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dirty="0">
                          <a:solidFill>
                            <a:srgbClr val="16325C"/>
                          </a:solidFill>
                          <a:latin typeface="Arial" pitchFamily="34" charset="0"/>
                          <a:ea typeface="Arial" pitchFamily="34" charset="-122"/>
                          <a:cs typeface="Arial" pitchFamily="34" charset="-120"/>
                        </a:rPr>
                        <a:t>A</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68580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dirty="0">
                          <a:solidFill>
                            <a:srgbClr val="16325C"/>
                          </a:solidFill>
                          <a:latin typeface="Arial" pitchFamily="34" charset="0"/>
                          <a:ea typeface="Arial" pitchFamily="34" charset="-122"/>
                          <a:cs typeface="Arial" pitchFamily="34" charset="-120"/>
                        </a:rPr>
                        <a:t>B</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bl>
          </a:graphicData>
        </a:graphic>
      </p:graphicFrame>
      <p:sp>
        <p:nvSpPr>
          <p:cNvPr id="7" name="anim_5_50"/>
          <p:cNvSpPr/>
          <p:nvPr/>
        </p:nvSpPr>
        <p:spPr>
          <a:xfrm>
            <a:off x="457200" y="4206240"/>
            <a:ext cx="11292840" cy="2011680"/>
          </a:xfrm>
          <a:prstGeom prst="roundRect">
            <a:avLst>
              <a:gd name="adj" fmla="val 13636"/>
            </a:avLst>
          </a:prstGeom>
          <a:solidFill>
            <a:srgbClr val="DDF0FC"/>
          </a:solidFill>
          <a:ln/>
          <a:effectLst>
            <a:outerShdw sx="100000" sy="100000" kx="0" ky="0" algn="bl" rotWithShape="0" blurRad="152400" dist="50800" dir="5400000">
              <a:srgbClr val="1F4F8A">
                <a:alpha val="18000"/>
              </a:srgbClr>
            </a:outerShdw>
          </a:effectLst>
        </p:spPr>
      </p:sp>
      <p:sp>
        <p:nvSpPr>
          <p:cNvPr id="8" name="anim_5_51"/>
          <p:cNvSpPr txBox="1"/>
          <p:nvPr/>
        </p:nvSpPr>
        <p:spPr>
          <a:xfrm>
            <a:off x="9144000" y="4251960"/>
            <a:ext cx="2423160" cy="50292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600" b="1" dirty="0">
                <a:solidFill>
                  <a:srgbClr val="1F6FB2"/>
                </a:solidFill>
                <a:latin typeface="Arial" pitchFamily="34" charset="0"/>
                <a:ea typeface="Arial" pitchFamily="34" charset="-122"/>
                <a:cs typeface="Arial" pitchFamily="34" charset="-120"/>
              </a:rPr>
              <a:t>الاستنتاج :</a:t>
            </a:r>
            <a:endParaRPr lang="ar-KW" sz="2600" dirty="0"/>
          </a:p>
        </p:txBody>
      </p:sp>
      <p:sp>
        <p:nvSpPr>
          <p:cNvPr id="9" name="anim_5_52"/>
          <p:cNvSpPr txBox="1"/>
          <p:nvPr/>
        </p:nvSpPr>
        <p:spPr>
          <a:xfrm>
            <a:off x="685800" y="4709160"/>
            <a:ext cx="10881360" cy="86868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 المركب الأيوني يوجد في الحالة </a:t>
            </a:r>
            <a:r>
              <a:rPr lang="ar-KW" altLang="en-US" sz="2200" b="1" dirty="0">
                <a:solidFill>
                  <a:srgbClr val="9AAAC0"/>
                </a:solidFill>
                <a:latin typeface="Arial" pitchFamily="34" charset="0"/>
                <a:ea typeface="Arial" pitchFamily="34" charset="-122"/>
                <a:cs typeface="Arial" pitchFamily="34" charset="-120"/>
              </a:rPr>
              <a:t>..........</a:t>
            </a:r>
            <a:r>
              <a:rPr lang="ar-KW" altLang="en-US" sz="2200" b="1" dirty="0">
                <a:solidFill>
                  <a:srgbClr val="16325C"/>
                </a:solidFill>
                <a:latin typeface="Arial" pitchFamily="34" charset="0"/>
                <a:ea typeface="Arial" pitchFamily="34" charset="-122"/>
                <a:cs typeface="Arial" pitchFamily="34" charset="-120"/>
              </a:rPr>
              <a:t>، ويكوّن محلولًا عند </a:t>
            </a:r>
            <a:r>
              <a:rPr lang="ar-KW" altLang="en-US" sz="2200" b="1" dirty="0">
                <a:solidFill>
                  <a:srgbClr val="9AAAC0"/>
                </a:solidFill>
                <a:latin typeface="Arial" pitchFamily="34" charset="0"/>
                <a:ea typeface="Arial" pitchFamily="34" charset="-122"/>
                <a:cs typeface="Arial" pitchFamily="34" charset="-120"/>
              </a:rPr>
              <a:t>..........</a:t>
            </a:r>
            <a:r>
              <a:rPr lang="ar-KW" altLang="en-US" sz="2200" b="1" dirty="0">
                <a:solidFill>
                  <a:srgbClr val="16325C"/>
                </a:solidFill>
                <a:latin typeface="Arial" pitchFamily="34" charset="0"/>
                <a:ea typeface="Arial" pitchFamily="34" charset="-122"/>
                <a:cs typeface="Arial" pitchFamily="34" charset="-120"/>
              </a:rPr>
              <a:t> في الماء، ومحلوله </a:t>
            </a:r>
            <a:r>
              <a:rPr lang="ar-KW" altLang="en-US" sz="2200" b="1" dirty="0">
                <a:solidFill>
                  <a:srgbClr val="9AAAC0"/>
                </a:solidFill>
                <a:latin typeface="Arial" pitchFamily="34" charset="0"/>
                <a:ea typeface="Arial" pitchFamily="34" charset="-122"/>
                <a:cs typeface="Arial" pitchFamily="34" charset="-120"/>
              </a:rPr>
              <a:t>..........</a:t>
            </a:r>
            <a:r>
              <a:rPr lang="ar-KW" altLang="en-US" sz="2200" b="1" dirty="0">
                <a:solidFill>
                  <a:srgbClr val="16325C"/>
                </a:solidFill>
                <a:latin typeface="Arial" pitchFamily="34" charset="0"/>
                <a:ea typeface="Arial" pitchFamily="34" charset="-122"/>
                <a:cs typeface="Arial" pitchFamily="34" charset="-120"/>
              </a:rPr>
              <a:t> التيار الكهربائي.</a:t>
            </a:r>
            <a:endParaRPr lang="ar-KW" sz="2200" dirty="0"/>
          </a:p>
        </p:txBody>
      </p:sp>
      <p:sp>
        <p:nvSpPr>
          <p:cNvPr id="10" name="anim_5_53"/>
          <p:cNvSpPr txBox="1"/>
          <p:nvPr/>
        </p:nvSpPr>
        <p:spPr>
          <a:xfrm>
            <a:off x="685800" y="5577840"/>
            <a:ext cx="10881360" cy="54864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 المركب الأيوني من العينتين السابقتين هو المركب الذي له الرمز </a:t>
            </a:r>
            <a:r>
              <a:rPr lang="ar-KW" altLang="en-US" sz="2200" b="1" dirty="0">
                <a:solidFill>
                  <a:srgbClr val="9AAAC0"/>
                </a:solidFill>
                <a:latin typeface="Arial" pitchFamily="34" charset="0"/>
                <a:ea typeface="Arial" pitchFamily="34" charset="-122"/>
                <a:cs typeface="Arial" pitchFamily="34" charset="-120"/>
              </a:rPr>
              <a:t>............</a:t>
            </a:r>
            <a:endParaRPr lang="ar-KW" sz="2200" dirty="0"/>
          </a:p>
        </p:txBody>
      </p:sp>
      <p:sp>
        <p:nvSpPr>
          <p:cNvPr id="11" name="anim_5_54"/>
          <p:cNvSpPr txBox="1"/>
          <p:nvPr/>
        </p:nvSpPr>
        <p:spPr>
          <a:xfrm>
            <a:off x="7132320" y="4251960"/>
            <a:ext cx="1737360" cy="457200"/>
          </a:xfrm>
          <a:prstGeom prst="roundRect">
            <a:avLst>
              <a:gd name="adj" fmla="val 50000"/>
            </a:avLst>
          </a:prstGeom>
          <a:solidFill>
            <a:srgbClr val="0B8A5A"/>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1" algn="ctr" indent="0" marL="0">
              <a:lnSpc>
                <a:spcPct val="105000"/>
              </a:lnSpc>
              <a:spcAft>
                <a:spcPts val="600"/>
              </a:spcAft>
              <a:buNone/>
            </a:pPr>
            <a:r>
              <a:rPr lang="ar-KW" altLang="en-US" sz="2000" b="1" dirty="0">
                <a:solidFill>
                  <a:srgbClr val="FFFFFF"/>
                </a:solidFill>
                <a:latin typeface="Arial" pitchFamily="34" charset="0"/>
                <a:ea typeface="Arial" pitchFamily="34" charset="-122"/>
                <a:cs typeface="Arial" pitchFamily="34" charset="-120"/>
              </a:rPr>
              <a:t>الصلبة</a:t>
            </a:r>
            <a:endParaRPr lang="ar-KW" sz="2000" dirty="0"/>
          </a:p>
        </p:txBody>
      </p:sp>
      <p:sp>
        <p:nvSpPr>
          <p:cNvPr id="12" name="anim_5_55"/>
          <p:cNvSpPr txBox="1"/>
          <p:nvPr/>
        </p:nvSpPr>
        <p:spPr>
          <a:xfrm>
            <a:off x="5212080" y="4251960"/>
            <a:ext cx="1737360" cy="457200"/>
          </a:xfrm>
          <a:prstGeom prst="roundRect">
            <a:avLst>
              <a:gd name="adj" fmla="val 50000"/>
            </a:avLst>
          </a:prstGeom>
          <a:solidFill>
            <a:srgbClr val="0B8A5A"/>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1" algn="ctr" indent="0" marL="0">
              <a:lnSpc>
                <a:spcPct val="105000"/>
              </a:lnSpc>
              <a:spcAft>
                <a:spcPts val="600"/>
              </a:spcAft>
              <a:buNone/>
            </a:pPr>
            <a:r>
              <a:rPr lang="ar-KW" altLang="en-US" sz="2000" b="1" dirty="0">
                <a:solidFill>
                  <a:srgbClr val="FFFFFF"/>
                </a:solidFill>
                <a:latin typeface="Arial" pitchFamily="34" charset="0"/>
                <a:ea typeface="Arial" pitchFamily="34" charset="-122"/>
                <a:cs typeface="Arial" pitchFamily="34" charset="-120"/>
              </a:rPr>
              <a:t>ذوبانه</a:t>
            </a:r>
            <a:endParaRPr lang="ar-KW" sz="2000" dirty="0"/>
          </a:p>
        </p:txBody>
      </p:sp>
      <p:sp>
        <p:nvSpPr>
          <p:cNvPr id="13" name="anim_5_56"/>
          <p:cNvSpPr txBox="1"/>
          <p:nvPr/>
        </p:nvSpPr>
        <p:spPr>
          <a:xfrm>
            <a:off x="3291840" y="4251960"/>
            <a:ext cx="1737360" cy="457200"/>
          </a:xfrm>
          <a:prstGeom prst="roundRect">
            <a:avLst>
              <a:gd name="adj" fmla="val 50000"/>
            </a:avLst>
          </a:prstGeom>
          <a:solidFill>
            <a:srgbClr val="0B8A5A"/>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1" algn="ctr" indent="0" marL="0">
              <a:lnSpc>
                <a:spcPct val="105000"/>
              </a:lnSpc>
              <a:spcAft>
                <a:spcPts val="600"/>
              </a:spcAft>
              <a:buNone/>
            </a:pPr>
            <a:r>
              <a:rPr lang="ar-KW" altLang="en-US" sz="2000" b="1" dirty="0">
                <a:solidFill>
                  <a:srgbClr val="FFFFFF"/>
                </a:solidFill>
                <a:latin typeface="Arial" pitchFamily="34" charset="0"/>
                <a:ea typeface="Arial" pitchFamily="34" charset="-122"/>
                <a:cs typeface="Arial" pitchFamily="34" charset="-120"/>
              </a:rPr>
              <a:t>يوصّل</a:t>
            </a:r>
            <a:endParaRPr lang="ar-KW" sz="20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32"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3"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34" fill="hold">
                            <p:stCondLst>
                              <p:cond delay="140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700"/>
                                        <p:tgtEl>
                                          <p:spTgt spid="6"/>
                                        </p:tgtEl>
                                      </p:cBhvr>
                                    </p:animEffect>
                                  </p:childTnLst>
                                </p:cTn>
                              </p:par>
                            </p:childTnLst>
                          </p:cTn>
                        </p:par>
                        <p:par>
                          <p:cTn id="35" fill="hold">
                            <p:stCondLst>
                              <p:cond delay="2100"/>
                            </p:stCondLst>
                            <p:childTnLst>
                              <p:par>
                                <p:cTn id="19" presetID="2" presetClass="entr" presetSubtype="4"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par>
                          <p:cTn id="36" fill="hold">
                            <p:stCondLst>
                              <p:cond delay="2600"/>
                            </p:stCondLst>
                            <p:childTnLst>
                              <p:par>
                                <p:cTn id="23" presetID="10"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childTnLst>
                          </p:cTn>
                        </p:par>
                        <p:par>
                          <p:cTn id="37" fill="hold">
                            <p:stCondLst>
                              <p:cond delay="3000"/>
                            </p:stCondLst>
                            <p:childTnLst>
                              <p:par>
                                <p:cTn id="26" presetID="22" presetClass="entr" presetSubtype="2"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right)">
                                      <p:cBhvr>
                                        <p:cTn id="28" dur="1400"/>
                                        <p:tgtEl>
                                          <p:spTgt spid="9"/>
                                        </p:tgtEl>
                                      </p:cBhvr>
                                    </p:animEffect>
                                  </p:childTnLst>
                                </p:cTn>
                              </p:par>
                            </p:childTnLst>
                          </p:cTn>
                        </p:par>
                        <p:par>
                          <p:cTn id="38" fill="hold">
                            <p:stCondLst>
                              <p:cond delay="4400"/>
                            </p:stCondLst>
                            <p:childTnLst>
                              <p:par>
                                <p:cTn id="29" presetID="22" presetClass="entr" presetSubtype="2"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right)">
                                      <p:cBhvr>
                                        <p:cTn id="31" dur="1000"/>
                                        <p:tgtEl>
                                          <p:spTgt spid="10"/>
                                        </p:tgtEl>
                                      </p:cBhvr>
                                    </p:animEffect>
                                  </p:childTnLst>
                                </p:cTn>
                              </p:par>
                            </p:childTnLst>
                          </p:cTn>
                        </p:par>
                      </p:childTnLst>
                    </p:cTn>
                  </p:par>
                  <p:par>
                    <p:cTn id="56" fill="hold">
                      <p:stCondLst>
                        <p:cond delay="indefinite"/>
                      </p:stCondLst>
                      <p:childTnLst>
                        <p:par>
                          <p:cTn id="55"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ppt_w</p:attrName>
                                        </p:attrNameLst>
                                      </p:cBhvr>
                                      <p:tavLst>
                                        <p:tav tm="0">
                                          <p:val>
                                            <p:fltVal val="0"/>
                                          </p:val>
                                        </p:tav>
                                        <p:tav tm="100000">
                                          <p:val>
                                            <p:strVal val="#ppt_w"/>
                                          </p:val>
                                        </p:tav>
                                      </p:tavLst>
                                    </p:anim>
                                    <p:anim calcmode="lin" valueType="num">
                                      <p:cBhvr additive="base">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ppt_w</p:attrName>
                                        </p:attrNameLst>
                                      </p:cBhvr>
                                      <p:tavLst>
                                        <p:tav tm="0">
                                          <p:val>
                                            <p:fltVal val="0"/>
                                          </p:val>
                                        </p:tav>
                                        <p:tav tm="100000">
                                          <p:val>
                                            <p:strVal val="#ppt_w"/>
                                          </p:val>
                                        </p:tav>
                                      </p:tavLst>
                                    </p:anim>
                                    <p:anim calcmode="lin" valueType="num">
                                      <p:cBhvr additive="base">
                                        <p:cTn id="48" dur="500" fill="hold"/>
                                        <p:tgtEl>
                                          <p:spTgt spid="12"/>
                                        </p:tgtEl>
                                        <p:attrNameLst>
                                          <p:attrName>ppt_h</p:attrName>
                                        </p:attrNameLst>
                                      </p:cBhvr>
                                      <p:tavLst>
                                        <p:tav tm="0">
                                          <p:val>
                                            <p:fltVal val="0"/>
                                          </p:val>
                                        </p:tav>
                                        <p:tav tm="100000">
                                          <p:val>
                                            <p:strVal val="#ppt_h"/>
                                          </p:val>
                                        </p:tav>
                                      </p:tavLst>
                                    </p:anim>
                                    <p:animEffect transition="in" filter="fade">
                                      <p:cBhvr>
                                        <p:cTn id="49" dur="500"/>
                                        <p:tgtEl>
                                          <p:spTgt spid="1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ppt_w</p:attrName>
                                        </p:attrNameLst>
                                      </p:cBhvr>
                                      <p:tavLst>
                                        <p:tav tm="0">
                                          <p:val>
                                            <p:fltVal val="0"/>
                                          </p:val>
                                        </p:tav>
                                        <p:tav tm="100000">
                                          <p:val>
                                            <p:strVal val="#ppt_w"/>
                                          </p:val>
                                        </p:tav>
                                      </p:tavLst>
                                    </p:anim>
                                    <p:anim calcmode="lin" valueType="num">
                                      <p:cBhvr additive="base">
                                        <p:cTn id="53" dur="500" fill="hold"/>
                                        <p:tgtEl>
                                          <p:spTgt spid="13"/>
                                        </p:tgtEl>
                                        <p:attrNameLst>
                                          <p:attrName>ppt_h</p:attrName>
                                        </p:attrNameLst>
                                      </p:cBhvr>
                                      <p:tavLst>
                                        <p:tav tm="0">
                                          <p:val>
                                            <p:fltVal val="0"/>
                                          </p:val>
                                        </p:tav>
                                        <p:tav tm="100000">
                                          <p:val>
                                            <p:strVal val="#ppt_h"/>
                                          </p:val>
                                        </p:tav>
                                      </p:tavLst>
                                    </p:anim>
                                    <p:animEffect transition="in" filter="fade">
                                      <p:cBhvr>
                                        <p:cTn id="5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Graphic spid="6" grpId="0">
        <p:bldAsOne/>
      </p:bldGraphic>
      <p:bldP spid="7" grpId="0" animBg="1"/>
      <p:bldP spid="8" grpId="0" animBg="1"/>
      <p:bldP spid="9" grpId="0" animBg="1"/>
      <p:bldP spid="10"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2" name=""/>
        <p:cNvGrpSpPr/>
        <p:nvPr/>
      </p:nvGrpSpPr>
      <p:grpSpPr>
        <a:xfrm>
          <a:off x="0" y="0"/>
          <a:ext cx="0" cy="0"/>
          <a:chOff x="0" y="0"/>
          <a:chExt cx="0" cy="0"/>
        </a:xfrm>
      </p:grpSpPr>
      <p:sp>
        <p:nvSpPr>
          <p:cNvPr id="3" name="anim_6_57"/>
          <p:cNvSpPr/>
          <p:nvPr/>
        </p:nvSpPr>
        <p:spPr>
          <a:xfrm>
            <a:off x="3886200" y="502920"/>
            <a:ext cx="7863840" cy="868680"/>
          </a:xfrm>
          <a:prstGeom prst="roundRect">
            <a:avLst>
              <a:gd name="adj" fmla="val 49474"/>
            </a:avLst>
          </a:prstGeom>
          <a:solidFill>
            <a:srgbClr val="6C4FE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خواص المركبات الأيونية</a:t>
            </a:r>
            <a:endParaRPr lang="ar-KW" sz="3600" dirty="0"/>
          </a:p>
        </p:txBody>
      </p:sp>
      <p:pic>
        <p:nvPicPr>
          <p:cNvPr id="4" name="anim_6_58" descr="sp_purple.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6_59"/>
          <p:cNvSpPr txBox="1"/>
          <p:nvPr/>
        </p:nvSpPr>
        <p:spPr>
          <a:xfrm>
            <a:off x="457200" y="1645920"/>
            <a:ext cx="11292840" cy="100584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6325C"/>
                </a:solidFill>
                <a:latin typeface="Arial" pitchFamily="34" charset="0"/>
                <a:ea typeface="Arial" pitchFamily="34" charset="-122"/>
                <a:cs typeface="Arial" pitchFamily="34" charset="-120"/>
              </a:rPr>
              <a:t>ترجع معظم الخواص المميّزة للمركبات الأيونية إلى الشكل البلوري الذي تصطف فيه الكاتيونات والأنيونات، وتنقسم هذه الخواص إلى:</a:t>
            </a:r>
            <a:endParaRPr lang="ar-KW" sz="2400" dirty="0"/>
          </a:p>
        </p:txBody>
      </p:sp>
      <p:sp>
        <p:nvSpPr>
          <p:cNvPr id="6" name="anim_6_60"/>
          <p:cNvSpPr txBox="1"/>
          <p:nvPr/>
        </p:nvSpPr>
        <p:spPr>
          <a:xfrm>
            <a:off x="6400800" y="2743200"/>
            <a:ext cx="5349240" cy="59436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800" b="1" dirty="0">
                <a:solidFill>
                  <a:srgbClr val="6C4FE0"/>
                </a:solidFill>
                <a:latin typeface="Arial" pitchFamily="34" charset="0"/>
                <a:ea typeface="Arial" pitchFamily="34" charset="-122"/>
                <a:cs typeface="Arial" pitchFamily="34" charset="-120"/>
              </a:rPr>
              <a:t>1 – الحالة الفيزيائية:</a:t>
            </a:r>
            <a:endParaRPr lang="ar-KW" sz="2800" dirty="0"/>
          </a:p>
        </p:txBody>
      </p:sp>
      <p:sp>
        <p:nvSpPr>
          <p:cNvPr id="7" name="anim_6_61"/>
          <p:cNvSpPr/>
          <p:nvPr/>
        </p:nvSpPr>
        <p:spPr>
          <a:xfrm>
            <a:off x="5120640" y="3383280"/>
            <a:ext cx="6629400" cy="2697480"/>
          </a:xfrm>
          <a:prstGeom prst="roundRect">
            <a:avLst>
              <a:gd name="adj" fmla="val 10169"/>
            </a:avLst>
          </a:prstGeom>
          <a:solidFill>
            <a:srgbClr val="F1EDFF"/>
          </a:solidFill>
          <a:ln w="38100">
            <a:solidFill>
              <a:srgbClr val="B9A8FF"/>
            </a:solidFill>
            <a:prstDash val="solid"/>
          </a:ln>
          <a:effectLst>
            <a:outerShdw sx="100000" sy="100000" kx="0" ky="0" algn="bl" rotWithShape="0" blurRad="152400" dist="50800" dir="5400000">
              <a:srgbClr val="1F4F8A">
                <a:alpha val="18000"/>
              </a:srgbClr>
            </a:outerShdw>
          </a:effectLst>
        </p:spPr>
      </p:sp>
      <p:sp>
        <p:nvSpPr>
          <p:cNvPr id="8" name="anim_6_62"/>
          <p:cNvSpPr txBox="1"/>
          <p:nvPr/>
        </p:nvSpPr>
        <p:spPr>
          <a:xfrm>
            <a:off x="5303520" y="3474720"/>
            <a:ext cx="6263640" cy="2514600"/>
          </a:xfrm>
          <a:prstGeom prst="rect">
            <a:avLst/>
          </a:prstGeom>
          <a:noFill/>
          <a:ln/>
        </p:spPr>
        <p:txBody>
          <a:bodyPr wrap="square" lIns="50800" tIns="50800" rIns="50800" bIns="50800" rtlCol="0" anchor="ctr"/>
          <a:lstStyle/>
          <a:p>
            <a:pPr rtl="0" algn="r" indent="0" marL="0">
              <a:lnSpc>
                <a:spcPct val="105000"/>
              </a:lnSpc>
              <a:spcAft>
                <a:spcPts val="600"/>
              </a:spcAft>
              <a:buNone/>
            </a:pPr>
            <a:r>
              <a:rPr lang="ar-KW" altLang="en-US" sz="2400" b="1" dirty="0">
                <a:solidFill>
                  <a:srgbClr val="16325C"/>
                </a:solidFill>
                <a:latin typeface="Arial" pitchFamily="34" charset="0"/>
                <a:ea typeface="Arial" pitchFamily="34" charset="-122"/>
                <a:cs typeface="Arial" pitchFamily="34" charset="-120"/>
              </a:rPr>
              <a:t>تَصطَف الأيونات مختلفة الشّحنة على شكل «مصفوفات ثلاثيّة الأبعاد ممتدّة من الكاتيونات والأنيونات في المركبات الأيونية» تسمى بـ</a:t>
            </a:r>
            <a:r>
              <a:rPr lang="ar-KW" altLang="en-US" sz="2400" b="1" dirty="0">
                <a:solidFill>
                  <a:srgbClr val="6C4FE0"/>
                </a:solidFill>
                <a:latin typeface="Arial" pitchFamily="34" charset="0"/>
                <a:ea typeface="Arial" pitchFamily="34" charset="-122"/>
                <a:cs typeface="Arial" pitchFamily="34" charset="-120"/>
              </a:rPr>
              <a:t>الشبكة البلّورية</a:t>
            </a:r>
            <a:r>
              <a:rPr lang="ar-KW" altLang="en-US" sz="2400" b="1" dirty="0">
                <a:solidFill>
                  <a:srgbClr val="16325C"/>
                </a:solidFill>
                <a:latin typeface="Arial" pitchFamily="34" charset="0"/>
                <a:ea typeface="Arial" pitchFamily="34" charset="-122"/>
                <a:cs typeface="Arial" pitchFamily="34" charset="-120"/>
              </a:rPr>
              <a:t> كما في الشكل (25).</a:t>
            </a:r>
            <a:endParaRPr lang="ar-KW" sz="2400" dirty="0"/>
          </a:p>
        </p:txBody>
      </p:sp>
      <p:pic>
        <p:nvPicPr>
          <p:cNvPr id="9" name="anim_6_63" descr="lattice_big.png">    </p:cNvPr>
          <p:cNvPicPr>
            <a:picLocks noChangeAspect="1"/>
          </p:cNvPicPr>
          <p:nvPr/>
        </p:nvPicPr>
        <p:blipFill>
          <a:blip r:embed="rId2"/>
          <a:stretch>
            <a:fillRect/>
          </a:stretch>
        </p:blipFill>
        <p:spPr>
          <a:xfrm>
            <a:off x="822960" y="2697480"/>
            <a:ext cx="3200400" cy="3200400"/>
          </a:xfrm>
          <a:prstGeom prst="rect">
            <a:avLst/>
          </a:prstGeom>
        </p:spPr>
      </p:pic>
      <p:sp>
        <p:nvSpPr>
          <p:cNvPr id="10" name="anim_6_64"/>
          <p:cNvSpPr txBox="1"/>
          <p:nvPr/>
        </p:nvSpPr>
        <p:spPr>
          <a:xfrm>
            <a:off x="365760" y="5852160"/>
            <a:ext cx="4114800" cy="731520"/>
          </a:xfrm>
          <a:prstGeom prst="rect">
            <a:avLst/>
          </a:prstGeom>
          <a:noFill/>
          <a:ln/>
        </p:spPr>
        <p:txBody>
          <a:bodyPr wrap="square" lIns="50800" tIns="50800" rIns="50800" bIns="50800" rtlCol="0" anchor="t"/>
          <a:lstStyle/>
          <a:p>
            <a:pPr rtl="0" algn="ctr" indent="0" marL="0">
              <a:lnSpc>
                <a:spcPct val="105000"/>
              </a:lnSpc>
              <a:buNone/>
            </a:pPr>
            <a:r>
              <a:rPr lang="ar-KW" altLang="en-US" sz="1800" b="1" dirty="0">
                <a:solidFill>
                  <a:srgbClr val="1F6FB2"/>
                </a:solidFill>
                <a:latin typeface="Arial" pitchFamily="34" charset="0"/>
                <a:ea typeface="Arial" pitchFamily="34" charset="-122"/>
                <a:cs typeface="Arial" pitchFamily="34" charset="-120"/>
              </a:rPr>
              <a:t>شكل (25)</a:t>
            </a:r>
            <a:endParaRPr lang="ar-KW" sz="1800" dirty="0"/>
          </a:p>
          <a:p>
            <a:pPr rtl="0" algn="ctr" indent="0" marL="0">
              <a:lnSpc>
                <a:spcPct val="105000"/>
              </a:lnSpc>
              <a:buNone/>
            </a:pPr>
            <a:r>
              <a:rPr lang="ar-KW" altLang="en-US" sz="1600" b="1" dirty="0">
                <a:solidFill>
                  <a:srgbClr val="16325C"/>
                </a:solidFill>
                <a:latin typeface="Arial" pitchFamily="34" charset="0"/>
                <a:ea typeface="Arial" pitchFamily="34" charset="-122"/>
                <a:cs typeface="Arial" pitchFamily="34" charset="-120"/>
              </a:rPr>
              <a:t>يوضح الشبكة البلورية لكلوريد الصوديوم</a:t>
            </a:r>
            <a:endParaRPr lang="ar-KW" sz="18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41" fill="hold">
                      <p:stCondLst>
                        <p:cond delay="indefinite"/>
                        <p:cond evt="onBegin" delay="0">
                          <p:tn val="2"/>
                        </p:cond>
                      </p:stCondLst>
                      <p:childTnLst>
                        <p:par>
                          <p:cTn id="34"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5"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1400"/>
                                        <p:tgtEl>
                                          <p:spTgt spid="5"/>
                                        </p:tgtEl>
                                      </p:cBhvr>
                                    </p:animEffect>
                                  </p:childTnLst>
                                </p:cTn>
                              </p:par>
                            </p:childTnLst>
                          </p:cTn>
                        </p:par>
                        <p:par>
                          <p:cTn id="36" fill="hold">
                            <p:stCondLst>
                              <p:cond delay="2200"/>
                            </p:stCondLst>
                            <p:childTnLst>
                              <p:par>
                                <p:cTn id="14" presetID="2" presetClass="entr" presetSubtype="2"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600" fill="hold"/>
                                        <p:tgtEl>
                                          <p:spTgt spid="6"/>
                                        </p:tgtEl>
                                        <p:attrNameLst>
                                          <p:attrName>ppt_x</p:attrName>
                                        </p:attrNameLst>
                                      </p:cBhvr>
                                      <p:tavLst>
                                        <p:tav tm="0">
                                          <p:val>
                                            <p:strVal val="1+#ppt_w/2"/>
                                          </p:val>
                                        </p:tav>
                                        <p:tav tm="100000">
                                          <p:val>
                                            <p:strVal val="#ppt_x"/>
                                          </p:val>
                                        </p:tav>
                                      </p:tavLst>
                                    </p:anim>
                                    <p:anim calcmode="lin" valueType="num">
                                      <p:cBhvr additive="base">
                                        <p:cTn id="17" dur="600" fill="hold"/>
                                        <p:tgtEl>
                                          <p:spTgt spid="6"/>
                                        </p:tgtEl>
                                        <p:attrNameLst>
                                          <p:attrName>ppt_y</p:attrName>
                                        </p:attrNameLst>
                                      </p:cBhvr>
                                      <p:tavLst>
                                        <p:tav tm="0">
                                          <p:val>
                                            <p:strVal val="#ppt_y"/>
                                          </p:val>
                                        </p:tav>
                                        <p:tav tm="100000">
                                          <p:val>
                                            <p:strVal val="#ppt_y"/>
                                          </p:val>
                                        </p:tav>
                                      </p:tavLst>
                                    </p:anim>
                                  </p:childTnLst>
                                </p:cTn>
                              </p:par>
                            </p:childTnLst>
                          </p:cTn>
                        </p:par>
                        <p:par>
                          <p:cTn id="37" fill="hold">
                            <p:stCondLst>
                              <p:cond delay="2800"/>
                            </p:stCondLst>
                            <p:childTnLst>
                              <p:par>
                                <p:cTn id="18" presetID="53" presetClass="entr" presetSubtype="16"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ppt_w</p:attrName>
                                        </p:attrNameLst>
                                      </p:cBhvr>
                                      <p:tavLst>
                                        <p:tav tm="0">
                                          <p:val>
                                            <p:fltVal val="0"/>
                                          </p:val>
                                        </p:tav>
                                        <p:tav tm="100000">
                                          <p:val>
                                            <p:strVal val="#ppt_w"/>
                                          </p:val>
                                        </p:tav>
                                      </p:tavLst>
                                    </p:anim>
                                    <p:anim calcmode="lin" valueType="num">
                                      <p:cBhvr additive="base">
                                        <p:cTn id="21" dur="500" fill="hold"/>
                                        <p:tgtEl>
                                          <p:spTgt spid="7"/>
                                        </p:tgtEl>
                                        <p:attrNameLst>
                                          <p:attrName>ppt_h</p:attrName>
                                        </p:attrNameLst>
                                      </p:cBhvr>
                                      <p:tavLst>
                                        <p:tav tm="0">
                                          <p:val>
                                            <p:fltVal val="0"/>
                                          </p:val>
                                        </p:tav>
                                        <p:tav tm="100000">
                                          <p:val>
                                            <p:strVal val="#ppt_h"/>
                                          </p:val>
                                        </p:tav>
                                      </p:tavLst>
                                    </p:anim>
                                    <p:animEffect transition="in" filter="fade">
                                      <p:cBhvr>
                                        <p:cTn id="22" dur="500"/>
                                        <p:tgtEl>
                                          <p:spTgt spid="7"/>
                                        </p:tgtEl>
                                      </p:cBhvr>
                                    </p:animEffect>
                                  </p:childTnLst>
                                </p:cTn>
                              </p:par>
                            </p:childTnLst>
                          </p:cTn>
                        </p:par>
                        <p:par>
                          <p:cTn id="38" fill="hold">
                            <p:stCondLst>
                              <p:cond delay="3300"/>
                            </p:stCondLst>
                            <p:childTnLst>
                              <p:par>
                                <p:cTn id="23" presetID="22" presetClass="entr" presetSubtype="2"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right)">
                                      <p:cBhvr>
                                        <p:cTn id="25" dur="1800"/>
                                        <p:tgtEl>
                                          <p:spTgt spid="8"/>
                                        </p:tgtEl>
                                      </p:cBhvr>
                                    </p:animEffect>
                                  </p:childTnLst>
                                </p:cTn>
                              </p:par>
                            </p:childTnLst>
                          </p:cTn>
                        </p:par>
                        <p:par>
                          <p:cTn id="39" fill="hold">
                            <p:stCondLst>
                              <p:cond delay="5100"/>
                            </p:stCondLst>
                            <p:childTnLst>
                              <p:par>
                                <p:cTn id="26" presetID="53" presetClass="entr" presetSubtype="16"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900" fill="hold"/>
                                        <p:tgtEl>
                                          <p:spTgt spid="9"/>
                                        </p:tgtEl>
                                        <p:attrNameLst>
                                          <p:attrName>ppt_w</p:attrName>
                                        </p:attrNameLst>
                                      </p:cBhvr>
                                      <p:tavLst>
                                        <p:tav tm="0">
                                          <p:val>
                                            <p:fltVal val="0"/>
                                          </p:val>
                                        </p:tav>
                                        <p:tav tm="100000">
                                          <p:val>
                                            <p:strVal val="#ppt_w"/>
                                          </p:val>
                                        </p:tav>
                                      </p:tavLst>
                                    </p:anim>
                                    <p:anim calcmode="lin" valueType="num">
                                      <p:cBhvr additive="base">
                                        <p:cTn id="29" dur="900" fill="hold"/>
                                        <p:tgtEl>
                                          <p:spTgt spid="9"/>
                                        </p:tgtEl>
                                        <p:attrNameLst>
                                          <p:attrName>ppt_h</p:attrName>
                                        </p:attrNameLst>
                                      </p:cBhvr>
                                      <p:tavLst>
                                        <p:tav tm="0">
                                          <p:val>
                                            <p:fltVal val="0"/>
                                          </p:val>
                                        </p:tav>
                                        <p:tav tm="100000">
                                          <p:val>
                                            <p:strVal val="#ppt_h"/>
                                          </p:val>
                                        </p:tav>
                                      </p:tavLst>
                                    </p:anim>
                                    <p:animEffect transition="in" filter="fade">
                                      <p:cBhvr>
                                        <p:cTn id="30" dur="900"/>
                                        <p:tgtEl>
                                          <p:spTgt spid="9"/>
                                        </p:tgtEl>
                                      </p:cBhvr>
                                    </p:animEffect>
                                  </p:childTnLst>
                                </p:cTn>
                              </p:par>
                            </p:childTnLst>
                          </p:cTn>
                        </p:par>
                        <p:par>
                          <p:cTn id="40" fill="hold">
                            <p:stCondLst>
                              <p:cond delay="6000"/>
                            </p:stCondLst>
                            <p:childTnLst>
                              <p:par>
                                <p:cTn id="31" presetID="10" presetClass="entr" presetSubtype="0"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2" name=""/>
        <p:cNvGrpSpPr/>
        <p:nvPr/>
      </p:nvGrpSpPr>
      <p:grpSpPr>
        <a:xfrm>
          <a:off x="0" y="0"/>
          <a:ext cx="0" cy="0"/>
          <a:chOff x="0" y="0"/>
          <a:chExt cx="0" cy="0"/>
        </a:xfrm>
      </p:grpSpPr>
      <p:sp>
        <p:nvSpPr>
          <p:cNvPr id="3" name="anim_7_65"/>
          <p:cNvSpPr/>
          <p:nvPr/>
        </p:nvSpPr>
        <p:spPr>
          <a:xfrm>
            <a:off x="5257800" y="502920"/>
            <a:ext cx="6492240" cy="868680"/>
          </a:xfrm>
          <a:prstGeom prst="roundRect">
            <a:avLst>
              <a:gd name="adj" fmla="val 49474"/>
            </a:avLst>
          </a:prstGeom>
          <a:solidFill>
            <a:srgbClr val="6C4FE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الحالة الفيزيائية</a:t>
            </a:r>
            <a:endParaRPr lang="ar-KW" sz="3600" dirty="0"/>
          </a:p>
        </p:txBody>
      </p:sp>
      <p:pic>
        <p:nvPicPr>
          <p:cNvPr id="4" name="anim_7_66" descr="sp_purple.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7_67" descr="lattice_big.png">    </p:cNvPr>
          <p:cNvPicPr>
            <a:picLocks noChangeAspect="1"/>
          </p:cNvPicPr>
          <p:nvPr/>
        </p:nvPicPr>
        <p:blipFill>
          <a:blip r:embed="rId2"/>
          <a:stretch>
            <a:fillRect/>
          </a:stretch>
        </p:blipFill>
        <p:spPr>
          <a:xfrm>
            <a:off x="365760" y="1645920"/>
            <a:ext cx="4480560" cy="4480560"/>
          </a:xfrm>
          <a:prstGeom prst="rect">
            <a:avLst/>
          </a:prstGeom>
        </p:spPr>
      </p:pic>
      <p:sp>
        <p:nvSpPr>
          <p:cNvPr id="6" name="anim_7_68"/>
          <p:cNvSpPr/>
          <p:nvPr/>
        </p:nvSpPr>
        <p:spPr>
          <a:xfrm>
            <a:off x="5120640" y="1920240"/>
            <a:ext cx="6629400" cy="3108960"/>
          </a:xfrm>
          <a:prstGeom prst="roundRect">
            <a:avLst>
              <a:gd name="adj" fmla="val 8824"/>
            </a:avLst>
          </a:prstGeom>
          <a:solidFill>
            <a:srgbClr val="FFFFFF"/>
          </a:solidFill>
          <a:ln/>
          <a:effectLst>
            <a:outerShdw sx="100000" sy="100000" kx="0" ky="0" algn="bl" rotWithShape="0" blurRad="152400" dist="50800" dir="5400000">
              <a:srgbClr val="1F4F8A">
                <a:alpha val="18000"/>
              </a:srgbClr>
            </a:outerShdw>
          </a:effectLst>
        </p:spPr>
      </p:sp>
      <p:sp>
        <p:nvSpPr>
          <p:cNvPr id="7" name="anim_7_69"/>
          <p:cNvSpPr txBox="1"/>
          <p:nvPr/>
        </p:nvSpPr>
        <p:spPr>
          <a:xfrm>
            <a:off x="5349240" y="2011680"/>
            <a:ext cx="6217920" cy="2926080"/>
          </a:xfrm>
          <a:prstGeom prst="rect">
            <a:avLst/>
          </a:prstGeom>
          <a:noFill/>
          <a:ln/>
        </p:spPr>
        <p:txBody>
          <a:bodyPr wrap="square" lIns="50800" tIns="50800" rIns="50800" bIns="50800" rtlCol="0" anchor="ctr"/>
          <a:lstStyle/>
          <a:p>
            <a:pPr rtl="0" algn="r" indent="0" marL="0">
              <a:lnSpc>
                <a:spcPct val="105000"/>
              </a:lnSpc>
              <a:spcAft>
                <a:spcPts val="600"/>
              </a:spcAft>
              <a:buNone/>
            </a:pPr>
            <a:r>
              <a:rPr lang="ar-KW" altLang="en-US" sz="2800" b="1" dirty="0">
                <a:solidFill>
                  <a:srgbClr val="16325C"/>
                </a:solidFill>
                <a:latin typeface="Arial" pitchFamily="34" charset="0"/>
                <a:ea typeface="Arial" pitchFamily="34" charset="-122"/>
                <a:cs typeface="Arial" pitchFamily="34" charset="-120"/>
              </a:rPr>
              <a:t>يؤدي هذا الشكل أو الترتيب إلى </a:t>
            </a:r>
            <a:r>
              <a:rPr lang="ar-KW" altLang="en-US" sz="2800" b="1" dirty="0">
                <a:solidFill>
                  <a:srgbClr val="E8335F"/>
                </a:solidFill>
                <a:latin typeface="Arial" pitchFamily="34" charset="0"/>
                <a:ea typeface="Arial" pitchFamily="34" charset="-122"/>
                <a:cs typeface="Arial" pitchFamily="34" charset="-120"/>
              </a:rPr>
              <a:t>زيادة قوّة التجاذب</a:t>
            </a:r>
            <a:r>
              <a:rPr lang="ar-KW" altLang="en-US" sz="2800" b="1" dirty="0">
                <a:solidFill>
                  <a:srgbClr val="16325C"/>
                </a:solidFill>
                <a:latin typeface="Arial" pitchFamily="34" charset="0"/>
                <a:ea typeface="Arial" pitchFamily="34" charset="-122"/>
                <a:cs typeface="Arial" pitchFamily="34" charset="-120"/>
              </a:rPr>
              <a:t> بين الأيونات مختلفة الشّحنة، مما يجعل معظم المركبات الأيونية في </a:t>
            </a:r>
            <a:r>
              <a:rPr lang="ar-KW" altLang="en-US" sz="2800" b="1" dirty="0">
                <a:solidFill>
                  <a:srgbClr val="6C4FE0"/>
                </a:solidFill>
                <a:latin typeface="Arial" pitchFamily="34" charset="0"/>
                <a:ea typeface="Arial" pitchFamily="34" charset="-122"/>
                <a:cs typeface="Arial" pitchFamily="34" charset="-120"/>
              </a:rPr>
              <a:t>الحالة الصّلبة</a:t>
            </a:r>
            <a:r>
              <a:rPr lang="ar-KW" altLang="en-US" sz="2800" b="1" dirty="0">
                <a:solidFill>
                  <a:srgbClr val="16325C"/>
                </a:solidFill>
                <a:latin typeface="Arial" pitchFamily="34" charset="0"/>
                <a:ea typeface="Arial" pitchFamily="34" charset="-122"/>
                <a:cs typeface="Arial" pitchFamily="34" charset="-120"/>
              </a:rPr>
              <a:t> عند درجة حرارة الغرفة </a:t>
            </a:r>
            <a:r>
              <a:rPr lang="ar-KW" altLang="en-US" sz="2800" b="1" dirty="0">
                <a:solidFill>
                  <a:srgbClr val="1F6FB2"/>
                </a:solidFill>
                <a:latin typeface="Arial" pitchFamily="34" charset="0"/>
                <a:ea typeface="Arial" pitchFamily="34" charset="-122"/>
                <a:cs typeface="Arial" pitchFamily="34" charset="-120"/>
              </a:rPr>
              <a:t>(علل)</a:t>
            </a:r>
            <a:r>
              <a:rPr lang="ar-KW" altLang="en-US" sz="2800" b="1" dirty="0">
                <a:solidFill>
                  <a:srgbClr val="16325C"/>
                </a:solidFill>
                <a:latin typeface="Arial" pitchFamily="34" charset="0"/>
                <a:ea typeface="Arial" pitchFamily="34" charset="-122"/>
                <a:cs typeface="Arial" pitchFamily="34" charset="-120"/>
              </a:rPr>
              <a:t>.</a:t>
            </a:r>
            <a:endParaRPr lang="ar-KW" sz="2800" dirty="0"/>
          </a:p>
        </p:txBody>
      </p:sp>
      <p:sp>
        <p:nvSpPr>
          <p:cNvPr id="8" name="anim_7_70"/>
          <p:cNvSpPr txBox="1"/>
          <p:nvPr/>
        </p:nvSpPr>
        <p:spPr>
          <a:xfrm>
            <a:off x="1783080" y="5989320"/>
            <a:ext cx="1645920" cy="548640"/>
          </a:xfrm>
          <a:prstGeom prst="roundRect">
            <a:avLst>
              <a:gd name="adj" fmla="val 50000"/>
            </a:avLst>
          </a:prstGeom>
          <a:solidFill>
            <a:srgbClr val="0B8A5A"/>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0" algn="ctr" indent="0" marL="0">
              <a:lnSpc>
                <a:spcPct val="105000"/>
              </a:lnSpc>
              <a:spcAft>
                <a:spcPts val="600"/>
              </a:spcAft>
              <a:buNone/>
            </a:pPr>
            <a:r>
              <a:rPr lang="en-US" altLang="en-US" sz="2400" b="1" dirty="0">
                <a:solidFill>
                  <a:srgbClr val="FFFFFF"/>
                </a:solidFill>
                <a:latin typeface="Arial" pitchFamily="34" charset="0"/>
                <a:ea typeface="Arial" pitchFamily="34" charset="-122"/>
                <a:cs typeface="Arial" pitchFamily="34" charset="-120"/>
              </a:rPr>
              <a:t>NaCl</a:t>
            </a:r>
            <a:endParaRPr lang="en-US" sz="2400" dirty="0"/>
          </a:p>
        </p:txBody>
      </p:sp>
    </p:spTree>
  </p:cSld>
  <p:clrMapOvr>
    <a:masterClrMapping/>
  </p:clrMapOvr>
  <p:transition spd="slow">
    <p:wipe dir="l"/>
  </p:transition>
  <p:timing>
    <p:tnLst>
      <p:par>
        <p:cTn id="1" dur="indefinite" restart="never" nodeType="tmRoot">
          <p:childTnLst>
            <p:seq concurrent="1" nextAc="seek">
              <p:cTn id="2" dur="indefinite" nodeType="mainSeq">
                <p:childTnLst>
                  <p:par>
                    <p:cTn id="33" fill="hold">
                      <p:stCondLst>
                        <p:cond delay="indefinite"/>
                        <p:cond evt="onBegin" delay="0">
                          <p:tn val="2"/>
                        </p:cond>
                      </p:stCondLst>
                      <p:childTnLst>
                        <p:par>
                          <p:cTn id="28"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9"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900" fill="hold"/>
                                        <p:tgtEl>
                                          <p:spTgt spid="5"/>
                                        </p:tgtEl>
                                        <p:attrNameLst>
                                          <p:attrName>ppt_w</p:attrName>
                                        </p:attrNameLst>
                                      </p:cBhvr>
                                      <p:tavLst>
                                        <p:tav tm="0">
                                          <p:val>
                                            <p:fltVal val="0"/>
                                          </p:val>
                                        </p:tav>
                                        <p:tav tm="100000">
                                          <p:val>
                                            <p:strVal val="#ppt_w"/>
                                          </p:val>
                                        </p:tav>
                                      </p:tavLst>
                                    </p:anim>
                                    <p:anim calcmode="lin" valueType="num">
                                      <p:cBhvr additive="base">
                                        <p:cTn id="14" dur="900" fill="hold"/>
                                        <p:tgtEl>
                                          <p:spTgt spid="5"/>
                                        </p:tgtEl>
                                        <p:attrNameLst>
                                          <p:attrName>ppt_h</p:attrName>
                                        </p:attrNameLst>
                                      </p:cBhvr>
                                      <p:tavLst>
                                        <p:tav tm="0">
                                          <p:val>
                                            <p:fltVal val="0"/>
                                          </p:val>
                                        </p:tav>
                                        <p:tav tm="100000">
                                          <p:val>
                                            <p:strVal val="#ppt_h"/>
                                          </p:val>
                                        </p:tav>
                                      </p:tavLst>
                                    </p:anim>
                                    <p:animEffect transition="in" filter="fade">
                                      <p:cBhvr>
                                        <p:cTn id="15" dur="900"/>
                                        <p:tgtEl>
                                          <p:spTgt spid="5"/>
                                        </p:tgtEl>
                                      </p:cBhvr>
                                    </p:animEffect>
                                  </p:childTnLst>
                                </p:cTn>
                              </p:par>
                            </p:childTnLst>
                          </p:cTn>
                        </p:par>
                        <p:par>
                          <p:cTn id="30" fill="hold">
                            <p:stCondLst>
                              <p:cond delay="1700"/>
                            </p:stCondLst>
                            <p:childTnLst>
                              <p:par>
                                <p:cTn id="16" presetID="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31" fill="hold">
                            <p:stCondLst>
                              <p:cond delay="2200"/>
                            </p:stCondLst>
                            <p:childTnLst>
                              <p:par>
                                <p:cTn id="20" presetID="22" presetClass="entr" presetSubtype="2"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right)">
                                      <p:cBhvr>
                                        <p:cTn id="22" dur="1800"/>
                                        <p:tgtEl>
                                          <p:spTgt spid="7"/>
                                        </p:tgtEl>
                                      </p:cBhvr>
                                    </p:animEffect>
                                  </p:childTnLst>
                                </p:cTn>
                              </p:par>
                            </p:childTnLst>
                          </p:cTn>
                        </p:par>
                        <p:par>
                          <p:cTn id="32" fill="hold">
                            <p:stCondLst>
                              <p:cond delay="4000"/>
                            </p:stCondLst>
                            <p:childTnLst>
                              <p:par>
                                <p:cTn id="23" presetID="53" presetClass="entr" presetSubtype="16"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ppt_w</p:attrName>
                                        </p:attrNameLst>
                                      </p:cBhvr>
                                      <p:tavLst>
                                        <p:tav tm="0">
                                          <p:val>
                                            <p:fltVal val="0"/>
                                          </p:val>
                                        </p:tav>
                                        <p:tav tm="100000">
                                          <p:val>
                                            <p:strVal val="#ppt_w"/>
                                          </p:val>
                                        </p:tav>
                                      </p:tavLst>
                                    </p:anim>
                                    <p:anim calcmode="lin" valueType="num">
                                      <p:cBhvr additive="base">
                                        <p:cTn id="26" dur="500" fill="hold"/>
                                        <p:tgtEl>
                                          <p:spTgt spid="8"/>
                                        </p:tgtEl>
                                        <p:attrNameLst>
                                          <p:attrName>ppt_h</p:attrName>
                                        </p:attrNameLst>
                                      </p:cBhvr>
                                      <p:tavLst>
                                        <p:tav tm="0">
                                          <p:val>
                                            <p:fltVal val="0"/>
                                          </p:val>
                                        </p:tav>
                                        <p:tav tm="100000">
                                          <p:val>
                                            <p:strVal val="#ppt_h"/>
                                          </p:val>
                                        </p:tav>
                                      </p:tavLst>
                                    </p:anim>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2" name=""/>
        <p:cNvGrpSpPr/>
        <p:nvPr/>
      </p:nvGrpSpPr>
      <p:grpSpPr>
        <a:xfrm>
          <a:off x="0" y="0"/>
          <a:ext cx="0" cy="0"/>
          <a:chOff x="0" y="0"/>
          <a:chExt cx="0" cy="0"/>
        </a:xfrm>
      </p:grpSpPr>
      <p:sp>
        <p:nvSpPr>
          <p:cNvPr id="3" name="anim_8_71"/>
          <p:cNvSpPr/>
          <p:nvPr/>
        </p:nvSpPr>
        <p:spPr>
          <a:xfrm>
            <a:off x="3886200" y="502920"/>
            <a:ext cx="7863840" cy="868680"/>
          </a:xfrm>
          <a:prstGeom prst="roundRect">
            <a:avLst>
              <a:gd name="adj" fmla="val 49474"/>
            </a:avLst>
          </a:prstGeom>
          <a:solidFill>
            <a:srgbClr val="E8335F"/>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درجة الانصهار والغليان</a:t>
            </a:r>
            <a:endParaRPr lang="ar-KW" sz="3600" dirty="0"/>
          </a:p>
        </p:txBody>
      </p:sp>
      <p:pic>
        <p:nvPicPr>
          <p:cNvPr id="4" name="anim_8_72" descr="sp_coral.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8_73"/>
          <p:cNvSpPr txBox="1"/>
          <p:nvPr/>
        </p:nvSpPr>
        <p:spPr>
          <a:xfrm>
            <a:off x="1828800" y="1600200"/>
            <a:ext cx="9921240" cy="260604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300" b="1" dirty="0">
                <a:solidFill>
                  <a:srgbClr val="E8335F"/>
                </a:solidFill>
                <a:latin typeface="Arial" pitchFamily="34" charset="0"/>
                <a:ea typeface="Arial" pitchFamily="34" charset="-122"/>
                <a:cs typeface="Arial" pitchFamily="34" charset="-120"/>
              </a:rPr>
              <a:t>2 – </a:t>
            </a:r>
            <a:r>
              <a:rPr lang="ar-KW" altLang="en-US" sz="2300" b="1" dirty="0">
                <a:solidFill>
                  <a:srgbClr val="16325C"/>
                </a:solidFill>
                <a:latin typeface="Arial" pitchFamily="34" charset="0"/>
                <a:ea typeface="Arial" pitchFamily="34" charset="-122"/>
                <a:cs typeface="Arial" pitchFamily="34" charset="-120"/>
              </a:rPr>
              <a:t>تعتمد درجة الانصهار والغليان على </a:t>
            </a:r>
            <a:r>
              <a:rPr lang="ar-KW" altLang="en-US" sz="2300" b="1" dirty="0">
                <a:solidFill>
                  <a:srgbClr val="E8335F"/>
                </a:solidFill>
                <a:latin typeface="Arial" pitchFamily="34" charset="0"/>
                <a:ea typeface="Arial" pitchFamily="34" charset="-122"/>
                <a:cs typeface="Arial" pitchFamily="34" charset="-120"/>
              </a:rPr>
              <a:t>قوّة التجاذب</a:t>
            </a:r>
            <a:r>
              <a:rPr lang="ar-KW" altLang="en-US" sz="2300" b="1" dirty="0">
                <a:solidFill>
                  <a:srgbClr val="16325C"/>
                </a:solidFill>
                <a:latin typeface="Arial" pitchFamily="34" charset="0"/>
                <a:ea typeface="Arial" pitchFamily="34" charset="-122"/>
                <a:cs typeface="Arial" pitchFamily="34" charset="-120"/>
              </a:rPr>
              <a:t> بين جسيمات المادة، فكلما ارتفعت هذه القوّة ارتفعت درجة الانصهار والغليان للمادة. وبالنظر للمركبات الأيونية وارتفاع قوّة التجاذب بين الأيونات مختلفة الشّحنة في مركباتها، فترتفع درجة الانصهار والغليان لها، ويوضح الجدول (14) درجات الانصهار والغليان لبعض المركبات الأيونية.</a:t>
            </a:r>
            <a:endParaRPr lang="ar-KW" sz="2300" dirty="0"/>
          </a:p>
        </p:txBody>
      </p:sp>
      <p:pic>
        <p:nvPicPr>
          <p:cNvPr id="6" name="anim_8_74" descr="thermo.png">    </p:cNvPr>
          <p:cNvPicPr>
            <a:picLocks noChangeAspect="1"/>
          </p:cNvPicPr>
          <p:nvPr/>
        </p:nvPicPr>
        <p:blipFill>
          <a:blip r:embed="rId2"/>
          <a:stretch>
            <a:fillRect/>
          </a:stretch>
        </p:blipFill>
        <p:spPr>
          <a:xfrm>
            <a:off x="502920" y="1691640"/>
            <a:ext cx="1618989" cy="4297680"/>
          </a:xfrm>
          <a:prstGeom prst="rect">
            <a:avLst/>
          </a:prstGeom>
        </p:spPr>
      </p:pic>
      <p:sp>
        <p:nvSpPr>
          <p:cNvPr id="7" name="anim_8_75"/>
          <p:cNvSpPr/>
          <p:nvPr/>
        </p:nvSpPr>
        <p:spPr>
          <a:xfrm>
            <a:off x="2121408" y="4087368"/>
            <a:ext cx="9198864" cy="2176272"/>
          </a:xfrm>
          <a:prstGeom prst="roundRect">
            <a:avLst>
              <a:gd name="adj" fmla="val 14706"/>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8" name="anim_8_76"/>
          <p:cNvGraphicFramePr>
            <a:graphicFrameLocks noGrp="1"/>
          </p:cNvGraphicFramePr>
          <p:nvPr>
            <p:extLst>
              <p:ext uri="{D42A27DB-BD31-4B8C-83A1-F6EECF244321}">
                <p14:modId xmlns:p14="http://schemas.microsoft.com/office/powerpoint/2010/main" val="1579011935"/>
              </p:ext>
            </p:extLst>
          </p:nvPr>
        </p:nvGraphicFramePr>
        <p:xfrm>
          <a:off x="2377440" y="4343400"/>
          <a:ext cx="8686800" cy="914400"/>
        </p:xfrm>
        <a:graphic>
          <a:graphicData uri="http://schemas.openxmlformats.org/drawingml/2006/table">
            <a:tbl>
              <a:tblPr/>
              <a:tblGrid>
                <a:gridCol w="3017520"/>
                <a:gridCol w="3017520"/>
                <a:gridCol w="2651760"/>
              </a:tblGrid>
              <a:tr h="566928">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درجة الغليان (</a:t>
                      </a:r>
                      <a:r>
                        <a:rPr lang="en-US" sz="2400" b="1" baseline="30000" dirty="0">
                          <a:solidFill>
                            <a:srgbClr val="16325C"/>
                          </a:solidFill>
                          <a:latin typeface="Arial" pitchFamily="34" charset="0"/>
                          <a:ea typeface="Arial" pitchFamily="34" charset="-122"/>
                          <a:cs typeface="Arial" pitchFamily="34" charset="-120"/>
                        </a:rPr>
                        <a:t>o</a:t>
                      </a:r>
                      <a:r>
                        <a:rPr lang="en-US" sz="2400" b="1" dirty="0">
                          <a:solidFill>
                            <a:srgbClr val="16325C"/>
                          </a:solidFill>
                          <a:latin typeface="Arial" pitchFamily="34" charset="0"/>
                          <a:ea typeface="Arial" pitchFamily="34" charset="-122"/>
                          <a:cs typeface="Arial" pitchFamily="34" charset="-120"/>
                        </a:rPr>
                        <a:t>C)</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درجة الانصهار (</a:t>
                      </a:r>
                      <a:r>
                        <a:rPr lang="en-US" sz="2400" b="1" baseline="30000" dirty="0">
                          <a:solidFill>
                            <a:srgbClr val="16325C"/>
                          </a:solidFill>
                          <a:latin typeface="Arial" pitchFamily="34" charset="0"/>
                          <a:ea typeface="Arial" pitchFamily="34" charset="-122"/>
                          <a:cs typeface="Arial" pitchFamily="34" charset="-120"/>
                        </a:rPr>
                        <a:t>o</a:t>
                      </a:r>
                      <a:r>
                        <a:rPr lang="en-US" sz="2400" b="1" dirty="0">
                          <a:solidFill>
                            <a:srgbClr val="16325C"/>
                          </a:solidFill>
                          <a:latin typeface="Arial" pitchFamily="34" charset="0"/>
                          <a:ea typeface="Arial" pitchFamily="34" charset="-122"/>
                          <a:cs typeface="Arial" pitchFamily="34" charset="-120"/>
                        </a:rPr>
                        <a:t>C)</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اسم المركب</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548640">
                <a:tc>
                  <a:txBody>
                    <a:bodyPr/>
                    <a:lstStyle/>
                    <a:p>
                      <a:pPr rtl="0" algn="ctr" indent="0" marL="0">
                        <a:buNone/>
                      </a:pPr>
                      <a:r>
                        <a:rPr lang="en-US" sz="2800" b="1" dirty="0">
                          <a:solidFill>
                            <a:srgbClr val="16325C"/>
                          </a:solidFill>
                          <a:latin typeface="Arial" pitchFamily="34" charset="0"/>
                          <a:ea typeface="Arial" pitchFamily="34" charset="-122"/>
                          <a:cs typeface="Arial" pitchFamily="34" charset="-120"/>
                        </a:rPr>
                        <a:t>1413</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dirty="0">
                          <a:solidFill>
                            <a:srgbClr val="16325C"/>
                          </a:solidFill>
                          <a:latin typeface="Arial" pitchFamily="34" charset="0"/>
                          <a:ea typeface="Arial" pitchFamily="34" charset="-122"/>
                          <a:cs typeface="Arial" pitchFamily="34" charset="-120"/>
                        </a:rPr>
                        <a:t>801</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dirty="0">
                          <a:solidFill>
                            <a:srgbClr val="16325C"/>
                          </a:solidFill>
                          <a:latin typeface="Arial" pitchFamily="34" charset="0"/>
                          <a:ea typeface="Arial" pitchFamily="34" charset="-122"/>
                          <a:cs typeface="Arial" pitchFamily="34" charset="-120"/>
                        </a:rPr>
                        <a:t>NaCl</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r h="548640">
                <a:tc>
                  <a:txBody>
                    <a:bodyPr/>
                    <a:lstStyle/>
                    <a:p>
                      <a:pPr rtl="0" algn="ctr" indent="0" marL="0">
                        <a:buNone/>
                      </a:pPr>
                      <a:r>
                        <a:rPr lang="en-US" sz="2800" b="1" dirty="0">
                          <a:solidFill>
                            <a:srgbClr val="16325C"/>
                          </a:solidFill>
                          <a:latin typeface="Arial" pitchFamily="34" charset="0"/>
                          <a:ea typeface="Arial" pitchFamily="34" charset="-122"/>
                          <a:cs typeface="Arial" pitchFamily="34" charset="-120"/>
                        </a:rPr>
                        <a:t>3600</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dirty="0">
                          <a:solidFill>
                            <a:srgbClr val="16325C"/>
                          </a:solidFill>
                          <a:latin typeface="Arial" pitchFamily="34" charset="0"/>
                          <a:ea typeface="Arial" pitchFamily="34" charset="-122"/>
                          <a:cs typeface="Arial" pitchFamily="34" charset="-120"/>
                        </a:rPr>
                        <a:t>2852</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dirty="0">
                          <a:solidFill>
                            <a:srgbClr val="16325C"/>
                          </a:solidFill>
                          <a:latin typeface="Arial" pitchFamily="34" charset="0"/>
                          <a:ea typeface="Arial" pitchFamily="34" charset="-122"/>
                          <a:cs typeface="Arial" pitchFamily="34" charset="-120"/>
                        </a:rPr>
                        <a:t>MgO</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bl>
          </a:graphicData>
        </a:graphic>
      </p:graphicFrame>
      <p:sp>
        <p:nvSpPr>
          <p:cNvPr id="9" name="anim_8_77"/>
          <p:cNvSpPr txBox="1"/>
          <p:nvPr/>
        </p:nvSpPr>
        <p:spPr>
          <a:xfrm>
            <a:off x="5029200" y="6172200"/>
            <a:ext cx="2377440" cy="36576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1600" b="1" dirty="0">
                <a:solidFill>
                  <a:srgbClr val="1F6FB2"/>
                </a:solidFill>
                <a:latin typeface="Arial" pitchFamily="34" charset="0"/>
                <a:ea typeface="Arial" pitchFamily="34" charset="-122"/>
                <a:cs typeface="Arial" pitchFamily="34" charset="-120"/>
              </a:rPr>
              <a:t>جدول (14)</a:t>
            </a:r>
            <a:endParaRPr lang="ar-KW" sz="1600" dirty="0"/>
          </a:p>
        </p:txBody>
      </p:sp>
    </p:spTree>
  </p:cSld>
  <p:clrMapOvr>
    <a:masterClrMapping/>
  </p:clrMapOvr>
  <p:transition spd="slow">
    <p:cover dir="l"/>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29"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0"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2400"/>
                                        <p:tgtEl>
                                          <p:spTgt spid="5"/>
                                        </p:tgtEl>
                                      </p:cBhvr>
                                    </p:animEffect>
                                  </p:childTnLst>
                                </p:cTn>
                              </p:par>
                            </p:childTnLst>
                          </p:cTn>
                        </p:par>
                        <p:par>
                          <p:cTn id="31" fill="hold">
                            <p:stCondLst>
                              <p:cond delay="3200"/>
                            </p:stCondLst>
                            <p:childTnLst>
                              <p:par>
                                <p:cTn id="14" presetID="2" presetClass="entr" presetSubtype="4"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800" fill="hold"/>
                                        <p:tgtEl>
                                          <p:spTgt spid="6"/>
                                        </p:tgtEl>
                                        <p:attrNameLst>
                                          <p:attrName>ppt_x</p:attrName>
                                        </p:attrNameLst>
                                      </p:cBhvr>
                                      <p:tavLst>
                                        <p:tav tm="0">
                                          <p:val>
                                            <p:strVal val="#ppt_x"/>
                                          </p:val>
                                        </p:tav>
                                        <p:tav tm="100000">
                                          <p:val>
                                            <p:strVal val="#ppt_x"/>
                                          </p:val>
                                        </p:tav>
                                      </p:tavLst>
                                    </p:anim>
                                    <p:anim calcmode="lin" valueType="num">
                                      <p:cBhvr additive="base">
                                        <p:cTn id="17" dur="800" fill="hold"/>
                                        <p:tgtEl>
                                          <p:spTgt spid="6"/>
                                        </p:tgtEl>
                                        <p:attrNameLst>
                                          <p:attrName>ppt_y</p:attrName>
                                        </p:attrNameLst>
                                      </p:cBhvr>
                                      <p:tavLst>
                                        <p:tav tm="0">
                                          <p:val>
                                            <p:strVal val="1+#ppt_h/2"/>
                                          </p:val>
                                        </p:tav>
                                        <p:tav tm="100000">
                                          <p:val>
                                            <p:strVal val="#ppt_y"/>
                                          </p:val>
                                        </p:tav>
                                      </p:tavLst>
                                    </p:anim>
                                  </p:childTnLst>
                                </p:cTn>
                              </p:par>
                            </p:childTnLst>
                          </p:cTn>
                        </p:par>
                        <p:par>
                          <p:cTn id="32" fill="hold">
                            <p:stCondLst>
                              <p:cond delay="4000"/>
                            </p:stCondLst>
                            <p:childTnLst>
                              <p:par>
                                <p:cTn id="18" presetID="53" presetClass="entr" presetSubtype="16"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600" fill="hold"/>
                                        <p:tgtEl>
                                          <p:spTgt spid="7"/>
                                        </p:tgtEl>
                                        <p:attrNameLst>
                                          <p:attrName>ppt_w</p:attrName>
                                        </p:attrNameLst>
                                      </p:cBhvr>
                                      <p:tavLst>
                                        <p:tav tm="0">
                                          <p:val>
                                            <p:fltVal val="0"/>
                                          </p:val>
                                        </p:tav>
                                        <p:tav tm="100000">
                                          <p:val>
                                            <p:strVal val="#ppt_w"/>
                                          </p:val>
                                        </p:tav>
                                      </p:tavLst>
                                    </p:anim>
                                    <p:anim calcmode="lin" valueType="num">
                                      <p:cBhvr additive="base">
                                        <p:cTn id="21" dur="600" fill="hold"/>
                                        <p:tgtEl>
                                          <p:spTgt spid="7"/>
                                        </p:tgtEl>
                                        <p:attrNameLst>
                                          <p:attrName>ppt_h</p:attrName>
                                        </p:attrNameLst>
                                      </p:cBhvr>
                                      <p:tavLst>
                                        <p:tav tm="0">
                                          <p:val>
                                            <p:fltVal val="0"/>
                                          </p:val>
                                        </p:tav>
                                        <p:tav tm="100000">
                                          <p:val>
                                            <p:strVal val="#ppt_h"/>
                                          </p:val>
                                        </p:tav>
                                      </p:tavLst>
                                    </p:anim>
                                    <p:animEffect transition="in" filter="fade">
                                      <p:cBhvr>
                                        <p:cTn id="22" dur="600"/>
                                        <p:tgtEl>
                                          <p:spTgt spid="7"/>
                                        </p:tgtEl>
                                      </p:cBhvr>
                                    </p:animEffect>
                                  </p:childTnLst>
                                </p:cTn>
                              </p:par>
                            </p:childTnLst>
                          </p:cTn>
                        </p:par>
                        <p:par>
                          <p:cTn id="33" fill="hold">
                            <p:stCondLst>
                              <p:cond delay="4600"/>
                            </p:stCondLst>
                            <p:childTnLst>
                              <p:par>
                                <p:cTn id="23" presetID="10"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700"/>
                                        <p:tgtEl>
                                          <p:spTgt spid="8"/>
                                        </p:tgtEl>
                                      </p:cBhvr>
                                    </p:animEffect>
                                  </p:childTnLst>
                                </p:cTn>
                              </p:par>
                            </p:childTnLst>
                          </p:cTn>
                        </p:par>
                        <p:par>
                          <p:cTn id="34" fill="hold">
                            <p:stCondLst>
                              <p:cond delay="5300"/>
                            </p:stCondLst>
                            <p:childTnLst>
                              <p:par>
                                <p:cTn id="26" presetID="10" presetClass="entr" presetSubtype="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Graphic spid="8" grpId="0">
        <p:bldAsOne/>
      </p:bldGraphic>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2" name=""/>
        <p:cNvGrpSpPr/>
        <p:nvPr/>
      </p:nvGrpSpPr>
      <p:grpSpPr>
        <a:xfrm>
          <a:off x="0" y="0"/>
          <a:ext cx="0" cy="0"/>
          <a:chOff x="0" y="0"/>
          <a:chExt cx="0" cy="0"/>
        </a:xfrm>
      </p:grpSpPr>
      <p:sp>
        <p:nvSpPr>
          <p:cNvPr id="3" name="anim_9_78"/>
          <p:cNvSpPr/>
          <p:nvPr/>
        </p:nvSpPr>
        <p:spPr>
          <a:xfrm>
            <a:off x="5257800" y="502920"/>
            <a:ext cx="6492240" cy="868680"/>
          </a:xfrm>
          <a:prstGeom prst="roundRect">
            <a:avLst>
              <a:gd name="adj" fmla="val 49474"/>
            </a:avLst>
          </a:prstGeom>
          <a:solidFill>
            <a:srgbClr val="E59A0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التوصيل الكهربائي</a:t>
            </a:r>
            <a:endParaRPr lang="ar-KW" sz="3600" dirty="0"/>
          </a:p>
        </p:txBody>
      </p:sp>
      <p:pic>
        <p:nvPicPr>
          <p:cNvPr id="4" name="anim_9_79" descr="sp_gold.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9_80" descr="fig26.png">    </p:cNvPr>
          <p:cNvPicPr>
            <a:picLocks noChangeAspect="1"/>
          </p:cNvPicPr>
          <p:nvPr/>
        </p:nvPicPr>
        <p:blipFill>
          <a:blip r:embed="rId2"/>
          <a:stretch>
            <a:fillRect/>
          </a:stretch>
        </p:blipFill>
        <p:spPr>
          <a:xfrm>
            <a:off x="411480" y="1645920"/>
            <a:ext cx="5486400" cy="4700360"/>
          </a:xfrm>
          <a:prstGeom prst="rect">
            <a:avLst/>
          </a:prstGeom>
        </p:spPr>
      </p:pic>
      <p:sp>
        <p:nvSpPr>
          <p:cNvPr id="6" name="anim_9_81"/>
          <p:cNvSpPr txBox="1"/>
          <p:nvPr/>
        </p:nvSpPr>
        <p:spPr>
          <a:xfrm>
            <a:off x="2103120" y="6263640"/>
            <a:ext cx="2103120" cy="36576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1600" b="1" dirty="0">
                <a:solidFill>
                  <a:srgbClr val="1F6FB2"/>
                </a:solidFill>
                <a:latin typeface="Arial" pitchFamily="34" charset="0"/>
                <a:ea typeface="Arial" pitchFamily="34" charset="-122"/>
                <a:cs typeface="Arial" pitchFamily="34" charset="-120"/>
              </a:rPr>
              <a:t>شكل (26)</a:t>
            </a:r>
            <a:endParaRPr lang="ar-KW" sz="1600" dirty="0"/>
          </a:p>
        </p:txBody>
      </p:sp>
      <p:sp>
        <p:nvSpPr>
          <p:cNvPr id="7" name="anim_9_82"/>
          <p:cNvSpPr txBox="1"/>
          <p:nvPr/>
        </p:nvSpPr>
        <p:spPr>
          <a:xfrm>
            <a:off x="6172200" y="1600200"/>
            <a:ext cx="5577840" cy="132588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100" b="1" dirty="0">
                <a:solidFill>
                  <a:srgbClr val="E59A00"/>
                </a:solidFill>
                <a:latin typeface="Arial" pitchFamily="34" charset="0"/>
                <a:ea typeface="Arial" pitchFamily="34" charset="-122"/>
                <a:cs typeface="Arial" pitchFamily="34" charset="-120"/>
              </a:rPr>
              <a:t>3 – التوصيل الكهربائي:</a:t>
            </a:r>
            <a:endParaRPr lang="ar-KW" sz="2100" dirty="0"/>
          </a:p>
          <a:p>
            <a:pPr rtl="0" algn="r" indent="0" marL="0">
              <a:lnSpc>
                <a:spcPct val="105000"/>
              </a:lnSpc>
              <a:spcAft>
                <a:spcPts val="600"/>
              </a:spcAft>
              <a:buNone/>
            </a:pPr>
            <a:r>
              <a:rPr lang="ar-KW" altLang="en-US" sz="2100" b="1" dirty="0">
                <a:solidFill>
                  <a:srgbClr val="16325C"/>
                </a:solidFill>
                <a:latin typeface="Arial" pitchFamily="34" charset="0"/>
                <a:ea typeface="Arial" pitchFamily="34" charset="-122"/>
                <a:cs typeface="Arial" pitchFamily="34" charset="-120"/>
              </a:rPr>
              <a:t>تفحص التجربة في الشكل (26): الشكلان يمثلان دائرة كهربائية مغلقة كما يلي:</a:t>
            </a:r>
            <a:endParaRPr lang="ar-KW" sz="2100" dirty="0"/>
          </a:p>
        </p:txBody>
      </p:sp>
      <p:sp>
        <p:nvSpPr>
          <p:cNvPr id="8" name="anim_9_83"/>
          <p:cNvSpPr txBox="1"/>
          <p:nvPr/>
        </p:nvSpPr>
        <p:spPr>
          <a:xfrm>
            <a:off x="6172200" y="2971800"/>
            <a:ext cx="5577840" cy="178308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100" b="1" dirty="0">
                <a:solidFill>
                  <a:srgbClr val="6C4FE0"/>
                </a:solidFill>
                <a:latin typeface="Arial" pitchFamily="34" charset="0"/>
                <a:ea typeface="Arial" pitchFamily="34" charset="-122"/>
                <a:cs typeface="Arial" pitchFamily="34" charset="-120"/>
              </a:rPr>
              <a:t>في الشكل (A): </a:t>
            </a:r>
            <a:r>
              <a:rPr lang="ar-KW" altLang="en-US" sz="2100" b="1" dirty="0">
                <a:solidFill>
                  <a:srgbClr val="16325C"/>
                </a:solidFill>
                <a:latin typeface="Arial" pitchFamily="34" charset="0"/>
                <a:ea typeface="Arial" pitchFamily="34" charset="-122"/>
                <a:cs typeface="Arial" pitchFamily="34" charset="-120"/>
              </a:rPr>
              <a:t>الكأس يحتوي على مركب أيوني صلب. </a:t>
            </a:r>
            <a:r>
              <a:rPr lang="ar-KW" altLang="en-US" sz="2100" b="1" dirty="0">
                <a:solidFill>
                  <a:srgbClr val="0F9D8E"/>
                </a:solidFill>
                <a:latin typeface="Arial" pitchFamily="34" charset="0"/>
                <a:ea typeface="Arial" pitchFamily="34" charset="-122"/>
                <a:cs typeface="Arial" pitchFamily="34" charset="-120"/>
              </a:rPr>
              <a:t>وفي الشكل (B): </a:t>
            </a:r>
            <a:r>
              <a:rPr lang="ar-KW" altLang="en-US" sz="2100" b="1" dirty="0">
                <a:solidFill>
                  <a:srgbClr val="16325C"/>
                </a:solidFill>
                <a:latin typeface="Arial" pitchFamily="34" charset="0"/>
                <a:ea typeface="Arial" pitchFamily="34" charset="-122"/>
                <a:cs typeface="Arial" pitchFamily="34" charset="-120"/>
              </a:rPr>
              <a:t>الكأس يحتوي على مصهور لمركب أيوني. </a:t>
            </a:r>
            <a:r>
              <a:rPr lang="ar-KW" altLang="en-US" sz="2100" b="1" dirty="0">
                <a:solidFill>
                  <a:srgbClr val="E8335F"/>
                </a:solidFill>
                <a:latin typeface="Arial" pitchFamily="34" charset="0"/>
                <a:ea typeface="Arial" pitchFamily="34" charset="-122"/>
                <a:cs typeface="Arial" pitchFamily="34" charset="-120"/>
              </a:rPr>
              <a:t>ماذا تلاحظ؟ سجِّل مشاهدتك.</a:t>
            </a:r>
            <a:endParaRPr lang="ar-KW" sz="2100" dirty="0"/>
          </a:p>
        </p:txBody>
      </p:sp>
      <p:sp>
        <p:nvSpPr>
          <p:cNvPr id="9" name="anim_9_84"/>
          <p:cNvSpPr/>
          <p:nvPr/>
        </p:nvSpPr>
        <p:spPr>
          <a:xfrm>
            <a:off x="6172200" y="4846320"/>
            <a:ext cx="5577840" cy="1371600"/>
          </a:xfrm>
          <a:prstGeom prst="roundRect">
            <a:avLst>
              <a:gd name="adj" fmla="val 20000"/>
            </a:avLst>
          </a:prstGeom>
          <a:solidFill>
            <a:srgbClr val="DDF0FC"/>
          </a:solidFill>
          <a:ln/>
          <a:effectLst>
            <a:outerShdw sx="100000" sy="100000" kx="0" ky="0" algn="bl" rotWithShape="0" blurRad="152400" dist="50800" dir="5400000">
              <a:srgbClr val="1F4F8A">
                <a:alpha val="18000"/>
              </a:srgbClr>
            </a:outerShdw>
          </a:effectLst>
        </p:spPr>
      </p:sp>
      <p:sp>
        <p:nvSpPr>
          <p:cNvPr id="10" name="anim_9_85"/>
          <p:cNvSpPr txBox="1"/>
          <p:nvPr/>
        </p:nvSpPr>
        <p:spPr>
          <a:xfrm>
            <a:off x="9692640" y="4864608"/>
            <a:ext cx="1920240" cy="45720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200" b="1" dirty="0">
                <a:solidFill>
                  <a:srgbClr val="1F6FB2"/>
                </a:solidFill>
                <a:latin typeface="Arial" pitchFamily="34" charset="0"/>
                <a:ea typeface="Arial" pitchFamily="34" charset="-122"/>
                <a:cs typeface="Arial" pitchFamily="34" charset="-120"/>
              </a:rPr>
              <a:t>المشاهدة:</a:t>
            </a:r>
            <a:endParaRPr lang="ar-KW" sz="2200" dirty="0"/>
          </a:p>
        </p:txBody>
      </p:sp>
      <p:sp>
        <p:nvSpPr>
          <p:cNvPr id="11" name="anim_9_86"/>
          <p:cNvSpPr txBox="1"/>
          <p:nvPr/>
        </p:nvSpPr>
        <p:spPr>
          <a:xfrm>
            <a:off x="6355080" y="5257800"/>
            <a:ext cx="5212080" cy="45720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200" b="1" dirty="0">
                <a:solidFill>
                  <a:srgbClr val="6C4FE0"/>
                </a:solidFill>
                <a:latin typeface="Arial" pitchFamily="34" charset="0"/>
                <a:ea typeface="Arial" pitchFamily="34" charset="-122"/>
                <a:cs typeface="Arial" pitchFamily="34" charset="-120"/>
              </a:rPr>
              <a:t>(A): </a:t>
            </a:r>
            <a:r>
              <a:rPr lang="ar-KW" altLang="en-US" sz="2200" b="1" dirty="0">
                <a:solidFill>
                  <a:srgbClr val="0B8A5A"/>
                </a:solidFill>
                <a:latin typeface="Arial" pitchFamily="34" charset="0"/>
                <a:ea typeface="Arial" pitchFamily="34" charset="-122"/>
                <a:cs typeface="Arial" pitchFamily="34" charset="-120"/>
              </a:rPr>
              <a:t>لم يضيء المصباح.</a:t>
            </a:r>
            <a:endParaRPr lang="ar-KW" sz="2200" dirty="0"/>
          </a:p>
        </p:txBody>
      </p:sp>
      <p:sp>
        <p:nvSpPr>
          <p:cNvPr id="12" name="anim_9_87"/>
          <p:cNvSpPr txBox="1"/>
          <p:nvPr/>
        </p:nvSpPr>
        <p:spPr>
          <a:xfrm>
            <a:off x="6355080" y="5687568"/>
            <a:ext cx="5212080" cy="45720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200" b="1" dirty="0">
                <a:solidFill>
                  <a:srgbClr val="0F9D8E"/>
                </a:solidFill>
                <a:latin typeface="Arial" pitchFamily="34" charset="0"/>
                <a:ea typeface="Arial" pitchFamily="34" charset="-122"/>
                <a:cs typeface="Arial" pitchFamily="34" charset="-120"/>
              </a:rPr>
              <a:t>(B): </a:t>
            </a:r>
            <a:r>
              <a:rPr lang="ar-KW" altLang="en-US" sz="2200" b="1" dirty="0">
                <a:solidFill>
                  <a:srgbClr val="0B8A5A"/>
                </a:solidFill>
                <a:latin typeface="Arial" pitchFamily="34" charset="0"/>
                <a:ea typeface="Arial" pitchFamily="34" charset="-122"/>
                <a:cs typeface="Arial" pitchFamily="34" charset="-120"/>
              </a:rPr>
              <a:t>أضاء المصباح.</a:t>
            </a:r>
            <a:endParaRPr lang="ar-KW" sz="2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7" fill="hold">
                      <p:stCondLst>
                        <p:cond delay="indefinite"/>
                        <p:cond evt="onBegin" delay="0">
                          <p:tn val="2"/>
                        </p:cond>
                      </p:stCondLst>
                      <p:childTnLst>
                        <p:par>
                          <p:cTn id="32"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3"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900" fill="hold"/>
                                        <p:tgtEl>
                                          <p:spTgt spid="5"/>
                                        </p:tgtEl>
                                        <p:attrNameLst>
                                          <p:attrName>ppt_w</p:attrName>
                                        </p:attrNameLst>
                                      </p:cBhvr>
                                      <p:tavLst>
                                        <p:tav tm="0">
                                          <p:val>
                                            <p:fltVal val="0"/>
                                          </p:val>
                                        </p:tav>
                                        <p:tav tm="100000">
                                          <p:val>
                                            <p:strVal val="#ppt_w"/>
                                          </p:val>
                                        </p:tav>
                                      </p:tavLst>
                                    </p:anim>
                                    <p:anim calcmode="lin" valueType="num">
                                      <p:cBhvr additive="base">
                                        <p:cTn id="14" dur="900" fill="hold"/>
                                        <p:tgtEl>
                                          <p:spTgt spid="5"/>
                                        </p:tgtEl>
                                        <p:attrNameLst>
                                          <p:attrName>ppt_h</p:attrName>
                                        </p:attrNameLst>
                                      </p:cBhvr>
                                      <p:tavLst>
                                        <p:tav tm="0">
                                          <p:val>
                                            <p:fltVal val="0"/>
                                          </p:val>
                                        </p:tav>
                                        <p:tav tm="100000">
                                          <p:val>
                                            <p:strVal val="#ppt_h"/>
                                          </p:val>
                                        </p:tav>
                                      </p:tavLst>
                                    </p:anim>
                                    <p:animEffect transition="in" filter="fade">
                                      <p:cBhvr>
                                        <p:cTn id="15" dur="9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00"/>
                                        <p:tgtEl>
                                          <p:spTgt spid="6"/>
                                        </p:tgtEl>
                                      </p:cBhvr>
                                    </p:animEffect>
                                  </p:childTnLst>
                                </p:cTn>
                              </p:par>
                            </p:childTnLst>
                          </p:cTn>
                        </p:par>
                        <p:par>
                          <p:cTn id="34" fill="hold">
                            <p:stCondLst>
                              <p:cond delay="1700"/>
                            </p:stCondLst>
                            <p:childTnLst>
                              <p:par>
                                <p:cTn id="19" presetID="22" presetClass="entr" presetSubtype="2"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right)">
                                      <p:cBhvr>
                                        <p:cTn id="21" dur="1200"/>
                                        <p:tgtEl>
                                          <p:spTgt spid="7"/>
                                        </p:tgtEl>
                                      </p:cBhvr>
                                    </p:animEffect>
                                  </p:childTnLst>
                                </p:cTn>
                              </p:par>
                            </p:childTnLst>
                          </p:cTn>
                        </p:par>
                        <p:par>
                          <p:cTn id="35" fill="hold">
                            <p:stCondLst>
                              <p:cond delay="2900"/>
                            </p:stCondLst>
                            <p:childTnLst>
                              <p:par>
                                <p:cTn id="22" presetID="22" presetClass="entr" presetSubtype="2"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right)">
                                      <p:cBhvr>
                                        <p:cTn id="24" dur="1500"/>
                                        <p:tgtEl>
                                          <p:spTgt spid="8"/>
                                        </p:tgtEl>
                                      </p:cBhvr>
                                    </p:animEffect>
                                  </p:childTnLst>
                                </p:cTn>
                              </p:par>
                            </p:childTnLst>
                          </p:cTn>
                        </p:par>
                        <p:par>
                          <p:cTn id="36" fill="hold">
                            <p:stCondLst>
                              <p:cond delay="4400"/>
                            </p:stCondLst>
                            <p:childTnLst>
                              <p:par>
                                <p:cTn id="25" presetID="2" presetClass="entr" presetSubtype="4"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300"/>
                                        <p:tgtEl>
                                          <p:spTgt spid="10"/>
                                        </p:tgtEl>
                                      </p:cBhvr>
                                    </p:animEffect>
                                  </p:childTnLst>
                                </p:cTn>
                              </p:par>
                            </p:childTnLst>
                          </p:cTn>
                        </p:par>
                      </p:childTnLst>
                    </p:cTn>
                  </p:par>
                  <p:par>
                    <p:cTn id="44" fill="hold">
                      <p:stCondLst>
                        <p:cond delay="indefinite"/>
                      </p:stCondLst>
                      <p:childTnLst>
                        <p:par>
                          <p:cTn id="43"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ppt_w</p:attrName>
                                        </p:attrNameLst>
                                      </p:cBhvr>
                                      <p:tavLst>
                                        <p:tav tm="0">
                                          <p:val>
                                            <p:fltVal val="0"/>
                                          </p:val>
                                        </p:tav>
                                        <p:tav tm="100000">
                                          <p:val>
                                            <p:strVal val="#ppt_w"/>
                                          </p:val>
                                        </p:tav>
                                      </p:tavLst>
                                    </p:anim>
                                    <p:anim calcmode="lin" valueType="num">
                                      <p:cBhvr additive="base">
                                        <p:cTn id="41" dur="500" fill="hold"/>
                                        <p:tgtEl>
                                          <p:spTgt spid="11"/>
                                        </p:tgtEl>
                                        <p:attrNameLst>
                                          <p:attrName>ppt_h</p:attrName>
                                        </p:attrNameLst>
                                      </p:cBhvr>
                                      <p:tavLst>
                                        <p:tav tm="0">
                                          <p:val>
                                            <p:fltVal val="0"/>
                                          </p:val>
                                        </p:tav>
                                        <p:tav tm="100000">
                                          <p:val>
                                            <p:strVal val="#ppt_h"/>
                                          </p:val>
                                        </p:tav>
                                      </p:tavLst>
                                    </p:anim>
                                    <p:animEffect transition="in" filter="fade">
                                      <p:cBhvr>
                                        <p:cTn id="42" dur="500"/>
                                        <p:tgtEl>
                                          <p:spTgt spid="11"/>
                                        </p:tgtEl>
                                      </p:cBhvr>
                                    </p:animEffect>
                                  </p:childTnLst>
                                </p:cTn>
                              </p:par>
                            </p:childTnLst>
                          </p:cTn>
                        </p:par>
                      </p:childTnLst>
                    </p:cTn>
                  </p:par>
                  <p:par>
                    <p:cTn id="51" fill="hold">
                      <p:stCondLst>
                        <p:cond delay="indefinite"/>
                      </p:stCondLst>
                      <p:childTnLst>
                        <p:par>
                          <p:cTn id="50"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ppt_w</p:attrName>
                                        </p:attrNameLst>
                                      </p:cBhvr>
                                      <p:tavLst>
                                        <p:tav tm="0">
                                          <p:val>
                                            <p:fltVal val="0"/>
                                          </p:val>
                                        </p:tav>
                                        <p:tav tm="100000">
                                          <p:val>
                                            <p:strVal val="#ppt_w"/>
                                          </p:val>
                                        </p:tav>
                                      </p:tavLst>
                                    </p:anim>
                                    <p:anim calcmode="lin" valueType="num">
                                      <p:cBhvr additive="base">
                                        <p:cTn id="48" dur="500" fill="hold"/>
                                        <p:tgtEl>
                                          <p:spTgt spid="12"/>
                                        </p:tgtEl>
                                        <p:attrNameLst>
                                          <p:attrName>ppt_h</p:attrName>
                                        </p:attrNameLst>
                                      </p:cBhvr>
                                      <p:tavLst>
                                        <p:tav tm="0">
                                          <p:val>
                                            <p:fltVal val="0"/>
                                          </p:val>
                                        </p:tav>
                                        <p:tav tm="100000">
                                          <p:val>
                                            <p:strVal val="#ppt_h"/>
                                          </p:val>
                                        </p:tav>
                                      </p:tavLst>
                                    </p:anim>
                                    <p:animEffect transition="in" filter="fade">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2" name=""/>
        <p:cNvGrpSpPr/>
        <p:nvPr/>
      </p:nvGrpSpPr>
      <p:grpSpPr>
        <a:xfrm>
          <a:off x="0" y="0"/>
          <a:ext cx="0" cy="0"/>
          <a:chOff x="0" y="0"/>
          <a:chExt cx="0" cy="0"/>
        </a:xfrm>
      </p:grpSpPr>
      <p:sp>
        <p:nvSpPr>
          <p:cNvPr id="3" name="anim_10_88"/>
          <p:cNvSpPr/>
          <p:nvPr/>
        </p:nvSpPr>
        <p:spPr>
          <a:xfrm>
            <a:off x="4709160" y="502920"/>
            <a:ext cx="7040880" cy="868680"/>
          </a:xfrm>
          <a:prstGeom prst="roundRect">
            <a:avLst>
              <a:gd name="adj" fmla="val 49474"/>
            </a:avLst>
          </a:prstGeom>
          <a:solidFill>
            <a:srgbClr val="E59A0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لماذا أضاء المصباح؟</a:t>
            </a:r>
            <a:endParaRPr lang="ar-KW" sz="3600" dirty="0"/>
          </a:p>
        </p:txBody>
      </p:sp>
      <p:pic>
        <p:nvPicPr>
          <p:cNvPr id="4" name="anim_10_89" descr="sp_gold.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10_90"/>
          <p:cNvSpPr txBox="1"/>
          <p:nvPr/>
        </p:nvSpPr>
        <p:spPr>
          <a:xfrm>
            <a:off x="457200" y="1645920"/>
            <a:ext cx="11292840" cy="118872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500" b="1" dirty="0">
                <a:solidFill>
                  <a:srgbClr val="16325C"/>
                </a:solidFill>
                <a:latin typeface="Arial" pitchFamily="34" charset="0"/>
                <a:ea typeface="Arial" pitchFamily="34" charset="-122"/>
                <a:cs typeface="Arial" pitchFamily="34" charset="-120"/>
              </a:rPr>
              <a:t>لكي يتم التوصيل الكهربائي في الدائرة لابد من </a:t>
            </a:r>
            <a:r>
              <a:rPr lang="ar-KW" altLang="en-US" sz="2500" b="1" dirty="0">
                <a:solidFill>
                  <a:srgbClr val="E8335F"/>
                </a:solidFill>
                <a:latin typeface="Arial" pitchFamily="34" charset="0"/>
                <a:ea typeface="Arial" pitchFamily="34" charset="-122"/>
                <a:cs typeface="Arial" pitchFamily="34" charset="-120"/>
              </a:rPr>
              <a:t>وجود أيونات</a:t>
            </a:r>
            <a:r>
              <a:rPr lang="ar-KW" altLang="en-US" sz="2500" b="1" dirty="0">
                <a:solidFill>
                  <a:srgbClr val="16325C"/>
                </a:solidFill>
                <a:latin typeface="Arial" pitchFamily="34" charset="0"/>
                <a:ea typeface="Arial" pitchFamily="34" charset="-122"/>
                <a:cs typeface="Arial" pitchFamily="34" charset="-120"/>
              </a:rPr>
              <a:t> (حاملات) </a:t>
            </a:r>
            <a:r>
              <a:rPr lang="ar-KW" altLang="en-US" sz="2500" b="1" dirty="0">
                <a:solidFill>
                  <a:srgbClr val="E8335F"/>
                </a:solidFill>
                <a:latin typeface="Arial" pitchFamily="34" charset="0"/>
                <a:ea typeface="Arial" pitchFamily="34" charset="-122"/>
                <a:cs typeface="Arial" pitchFamily="34" charset="-120"/>
              </a:rPr>
              <a:t>حرّة الحركة</a:t>
            </a:r>
            <a:r>
              <a:rPr lang="ar-KW" altLang="en-US" sz="2500" b="1" dirty="0">
                <a:solidFill>
                  <a:srgbClr val="16325C"/>
                </a:solidFill>
                <a:latin typeface="Arial" pitchFamily="34" charset="0"/>
                <a:ea typeface="Arial" pitchFamily="34" charset="-122"/>
                <a:cs typeface="Arial" pitchFamily="34" charset="-120"/>
              </a:rPr>
              <a:t> توّصل (تحمل) هذا التيار الكهربائي خلال الدائرة الكهربائية.</a:t>
            </a:r>
            <a:endParaRPr lang="ar-KW" sz="2500" dirty="0"/>
          </a:p>
        </p:txBody>
      </p:sp>
      <p:sp>
        <p:nvSpPr>
          <p:cNvPr id="6" name="anim_10_91"/>
          <p:cNvSpPr/>
          <p:nvPr/>
        </p:nvSpPr>
        <p:spPr>
          <a:xfrm>
            <a:off x="6172200" y="2926080"/>
            <a:ext cx="5577840" cy="3246120"/>
          </a:xfrm>
          <a:prstGeom prst="roundRect">
            <a:avLst>
              <a:gd name="adj" fmla="val 8451"/>
            </a:avLst>
          </a:prstGeom>
          <a:solidFill>
            <a:srgbClr val="F1EDFF"/>
          </a:solidFill>
          <a:ln/>
          <a:effectLst>
            <a:outerShdw sx="100000" sy="100000" kx="0" ky="0" algn="bl" rotWithShape="0" blurRad="152400" dist="50800" dir="5400000">
              <a:srgbClr val="1F4F8A">
                <a:alpha val="18000"/>
              </a:srgbClr>
            </a:outerShdw>
          </a:effectLst>
        </p:spPr>
      </p:sp>
      <p:sp>
        <p:nvSpPr>
          <p:cNvPr id="7" name="anim_10_92"/>
          <p:cNvSpPr txBox="1"/>
          <p:nvPr/>
        </p:nvSpPr>
        <p:spPr>
          <a:xfrm>
            <a:off x="6355080" y="3017520"/>
            <a:ext cx="5212080" cy="3063240"/>
          </a:xfrm>
          <a:prstGeom prst="rect">
            <a:avLst/>
          </a:prstGeom>
          <a:noFill/>
          <a:ln/>
        </p:spPr>
        <p:txBody>
          <a:bodyPr wrap="square" lIns="50800" tIns="50800" rIns="50800" bIns="50800" rtlCol="0" anchor="ctr"/>
          <a:lstStyle/>
          <a:p>
            <a:pPr rtl="0" algn="r" indent="0" marL="0">
              <a:lnSpc>
                <a:spcPct val="105000"/>
              </a:lnSpc>
              <a:spcAft>
                <a:spcPts val="600"/>
              </a:spcAft>
              <a:buNone/>
            </a:pPr>
            <a:r>
              <a:rPr lang="ar-KW" altLang="en-US" sz="2300" b="1" dirty="0">
                <a:solidFill>
                  <a:srgbClr val="6C4FE0"/>
                </a:solidFill>
                <a:latin typeface="Arial" pitchFamily="34" charset="0"/>
                <a:ea typeface="Arial" pitchFamily="34" charset="-122"/>
                <a:cs typeface="Arial" pitchFamily="34" charset="-120"/>
              </a:rPr>
              <a:t>ففي الشكل (A) </a:t>
            </a:r>
            <a:r>
              <a:rPr lang="ar-KW" altLang="en-US" sz="2300" b="1" dirty="0">
                <a:solidFill>
                  <a:srgbClr val="16325C"/>
                </a:solidFill>
                <a:latin typeface="Arial" pitchFamily="34" charset="0"/>
                <a:ea typeface="Arial" pitchFamily="34" charset="-122"/>
                <a:cs typeface="Arial" pitchFamily="34" charset="-120"/>
              </a:rPr>
              <a:t>لم يضيء المصباح، فعلى الرغم من وجود الأيونات في المركب الأيوني الصلب إلاّ أن الروابط في الشبكة البلّورية تجعلها </a:t>
            </a:r>
            <a:r>
              <a:rPr lang="ar-KW" altLang="en-US" sz="2300" b="1" dirty="0">
                <a:solidFill>
                  <a:srgbClr val="E8335F"/>
                </a:solidFill>
                <a:latin typeface="Arial" pitchFamily="34" charset="0"/>
                <a:ea typeface="Arial" pitchFamily="34" charset="-122"/>
                <a:cs typeface="Arial" pitchFamily="34" charset="-120"/>
              </a:rPr>
              <a:t>مقيّدة (غير حرّة) الحركة.</a:t>
            </a:r>
            <a:endParaRPr lang="ar-KW" sz="2300" dirty="0"/>
          </a:p>
        </p:txBody>
      </p:sp>
      <p:sp>
        <p:nvSpPr>
          <p:cNvPr id="8" name="anim_10_93"/>
          <p:cNvSpPr/>
          <p:nvPr/>
        </p:nvSpPr>
        <p:spPr>
          <a:xfrm>
            <a:off x="457200" y="2926080"/>
            <a:ext cx="5486400" cy="3246120"/>
          </a:xfrm>
          <a:prstGeom prst="roundRect">
            <a:avLst>
              <a:gd name="adj" fmla="val 8451"/>
            </a:avLst>
          </a:prstGeom>
          <a:solidFill>
            <a:srgbClr val="E7F7EF"/>
          </a:solidFill>
          <a:ln/>
          <a:effectLst>
            <a:outerShdw sx="100000" sy="100000" kx="0" ky="0" algn="bl" rotWithShape="0" blurRad="152400" dist="50800" dir="5400000">
              <a:srgbClr val="1F4F8A">
                <a:alpha val="18000"/>
              </a:srgbClr>
            </a:outerShdw>
          </a:effectLst>
        </p:spPr>
      </p:sp>
      <p:sp>
        <p:nvSpPr>
          <p:cNvPr id="9" name="anim_10_94"/>
          <p:cNvSpPr txBox="1"/>
          <p:nvPr/>
        </p:nvSpPr>
        <p:spPr>
          <a:xfrm>
            <a:off x="640080" y="3017520"/>
            <a:ext cx="5120640" cy="3063240"/>
          </a:xfrm>
          <a:prstGeom prst="rect">
            <a:avLst/>
          </a:prstGeom>
          <a:noFill/>
          <a:ln/>
        </p:spPr>
        <p:txBody>
          <a:bodyPr wrap="square" lIns="50800" tIns="50800" rIns="50800" bIns="50800" rtlCol="0" anchor="ctr"/>
          <a:lstStyle/>
          <a:p>
            <a:pPr rtl="0" algn="r" indent="0" marL="0">
              <a:lnSpc>
                <a:spcPct val="105000"/>
              </a:lnSpc>
              <a:spcAft>
                <a:spcPts val="600"/>
              </a:spcAft>
              <a:buNone/>
            </a:pPr>
            <a:r>
              <a:rPr lang="ar-KW" altLang="en-US" sz="2300" b="1" dirty="0">
                <a:solidFill>
                  <a:srgbClr val="0F9D8E"/>
                </a:solidFill>
                <a:latin typeface="Arial" pitchFamily="34" charset="0"/>
                <a:ea typeface="Arial" pitchFamily="34" charset="-122"/>
                <a:cs typeface="Arial" pitchFamily="34" charset="-120"/>
              </a:rPr>
              <a:t>بينما في الشكل (B)، </a:t>
            </a:r>
            <a:r>
              <a:rPr lang="ar-KW" altLang="en-US" sz="2300" b="1" dirty="0">
                <a:solidFill>
                  <a:srgbClr val="16325C"/>
                </a:solidFill>
                <a:latin typeface="Arial" pitchFamily="34" charset="0"/>
                <a:ea typeface="Arial" pitchFamily="34" charset="-122"/>
                <a:cs typeface="Arial" pitchFamily="34" charset="-120"/>
              </a:rPr>
              <a:t>في حالة المصهور أو المحلول فإن الروابط بين الأيونات في الشبكة البلّورية تتفكّك وتصبح الأيونات </a:t>
            </a:r>
            <a:r>
              <a:rPr lang="ar-KW" altLang="en-US" sz="2300" b="1" dirty="0">
                <a:solidFill>
                  <a:srgbClr val="0B8A5A"/>
                </a:solidFill>
                <a:latin typeface="Arial" pitchFamily="34" charset="0"/>
                <a:ea typeface="Arial" pitchFamily="34" charset="-122"/>
                <a:cs typeface="Arial" pitchFamily="34" charset="-120"/>
              </a:rPr>
              <a:t>حرّة الحركة</a:t>
            </a:r>
            <a:r>
              <a:rPr lang="ar-KW" altLang="en-US" sz="2300" b="1" dirty="0">
                <a:solidFill>
                  <a:srgbClr val="16325C"/>
                </a:solidFill>
                <a:latin typeface="Arial" pitchFamily="34" charset="0"/>
                <a:ea typeface="Arial" pitchFamily="34" charset="-122"/>
                <a:cs typeface="Arial" pitchFamily="34" charset="-120"/>
              </a:rPr>
              <a:t> توصل التيار الكهربائي وبالتالي يضيء المصباح.</a:t>
            </a:r>
            <a:endParaRPr lang="ar-KW" sz="23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4"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15"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1500"/>
                                        <p:tgtEl>
                                          <p:spTgt spid="5"/>
                                        </p:tgtEl>
                                      </p:cBhvr>
                                    </p:animEffect>
                                  </p:childTnLst>
                                </p:cTn>
                              </p:par>
                            </p:childTnLst>
                          </p:cTn>
                        </p:par>
                      </p:childTnLst>
                    </p:cTn>
                  </p:par>
                  <p:par>
                    <p:cTn id="26" fill="hold">
                      <p:stCondLst>
                        <p:cond delay="indefinite"/>
                      </p:stCondLst>
                      <p:childTnLst>
                        <p:par>
                          <p:cTn id="24"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1" presetID="22" presetClass="entr" presetSubtype="2"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right)">
                                      <p:cBhvr>
                                        <p:cTn id="23" dur="1500"/>
                                        <p:tgtEl>
                                          <p:spTgt spid="7"/>
                                        </p:tgtEl>
                                      </p:cBhvr>
                                    </p:animEffect>
                                  </p:childTnLst>
                                </p:cTn>
                              </p:par>
                            </p:childTnLst>
                          </p:cTn>
                        </p:par>
                      </p:childTnLst>
                    </p:cTn>
                  </p:par>
                  <p:par>
                    <p:cTn id="36" fill="hold">
                      <p:stCondLst>
                        <p:cond delay="indefinite"/>
                      </p:stCondLst>
                      <p:childTnLst>
                        <p:par>
                          <p:cTn id="34"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0-#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childTnLst>
                          </p:cTn>
                        </p:par>
                        <p:par>
                          <p:cTn id="35" fill="hold">
                            <p:stCondLst>
                              <p:cond delay="500"/>
                            </p:stCondLst>
                            <p:childTnLst>
                              <p:par>
                                <p:cTn id="31" presetID="22" presetClass="entr" presetSubtype="2"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right)">
                                      <p:cBhvr>
                                        <p:cTn id="33" dur="1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2" name=""/>
        <p:cNvGrpSpPr/>
        <p:nvPr/>
      </p:nvGrpSpPr>
      <p:grpSpPr>
        <a:xfrm>
          <a:off x="0" y="0"/>
          <a:ext cx="0" cy="0"/>
          <a:chOff x="0" y="0"/>
          <a:chExt cx="0" cy="0"/>
        </a:xfrm>
      </p:grpSpPr>
      <p:sp>
        <p:nvSpPr>
          <p:cNvPr id="3" name="anim_11_95"/>
          <p:cNvSpPr/>
          <p:nvPr/>
        </p:nvSpPr>
        <p:spPr>
          <a:xfrm>
            <a:off x="8092440" y="502920"/>
            <a:ext cx="3657600" cy="868680"/>
          </a:xfrm>
          <a:prstGeom prst="roundRect">
            <a:avLst>
              <a:gd name="adj" fmla="val 49474"/>
            </a:avLst>
          </a:prstGeom>
          <a:solidFill>
            <a:srgbClr val="1F6FB2"/>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إضاءات</a:t>
            </a:r>
            <a:endParaRPr lang="ar-KW" sz="3600" dirty="0"/>
          </a:p>
        </p:txBody>
      </p:sp>
      <p:pic>
        <p:nvPicPr>
          <p:cNvPr id="4" name="anim_11_96" descr="sp_blue.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11_97" descr="badge_light.png">    </p:cNvPr>
          <p:cNvPicPr>
            <a:picLocks noChangeAspect="1"/>
          </p:cNvPicPr>
          <p:nvPr/>
        </p:nvPicPr>
        <p:blipFill>
          <a:blip r:embed="rId2"/>
          <a:stretch>
            <a:fillRect/>
          </a:stretch>
        </p:blipFill>
        <p:spPr>
          <a:xfrm>
            <a:off x="6675120" y="292608"/>
            <a:ext cx="1280160" cy="1280160"/>
          </a:xfrm>
          <a:prstGeom prst="rect">
            <a:avLst/>
          </a:prstGeom>
        </p:spPr>
      </p:pic>
      <p:sp>
        <p:nvSpPr>
          <p:cNvPr id="6" name="anim_11_98"/>
          <p:cNvSpPr/>
          <p:nvPr/>
        </p:nvSpPr>
        <p:spPr>
          <a:xfrm>
            <a:off x="411480" y="1645920"/>
            <a:ext cx="11338560" cy="4572000"/>
          </a:xfrm>
          <a:prstGeom prst="roundRect">
            <a:avLst>
              <a:gd name="adj" fmla="val 6000"/>
            </a:avLst>
          </a:prstGeom>
          <a:solidFill>
            <a:srgbClr val="DDF0FC"/>
          </a:solidFill>
          <a:ln/>
          <a:effectLst>
            <a:outerShdw sx="100000" sy="100000" kx="0" ky="0" algn="bl" rotWithShape="0" blurRad="152400" dist="50800" dir="5400000">
              <a:srgbClr val="1F4F8A">
                <a:alpha val="18000"/>
              </a:srgbClr>
            </a:outerShdw>
          </a:effectLst>
        </p:spPr>
      </p:sp>
      <p:pic>
        <p:nvPicPr>
          <p:cNvPr id="7" name="anim_11_99" descr="lattice_big.png">    </p:cNvPr>
          <p:cNvPicPr>
            <a:picLocks noChangeAspect="1"/>
          </p:cNvPicPr>
          <p:nvPr/>
        </p:nvPicPr>
        <p:blipFill>
          <a:blip r:embed="rId3"/>
          <a:stretch>
            <a:fillRect/>
          </a:stretch>
        </p:blipFill>
        <p:spPr>
          <a:xfrm>
            <a:off x="548640" y="2011680"/>
            <a:ext cx="3566160" cy="3566160"/>
          </a:xfrm>
          <a:prstGeom prst="rect">
            <a:avLst/>
          </a:prstGeom>
        </p:spPr>
      </p:pic>
      <p:sp>
        <p:nvSpPr>
          <p:cNvPr id="8" name="anim_11_100"/>
          <p:cNvSpPr txBox="1"/>
          <p:nvPr/>
        </p:nvSpPr>
        <p:spPr>
          <a:xfrm>
            <a:off x="1508760" y="5532120"/>
            <a:ext cx="1645920" cy="548640"/>
          </a:xfrm>
          <a:prstGeom prst="roundRect">
            <a:avLst>
              <a:gd name="adj" fmla="val 50000"/>
            </a:avLst>
          </a:prstGeom>
          <a:solidFill>
            <a:srgbClr val="0B8A5A"/>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0" algn="ctr" indent="0" marL="0">
              <a:lnSpc>
                <a:spcPct val="105000"/>
              </a:lnSpc>
              <a:spcAft>
                <a:spcPts val="600"/>
              </a:spcAft>
              <a:buNone/>
            </a:pPr>
            <a:r>
              <a:rPr lang="en-US" altLang="en-US" sz="2400" b="1" dirty="0">
                <a:solidFill>
                  <a:srgbClr val="FFFFFF"/>
                </a:solidFill>
                <a:latin typeface="Arial" pitchFamily="34" charset="0"/>
                <a:ea typeface="Arial" pitchFamily="34" charset="-122"/>
                <a:cs typeface="Arial" pitchFamily="34" charset="-120"/>
              </a:rPr>
              <a:t>NaCl</a:t>
            </a:r>
            <a:endParaRPr lang="en-US" sz="2400" dirty="0"/>
          </a:p>
        </p:txBody>
      </p:sp>
      <p:sp>
        <p:nvSpPr>
          <p:cNvPr id="9" name="anim_11_101"/>
          <p:cNvSpPr txBox="1"/>
          <p:nvPr/>
        </p:nvSpPr>
        <p:spPr>
          <a:xfrm>
            <a:off x="4297680" y="1737360"/>
            <a:ext cx="7315200" cy="274320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000" b="1" dirty="0">
                <a:solidFill>
                  <a:srgbClr val="1F6FB2"/>
                </a:solidFill>
                <a:latin typeface="Arial" pitchFamily="34" charset="0"/>
                <a:ea typeface="Arial" pitchFamily="34" charset="-122"/>
                <a:cs typeface="Arial" pitchFamily="34" charset="-120"/>
              </a:rPr>
              <a:t>كلوريد الصوديوم</a:t>
            </a:r>
            <a:r>
              <a:rPr lang="ar-KW" altLang="en-US" sz="2000" b="1" dirty="0">
                <a:solidFill>
                  <a:srgbClr val="16325C"/>
                </a:solidFill>
                <a:latin typeface="Arial" pitchFamily="34" charset="0"/>
                <a:ea typeface="Arial" pitchFamily="34" charset="-122"/>
                <a:cs typeface="Arial" pitchFamily="34" charset="-120"/>
              </a:rPr>
              <a:t>، المعروف باسم ملح الطعام، مركب أيوني يتميز ببنية بلورية مكعبة. تترابط هذه الشبكة البلورية بقوى كهروستاتيكية قوية، وهو ما يفسر ارتفاع درجة انصهار المركب التي تبلغ حوالي </a:t>
            </a:r>
            <a:r>
              <a:rPr lang="ar-KW" altLang="en-US" sz="2000" b="1" dirty="0">
                <a:solidFill>
                  <a:srgbClr val="E8335F"/>
                </a:solidFill>
                <a:latin typeface="Arial" pitchFamily="34" charset="0"/>
                <a:ea typeface="Arial" pitchFamily="34" charset="-122"/>
                <a:cs typeface="Arial" pitchFamily="34" charset="-120"/>
              </a:rPr>
              <a:t>801</a:t>
            </a:r>
            <a:r>
              <a:rPr lang="ar-KW" altLang="en-US" sz="2000" b="1" dirty="0">
                <a:solidFill>
                  <a:srgbClr val="16325C"/>
                </a:solidFill>
                <a:latin typeface="Arial" pitchFamily="34" charset="0"/>
                <a:ea typeface="Arial" pitchFamily="34" charset="-122"/>
                <a:cs typeface="Arial" pitchFamily="34" charset="-120"/>
              </a:rPr>
              <a:t> درجة سيليزية. وباعتباره إلكتروليتًا قويًا، يتفكك كلوريد الصوديوم كليًا إلى أيوناته المكونة له عند ذوبانه في مذيبات قطبية كالماء، مما يزيد بشكل ملحوظ من القوّة الأيونية للمحلول وتوصيله الكهربائي.</a:t>
            </a:r>
            <a:endParaRPr lang="ar-KW" sz="2000" dirty="0"/>
          </a:p>
        </p:txBody>
      </p:sp>
      <p:sp>
        <p:nvSpPr>
          <p:cNvPr id="10" name="anim_11_102"/>
          <p:cNvSpPr txBox="1"/>
          <p:nvPr/>
        </p:nvSpPr>
        <p:spPr>
          <a:xfrm>
            <a:off x="4297680" y="4526280"/>
            <a:ext cx="7315200" cy="164592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000" b="1" dirty="0">
                <a:solidFill>
                  <a:srgbClr val="16325C"/>
                </a:solidFill>
                <a:latin typeface="Arial" pitchFamily="34" charset="0"/>
                <a:ea typeface="Arial" pitchFamily="34" charset="-122"/>
                <a:cs typeface="Arial" pitchFamily="34" charset="-120"/>
              </a:rPr>
              <a:t>إلى جانب استخداماته في الطهي، يُعدّ كلوريد الصوديوم عنصرًا فسيولوجيًا أساسيًا، إذ يُسهم في الحفاظ على الضغط الأسموزي، وتوازن السوائل، وانتقال الإشارات عبر أغشية الخلايا العصبيّة بواسطة مضخّة الصوديوم والبوتاسيوم.</a:t>
            </a:r>
            <a:endParaRPr lang="ar-KW" sz="2000" dirty="0"/>
          </a:p>
        </p:txBody>
      </p:sp>
    </p:spTree>
  </p:cSld>
  <p:clrMapOvr>
    <a:masterClrMapping/>
  </p:clrMapOvr>
  <p:transition spd="slow">
    <p:wipe dir="l"/>
  </p:transition>
  <p:timing>
    <p:tnLst>
      <p:par>
        <p:cTn id="1" dur="indefinite" restart="never" nodeType="tmRoot">
          <p:childTnLst>
            <p:seq concurrent="1" nextAc="seek">
              <p:cTn id="2" dur="indefinite" nodeType="mainSeq">
                <p:childTnLst>
                  <p:par>
                    <p:cTn id="37" fill="hold">
                      <p:stCondLst>
                        <p:cond delay="indefinite"/>
                        <p:cond evt="onBegin" delay="0">
                          <p:tn val="2"/>
                        </p:cond>
                      </p:stCondLst>
                      <p:childTnLst>
                        <p:par>
                          <p:cTn id="32"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3"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34" fill="hold">
                            <p:stCondLst>
                              <p:cond delay="140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35" fill="hold">
                            <p:stCondLst>
                              <p:cond delay="19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800" fill="hold"/>
                                        <p:tgtEl>
                                          <p:spTgt spid="7"/>
                                        </p:tgtEl>
                                        <p:attrNameLst>
                                          <p:attrName>ppt_w</p:attrName>
                                        </p:attrNameLst>
                                      </p:cBhvr>
                                      <p:tavLst>
                                        <p:tav tm="0">
                                          <p:val>
                                            <p:fltVal val="0"/>
                                          </p:val>
                                        </p:tav>
                                        <p:tav tm="100000">
                                          <p:val>
                                            <p:strVal val="#ppt_w"/>
                                          </p:val>
                                        </p:tav>
                                      </p:tavLst>
                                    </p:anim>
                                    <p:anim calcmode="lin" valueType="num">
                                      <p:cBhvr additive="base">
                                        <p:cTn id="22" dur="800" fill="hold"/>
                                        <p:tgtEl>
                                          <p:spTgt spid="7"/>
                                        </p:tgtEl>
                                        <p:attrNameLst>
                                          <p:attrName>ppt_h</p:attrName>
                                        </p:attrNameLst>
                                      </p:cBhvr>
                                      <p:tavLst>
                                        <p:tav tm="0">
                                          <p:val>
                                            <p:fltVal val="0"/>
                                          </p:val>
                                        </p:tav>
                                        <p:tav tm="100000">
                                          <p:val>
                                            <p:strVal val="#ppt_h"/>
                                          </p:val>
                                        </p:tav>
                                      </p:tavLst>
                                    </p:anim>
                                    <p:animEffect transition="in" filter="fade">
                                      <p:cBhvr>
                                        <p:cTn id="23" dur="800"/>
                                        <p:tgtEl>
                                          <p:spTgt spid="7"/>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ppt_w</p:attrName>
                                        </p:attrNameLst>
                                      </p:cBhvr>
                                      <p:tavLst>
                                        <p:tav tm="0">
                                          <p:val>
                                            <p:fltVal val="0"/>
                                          </p:val>
                                        </p:tav>
                                        <p:tav tm="100000">
                                          <p:val>
                                            <p:strVal val="#ppt_w"/>
                                          </p:val>
                                        </p:tav>
                                      </p:tavLst>
                                    </p:anim>
                                    <p:anim calcmode="lin" valueType="num">
                                      <p:cBhvr additive="base">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par>
                          <p:cTn id="36" fill="hold">
                            <p:stCondLst>
                              <p:cond delay="2700"/>
                            </p:stCondLst>
                            <p:childTnLst>
                              <p:par>
                                <p:cTn id="29" presetID="22" presetClass="entr" presetSubtype="2"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right)">
                                      <p:cBhvr>
                                        <p:cTn id="31" dur="2400"/>
                                        <p:tgtEl>
                                          <p:spTgt spid="9"/>
                                        </p:tgtEl>
                                      </p:cBhvr>
                                    </p:animEffect>
                                  </p:childTnLst>
                                </p:cTn>
                              </p:par>
                            </p:childTnLst>
                          </p:cTn>
                        </p:par>
                      </p:childTnLst>
                    </p:cTn>
                  </p:par>
                  <p:par>
                    <p:cTn id="42" fill="hold">
                      <p:stCondLst>
                        <p:cond delay="indefinite"/>
                      </p:stCondLst>
                      <p:childTnLst>
                        <p:par>
                          <p:cTn id="41"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right)">
                                      <p:cBhvr>
                                        <p:cTn id="40"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2" name=""/>
        <p:cNvGrpSpPr/>
        <p:nvPr/>
      </p:nvGrpSpPr>
      <p:grpSpPr>
        <a:xfrm>
          <a:off x="0" y="0"/>
          <a:ext cx="0" cy="0"/>
          <a:chOff x="0" y="0"/>
          <a:chExt cx="0" cy="0"/>
        </a:xfrm>
      </p:grpSpPr>
      <p:sp>
        <p:nvSpPr>
          <p:cNvPr id="3" name="anim_12_103"/>
          <p:cNvSpPr/>
          <p:nvPr/>
        </p:nvSpPr>
        <p:spPr>
          <a:xfrm>
            <a:off x="6080760" y="502920"/>
            <a:ext cx="5669280" cy="868680"/>
          </a:xfrm>
          <a:prstGeom prst="roundRect">
            <a:avLst>
              <a:gd name="adj" fmla="val 49474"/>
            </a:avLst>
          </a:prstGeom>
          <a:solidFill>
            <a:srgbClr val="0B8A5A"/>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تحقق مما تعلمت</a:t>
            </a:r>
            <a:endParaRPr lang="ar-KW" sz="3600" dirty="0"/>
          </a:p>
        </p:txBody>
      </p:sp>
      <p:pic>
        <p:nvPicPr>
          <p:cNvPr id="4" name="anim_12_104" descr="sp_green.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12_105" descr="badge_check.png">    </p:cNvPr>
          <p:cNvPicPr>
            <a:picLocks noChangeAspect="1"/>
          </p:cNvPicPr>
          <p:nvPr/>
        </p:nvPicPr>
        <p:blipFill>
          <a:blip r:embed="rId2"/>
          <a:stretch>
            <a:fillRect/>
          </a:stretch>
        </p:blipFill>
        <p:spPr>
          <a:xfrm>
            <a:off x="4663440" y="292608"/>
            <a:ext cx="1280160" cy="1280160"/>
          </a:xfrm>
          <a:prstGeom prst="rect">
            <a:avLst/>
          </a:prstGeom>
        </p:spPr>
      </p:pic>
      <p:sp>
        <p:nvSpPr>
          <p:cNvPr id="6" name="anim_12_106"/>
          <p:cNvSpPr/>
          <p:nvPr/>
        </p:nvSpPr>
        <p:spPr>
          <a:xfrm>
            <a:off x="457200" y="1645920"/>
            <a:ext cx="11292840" cy="4572000"/>
          </a:xfrm>
          <a:prstGeom prst="roundRect">
            <a:avLst>
              <a:gd name="adj" fmla="val 8000"/>
            </a:avLst>
          </a:prstGeom>
          <a:solidFill>
            <a:srgbClr val="FFFFFF"/>
          </a:solidFill>
          <a:ln w="76200">
            <a:solidFill>
              <a:srgbClr val="8FA9D6"/>
            </a:solidFill>
            <a:prstDash val="solid"/>
          </a:ln>
          <a:effectLst>
            <a:outerShdw sx="100000" sy="100000" kx="0" ky="0" algn="bl" rotWithShape="0" blurRad="152400" dist="50800" dir="5400000">
              <a:srgbClr val="1F4F8A">
                <a:alpha val="18000"/>
              </a:srgbClr>
            </a:outerShdw>
          </a:effectLst>
        </p:spPr>
      </p:sp>
      <p:sp>
        <p:nvSpPr>
          <p:cNvPr id="7" name="anim_12_107"/>
          <p:cNvSpPr txBox="1"/>
          <p:nvPr/>
        </p:nvSpPr>
        <p:spPr>
          <a:xfrm>
            <a:off x="5486400" y="1783080"/>
            <a:ext cx="6080760" cy="54864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600" b="1" dirty="0">
                <a:solidFill>
                  <a:srgbClr val="1F6FB2"/>
                </a:solidFill>
                <a:latin typeface="Arial" pitchFamily="34" charset="0"/>
                <a:ea typeface="Arial" pitchFamily="34" charset="-122"/>
                <a:cs typeface="Arial" pitchFamily="34" charset="-120"/>
              </a:rPr>
              <a:t>لديك العناصر الكيميائية التالية:</a:t>
            </a:r>
            <a:endParaRPr lang="ar-KW" sz="2600" dirty="0"/>
          </a:p>
        </p:txBody>
      </p:sp>
      <p:sp>
        <p:nvSpPr>
          <p:cNvPr id="8" name="anim_12_108"/>
          <p:cNvSpPr txBox="1"/>
          <p:nvPr/>
        </p:nvSpPr>
        <p:spPr>
          <a:xfrm>
            <a:off x="1097280" y="1783080"/>
            <a:ext cx="4206240" cy="54864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dirty="0">
                <a:solidFill>
                  <a:srgbClr val="1F6FB2"/>
                </a:solidFill>
                <a:latin typeface="Arial" pitchFamily="34" charset="0"/>
                <a:ea typeface="Arial" pitchFamily="34" charset="-122"/>
                <a:cs typeface="Arial" pitchFamily="34" charset="-120"/>
              </a:rPr>
              <a:t>Na , Mg , F , Cl</a:t>
            </a:r>
            <a:endParaRPr lang="en-US" sz="3000" dirty="0"/>
          </a:p>
        </p:txBody>
      </p:sp>
      <p:sp>
        <p:nvSpPr>
          <p:cNvPr id="9" name="anim_12_109"/>
          <p:cNvSpPr txBox="1"/>
          <p:nvPr/>
        </p:nvSpPr>
        <p:spPr>
          <a:xfrm>
            <a:off x="8229600" y="2423160"/>
            <a:ext cx="3337560" cy="50292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500" b="1" dirty="0">
                <a:solidFill>
                  <a:srgbClr val="E8335F"/>
                </a:solidFill>
                <a:latin typeface="Arial" pitchFamily="34" charset="0"/>
                <a:ea typeface="Arial" pitchFamily="34" charset="-122"/>
                <a:cs typeface="Arial" pitchFamily="34" charset="-120"/>
              </a:rPr>
              <a:t>والمطلوب:</a:t>
            </a:r>
            <a:endParaRPr lang="ar-KW" sz="2500" dirty="0"/>
          </a:p>
        </p:txBody>
      </p:sp>
      <p:sp>
        <p:nvSpPr>
          <p:cNvPr id="10" name="anim_12_110"/>
          <p:cNvSpPr txBox="1"/>
          <p:nvPr/>
        </p:nvSpPr>
        <p:spPr>
          <a:xfrm>
            <a:off x="731520" y="2926080"/>
            <a:ext cx="10835640" cy="59436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6325C"/>
                </a:solidFill>
                <a:latin typeface="Arial" pitchFamily="34" charset="0"/>
                <a:ea typeface="Arial" pitchFamily="34" charset="-122"/>
                <a:cs typeface="Arial" pitchFamily="34" charset="-120"/>
              </a:rPr>
              <a:t>1 – اكتب أكبر عدد من صيغ المركبات الأيونية الممكن تكوينها من هذه العناصر.</a:t>
            </a:r>
            <a:endParaRPr lang="ar-KW" sz="2400" dirty="0"/>
          </a:p>
        </p:txBody>
      </p:sp>
      <p:sp>
        <p:nvSpPr>
          <p:cNvPr id="11" name="anim_12_111"/>
          <p:cNvSpPr txBox="1"/>
          <p:nvPr/>
        </p:nvSpPr>
        <p:spPr>
          <a:xfrm>
            <a:off x="8778240" y="3886200"/>
            <a:ext cx="2103120" cy="731520"/>
          </a:xfrm>
          <a:prstGeom prst="roundRect">
            <a:avLst>
              <a:gd name="adj" fmla="val 50000"/>
            </a:avLst>
          </a:prstGeom>
          <a:solidFill>
            <a:srgbClr val="6C4FE0"/>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0" algn="ctr" indent="0" marL="0">
              <a:lnSpc>
                <a:spcPct val="105000"/>
              </a:lnSpc>
              <a:spcAft>
                <a:spcPts val="600"/>
              </a:spcAft>
              <a:buNone/>
            </a:pPr>
            <a:r>
              <a:rPr lang="en-US" altLang="en-US" sz="3000" b="1" dirty="0">
                <a:solidFill>
                  <a:srgbClr val="FFFFFF"/>
                </a:solidFill>
                <a:latin typeface="Arial" pitchFamily="34" charset="0"/>
                <a:ea typeface="Arial" pitchFamily="34" charset="-122"/>
                <a:cs typeface="Arial" pitchFamily="34" charset="-120"/>
              </a:rPr>
              <a:t>Na</a:t>
            </a:r>
            <a:r>
              <a:rPr lang="en-US" altLang="en-US" sz="3000" b="1" dirty="0">
                <a:solidFill>
                  <a:srgbClr val="FFFFFF"/>
                </a:solidFill>
                <a:latin typeface="Arial" pitchFamily="34" charset="0"/>
                <a:ea typeface="Arial" pitchFamily="34" charset="-122"/>
                <a:cs typeface="Arial" pitchFamily="34" charset="-120"/>
              </a:rPr>
              <a:t>F</a:t>
            </a:r>
            <a:endParaRPr lang="en-US" sz="3000" dirty="0"/>
          </a:p>
        </p:txBody>
      </p:sp>
      <p:sp>
        <p:nvSpPr>
          <p:cNvPr id="12" name="anim_12_112"/>
          <p:cNvSpPr txBox="1"/>
          <p:nvPr/>
        </p:nvSpPr>
        <p:spPr>
          <a:xfrm>
            <a:off x="6126480" y="3886200"/>
            <a:ext cx="2103120" cy="731520"/>
          </a:xfrm>
          <a:prstGeom prst="roundRect">
            <a:avLst>
              <a:gd name="adj" fmla="val 50000"/>
            </a:avLst>
          </a:prstGeom>
          <a:solidFill>
            <a:srgbClr val="1F6FB2"/>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0" algn="ctr" indent="0" marL="0">
              <a:lnSpc>
                <a:spcPct val="105000"/>
              </a:lnSpc>
              <a:spcAft>
                <a:spcPts val="600"/>
              </a:spcAft>
              <a:buNone/>
            </a:pPr>
            <a:r>
              <a:rPr lang="en-US" altLang="en-US" sz="3000" b="1" dirty="0">
                <a:solidFill>
                  <a:srgbClr val="FFFFFF"/>
                </a:solidFill>
                <a:latin typeface="Arial" pitchFamily="34" charset="0"/>
                <a:ea typeface="Arial" pitchFamily="34" charset="-122"/>
                <a:cs typeface="Arial" pitchFamily="34" charset="-120"/>
              </a:rPr>
              <a:t>Na</a:t>
            </a:r>
            <a:r>
              <a:rPr lang="en-US" altLang="en-US" sz="3000" b="1" dirty="0">
                <a:solidFill>
                  <a:srgbClr val="FFFFFF"/>
                </a:solidFill>
                <a:latin typeface="Arial" pitchFamily="34" charset="0"/>
                <a:ea typeface="Arial" pitchFamily="34" charset="-122"/>
                <a:cs typeface="Arial" pitchFamily="34" charset="-120"/>
              </a:rPr>
              <a:t>Cl</a:t>
            </a:r>
            <a:endParaRPr lang="en-US" sz="3000" dirty="0"/>
          </a:p>
        </p:txBody>
      </p:sp>
      <p:sp>
        <p:nvSpPr>
          <p:cNvPr id="13" name="anim_12_113"/>
          <p:cNvSpPr txBox="1"/>
          <p:nvPr/>
        </p:nvSpPr>
        <p:spPr>
          <a:xfrm>
            <a:off x="3474720" y="3886200"/>
            <a:ext cx="2103120" cy="731520"/>
          </a:xfrm>
          <a:prstGeom prst="roundRect">
            <a:avLst>
              <a:gd name="adj" fmla="val 50000"/>
            </a:avLst>
          </a:prstGeom>
          <a:solidFill>
            <a:srgbClr val="0F9D8E"/>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0" algn="ctr" indent="0" marL="0">
              <a:lnSpc>
                <a:spcPct val="105000"/>
              </a:lnSpc>
              <a:spcAft>
                <a:spcPts val="600"/>
              </a:spcAft>
              <a:buNone/>
            </a:pPr>
            <a:r>
              <a:rPr lang="en-US" altLang="en-US" sz="3000" b="1" dirty="0">
                <a:solidFill>
                  <a:srgbClr val="FFFFFF"/>
                </a:solidFill>
                <a:latin typeface="Arial" pitchFamily="34" charset="0"/>
                <a:ea typeface="Arial" pitchFamily="34" charset="-122"/>
                <a:cs typeface="Arial" pitchFamily="34" charset="-120"/>
              </a:rPr>
              <a:t>Mg</a:t>
            </a:r>
            <a:r>
              <a:rPr lang="en-US" altLang="en-US" sz="3000" b="1" dirty="0">
                <a:solidFill>
                  <a:srgbClr val="FFFFFF"/>
                </a:solidFill>
                <a:latin typeface="Arial" pitchFamily="34" charset="0"/>
                <a:ea typeface="Arial" pitchFamily="34" charset="-122"/>
                <a:cs typeface="Arial" pitchFamily="34" charset="-120"/>
              </a:rPr>
              <a:t>F</a:t>
            </a:r>
            <a:r>
              <a:rPr lang="en-US" altLang="en-US" sz="3000" b="1" baseline="-40000" dirty="0">
                <a:solidFill>
                  <a:srgbClr val="FFFFFF"/>
                </a:solidFill>
                <a:latin typeface="Arial" pitchFamily="34" charset="0"/>
                <a:ea typeface="Arial" pitchFamily="34" charset="-122"/>
                <a:cs typeface="Arial" pitchFamily="34" charset="-120"/>
              </a:rPr>
              <a:t>2</a:t>
            </a:r>
            <a:endParaRPr lang="en-US" sz="3000" dirty="0"/>
          </a:p>
        </p:txBody>
      </p:sp>
      <p:sp>
        <p:nvSpPr>
          <p:cNvPr id="14" name="anim_12_114"/>
          <p:cNvSpPr txBox="1"/>
          <p:nvPr/>
        </p:nvSpPr>
        <p:spPr>
          <a:xfrm>
            <a:off x="822960" y="3886200"/>
            <a:ext cx="2103120" cy="731520"/>
          </a:xfrm>
          <a:prstGeom prst="roundRect">
            <a:avLst>
              <a:gd name="adj" fmla="val 50000"/>
            </a:avLst>
          </a:prstGeom>
          <a:solidFill>
            <a:srgbClr val="E8335F"/>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0" algn="ctr" indent="0" marL="0">
              <a:lnSpc>
                <a:spcPct val="105000"/>
              </a:lnSpc>
              <a:spcAft>
                <a:spcPts val="600"/>
              </a:spcAft>
              <a:buNone/>
            </a:pPr>
            <a:r>
              <a:rPr lang="en-US" altLang="en-US" sz="3000" b="1" dirty="0">
                <a:solidFill>
                  <a:srgbClr val="FFFFFF"/>
                </a:solidFill>
                <a:latin typeface="Arial" pitchFamily="34" charset="0"/>
                <a:ea typeface="Arial" pitchFamily="34" charset="-122"/>
                <a:cs typeface="Arial" pitchFamily="34" charset="-120"/>
              </a:rPr>
              <a:t>Mg</a:t>
            </a:r>
            <a:r>
              <a:rPr lang="en-US" altLang="en-US" sz="3000" b="1" dirty="0">
                <a:solidFill>
                  <a:srgbClr val="FFFFFF"/>
                </a:solidFill>
                <a:latin typeface="Arial" pitchFamily="34" charset="0"/>
                <a:ea typeface="Arial" pitchFamily="34" charset="-122"/>
                <a:cs typeface="Arial" pitchFamily="34" charset="-120"/>
              </a:rPr>
              <a:t>Cl</a:t>
            </a:r>
            <a:r>
              <a:rPr lang="en-US" altLang="en-US" sz="3000" b="1" baseline="-40000" dirty="0">
                <a:solidFill>
                  <a:srgbClr val="FFFFFF"/>
                </a:solidFill>
                <a:latin typeface="Arial" pitchFamily="34" charset="0"/>
                <a:ea typeface="Arial" pitchFamily="34" charset="-122"/>
                <a:cs typeface="Arial" pitchFamily="34" charset="-120"/>
              </a:rPr>
              <a:t>2</a:t>
            </a:r>
            <a:endParaRPr lang="en-US" sz="3000" dirty="0"/>
          </a:p>
        </p:txBody>
      </p:sp>
      <p:sp>
        <p:nvSpPr>
          <p:cNvPr id="15" name="anim_12_115"/>
          <p:cNvSpPr txBox="1"/>
          <p:nvPr/>
        </p:nvSpPr>
        <p:spPr>
          <a:xfrm>
            <a:off x="731520" y="4892040"/>
            <a:ext cx="10835640" cy="59436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6325C"/>
                </a:solidFill>
                <a:latin typeface="Arial" pitchFamily="34" charset="0"/>
                <a:ea typeface="Arial" pitchFamily="34" charset="-122"/>
                <a:cs typeface="Arial" pitchFamily="34" charset="-120"/>
              </a:rPr>
              <a:t>2 – رتّب المركبات الأيونية التي حصلت عليها من حيث الخاصّية الأيونية من الأقل إلى الأعلى.</a:t>
            </a:r>
            <a:endParaRPr lang="ar-KW" sz="2400" dirty="0"/>
          </a:p>
        </p:txBody>
      </p:sp>
      <p:sp>
        <p:nvSpPr>
          <p:cNvPr id="16" name="anim_12_116"/>
          <p:cNvSpPr txBox="1"/>
          <p:nvPr/>
        </p:nvSpPr>
        <p:spPr>
          <a:xfrm>
            <a:off x="731520" y="5486400"/>
            <a:ext cx="10835640" cy="45720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1800" b="1" dirty="0">
                <a:solidFill>
                  <a:srgbClr val="7A8CA8"/>
                </a:solidFill>
                <a:latin typeface="Arial" pitchFamily="34" charset="0"/>
                <a:ea typeface="Arial" pitchFamily="34" charset="-122"/>
                <a:cs typeface="Arial" pitchFamily="34" charset="-120"/>
              </a:rPr>
              <a:t>(الحل في الشريحة التالية)</a:t>
            </a:r>
            <a:endParaRPr lang="ar-KW" sz="1800" dirty="0"/>
          </a:p>
        </p:txBody>
      </p:sp>
    </p:spTree>
  </p:cSld>
  <p:clrMapOvr>
    <a:masterClrMapping/>
  </p:clrMapOvr>
  <p:transition spd="slow">
    <p:cover dir="l"/>
  </p:transition>
  <p:timing>
    <p:tnLst>
      <p:par>
        <p:cTn id="1" dur="indefinite" restart="never" nodeType="tmRoot">
          <p:childTnLst>
            <p:seq concurrent="1" nextAc="seek">
              <p:cTn id="2" dur="indefinite" nodeType="mainSeq">
                <p:childTnLst>
                  <p:par>
                    <p:cTn id="42" fill="hold">
                      <p:stCondLst>
                        <p:cond delay="indefinite"/>
                        <p:cond evt="onBegin" delay="0">
                          <p:tn val="2"/>
                        </p:cond>
                      </p:stCondLst>
                      <p:childTnLst>
                        <p:par>
                          <p:cTn id="35"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6"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37" fill="hold">
                            <p:stCondLst>
                              <p:cond delay="1400"/>
                            </p:stCondLst>
                            <p:childTnLst>
                              <p:par>
                                <p:cTn id="16" presetID="53" presetClass="entr" presetSubtype="16"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600" fill="hold"/>
                                        <p:tgtEl>
                                          <p:spTgt spid="6"/>
                                        </p:tgtEl>
                                        <p:attrNameLst>
                                          <p:attrName>ppt_w</p:attrName>
                                        </p:attrNameLst>
                                      </p:cBhvr>
                                      <p:tavLst>
                                        <p:tav tm="0">
                                          <p:val>
                                            <p:fltVal val="0"/>
                                          </p:val>
                                        </p:tav>
                                        <p:tav tm="100000">
                                          <p:val>
                                            <p:strVal val="#ppt_w"/>
                                          </p:val>
                                        </p:tav>
                                      </p:tavLst>
                                    </p:anim>
                                    <p:anim calcmode="lin" valueType="num">
                                      <p:cBhvr additive="base">
                                        <p:cTn id="19" dur="600" fill="hold"/>
                                        <p:tgtEl>
                                          <p:spTgt spid="6"/>
                                        </p:tgtEl>
                                        <p:attrNameLst>
                                          <p:attrName>ppt_h</p:attrName>
                                        </p:attrNameLst>
                                      </p:cBhvr>
                                      <p:tavLst>
                                        <p:tav tm="0">
                                          <p:val>
                                            <p:fltVal val="0"/>
                                          </p:val>
                                        </p:tav>
                                        <p:tav tm="100000">
                                          <p:val>
                                            <p:strVal val="#ppt_h"/>
                                          </p:val>
                                        </p:tav>
                                      </p:tavLst>
                                    </p:anim>
                                    <p:animEffect transition="in" filter="fade">
                                      <p:cBhvr>
                                        <p:cTn id="20" dur="600"/>
                                        <p:tgtEl>
                                          <p:spTgt spid="6"/>
                                        </p:tgtEl>
                                      </p:cBhvr>
                                    </p:animEffect>
                                  </p:childTnLst>
                                </p:cTn>
                              </p:par>
                            </p:childTnLst>
                          </p:cTn>
                        </p:par>
                        <p:par>
                          <p:cTn id="38" fill="hold">
                            <p:stCondLst>
                              <p:cond delay="2000"/>
                            </p:stCondLst>
                            <p:childTnLst>
                              <p:par>
                                <p:cTn id="21" presetID="22" presetClass="entr" presetSubtype="2"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right)">
                                      <p:cBhvr>
                                        <p:cTn id="23" dur="800"/>
                                        <p:tgtEl>
                                          <p:spTgt spid="7"/>
                                        </p:tgtEl>
                                      </p:cBhvr>
                                    </p:animEffect>
                                  </p:childTnLst>
                                </p:cTn>
                              </p:par>
                            </p:childTnLst>
                          </p:cTn>
                        </p:par>
                        <p:par>
                          <p:cTn id="39" fill="hold">
                            <p:stCondLst>
                              <p:cond delay="2800"/>
                            </p:stCondLst>
                            <p:childTnLst>
                              <p:par>
                                <p:cTn id="24" presetID="53" presetClass="entr" presetSubtype="16"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ppt_w</p:attrName>
                                        </p:attrNameLst>
                                      </p:cBhvr>
                                      <p:tavLst>
                                        <p:tav tm="0">
                                          <p:val>
                                            <p:fltVal val="0"/>
                                          </p:val>
                                        </p:tav>
                                        <p:tav tm="100000">
                                          <p:val>
                                            <p:strVal val="#ppt_w"/>
                                          </p:val>
                                        </p:tav>
                                      </p:tavLst>
                                    </p:anim>
                                    <p:anim calcmode="lin" valueType="num">
                                      <p:cBhvr additive="base">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par>
                          <p:cTn id="40" fill="hold">
                            <p:stCondLst>
                              <p:cond delay="33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00"/>
                                        <p:tgtEl>
                                          <p:spTgt spid="9"/>
                                        </p:tgtEl>
                                      </p:cBhvr>
                                    </p:animEffect>
                                  </p:childTnLst>
                                </p:cTn>
                              </p:par>
                            </p:childTnLst>
                          </p:cTn>
                        </p:par>
                        <p:par>
                          <p:cTn id="41" fill="hold">
                            <p:stCondLst>
                              <p:cond delay="3700"/>
                            </p:stCondLst>
                            <p:childTnLst>
                              <p:par>
                                <p:cTn id="32" presetID="22" presetClass="entr" presetSubtype="2"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right)">
                                      <p:cBhvr>
                                        <p:cTn id="34" dur="1000"/>
                                        <p:tgtEl>
                                          <p:spTgt spid="10"/>
                                        </p:tgtEl>
                                      </p:cBhvr>
                                    </p:animEffect>
                                  </p:childTnLst>
                                </p:cTn>
                              </p:par>
                            </p:childTnLst>
                          </p:cTn>
                        </p:par>
                      </p:childTnLst>
                    </p:cTn>
                  </p:par>
                  <p:par>
                    <p:cTn id="72" fill="hold">
                      <p:stCondLst>
                        <p:cond delay="indefinite"/>
                      </p:stCondLst>
                      <p:childTnLst>
                        <p:par>
                          <p:cTn id="69"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ppt_w</p:attrName>
                                        </p:attrNameLst>
                                      </p:cBhvr>
                                      <p:tavLst>
                                        <p:tav tm="0">
                                          <p:val>
                                            <p:fltVal val="0"/>
                                          </p:val>
                                        </p:tav>
                                        <p:tav tm="100000">
                                          <p:val>
                                            <p:strVal val="#ppt_w"/>
                                          </p:val>
                                        </p:tav>
                                      </p:tavLst>
                                    </p:anim>
                                    <p:anim calcmode="lin" valueType="num">
                                      <p:cBhvr additive="base">
                                        <p:cTn id="46" dur="500" fill="hold"/>
                                        <p:tgtEl>
                                          <p:spTgt spid="11"/>
                                        </p:tgtEl>
                                        <p:attrNameLst>
                                          <p:attrName>ppt_h</p:attrName>
                                        </p:attrNameLst>
                                      </p:cBhvr>
                                      <p:tavLst>
                                        <p:tav tm="0">
                                          <p:val>
                                            <p:fltVal val="0"/>
                                          </p:val>
                                        </p:tav>
                                        <p:tav tm="100000">
                                          <p:val>
                                            <p:strVal val="#ppt_h"/>
                                          </p:val>
                                        </p:tav>
                                      </p:tavLst>
                                    </p:anim>
                                    <p:animEffect transition="in" filter="fade">
                                      <p:cBhvr>
                                        <p:cTn id="47" dur="500"/>
                                        <p:tgtEl>
                                          <p:spTgt spid="11"/>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ppt_w</p:attrName>
                                        </p:attrNameLst>
                                      </p:cBhvr>
                                      <p:tavLst>
                                        <p:tav tm="0">
                                          <p:val>
                                            <p:fltVal val="0"/>
                                          </p:val>
                                        </p:tav>
                                        <p:tav tm="100000">
                                          <p:val>
                                            <p:strVal val="#ppt_w"/>
                                          </p:val>
                                        </p:tav>
                                      </p:tavLst>
                                    </p:anim>
                                    <p:anim calcmode="lin" valueType="num">
                                      <p:cBhvr additive="base">
                                        <p:cTn id="51" dur="500" fill="hold"/>
                                        <p:tgtEl>
                                          <p:spTgt spid="12"/>
                                        </p:tgtEl>
                                        <p:attrNameLst>
                                          <p:attrName>ppt_h</p:attrName>
                                        </p:attrNameLst>
                                      </p:cBhvr>
                                      <p:tavLst>
                                        <p:tav tm="0">
                                          <p:val>
                                            <p:fltVal val="0"/>
                                          </p:val>
                                        </p:tav>
                                        <p:tav tm="100000">
                                          <p:val>
                                            <p:strVal val="#ppt_h"/>
                                          </p:val>
                                        </p:tav>
                                      </p:tavLst>
                                    </p:anim>
                                    <p:animEffect transition="in" filter="fade">
                                      <p:cBhvr>
                                        <p:cTn id="52" dur="500"/>
                                        <p:tgtEl>
                                          <p:spTgt spid="12"/>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ppt_w</p:attrName>
                                        </p:attrNameLst>
                                      </p:cBhvr>
                                      <p:tavLst>
                                        <p:tav tm="0">
                                          <p:val>
                                            <p:fltVal val="0"/>
                                          </p:val>
                                        </p:tav>
                                        <p:tav tm="100000">
                                          <p:val>
                                            <p:strVal val="#ppt_w"/>
                                          </p:val>
                                        </p:tav>
                                      </p:tavLst>
                                    </p:anim>
                                    <p:anim calcmode="lin" valueType="num">
                                      <p:cBhvr additive="base">
                                        <p:cTn id="56" dur="500" fill="hold"/>
                                        <p:tgtEl>
                                          <p:spTgt spid="13"/>
                                        </p:tgtEl>
                                        <p:attrNameLst>
                                          <p:attrName>ppt_h</p:attrName>
                                        </p:attrNameLst>
                                      </p:cBhvr>
                                      <p:tavLst>
                                        <p:tav tm="0">
                                          <p:val>
                                            <p:fltVal val="0"/>
                                          </p:val>
                                        </p:tav>
                                        <p:tav tm="100000">
                                          <p:val>
                                            <p:strVal val="#ppt_h"/>
                                          </p:val>
                                        </p:tav>
                                      </p:tavLst>
                                    </p:anim>
                                    <p:animEffect transition="in" filter="fade">
                                      <p:cBhvr>
                                        <p:cTn id="57" dur="500"/>
                                        <p:tgtEl>
                                          <p:spTgt spid="13"/>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additive="base">
                                        <p:cTn id="60" dur="500" fill="hold"/>
                                        <p:tgtEl>
                                          <p:spTgt spid="14"/>
                                        </p:tgtEl>
                                        <p:attrNameLst>
                                          <p:attrName>ppt_w</p:attrName>
                                        </p:attrNameLst>
                                      </p:cBhvr>
                                      <p:tavLst>
                                        <p:tav tm="0">
                                          <p:val>
                                            <p:fltVal val="0"/>
                                          </p:val>
                                        </p:tav>
                                        <p:tav tm="100000">
                                          <p:val>
                                            <p:strVal val="#ppt_w"/>
                                          </p:val>
                                        </p:tav>
                                      </p:tavLst>
                                    </p:anim>
                                    <p:anim calcmode="lin" valueType="num">
                                      <p:cBhvr additive="base">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childTnLst>
                          </p:cTn>
                        </p:par>
                        <p:par>
                          <p:cTn id="70" fill="hold">
                            <p:stCondLst>
                              <p:cond delay="500"/>
                            </p:stCondLst>
                            <p:childTnLst>
                              <p:par>
                                <p:cTn id="63" presetID="22" presetClass="entr" presetSubtype="2" fill="hold" grpId="0" nodeType="after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wipe(right)">
                                      <p:cBhvr>
                                        <p:cTn id="65" dur="1000"/>
                                        <p:tgtEl>
                                          <p:spTgt spid="15"/>
                                        </p:tgtEl>
                                      </p:cBhvr>
                                    </p:animEffect>
                                  </p:childTnLst>
                                </p:cTn>
                              </p:par>
                            </p:childTnLst>
                          </p:cTn>
                        </p:par>
                        <p:par>
                          <p:cTn id="71" fill="hold">
                            <p:stCondLst>
                              <p:cond delay="1500"/>
                            </p:stCondLst>
                            <p:childTnLst>
                              <p:par>
                                <p:cTn id="66" presetID="10" presetClass="entr" presetSubtype="0" fill="hold" grpId="0"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2" name=""/>
        <p:cNvGrpSpPr/>
        <p:nvPr/>
      </p:nvGrpSpPr>
      <p:grpSpPr>
        <a:xfrm>
          <a:off x="0" y="0"/>
          <a:ext cx="0" cy="0"/>
          <a:chOff x="0" y="0"/>
          <a:chExt cx="0" cy="0"/>
        </a:xfrm>
      </p:grpSpPr>
      <p:sp>
        <p:nvSpPr>
          <p:cNvPr id="3" name="anim_13_117"/>
          <p:cNvSpPr/>
          <p:nvPr/>
        </p:nvSpPr>
        <p:spPr>
          <a:xfrm>
            <a:off x="6080760" y="502920"/>
            <a:ext cx="5669280" cy="868680"/>
          </a:xfrm>
          <a:prstGeom prst="roundRect">
            <a:avLst>
              <a:gd name="adj" fmla="val 49474"/>
            </a:avLst>
          </a:prstGeom>
          <a:solidFill>
            <a:srgbClr val="0B8A5A"/>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تحقق مما تعلمت</a:t>
            </a:r>
            <a:endParaRPr lang="ar-KW" sz="3600" dirty="0"/>
          </a:p>
        </p:txBody>
      </p:sp>
      <p:pic>
        <p:nvPicPr>
          <p:cNvPr id="4" name="anim_13_118" descr="sp_green.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13_119" descr="badge_check.png">    </p:cNvPr>
          <p:cNvPicPr>
            <a:picLocks noChangeAspect="1"/>
          </p:cNvPicPr>
          <p:nvPr/>
        </p:nvPicPr>
        <p:blipFill>
          <a:blip r:embed="rId2"/>
          <a:stretch>
            <a:fillRect/>
          </a:stretch>
        </p:blipFill>
        <p:spPr>
          <a:xfrm>
            <a:off x="4663440" y="292608"/>
            <a:ext cx="1280160" cy="1280160"/>
          </a:xfrm>
          <a:prstGeom prst="rect">
            <a:avLst/>
          </a:prstGeom>
        </p:spPr>
      </p:pic>
      <p:sp>
        <p:nvSpPr>
          <p:cNvPr id="6" name="anim_13_120"/>
          <p:cNvSpPr txBox="1"/>
          <p:nvPr/>
        </p:nvSpPr>
        <p:spPr>
          <a:xfrm>
            <a:off x="457200" y="1600200"/>
            <a:ext cx="11292840" cy="91440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F6FB2"/>
                </a:solidFill>
                <a:latin typeface="Arial" pitchFamily="34" charset="0"/>
                <a:ea typeface="Arial" pitchFamily="34" charset="-122"/>
                <a:cs typeface="Arial" pitchFamily="34" charset="-120"/>
              </a:rPr>
              <a:t>2 – رتّب المركبات الأيونية التي حصلت عليها من حيث الخاصّية الأيونية من الأقل إلى الأعلى.</a:t>
            </a:r>
            <a:endParaRPr lang="ar-KW" sz="2400" dirty="0"/>
          </a:p>
        </p:txBody>
      </p:sp>
      <p:sp>
        <p:nvSpPr>
          <p:cNvPr id="7" name="anim_13_121"/>
          <p:cNvSpPr/>
          <p:nvPr/>
        </p:nvSpPr>
        <p:spPr>
          <a:xfrm>
            <a:off x="5596128" y="2578608"/>
            <a:ext cx="6181344" cy="1517904"/>
          </a:xfrm>
          <a:prstGeom prst="roundRect">
            <a:avLst>
              <a:gd name="adj" fmla="val 21084"/>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8" name="anim_13_122"/>
          <p:cNvGraphicFramePr>
            <a:graphicFrameLocks noGrp="1"/>
          </p:cNvGraphicFramePr>
          <p:nvPr>
            <p:extLst>
              <p:ext uri="{D42A27DB-BD31-4B8C-83A1-F6EECF244321}">
                <p14:modId xmlns:p14="http://schemas.microsoft.com/office/powerpoint/2010/main" val="1579011935"/>
              </p:ext>
            </p:extLst>
          </p:nvPr>
        </p:nvGraphicFramePr>
        <p:xfrm>
          <a:off x="5852160" y="2834640"/>
          <a:ext cx="5669280" cy="914400"/>
        </p:xfrm>
        <a:graphic>
          <a:graphicData uri="http://schemas.openxmlformats.org/drawingml/2006/table">
            <a:tbl>
              <a:tblPr/>
              <a:tblGrid>
                <a:gridCol w="960120"/>
                <a:gridCol w="960120"/>
                <a:gridCol w="960120"/>
                <a:gridCol w="960120"/>
                <a:gridCol w="1828800"/>
              </a:tblGrid>
              <a:tr h="502920">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F</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Cl</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Mg</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Na</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رمز العنصر</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502920">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4.0</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3.0</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1.2</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0.9</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السّالبية الكهربائية</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bl>
          </a:graphicData>
        </a:graphic>
      </p:graphicFrame>
      <p:sp>
        <p:nvSpPr>
          <p:cNvPr id="9" name="anim_13_123"/>
          <p:cNvSpPr txBox="1"/>
          <p:nvPr/>
        </p:nvSpPr>
        <p:spPr>
          <a:xfrm>
            <a:off x="731520" y="2697480"/>
            <a:ext cx="4846320" cy="502920"/>
          </a:xfrm>
          <a:prstGeom prst="rect">
            <a:avLst/>
          </a:prstGeom>
          <a:noFill/>
          <a:ln/>
        </p:spPr>
        <p:txBody>
          <a:bodyPr wrap="square" lIns="50800" tIns="50800" rIns="50800" bIns="50800" rtlCol="0" anchor="ctr"/>
          <a:lstStyle/>
          <a:p>
            <a:pPr rtl="0" algn="l" indent="0" marL="0">
              <a:lnSpc>
                <a:spcPct val="105000"/>
              </a:lnSpc>
              <a:spcAft>
                <a:spcPts val="600"/>
              </a:spcAft>
              <a:buNone/>
            </a:pPr>
            <a:r>
              <a:rPr lang="en-US" altLang="en-US" sz="2500" b="1" dirty="0">
                <a:solidFill>
                  <a:srgbClr val="16325C"/>
                </a:solidFill>
                <a:latin typeface="Arial" pitchFamily="34" charset="0"/>
                <a:ea typeface="Arial" pitchFamily="34" charset="-122"/>
                <a:cs typeface="Arial" pitchFamily="34" charset="-120"/>
              </a:rPr>
              <a:t>Na</a:t>
            </a:r>
            <a:r>
              <a:rPr lang="en-US" altLang="en-US" sz="2500" b="1" dirty="0">
                <a:solidFill>
                  <a:srgbClr val="16325C"/>
                </a:solidFill>
                <a:latin typeface="Arial" pitchFamily="34" charset="0"/>
                <a:ea typeface="Arial" pitchFamily="34" charset="-122"/>
                <a:cs typeface="Arial" pitchFamily="34" charset="-120"/>
              </a:rPr>
              <a:t>F</a:t>
            </a:r>
            <a:r>
              <a:rPr lang="en-US" altLang="en-US" sz="2500" b="1" dirty="0">
                <a:solidFill>
                  <a:srgbClr val="16325C"/>
                </a:solidFill>
                <a:latin typeface="Arial" pitchFamily="34" charset="0"/>
                <a:ea typeface="Arial" pitchFamily="34" charset="-122"/>
                <a:cs typeface="Arial" pitchFamily="34" charset="-120"/>
              </a:rPr>
              <a:t> = 4.0 – 0.9 = 3.1</a:t>
            </a:r>
            <a:endParaRPr lang="en-US" sz="2500" dirty="0"/>
          </a:p>
        </p:txBody>
      </p:sp>
      <p:sp>
        <p:nvSpPr>
          <p:cNvPr id="10" name="anim_13_124"/>
          <p:cNvSpPr txBox="1"/>
          <p:nvPr/>
        </p:nvSpPr>
        <p:spPr>
          <a:xfrm>
            <a:off x="731520" y="3246120"/>
            <a:ext cx="4846320" cy="502920"/>
          </a:xfrm>
          <a:prstGeom prst="rect">
            <a:avLst/>
          </a:prstGeom>
          <a:noFill/>
          <a:ln/>
        </p:spPr>
        <p:txBody>
          <a:bodyPr wrap="square" lIns="50800" tIns="50800" rIns="50800" bIns="50800" rtlCol="0" anchor="ctr"/>
          <a:lstStyle/>
          <a:p>
            <a:pPr rtl="0" algn="l" indent="0" marL="0">
              <a:lnSpc>
                <a:spcPct val="105000"/>
              </a:lnSpc>
              <a:spcAft>
                <a:spcPts val="600"/>
              </a:spcAft>
              <a:buNone/>
            </a:pPr>
            <a:r>
              <a:rPr lang="en-US" altLang="en-US" sz="2500" b="1" dirty="0">
                <a:solidFill>
                  <a:srgbClr val="16325C"/>
                </a:solidFill>
                <a:latin typeface="Arial" pitchFamily="34" charset="0"/>
                <a:ea typeface="Arial" pitchFamily="34" charset="-122"/>
                <a:cs typeface="Arial" pitchFamily="34" charset="-120"/>
              </a:rPr>
              <a:t>Mg</a:t>
            </a:r>
            <a:r>
              <a:rPr lang="en-US" altLang="en-US" sz="2500" b="1" dirty="0">
                <a:solidFill>
                  <a:srgbClr val="16325C"/>
                </a:solidFill>
                <a:latin typeface="Arial" pitchFamily="34" charset="0"/>
                <a:ea typeface="Arial" pitchFamily="34" charset="-122"/>
                <a:cs typeface="Arial" pitchFamily="34" charset="-120"/>
              </a:rPr>
              <a:t>F</a:t>
            </a:r>
            <a:r>
              <a:rPr lang="en-US" altLang="en-US" sz="2500" b="1" baseline="-40000" dirty="0">
                <a:solidFill>
                  <a:srgbClr val="16325C"/>
                </a:solidFill>
                <a:latin typeface="Arial" pitchFamily="34" charset="0"/>
                <a:ea typeface="Arial" pitchFamily="34" charset="-122"/>
                <a:cs typeface="Arial" pitchFamily="34" charset="-120"/>
              </a:rPr>
              <a:t>2</a:t>
            </a:r>
            <a:r>
              <a:rPr lang="en-US" altLang="en-US" sz="2500" b="1" dirty="0">
                <a:solidFill>
                  <a:srgbClr val="16325C"/>
                </a:solidFill>
                <a:latin typeface="Arial" pitchFamily="34" charset="0"/>
                <a:ea typeface="Arial" pitchFamily="34" charset="-122"/>
                <a:cs typeface="Arial" pitchFamily="34" charset="-120"/>
              </a:rPr>
              <a:t> = 4.0 – 1.2 = 2.8</a:t>
            </a:r>
            <a:endParaRPr lang="en-US" sz="2500" dirty="0"/>
          </a:p>
        </p:txBody>
      </p:sp>
      <p:sp>
        <p:nvSpPr>
          <p:cNvPr id="11" name="anim_13_125"/>
          <p:cNvSpPr txBox="1"/>
          <p:nvPr/>
        </p:nvSpPr>
        <p:spPr>
          <a:xfrm>
            <a:off x="731520" y="3794760"/>
            <a:ext cx="4846320" cy="502920"/>
          </a:xfrm>
          <a:prstGeom prst="rect">
            <a:avLst/>
          </a:prstGeom>
          <a:noFill/>
          <a:ln/>
        </p:spPr>
        <p:txBody>
          <a:bodyPr wrap="square" lIns="50800" tIns="50800" rIns="50800" bIns="50800" rtlCol="0" anchor="ctr"/>
          <a:lstStyle/>
          <a:p>
            <a:pPr rtl="0" algn="l" indent="0" marL="0">
              <a:lnSpc>
                <a:spcPct val="105000"/>
              </a:lnSpc>
              <a:spcAft>
                <a:spcPts val="600"/>
              </a:spcAft>
              <a:buNone/>
            </a:pPr>
            <a:r>
              <a:rPr lang="en-US" altLang="en-US" sz="2500" b="1" dirty="0">
                <a:solidFill>
                  <a:srgbClr val="16325C"/>
                </a:solidFill>
                <a:latin typeface="Arial" pitchFamily="34" charset="0"/>
                <a:ea typeface="Arial" pitchFamily="34" charset="-122"/>
                <a:cs typeface="Arial" pitchFamily="34" charset="-120"/>
              </a:rPr>
              <a:t>Na</a:t>
            </a:r>
            <a:r>
              <a:rPr lang="en-US" altLang="en-US" sz="2500" b="1" dirty="0">
                <a:solidFill>
                  <a:srgbClr val="16325C"/>
                </a:solidFill>
                <a:latin typeface="Arial" pitchFamily="34" charset="0"/>
                <a:ea typeface="Arial" pitchFamily="34" charset="-122"/>
                <a:cs typeface="Arial" pitchFamily="34" charset="-120"/>
              </a:rPr>
              <a:t>Cl</a:t>
            </a:r>
            <a:r>
              <a:rPr lang="en-US" altLang="en-US" sz="2500" b="1" dirty="0">
                <a:solidFill>
                  <a:srgbClr val="16325C"/>
                </a:solidFill>
                <a:latin typeface="Arial" pitchFamily="34" charset="0"/>
                <a:ea typeface="Arial" pitchFamily="34" charset="-122"/>
                <a:cs typeface="Arial" pitchFamily="34" charset="-120"/>
              </a:rPr>
              <a:t> = 3.0 – 0.9 = 2.1</a:t>
            </a:r>
            <a:endParaRPr lang="en-US" sz="2500" dirty="0"/>
          </a:p>
        </p:txBody>
      </p:sp>
      <p:sp>
        <p:nvSpPr>
          <p:cNvPr id="12" name="anim_13_126"/>
          <p:cNvSpPr txBox="1"/>
          <p:nvPr/>
        </p:nvSpPr>
        <p:spPr>
          <a:xfrm>
            <a:off x="731520" y="4343400"/>
            <a:ext cx="4846320" cy="502920"/>
          </a:xfrm>
          <a:prstGeom prst="rect">
            <a:avLst/>
          </a:prstGeom>
          <a:noFill/>
          <a:ln/>
        </p:spPr>
        <p:txBody>
          <a:bodyPr wrap="square" lIns="50800" tIns="50800" rIns="50800" bIns="50800" rtlCol="0" anchor="ctr"/>
          <a:lstStyle/>
          <a:p>
            <a:pPr rtl="0" algn="l" indent="0" marL="0">
              <a:lnSpc>
                <a:spcPct val="105000"/>
              </a:lnSpc>
              <a:spcAft>
                <a:spcPts val="600"/>
              </a:spcAft>
              <a:buNone/>
            </a:pPr>
            <a:r>
              <a:rPr lang="en-US" altLang="en-US" sz="2500" b="1" dirty="0">
                <a:solidFill>
                  <a:srgbClr val="16325C"/>
                </a:solidFill>
                <a:latin typeface="Arial" pitchFamily="34" charset="0"/>
                <a:ea typeface="Arial" pitchFamily="34" charset="-122"/>
                <a:cs typeface="Arial" pitchFamily="34" charset="-120"/>
              </a:rPr>
              <a:t>Mg</a:t>
            </a:r>
            <a:r>
              <a:rPr lang="en-US" altLang="en-US" sz="2500" b="1" dirty="0">
                <a:solidFill>
                  <a:srgbClr val="16325C"/>
                </a:solidFill>
                <a:latin typeface="Arial" pitchFamily="34" charset="0"/>
                <a:ea typeface="Arial" pitchFamily="34" charset="-122"/>
                <a:cs typeface="Arial" pitchFamily="34" charset="-120"/>
              </a:rPr>
              <a:t>Cl</a:t>
            </a:r>
            <a:r>
              <a:rPr lang="en-US" altLang="en-US" sz="2500" b="1" baseline="-40000" dirty="0">
                <a:solidFill>
                  <a:srgbClr val="16325C"/>
                </a:solidFill>
                <a:latin typeface="Arial" pitchFamily="34" charset="0"/>
                <a:ea typeface="Arial" pitchFamily="34" charset="-122"/>
                <a:cs typeface="Arial" pitchFamily="34" charset="-120"/>
              </a:rPr>
              <a:t>2</a:t>
            </a:r>
            <a:r>
              <a:rPr lang="en-US" altLang="en-US" sz="2500" b="1" dirty="0">
                <a:solidFill>
                  <a:srgbClr val="16325C"/>
                </a:solidFill>
                <a:latin typeface="Arial" pitchFamily="34" charset="0"/>
                <a:ea typeface="Arial" pitchFamily="34" charset="-122"/>
                <a:cs typeface="Arial" pitchFamily="34" charset="-120"/>
              </a:rPr>
              <a:t> = 3.0 – 1.2 = 1.8</a:t>
            </a:r>
            <a:endParaRPr lang="en-US" sz="2500" dirty="0"/>
          </a:p>
        </p:txBody>
      </p:sp>
      <p:sp>
        <p:nvSpPr>
          <p:cNvPr id="13" name="anim_13_127"/>
          <p:cNvSpPr txBox="1"/>
          <p:nvPr/>
        </p:nvSpPr>
        <p:spPr>
          <a:xfrm>
            <a:off x="1463040" y="4937760"/>
            <a:ext cx="9235440" cy="822960"/>
          </a:xfrm>
          <a:prstGeom prst="roundRect">
            <a:avLst>
              <a:gd name="adj" fmla="val 50000"/>
            </a:avLst>
          </a:prstGeom>
          <a:solidFill>
            <a:srgbClr val="F1EDFF"/>
          </a:solidFill>
          <a:ln/>
          <a:effectLst>
            <a:outerShdw sx="100000" sy="100000" kx="0" ky="0" algn="bl" rotWithShape="0" blurRad="152400" dist="50800" dir="5400000">
              <a:srgbClr val="1F4F8A">
                <a:alpha val="18000"/>
              </a:srgbClr>
            </a:outerShdw>
          </a:effectLst>
        </p:spPr>
        <p:txBody>
          <a:bodyPr wrap="square" lIns="50800" tIns="50800" rIns="50800" bIns="50800" rtlCol="0" anchor="ctr"/>
          <a:lstStyle/>
          <a:p>
            <a:pPr rtl="0" algn="ctr" indent="0" marL="0">
              <a:lnSpc>
                <a:spcPct val="105000"/>
              </a:lnSpc>
              <a:spcAft>
                <a:spcPts val="600"/>
              </a:spcAft>
              <a:buNone/>
            </a:pPr>
            <a:r>
              <a:rPr lang="en-US" altLang="en-US" sz="3400" b="1" dirty="0">
                <a:solidFill>
                  <a:srgbClr val="6C4FE0"/>
                </a:solidFill>
                <a:latin typeface="Arial" pitchFamily="34" charset="0"/>
                <a:ea typeface="Arial" pitchFamily="34" charset="-122"/>
                <a:cs typeface="Arial" pitchFamily="34" charset="-120"/>
              </a:rPr>
              <a:t>Mg</a:t>
            </a:r>
            <a:r>
              <a:rPr lang="en-US" altLang="en-US" sz="3400" b="1" dirty="0">
                <a:solidFill>
                  <a:srgbClr val="6C4FE0"/>
                </a:solidFill>
                <a:latin typeface="Arial" pitchFamily="34" charset="0"/>
                <a:ea typeface="Arial" pitchFamily="34" charset="-122"/>
                <a:cs typeface="Arial" pitchFamily="34" charset="-120"/>
              </a:rPr>
              <a:t>Cl</a:t>
            </a:r>
            <a:r>
              <a:rPr lang="en-US" altLang="en-US" sz="3400" b="1" baseline="-40000" dirty="0">
                <a:solidFill>
                  <a:srgbClr val="6C4FE0"/>
                </a:solidFill>
                <a:latin typeface="Arial" pitchFamily="34" charset="0"/>
                <a:ea typeface="Arial" pitchFamily="34" charset="-122"/>
                <a:cs typeface="Arial" pitchFamily="34" charset="-120"/>
              </a:rPr>
              <a:t>2</a:t>
            </a:r>
            <a:r>
              <a:rPr lang="en-US" altLang="en-US" sz="3400" b="1" dirty="0">
                <a:solidFill>
                  <a:srgbClr val="6C4FE0"/>
                </a:solidFill>
                <a:latin typeface="Arial" pitchFamily="34" charset="0"/>
                <a:ea typeface="Arial" pitchFamily="34" charset="-122"/>
                <a:cs typeface="Arial" pitchFamily="34" charset="-120"/>
              </a:rPr>
              <a:t>  &lt;  </a:t>
            </a:r>
            <a:r>
              <a:rPr lang="en-US" altLang="en-US" sz="3400" b="1" dirty="0">
                <a:solidFill>
                  <a:srgbClr val="6C4FE0"/>
                </a:solidFill>
                <a:latin typeface="Arial" pitchFamily="34" charset="0"/>
                <a:ea typeface="Arial" pitchFamily="34" charset="-122"/>
                <a:cs typeface="Arial" pitchFamily="34" charset="-120"/>
              </a:rPr>
              <a:t>Na</a:t>
            </a:r>
            <a:r>
              <a:rPr lang="en-US" altLang="en-US" sz="3400" b="1" dirty="0">
                <a:solidFill>
                  <a:srgbClr val="6C4FE0"/>
                </a:solidFill>
                <a:latin typeface="Arial" pitchFamily="34" charset="0"/>
                <a:ea typeface="Arial" pitchFamily="34" charset="-122"/>
                <a:cs typeface="Arial" pitchFamily="34" charset="-120"/>
              </a:rPr>
              <a:t>Cl</a:t>
            </a:r>
            <a:r>
              <a:rPr lang="en-US" altLang="en-US" sz="3400" b="1" dirty="0">
                <a:solidFill>
                  <a:srgbClr val="6C4FE0"/>
                </a:solidFill>
                <a:latin typeface="Arial" pitchFamily="34" charset="0"/>
                <a:ea typeface="Arial" pitchFamily="34" charset="-122"/>
                <a:cs typeface="Arial" pitchFamily="34" charset="-120"/>
              </a:rPr>
              <a:t>  &lt;  </a:t>
            </a:r>
            <a:r>
              <a:rPr lang="en-US" altLang="en-US" sz="3400" b="1" dirty="0">
                <a:solidFill>
                  <a:srgbClr val="6C4FE0"/>
                </a:solidFill>
                <a:latin typeface="Arial" pitchFamily="34" charset="0"/>
                <a:ea typeface="Arial" pitchFamily="34" charset="-122"/>
                <a:cs typeface="Arial" pitchFamily="34" charset="-120"/>
              </a:rPr>
              <a:t>Mg</a:t>
            </a:r>
            <a:r>
              <a:rPr lang="en-US" altLang="en-US" sz="3400" b="1" dirty="0">
                <a:solidFill>
                  <a:srgbClr val="6C4FE0"/>
                </a:solidFill>
                <a:latin typeface="Arial" pitchFamily="34" charset="0"/>
                <a:ea typeface="Arial" pitchFamily="34" charset="-122"/>
                <a:cs typeface="Arial" pitchFamily="34" charset="-120"/>
              </a:rPr>
              <a:t>F</a:t>
            </a:r>
            <a:r>
              <a:rPr lang="en-US" altLang="en-US" sz="3400" b="1" baseline="-40000" dirty="0">
                <a:solidFill>
                  <a:srgbClr val="6C4FE0"/>
                </a:solidFill>
                <a:latin typeface="Arial" pitchFamily="34" charset="0"/>
                <a:ea typeface="Arial" pitchFamily="34" charset="-122"/>
                <a:cs typeface="Arial" pitchFamily="34" charset="-120"/>
              </a:rPr>
              <a:t>2</a:t>
            </a:r>
            <a:r>
              <a:rPr lang="en-US" altLang="en-US" sz="3400" b="1" dirty="0">
                <a:solidFill>
                  <a:srgbClr val="6C4FE0"/>
                </a:solidFill>
                <a:latin typeface="Arial" pitchFamily="34" charset="0"/>
                <a:ea typeface="Arial" pitchFamily="34" charset="-122"/>
                <a:cs typeface="Arial" pitchFamily="34" charset="-120"/>
              </a:rPr>
              <a:t>  &lt;  </a:t>
            </a:r>
            <a:r>
              <a:rPr lang="en-US" altLang="en-US" sz="3400" b="1" dirty="0">
                <a:solidFill>
                  <a:srgbClr val="6C4FE0"/>
                </a:solidFill>
                <a:latin typeface="Arial" pitchFamily="34" charset="0"/>
                <a:ea typeface="Arial" pitchFamily="34" charset="-122"/>
                <a:cs typeface="Arial" pitchFamily="34" charset="-120"/>
              </a:rPr>
              <a:t>Na</a:t>
            </a:r>
            <a:r>
              <a:rPr lang="en-US" altLang="en-US" sz="3400" b="1" dirty="0">
                <a:solidFill>
                  <a:srgbClr val="6C4FE0"/>
                </a:solidFill>
                <a:latin typeface="Arial" pitchFamily="34" charset="0"/>
                <a:ea typeface="Arial" pitchFamily="34" charset="-122"/>
                <a:cs typeface="Arial" pitchFamily="34" charset="-120"/>
              </a:rPr>
              <a:t>F</a:t>
            </a:r>
            <a:endParaRPr lang="en-US" sz="3400" dirty="0"/>
          </a:p>
        </p:txBody>
      </p:sp>
      <p:sp>
        <p:nvSpPr>
          <p:cNvPr id="14" name="anim_13_128"/>
          <p:cNvSpPr txBox="1"/>
          <p:nvPr/>
        </p:nvSpPr>
        <p:spPr>
          <a:xfrm>
            <a:off x="411480" y="5806440"/>
            <a:ext cx="1463040" cy="45720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000" b="1" dirty="0">
                <a:solidFill>
                  <a:srgbClr val="E8335F"/>
                </a:solidFill>
                <a:latin typeface="Arial" pitchFamily="34" charset="0"/>
                <a:ea typeface="Arial" pitchFamily="34" charset="-122"/>
                <a:cs typeface="Arial" pitchFamily="34" charset="-120"/>
              </a:rPr>
              <a:t>الأقل</a:t>
            </a:r>
            <a:endParaRPr lang="ar-KW" sz="2000" dirty="0"/>
          </a:p>
        </p:txBody>
      </p:sp>
      <p:sp>
        <p:nvSpPr>
          <p:cNvPr id="15" name="anim_13_129"/>
          <p:cNvSpPr txBox="1"/>
          <p:nvPr/>
        </p:nvSpPr>
        <p:spPr>
          <a:xfrm>
            <a:off x="10332720" y="5806440"/>
            <a:ext cx="1463040" cy="45720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000" b="1" dirty="0">
                <a:solidFill>
                  <a:srgbClr val="0B8A5A"/>
                </a:solidFill>
                <a:latin typeface="Arial" pitchFamily="34" charset="0"/>
                <a:ea typeface="Arial" pitchFamily="34" charset="-122"/>
                <a:cs typeface="Arial" pitchFamily="34" charset="-120"/>
              </a:rPr>
              <a:t>الأعلى</a:t>
            </a:r>
            <a:endParaRPr lang="ar-KW" sz="20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2" fill="hold">
                      <p:stCondLst>
                        <p:cond delay="indefinite"/>
                        <p:cond evt="onBegin" delay="0">
                          <p:tn val="2"/>
                        </p:cond>
                      </p:stCondLst>
                      <p:childTnLst>
                        <p:par>
                          <p:cTn id="27"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8"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29" fill="hold">
                            <p:stCondLst>
                              <p:cond delay="140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1000"/>
                                        <p:tgtEl>
                                          <p:spTgt spid="6"/>
                                        </p:tgtEl>
                                      </p:cBhvr>
                                    </p:animEffect>
                                  </p:childTnLst>
                                </p:cTn>
                              </p:par>
                            </p:childTnLst>
                          </p:cTn>
                        </p:par>
                        <p:par>
                          <p:cTn id="30" fill="hold">
                            <p:stCondLst>
                              <p:cond delay="24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p:tgtEl>
                                          <p:spTgt spid="7"/>
                                        </p:tgtEl>
                                        <p:attrNameLst>
                                          <p:attrName>ppt_w</p:attrName>
                                        </p:attrNameLst>
                                      </p:cBhvr>
                                      <p:tavLst>
                                        <p:tav tm="0">
                                          <p:val>
                                            <p:fltVal val="0"/>
                                          </p:val>
                                        </p:tav>
                                        <p:tav tm="100000">
                                          <p:val>
                                            <p:strVal val="#ppt_w"/>
                                          </p:val>
                                        </p:tav>
                                      </p:tavLst>
                                    </p:anim>
                                    <p:anim calcmode="lin" valueType="num">
                                      <p:cBhvr additive="base">
                                        <p:cTn id="22" dur="600" fill="hold"/>
                                        <p:tgtEl>
                                          <p:spTgt spid="7"/>
                                        </p:tgtEl>
                                        <p:attrNameLst>
                                          <p:attrName>ppt_h</p:attrName>
                                        </p:attrNameLst>
                                      </p:cBhvr>
                                      <p:tavLst>
                                        <p:tav tm="0">
                                          <p:val>
                                            <p:fltVal val="0"/>
                                          </p:val>
                                        </p:tav>
                                        <p:tav tm="100000">
                                          <p:val>
                                            <p:strVal val="#ppt_h"/>
                                          </p:val>
                                        </p:tav>
                                      </p:tavLst>
                                    </p:anim>
                                    <p:animEffect transition="in" filter="fade">
                                      <p:cBhvr>
                                        <p:cTn id="23" dur="600"/>
                                        <p:tgtEl>
                                          <p:spTgt spid="7"/>
                                        </p:tgtEl>
                                      </p:cBhvr>
                                    </p:animEffect>
                                  </p:childTnLst>
                                </p:cTn>
                              </p:par>
                            </p:childTnLst>
                          </p:cTn>
                        </p:par>
                        <p:par>
                          <p:cTn id="31" fill="hold">
                            <p:stCondLst>
                              <p:cond delay="300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700"/>
                                        <p:tgtEl>
                                          <p:spTgt spid="8"/>
                                        </p:tgtEl>
                                      </p:cBhvr>
                                    </p:animEffect>
                                  </p:childTnLst>
                                </p:cTn>
                              </p:par>
                            </p:childTnLst>
                          </p:cTn>
                        </p:par>
                      </p:childTnLst>
                    </p:cTn>
                  </p:par>
                  <p:par>
                    <p:cTn id="49" fill="hold">
                      <p:stCondLst>
                        <p:cond delay="indefinite"/>
                      </p:stCondLst>
                      <p:childTnLst>
                        <p:par>
                          <p:cTn id="45"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right)">
                                      <p:cBhvr>
                                        <p:cTn id="35" dur="600"/>
                                        <p:tgtEl>
                                          <p:spTgt spid="9"/>
                                        </p:tgtEl>
                                      </p:cBhvr>
                                    </p:animEffect>
                                  </p:childTnLst>
                                </p:cTn>
                              </p:par>
                            </p:childTnLst>
                          </p:cTn>
                        </p:par>
                        <p:par>
                          <p:cTn id="46" fill="hold">
                            <p:stCondLst>
                              <p:cond delay="600"/>
                            </p:stCondLst>
                            <p:childTnLst>
                              <p:par>
                                <p:cTn id="36" presetID="22" presetClass="entr" presetSubtype="2" fill="hold" grpId="0"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right)">
                                      <p:cBhvr>
                                        <p:cTn id="38" dur="600"/>
                                        <p:tgtEl>
                                          <p:spTgt spid="10"/>
                                        </p:tgtEl>
                                      </p:cBhvr>
                                    </p:animEffect>
                                  </p:childTnLst>
                                </p:cTn>
                              </p:par>
                            </p:childTnLst>
                          </p:cTn>
                        </p:par>
                        <p:par>
                          <p:cTn id="47" fill="hold">
                            <p:stCondLst>
                              <p:cond delay="1200"/>
                            </p:stCondLst>
                            <p:childTnLst>
                              <p:par>
                                <p:cTn id="39" presetID="22" presetClass="entr" presetSubtype="2"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right)">
                                      <p:cBhvr>
                                        <p:cTn id="41" dur="600"/>
                                        <p:tgtEl>
                                          <p:spTgt spid="11"/>
                                        </p:tgtEl>
                                      </p:cBhvr>
                                    </p:animEffect>
                                  </p:childTnLst>
                                </p:cTn>
                              </p:par>
                            </p:childTnLst>
                          </p:cTn>
                        </p:par>
                        <p:par>
                          <p:cTn id="48" fill="hold">
                            <p:stCondLst>
                              <p:cond delay="1800"/>
                            </p:stCondLst>
                            <p:childTnLst>
                              <p:par>
                                <p:cTn id="42" presetID="22" presetClass="entr" presetSubtype="2"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right)">
                                      <p:cBhvr>
                                        <p:cTn id="44" dur="600"/>
                                        <p:tgtEl>
                                          <p:spTgt spid="12"/>
                                        </p:tgtEl>
                                      </p:cBhvr>
                                    </p:animEffect>
                                  </p:childTnLst>
                                </p:cTn>
                              </p:par>
                            </p:childTnLst>
                          </p:cTn>
                        </p:par>
                      </p:childTnLst>
                    </p:cTn>
                  </p:par>
                  <p:par>
                    <p:cTn id="62" fill="hold">
                      <p:stCondLst>
                        <p:cond delay="indefinite"/>
                      </p:stCondLst>
                      <p:childTnLst>
                        <p:par>
                          <p:cTn id="61"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700" fill="hold"/>
                                        <p:tgtEl>
                                          <p:spTgt spid="13"/>
                                        </p:tgtEl>
                                        <p:attrNameLst>
                                          <p:attrName>ppt_w</p:attrName>
                                        </p:attrNameLst>
                                      </p:cBhvr>
                                      <p:tavLst>
                                        <p:tav tm="0">
                                          <p:val>
                                            <p:fltVal val="0"/>
                                          </p:val>
                                        </p:tav>
                                        <p:tav tm="100000">
                                          <p:val>
                                            <p:strVal val="#ppt_w"/>
                                          </p:val>
                                        </p:tav>
                                      </p:tavLst>
                                    </p:anim>
                                    <p:anim calcmode="lin" valueType="num">
                                      <p:cBhvr additive="base">
                                        <p:cTn id="53" dur="700" fill="hold"/>
                                        <p:tgtEl>
                                          <p:spTgt spid="13"/>
                                        </p:tgtEl>
                                        <p:attrNameLst>
                                          <p:attrName>ppt_h</p:attrName>
                                        </p:attrNameLst>
                                      </p:cBhvr>
                                      <p:tavLst>
                                        <p:tav tm="0">
                                          <p:val>
                                            <p:fltVal val="0"/>
                                          </p:val>
                                        </p:tav>
                                        <p:tav tm="100000">
                                          <p:val>
                                            <p:strVal val="#ppt_h"/>
                                          </p:val>
                                        </p:tav>
                                      </p:tavLst>
                                    </p:anim>
                                    <p:animEffect transition="in" filter="fade">
                                      <p:cBhvr>
                                        <p:cTn id="54" dur="700"/>
                                        <p:tgtEl>
                                          <p:spTgt spid="1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00"/>
                                        <p:tgtEl>
                                          <p:spTgt spid="1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Graphic spid="8" grpId="0">
        <p:bldAsOne/>
      </p:bldGraphic>
      <p:bldP spid="9" grpId="0" animBg="1"/>
      <p:bldP spid="10" grpId="0" animBg="1"/>
      <p:bldP spid="11" grpId="0" animBg="1"/>
      <p:bldP spid="12" grpId="0" animBg="1"/>
      <p:bldP spid="13" grpId="0" animBg="1"/>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2" name=""/>
        <p:cNvGrpSpPr/>
        <p:nvPr/>
      </p:nvGrpSpPr>
      <p:grpSpPr>
        <a:xfrm>
          <a:off x="0" y="0"/>
          <a:ext cx="0" cy="0"/>
          <a:chOff x="0" y="0"/>
          <a:chExt cx="0" cy="0"/>
        </a:xfrm>
      </p:grpSpPr>
      <p:sp>
        <p:nvSpPr>
          <p:cNvPr id="3" name="anim_14_130"/>
          <p:cNvSpPr/>
          <p:nvPr/>
        </p:nvSpPr>
        <p:spPr>
          <a:xfrm>
            <a:off x="6355080" y="502920"/>
            <a:ext cx="539496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أنت الكيميائي</a:t>
            </a:r>
            <a:endParaRPr lang="ar-KW" sz="3600" dirty="0"/>
          </a:p>
        </p:txBody>
      </p:sp>
      <p:pic>
        <p:nvPicPr>
          <p:cNvPr id="4" name="anim_14_131" descr="sp_teal.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14_132" descr="badge_chem.png">    </p:cNvPr>
          <p:cNvPicPr>
            <a:picLocks noChangeAspect="1"/>
          </p:cNvPicPr>
          <p:nvPr/>
        </p:nvPicPr>
        <p:blipFill>
          <a:blip r:embed="rId2"/>
          <a:stretch>
            <a:fillRect/>
          </a:stretch>
        </p:blipFill>
        <p:spPr>
          <a:xfrm>
            <a:off x="4937760" y="292608"/>
            <a:ext cx="1280160" cy="1280160"/>
          </a:xfrm>
          <a:prstGeom prst="rect">
            <a:avLst/>
          </a:prstGeom>
        </p:spPr>
      </p:pic>
      <p:sp>
        <p:nvSpPr>
          <p:cNvPr id="6" name="anim_14_133"/>
          <p:cNvSpPr txBox="1"/>
          <p:nvPr/>
        </p:nvSpPr>
        <p:spPr>
          <a:xfrm>
            <a:off x="457200" y="1645920"/>
            <a:ext cx="11292840" cy="91440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F6FB2"/>
                </a:solidFill>
                <a:latin typeface="Arial" pitchFamily="34" charset="0"/>
                <a:ea typeface="Arial" pitchFamily="34" charset="-122"/>
                <a:cs typeface="Arial" pitchFamily="34" charset="-120"/>
              </a:rPr>
              <a:t>السؤال الأول: اكتب المصطلح العلمي الذي تدل عليه كل عبارة من العبارات الآتية :</a:t>
            </a:r>
            <a:endParaRPr lang="ar-KW" sz="2400" dirty="0"/>
          </a:p>
        </p:txBody>
      </p:sp>
      <p:sp>
        <p:nvSpPr>
          <p:cNvPr id="7" name="anim_14_134"/>
          <p:cNvSpPr/>
          <p:nvPr/>
        </p:nvSpPr>
        <p:spPr>
          <a:xfrm>
            <a:off x="521208" y="2624328"/>
            <a:ext cx="11119104" cy="3712464"/>
          </a:xfrm>
          <a:prstGeom prst="roundRect">
            <a:avLst>
              <a:gd name="adj" fmla="val 8621"/>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8" name="anim_14_135"/>
          <p:cNvGraphicFramePr>
            <a:graphicFrameLocks noGrp="1"/>
          </p:cNvGraphicFramePr>
          <p:nvPr>
            <p:extLst>
              <p:ext uri="{D42A27DB-BD31-4B8C-83A1-F6EECF244321}">
                <p14:modId xmlns:p14="http://schemas.microsoft.com/office/powerpoint/2010/main" val="1579011935"/>
              </p:ext>
            </p:extLst>
          </p:nvPr>
        </p:nvGraphicFramePr>
        <p:xfrm>
          <a:off x="777240" y="2880360"/>
          <a:ext cx="10607040" cy="914400"/>
        </p:xfrm>
        <a:graphic>
          <a:graphicData uri="http://schemas.openxmlformats.org/drawingml/2006/table">
            <a:tbl>
              <a:tblPr/>
              <a:tblGrid>
                <a:gridCol w="3108960"/>
                <a:gridCol w="6675120"/>
                <a:gridCol w="822960"/>
              </a:tblGrid>
              <a:tr h="640080">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المصطلح</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العبارة</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م</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128016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r" indent="0" marL="0">
                        <a:buNone/>
                      </a:pPr>
                      <a:r>
                        <a:rPr lang="en-US" sz="2300" b="1" dirty="0">
                          <a:solidFill>
                            <a:srgbClr val="16325C"/>
                          </a:solidFill>
                          <a:latin typeface="Arial" pitchFamily="34" charset="0"/>
                          <a:ea typeface="Arial" pitchFamily="34" charset="-122"/>
                          <a:cs typeface="Arial" pitchFamily="34" charset="-120"/>
                        </a:rPr>
                        <a:t>قوة التجاذب الكهروستاتيكي التي تربط الأيونات مختلفة الشُّحنة في المركب الأيوني.</a:t>
                      </a:r>
                      <a:endParaRPr lang="en-US" sz="23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600" b="1" dirty="0">
                          <a:solidFill>
                            <a:srgbClr val="16325C"/>
                          </a:solidFill>
                          <a:latin typeface="Arial" pitchFamily="34" charset="0"/>
                          <a:ea typeface="Arial" pitchFamily="34" charset="-122"/>
                          <a:cs typeface="Arial" pitchFamily="34" charset="-120"/>
                        </a:rPr>
                        <a:t>1</a:t>
                      </a:r>
                      <a:endParaRPr lang="en-US" sz="26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r h="128016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r" indent="0" marL="0">
                        <a:buNone/>
                      </a:pPr>
                      <a:r>
                        <a:rPr lang="en-US" sz="2300" b="1" dirty="0">
                          <a:solidFill>
                            <a:srgbClr val="16325C"/>
                          </a:solidFill>
                          <a:latin typeface="Arial" pitchFamily="34" charset="0"/>
                          <a:ea typeface="Arial" pitchFamily="34" charset="-122"/>
                          <a:cs typeface="Arial" pitchFamily="34" charset="-120"/>
                        </a:rPr>
                        <a:t>مصفوفات ثلاثيّة الأبعاد ممتدّة من الكاتيونات والأنيونات في المركبات الأيونية.</a:t>
                      </a:r>
                      <a:endParaRPr lang="en-US" sz="23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600" b="1" dirty="0">
                          <a:solidFill>
                            <a:srgbClr val="16325C"/>
                          </a:solidFill>
                          <a:latin typeface="Arial" pitchFamily="34" charset="0"/>
                          <a:ea typeface="Arial" pitchFamily="34" charset="-122"/>
                          <a:cs typeface="Arial" pitchFamily="34" charset="-120"/>
                        </a:rPr>
                        <a:t>2</a:t>
                      </a:r>
                      <a:endParaRPr lang="en-US" sz="26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bl>
          </a:graphicData>
        </a:graphic>
      </p:graphicFrame>
      <p:sp>
        <p:nvSpPr>
          <p:cNvPr id="9" name="anim_14_136"/>
          <p:cNvSpPr txBox="1"/>
          <p:nvPr/>
        </p:nvSpPr>
        <p:spPr>
          <a:xfrm>
            <a:off x="777240" y="3520440"/>
            <a:ext cx="3108960" cy="1280160"/>
          </a:xfrm>
          <a:prstGeom prst="rect">
            <a:avLst/>
          </a:prstGeom>
          <a:noFill/>
          <a:ln/>
        </p:spPr>
        <p:txBody>
          <a:bodyPr wrap="square" lIns="0" tIns="0" rIns="0" bIns="0" rtlCol="0" anchor="ctr"/>
          <a:lstStyle/>
          <a:p>
            <a:pPr rtl="1" algn="ctr" indent="0" marL="0">
              <a:lnSpc>
                <a:spcPct val="105000"/>
              </a:lnSpc>
              <a:spcAft>
                <a:spcPts val="600"/>
              </a:spcAft>
              <a:buNone/>
            </a:pPr>
            <a:r>
              <a:rPr lang="ar-KW" altLang="en-US" sz="2600" b="1" dirty="0">
                <a:solidFill>
                  <a:srgbClr val="0B8A5A"/>
                </a:solidFill>
                <a:latin typeface="Arial" pitchFamily="34" charset="0"/>
                <a:ea typeface="Arial" pitchFamily="34" charset="-122"/>
                <a:cs typeface="Arial" pitchFamily="34" charset="-120"/>
              </a:rPr>
              <a:t>الرابطة الأيونية</a:t>
            </a:r>
            <a:endParaRPr lang="ar-KW" sz="2600" dirty="0"/>
          </a:p>
        </p:txBody>
      </p:sp>
      <p:sp>
        <p:nvSpPr>
          <p:cNvPr id="10" name="anim_14_137"/>
          <p:cNvSpPr txBox="1"/>
          <p:nvPr/>
        </p:nvSpPr>
        <p:spPr>
          <a:xfrm>
            <a:off x="777240" y="4800600"/>
            <a:ext cx="3108960" cy="1280160"/>
          </a:xfrm>
          <a:prstGeom prst="rect">
            <a:avLst/>
          </a:prstGeom>
          <a:noFill/>
          <a:ln/>
        </p:spPr>
        <p:txBody>
          <a:bodyPr wrap="square" lIns="0" tIns="0" rIns="0" bIns="0" rtlCol="0" anchor="ctr"/>
          <a:lstStyle/>
          <a:p>
            <a:pPr rtl="1" algn="ctr" indent="0" marL="0">
              <a:lnSpc>
                <a:spcPct val="105000"/>
              </a:lnSpc>
              <a:spcAft>
                <a:spcPts val="600"/>
              </a:spcAft>
              <a:buNone/>
            </a:pPr>
            <a:r>
              <a:rPr lang="ar-KW" altLang="en-US" sz="2600" b="1" dirty="0">
                <a:solidFill>
                  <a:srgbClr val="0B8A5A"/>
                </a:solidFill>
                <a:latin typeface="Arial" pitchFamily="34" charset="0"/>
                <a:ea typeface="Arial" pitchFamily="34" charset="-122"/>
                <a:cs typeface="Arial" pitchFamily="34" charset="-120"/>
              </a:rPr>
              <a:t>الشبكة البلّورية</a:t>
            </a:r>
            <a:endParaRPr lang="ar-KW" sz="26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2" fill="hold">
                      <p:stCondLst>
                        <p:cond delay="indefinite"/>
                        <p:cond evt="onBegin" delay="0">
                          <p:tn val="2"/>
                        </p:cond>
                      </p:stCondLst>
                      <p:childTnLst>
                        <p:par>
                          <p:cTn id="27"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8"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29" fill="hold">
                            <p:stCondLst>
                              <p:cond delay="140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1000"/>
                                        <p:tgtEl>
                                          <p:spTgt spid="6"/>
                                        </p:tgtEl>
                                      </p:cBhvr>
                                    </p:animEffect>
                                  </p:childTnLst>
                                </p:cTn>
                              </p:par>
                            </p:childTnLst>
                          </p:cTn>
                        </p:par>
                        <p:par>
                          <p:cTn id="30" fill="hold">
                            <p:stCondLst>
                              <p:cond delay="24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p:tgtEl>
                                          <p:spTgt spid="7"/>
                                        </p:tgtEl>
                                        <p:attrNameLst>
                                          <p:attrName>ppt_w</p:attrName>
                                        </p:attrNameLst>
                                      </p:cBhvr>
                                      <p:tavLst>
                                        <p:tav tm="0">
                                          <p:val>
                                            <p:fltVal val="0"/>
                                          </p:val>
                                        </p:tav>
                                        <p:tav tm="100000">
                                          <p:val>
                                            <p:strVal val="#ppt_w"/>
                                          </p:val>
                                        </p:tav>
                                      </p:tavLst>
                                    </p:anim>
                                    <p:anim calcmode="lin" valueType="num">
                                      <p:cBhvr additive="base">
                                        <p:cTn id="22" dur="600" fill="hold"/>
                                        <p:tgtEl>
                                          <p:spTgt spid="7"/>
                                        </p:tgtEl>
                                        <p:attrNameLst>
                                          <p:attrName>ppt_h</p:attrName>
                                        </p:attrNameLst>
                                      </p:cBhvr>
                                      <p:tavLst>
                                        <p:tav tm="0">
                                          <p:val>
                                            <p:fltVal val="0"/>
                                          </p:val>
                                        </p:tav>
                                        <p:tav tm="100000">
                                          <p:val>
                                            <p:strVal val="#ppt_h"/>
                                          </p:val>
                                        </p:tav>
                                      </p:tavLst>
                                    </p:anim>
                                    <p:animEffect transition="in" filter="fade">
                                      <p:cBhvr>
                                        <p:cTn id="23" dur="600"/>
                                        <p:tgtEl>
                                          <p:spTgt spid="7"/>
                                        </p:tgtEl>
                                      </p:cBhvr>
                                    </p:animEffect>
                                  </p:childTnLst>
                                </p:cTn>
                              </p:par>
                            </p:childTnLst>
                          </p:cTn>
                        </p:par>
                        <p:par>
                          <p:cTn id="31" fill="hold">
                            <p:stCondLst>
                              <p:cond delay="300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700"/>
                                        <p:tgtEl>
                                          <p:spTgt spid="8"/>
                                        </p:tgtEl>
                                      </p:cBhvr>
                                    </p:animEffect>
                                  </p:childTnLst>
                                </p:cTn>
                              </p:par>
                            </p:childTnLst>
                          </p:cTn>
                        </p:par>
                      </p:childTnLst>
                    </p:cTn>
                  </p:par>
                  <p:par>
                    <p:cTn id="39" fill="hold">
                      <p:stCondLst>
                        <p:cond delay="indefinite"/>
                      </p:stCondLst>
                      <p:childTnLst>
                        <p:par>
                          <p:cTn id="38"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450" fill="hold"/>
                                        <p:tgtEl>
                                          <p:spTgt spid="9"/>
                                        </p:tgtEl>
                                        <p:attrNameLst>
                                          <p:attrName>ppt_w</p:attrName>
                                        </p:attrNameLst>
                                      </p:cBhvr>
                                      <p:tavLst>
                                        <p:tav tm="0">
                                          <p:val>
                                            <p:fltVal val="0"/>
                                          </p:val>
                                        </p:tav>
                                        <p:tav tm="100000">
                                          <p:val>
                                            <p:strVal val="#ppt_w"/>
                                          </p:val>
                                        </p:tav>
                                      </p:tavLst>
                                    </p:anim>
                                    <p:anim calcmode="lin" valueType="num">
                                      <p:cBhvr additive="base">
                                        <p:cTn id="36" dur="450" fill="hold"/>
                                        <p:tgtEl>
                                          <p:spTgt spid="9"/>
                                        </p:tgtEl>
                                        <p:attrNameLst>
                                          <p:attrName>ppt_h</p:attrName>
                                        </p:attrNameLst>
                                      </p:cBhvr>
                                      <p:tavLst>
                                        <p:tav tm="0">
                                          <p:val>
                                            <p:fltVal val="0"/>
                                          </p:val>
                                        </p:tav>
                                        <p:tav tm="100000">
                                          <p:val>
                                            <p:strVal val="#ppt_h"/>
                                          </p:val>
                                        </p:tav>
                                      </p:tavLst>
                                    </p:anim>
                                    <p:animEffect transition="in" filter="fade">
                                      <p:cBhvr>
                                        <p:cTn id="37" dur="450"/>
                                        <p:tgtEl>
                                          <p:spTgt spid="9"/>
                                        </p:tgtEl>
                                      </p:cBhvr>
                                    </p:animEffect>
                                  </p:childTnLst>
                                </p:cTn>
                              </p:par>
                            </p:childTnLst>
                          </p:cTn>
                        </p:par>
                      </p:childTnLst>
                    </p:cTn>
                  </p:par>
                  <p:par>
                    <p:cTn id="46" fill="hold">
                      <p:stCondLst>
                        <p:cond delay="indefinite"/>
                      </p:stCondLst>
                      <p:childTnLst>
                        <p:par>
                          <p:cTn id="45"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450" fill="hold"/>
                                        <p:tgtEl>
                                          <p:spTgt spid="10"/>
                                        </p:tgtEl>
                                        <p:attrNameLst>
                                          <p:attrName>ppt_w</p:attrName>
                                        </p:attrNameLst>
                                      </p:cBhvr>
                                      <p:tavLst>
                                        <p:tav tm="0">
                                          <p:val>
                                            <p:fltVal val="0"/>
                                          </p:val>
                                        </p:tav>
                                        <p:tav tm="100000">
                                          <p:val>
                                            <p:strVal val="#ppt_w"/>
                                          </p:val>
                                        </p:tav>
                                      </p:tavLst>
                                    </p:anim>
                                    <p:anim calcmode="lin" valueType="num">
                                      <p:cBhvr additive="base">
                                        <p:cTn id="43" dur="450" fill="hold"/>
                                        <p:tgtEl>
                                          <p:spTgt spid="10"/>
                                        </p:tgtEl>
                                        <p:attrNameLst>
                                          <p:attrName>ppt_h</p:attrName>
                                        </p:attrNameLst>
                                      </p:cBhvr>
                                      <p:tavLst>
                                        <p:tav tm="0">
                                          <p:val>
                                            <p:fltVal val="0"/>
                                          </p:val>
                                        </p:tav>
                                        <p:tav tm="100000">
                                          <p:val>
                                            <p:strVal val="#ppt_h"/>
                                          </p:val>
                                        </p:tav>
                                      </p:tavLst>
                                    </p:anim>
                                    <p:animEffect transition="in" filter="fade">
                                      <p:cBhvr>
                                        <p:cTn id="44"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Graphic spid="8" grpId="0">
        <p:bldAsOne/>
      </p:bldGraphic>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2" name=""/>
        <p:cNvGrpSpPr/>
        <p:nvPr/>
      </p:nvGrpSpPr>
      <p:grpSpPr>
        <a:xfrm>
          <a:off x="0" y="0"/>
          <a:ext cx="0" cy="0"/>
          <a:chOff x="0" y="0"/>
          <a:chExt cx="0" cy="0"/>
        </a:xfrm>
      </p:grpSpPr>
      <p:sp>
        <p:nvSpPr>
          <p:cNvPr id="3" name="anim_15_138"/>
          <p:cNvSpPr/>
          <p:nvPr/>
        </p:nvSpPr>
        <p:spPr>
          <a:xfrm>
            <a:off x="6355080" y="502920"/>
            <a:ext cx="539496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أنت الكيميائي</a:t>
            </a:r>
            <a:endParaRPr lang="ar-KW" sz="3600" dirty="0"/>
          </a:p>
        </p:txBody>
      </p:sp>
      <p:pic>
        <p:nvPicPr>
          <p:cNvPr id="4" name="anim_15_139" descr="sp_teal.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15_140" descr="badge_chem.png">    </p:cNvPr>
          <p:cNvPicPr>
            <a:picLocks noChangeAspect="1"/>
          </p:cNvPicPr>
          <p:nvPr/>
        </p:nvPicPr>
        <p:blipFill>
          <a:blip r:embed="rId2"/>
          <a:stretch>
            <a:fillRect/>
          </a:stretch>
        </p:blipFill>
        <p:spPr>
          <a:xfrm>
            <a:off x="4937760" y="292608"/>
            <a:ext cx="1280160" cy="1280160"/>
          </a:xfrm>
          <a:prstGeom prst="rect">
            <a:avLst/>
          </a:prstGeom>
        </p:spPr>
      </p:pic>
      <p:sp>
        <p:nvSpPr>
          <p:cNvPr id="6" name="anim_15_141"/>
          <p:cNvSpPr txBox="1"/>
          <p:nvPr/>
        </p:nvSpPr>
        <p:spPr>
          <a:xfrm>
            <a:off x="457200" y="1645920"/>
            <a:ext cx="11292840" cy="91440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F6FB2"/>
                </a:solidFill>
                <a:latin typeface="Arial" pitchFamily="34" charset="0"/>
                <a:ea typeface="Arial" pitchFamily="34" charset="-122"/>
                <a:cs typeface="Arial" pitchFamily="34" charset="-120"/>
              </a:rPr>
              <a:t>السؤال الثاني: اختر الإجابة الصحيحة لكل عبارة من العبارات الآتية وذلك بوضع علامة (✓) في المربع المقابل لها:</a:t>
            </a:r>
            <a:endParaRPr lang="ar-KW" sz="2400" dirty="0"/>
          </a:p>
        </p:txBody>
      </p:sp>
      <p:sp>
        <p:nvSpPr>
          <p:cNvPr id="7" name="anim_15_142"/>
          <p:cNvSpPr/>
          <p:nvPr/>
        </p:nvSpPr>
        <p:spPr>
          <a:xfrm>
            <a:off x="457200" y="2743200"/>
            <a:ext cx="11292840" cy="1783080"/>
          </a:xfrm>
          <a:prstGeom prst="roundRect">
            <a:avLst>
              <a:gd name="adj" fmla="val 15385"/>
            </a:avLst>
          </a:prstGeom>
          <a:solidFill>
            <a:srgbClr val="FFFFFF">
              <a:alpha val="95000"/>
            </a:srgbClr>
          </a:solidFill>
          <a:ln/>
          <a:effectLst>
            <a:outerShdw sx="100000" sy="100000" kx="0" ky="0" algn="bl" rotWithShape="0" blurRad="152400" dist="50800" dir="5400000">
              <a:srgbClr val="1F4F8A">
                <a:alpha val="18000"/>
              </a:srgbClr>
            </a:outerShdw>
          </a:effectLst>
        </p:spPr>
      </p:sp>
      <p:sp>
        <p:nvSpPr>
          <p:cNvPr id="8" name="anim_15_143"/>
          <p:cNvSpPr txBox="1"/>
          <p:nvPr/>
        </p:nvSpPr>
        <p:spPr>
          <a:xfrm>
            <a:off x="685800" y="2834640"/>
            <a:ext cx="10881360" cy="59436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6325C"/>
                </a:solidFill>
                <a:latin typeface="Arial" pitchFamily="34" charset="0"/>
                <a:ea typeface="Arial" pitchFamily="34" charset="-122"/>
                <a:cs typeface="Arial" pitchFamily="34" charset="-120"/>
              </a:rPr>
              <a:t>1 – أحد المركبات التالية ينتج من ارتباط المغنيسوم مع النيتروجين:</a:t>
            </a:r>
            <a:endParaRPr lang="ar-KW" sz="2400" dirty="0"/>
          </a:p>
        </p:txBody>
      </p:sp>
      <p:sp>
        <p:nvSpPr>
          <p:cNvPr id="9" name="anim_15_144"/>
          <p:cNvSpPr txBox="1"/>
          <p:nvPr/>
        </p:nvSpPr>
        <p:spPr>
          <a:xfrm>
            <a:off x="9418320" y="356616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dirty="0">
                <a:solidFill>
                  <a:srgbClr val="16325C"/>
                </a:solidFill>
                <a:latin typeface="Arial" pitchFamily="34" charset="0"/>
                <a:ea typeface="Arial" pitchFamily="34" charset="-122"/>
                <a:cs typeface="Arial" pitchFamily="34" charset="-120"/>
              </a:rPr>
              <a:t>Mg</a:t>
            </a:r>
            <a:r>
              <a:rPr lang="en-US" altLang="en-US" sz="3000" b="1" dirty="0">
                <a:solidFill>
                  <a:srgbClr val="16325C"/>
                </a:solidFill>
                <a:latin typeface="Arial" pitchFamily="34" charset="0"/>
                <a:ea typeface="Arial" pitchFamily="34" charset="-122"/>
                <a:cs typeface="Arial" pitchFamily="34" charset="-120"/>
              </a:rPr>
              <a:t>Cl</a:t>
            </a:r>
            <a:r>
              <a:rPr lang="en-US" altLang="en-US" sz="3000" b="1" baseline="-40000" dirty="0">
                <a:solidFill>
                  <a:srgbClr val="16325C"/>
                </a:solidFill>
                <a:latin typeface="Arial" pitchFamily="34" charset="0"/>
                <a:ea typeface="Arial" pitchFamily="34" charset="-122"/>
                <a:cs typeface="Arial" pitchFamily="34" charset="-120"/>
              </a:rPr>
              <a:t>2</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10" name="anim_15_145"/>
          <p:cNvSpPr txBox="1"/>
          <p:nvPr/>
        </p:nvSpPr>
        <p:spPr>
          <a:xfrm>
            <a:off x="6583680" y="356616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dirty="0">
                <a:solidFill>
                  <a:srgbClr val="16325C"/>
                </a:solidFill>
                <a:latin typeface="Arial" pitchFamily="34" charset="0"/>
                <a:ea typeface="Arial" pitchFamily="34" charset="-122"/>
                <a:cs typeface="Arial" pitchFamily="34" charset="-120"/>
              </a:rPr>
              <a:t>Mg</a:t>
            </a:r>
            <a:r>
              <a:rPr lang="en-US" altLang="en-US" sz="3000" b="1" baseline="-40000" dirty="0">
                <a:solidFill>
                  <a:srgbClr val="16325C"/>
                </a:solidFill>
                <a:latin typeface="Arial" pitchFamily="34" charset="0"/>
                <a:ea typeface="Arial" pitchFamily="34" charset="-122"/>
                <a:cs typeface="Arial" pitchFamily="34" charset="-120"/>
              </a:rPr>
              <a:t>3</a:t>
            </a:r>
            <a:r>
              <a:rPr lang="en-US" altLang="en-US" sz="3000" b="1" dirty="0">
                <a:solidFill>
                  <a:srgbClr val="16325C"/>
                </a:solidFill>
                <a:latin typeface="Arial" pitchFamily="34" charset="0"/>
                <a:ea typeface="Arial" pitchFamily="34" charset="-122"/>
                <a:cs typeface="Arial" pitchFamily="34" charset="-120"/>
              </a:rPr>
              <a:t>N</a:t>
            </a:r>
            <a:r>
              <a:rPr lang="en-US" altLang="en-US" sz="3000" b="1" baseline="-40000" dirty="0">
                <a:solidFill>
                  <a:srgbClr val="16325C"/>
                </a:solidFill>
                <a:latin typeface="Arial" pitchFamily="34" charset="0"/>
                <a:ea typeface="Arial" pitchFamily="34" charset="-122"/>
                <a:cs typeface="Arial" pitchFamily="34" charset="-120"/>
              </a:rPr>
              <a:t>2</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11" name="anim_15_146"/>
          <p:cNvSpPr txBox="1"/>
          <p:nvPr/>
        </p:nvSpPr>
        <p:spPr>
          <a:xfrm>
            <a:off x="3749040" y="356616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dirty="0">
                <a:solidFill>
                  <a:srgbClr val="16325C"/>
                </a:solidFill>
                <a:latin typeface="Arial" pitchFamily="34" charset="0"/>
                <a:ea typeface="Arial" pitchFamily="34" charset="-122"/>
                <a:cs typeface="Arial" pitchFamily="34" charset="-120"/>
              </a:rPr>
              <a:t>Mg</a:t>
            </a:r>
            <a:r>
              <a:rPr lang="en-US" altLang="en-US" sz="3000" b="1" dirty="0">
                <a:solidFill>
                  <a:srgbClr val="16325C"/>
                </a:solidFill>
                <a:latin typeface="Arial" pitchFamily="34" charset="0"/>
                <a:ea typeface="Arial" pitchFamily="34" charset="-122"/>
                <a:cs typeface="Arial" pitchFamily="34" charset="-120"/>
              </a:rPr>
              <a:t>O</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12" name="anim_15_147"/>
          <p:cNvSpPr txBox="1"/>
          <p:nvPr/>
        </p:nvSpPr>
        <p:spPr>
          <a:xfrm>
            <a:off x="914400" y="356616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dirty="0">
                <a:solidFill>
                  <a:srgbClr val="16325C"/>
                </a:solidFill>
                <a:latin typeface="Arial" pitchFamily="34" charset="0"/>
                <a:ea typeface="Arial" pitchFamily="34" charset="-122"/>
                <a:cs typeface="Arial" pitchFamily="34" charset="-120"/>
              </a:rPr>
              <a:t>Mg</a:t>
            </a:r>
            <a:r>
              <a:rPr lang="en-US" altLang="en-US" sz="3000" b="1" baseline="-40000" dirty="0">
                <a:solidFill>
                  <a:srgbClr val="16325C"/>
                </a:solidFill>
                <a:latin typeface="Arial" pitchFamily="34" charset="0"/>
                <a:ea typeface="Arial" pitchFamily="34" charset="-122"/>
                <a:cs typeface="Arial" pitchFamily="34" charset="-120"/>
              </a:rPr>
              <a:t>2</a:t>
            </a:r>
            <a:r>
              <a:rPr lang="en-US" altLang="en-US" sz="3000" b="1" dirty="0">
                <a:solidFill>
                  <a:srgbClr val="16325C"/>
                </a:solidFill>
                <a:latin typeface="Arial" pitchFamily="34" charset="0"/>
                <a:ea typeface="Arial" pitchFamily="34" charset="-122"/>
                <a:cs typeface="Arial" pitchFamily="34" charset="-120"/>
              </a:rPr>
              <a:t>N</a:t>
            </a:r>
            <a:r>
              <a:rPr lang="en-US" altLang="en-US" sz="3000" b="1" baseline="-40000" dirty="0">
                <a:solidFill>
                  <a:srgbClr val="16325C"/>
                </a:solidFill>
                <a:latin typeface="Arial" pitchFamily="34" charset="0"/>
                <a:ea typeface="Arial" pitchFamily="34" charset="-122"/>
                <a:cs typeface="Arial" pitchFamily="34" charset="-120"/>
              </a:rPr>
              <a:t>3</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13" name="anim_15_148"/>
          <p:cNvSpPr txBox="1"/>
          <p:nvPr/>
        </p:nvSpPr>
        <p:spPr>
          <a:xfrm>
            <a:off x="6172200" y="3529584"/>
            <a:ext cx="731520" cy="731520"/>
          </a:xfrm>
          <a:prstGeom prst="ellipse">
            <a:avLst/>
          </a:prstGeom>
          <a:solidFill>
            <a:srgbClr val="0B8A5A"/>
          </a:solidFill>
          <a:ln/>
        </p:spPr>
        <p:txBody>
          <a:bodyPr wrap="square" lIns="0" tIns="0" rIns="0" bIns="0" rtlCol="0" anchor="ctr"/>
          <a:lstStyle/>
          <a:p>
            <a:pPr rtl="0" algn="ctr" indent="0" marL="0">
              <a:lnSpc>
                <a:spcPct val="105000"/>
              </a:lnSpc>
              <a:spcAft>
                <a:spcPts val="600"/>
              </a:spcAft>
              <a:buNone/>
            </a:pPr>
            <a:r>
              <a:rPr lang="en-US" altLang="en-US" sz="3400" b="1" dirty="0">
                <a:solidFill>
                  <a:srgbClr val="FFFFFF"/>
                </a:solidFill>
                <a:latin typeface="Arial" pitchFamily="34" charset="0"/>
                <a:ea typeface="Arial" pitchFamily="34" charset="-122"/>
                <a:cs typeface="Arial" pitchFamily="34" charset="-120"/>
              </a:rPr>
              <a:t>✓</a:t>
            </a:r>
            <a:endParaRPr lang="en-US" sz="3400" dirty="0"/>
          </a:p>
        </p:txBody>
      </p:sp>
      <p:sp>
        <p:nvSpPr>
          <p:cNvPr id="14" name="anim_15_149"/>
          <p:cNvSpPr/>
          <p:nvPr/>
        </p:nvSpPr>
        <p:spPr>
          <a:xfrm>
            <a:off x="6629400" y="3520440"/>
            <a:ext cx="2286000" cy="786384"/>
          </a:xfrm>
          <a:prstGeom prst="roundRect">
            <a:avLst>
              <a:gd name="adj" fmla="val 50000"/>
            </a:avLst>
          </a:prstGeom>
          <a:solidFill>
            <a:srgbClr val="0B8A5A">
              <a:alpha val="15000"/>
            </a:srgbClr>
          </a:solidFill>
          <a:ln w="38100">
            <a:solidFill>
              <a:srgbClr val="0B8A5A"/>
            </a:solidFill>
            <a:prstDash val="solid"/>
          </a:ln>
        </p:spPr>
      </p:sp>
      <p:pic>
        <p:nvPicPr>
          <p:cNvPr id="15" name="anim_15_150" descr="nacl_lattice.png">    </p:cNvPr>
          <p:cNvPicPr>
            <a:picLocks noChangeAspect="1"/>
          </p:cNvPicPr>
          <p:nvPr/>
        </p:nvPicPr>
        <p:blipFill>
          <a:blip r:embed="rId3"/>
          <a:stretch>
            <a:fillRect/>
          </a:stretch>
        </p:blipFill>
        <p:spPr>
          <a:xfrm>
            <a:off x="5120640" y="4663440"/>
            <a:ext cx="1828800" cy="1828800"/>
          </a:xfrm>
          <a:prstGeom prst="rect">
            <a:avLst/>
          </a:prstGeom>
        </p:spPr>
      </p:pic>
    </p:spTree>
  </p:cSld>
  <p:clrMapOvr>
    <a:masterClrMapping/>
  </p:clrMapOvr>
  <p:transition spd="slow">
    <p:wipe dir="l"/>
  </p:transition>
  <p:timing>
    <p:tnLst>
      <p:par>
        <p:cTn id="1" dur="indefinite" restart="never" nodeType="tmRoot">
          <p:childTnLst>
            <p:seq concurrent="1" nextAc="seek">
              <p:cTn id="2" dur="indefinite" nodeType="mainSeq">
                <p:childTnLst>
                  <p:par>
                    <p:cTn id="54" fill="hold">
                      <p:stCondLst>
                        <p:cond delay="indefinite"/>
                        <p:cond evt="onBegin" delay="0">
                          <p:tn val="2"/>
                        </p:cond>
                      </p:stCondLst>
                      <p:childTnLst>
                        <p:par>
                          <p:cTn id="45"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46"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47" fill="hold">
                            <p:stCondLst>
                              <p:cond delay="140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1200"/>
                                        <p:tgtEl>
                                          <p:spTgt spid="6"/>
                                        </p:tgtEl>
                                      </p:cBhvr>
                                    </p:animEffect>
                                  </p:childTnLst>
                                </p:cTn>
                              </p:par>
                            </p:childTnLst>
                          </p:cTn>
                        </p:par>
                        <p:par>
                          <p:cTn id="48" fill="hold">
                            <p:stCondLst>
                              <p:cond delay="26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childTnLst>
                          </p:cTn>
                        </p:par>
                        <p:par>
                          <p:cTn id="49" fill="hold">
                            <p:stCondLst>
                              <p:cond delay="3000"/>
                            </p:stCondLst>
                            <p:childTnLst>
                              <p:par>
                                <p:cTn id="22" presetID="22" presetClass="entr" presetSubtype="2"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right)">
                                      <p:cBhvr>
                                        <p:cTn id="24" dur="900"/>
                                        <p:tgtEl>
                                          <p:spTgt spid="8"/>
                                        </p:tgtEl>
                                      </p:cBhvr>
                                    </p:animEffect>
                                  </p:childTnLst>
                                </p:cTn>
                              </p:par>
                            </p:childTnLst>
                          </p:cTn>
                        </p:par>
                        <p:par>
                          <p:cTn id="50" fill="hold">
                            <p:stCondLst>
                              <p:cond delay="3900"/>
                            </p:stCondLst>
                            <p:childTnLst>
                              <p:par>
                                <p:cTn id="25" presetID="53" presetClass="entr" presetSubtype="16"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350" fill="hold"/>
                                        <p:tgtEl>
                                          <p:spTgt spid="9"/>
                                        </p:tgtEl>
                                        <p:attrNameLst>
                                          <p:attrName>ppt_w</p:attrName>
                                        </p:attrNameLst>
                                      </p:cBhvr>
                                      <p:tavLst>
                                        <p:tav tm="0">
                                          <p:val>
                                            <p:fltVal val="0"/>
                                          </p:val>
                                        </p:tav>
                                        <p:tav tm="100000">
                                          <p:val>
                                            <p:strVal val="#ppt_w"/>
                                          </p:val>
                                        </p:tav>
                                      </p:tavLst>
                                    </p:anim>
                                    <p:anim calcmode="lin" valueType="num">
                                      <p:cBhvr additive="base">
                                        <p:cTn id="28" dur="350" fill="hold"/>
                                        <p:tgtEl>
                                          <p:spTgt spid="9"/>
                                        </p:tgtEl>
                                        <p:attrNameLst>
                                          <p:attrName>ppt_h</p:attrName>
                                        </p:attrNameLst>
                                      </p:cBhvr>
                                      <p:tavLst>
                                        <p:tav tm="0">
                                          <p:val>
                                            <p:fltVal val="0"/>
                                          </p:val>
                                        </p:tav>
                                        <p:tav tm="100000">
                                          <p:val>
                                            <p:strVal val="#ppt_h"/>
                                          </p:val>
                                        </p:tav>
                                      </p:tavLst>
                                    </p:anim>
                                    <p:animEffect transition="in" filter="fade">
                                      <p:cBhvr>
                                        <p:cTn id="29" dur="350"/>
                                        <p:tgtEl>
                                          <p:spTgt spid="9"/>
                                        </p:tgtEl>
                                      </p:cBhvr>
                                    </p:animEffect>
                                  </p:childTnLst>
                                </p:cTn>
                              </p:par>
                            </p:childTnLst>
                          </p:cTn>
                        </p:par>
                        <p:par>
                          <p:cTn id="51" fill="hold">
                            <p:stCondLst>
                              <p:cond delay="4250"/>
                            </p:stCondLst>
                            <p:childTnLst>
                              <p:par>
                                <p:cTn id="30" presetID="53" presetClass="entr" presetSubtype="16"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350" fill="hold"/>
                                        <p:tgtEl>
                                          <p:spTgt spid="10"/>
                                        </p:tgtEl>
                                        <p:attrNameLst>
                                          <p:attrName>ppt_w</p:attrName>
                                        </p:attrNameLst>
                                      </p:cBhvr>
                                      <p:tavLst>
                                        <p:tav tm="0">
                                          <p:val>
                                            <p:fltVal val="0"/>
                                          </p:val>
                                        </p:tav>
                                        <p:tav tm="100000">
                                          <p:val>
                                            <p:strVal val="#ppt_w"/>
                                          </p:val>
                                        </p:tav>
                                      </p:tavLst>
                                    </p:anim>
                                    <p:anim calcmode="lin" valueType="num">
                                      <p:cBhvr additive="base">
                                        <p:cTn id="33" dur="350" fill="hold"/>
                                        <p:tgtEl>
                                          <p:spTgt spid="10"/>
                                        </p:tgtEl>
                                        <p:attrNameLst>
                                          <p:attrName>ppt_h</p:attrName>
                                        </p:attrNameLst>
                                      </p:cBhvr>
                                      <p:tavLst>
                                        <p:tav tm="0">
                                          <p:val>
                                            <p:fltVal val="0"/>
                                          </p:val>
                                        </p:tav>
                                        <p:tav tm="100000">
                                          <p:val>
                                            <p:strVal val="#ppt_h"/>
                                          </p:val>
                                        </p:tav>
                                      </p:tavLst>
                                    </p:anim>
                                    <p:animEffect transition="in" filter="fade">
                                      <p:cBhvr>
                                        <p:cTn id="34" dur="350"/>
                                        <p:tgtEl>
                                          <p:spTgt spid="10"/>
                                        </p:tgtEl>
                                      </p:cBhvr>
                                    </p:animEffect>
                                  </p:childTnLst>
                                </p:cTn>
                              </p:par>
                            </p:childTnLst>
                          </p:cTn>
                        </p:par>
                        <p:par>
                          <p:cTn id="52" fill="hold">
                            <p:stCondLst>
                              <p:cond delay="4600"/>
                            </p:stCondLst>
                            <p:childTnLst>
                              <p:par>
                                <p:cTn id="35" presetID="53" presetClass="entr" presetSubtype="16"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350" fill="hold"/>
                                        <p:tgtEl>
                                          <p:spTgt spid="11"/>
                                        </p:tgtEl>
                                        <p:attrNameLst>
                                          <p:attrName>ppt_w</p:attrName>
                                        </p:attrNameLst>
                                      </p:cBhvr>
                                      <p:tavLst>
                                        <p:tav tm="0">
                                          <p:val>
                                            <p:fltVal val="0"/>
                                          </p:val>
                                        </p:tav>
                                        <p:tav tm="100000">
                                          <p:val>
                                            <p:strVal val="#ppt_w"/>
                                          </p:val>
                                        </p:tav>
                                      </p:tavLst>
                                    </p:anim>
                                    <p:anim calcmode="lin" valueType="num">
                                      <p:cBhvr additive="base">
                                        <p:cTn id="38" dur="350" fill="hold"/>
                                        <p:tgtEl>
                                          <p:spTgt spid="11"/>
                                        </p:tgtEl>
                                        <p:attrNameLst>
                                          <p:attrName>ppt_h</p:attrName>
                                        </p:attrNameLst>
                                      </p:cBhvr>
                                      <p:tavLst>
                                        <p:tav tm="0">
                                          <p:val>
                                            <p:fltVal val="0"/>
                                          </p:val>
                                        </p:tav>
                                        <p:tav tm="100000">
                                          <p:val>
                                            <p:strVal val="#ppt_h"/>
                                          </p:val>
                                        </p:tav>
                                      </p:tavLst>
                                    </p:anim>
                                    <p:animEffect transition="in" filter="fade">
                                      <p:cBhvr>
                                        <p:cTn id="39" dur="350"/>
                                        <p:tgtEl>
                                          <p:spTgt spid="11"/>
                                        </p:tgtEl>
                                      </p:cBhvr>
                                    </p:animEffect>
                                  </p:childTnLst>
                                </p:cTn>
                              </p:par>
                            </p:childTnLst>
                          </p:cTn>
                        </p:par>
                        <p:par>
                          <p:cTn id="53" fill="hold">
                            <p:stCondLst>
                              <p:cond delay="4950"/>
                            </p:stCondLst>
                            <p:childTnLst>
                              <p:par>
                                <p:cTn id="40" presetID="53" presetClass="entr" presetSubtype="16"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50" fill="hold"/>
                                        <p:tgtEl>
                                          <p:spTgt spid="12"/>
                                        </p:tgtEl>
                                        <p:attrNameLst>
                                          <p:attrName>ppt_w</p:attrName>
                                        </p:attrNameLst>
                                      </p:cBhvr>
                                      <p:tavLst>
                                        <p:tav tm="0">
                                          <p:val>
                                            <p:fltVal val="0"/>
                                          </p:val>
                                        </p:tav>
                                        <p:tav tm="100000">
                                          <p:val>
                                            <p:strVal val="#ppt_w"/>
                                          </p:val>
                                        </p:tav>
                                      </p:tavLst>
                                    </p:anim>
                                    <p:anim calcmode="lin" valueType="num">
                                      <p:cBhvr additive="base">
                                        <p:cTn id="43" dur="350" fill="hold"/>
                                        <p:tgtEl>
                                          <p:spTgt spid="12"/>
                                        </p:tgtEl>
                                        <p:attrNameLst>
                                          <p:attrName>ppt_h</p:attrName>
                                        </p:attrNameLst>
                                      </p:cBhvr>
                                      <p:tavLst>
                                        <p:tav tm="0">
                                          <p:val>
                                            <p:fltVal val="0"/>
                                          </p:val>
                                        </p:tav>
                                        <p:tav tm="100000">
                                          <p:val>
                                            <p:strVal val="#ppt_h"/>
                                          </p:val>
                                        </p:tav>
                                      </p:tavLst>
                                    </p:anim>
                                    <p:animEffect transition="in" filter="fade">
                                      <p:cBhvr>
                                        <p:cTn id="44" dur="350"/>
                                        <p:tgtEl>
                                          <p:spTgt spid="12"/>
                                        </p:tgtEl>
                                      </p:cBhvr>
                                    </p:animEffect>
                                  </p:childTnLst>
                                </p:cTn>
                              </p:par>
                            </p:childTnLst>
                          </p:cTn>
                        </p:par>
                      </p:childTnLst>
                    </p:cTn>
                  </p:par>
                  <p:par>
                    <p:cTn id="70" fill="hold">
                      <p:stCondLst>
                        <p:cond delay="indefinite"/>
                      </p:stCondLst>
                      <p:childTnLst>
                        <p:par>
                          <p:cTn id="68"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00" fill="hold"/>
                                        <p:tgtEl>
                                          <p:spTgt spid="13"/>
                                        </p:tgtEl>
                                        <p:attrNameLst>
                                          <p:attrName>ppt_w</p:attrName>
                                        </p:attrNameLst>
                                      </p:cBhvr>
                                      <p:tavLst>
                                        <p:tav tm="0">
                                          <p:val>
                                            <p:fltVal val="0"/>
                                          </p:val>
                                        </p:tav>
                                        <p:tav tm="100000">
                                          <p:val>
                                            <p:strVal val="#ppt_w"/>
                                          </p:val>
                                        </p:tav>
                                      </p:tavLst>
                                    </p:anim>
                                    <p:anim calcmode="lin" valueType="num">
                                      <p:cBhvr additive="base">
                                        <p:cTn id="58" dur="500" fill="hold"/>
                                        <p:tgtEl>
                                          <p:spTgt spid="13"/>
                                        </p:tgtEl>
                                        <p:attrNameLst>
                                          <p:attrName>ppt_h</p:attrName>
                                        </p:attrNameLst>
                                      </p:cBhvr>
                                      <p:tavLst>
                                        <p:tav tm="0">
                                          <p:val>
                                            <p:fltVal val="0"/>
                                          </p:val>
                                        </p:tav>
                                        <p:tav tm="100000">
                                          <p:val>
                                            <p:strVal val="#ppt_h"/>
                                          </p:val>
                                        </p:tav>
                                      </p:tavLst>
                                    </p:anim>
                                    <p:animEffect transition="in" filter="fade">
                                      <p:cBhvr>
                                        <p:cTn id="59" dur="500"/>
                                        <p:tgtEl>
                                          <p:spTgt spid="1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childTnLst>
                          </p:cTn>
                        </p:par>
                        <p:par>
                          <p:cTn id="69" fill="hold">
                            <p:stCondLst>
                              <p:cond delay="500"/>
                            </p:stCondLst>
                            <p:childTnLst>
                              <p:par>
                                <p:cTn id="63" presetID="53" presetClass="entr" presetSubtype="16" fill="hold" grpId="0" nodeType="after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600" fill="hold"/>
                                        <p:tgtEl>
                                          <p:spTgt spid="15"/>
                                        </p:tgtEl>
                                        <p:attrNameLst>
                                          <p:attrName>ppt_w</p:attrName>
                                        </p:attrNameLst>
                                      </p:cBhvr>
                                      <p:tavLst>
                                        <p:tav tm="0">
                                          <p:val>
                                            <p:fltVal val="0"/>
                                          </p:val>
                                        </p:tav>
                                        <p:tav tm="100000">
                                          <p:val>
                                            <p:strVal val="#ppt_w"/>
                                          </p:val>
                                        </p:tav>
                                      </p:tavLst>
                                    </p:anim>
                                    <p:anim calcmode="lin" valueType="num">
                                      <p:cBhvr additive="base">
                                        <p:cTn id="66" dur="600" fill="hold"/>
                                        <p:tgtEl>
                                          <p:spTgt spid="15"/>
                                        </p:tgtEl>
                                        <p:attrNameLst>
                                          <p:attrName>ppt_h</p:attrName>
                                        </p:attrNameLst>
                                      </p:cBhvr>
                                      <p:tavLst>
                                        <p:tav tm="0">
                                          <p:val>
                                            <p:fltVal val="0"/>
                                          </p:val>
                                        </p:tav>
                                        <p:tav tm="100000">
                                          <p:val>
                                            <p:strVal val="#ppt_h"/>
                                          </p:val>
                                        </p:tav>
                                      </p:tavLst>
                                    </p:anim>
                                    <p:animEffect transition="in" filter="fade">
                                      <p:cBhvr>
                                        <p:cTn id="67"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2" name=""/>
        <p:cNvGrpSpPr/>
        <p:nvPr/>
      </p:nvGrpSpPr>
      <p:grpSpPr>
        <a:xfrm>
          <a:off x="0" y="0"/>
          <a:ext cx="0" cy="0"/>
          <a:chOff x="0" y="0"/>
          <a:chExt cx="0" cy="0"/>
        </a:xfrm>
      </p:grpSpPr>
      <p:sp>
        <p:nvSpPr>
          <p:cNvPr id="3" name="anim_16_151"/>
          <p:cNvSpPr/>
          <p:nvPr/>
        </p:nvSpPr>
        <p:spPr>
          <a:xfrm>
            <a:off x="6355080" y="502920"/>
            <a:ext cx="539496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أنت الكيميائي</a:t>
            </a:r>
            <a:endParaRPr lang="ar-KW" sz="3600" dirty="0"/>
          </a:p>
        </p:txBody>
      </p:sp>
      <p:pic>
        <p:nvPicPr>
          <p:cNvPr id="4" name="anim_16_152" descr="sp_teal.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16_153" descr="badge_chem.png">    </p:cNvPr>
          <p:cNvPicPr>
            <a:picLocks noChangeAspect="1"/>
          </p:cNvPicPr>
          <p:nvPr/>
        </p:nvPicPr>
        <p:blipFill>
          <a:blip r:embed="rId2"/>
          <a:stretch>
            <a:fillRect/>
          </a:stretch>
        </p:blipFill>
        <p:spPr>
          <a:xfrm>
            <a:off x="4937760" y="292608"/>
            <a:ext cx="1280160" cy="1280160"/>
          </a:xfrm>
          <a:prstGeom prst="rect">
            <a:avLst/>
          </a:prstGeom>
        </p:spPr>
      </p:pic>
      <p:sp>
        <p:nvSpPr>
          <p:cNvPr id="6" name="anim_16_154"/>
          <p:cNvSpPr txBox="1"/>
          <p:nvPr/>
        </p:nvSpPr>
        <p:spPr>
          <a:xfrm>
            <a:off x="457200" y="1645920"/>
            <a:ext cx="11292840" cy="91440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F6FB2"/>
                </a:solidFill>
                <a:latin typeface="Arial" pitchFamily="34" charset="0"/>
                <a:ea typeface="Arial" pitchFamily="34" charset="-122"/>
                <a:cs typeface="Arial" pitchFamily="34" charset="-120"/>
              </a:rPr>
              <a:t>2 – أحد المركبات التالية له أكبر خاصية أيونية: استخدم الجدول المقابل لقيم السالبية الكهربائية حسب مقياس باولنج.</a:t>
            </a:r>
            <a:endParaRPr lang="ar-KW" sz="2400" dirty="0"/>
          </a:p>
        </p:txBody>
      </p:sp>
      <p:sp>
        <p:nvSpPr>
          <p:cNvPr id="7" name="anim_16_155"/>
          <p:cNvSpPr/>
          <p:nvPr/>
        </p:nvSpPr>
        <p:spPr>
          <a:xfrm>
            <a:off x="429768" y="2441448"/>
            <a:ext cx="3986784" cy="3977640"/>
          </a:xfrm>
          <a:prstGeom prst="roundRect">
            <a:avLst>
              <a:gd name="adj" fmla="val 8046"/>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8" name="anim_16_156"/>
          <p:cNvGraphicFramePr>
            <a:graphicFrameLocks noGrp="1"/>
          </p:cNvGraphicFramePr>
          <p:nvPr>
            <p:extLst>
              <p:ext uri="{D42A27DB-BD31-4B8C-83A1-F6EECF244321}">
                <p14:modId xmlns:p14="http://schemas.microsoft.com/office/powerpoint/2010/main" val="1579011935"/>
              </p:ext>
            </p:extLst>
          </p:nvPr>
        </p:nvGraphicFramePr>
        <p:xfrm>
          <a:off x="685800" y="2697480"/>
          <a:ext cx="3474720" cy="914400"/>
        </p:xfrm>
        <a:graphic>
          <a:graphicData uri="http://schemas.openxmlformats.org/drawingml/2006/table">
            <a:tbl>
              <a:tblPr/>
              <a:tblGrid>
                <a:gridCol w="2103120"/>
                <a:gridCol w="1371600"/>
              </a:tblGrid>
              <a:tr h="457200">
                <a:tc>
                  <a:txBody>
                    <a:bodyPr/>
                    <a:lstStyle/>
                    <a:p>
                      <a:pPr rtl="1" algn="ctr" indent="0" marL="0">
                        <a:buNone/>
                      </a:pPr>
                      <a:r>
                        <a:rPr lang="en-US" sz="1800" b="1" dirty="0">
                          <a:solidFill>
                            <a:srgbClr val="16325C"/>
                          </a:solidFill>
                          <a:latin typeface="Arial" pitchFamily="34" charset="0"/>
                          <a:ea typeface="Arial" pitchFamily="34" charset="-122"/>
                          <a:cs typeface="Arial" pitchFamily="34" charset="-120"/>
                        </a:rPr>
                        <a:t>قيم السالبية الكهربائية</a:t>
                      </a:r>
                      <a:endParaRPr lang="en-US" sz="1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1800" b="1" dirty="0">
                          <a:solidFill>
                            <a:srgbClr val="16325C"/>
                          </a:solidFill>
                          <a:latin typeface="Arial" pitchFamily="34" charset="0"/>
                          <a:ea typeface="Arial" pitchFamily="34" charset="-122"/>
                          <a:cs typeface="Arial" pitchFamily="34" charset="-120"/>
                        </a:rPr>
                        <a:t>رمز العنصر</a:t>
                      </a:r>
                      <a:endParaRPr lang="en-US" sz="1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429768">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0.8</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K</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r h="429768">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0.9</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Na</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r h="429768">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1.0</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Li</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r h="429768">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1.2</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Mg</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r h="429768">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3.0</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Cl</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r h="429768">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3.5</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O</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r h="429768">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4.0</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200" b="1" dirty="0">
                          <a:solidFill>
                            <a:srgbClr val="16325C"/>
                          </a:solidFill>
                          <a:latin typeface="Arial" pitchFamily="34" charset="0"/>
                          <a:ea typeface="Arial" pitchFamily="34" charset="-122"/>
                          <a:cs typeface="Arial" pitchFamily="34" charset="-120"/>
                        </a:rPr>
                        <a:t>F</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bl>
          </a:graphicData>
        </a:graphic>
      </p:graphicFrame>
      <p:sp>
        <p:nvSpPr>
          <p:cNvPr id="9" name="anim_16_157"/>
          <p:cNvSpPr/>
          <p:nvPr/>
        </p:nvSpPr>
        <p:spPr>
          <a:xfrm>
            <a:off x="4572000" y="2743200"/>
            <a:ext cx="7178040" cy="3383280"/>
          </a:xfrm>
          <a:prstGeom prst="roundRect">
            <a:avLst>
              <a:gd name="adj" fmla="val 8108"/>
            </a:avLst>
          </a:prstGeom>
          <a:solidFill>
            <a:srgbClr val="FFFFFF">
              <a:alpha val="95000"/>
            </a:srgbClr>
          </a:solidFill>
          <a:ln/>
          <a:effectLst>
            <a:outerShdw sx="100000" sy="100000" kx="0" ky="0" algn="bl" rotWithShape="0" blurRad="152400" dist="50800" dir="5400000">
              <a:srgbClr val="1F4F8A">
                <a:alpha val="18000"/>
              </a:srgbClr>
            </a:outerShdw>
          </a:effectLst>
        </p:spPr>
      </p:sp>
      <p:sp>
        <p:nvSpPr>
          <p:cNvPr id="10" name="anim_16_158"/>
          <p:cNvSpPr txBox="1"/>
          <p:nvPr/>
        </p:nvSpPr>
        <p:spPr>
          <a:xfrm>
            <a:off x="10058400" y="2926080"/>
            <a:ext cx="16002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2800" b="1" dirty="0">
                <a:solidFill>
                  <a:srgbClr val="16325C"/>
                </a:solidFill>
                <a:latin typeface="Arial" pitchFamily="34" charset="0"/>
                <a:ea typeface="Arial" pitchFamily="34" charset="-122"/>
                <a:cs typeface="Arial" pitchFamily="34" charset="-120"/>
              </a:rPr>
              <a:t>Na</a:t>
            </a:r>
            <a:r>
              <a:rPr lang="en-US" altLang="en-US" sz="2800" b="1" dirty="0">
                <a:solidFill>
                  <a:srgbClr val="16325C"/>
                </a:solidFill>
                <a:latin typeface="Arial" pitchFamily="34" charset="0"/>
                <a:ea typeface="Arial" pitchFamily="34" charset="-122"/>
                <a:cs typeface="Arial" pitchFamily="34" charset="-120"/>
              </a:rPr>
              <a:t>Cl</a:t>
            </a:r>
            <a:r>
              <a:rPr lang="en-US" altLang="en-US" sz="2800" b="1" dirty="0">
                <a:solidFill>
                  <a:srgbClr val="7A8CA8"/>
                </a:solidFill>
                <a:latin typeface="Arial" pitchFamily="34" charset="0"/>
                <a:ea typeface="Arial" pitchFamily="34" charset="-122"/>
                <a:cs typeface="Arial" pitchFamily="34" charset="-120"/>
              </a:rPr>
              <a:t> ❏</a:t>
            </a:r>
            <a:endParaRPr lang="en-US" sz="2800" dirty="0"/>
          </a:p>
        </p:txBody>
      </p:sp>
      <p:sp>
        <p:nvSpPr>
          <p:cNvPr id="11" name="anim_16_159"/>
          <p:cNvSpPr txBox="1"/>
          <p:nvPr/>
        </p:nvSpPr>
        <p:spPr>
          <a:xfrm>
            <a:off x="8366760" y="2926080"/>
            <a:ext cx="16002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2800" b="1" dirty="0">
                <a:solidFill>
                  <a:srgbClr val="16325C"/>
                </a:solidFill>
                <a:latin typeface="Arial" pitchFamily="34" charset="0"/>
                <a:ea typeface="Arial" pitchFamily="34" charset="-122"/>
                <a:cs typeface="Arial" pitchFamily="34" charset="-120"/>
              </a:rPr>
              <a:t>K</a:t>
            </a:r>
            <a:r>
              <a:rPr lang="en-US" altLang="en-US" sz="2800" b="1" baseline="-40000" dirty="0">
                <a:solidFill>
                  <a:srgbClr val="16325C"/>
                </a:solidFill>
                <a:latin typeface="Arial" pitchFamily="34" charset="0"/>
                <a:ea typeface="Arial" pitchFamily="34" charset="-122"/>
                <a:cs typeface="Arial" pitchFamily="34" charset="-120"/>
              </a:rPr>
              <a:t>2</a:t>
            </a:r>
            <a:r>
              <a:rPr lang="en-US" altLang="en-US" sz="2800" b="1" dirty="0">
                <a:solidFill>
                  <a:srgbClr val="16325C"/>
                </a:solidFill>
                <a:latin typeface="Arial" pitchFamily="34" charset="0"/>
                <a:ea typeface="Arial" pitchFamily="34" charset="-122"/>
                <a:cs typeface="Arial" pitchFamily="34" charset="-120"/>
              </a:rPr>
              <a:t>O</a:t>
            </a:r>
            <a:r>
              <a:rPr lang="en-US" altLang="en-US" sz="2800" b="1" dirty="0">
                <a:solidFill>
                  <a:srgbClr val="7A8CA8"/>
                </a:solidFill>
                <a:latin typeface="Arial" pitchFamily="34" charset="0"/>
                <a:ea typeface="Arial" pitchFamily="34" charset="-122"/>
                <a:cs typeface="Arial" pitchFamily="34" charset="-120"/>
              </a:rPr>
              <a:t> ❏</a:t>
            </a:r>
            <a:endParaRPr lang="en-US" sz="2800" dirty="0"/>
          </a:p>
        </p:txBody>
      </p:sp>
      <p:sp>
        <p:nvSpPr>
          <p:cNvPr id="12" name="anim_16_160"/>
          <p:cNvSpPr txBox="1"/>
          <p:nvPr/>
        </p:nvSpPr>
        <p:spPr>
          <a:xfrm>
            <a:off x="6675120" y="2926080"/>
            <a:ext cx="16002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2800" b="1" dirty="0">
                <a:solidFill>
                  <a:srgbClr val="16325C"/>
                </a:solidFill>
                <a:latin typeface="Arial" pitchFamily="34" charset="0"/>
                <a:ea typeface="Arial" pitchFamily="34" charset="-122"/>
                <a:cs typeface="Arial" pitchFamily="34" charset="-120"/>
              </a:rPr>
              <a:t>Mg</a:t>
            </a:r>
            <a:r>
              <a:rPr lang="en-US" altLang="en-US" sz="2800" b="1" dirty="0">
                <a:solidFill>
                  <a:srgbClr val="16325C"/>
                </a:solidFill>
                <a:latin typeface="Arial" pitchFamily="34" charset="0"/>
                <a:ea typeface="Arial" pitchFamily="34" charset="-122"/>
                <a:cs typeface="Arial" pitchFamily="34" charset="-120"/>
              </a:rPr>
              <a:t>F</a:t>
            </a:r>
            <a:r>
              <a:rPr lang="en-US" altLang="en-US" sz="2800" b="1" baseline="-40000" dirty="0">
                <a:solidFill>
                  <a:srgbClr val="16325C"/>
                </a:solidFill>
                <a:latin typeface="Arial" pitchFamily="34" charset="0"/>
                <a:ea typeface="Arial" pitchFamily="34" charset="-122"/>
                <a:cs typeface="Arial" pitchFamily="34" charset="-120"/>
              </a:rPr>
              <a:t>2</a:t>
            </a:r>
            <a:r>
              <a:rPr lang="en-US" altLang="en-US" sz="2800" b="1" dirty="0">
                <a:solidFill>
                  <a:srgbClr val="7A8CA8"/>
                </a:solidFill>
                <a:latin typeface="Arial" pitchFamily="34" charset="0"/>
                <a:ea typeface="Arial" pitchFamily="34" charset="-122"/>
                <a:cs typeface="Arial" pitchFamily="34" charset="-120"/>
              </a:rPr>
              <a:t> ❏</a:t>
            </a:r>
            <a:endParaRPr lang="en-US" sz="2800" dirty="0"/>
          </a:p>
        </p:txBody>
      </p:sp>
      <p:sp>
        <p:nvSpPr>
          <p:cNvPr id="13" name="anim_16_161"/>
          <p:cNvSpPr txBox="1"/>
          <p:nvPr/>
        </p:nvSpPr>
        <p:spPr>
          <a:xfrm>
            <a:off x="4983480" y="2926080"/>
            <a:ext cx="16002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2800" b="1" dirty="0">
                <a:solidFill>
                  <a:srgbClr val="16325C"/>
                </a:solidFill>
                <a:latin typeface="Arial" pitchFamily="34" charset="0"/>
                <a:ea typeface="Arial" pitchFamily="34" charset="-122"/>
                <a:cs typeface="Arial" pitchFamily="34" charset="-120"/>
              </a:rPr>
              <a:t>Li</a:t>
            </a:r>
            <a:r>
              <a:rPr lang="en-US" altLang="en-US" sz="2800" b="1" dirty="0">
                <a:solidFill>
                  <a:srgbClr val="16325C"/>
                </a:solidFill>
                <a:latin typeface="Arial" pitchFamily="34" charset="0"/>
                <a:ea typeface="Arial" pitchFamily="34" charset="-122"/>
                <a:cs typeface="Arial" pitchFamily="34" charset="-120"/>
              </a:rPr>
              <a:t>F</a:t>
            </a:r>
            <a:r>
              <a:rPr lang="en-US" altLang="en-US" sz="2800" b="1" dirty="0">
                <a:solidFill>
                  <a:srgbClr val="7A8CA8"/>
                </a:solidFill>
                <a:latin typeface="Arial" pitchFamily="34" charset="0"/>
                <a:ea typeface="Arial" pitchFamily="34" charset="-122"/>
                <a:cs typeface="Arial" pitchFamily="34" charset="-120"/>
              </a:rPr>
              <a:t> ❏</a:t>
            </a:r>
            <a:endParaRPr lang="en-US" sz="2800" dirty="0"/>
          </a:p>
        </p:txBody>
      </p:sp>
      <p:sp>
        <p:nvSpPr>
          <p:cNvPr id="14" name="anim_16_162"/>
          <p:cNvSpPr txBox="1"/>
          <p:nvPr/>
        </p:nvSpPr>
        <p:spPr>
          <a:xfrm>
            <a:off x="5669280" y="3749040"/>
            <a:ext cx="4937760" cy="502920"/>
          </a:xfrm>
          <a:prstGeom prst="rect">
            <a:avLst/>
          </a:prstGeom>
          <a:noFill/>
          <a:ln/>
        </p:spPr>
        <p:txBody>
          <a:bodyPr wrap="square" lIns="50800" tIns="50800" rIns="50800" bIns="50800" rtlCol="0" anchor="ctr"/>
          <a:lstStyle/>
          <a:p>
            <a:pPr rtl="0" algn="l" indent="0" marL="0">
              <a:lnSpc>
                <a:spcPct val="105000"/>
              </a:lnSpc>
              <a:spcAft>
                <a:spcPts val="600"/>
              </a:spcAft>
              <a:buNone/>
            </a:pPr>
            <a:r>
              <a:rPr lang="en-US" altLang="en-US" sz="2400" b="1" dirty="0">
                <a:solidFill>
                  <a:srgbClr val="16325C"/>
                </a:solidFill>
                <a:latin typeface="Arial" pitchFamily="34" charset="0"/>
                <a:ea typeface="Arial" pitchFamily="34" charset="-122"/>
                <a:cs typeface="Arial" pitchFamily="34" charset="-120"/>
              </a:rPr>
              <a:t>Na</a:t>
            </a:r>
            <a:r>
              <a:rPr lang="en-US" altLang="en-US" sz="2400" b="1" dirty="0">
                <a:solidFill>
                  <a:srgbClr val="16325C"/>
                </a:solidFill>
                <a:latin typeface="Arial" pitchFamily="34" charset="0"/>
                <a:ea typeface="Arial" pitchFamily="34" charset="-122"/>
                <a:cs typeface="Arial" pitchFamily="34" charset="-120"/>
              </a:rPr>
              <a:t>Cl</a:t>
            </a:r>
            <a:r>
              <a:rPr lang="en-US" altLang="en-US" sz="2400" b="1" dirty="0">
                <a:solidFill>
                  <a:srgbClr val="16325C"/>
                </a:solidFill>
                <a:latin typeface="Arial" pitchFamily="34" charset="0"/>
                <a:ea typeface="Arial" pitchFamily="34" charset="-122"/>
                <a:cs typeface="Arial" pitchFamily="34" charset="-120"/>
              </a:rPr>
              <a:t> = 3.0 – 0.9 = 2.1</a:t>
            </a:r>
            <a:endParaRPr lang="en-US" sz="2400" dirty="0"/>
          </a:p>
        </p:txBody>
      </p:sp>
      <p:sp>
        <p:nvSpPr>
          <p:cNvPr id="15" name="anim_16_163"/>
          <p:cNvSpPr txBox="1"/>
          <p:nvPr/>
        </p:nvSpPr>
        <p:spPr>
          <a:xfrm>
            <a:off x="5669280" y="4297680"/>
            <a:ext cx="4937760" cy="502920"/>
          </a:xfrm>
          <a:prstGeom prst="rect">
            <a:avLst/>
          </a:prstGeom>
          <a:noFill/>
          <a:ln/>
        </p:spPr>
        <p:txBody>
          <a:bodyPr wrap="square" lIns="50800" tIns="50800" rIns="50800" bIns="50800" rtlCol="0" anchor="ctr"/>
          <a:lstStyle/>
          <a:p>
            <a:pPr rtl="0" algn="l" indent="0" marL="0">
              <a:lnSpc>
                <a:spcPct val="105000"/>
              </a:lnSpc>
              <a:spcAft>
                <a:spcPts val="600"/>
              </a:spcAft>
              <a:buNone/>
            </a:pPr>
            <a:r>
              <a:rPr lang="en-US" altLang="en-US" sz="2400" b="1" dirty="0">
                <a:solidFill>
                  <a:srgbClr val="16325C"/>
                </a:solidFill>
                <a:latin typeface="Arial" pitchFamily="34" charset="0"/>
                <a:ea typeface="Arial" pitchFamily="34" charset="-122"/>
                <a:cs typeface="Arial" pitchFamily="34" charset="-120"/>
              </a:rPr>
              <a:t>K</a:t>
            </a:r>
            <a:r>
              <a:rPr lang="en-US" altLang="en-US" sz="2400" b="1" baseline="-40000" dirty="0">
                <a:solidFill>
                  <a:srgbClr val="16325C"/>
                </a:solidFill>
                <a:latin typeface="Arial" pitchFamily="34" charset="0"/>
                <a:ea typeface="Arial" pitchFamily="34" charset="-122"/>
                <a:cs typeface="Arial" pitchFamily="34" charset="-120"/>
              </a:rPr>
              <a:t>2</a:t>
            </a:r>
            <a:r>
              <a:rPr lang="en-US" altLang="en-US" sz="2400" b="1" dirty="0">
                <a:solidFill>
                  <a:srgbClr val="16325C"/>
                </a:solidFill>
                <a:latin typeface="Arial" pitchFamily="34" charset="0"/>
                <a:ea typeface="Arial" pitchFamily="34" charset="-122"/>
                <a:cs typeface="Arial" pitchFamily="34" charset="-120"/>
              </a:rPr>
              <a:t>O</a:t>
            </a:r>
            <a:r>
              <a:rPr lang="en-US" altLang="en-US" sz="2400" b="1" dirty="0">
                <a:solidFill>
                  <a:srgbClr val="16325C"/>
                </a:solidFill>
                <a:latin typeface="Arial" pitchFamily="34" charset="0"/>
                <a:ea typeface="Arial" pitchFamily="34" charset="-122"/>
                <a:cs typeface="Arial" pitchFamily="34" charset="-120"/>
              </a:rPr>
              <a:t> = 3.5 – 0.8 = 2.7</a:t>
            </a:r>
            <a:endParaRPr lang="en-US" sz="2400" dirty="0"/>
          </a:p>
        </p:txBody>
      </p:sp>
      <p:sp>
        <p:nvSpPr>
          <p:cNvPr id="16" name="anim_16_164"/>
          <p:cNvSpPr txBox="1"/>
          <p:nvPr/>
        </p:nvSpPr>
        <p:spPr>
          <a:xfrm>
            <a:off x="5669280" y="4846320"/>
            <a:ext cx="4937760" cy="502920"/>
          </a:xfrm>
          <a:prstGeom prst="rect">
            <a:avLst/>
          </a:prstGeom>
          <a:noFill/>
          <a:ln/>
        </p:spPr>
        <p:txBody>
          <a:bodyPr wrap="square" lIns="50800" tIns="50800" rIns="50800" bIns="50800" rtlCol="0" anchor="ctr"/>
          <a:lstStyle/>
          <a:p>
            <a:pPr rtl="0" algn="l" indent="0" marL="0">
              <a:lnSpc>
                <a:spcPct val="105000"/>
              </a:lnSpc>
              <a:spcAft>
                <a:spcPts val="600"/>
              </a:spcAft>
              <a:buNone/>
            </a:pPr>
            <a:r>
              <a:rPr lang="en-US" altLang="en-US" sz="2400" b="1" dirty="0">
                <a:solidFill>
                  <a:srgbClr val="16325C"/>
                </a:solidFill>
                <a:latin typeface="Arial" pitchFamily="34" charset="0"/>
                <a:ea typeface="Arial" pitchFamily="34" charset="-122"/>
                <a:cs typeface="Arial" pitchFamily="34" charset="-120"/>
              </a:rPr>
              <a:t>Mg</a:t>
            </a:r>
            <a:r>
              <a:rPr lang="en-US" altLang="en-US" sz="2400" b="1" dirty="0">
                <a:solidFill>
                  <a:srgbClr val="16325C"/>
                </a:solidFill>
                <a:latin typeface="Arial" pitchFamily="34" charset="0"/>
                <a:ea typeface="Arial" pitchFamily="34" charset="-122"/>
                <a:cs typeface="Arial" pitchFamily="34" charset="-120"/>
              </a:rPr>
              <a:t>F</a:t>
            </a:r>
            <a:r>
              <a:rPr lang="en-US" altLang="en-US" sz="2400" b="1" baseline="-40000" dirty="0">
                <a:solidFill>
                  <a:srgbClr val="16325C"/>
                </a:solidFill>
                <a:latin typeface="Arial" pitchFamily="34" charset="0"/>
                <a:ea typeface="Arial" pitchFamily="34" charset="-122"/>
                <a:cs typeface="Arial" pitchFamily="34" charset="-120"/>
              </a:rPr>
              <a:t>2</a:t>
            </a:r>
            <a:r>
              <a:rPr lang="en-US" altLang="en-US" sz="2400" b="1" dirty="0">
                <a:solidFill>
                  <a:srgbClr val="16325C"/>
                </a:solidFill>
                <a:latin typeface="Arial" pitchFamily="34" charset="0"/>
                <a:ea typeface="Arial" pitchFamily="34" charset="-122"/>
                <a:cs typeface="Arial" pitchFamily="34" charset="-120"/>
              </a:rPr>
              <a:t> = 4.0 – 1.2 = 2.8</a:t>
            </a:r>
            <a:endParaRPr lang="en-US" sz="2400" dirty="0"/>
          </a:p>
        </p:txBody>
      </p:sp>
      <p:sp>
        <p:nvSpPr>
          <p:cNvPr id="17" name="anim_16_165"/>
          <p:cNvSpPr txBox="1"/>
          <p:nvPr/>
        </p:nvSpPr>
        <p:spPr>
          <a:xfrm>
            <a:off x="5669280" y="5394960"/>
            <a:ext cx="4937760" cy="502920"/>
          </a:xfrm>
          <a:prstGeom prst="rect">
            <a:avLst/>
          </a:prstGeom>
          <a:noFill/>
          <a:ln/>
        </p:spPr>
        <p:txBody>
          <a:bodyPr wrap="square" lIns="50800" tIns="50800" rIns="50800" bIns="50800" rtlCol="0" anchor="ctr"/>
          <a:lstStyle/>
          <a:p>
            <a:pPr rtl="0" algn="l"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Li</a:t>
            </a:r>
            <a:r>
              <a:rPr lang="en-US" altLang="en-US" sz="2400" b="1" dirty="0">
                <a:solidFill>
                  <a:srgbClr val="0B8A5A"/>
                </a:solidFill>
                <a:latin typeface="Arial" pitchFamily="34" charset="0"/>
                <a:ea typeface="Arial" pitchFamily="34" charset="-122"/>
                <a:cs typeface="Arial" pitchFamily="34" charset="-120"/>
              </a:rPr>
              <a:t>F</a:t>
            </a:r>
            <a:r>
              <a:rPr lang="en-US" altLang="en-US" sz="2400" b="1" dirty="0">
                <a:solidFill>
                  <a:srgbClr val="0B8A5A"/>
                </a:solidFill>
                <a:latin typeface="Arial" pitchFamily="34" charset="0"/>
                <a:ea typeface="Arial" pitchFamily="34" charset="-122"/>
                <a:cs typeface="Arial" pitchFamily="34" charset="-120"/>
              </a:rPr>
              <a:t> = 4.0 – 1.0 = 3.0</a:t>
            </a:r>
            <a:endParaRPr lang="en-US" sz="2400" dirty="0"/>
          </a:p>
        </p:txBody>
      </p:sp>
      <p:sp>
        <p:nvSpPr>
          <p:cNvPr id="18" name="anim_16_166"/>
          <p:cNvSpPr/>
          <p:nvPr/>
        </p:nvSpPr>
        <p:spPr>
          <a:xfrm>
            <a:off x="4937760" y="2907792"/>
            <a:ext cx="1691640" cy="768096"/>
          </a:xfrm>
          <a:prstGeom prst="roundRect">
            <a:avLst>
              <a:gd name="adj" fmla="val 50000"/>
            </a:avLst>
          </a:prstGeom>
          <a:solidFill>
            <a:srgbClr val="0B8A5A">
              <a:alpha val="15000"/>
            </a:srgbClr>
          </a:solidFill>
          <a:ln w="38100">
            <a:solidFill>
              <a:srgbClr val="0B8A5A"/>
            </a:solidFill>
            <a:prstDash val="solid"/>
          </a:ln>
        </p:spPr>
      </p:sp>
      <p:sp>
        <p:nvSpPr>
          <p:cNvPr id="19" name="anim_16_167"/>
          <p:cNvSpPr txBox="1"/>
          <p:nvPr/>
        </p:nvSpPr>
        <p:spPr>
          <a:xfrm>
            <a:off x="4617720" y="2697480"/>
            <a:ext cx="548640" cy="548640"/>
          </a:xfrm>
          <a:prstGeom prst="ellipse">
            <a:avLst/>
          </a:prstGeom>
          <a:solidFill>
            <a:srgbClr val="0B8A5A"/>
          </a:solidFill>
          <a:ln/>
        </p:spPr>
        <p:txBody>
          <a:bodyPr wrap="square" lIns="0" tIns="0" rIns="0" bIns="0" rtlCol="0" anchor="ctr"/>
          <a:lstStyle/>
          <a:p>
            <a:pPr rtl="0" algn="ctr" indent="0" marL="0">
              <a:lnSpc>
                <a:spcPct val="105000"/>
              </a:lnSpc>
              <a:spcAft>
                <a:spcPts val="600"/>
              </a:spcAft>
              <a:buNone/>
            </a:pPr>
            <a:r>
              <a:rPr lang="en-US" altLang="en-US" sz="2400" b="1" dirty="0">
                <a:solidFill>
                  <a:srgbClr val="FFFFFF"/>
                </a:solidFill>
                <a:latin typeface="Arial" pitchFamily="34" charset="0"/>
                <a:ea typeface="Arial" pitchFamily="34" charset="-122"/>
                <a:cs typeface="Arial" pitchFamily="34" charset="-120"/>
              </a:rPr>
              <a:t>✓</a:t>
            </a:r>
            <a:endParaRPr lang="en-US" sz="2400" dirty="0"/>
          </a:p>
        </p:txBody>
      </p:sp>
    </p:spTree>
  </p:cSld>
  <p:clrMapOvr>
    <a:masterClrMapping/>
  </p:clrMapOvr>
  <p:transition spd="slow">
    <p:cover dir="l"/>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50"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51"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52" fill="hold">
                            <p:stCondLst>
                              <p:cond delay="140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1200"/>
                                        <p:tgtEl>
                                          <p:spTgt spid="6"/>
                                        </p:tgtEl>
                                      </p:cBhvr>
                                    </p:animEffect>
                                  </p:childTnLst>
                                </p:cTn>
                              </p:par>
                            </p:childTnLst>
                          </p:cTn>
                        </p:par>
                        <p:par>
                          <p:cTn id="53" fill="hold">
                            <p:stCondLst>
                              <p:cond delay="26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p:tgtEl>
                                          <p:spTgt spid="7"/>
                                        </p:tgtEl>
                                        <p:attrNameLst>
                                          <p:attrName>ppt_w</p:attrName>
                                        </p:attrNameLst>
                                      </p:cBhvr>
                                      <p:tavLst>
                                        <p:tav tm="0">
                                          <p:val>
                                            <p:fltVal val="0"/>
                                          </p:val>
                                        </p:tav>
                                        <p:tav tm="100000">
                                          <p:val>
                                            <p:strVal val="#ppt_w"/>
                                          </p:val>
                                        </p:tav>
                                      </p:tavLst>
                                    </p:anim>
                                    <p:anim calcmode="lin" valueType="num">
                                      <p:cBhvr additive="base">
                                        <p:cTn id="22" dur="600" fill="hold"/>
                                        <p:tgtEl>
                                          <p:spTgt spid="7"/>
                                        </p:tgtEl>
                                        <p:attrNameLst>
                                          <p:attrName>ppt_h</p:attrName>
                                        </p:attrNameLst>
                                      </p:cBhvr>
                                      <p:tavLst>
                                        <p:tav tm="0">
                                          <p:val>
                                            <p:fltVal val="0"/>
                                          </p:val>
                                        </p:tav>
                                        <p:tav tm="100000">
                                          <p:val>
                                            <p:strVal val="#ppt_h"/>
                                          </p:val>
                                        </p:tav>
                                      </p:tavLst>
                                    </p:anim>
                                    <p:animEffect transition="in" filter="fade">
                                      <p:cBhvr>
                                        <p:cTn id="23" dur="600"/>
                                        <p:tgtEl>
                                          <p:spTgt spid="7"/>
                                        </p:tgtEl>
                                      </p:cBhvr>
                                    </p:animEffect>
                                  </p:childTnLst>
                                </p:cTn>
                              </p:par>
                            </p:childTnLst>
                          </p:cTn>
                        </p:par>
                        <p:par>
                          <p:cTn id="54" fill="hold">
                            <p:stCondLst>
                              <p:cond delay="320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700"/>
                                        <p:tgtEl>
                                          <p:spTgt spid="8"/>
                                        </p:tgtEl>
                                      </p:cBhvr>
                                    </p:animEffect>
                                  </p:childTnLst>
                                </p:cTn>
                              </p:par>
                            </p:childTnLst>
                          </p:cTn>
                        </p:par>
                        <p:par>
                          <p:cTn id="55" fill="hold">
                            <p:stCondLst>
                              <p:cond delay="3900"/>
                            </p:stCondLst>
                            <p:childTnLst>
                              <p:par>
                                <p:cTn id="27" presetID="10" presetClass="entr" presetSubtype="0"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00"/>
                                        <p:tgtEl>
                                          <p:spTgt spid="9"/>
                                        </p:tgtEl>
                                      </p:cBhvr>
                                    </p:animEffect>
                                  </p:childTnLst>
                                </p:cTn>
                              </p:par>
                            </p:childTnLst>
                          </p:cTn>
                        </p:par>
                        <p:par>
                          <p:cTn id="56" fill="hold">
                            <p:stCondLst>
                              <p:cond delay="4300"/>
                            </p:stCondLst>
                            <p:childTnLst>
                              <p:par>
                                <p:cTn id="30" presetID="53" presetClass="entr" presetSubtype="16"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350" fill="hold"/>
                                        <p:tgtEl>
                                          <p:spTgt spid="10"/>
                                        </p:tgtEl>
                                        <p:attrNameLst>
                                          <p:attrName>ppt_w</p:attrName>
                                        </p:attrNameLst>
                                      </p:cBhvr>
                                      <p:tavLst>
                                        <p:tav tm="0">
                                          <p:val>
                                            <p:fltVal val="0"/>
                                          </p:val>
                                        </p:tav>
                                        <p:tav tm="100000">
                                          <p:val>
                                            <p:strVal val="#ppt_w"/>
                                          </p:val>
                                        </p:tav>
                                      </p:tavLst>
                                    </p:anim>
                                    <p:anim calcmode="lin" valueType="num">
                                      <p:cBhvr additive="base">
                                        <p:cTn id="33" dur="350" fill="hold"/>
                                        <p:tgtEl>
                                          <p:spTgt spid="10"/>
                                        </p:tgtEl>
                                        <p:attrNameLst>
                                          <p:attrName>ppt_h</p:attrName>
                                        </p:attrNameLst>
                                      </p:cBhvr>
                                      <p:tavLst>
                                        <p:tav tm="0">
                                          <p:val>
                                            <p:fltVal val="0"/>
                                          </p:val>
                                        </p:tav>
                                        <p:tav tm="100000">
                                          <p:val>
                                            <p:strVal val="#ppt_h"/>
                                          </p:val>
                                        </p:tav>
                                      </p:tavLst>
                                    </p:anim>
                                    <p:animEffect transition="in" filter="fade">
                                      <p:cBhvr>
                                        <p:cTn id="34" dur="350"/>
                                        <p:tgtEl>
                                          <p:spTgt spid="10"/>
                                        </p:tgtEl>
                                      </p:cBhvr>
                                    </p:animEffect>
                                  </p:childTnLst>
                                </p:cTn>
                              </p:par>
                            </p:childTnLst>
                          </p:cTn>
                        </p:par>
                        <p:par>
                          <p:cTn id="57" fill="hold">
                            <p:stCondLst>
                              <p:cond delay="4650"/>
                            </p:stCondLst>
                            <p:childTnLst>
                              <p:par>
                                <p:cTn id="35" presetID="53" presetClass="entr" presetSubtype="16"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350" fill="hold"/>
                                        <p:tgtEl>
                                          <p:spTgt spid="11"/>
                                        </p:tgtEl>
                                        <p:attrNameLst>
                                          <p:attrName>ppt_w</p:attrName>
                                        </p:attrNameLst>
                                      </p:cBhvr>
                                      <p:tavLst>
                                        <p:tav tm="0">
                                          <p:val>
                                            <p:fltVal val="0"/>
                                          </p:val>
                                        </p:tav>
                                        <p:tav tm="100000">
                                          <p:val>
                                            <p:strVal val="#ppt_w"/>
                                          </p:val>
                                        </p:tav>
                                      </p:tavLst>
                                    </p:anim>
                                    <p:anim calcmode="lin" valueType="num">
                                      <p:cBhvr additive="base">
                                        <p:cTn id="38" dur="350" fill="hold"/>
                                        <p:tgtEl>
                                          <p:spTgt spid="11"/>
                                        </p:tgtEl>
                                        <p:attrNameLst>
                                          <p:attrName>ppt_h</p:attrName>
                                        </p:attrNameLst>
                                      </p:cBhvr>
                                      <p:tavLst>
                                        <p:tav tm="0">
                                          <p:val>
                                            <p:fltVal val="0"/>
                                          </p:val>
                                        </p:tav>
                                        <p:tav tm="100000">
                                          <p:val>
                                            <p:strVal val="#ppt_h"/>
                                          </p:val>
                                        </p:tav>
                                      </p:tavLst>
                                    </p:anim>
                                    <p:animEffect transition="in" filter="fade">
                                      <p:cBhvr>
                                        <p:cTn id="39" dur="350"/>
                                        <p:tgtEl>
                                          <p:spTgt spid="11"/>
                                        </p:tgtEl>
                                      </p:cBhvr>
                                    </p:animEffect>
                                  </p:childTnLst>
                                </p:cTn>
                              </p:par>
                            </p:childTnLst>
                          </p:cTn>
                        </p:par>
                        <p:par>
                          <p:cTn id="58" fill="hold">
                            <p:stCondLst>
                              <p:cond delay="5000"/>
                            </p:stCondLst>
                            <p:childTnLst>
                              <p:par>
                                <p:cTn id="40" presetID="53" presetClass="entr" presetSubtype="16"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50" fill="hold"/>
                                        <p:tgtEl>
                                          <p:spTgt spid="12"/>
                                        </p:tgtEl>
                                        <p:attrNameLst>
                                          <p:attrName>ppt_w</p:attrName>
                                        </p:attrNameLst>
                                      </p:cBhvr>
                                      <p:tavLst>
                                        <p:tav tm="0">
                                          <p:val>
                                            <p:fltVal val="0"/>
                                          </p:val>
                                        </p:tav>
                                        <p:tav tm="100000">
                                          <p:val>
                                            <p:strVal val="#ppt_w"/>
                                          </p:val>
                                        </p:tav>
                                      </p:tavLst>
                                    </p:anim>
                                    <p:anim calcmode="lin" valueType="num">
                                      <p:cBhvr additive="base">
                                        <p:cTn id="43" dur="350" fill="hold"/>
                                        <p:tgtEl>
                                          <p:spTgt spid="12"/>
                                        </p:tgtEl>
                                        <p:attrNameLst>
                                          <p:attrName>ppt_h</p:attrName>
                                        </p:attrNameLst>
                                      </p:cBhvr>
                                      <p:tavLst>
                                        <p:tav tm="0">
                                          <p:val>
                                            <p:fltVal val="0"/>
                                          </p:val>
                                        </p:tav>
                                        <p:tav tm="100000">
                                          <p:val>
                                            <p:strVal val="#ppt_h"/>
                                          </p:val>
                                        </p:tav>
                                      </p:tavLst>
                                    </p:anim>
                                    <p:animEffect transition="in" filter="fade">
                                      <p:cBhvr>
                                        <p:cTn id="44" dur="350"/>
                                        <p:tgtEl>
                                          <p:spTgt spid="12"/>
                                        </p:tgtEl>
                                      </p:cBhvr>
                                    </p:animEffect>
                                  </p:childTnLst>
                                </p:cTn>
                              </p:par>
                            </p:childTnLst>
                          </p:cTn>
                        </p:par>
                        <p:par>
                          <p:cTn id="59" fill="hold">
                            <p:stCondLst>
                              <p:cond delay="5350"/>
                            </p:stCondLst>
                            <p:childTnLst>
                              <p:par>
                                <p:cTn id="45" presetID="53" presetClass="entr" presetSubtype="16"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350" fill="hold"/>
                                        <p:tgtEl>
                                          <p:spTgt spid="13"/>
                                        </p:tgtEl>
                                        <p:attrNameLst>
                                          <p:attrName>ppt_w</p:attrName>
                                        </p:attrNameLst>
                                      </p:cBhvr>
                                      <p:tavLst>
                                        <p:tav tm="0">
                                          <p:val>
                                            <p:fltVal val="0"/>
                                          </p:val>
                                        </p:tav>
                                        <p:tav tm="100000">
                                          <p:val>
                                            <p:strVal val="#ppt_w"/>
                                          </p:val>
                                        </p:tav>
                                      </p:tavLst>
                                    </p:anim>
                                    <p:anim calcmode="lin" valueType="num">
                                      <p:cBhvr additive="base">
                                        <p:cTn id="48" dur="350" fill="hold"/>
                                        <p:tgtEl>
                                          <p:spTgt spid="13"/>
                                        </p:tgtEl>
                                        <p:attrNameLst>
                                          <p:attrName>ppt_h</p:attrName>
                                        </p:attrNameLst>
                                      </p:cBhvr>
                                      <p:tavLst>
                                        <p:tav tm="0">
                                          <p:val>
                                            <p:fltVal val="0"/>
                                          </p:val>
                                        </p:tav>
                                        <p:tav tm="100000">
                                          <p:val>
                                            <p:strVal val="#ppt_h"/>
                                          </p:val>
                                        </p:tav>
                                      </p:tavLst>
                                    </p:anim>
                                    <p:animEffect transition="in" filter="fade">
                                      <p:cBhvr>
                                        <p:cTn id="49" dur="350"/>
                                        <p:tgtEl>
                                          <p:spTgt spid="13"/>
                                        </p:tgtEl>
                                      </p:cBhvr>
                                    </p:animEffect>
                                  </p:childTnLst>
                                </p:cTn>
                              </p:par>
                            </p:childTnLst>
                          </p:cTn>
                        </p:par>
                      </p:childTnLst>
                    </p:cTn>
                  </p:par>
                  <p:par>
                    <p:cTn id="77" fill="hold">
                      <p:stCondLst>
                        <p:cond delay="indefinite"/>
                      </p:stCondLst>
                      <p:childTnLst>
                        <p:par>
                          <p:cTn id="73" fill="hold">
                            <p:stCondLst>
                              <p:cond delay="0"/>
                            </p:stCondLst>
                            <p:childTnLst>
                              <p:par>
                                <p:cTn id="61" presetID="22" presetClass="entr" presetSubtype="2"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wipe(right)">
                                      <p:cBhvr>
                                        <p:cTn id="63" dur="500"/>
                                        <p:tgtEl>
                                          <p:spTgt spid="14"/>
                                        </p:tgtEl>
                                      </p:cBhvr>
                                    </p:animEffect>
                                  </p:childTnLst>
                                </p:cTn>
                              </p:par>
                            </p:childTnLst>
                          </p:cTn>
                        </p:par>
                        <p:par>
                          <p:cTn id="74" fill="hold">
                            <p:stCondLst>
                              <p:cond delay="500"/>
                            </p:stCondLst>
                            <p:childTnLst>
                              <p:par>
                                <p:cTn id="64" presetID="22" presetClass="entr" presetSubtype="2" fill="hold" grpId="0"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right)">
                                      <p:cBhvr>
                                        <p:cTn id="66" dur="500"/>
                                        <p:tgtEl>
                                          <p:spTgt spid="15"/>
                                        </p:tgtEl>
                                      </p:cBhvr>
                                    </p:animEffect>
                                  </p:childTnLst>
                                </p:cTn>
                              </p:par>
                            </p:childTnLst>
                          </p:cTn>
                        </p:par>
                        <p:par>
                          <p:cTn id="75" fill="hold">
                            <p:stCondLst>
                              <p:cond delay="1000"/>
                            </p:stCondLst>
                            <p:childTnLst>
                              <p:par>
                                <p:cTn id="67" presetID="22" presetClass="entr" presetSubtype="2" fill="hold" grpId="0" nodeType="after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wipe(right)">
                                      <p:cBhvr>
                                        <p:cTn id="69" dur="500"/>
                                        <p:tgtEl>
                                          <p:spTgt spid="16"/>
                                        </p:tgtEl>
                                      </p:cBhvr>
                                    </p:animEffect>
                                  </p:childTnLst>
                                </p:cTn>
                              </p:par>
                            </p:childTnLst>
                          </p:cTn>
                        </p:par>
                        <p:par>
                          <p:cTn id="76" fill="hold">
                            <p:stCondLst>
                              <p:cond delay="1500"/>
                            </p:stCondLst>
                            <p:childTnLst>
                              <p:par>
                                <p:cTn id="70" presetID="22" presetClass="entr" presetSubtype="2"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right)">
                                      <p:cBhvr>
                                        <p:cTn id="72" dur="500"/>
                                        <p:tgtEl>
                                          <p:spTgt spid="17"/>
                                        </p:tgtEl>
                                      </p:cBhvr>
                                    </p:animEffect>
                                  </p:childTnLst>
                                </p:cTn>
                              </p:par>
                            </p:childTnLst>
                          </p:cTn>
                        </p:par>
                      </p:childTnLst>
                    </p:cTn>
                  </p:par>
                  <p:par>
                    <p:cTn id="87" fill="hold">
                      <p:stCondLst>
                        <p:cond delay="indefinite"/>
                      </p:stCondLst>
                      <p:childTnLst>
                        <p:par>
                          <p:cTn id="86"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500"/>
                                        <p:tgtEl>
                                          <p:spTgt spid="18"/>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ppt_w</p:attrName>
                                        </p:attrNameLst>
                                      </p:cBhvr>
                                      <p:tavLst>
                                        <p:tav tm="0">
                                          <p:val>
                                            <p:fltVal val="0"/>
                                          </p:val>
                                        </p:tav>
                                        <p:tav tm="100000">
                                          <p:val>
                                            <p:strVal val="#ppt_w"/>
                                          </p:val>
                                        </p:tav>
                                      </p:tavLst>
                                    </p:anim>
                                    <p:anim calcmode="lin" valueType="num">
                                      <p:cBhvr additive="base">
                                        <p:cTn id="84" dur="500" fill="hold"/>
                                        <p:tgtEl>
                                          <p:spTgt spid="19"/>
                                        </p:tgtEl>
                                        <p:attrNameLst>
                                          <p:attrName>ppt_h</p:attrName>
                                        </p:attrNameLst>
                                      </p:cBhvr>
                                      <p:tavLst>
                                        <p:tav tm="0">
                                          <p:val>
                                            <p:fltVal val="0"/>
                                          </p:val>
                                        </p:tav>
                                        <p:tav tm="100000">
                                          <p:val>
                                            <p:strVal val="#ppt_h"/>
                                          </p:val>
                                        </p:tav>
                                      </p:tavLst>
                                    </p:anim>
                                    <p:animEffect transition="in" filter="fade">
                                      <p:cBhvr>
                                        <p:cTn id="8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Graphic spid="8" grpId="0">
        <p:bldAsOne/>
      </p:bldGraphic>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2" name=""/>
        <p:cNvGrpSpPr/>
        <p:nvPr/>
      </p:nvGrpSpPr>
      <p:grpSpPr>
        <a:xfrm>
          <a:off x="0" y="0"/>
          <a:ext cx="0" cy="0"/>
          <a:chOff x="0" y="0"/>
          <a:chExt cx="0" cy="0"/>
        </a:xfrm>
      </p:grpSpPr>
      <p:sp>
        <p:nvSpPr>
          <p:cNvPr id="3" name="anim_17_168"/>
          <p:cNvSpPr/>
          <p:nvPr/>
        </p:nvSpPr>
        <p:spPr>
          <a:xfrm>
            <a:off x="6355080" y="502920"/>
            <a:ext cx="539496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أنت الكيميائي</a:t>
            </a:r>
            <a:endParaRPr lang="ar-KW" sz="3600" dirty="0"/>
          </a:p>
        </p:txBody>
      </p:sp>
      <p:pic>
        <p:nvPicPr>
          <p:cNvPr id="4" name="anim_17_169" descr="sp_teal.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17_170" descr="badge_chem.png">    </p:cNvPr>
          <p:cNvPicPr>
            <a:picLocks noChangeAspect="1"/>
          </p:cNvPicPr>
          <p:nvPr/>
        </p:nvPicPr>
        <p:blipFill>
          <a:blip r:embed="rId2"/>
          <a:stretch>
            <a:fillRect/>
          </a:stretch>
        </p:blipFill>
        <p:spPr>
          <a:xfrm>
            <a:off x="4937760" y="292608"/>
            <a:ext cx="1280160" cy="1280160"/>
          </a:xfrm>
          <a:prstGeom prst="rect">
            <a:avLst/>
          </a:prstGeom>
        </p:spPr>
      </p:pic>
      <p:sp>
        <p:nvSpPr>
          <p:cNvPr id="6" name="anim_17_171"/>
          <p:cNvSpPr txBox="1"/>
          <p:nvPr/>
        </p:nvSpPr>
        <p:spPr>
          <a:xfrm>
            <a:off x="6858000" y="1600200"/>
            <a:ext cx="4892040" cy="54864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600" b="1" dirty="0">
                <a:solidFill>
                  <a:srgbClr val="1F6FB2"/>
                </a:solidFill>
                <a:latin typeface="Arial" pitchFamily="34" charset="0"/>
                <a:ea typeface="Arial" pitchFamily="34" charset="-122"/>
                <a:cs typeface="Arial" pitchFamily="34" charset="-120"/>
              </a:rPr>
              <a:t>السؤال الرابع: أجب عما يلي:</a:t>
            </a:r>
            <a:endParaRPr lang="ar-KW" sz="2600" dirty="0"/>
          </a:p>
        </p:txBody>
      </p:sp>
      <p:sp>
        <p:nvSpPr>
          <p:cNvPr id="7" name="anim_17_172"/>
          <p:cNvSpPr/>
          <p:nvPr/>
        </p:nvSpPr>
        <p:spPr>
          <a:xfrm>
            <a:off x="521208" y="2212848"/>
            <a:ext cx="11210544" cy="3758184"/>
          </a:xfrm>
          <a:prstGeom prst="roundRect">
            <a:avLst>
              <a:gd name="adj" fmla="val 8516"/>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8" name="anim_17_173"/>
          <p:cNvGraphicFramePr>
            <a:graphicFrameLocks noGrp="1"/>
          </p:cNvGraphicFramePr>
          <p:nvPr>
            <p:extLst>
              <p:ext uri="{D42A27DB-BD31-4B8C-83A1-F6EECF244321}">
                <p14:modId xmlns:p14="http://schemas.microsoft.com/office/powerpoint/2010/main" val="1579011935"/>
              </p:ext>
            </p:extLst>
          </p:nvPr>
        </p:nvGraphicFramePr>
        <p:xfrm>
          <a:off x="777240" y="2468880"/>
          <a:ext cx="10698480" cy="914400"/>
        </p:xfrm>
        <a:graphic>
          <a:graphicData uri="http://schemas.openxmlformats.org/drawingml/2006/table">
            <a:tbl>
              <a:tblPr/>
              <a:tblGrid>
                <a:gridCol w="1783080"/>
                <a:gridCol w="1783080"/>
                <a:gridCol w="1783080"/>
                <a:gridCol w="1783080"/>
                <a:gridCol w="1783080"/>
                <a:gridCol w="1783080"/>
              </a:tblGrid>
              <a:tr h="502920">
                <a:tc gridSpan="2">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الفلور</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hMerge="1">
                  <a:tcPr/>
                </a:tc>
                <a:tc gridSpan="2">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البوتاسيوم</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hMerge="1">
                  <a:tcPr/>
                </a:tc>
                <a:tc gridSpan="2">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وجه المقارنة</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hMerge="1">
                  <a:tcPr/>
                </a:tc>
              </a:tr>
              <a:tr h="548640">
                <a:tc gridSpan="2">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hMerge="1">
                  <a:tcPr/>
                </a:tc>
                <a:tc gridSpan="2">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hMerge="1">
                  <a:tcPr/>
                </a:tc>
                <a:tc gridSpan="2">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الرمز الكيميائي</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hMerge="1">
                  <a:tcPr/>
                </a:tc>
              </a:tr>
              <a:tr h="457200">
                <a:tc gridSpan="6">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وضّح بطريقة الترتيب الإلكتروني النقطي كيفية ارتباطهما</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hMerge="1">
                  <a:tcPr/>
                </a:tc>
                <a:tc hMerge="1">
                  <a:tcPr/>
                </a:tc>
                <a:tc hMerge="1">
                  <a:tcPr/>
                </a:tc>
                <a:tc hMerge="1">
                  <a:tcPr/>
                </a:tc>
                <a:tc hMerge="1">
                  <a:tcPr/>
                </a:tc>
              </a:tr>
              <a:tr h="1051560">
                <a:tc gridSpan="6">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hMerge="1">
                  <a:tcPr/>
                </a:tc>
                <a:tc hMerge="1">
                  <a:tcPr/>
                </a:tc>
                <a:tc hMerge="1">
                  <a:tcPr/>
                </a:tc>
                <a:tc hMerge="1">
                  <a:tcPr/>
                </a:tc>
                <a:tc hMerge="1">
                  <a:tcPr/>
                </a:tc>
              </a:tr>
              <a:tr h="457200">
                <a:tc gridSpan="6">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اسم المركب الناتج وصيغته</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hMerge="1">
                  <a:tcPr/>
                </a:tc>
                <a:tc hMerge="1">
                  <a:tcPr/>
                </a:tc>
                <a:tc hMerge="1">
                  <a:tcPr/>
                </a:tc>
                <a:tc hMerge="1">
                  <a:tcPr/>
                </a:tc>
                <a:tc hMerge="1">
                  <a:tcPr/>
                </a:tc>
              </a:tr>
            </a:tbl>
          </a:graphicData>
        </a:graphic>
      </p:graphicFrame>
      <p:sp>
        <p:nvSpPr>
          <p:cNvPr id="9" name="anim_17_174"/>
          <p:cNvSpPr txBox="1"/>
          <p:nvPr/>
        </p:nvSpPr>
        <p:spPr>
          <a:xfrm>
            <a:off x="6126480" y="5486400"/>
            <a:ext cx="5349240" cy="594360"/>
          </a:xfrm>
          <a:prstGeom prst="rect">
            <a:avLst/>
          </a:prstGeom>
          <a:solidFill>
            <a:srgbClr val="FFFFFF"/>
          </a:solidFill>
          <a:ln w="19050">
            <a:solidFill>
              <a:srgbClr val="8FB1DA"/>
            </a:solidFill>
          </a:ln>
        </p:spPr>
        <p:txBody>
          <a:bodyPr wrap="square" lIns="76200" tIns="76200" rIns="76200" bIns="76200" rtlCol="0" anchor="ctr"/>
          <a:lstStyle/>
          <a:p>
            <a:pPr rtl="1" algn="r" indent="0" marL="0">
              <a:buNone/>
            </a:pPr>
            <a:r>
              <a:rPr lang="ar-KW" altLang="en-US" sz="2100" b="1" dirty="0">
                <a:solidFill>
                  <a:srgbClr val="16325C"/>
                </a:solidFill>
                <a:latin typeface="Arial" pitchFamily="34" charset="0"/>
                <a:ea typeface="Arial" pitchFamily="34" charset="-122"/>
                <a:cs typeface="Arial" pitchFamily="34" charset="-120"/>
              </a:rPr>
              <a:t>اسم المركب:</a:t>
            </a:r>
            <a:endParaRPr lang="ar-KW" sz="2100" dirty="0"/>
          </a:p>
        </p:txBody>
      </p:sp>
      <p:sp>
        <p:nvSpPr>
          <p:cNvPr id="10" name="anim_17_175"/>
          <p:cNvSpPr txBox="1"/>
          <p:nvPr/>
        </p:nvSpPr>
        <p:spPr>
          <a:xfrm>
            <a:off x="777240" y="5486400"/>
            <a:ext cx="5349240" cy="594360"/>
          </a:xfrm>
          <a:prstGeom prst="rect">
            <a:avLst/>
          </a:prstGeom>
          <a:solidFill>
            <a:srgbClr val="FFFFFF"/>
          </a:solidFill>
          <a:ln w="19050">
            <a:solidFill>
              <a:srgbClr val="8FB1DA"/>
            </a:solidFill>
          </a:ln>
        </p:spPr>
        <p:txBody>
          <a:bodyPr wrap="square" lIns="76200" tIns="76200" rIns="76200" bIns="76200" rtlCol="0" anchor="ctr"/>
          <a:lstStyle/>
          <a:p>
            <a:pPr rtl="1" algn="r" indent="0" marL="0">
              <a:buNone/>
            </a:pPr>
            <a:r>
              <a:rPr lang="ar-KW" altLang="en-US" sz="2100" b="1" dirty="0">
                <a:solidFill>
                  <a:srgbClr val="16325C"/>
                </a:solidFill>
                <a:latin typeface="Arial" pitchFamily="34" charset="0"/>
                <a:ea typeface="Arial" pitchFamily="34" charset="-122"/>
                <a:cs typeface="Arial" pitchFamily="34" charset="-120"/>
              </a:rPr>
              <a:t>صيغة المركب:</a:t>
            </a:r>
            <a:endParaRPr lang="ar-KW" sz="2100" dirty="0"/>
          </a:p>
        </p:txBody>
      </p:sp>
      <p:sp>
        <p:nvSpPr>
          <p:cNvPr id="11" name="anim_17_176"/>
          <p:cNvSpPr txBox="1"/>
          <p:nvPr/>
        </p:nvSpPr>
        <p:spPr>
          <a:xfrm>
            <a:off x="4343400" y="2971800"/>
            <a:ext cx="3566160" cy="54864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800" b="1" dirty="0">
                <a:solidFill>
                  <a:srgbClr val="0B8A5A"/>
                </a:solidFill>
                <a:latin typeface="Arial" pitchFamily="34" charset="0"/>
                <a:ea typeface="Arial" pitchFamily="34" charset="-122"/>
                <a:cs typeface="Arial" pitchFamily="34" charset="-120"/>
              </a:rPr>
              <a:t>K</a:t>
            </a:r>
            <a:endParaRPr lang="en-US" sz="2800" dirty="0"/>
          </a:p>
        </p:txBody>
      </p:sp>
      <p:sp>
        <p:nvSpPr>
          <p:cNvPr id="12" name="anim_17_177"/>
          <p:cNvSpPr txBox="1"/>
          <p:nvPr/>
        </p:nvSpPr>
        <p:spPr>
          <a:xfrm>
            <a:off x="777240" y="2971800"/>
            <a:ext cx="3566160" cy="54864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800" b="1" dirty="0">
                <a:solidFill>
                  <a:srgbClr val="0B8A5A"/>
                </a:solidFill>
                <a:latin typeface="Arial" pitchFamily="34" charset="0"/>
                <a:ea typeface="Arial" pitchFamily="34" charset="-122"/>
                <a:cs typeface="Arial" pitchFamily="34" charset="-120"/>
              </a:rPr>
              <a:t>F</a:t>
            </a:r>
            <a:endParaRPr lang="en-US" sz="2800" dirty="0"/>
          </a:p>
        </p:txBody>
      </p:sp>
      <p:pic>
        <p:nvPicPr>
          <p:cNvPr id="13" name="anim_17_178" descr="eq_kf.png">    </p:cNvPr>
          <p:cNvPicPr>
            <a:picLocks noChangeAspect="1"/>
          </p:cNvPicPr>
          <p:nvPr/>
        </p:nvPicPr>
        <p:blipFill>
          <a:blip r:embed="rId3"/>
          <a:stretch>
            <a:fillRect/>
          </a:stretch>
        </p:blipFill>
        <p:spPr>
          <a:xfrm>
            <a:off x="3977640" y="4032504"/>
            <a:ext cx="4899530" cy="941832"/>
          </a:xfrm>
          <a:prstGeom prst="rect">
            <a:avLst/>
          </a:prstGeom>
        </p:spPr>
      </p:pic>
      <p:sp>
        <p:nvSpPr>
          <p:cNvPr id="14" name="anim_17_179"/>
          <p:cNvSpPr txBox="1"/>
          <p:nvPr/>
        </p:nvSpPr>
        <p:spPr>
          <a:xfrm>
            <a:off x="6217920" y="5486400"/>
            <a:ext cx="3566160" cy="594360"/>
          </a:xfrm>
          <a:prstGeom prst="rect">
            <a:avLst/>
          </a:prstGeom>
          <a:noFill/>
          <a:ln/>
        </p:spPr>
        <p:txBody>
          <a:bodyPr wrap="square" lIns="0" tIns="0" rIns="0" bIns="0" rtlCol="0" anchor="ctr"/>
          <a:lstStyle/>
          <a:p>
            <a:pPr rtl="1" algn="ctr" indent="0" marL="0">
              <a:lnSpc>
                <a:spcPct val="105000"/>
              </a:lnSpc>
              <a:spcAft>
                <a:spcPts val="600"/>
              </a:spcAft>
              <a:buNone/>
            </a:pPr>
            <a:r>
              <a:rPr lang="ar-KW" altLang="en-US" sz="2400" b="1" dirty="0">
                <a:solidFill>
                  <a:srgbClr val="0B8A5A"/>
                </a:solidFill>
                <a:latin typeface="Arial" pitchFamily="34" charset="0"/>
                <a:ea typeface="Arial" pitchFamily="34" charset="-122"/>
                <a:cs typeface="Arial" pitchFamily="34" charset="-120"/>
              </a:rPr>
              <a:t>فلوريد البوتاسيوم</a:t>
            </a:r>
            <a:endParaRPr lang="ar-KW" sz="2400" dirty="0"/>
          </a:p>
        </p:txBody>
      </p:sp>
      <p:sp>
        <p:nvSpPr>
          <p:cNvPr id="15" name="anim_17_180"/>
          <p:cNvSpPr txBox="1"/>
          <p:nvPr/>
        </p:nvSpPr>
        <p:spPr>
          <a:xfrm>
            <a:off x="868680" y="5486400"/>
            <a:ext cx="3566160" cy="59436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600" b="1" dirty="0">
                <a:solidFill>
                  <a:srgbClr val="0B8A5A"/>
                </a:solidFill>
                <a:latin typeface="Arial" pitchFamily="34" charset="0"/>
                <a:ea typeface="Arial" pitchFamily="34" charset="-122"/>
                <a:cs typeface="Arial" pitchFamily="34" charset="-120"/>
              </a:rPr>
              <a:t>K</a:t>
            </a:r>
            <a:r>
              <a:rPr lang="en-US" altLang="en-US" sz="2600" b="1" dirty="0">
                <a:solidFill>
                  <a:srgbClr val="0B8A5A"/>
                </a:solidFill>
                <a:latin typeface="Arial" pitchFamily="34" charset="0"/>
                <a:ea typeface="Arial" pitchFamily="34" charset="-122"/>
                <a:cs typeface="Arial" pitchFamily="34" charset="-120"/>
              </a:rPr>
              <a:t>F</a:t>
            </a:r>
            <a:endParaRPr lang="en-US" sz="2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8" fill="hold">
                      <p:stCondLst>
                        <p:cond delay="indefinite"/>
                        <p:cond evt="onBegin" delay="0">
                          <p:tn val="2"/>
                        </p:cond>
                      </p:stCondLst>
                      <p:childTnLst>
                        <p:par>
                          <p:cTn id="33"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4"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35" fill="hold">
                            <p:stCondLst>
                              <p:cond delay="140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700"/>
                                        <p:tgtEl>
                                          <p:spTgt spid="6"/>
                                        </p:tgtEl>
                                      </p:cBhvr>
                                    </p:animEffect>
                                  </p:childTnLst>
                                </p:cTn>
                              </p:par>
                            </p:childTnLst>
                          </p:cTn>
                        </p:par>
                        <p:par>
                          <p:cTn id="36" fill="hold">
                            <p:stCondLst>
                              <p:cond delay="21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p:tgtEl>
                                          <p:spTgt spid="7"/>
                                        </p:tgtEl>
                                        <p:attrNameLst>
                                          <p:attrName>ppt_w</p:attrName>
                                        </p:attrNameLst>
                                      </p:cBhvr>
                                      <p:tavLst>
                                        <p:tav tm="0">
                                          <p:val>
                                            <p:fltVal val="0"/>
                                          </p:val>
                                        </p:tav>
                                        <p:tav tm="100000">
                                          <p:val>
                                            <p:strVal val="#ppt_w"/>
                                          </p:val>
                                        </p:tav>
                                      </p:tavLst>
                                    </p:anim>
                                    <p:anim calcmode="lin" valueType="num">
                                      <p:cBhvr additive="base">
                                        <p:cTn id="22" dur="600" fill="hold"/>
                                        <p:tgtEl>
                                          <p:spTgt spid="7"/>
                                        </p:tgtEl>
                                        <p:attrNameLst>
                                          <p:attrName>ppt_h</p:attrName>
                                        </p:attrNameLst>
                                      </p:cBhvr>
                                      <p:tavLst>
                                        <p:tav tm="0">
                                          <p:val>
                                            <p:fltVal val="0"/>
                                          </p:val>
                                        </p:tav>
                                        <p:tav tm="100000">
                                          <p:val>
                                            <p:strVal val="#ppt_h"/>
                                          </p:val>
                                        </p:tav>
                                      </p:tavLst>
                                    </p:anim>
                                    <p:animEffect transition="in" filter="fade">
                                      <p:cBhvr>
                                        <p:cTn id="23" dur="600"/>
                                        <p:tgtEl>
                                          <p:spTgt spid="7"/>
                                        </p:tgtEl>
                                      </p:cBhvr>
                                    </p:animEffect>
                                  </p:childTnLst>
                                </p:cTn>
                              </p:par>
                            </p:childTnLst>
                          </p:cTn>
                        </p:par>
                        <p:par>
                          <p:cTn id="37" fill="hold">
                            <p:stCondLst>
                              <p:cond delay="270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7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00"/>
                                        <p:tgtEl>
                                          <p:spTgt spid="10"/>
                                        </p:tgtEl>
                                      </p:cBhvr>
                                    </p:animEffect>
                                  </p:childTnLst>
                                </p:cTn>
                              </p:par>
                            </p:childTnLst>
                          </p:cTn>
                        </p:par>
                      </p:childTnLst>
                    </p:cTn>
                  </p:par>
                  <p:par>
                    <p:cTn id="50" fill="hold">
                      <p:stCondLst>
                        <p:cond delay="indefinite"/>
                      </p:stCondLst>
                      <p:childTnLst>
                        <p:par>
                          <p:cTn id="49"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400" fill="hold"/>
                                        <p:tgtEl>
                                          <p:spTgt spid="11"/>
                                        </p:tgtEl>
                                        <p:attrNameLst>
                                          <p:attrName>ppt_w</p:attrName>
                                        </p:attrNameLst>
                                      </p:cBhvr>
                                      <p:tavLst>
                                        <p:tav tm="0">
                                          <p:val>
                                            <p:fltVal val="0"/>
                                          </p:val>
                                        </p:tav>
                                        <p:tav tm="100000">
                                          <p:val>
                                            <p:strVal val="#ppt_w"/>
                                          </p:val>
                                        </p:tav>
                                      </p:tavLst>
                                    </p:anim>
                                    <p:anim calcmode="lin" valueType="num">
                                      <p:cBhvr additive="base">
                                        <p:cTn id="42" dur="400" fill="hold"/>
                                        <p:tgtEl>
                                          <p:spTgt spid="11"/>
                                        </p:tgtEl>
                                        <p:attrNameLst>
                                          <p:attrName>ppt_h</p:attrName>
                                        </p:attrNameLst>
                                      </p:cBhvr>
                                      <p:tavLst>
                                        <p:tav tm="0">
                                          <p:val>
                                            <p:fltVal val="0"/>
                                          </p:val>
                                        </p:tav>
                                        <p:tav tm="100000">
                                          <p:val>
                                            <p:strVal val="#ppt_h"/>
                                          </p:val>
                                        </p:tav>
                                      </p:tavLst>
                                    </p:anim>
                                    <p:animEffect transition="in" filter="fade">
                                      <p:cBhvr>
                                        <p:cTn id="43" dur="400"/>
                                        <p:tgtEl>
                                          <p:spTgt spid="11"/>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400" fill="hold"/>
                                        <p:tgtEl>
                                          <p:spTgt spid="12"/>
                                        </p:tgtEl>
                                        <p:attrNameLst>
                                          <p:attrName>ppt_w</p:attrName>
                                        </p:attrNameLst>
                                      </p:cBhvr>
                                      <p:tavLst>
                                        <p:tav tm="0">
                                          <p:val>
                                            <p:fltVal val="0"/>
                                          </p:val>
                                        </p:tav>
                                        <p:tav tm="100000">
                                          <p:val>
                                            <p:strVal val="#ppt_w"/>
                                          </p:val>
                                        </p:tav>
                                      </p:tavLst>
                                    </p:anim>
                                    <p:anim calcmode="lin" valueType="num">
                                      <p:cBhvr additive="base">
                                        <p:cTn id="47" dur="400" fill="hold"/>
                                        <p:tgtEl>
                                          <p:spTgt spid="12"/>
                                        </p:tgtEl>
                                        <p:attrNameLst>
                                          <p:attrName>ppt_h</p:attrName>
                                        </p:attrNameLst>
                                      </p:cBhvr>
                                      <p:tavLst>
                                        <p:tav tm="0">
                                          <p:val>
                                            <p:fltVal val="0"/>
                                          </p:val>
                                        </p:tav>
                                        <p:tav tm="100000">
                                          <p:val>
                                            <p:strVal val="#ppt_h"/>
                                          </p:val>
                                        </p:tav>
                                      </p:tavLst>
                                    </p:anim>
                                    <p:animEffect transition="in" filter="fade">
                                      <p:cBhvr>
                                        <p:cTn id="48" dur="400"/>
                                        <p:tgtEl>
                                          <p:spTgt spid="12"/>
                                        </p:tgtEl>
                                      </p:cBhvr>
                                    </p:animEffect>
                                  </p:childTnLst>
                                </p:cTn>
                              </p:par>
                            </p:childTnLst>
                          </p:cTn>
                        </p:par>
                      </p:childTnLst>
                    </p:cTn>
                  </p:par>
                  <p:par>
                    <p:cTn id="57" fill="hold">
                      <p:stCondLst>
                        <p:cond delay="indefinite"/>
                      </p:stCondLst>
                      <p:childTnLst>
                        <p:par>
                          <p:cTn id="56"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600" fill="hold"/>
                                        <p:tgtEl>
                                          <p:spTgt spid="13"/>
                                        </p:tgtEl>
                                        <p:attrNameLst>
                                          <p:attrName>ppt_w</p:attrName>
                                        </p:attrNameLst>
                                      </p:cBhvr>
                                      <p:tavLst>
                                        <p:tav tm="0">
                                          <p:val>
                                            <p:fltVal val="0"/>
                                          </p:val>
                                        </p:tav>
                                        <p:tav tm="100000">
                                          <p:val>
                                            <p:strVal val="#ppt_w"/>
                                          </p:val>
                                        </p:tav>
                                      </p:tavLst>
                                    </p:anim>
                                    <p:anim calcmode="lin" valueType="num">
                                      <p:cBhvr additive="base">
                                        <p:cTn id="54" dur="600" fill="hold"/>
                                        <p:tgtEl>
                                          <p:spTgt spid="13"/>
                                        </p:tgtEl>
                                        <p:attrNameLst>
                                          <p:attrName>ppt_h</p:attrName>
                                        </p:attrNameLst>
                                      </p:cBhvr>
                                      <p:tavLst>
                                        <p:tav tm="0">
                                          <p:val>
                                            <p:fltVal val="0"/>
                                          </p:val>
                                        </p:tav>
                                        <p:tav tm="100000">
                                          <p:val>
                                            <p:strVal val="#ppt_h"/>
                                          </p:val>
                                        </p:tav>
                                      </p:tavLst>
                                    </p:anim>
                                    <p:animEffect transition="in" filter="fade">
                                      <p:cBhvr>
                                        <p:cTn id="55" dur="600"/>
                                        <p:tgtEl>
                                          <p:spTgt spid="13"/>
                                        </p:tgtEl>
                                      </p:cBhvr>
                                    </p:animEffect>
                                  </p:childTnLst>
                                </p:cTn>
                              </p:par>
                            </p:childTnLst>
                          </p:cTn>
                        </p:par>
                      </p:childTnLst>
                    </p:cTn>
                  </p:par>
                  <p:par>
                    <p:cTn id="69" fill="hold">
                      <p:stCondLst>
                        <p:cond delay="indefinite"/>
                      </p:stCondLst>
                      <p:childTnLst>
                        <p:par>
                          <p:cTn id="68"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additive="base">
                                        <p:cTn id="60" dur="400" fill="hold"/>
                                        <p:tgtEl>
                                          <p:spTgt spid="14"/>
                                        </p:tgtEl>
                                        <p:attrNameLst>
                                          <p:attrName>ppt_w</p:attrName>
                                        </p:attrNameLst>
                                      </p:cBhvr>
                                      <p:tavLst>
                                        <p:tav tm="0">
                                          <p:val>
                                            <p:fltVal val="0"/>
                                          </p:val>
                                        </p:tav>
                                        <p:tav tm="100000">
                                          <p:val>
                                            <p:strVal val="#ppt_w"/>
                                          </p:val>
                                        </p:tav>
                                      </p:tavLst>
                                    </p:anim>
                                    <p:anim calcmode="lin" valueType="num">
                                      <p:cBhvr additive="base">
                                        <p:cTn id="61" dur="400" fill="hold"/>
                                        <p:tgtEl>
                                          <p:spTgt spid="14"/>
                                        </p:tgtEl>
                                        <p:attrNameLst>
                                          <p:attrName>ppt_h</p:attrName>
                                        </p:attrNameLst>
                                      </p:cBhvr>
                                      <p:tavLst>
                                        <p:tav tm="0">
                                          <p:val>
                                            <p:fltVal val="0"/>
                                          </p:val>
                                        </p:tav>
                                        <p:tav tm="100000">
                                          <p:val>
                                            <p:strVal val="#ppt_h"/>
                                          </p:val>
                                        </p:tav>
                                      </p:tavLst>
                                    </p:anim>
                                    <p:animEffect transition="in" filter="fade">
                                      <p:cBhvr>
                                        <p:cTn id="62" dur="400"/>
                                        <p:tgtEl>
                                          <p:spTgt spid="14"/>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400" fill="hold"/>
                                        <p:tgtEl>
                                          <p:spTgt spid="15"/>
                                        </p:tgtEl>
                                        <p:attrNameLst>
                                          <p:attrName>ppt_w</p:attrName>
                                        </p:attrNameLst>
                                      </p:cBhvr>
                                      <p:tavLst>
                                        <p:tav tm="0">
                                          <p:val>
                                            <p:fltVal val="0"/>
                                          </p:val>
                                        </p:tav>
                                        <p:tav tm="100000">
                                          <p:val>
                                            <p:strVal val="#ppt_w"/>
                                          </p:val>
                                        </p:tav>
                                      </p:tavLst>
                                    </p:anim>
                                    <p:anim calcmode="lin" valueType="num">
                                      <p:cBhvr additive="base">
                                        <p:cTn id="66" dur="400" fill="hold"/>
                                        <p:tgtEl>
                                          <p:spTgt spid="15"/>
                                        </p:tgtEl>
                                        <p:attrNameLst>
                                          <p:attrName>ppt_h</p:attrName>
                                        </p:attrNameLst>
                                      </p:cBhvr>
                                      <p:tavLst>
                                        <p:tav tm="0">
                                          <p:val>
                                            <p:fltVal val="0"/>
                                          </p:val>
                                        </p:tav>
                                        <p:tav tm="100000">
                                          <p:val>
                                            <p:strVal val="#ppt_h"/>
                                          </p:val>
                                        </p:tav>
                                      </p:tavLst>
                                    </p:anim>
                                    <p:animEffect transition="in" filter="fade">
                                      <p:cBhvr>
                                        <p:cTn id="6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Graphic spid="8" grpId="0">
        <p:bldAsOne/>
      </p:bldGraphic>
      <p:bldP spid="9" grpId="0" animBg="1"/>
      <p:bldP spid="10" grpId="0" animBg="1"/>
      <p:bldP spid="11" grpId="0" animBg="1"/>
      <p:bldP spid="12" grpId="0" animBg="1"/>
      <p:bldP spid="14"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2" name=""/>
        <p:cNvGrpSpPr/>
        <p:nvPr/>
      </p:nvGrpSpPr>
      <p:grpSpPr>
        <a:xfrm>
          <a:off x="0" y="0"/>
          <a:ext cx="0" cy="0"/>
          <a:chOff x="0" y="0"/>
          <a:chExt cx="0" cy="0"/>
        </a:xfrm>
      </p:grpSpPr>
      <p:sp>
        <p:nvSpPr>
          <p:cNvPr id="3" name="anim_18_181"/>
          <p:cNvSpPr/>
          <p:nvPr/>
        </p:nvSpPr>
        <p:spPr>
          <a:xfrm>
            <a:off x="6355080" y="502920"/>
            <a:ext cx="539496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أنت الكيميائي</a:t>
            </a:r>
            <a:endParaRPr lang="ar-KW" sz="3600" dirty="0"/>
          </a:p>
        </p:txBody>
      </p:sp>
      <p:pic>
        <p:nvPicPr>
          <p:cNvPr id="4" name="anim_18_182" descr="sp_teal.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18_183" descr="badge_chem.png">    </p:cNvPr>
          <p:cNvPicPr>
            <a:picLocks noChangeAspect="1"/>
          </p:cNvPicPr>
          <p:nvPr/>
        </p:nvPicPr>
        <p:blipFill>
          <a:blip r:embed="rId2"/>
          <a:stretch>
            <a:fillRect/>
          </a:stretch>
        </p:blipFill>
        <p:spPr>
          <a:xfrm>
            <a:off x="4937760" y="292608"/>
            <a:ext cx="1280160" cy="1280160"/>
          </a:xfrm>
          <a:prstGeom prst="rect">
            <a:avLst/>
          </a:prstGeom>
        </p:spPr>
      </p:pic>
      <p:sp>
        <p:nvSpPr>
          <p:cNvPr id="6" name="anim_18_184"/>
          <p:cNvSpPr txBox="1"/>
          <p:nvPr/>
        </p:nvSpPr>
        <p:spPr>
          <a:xfrm>
            <a:off x="5029200" y="1600200"/>
            <a:ext cx="6720840" cy="54864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600" b="1" dirty="0">
                <a:solidFill>
                  <a:srgbClr val="1F6FB2"/>
                </a:solidFill>
                <a:latin typeface="Arial" pitchFamily="34" charset="0"/>
                <a:ea typeface="Arial" pitchFamily="34" charset="-122"/>
                <a:cs typeface="Arial" pitchFamily="34" charset="-120"/>
              </a:rPr>
              <a:t>السؤال الرابع (تابع): البوتاسيوم والفلور</a:t>
            </a:r>
            <a:endParaRPr lang="ar-KW" sz="2600" dirty="0"/>
          </a:p>
        </p:txBody>
      </p:sp>
      <p:sp>
        <p:nvSpPr>
          <p:cNvPr id="7" name="anim_18_185"/>
          <p:cNvSpPr/>
          <p:nvPr/>
        </p:nvSpPr>
        <p:spPr>
          <a:xfrm>
            <a:off x="521208" y="2212848"/>
            <a:ext cx="11210544" cy="4032504"/>
          </a:xfrm>
          <a:prstGeom prst="roundRect">
            <a:avLst>
              <a:gd name="adj" fmla="val 7937"/>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8" name="anim_18_186"/>
          <p:cNvGraphicFramePr>
            <a:graphicFrameLocks noGrp="1"/>
          </p:cNvGraphicFramePr>
          <p:nvPr>
            <p:extLst>
              <p:ext uri="{D42A27DB-BD31-4B8C-83A1-F6EECF244321}">
                <p14:modId xmlns:p14="http://schemas.microsoft.com/office/powerpoint/2010/main" val="1579011935"/>
              </p:ext>
            </p:extLst>
          </p:nvPr>
        </p:nvGraphicFramePr>
        <p:xfrm>
          <a:off x="777240" y="2468880"/>
          <a:ext cx="10698480" cy="914400"/>
        </p:xfrm>
        <a:graphic>
          <a:graphicData uri="http://schemas.openxmlformats.org/drawingml/2006/table">
            <a:tbl>
              <a:tblPr/>
              <a:tblGrid>
                <a:gridCol w="1783080"/>
                <a:gridCol w="1783080"/>
                <a:gridCol w="1783080"/>
                <a:gridCol w="1783080"/>
                <a:gridCol w="1783080"/>
                <a:gridCol w="1783080"/>
              </a:tblGrid>
              <a:tr h="502920">
                <a:tc gridSpan="6">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درجة انصهار أو غليان المركب الناتج؟ (منخفضة/ مرتفعة)</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hMerge="1">
                  <a:tcPr/>
                </a:tc>
                <a:tc hMerge="1">
                  <a:tcPr/>
                </a:tc>
                <a:tc hMerge="1">
                  <a:tcPr/>
                </a:tc>
                <a:tc hMerge="1">
                  <a:tcPr/>
                </a:tc>
                <a:tc hMerge="1">
                  <a:tcPr/>
                </a:tc>
              </a:tr>
              <a:tr h="594360">
                <a:tc gridSpan="6">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hMerge="1">
                  <a:tcPr/>
                </a:tc>
                <a:tc hMerge="1">
                  <a:tcPr/>
                </a:tc>
                <a:tc hMerge="1">
                  <a:tcPr/>
                </a:tc>
                <a:tc hMerge="1">
                  <a:tcPr/>
                </a:tc>
                <a:tc hMerge="1">
                  <a:tcPr/>
                </a:tc>
              </a:tr>
              <a:tr h="502920">
                <a:tc gridSpan="6">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هل يوصّل مصهور المركب الناتج التيار الكهربائي؟ (نعم/ لا)</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hMerge="1">
                  <a:tcPr/>
                </a:tc>
                <a:tc hMerge="1">
                  <a:tcPr/>
                </a:tc>
                <a:tc hMerge="1">
                  <a:tcPr/>
                </a:tc>
                <a:tc hMerge="1">
                  <a:tcPr/>
                </a:tc>
                <a:tc hMerge="1">
                  <a:tcPr/>
                </a:tc>
              </a:tr>
              <a:tr h="594360">
                <a:tc gridSpan="6">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hMerge="1">
                  <a:tcPr/>
                </a:tc>
                <a:tc hMerge="1">
                  <a:tcPr/>
                </a:tc>
                <a:tc hMerge="1">
                  <a:tcPr/>
                </a:tc>
                <a:tc hMerge="1">
                  <a:tcPr/>
                </a:tc>
                <a:tc hMerge="1">
                  <a:tcPr/>
                </a:tc>
              </a:tr>
              <a:tr h="502920">
                <a:tc gridSpan="6">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فسّر إجابتك</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hMerge="1">
                  <a:tcPr/>
                </a:tc>
                <a:tc hMerge="1">
                  <a:tcPr/>
                </a:tc>
                <a:tc hMerge="1">
                  <a:tcPr/>
                </a:tc>
                <a:tc hMerge="1">
                  <a:tcPr/>
                </a:tc>
                <a:tc hMerge="1">
                  <a:tcPr/>
                </a:tc>
              </a:tr>
              <a:tr h="822960">
                <a:tc gridSpan="6">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hMerge="1">
                  <a:tcPr/>
                </a:tc>
                <a:tc hMerge="1">
                  <a:tcPr/>
                </a:tc>
                <a:tc hMerge="1">
                  <a:tcPr/>
                </a:tc>
                <a:tc hMerge="1">
                  <a:tcPr/>
                </a:tc>
                <a:tc hMerge="1">
                  <a:tcPr/>
                </a:tc>
              </a:tr>
            </a:tbl>
          </a:graphicData>
        </a:graphic>
      </p:graphicFrame>
      <p:sp>
        <p:nvSpPr>
          <p:cNvPr id="9" name="anim_18_187"/>
          <p:cNvSpPr txBox="1"/>
          <p:nvPr/>
        </p:nvSpPr>
        <p:spPr>
          <a:xfrm>
            <a:off x="777240" y="2971800"/>
            <a:ext cx="10698480" cy="594360"/>
          </a:xfrm>
          <a:prstGeom prst="rect">
            <a:avLst/>
          </a:prstGeom>
          <a:noFill/>
          <a:ln/>
        </p:spPr>
        <p:txBody>
          <a:bodyPr wrap="square" lIns="25400" tIns="25400" rIns="25400" bIns="25400" rtlCol="0" anchor="ctr"/>
          <a:lstStyle/>
          <a:p>
            <a:pPr rtl="1" algn="ctr" indent="0" marL="0">
              <a:lnSpc>
                <a:spcPct val="105000"/>
              </a:lnSpc>
              <a:spcAft>
                <a:spcPts val="600"/>
              </a:spcAft>
              <a:buNone/>
            </a:pPr>
            <a:r>
              <a:rPr lang="ar-KW" altLang="en-US" sz="2600" b="1" dirty="0">
                <a:solidFill>
                  <a:srgbClr val="0B8A5A"/>
                </a:solidFill>
                <a:latin typeface="Arial" pitchFamily="34" charset="0"/>
                <a:ea typeface="Arial" pitchFamily="34" charset="-122"/>
                <a:cs typeface="Arial" pitchFamily="34" charset="-120"/>
              </a:rPr>
              <a:t>مرتفعة</a:t>
            </a:r>
            <a:endParaRPr lang="ar-KW" sz="2600" dirty="0"/>
          </a:p>
        </p:txBody>
      </p:sp>
      <p:sp>
        <p:nvSpPr>
          <p:cNvPr id="10" name="anim_18_188"/>
          <p:cNvSpPr txBox="1"/>
          <p:nvPr/>
        </p:nvSpPr>
        <p:spPr>
          <a:xfrm>
            <a:off x="777240" y="4069080"/>
            <a:ext cx="10698480" cy="594360"/>
          </a:xfrm>
          <a:prstGeom prst="rect">
            <a:avLst/>
          </a:prstGeom>
          <a:noFill/>
          <a:ln/>
        </p:spPr>
        <p:txBody>
          <a:bodyPr wrap="square" lIns="25400" tIns="25400" rIns="25400" bIns="25400" rtlCol="0" anchor="ctr"/>
          <a:lstStyle/>
          <a:p>
            <a:pPr rtl="1" algn="ctr" indent="0" marL="0">
              <a:lnSpc>
                <a:spcPct val="105000"/>
              </a:lnSpc>
              <a:spcAft>
                <a:spcPts val="600"/>
              </a:spcAft>
              <a:buNone/>
            </a:pPr>
            <a:r>
              <a:rPr lang="ar-KW" altLang="en-US" sz="2600" b="1" dirty="0">
                <a:solidFill>
                  <a:srgbClr val="0B8A5A"/>
                </a:solidFill>
                <a:latin typeface="Arial" pitchFamily="34" charset="0"/>
                <a:ea typeface="Arial" pitchFamily="34" charset="-122"/>
                <a:cs typeface="Arial" pitchFamily="34" charset="-120"/>
              </a:rPr>
              <a:t>نعم</a:t>
            </a:r>
            <a:endParaRPr lang="ar-KW" sz="2600" dirty="0"/>
          </a:p>
        </p:txBody>
      </p:sp>
      <p:sp>
        <p:nvSpPr>
          <p:cNvPr id="11" name="anim_18_189"/>
          <p:cNvSpPr txBox="1"/>
          <p:nvPr/>
        </p:nvSpPr>
        <p:spPr>
          <a:xfrm>
            <a:off x="777240" y="5166360"/>
            <a:ext cx="10698480" cy="822960"/>
          </a:xfrm>
          <a:prstGeom prst="rect">
            <a:avLst/>
          </a:prstGeom>
          <a:noFill/>
          <a:ln/>
        </p:spPr>
        <p:txBody>
          <a:bodyPr wrap="square" lIns="25400" tIns="25400" rIns="25400" bIns="25400" rtlCol="0" anchor="ctr"/>
          <a:lstStyle/>
          <a:p>
            <a:pPr rtl="1" algn="ctr" indent="0" marL="0">
              <a:lnSpc>
                <a:spcPct val="105000"/>
              </a:lnSpc>
              <a:spcAft>
                <a:spcPts val="600"/>
              </a:spcAft>
              <a:buNone/>
            </a:pPr>
            <a:r>
              <a:rPr lang="ar-KW" altLang="en-US" sz="2300" b="1" dirty="0">
                <a:solidFill>
                  <a:srgbClr val="0B8A5A"/>
                </a:solidFill>
                <a:latin typeface="Arial" pitchFamily="34" charset="0"/>
                <a:ea typeface="Arial" pitchFamily="34" charset="-122"/>
                <a:cs typeface="Arial" pitchFamily="34" charset="-120"/>
              </a:rPr>
              <a:t>لأن الأيونات في المصهور تصبح حرّة الحركة فتوصل التيار الكهربائي.</a:t>
            </a:r>
            <a:endParaRPr lang="ar-KW" sz="23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2" fill="hold">
                      <p:stCondLst>
                        <p:cond delay="indefinite"/>
                        <p:cond evt="onBegin" delay="0">
                          <p:tn val="2"/>
                        </p:cond>
                      </p:stCondLst>
                      <p:childTnLst>
                        <p:par>
                          <p:cTn id="27"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8"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29" fill="hold">
                            <p:stCondLst>
                              <p:cond delay="140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700"/>
                                        <p:tgtEl>
                                          <p:spTgt spid="6"/>
                                        </p:tgtEl>
                                      </p:cBhvr>
                                    </p:animEffect>
                                  </p:childTnLst>
                                </p:cTn>
                              </p:par>
                            </p:childTnLst>
                          </p:cTn>
                        </p:par>
                        <p:par>
                          <p:cTn id="30" fill="hold">
                            <p:stCondLst>
                              <p:cond delay="21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p:tgtEl>
                                          <p:spTgt spid="7"/>
                                        </p:tgtEl>
                                        <p:attrNameLst>
                                          <p:attrName>ppt_w</p:attrName>
                                        </p:attrNameLst>
                                      </p:cBhvr>
                                      <p:tavLst>
                                        <p:tav tm="0">
                                          <p:val>
                                            <p:fltVal val="0"/>
                                          </p:val>
                                        </p:tav>
                                        <p:tav tm="100000">
                                          <p:val>
                                            <p:strVal val="#ppt_w"/>
                                          </p:val>
                                        </p:tav>
                                      </p:tavLst>
                                    </p:anim>
                                    <p:anim calcmode="lin" valueType="num">
                                      <p:cBhvr additive="base">
                                        <p:cTn id="22" dur="600" fill="hold"/>
                                        <p:tgtEl>
                                          <p:spTgt spid="7"/>
                                        </p:tgtEl>
                                        <p:attrNameLst>
                                          <p:attrName>ppt_h</p:attrName>
                                        </p:attrNameLst>
                                      </p:cBhvr>
                                      <p:tavLst>
                                        <p:tav tm="0">
                                          <p:val>
                                            <p:fltVal val="0"/>
                                          </p:val>
                                        </p:tav>
                                        <p:tav tm="100000">
                                          <p:val>
                                            <p:strVal val="#ppt_h"/>
                                          </p:val>
                                        </p:tav>
                                      </p:tavLst>
                                    </p:anim>
                                    <p:animEffect transition="in" filter="fade">
                                      <p:cBhvr>
                                        <p:cTn id="23" dur="600"/>
                                        <p:tgtEl>
                                          <p:spTgt spid="7"/>
                                        </p:tgtEl>
                                      </p:cBhvr>
                                    </p:animEffect>
                                  </p:childTnLst>
                                </p:cTn>
                              </p:par>
                            </p:childTnLst>
                          </p:cTn>
                        </p:par>
                        <p:par>
                          <p:cTn id="31" fill="hold">
                            <p:stCondLst>
                              <p:cond delay="270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700"/>
                                        <p:tgtEl>
                                          <p:spTgt spid="8"/>
                                        </p:tgtEl>
                                      </p:cBhvr>
                                    </p:animEffect>
                                  </p:childTnLst>
                                </p:cTn>
                              </p:par>
                            </p:childTnLst>
                          </p:cTn>
                        </p:par>
                      </p:childTnLst>
                    </p:cTn>
                  </p:par>
                  <p:par>
                    <p:cTn id="39" fill="hold">
                      <p:stCondLst>
                        <p:cond delay="indefinite"/>
                      </p:stCondLst>
                      <p:childTnLst>
                        <p:par>
                          <p:cTn id="38"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ppt_w</p:attrName>
                                        </p:attrNameLst>
                                      </p:cBhvr>
                                      <p:tavLst>
                                        <p:tav tm="0">
                                          <p:val>
                                            <p:fltVal val="0"/>
                                          </p:val>
                                        </p:tav>
                                        <p:tav tm="100000">
                                          <p:val>
                                            <p:strVal val="#ppt_w"/>
                                          </p:val>
                                        </p:tav>
                                      </p:tavLst>
                                    </p:anim>
                                    <p:anim calcmode="lin" valueType="num">
                                      <p:cBhvr additive="base">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childTnLst>
                          </p:cTn>
                        </p:par>
                      </p:childTnLst>
                    </p:cTn>
                  </p:par>
                  <p:par>
                    <p:cTn id="46" fill="hold">
                      <p:stCondLst>
                        <p:cond delay="indefinite"/>
                      </p:stCondLst>
                      <p:childTnLst>
                        <p:par>
                          <p:cTn id="45"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00" fill="hold"/>
                                        <p:tgtEl>
                                          <p:spTgt spid="10"/>
                                        </p:tgtEl>
                                        <p:attrNameLst>
                                          <p:attrName>ppt_w</p:attrName>
                                        </p:attrNameLst>
                                      </p:cBhvr>
                                      <p:tavLst>
                                        <p:tav tm="0">
                                          <p:val>
                                            <p:fltVal val="0"/>
                                          </p:val>
                                        </p:tav>
                                        <p:tav tm="100000">
                                          <p:val>
                                            <p:strVal val="#ppt_w"/>
                                          </p:val>
                                        </p:tav>
                                      </p:tavLst>
                                    </p:anim>
                                    <p:anim calcmode="lin" valueType="num">
                                      <p:cBhvr additive="base">
                                        <p:cTn id="43" dur="500" fill="hold"/>
                                        <p:tgtEl>
                                          <p:spTgt spid="10"/>
                                        </p:tgtEl>
                                        <p:attrNameLst>
                                          <p:attrName>ppt_h</p:attrName>
                                        </p:attrNameLst>
                                      </p:cBhvr>
                                      <p:tavLst>
                                        <p:tav tm="0">
                                          <p:val>
                                            <p:fltVal val="0"/>
                                          </p:val>
                                        </p:tav>
                                        <p:tav tm="100000">
                                          <p:val>
                                            <p:strVal val="#ppt_h"/>
                                          </p:val>
                                        </p:tav>
                                      </p:tavLst>
                                    </p:anim>
                                    <p:animEffect transition="in" filter="fade">
                                      <p:cBhvr>
                                        <p:cTn id="44" dur="500"/>
                                        <p:tgtEl>
                                          <p:spTgt spid="10"/>
                                        </p:tgtEl>
                                      </p:cBhvr>
                                    </p:animEffect>
                                  </p:childTnLst>
                                </p:cTn>
                              </p:par>
                            </p:childTnLst>
                          </p:cTn>
                        </p:par>
                      </p:childTnLst>
                    </p:cTn>
                  </p:par>
                  <p:par>
                    <p:cTn id="53" fill="hold">
                      <p:stCondLst>
                        <p:cond delay="indefinite"/>
                      </p:stCondLst>
                      <p:childTnLst>
                        <p:par>
                          <p:cTn id="52"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ppt_w</p:attrName>
                                        </p:attrNameLst>
                                      </p:cBhvr>
                                      <p:tavLst>
                                        <p:tav tm="0">
                                          <p:val>
                                            <p:fltVal val="0"/>
                                          </p:val>
                                        </p:tav>
                                        <p:tav tm="100000">
                                          <p:val>
                                            <p:strVal val="#ppt_w"/>
                                          </p:val>
                                        </p:tav>
                                      </p:tavLst>
                                    </p:anim>
                                    <p:anim calcmode="lin" valueType="num">
                                      <p:cBhvr additive="base">
                                        <p:cTn id="50" dur="500" fill="hold"/>
                                        <p:tgtEl>
                                          <p:spTgt spid="11"/>
                                        </p:tgtEl>
                                        <p:attrNameLst>
                                          <p:attrName>ppt_h</p:attrName>
                                        </p:attrNameLst>
                                      </p:cBhvr>
                                      <p:tavLst>
                                        <p:tav tm="0">
                                          <p:val>
                                            <p:fltVal val="0"/>
                                          </p:val>
                                        </p:tav>
                                        <p:tav tm="100000">
                                          <p:val>
                                            <p:strVal val="#ppt_h"/>
                                          </p:val>
                                        </p:tav>
                                      </p:tavLst>
                                    </p:anim>
                                    <p:animEffect transition="in" filter="fade">
                                      <p:cBhvr>
                                        <p:cTn id="5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Graphic spid="8" grpId="0">
        <p:bldAsOne/>
      </p:bldGraphic>
      <p:bldP spid="9" grpId="0" animBg="1"/>
      <p:bldP spid="10" grpId="0" animBg="1"/>
      <p:bldP spid="1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خواص المركبات الأيونية</dc:title>
  <dc:subject>PptxGenJS Presentation</dc:subject>
  <dc:creator>PptxGenJS</dc:creator>
  <cp:lastModifiedBy>PptxGenJS</cp:lastModifiedBy>
  <cp:revision>1</cp:revision>
  <dcterms:created xsi:type="dcterms:W3CDTF">2026-10-26T13:47:06Z</dcterms:created>
  <dcterms:modified xsi:type="dcterms:W3CDTF">2026-10-26T13:47:06Z</dcterms:modified>
</cp:coreProperties>
</file>