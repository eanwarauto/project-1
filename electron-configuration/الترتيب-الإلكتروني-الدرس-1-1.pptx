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3-2.png"/><Relationship Id="rId3" Type="http://schemas.openxmlformats.org/officeDocument/2006/relationships/image" Target="../media/image-2-6.png"/><Relationship Id="rId4" Type="http://schemas.openxmlformats.org/officeDocument/2006/relationships/image" Target="../media/image-3-4.png"/><Relationship Id="rId5" Type="http://schemas.openxmlformats.org/officeDocument/2006/relationships/image" Target="../media/image-2-4.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4-2.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2-5.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7-2.png"/><Relationship Id="rId3" Type="http://schemas.openxmlformats.org/officeDocument/2006/relationships/image" Target="../media/image-2-5.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4.png"/><Relationship Id="rId3" Type="http://schemas.openxmlformats.org/officeDocument/2006/relationships/image" Target="../media/image-3-4.png"/><Relationship Id="rId4" Type="http://schemas.openxmlformats.org/officeDocument/2006/relationships/image" Target="../media/image-2-1.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11-2.png"/><Relationship Id="rId3" Type="http://schemas.openxmlformats.org/officeDocument/2006/relationships/image" Target="../media/image-2-4.png"/><Relationship Id="rId4" Type="http://schemas.openxmlformats.org/officeDocument/2006/relationships/image" Target="../media/image-3-4.png"/><Relationship Id="rId5" Type="http://schemas.openxmlformats.org/officeDocument/2006/relationships/image" Target="../media/image-6-2.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13-2.png"/><Relationship Id="rId3" Type="http://schemas.openxmlformats.org/officeDocument/2006/relationships/image" Target="../media/image-3-2.png"/><Relationship Id="rId4" Type="http://schemas.openxmlformats.org/officeDocument/2006/relationships/image" Target="../media/image-1-5.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1-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4.png"/><Relationship Id="rId3" Type="http://schemas.openxmlformats.org/officeDocument/2006/relationships/image" Target="../media/image-3-4.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2.png"/><Relationship Id="rId3" Type="http://schemas.openxmlformats.org/officeDocument/2006/relationships/image" Target="../media/image-2-5.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15-3.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14-4.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3-2.png"/><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2-4.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pic>
        <p:nvPicPr>
          <p:cNvPr id="3" name="anim_1_1" descr="hero_atom.png">    </p:cNvPr>
          <p:cNvPicPr>
            <a:picLocks noChangeAspect="1"/>
          </p:cNvPicPr>
          <p:nvPr/>
        </p:nvPicPr>
        <p:blipFill>
          <a:blip r:embed="rId1"/>
          <a:stretch>
            <a:fillRect/>
          </a:stretch>
        </p:blipFill>
        <p:spPr>
          <a:xfrm>
            <a:off x="411480" y="1051560"/>
            <a:ext cx="4754880" cy="4754880"/>
          </a:xfrm>
          <a:prstGeom prst="rect">
            <a:avLst/>
          </a:prstGeom>
        </p:spPr>
      </p:pic>
      <p:sp>
        <p:nvSpPr>
          <p:cNvPr id="4" name="anim_1_2"/>
          <p:cNvSpPr txBox="1"/>
          <p:nvPr/>
        </p:nvSpPr>
        <p:spPr>
          <a:xfrm>
            <a:off x="8778240" y="1234440"/>
            <a:ext cx="2834640" cy="685800"/>
          </a:xfrm>
          <a:prstGeom prst="roundRect">
            <a:avLst>
              <a:gd name="adj" fmla="val 49333"/>
            </a:avLst>
          </a:prstGeom>
          <a:solidFill>
            <a:srgbClr val="0F9D8E"/>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1" algn="ctr" indent="0" marL="0">
              <a:lnSpc>
                <a:spcPct val="105000"/>
              </a:lnSpc>
              <a:spcAft>
                <a:spcPts val="600"/>
              </a:spcAft>
              <a:buNone/>
            </a:pPr>
            <a:r>
              <a:rPr lang="ar-KW" altLang="en-US" sz="2800" b="1" dirty="0">
                <a:solidFill>
                  <a:srgbClr val="FFFFFF"/>
                </a:solidFill>
                <a:latin typeface="Arial" pitchFamily="34" charset="0"/>
                <a:ea typeface="Arial" pitchFamily="34" charset="-122"/>
                <a:cs typeface="Arial" pitchFamily="34" charset="-120"/>
              </a:rPr>
              <a:t>الدرس [1-1]</a:t>
            </a:r>
            <a:endParaRPr lang="ar-KW" sz="2800" dirty="0"/>
          </a:p>
        </p:txBody>
      </p:sp>
      <p:sp>
        <p:nvSpPr>
          <p:cNvPr id="5" name="anim_1_3"/>
          <p:cNvSpPr txBox="1"/>
          <p:nvPr/>
        </p:nvSpPr>
        <p:spPr>
          <a:xfrm>
            <a:off x="5120640" y="1965960"/>
            <a:ext cx="6583680" cy="2286000"/>
          </a:xfrm>
          <a:prstGeom prst="rect">
            <a:avLst/>
          </a:prstGeom>
          <a:noFill/>
          <a:ln/>
        </p:spPr>
        <p:txBody>
          <a:bodyPr wrap="square" lIns="0" tIns="0" rIns="0" bIns="0" rtlCol="0" anchor="ctr"/>
          <a:lstStyle/>
          <a:p>
            <a:pPr rtl="0" algn="r" indent="0" marL="0">
              <a:lnSpc>
                <a:spcPct val="95000"/>
              </a:lnSpc>
              <a:buNone/>
            </a:pPr>
            <a:r>
              <a:rPr lang="ar-KW" altLang="en-US" sz="7200" b="1" dirty="0">
                <a:solidFill>
                  <a:srgbClr val="16325C"/>
                </a:solidFill>
                <a:latin typeface="Arial" pitchFamily="34" charset="0"/>
                <a:ea typeface="Arial" pitchFamily="34" charset="-122"/>
                <a:cs typeface="Arial" pitchFamily="34" charset="-120"/>
              </a:rPr>
              <a:t>الترتيب</a:t>
            </a:r>
            <a:endParaRPr lang="ar-KW" sz="7200" dirty="0"/>
          </a:p>
          <a:p>
            <a:pPr rtl="0" algn="r" indent="0" marL="0">
              <a:lnSpc>
                <a:spcPct val="95000"/>
              </a:lnSpc>
              <a:buNone/>
            </a:pPr>
            <a:r>
              <a:rPr lang="ar-KW" altLang="en-US" sz="7200" b="1" dirty="0">
                <a:solidFill>
                  <a:srgbClr val="16325C"/>
                </a:solidFill>
                <a:latin typeface="Arial" pitchFamily="34" charset="0"/>
                <a:ea typeface="Arial" pitchFamily="34" charset="-122"/>
                <a:cs typeface="Arial" pitchFamily="34" charset="-120"/>
              </a:rPr>
              <a:t>الإلكتروني</a:t>
            </a:r>
            <a:endParaRPr lang="ar-KW" sz="7200" dirty="0"/>
          </a:p>
        </p:txBody>
      </p:sp>
      <p:sp>
        <p:nvSpPr>
          <p:cNvPr id="6" name="anim_1_4"/>
          <p:cNvSpPr txBox="1"/>
          <p:nvPr/>
        </p:nvSpPr>
        <p:spPr>
          <a:xfrm>
            <a:off x="5120640" y="4206240"/>
            <a:ext cx="6583680" cy="731520"/>
          </a:xfrm>
          <a:prstGeom prst="rect">
            <a:avLst/>
          </a:prstGeom>
          <a:noFill/>
          <a:ln/>
        </p:spPr>
        <p:txBody>
          <a:bodyPr wrap="square" lIns="0" tIns="0" rIns="0" bIns="0" rtlCol="0" anchor="ctr"/>
          <a:lstStyle/>
          <a:p>
            <a:pPr rtl="0" algn="r" indent="0" marL="0">
              <a:lnSpc>
                <a:spcPct val="105000"/>
              </a:lnSpc>
              <a:spcAft>
                <a:spcPts val="600"/>
              </a:spcAft>
              <a:buNone/>
            </a:pPr>
            <a:r>
              <a:rPr lang="en-US" altLang="en-US" sz="3600" b="1" dirty="0">
                <a:solidFill>
                  <a:srgbClr val="1F6FB2"/>
                </a:solidFill>
                <a:latin typeface="Arial" pitchFamily="34" charset="0"/>
                <a:ea typeface="Arial" pitchFamily="34" charset="-122"/>
                <a:cs typeface="Arial" pitchFamily="34" charset="-120"/>
              </a:rPr>
              <a:t>Electron Configuration</a:t>
            </a:r>
            <a:endParaRPr lang="en-US" sz="3600" dirty="0"/>
          </a:p>
        </p:txBody>
      </p:sp>
      <p:pic>
        <p:nvPicPr>
          <p:cNvPr id="7" name="anim_1_5" descr="lewis_C.png">    </p:cNvPr>
          <p:cNvPicPr>
            <a:picLocks noChangeAspect="1"/>
          </p:cNvPicPr>
          <p:nvPr/>
        </p:nvPicPr>
        <p:blipFill>
          <a:blip r:embed="rId2"/>
          <a:stretch>
            <a:fillRect/>
          </a:stretch>
        </p:blipFill>
        <p:spPr>
          <a:xfrm>
            <a:off x="10652760" y="5074920"/>
            <a:ext cx="959947" cy="1051560"/>
          </a:xfrm>
          <a:prstGeom prst="rect">
            <a:avLst/>
          </a:prstGeom>
        </p:spPr>
      </p:pic>
      <p:pic>
        <p:nvPicPr>
          <p:cNvPr id="8" name="anim_1_6" descr="lewis_N.png">    </p:cNvPr>
          <p:cNvPicPr>
            <a:picLocks noChangeAspect="1"/>
          </p:cNvPicPr>
          <p:nvPr/>
        </p:nvPicPr>
        <p:blipFill>
          <a:blip r:embed="rId3"/>
          <a:stretch>
            <a:fillRect/>
          </a:stretch>
        </p:blipFill>
        <p:spPr>
          <a:xfrm>
            <a:off x="9235440" y="5074920"/>
            <a:ext cx="959947" cy="1051560"/>
          </a:xfrm>
          <a:prstGeom prst="rect">
            <a:avLst/>
          </a:prstGeom>
        </p:spPr>
      </p:pic>
      <p:pic>
        <p:nvPicPr>
          <p:cNvPr id="9" name="anim_1_7" descr="lewis_F.png">    </p:cNvPr>
          <p:cNvPicPr>
            <a:picLocks noChangeAspect="1"/>
          </p:cNvPicPr>
          <p:nvPr/>
        </p:nvPicPr>
        <p:blipFill>
          <a:blip r:embed="rId4"/>
          <a:stretch>
            <a:fillRect/>
          </a:stretch>
        </p:blipFill>
        <p:spPr>
          <a:xfrm>
            <a:off x="7818120" y="5074920"/>
            <a:ext cx="959947" cy="1051560"/>
          </a:xfrm>
          <a:prstGeom prst="rect">
            <a:avLst/>
          </a:prstGeom>
        </p:spPr>
      </p:pic>
      <p:pic>
        <p:nvPicPr>
          <p:cNvPr id="10" name="anim_1_8" descr="lewis_Be.png">    </p:cNvPr>
          <p:cNvPicPr>
            <a:picLocks noChangeAspect="1"/>
          </p:cNvPicPr>
          <p:nvPr/>
        </p:nvPicPr>
        <p:blipFill>
          <a:blip r:embed="rId5"/>
          <a:stretch>
            <a:fillRect/>
          </a:stretch>
        </p:blipFill>
        <p:spPr>
          <a:xfrm>
            <a:off x="6400800" y="5074920"/>
            <a:ext cx="1230803" cy="105156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48" fill="hold">
                      <p:stCondLst>
                        <p:cond delay="indefinite"/>
                        <p:cond evt="onBegin" delay="0">
                          <p:tn val="2"/>
                        </p:cond>
                      </p:stCondLst>
                      <p:childTnLst>
                        <p:par>
                          <p:cTn id="40"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1000" fill="hold"/>
                                        <p:tgtEl>
                                          <p:spTgt spid="3"/>
                                        </p:tgtEl>
                                        <p:attrNameLst>
                                          <p:attrName>ppt_w</p:attrName>
                                        </p:attrNameLst>
                                      </p:cBhvr>
                                      <p:tavLst>
                                        <p:tav tm="0">
                                          <p:val>
                                            <p:fltVal val="0"/>
                                          </p:val>
                                        </p:tav>
                                        <p:tav tm="100000">
                                          <p:val>
                                            <p:strVal val="#ppt_w"/>
                                          </p:val>
                                        </p:tav>
                                      </p:tavLst>
                                    </p:anim>
                                    <p:anim calcmode="lin" valueType="num">
                                      <p:cBhvr additive="base">
                                        <p:cTn id="6" dur="1000" fill="hold"/>
                                        <p:tgtEl>
                                          <p:spTgt spid="3"/>
                                        </p:tgtEl>
                                        <p:attrNameLst>
                                          <p:attrName>ppt_h</p:attrName>
                                        </p:attrNameLst>
                                      </p:cBhvr>
                                      <p:tavLst>
                                        <p:tav tm="0">
                                          <p:val>
                                            <p:fltVal val="0"/>
                                          </p:val>
                                        </p:tav>
                                        <p:tav tm="100000">
                                          <p:val>
                                            <p:strVal val="#ppt_h"/>
                                          </p:val>
                                        </p:tav>
                                      </p:tavLst>
                                    </p:anim>
                                    <p:animEffect transition="in" filter="fade">
                                      <p:cBhvr>
                                        <p:cTn id="7" dur="1000"/>
                                        <p:tgtEl>
                                          <p:spTgt spid="3"/>
                                        </p:tgtEl>
                                      </p:cBhvr>
                                    </p:animEffect>
                                  </p:childTnLst>
                                </p:cTn>
                              </p:par>
                            </p:childTnLst>
                          </p:cTn>
                        </p:par>
                        <p:par>
                          <p:cTn id="41" fill="hold">
                            <p:stCondLst>
                              <p:cond delay="1000"/>
                            </p:stCondLst>
                            <p:childTnLst>
                              <p:par>
                                <p:cTn id="8" presetID="2" presetClass="entr" presetSubtype="2"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700" fill="hold"/>
                                        <p:tgtEl>
                                          <p:spTgt spid="4"/>
                                        </p:tgtEl>
                                        <p:attrNameLst>
                                          <p:attrName>ppt_x</p:attrName>
                                        </p:attrNameLst>
                                      </p:cBhvr>
                                      <p:tavLst>
                                        <p:tav tm="0">
                                          <p:val>
                                            <p:strVal val="1+#ppt_w/2"/>
                                          </p:val>
                                        </p:tav>
                                        <p:tav tm="100000">
                                          <p:val>
                                            <p:strVal val="#ppt_x"/>
                                          </p:val>
                                        </p:tav>
                                      </p:tavLst>
                                    </p:anim>
                                    <p:anim calcmode="lin" valueType="num">
                                      <p:cBhvr additive="base">
                                        <p:cTn id="11" dur="700" fill="hold"/>
                                        <p:tgtEl>
                                          <p:spTgt spid="4"/>
                                        </p:tgtEl>
                                        <p:attrNameLst>
                                          <p:attrName>ppt_y</p:attrName>
                                        </p:attrNameLst>
                                      </p:cBhvr>
                                      <p:tavLst>
                                        <p:tav tm="0">
                                          <p:val>
                                            <p:strVal val="#ppt_y"/>
                                          </p:val>
                                        </p:tav>
                                        <p:tav tm="100000">
                                          <p:val>
                                            <p:strVal val="#ppt_y"/>
                                          </p:val>
                                        </p:tav>
                                      </p:tavLst>
                                    </p:anim>
                                  </p:childTnLst>
                                </p:cTn>
                              </p:par>
                            </p:childTnLst>
                          </p:cTn>
                        </p:par>
                        <p:par>
                          <p:cTn id="42" fill="hold">
                            <p:stCondLst>
                              <p:cond delay="1700"/>
                            </p:stCondLst>
                            <p:childTnLst>
                              <p:par>
                                <p:cTn id="12" presetID="22" presetClass="entr" presetSubtype="2"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right)">
                                      <p:cBhvr>
                                        <p:cTn id="14" dur="1300"/>
                                        <p:tgtEl>
                                          <p:spTgt spid="5"/>
                                        </p:tgtEl>
                                      </p:cBhvr>
                                    </p:animEffect>
                                  </p:childTnLst>
                                </p:cTn>
                              </p:par>
                            </p:childTnLst>
                          </p:cTn>
                        </p:par>
                        <p:par>
                          <p:cTn id="43" fill="hold">
                            <p:stCondLst>
                              <p:cond delay="3000"/>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900"/>
                                        <p:tgtEl>
                                          <p:spTgt spid="6"/>
                                        </p:tgtEl>
                                      </p:cBhvr>
                                    </p:animEffect>
                                    <p:anim calcmode="lin" valueType="num">
                                      <p:cBhvr additive="base">
                                        <p:cTn id="18" dur="900" fill="hold"/>
                                        <p:tgtEl>
                                          <p:spTgt spid="6"/>
                                        </p:tgtEl>
                                        <p:attrNameLst>
                                          <p:attrName>ppt_x</p:attrName>
                                        </p:attrNameLst>
                                      </p:cBhvr>
                                      <p:tavLst>
                                        <p:tav tm="0">
                                          <p:val>
                                            <p:strVal val="#ppt_x"/>
                                          </p:val>
                                        </p:tav>
                                        <p:tav tm="100000">
                                          <p:val>
                                            <p:strVal val="#ppt_x"/>
                                          </p:val>
                                        </p:tav>
                                      </p:tavLst>
                                    </p:anim>
                                    <p:anim calcmode="lin" valueType="num">
                                      <p:cBhvr additive="base">
                                        <p:cTn id="19" dur="900" fill="hold"/>
                                        <p:tgtEl>
                                          <p:spTgt spid="6"/>
                                        </p:tgtEl>
                                        <p:attrNameLst>
                                          <p:attrName>ppt_y</p:attrName>
                                        </p:attrNameLst>
                                      </p:cBhvr>
                                      <p:tavLst>
                                        <p:tav tm="0">
                                          <p:val>
                                            <p:strVal val="#ppt_y+.1"/>
                                          </p:val>
                                        </p:tav>
                                        <p:tav tm="100000">
                                          <p:val>
                                            <p:strVal val="#ppt_y"/>
                                          </p:val>
                                        </p:tav>
                                      </p:tavLst>
                                    </p:anim>
                                  </p:childTnLst>
                                </p:cTn>
                              </p:par>
                            </p:childTnLst>
                          </p:cTn>
                        </p:par>
                        <p:par>
                          <p:cTn id="44" fill="hold">
                            <p:stCondLst>
                              <p:cond delay="3900"/>
                            </p:stCondLst>
                            <p:childTnLst>
                              <p:par>
                                <p:cTn id="20" presetID="53" presetClass="entr" presetSubtype="1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400" fill="hold"/>
                                        <p:tgtEl>
                                          <p:spTgt spid="7"/>
                                        </p:tgtEl>
                                        <p:attrNameLst>
                                          <p:attrName>ppt_w</p:attrName>
                                        </p:attrNameLst>
                                      </p:cBhvr>
                                      <p:tavLst>
                                        <p:tav tm="0">
                                          <p:val>
                                            <p:fltVal val="0"/>
                                          </p:val>
                                        </p:tav>
                                        <p:tav tm="100000">
                                          <p:val>
                                            <p:strVal val="#ppt_w"/>
                                          </p:val>
                                        </p:tav>
                                      </p:tavLst>
                                    </p:anim>
                                    <p:anim calcmode="lin" valueType="num">
                                      <p:cBhvr additive="base">
                                        <p:cTn id="23" dur="400" fill="hold"/>
                                        <p:tgtEl>
                                          <p:spTgt spid="7"/>
                                        </p:tgtEl>
                                        <p:attrNameLst>
                                          <p:attrName>ppt_h</p:attrName>
                                        </p:attrNameLst>
                                      </p:cBhvr>
                                      <p:tavLst>
                                        <p:tav tm="0">
                                          <p:val>
                                            <p:fltVal val="0"/>
                                          </p:val>
                                        </p:tav>
                                        <p:tav tm="100000">
                                          <p:val>
                                            <p:strVal val="#ppt_h"/>
                                          </p:val>
                                        </p:tav>
                                      </p:tavLst>
                                    </p:anim>
                                    <p:animEffect transition="in" filter="fade">
                                      <p:cBhvr>
                                        <p:cTn id="24" dur="400"/>
                                        <p:tgtEl>
                                          <p:spTgt spid="7"/>
                                        </p:tgtEl>
                                      </p:cBhvr>
                                    </p:animEffect>
                                  </p:childTnLst>
                                </p:cTn>
                              </p:par>
                            </p:childTnLst>
                          </p:cTn>
                        </p:par>
                        <p:par>
                          <p:cTn id="45" fill="hold">
                            <p:stCondLst>
                              <p:cond delay="4300"/>
                            </p:stCondLst>
                            <p:childTnLst>
                              <p:par>
                                <p:cTn id="25" presetID="53" presetClass="entr" presetSubtype="16"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400" fill="hold"/>
                                        <p:tgtEl>
                                          <p:spTgt spid="8"/>
                                        </p:tgtEl>
                                        <p:attrNameLst>
                                          <p:attrName>ppt_w</p:attrName>
                                        </p:attrNameLst>
                                      </p:cBhvr>
                                      <p:tavLst>
                                        <p:tav tm="0">
                                          <p:val>
                                            <p:fltVal val="0"/>
                                          </p:val>
                                        </p:tav>
                                        <p:tav tm="100000">
                                          <p:val>
                                            <p:strVal val="#ppt_w"/>
                                          </p:val>
                                        </p:tav>
                                      </p:tavLst>
                                    </p:anim>
                                    <p:anim calcmode="lin" valueType="num">
                                      <p:cBhvr additive="base">
                                        <p:cTn id="28" dur="400" fill="hold"/>
                                        <p:tgtEl>
                                          <p:spTgt spid="8"/>
                                        </p:tgtEl>
                                        <p:attrNameLst>
                                          <p:attrName>ppt_h</p:attrName>
                                        </p:attrNameLst>
                                      </p:cBhvr>
                                      <p:tavLst>
                                        <p:tav tm="0">
                                          <p:val>
                                            <p:fltVal val="0"/>
                                          </p:val>
                                        </p:tav>
                                        <p:tav tm="100000">
                                          <p:val>
                                            <p:strVal val="#ppt_h"/>
                                          </p:val>
                                        </p:tav>
                                      </p:tavLst>
                                    </p:anim>
                                    <p:animEffect transition="in" filter="fade">
                                      <p:cBhvr>
                                        <p:cTn id="29" dur="400"/>
                                        <p:tgtEl>
                                          <p:spTgt spid="8"/>
                                        </p:tgtEl>
                                      </p:cBhvr>
                                    </p:animEffect>
                                  </p:childTnLst>
                                </p:cTn>
                              </p:par>
                            </p:childTnLst>
                          </p:cTn>
                        </p:par>
                        <p:par>
                          <p:cTn id="46" fill="hold">
                            <p:stCondLst>
                              <p:cond delay="4700"/>
                            </p:stCondLst>
                            <p:childTnLst>
                              <p:par>
                                <p:cTn id="30" presetID="53" presetClass="entr" presetSubtype="16"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400" fill="hold"/>
                                        <p:tgtEl>
                                          <p:spTgt spid="9"/>
                                        </p:tgtEl>
                                        <p:attrNameLst>
                                          <p:attrName>ppt_w</p:attrName>
                                        </p:attrNameLst>
                                      </p:cBhvr>
                                      <p:tavLst>
                                        <p:tav tm="0">
                                          <p:val>
                                            <p:fltVal val="0"/>
                                          </p:val>
                                        </p:tav>
                                        <p:tav tm="100000">
                                          <p:val>
                                            <p:strVal val="#ppt_w"/>
                                          </p:val>
                                        </p:tav>
                                      </p:tavLst>
                                    </p:anim>
                                    <p:anim calcmode="lin" valueType="num">
                                      <p:cBhvr additive="base">
                                        <p:cTn id="33" dur="400" fill="hold"/>
                                        <p:tgtEl>
                                          <p:spTgt spid="9"/>
                                        </p:tgtEl>
                                        <p:attrNameLst>
                                          <p:attrName>ppt_h</p:attrName>
                                        </p:attrNameLst>
                                      </p:cBhvr>
                                      <p:tavLst>
                                        <p:tav tm="0">
                                          <p:val>
                                            <p:fltVal val="0"/>
                                          </p:val>
                                        </p:tav>
                                        <p:tav tm="100000">
                                          <p:val>
                                            <p:strVal val="#ppt_h"/>
                                          </p:val>
                                        </p:tav>
                                      </p:tavLst>
                                    </p:anim>
                                    <p:animEffect transition="in" filter="fade">
                                      <p:cBhvr>
                                        <p:cTn id="34" dur="400"/>
                                        <p:tgtEl>
                                          <p:spTgt spid="9"/>
                                        </p:tgtEl>
                                      </p:cBhvr>
                                    </p:animEffect>
                                  </p:childTnLst>
                                </p:cTn>
                              </p:par>
                            </p:childTnLst>
                          </p:cTn>
                        </p:par>
                        <p:par>
                          <p:cTn id="47" fill="hold">
                            <p:stCondLst>
                              <p:cond delay="5100"/>
                            </p:stCondLst>
                            <p:childTnLst>
                              <p:par>
                                <p:cTn id="35" presetID="53" presetClass="entr" presetSubtype="16"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400" fill="hold"/>
                                        <p:tgtEl>
                                          <p:spTgt spid="10"/>
                                        </p:tgtEl>
                                        <p:attrNameLst>
                                          <p:attrName>ppt_w</p:attrName>
                                        </p:attrNameLst>
                                      </p:cBhvr>
                                      <p:tavLst>
                                        <p:tav tm="0">
                                          <p:val>
                                            <p:fltVal val="0"/>
                                          </p:val>
                                        </p:tav>
                                        <p:tav tm="100000">
                                          <p:val>
                                            <p:strVal val="#ppt_w"/>
                                          </p:val>
                                        </p:tav>
                                      </p:tavLst>
                                    </p:anim>
                                    <p:anim calcmode="lin" valueType="num">
                                      <p:cBhvr additive="base">
                                        <p:cTn id="38" dur="400" fill="hold"/>
                                        <p:tgtEl>
                                          <p:spTgt spid="10"/>
                                        </p:tgtEl>
                                        <p:attrNameLst>
                                          <p:attrName>ppt_h</p:attrName>
                                        </p:attrNameLst>
                                      </p:cBhvr>
                                      <p:tavLst>
                                        <p:tav tm="0">
                                          <p:val>
                                            <p:fltVal val="0"/>
                                          </p:val>
                                        </p:tav>
                                        <p:tav tm="100000">
                                          <p:val>
                                            <p:strVal val="#ppt_h"/>
                                          </p:val>
                                        </p:tav>
                                      </p:tavLst>
                                    </p:anim>
                                    <p:animEffect transition="in" filter="fade">
                                      <p:cBhvr>
                                        <p:cTn id="3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anim_2_9"/>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ماذا سأتعلم ؟</a:t>
            </a:r>
            <a:endParaRPr lang="ar-KW" sz="3600" dirty="0"/>
          </a:p>
        </p:txBody>
      </p:sp>
      <p:pic>
        <p:nvPicPr>
          <p:cNvPr id="4" name="anim_2_10"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2_11" descr="octet.png">    </p:cNvPr>
          <p:cNvPicPr>
            <a:picLocks noChangeAspect="1"/>
          </p:cNvPicPr>
          <p:nvPr/>
        </p:nvPicPr>
        <p:blipFill>
          <a:blip r:embed="rId2"/>
          <a:stretch>
            <a:fillRect/>
          </a:stretch>
        </p:blipFill>
        <p:spPr>
          <a:xfrm>
            <a:off x="411480" y="1691640"/>
            <a:ext cx="4297680" cy="4297680"/>
          </a:xfrm>
          <a:prstGeom prst="rect">
            <a:avLst/>
          </a:prstGeom>
        </p:spPr>
      </p:pic>
      <p:sp>
        <p:nvSpPr>
          <p:cNvPr id="6" name="anim_2_12"/>
          <p:cNvSpPr/>
          <p:nvPr/>
        </p:nvSpPr>
        <p:spPr>
          <a:xfrm>
            <a:off x="5120640" y="1783080"/>
            <a:ext cx="6629400" cy="896112"/>
          </a:xfrm>
          <a:prstGeom prst="roundRect">
            <a:avLst>
              <a:gd name="adj" fmla="val 50000"/>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7" name="anim_2_13"/>
          <p:cNvSpPr txBox="1"/>
          <p:nvPr/>
        </p:nvSpPr>
        <p:spPr>
          <a:xfrm>
            <a:off x="5257800" y="1783080"/>
            <a:ext cx="5486400" cy="896112"/>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800" b="1" dirty="0">
                <a:solidFill>
                  <a:srgbClr val="16325C"/>
                </a:solidFill>
                <a:latin typeface="Arial" pitchFamily="34" charset="0"/>
                <a:ea typeface="Arial" pitchFamily="34" charset="-122"/>
                <a:cs typeface="Arial" pitchFamily="34" charset="-120"/>
              </a:rPr>
              <a:t>مفهوم التكافؤ وإلكترونات التكافؤ.</a:t>
            </a:r>
            <a:endParaRPr lang="ar-KW" sz="2800" dirty="0"/>
          </a:p>
        </p:txBody>
      </p:sp>
      <p:pic>
        <p:nvPicPr>
          <p:cNvPr id="8" name="anim_2_14" descr="sp_teal.png">    </p:cNvPr>
          <p:cNvPicPr>
            <a:picLocks noChangeAspect="1"/>
          </p:cNvPicPr>
          <p:nvPr/>
        </p:nvPicPr>
        <p:blipFill>
          <a:blip r:embed="rId3"/>
          <a:stretch>
            <a:fillRect/>
          </a:stretch>
        </p:blipFill>
        <p:spPr>
          <a:xfrm>
            <a:off x="10881360" y="1819656"/>
            <a:ext cx="822960" cy="822960"/>
          </a:xfrm>
          <a:prstGeom prst="rect">
            <a:avLst/>
          </a:prstGeom>
        </p:spPr>
      </p:pic>
      <p:sp>
        <p:nvSpPr>
          <p:cNvPr id="9" name="anim_2_15"/>
          <p:cNvSpPr txBox="1"/>
          <p:nvPr/>
        </p:nvSpPr>
        <p:spPr>
          <a:xfrm>
            <a:off x="10881360" y="1885493"/>
            <a:ext cx="822960" cy="65836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700" b="1" dirty="0">
                <a:solidFill>
                  <a:srgbClr val="FFFFFF"/>
                </a:solidFill>
                <a:latin typeface="Arial" pitchFamily="34" charset="0"/>
                <a:ea typeface="Arial" pitchFamily="34" charset="-122"/>
                <a:cs typeface="Arial" pitchFamily="34" charset="-120"/>
              </a:rPr>
              <a:t>1</a:t>
            </a:r>
            <a:endParaRPr lang="en-US" sz="2700" dirty="0"/>
          </a:p>
        </p:txBody>
      </p:sp>
      <p:sp>
        <p:nvSpPr>
          <p:cNvPr id="10" name="anim_2_16"/>
          <p:cNvSpPr/>
          <p:nvPr/>
        </p:nvSpPr>
        <p:spPr>
          <a:xfrm>
            <a:off x="5120640" y="2862072"/>
            <a:ext cx="6629400" cy="896112"/>
          </a:xfrm>
          <a:prstGeom prst="roundRect">
            <a:avLst>
              <a:gd name="adj" fmla="val 50000"/>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11" name="anim_2_17"/>
          <p:cNvSpPr txBox="1"/>
          <p:nvPr/>
        </p:nvSpPr>
        <p:spPr>
          <a:xfrm>
            <a:off x="5257800" y="2862072"/>
            <a:ext cx="5486400" cy="896112"/>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800" b="1" dirty="0">
                <a:solidFill>
                  <a:srgbClr val="16325C"/>
                </a:solidFill>
                <a:latin typeface="Arial" pitchFamily="34" charset="0"/>
                <a:ea typeface="Arial" pitchFamily="34" charset="-122"/>
                <a:cs typeface="Arial" pitchFamily="34" charset="-120"/>
              </a:rPr>
              <a:t>الترتيب الإلكتروني النقطي (تمثيل لويس).</a:t>
            </a:r>
            <a:endParaRPr lang="ar-KW" sz="2800" dirty="0"/>
          </a:p>
        </p:txBody>
      </p:sp>
      <p:pic>
        <p:nvPicPr>
          <p:cNvPr id="12" name="anim_2_18" descr="sp_coral.png">    </p:cNvPr>
          <p:cNvPicPr>
            <a:picLocks noChangeAspect="1"/>
          </p:cNvPicPr>
          <p:nvPr/>
        </p:nvPicPr>
        <p:blipFill>
          <a:blip r:embed="rId4"/>
          <a:stretch>
            <a:fillRect/>
          </a:stretch>
        </p:blipFill>
        <p:spPr>
          <a:xfrm>
            <a:off x="10881360" y="2898648"/>
            <a:ext cx="822960" cy="822960"/>
          </a:xfrm>
          <a:prstGeom prst="rect">
            <a:avLst/>
          </a:prstGeom>
        </p:spPr>
      </p:pic>
      <p:sp>
        <p:nvSpPr>
          <p:cNvPr id="13" name="anim_2_19"/>
          <p:cNvSpPr txBox="1"/>
          <p:nvPr/>
        </p:nvSpPr>
        <p:spPr>
          <a:xfrm>
            <a:off x="10881360" y="2964485"/>
            <a:ext cx="822960" cy="65836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700" b="1" dirty="0">
                <a:solidFill>
                  <a:srgbClr val="FFFFFF"/>
                </a:solidFill>
                <a:latin typeface="Arial" pitchFamily="34" charset="0"/>
                <a:ea typeface="Arial" pitchFamily="34" charset="-122"/>
                <a:cs typeface="Arial" pitchFamily="34" charset="-120"/>
              </a:rPr>
              <a:t>2</a:t>
            </a:r>
            <a:endParaRPr lang="en-US" sz="2700" dirty="0"/>
          </a:p>
        </p:txBody>
      </p:sp>
      <p:sp>
        <p:nvSpPr>
          <p:cNvPr id="14" name="anim_2_20"/>
          <p:cNvSpPr/>
          <p:nvPr/>
        </p:nvSpPr>
        <p:spPr>
          <a:xfrm>
            <a:off x="5120640" y="3941064"/>
            <a:ext cx="6629400" cy="896112"/>
          </a:xfrm>
          <a:prstGeom prst="roundRect">
            <a:avLst>
              <a:gd name="adj" fmla="val 50000"/>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15" name="anim_2_21"/>
          <p:cNvSpPr txBox="1"/>
          <p:nvPr/>
        </p:nvSpPr>
        <p:spPr>
          <a:xfrm>
            <a:off x="5257800" y="3941064"/>
            <a:ext cx="5486400" cy="896112"/>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800" b="1" dirty="0">
                <a:solidFill>
                  <a:srgbClr val="16325C"/>
                </a:solidFill>
                <a:latin typeface="Arial" pitchFamily="34" charset="0"/>
                <a:ea typeface="Arial" pitchFamily="34" charset="-122"/>
                <a:cs typeface="Arial" pitchFamily="34" charset="-120"/>
              </a:rPr>
              <a:t>قاعدة الثمانية.</a:t>
            </a:r>
            <a:endParaRPr lang="ar-KW" sz="2800" dirty="0"/>
          </a:p>
        </p:txBody>
      </p:sp>
      <p:pic>
        <p:nvPicPr>
          <p:cNvPr id="16" name="anim_2_22" descr="sp_gold.png">    </p:cNvPr>
          <p:cNvPicPr>
            <a:picLocks noChangeAspect="1"/>
          </p:cNvPicPr>
          <p:nvPr/>
        </p:nvPicPr>
        <p:blipFill>
          <a:blip r:embed="rId5"/>
          <a:stretch>
            <a:fillRect/>
          </a:stretch>
        </p:blipFill>
        <p:spPr>
          <a:xfrm>
            <a:off x="10881360" y="3977640"/>
            <a:ext cx="822960" cy="822960"/>
          </a:xfrm>
          <a:prstGeom prst="rect">
            <a:avLst/>
          </a:prstGeom>
        </p:spPr>
      </p:pic>
      <p:sp>
        <p:nvSpPr>
          <p:cNvPr id="17" name="anim_2_23"/>
          <p:cNvSpPr txBox="1"/>
          <p:nvPr/>
        </p:nvSpPr>
        <p:spPr>
          <a:xfrm>
            <a:off x="10881360" y="4043477"/>
            <a:ext cx="822960" cy="65836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700" b="1" dirty="0">
                <a:solidFill>
                  <a:srgbClr val="FFFFFF"/>
                </a:solidFill>
                <a:latin typeface="Arial" pitchFamily="34" charset="0"/>
                <a:ea typeface="Arial" pitchFamily="34" charset="-122"/>
                <a:cs typeface="Arial" pitchFamily="34" charset="-120"/>
              </a:rPr>
              <a:t>3</a:t>
            </a:r>
            <a:endParaRPr lang="en-US" sz="2700" dirty="0"/>
          </a:p>
        </p:txBody>
      </p:sp>
      <p:sp>
        <p:nvSpPr>
          <p:cNvPr id="18" name="anim_2_24"/>
          <p:cNvSpPr/>
          <p:nvPr/>
        </p:nvSpPr>
        <p:spPr>
          <a:xfrm>
            <a:off x="5120640" y="5020056"/>
            <a:ext cx="6629400" cy="896112"/>
          </a:xfrm>
          <a:prstGeom prst="roundRect">
            <a:avLst>
              <a:gd name="adj" fmla="val 50000"/>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19" name="anim_2_25"/>
          <p:cNvSpPr txBox="1"/>
          <p:nvPr/>
        </p:nvSpPr>
        <p:spPr>
          <a:xfrm>
            <a:off x="5257800" y="5020056"/>
            <a:ext cx="5486400" cy="896112"/>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800" b="1" dirty="0">
                <a:solidFill>
                  <a:srgbClr val="16325C"/>
                </a:solidFill>
                <a:latin typeface="Arial" pitchFamily="34" charset="0"/>
                <a:ea typeface="Arial" pitchFamily="34" charset="-122"/>
                <a:cs typeface="Arial" pitchFamily="34" charset="-120"/>
              </a:rPr>
              <a:t>الترتيب الإلكتروني للكاتيونات والأنيونات.</a:t>
            </a:r>
            <a:endParaRPr lang="ar-KW" sz="2800" dirty="0"/>
          </a:p>
        </p:txBody>
      </p:sp>
      <p:pic>
        <p:nvPicPr>
          <p:cNvPr id="20" name="anim_2_26" descr="sp_purple.png">    </p:cNvPr>
          <p:cNvPicPr>
            <a:picLocks noChangeAspect="1"/>
          </p:cNvPicPr>
          <p:nvPr/>
        </p:nvPicPr>
        <p:blipFill>
          <a:blip r:embed="rId6"/>
          <a:stretch>
            <a:fillRect/>
          </a:stretch>
        </p:blipFill>
        <p:spPr>
          <a:xfrm>
            <a:off x="10881360" y="5056632"/>
            <a:ext cx="822960" cy="822960"/>
          </a:xfrm>
          <a:prstGeom prst="rect">
            <a:avLst/>
          </a:prstGeom>
        </p:spPr>
      </p:pic>
      <p:sp>
        <p:nvSpPr>
          <p:cNvPr id="21" name="anim_2_27"/>
          <p:cNvSpPr txBox="1"/>
          <p:nvPr/>
        </p:nvSpPr>
        <p:spPr>
          <a:xfrm>
            <a:off x="10881360" y="5122469"/>
            <a:ext cx="822960" cy="65836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700" b="1" dirty="0">
                <a:solidFill>
                  <a:srgbClr val="FFFFFF"/>
                </a:solidFill>
                <a:latin typeface="Arial" pitchFamily="34" charset="0"/>
                <a:ea typeface="Arial" pitchFamily="34" charset="-122"/>
                <a:cs typeface="Arial" pitchFamily="34" charset="-120"/>
              </a:rPr>
              <a:t>4</a:t>
            </a:r>
            <a:endParaRPr lang="en-US" sz="27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82" fill="hold">
                      <p:stCondLst>
                        <p:cond delay="indefinite"/>
                        <p:cond evt="onBegin" delay="0">
                          <p:tn val="2"/>
                        </p:cond>
                      </p:stCondLst>
                      <p:childTnLst>
                        <p:par>
                          <p:cTn id="76"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77"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900" fill="hold"/>
                                        <p:tgtEl>
                                          <p:spTgt spid="5"/>
                                        </p:tgtEl>
                                        <p:attrNameLst>
                                          <p:attrName>ppt_w</p:attrName>
                                        </p:attrNameLst>
                                      </p:cBhvr>
                                      <p:tavLst>
                                        <p:tav tm="0">
                                          <p:val>
                                            <p:fltVal val="0"/>
                                          </p:val>
                                        </p:tav>
                                        <p:tav tm="100000">
                                          <p:val>
                                            <p:strVal val="#ppt_w"/>
                                          </p:val>
                                        </p:tav>
                                      </p:tavLst>
                                    </p:anim>
                                    <p:anim calcmode="lin" valueType="num">
                                      <p:cBhvr additive="base">
                                        <p:cTn id="14" dur="900" fill="hold"/>
                                        <p:tgtEl>
                                          <p:spTgt spid="5"/>
                                        </p:tgtEl>
                                        <p:attrNameLst>
                                          <p:attrName>ppt_h</p:attrName>
                                        </p:attrNameLst>
                                      </p:cBhvr>
                                      <p:tavLst>
                                        <p:tav tm="0">
                                          <p:val>
                                            <p:fltVal val="0"/>
                                          </p:val>
                                        </p:tav>
                                        <p:tav tm="100000">
                                          <p:val>
                                            <p:strVal val="#ppt_h"/>
                                          </p:val>
                                        </p:tav>
                                      </p:tavLst>
                                    </p:anim>
                                    <p:animEffect transition="in" filter="fade">
                                      <p:cBhvr>
                                        <p:cTn id="15" dur="900"/>
                                        <p:tgtEl>
                                          <p:spTgt spid="5"/>
                                        </p:tgtEl>
                                      </p:cBhvr>
                                    </p:animEffect>
                                  </p:childTnLst>
                                </p:cTn>
                              </p:par>
                            </p:childTnLst>
                          </p:cTn>
                        </p:par>
                        <p:par>
                          <p:cTn id="78" fill="hold">
                            <p:stCondLst>
                              <p:cond delay="1700"/>
                            </p:stCondLst>
                            <p:childTnLst>
                              <p:par>
                                <p:cTn id="16" presetID="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par>
                                <p:cTn id="20" presetID="22" presetClass="entr" presetSubtype="2" fill="hold" grpId="0" nodeType="withEffect">
                                  <p:stCondLst>
                                    <p:cond delay="15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700"/>
                                        <p:tgtEl>
                                          <p:spTgt spid="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ppt_w</p:attrName>
                                        </p:attrNameLst>
                                      </p:cBhvr>
                                      <p:tavLst>
                                        <p:tav tm="0">
                                          <p:val>
                                            <p:fltVal val="0"/>
                                          </p:val>
                                        </p:tav>
                                        <p:tav tm="100000">
                                          <p:val>
                                            <p:strVal val="#ppt_w"/>
                                          </p:val>
                                        </p:tav>
                                      </p:tavLst>
                                    </p:anim>
                                    <p:anim calcmode="lin" valueType="num">
                                      <p:cBhvr additive="base">
                                        <p:cTn id="26" dur="500" fill="hold"/>
                                        <p:tgtEl>
                                          <p:spTgt spid="8"/>
                                        </p:tgtEl>
                                        <p:attrNameLst>
                                          <p:attrName>ppt_h</p:attrName>
                                        </p:attrNameLst>
                                      </p:cBhvr>
                                      <p:tavLst>
                                        <p:tav tm="0">
                                          <p:val>
                                            <p:fltVal val="0"/>
                                          </p:val>
                                        </p:tav>
                                        <p:tav tm="100000">
                                          <p:val>
                                            <p:strVal val="#ppt_h"/>
                                          </p:val>
                                        </p:tav>
                                      </p:tavLst>
                                    </p:anim>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00"/>
                                        <p:tgtEl>
                                          <p:spTgt spid="9"/>
                                        </p:tgtEl>
                                      </p:cBhvr>
                                    </p:animEffect>
                                  </p:childTnLst>
                                </p:cTn>
                              </p:par>
                            </p:childTnLst>
                          </p:cTn>
                        </p:par>
                        <p:par>
                          <p:cTn id="79" fill="hold">
                            <p:stCondLst>
                              <p:cond delay="2550"/>
                            </p:stCondLst>
                            <p:childTnLst>
                              <p:par>
                                <p:cTn id="31" presetID="2" presetClass="entr" presetSubtype="2"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1+#ppt_w/2"/>
                                          </p:val>
                                        </p:tav>
                                        <p:tav tm="100000">
                                          <p:val>
                                            <p:strVal val="#ppt_x"/>
                                          </p:val>
                                        </p:tav>
                                      </p:tavLst>
                                    </p:anim>
                                    <p:anim calcmode="lin" valueType="num">
                                      <p:cBhvr additive="base">
                                        <p:cTn id="34" dur="500" fill="hold"/>
                                        <p:tgtEl>
                                          <p:spTgt spid="10"/>
                                        </p:tgtEl>
                                        <p:attrNameLst>
                                          <p:attrName>ppt_y</p:attrName>
                                        </p:attrNameLst>
                                      </p:cBhvr>
                                      <p:tavLst>
                                        <p:tav tm="0">
                                          <p:val>
                                            <p:strVal val="#ppt_y"/>
                                          </p:val>
                                        </p:tav>
                                        <p:tav tm="100000">
                                          <p:val>
                                            <p:strVal val="#ppt_y"/>
                                          </p:val>
                                        </p:tav>
                                      </p:tavLst>
                                    </p:anim>
                                  </p:childTnLst>
                                </p:cTn>
                              </p:par>
                              <p:par>
                                <p:cTn id="35" presetID="22" presetClass="entr" presetSubtype="2" fill="hold" grpId="0" nodeType="withEffect">
                                  <p:stCondLst>
                                    <p:cond delay="150"/>
                                  </p:stCondLst>
                                  <p:childTnLst>
                                    <p:set>
                                      <p:cBhvr>
                                        <p:cTn id="36" dur="1" fill="hold">
                                          <p:stCondLst>
                                            <p:cond delay="0"/>
                                          </p:stCondLst>
                                        </p:cTn>
                                        <p:tgtEl>
                                          <p:spTgt spid="11"/>
                                        </p:tgtEl>
                                        <p:attrNameLst>
                                          <p:attrName>style.visibility</p:attrName>
                                        </p:attrNameLst>
                                      </p:cBhvr>
                                      <p:to>
                                        <p:strVal val="visible"/>
                                      </p:to>
                                    </p:set>
                                    <p:animEffect transition="in" filter="wipe(right)">
                                      <p:cBhvr>
                                        <p:cTn id="37" dur="700"/>
                                        <p:tgtEl>
                                          <p:spTgt spid="11"/>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ppt_w</p:attrName>
                                        </p:attrNameLst>
                                      </p:cBhvr>
                                      <p:tavLst>
                                        <p:tav tm="0">
                                          <p:val>
                                            <p:fltVal val="0"/>
                                          </p:val>
                                        </p:tav>
                                        <p:tav tm="100000">
                                          <p:val>
                                            <p:strVal val="#ppt_w"/>
                                          </p:val>
                                        </p:tav>
                                      </p:tavLst>
                                    </p:anim>
                                    <p:anim calcmode="lin" valueType="num">
                                      <p:cBhvr additive="base">
                                        <p:cTn id="41" dur="500" fill="hold"/>
                                        <p:tgtEl>
                                          <p:spTgt spid="12"/>
                                        </p:tgtEl>
                                        <p:attrNameLst>
                                          <p:attrName>ppt_h</p:attrName>
                                        </p:attrNameLst>
                                      </p:cBhvr>
                                      <p:tavLst>
                                        <p:tav tm="0">
                                          <p:val>
                                            <p:fltVal val="0"/>
                                          </p:val>
                                        </p:tav>
                                        <p:tav tm="100000">
                                          <p:val>
                                            <p:strVal val="#ppt_h"/>
                                          </p:val>
                                        </p:tav>
                                      </p:tavLst>
                                    </p:anim>
                                    <p:animEffect transition="in" filter="fade">
                                      <p:cBhvr>
                                        <p:cTn id="42" dur="50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300"/>
                                        <p:tgtEl>
                                          <p:spTgt spid="13"/>
                                        </p:tgtEl>
                                      </p:cBhvr>
                                    </p:animEffect>
                                  </p:childTnLst>
                                </p:cTn>
                              </p:par>
                            </p:childTnLst>
                          </p:cTn>
                        </p:par>
                        <p:par>
                          <p:cTn id="80" fill="hold">
                            <p:stCondLst>
                              <p:cond delay="3400"/>
                            </p:stCondLst>
                            <p:childTnLst>
                              <p:par>
                                <p:cTn id="46" presetID="2" presetClass="entr" presetSubtype="2"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ppt_x</p:attrName>
                                        </p:attrNameLst>
                                      </p:cBhvr>
                                      <p:tavLst>
                                        <p:tav tm="0">
                                          <p:val>
                                            <p:strVal val="1+#ppt_w/2"/>
                                          </p:val>
                                        </p:tav>
                                        <p:tav tm="100000">
                                          <p:val>
                                            <p:strVal val="#ppt_x"/>
                                          </p:val>
                                        </p:tav>
                                      </p:tavLst>
                                    </p:anim>
                                    <p:anim calcmode="lin" valueType="num">
                                      <p:cBhvr additive="base">
                                        <p:cTn id="49" dur="500" fill="hold"/>
                                        <p:tgtEl>
                                          <p:spTgt spid="14"/>
                                        </p:tgtEl>
                                        <p:attrNameLst>
                                          <p:attrName>ppt_y</p:attrName>
                                        </p:attrNameLst>
                                      </p:cBhvr>
                                      <p:tavLst>
                                        <p:tav tm="0">
                                          <p:val>
                                            <p:strVal val="#ppt_y"/>
                                          </p:val>
                                        </p:tav>
                                        <p:tav tm="100000">
                                          <p:val>
                                            <p:strVal val="#ppt_y"/>
                                          </p:val>
                                        </p:tav>
                                      </p:tavLst>
                                    </p:anim>
                                  </p:childTnLst>
                                </p:cTn>
                              </p:par>
                              <p:par>
                                <p:cTn id="50" presetID="22" presetClass="entr" presetSubtype="2" fill="hold" grpId="0" nodeType="withEffect">
                                  <p:stCondLst>
                                    <p:cond delay="150"/>
                                  </p:stCondLst>
                                  <p:childTnLst>
                                    <p:set>
                                      <p:cBhvr>
                                        <p:cTn id="51" dur="1" fill="hold">
                                          <p:stCondLst>
                                            <p:cond delay="0"/>
                                          </p:stCondLst>
                                        </p:cTn>
                                        <p:tgtEl>
                                          <p:spTgt spid="15"/>
                                        </p:tgtEl>
                                        <p:attrNameLst>
                                          <p:attrName>style.visibility</p:attrName>
                                        </p:attrNameLst>
                                      </p:cBhvr>
                                      <p:to>
                                        <p:strVal val="visible"/>
                                      </p:to>
                                    </p:set>
                                    <p:animEffect transition="in" filter="wipe(right)">
                                      <p:cBhvr>
                                        <p:cTn id="52" dur="700"/>
                                        <p:tgtEl>
                                          <p:spTgt spid="15"/>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ppt_w</p:attrName>
                                        </p:attrNameLst>
                                      </p:cBhvr>
                                      <p:tavLst>
                                        <p:tav tm="0">
                                          <p:val>
                                            <p:fltVal val="0"/>
                                          </p:val>
                                        </p:tav>
                                        <p:tav tm="100000">
                                          <p:val>
                                            <p:strVal val="#ppt_w"/>
                                          </p:val>
                                        </p:tav>
                                      </p:tavLst>
                                    </p:anim>
                                    <p:anim calcmode="lin" valueType="num">
                                      <p:cBhvr additive="base">
                                        <p:cTn id="56" dur="500" fill="hold"/>
                                        <p:tgtEl>
                                          <p:spTgt spid="16"/>
                                        </p:tgtEl>
                                        <p:attrNameLst>
                                          <p:attrName>ppt_h</p:attrName>
                                        </p:attrNameLst>
                                      </p:cBhvr>
                                      <p:tavLst>
                                        <p:tav tm="0">
                                          <p:val>
                                            <p:fltVal val="0"/>
                                          </p:val>
                                        </p:tav>
                                        <p:tav tm="100000">
                                          <p:val>
                                            <p:strVal val="#ppt_h"/>
                                          </p:val>
                                        </p:tav>
                                      </p:tavLst>
                                    </p:anim>
                                    <p:animEffect transition="in" filter="fade">
                                      <p:cBhvr>
                                        <p:cTn id="57" dur="500"/>
                                        <p:tgtEl>
                                          <p:spTgt spid="1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300"/>
                                        <p:tgtEl>
                                          <p:spTgt spid="17"/>
                                        </p:tgtEl>
                                      </p:cBhvr>
                                    </p:animEffect>
                                  </p:childTnLst>
                                </p:cTn>
                              </p:par>
                            </p:childTnLst>
                          </p:cTn>
                        </p:par>
                        <p:par>
                          <p:cTn id="81" fill="hold">
                            <p:stCondLst>
                              <p:cond delay="4250"/>
                            </p:stCondLst>
                            <p:childTnLst>
                              <p:par>
                                <p:cTn id="61" presetID="2" presetClass="entr" presetSubtype="2" fill="hold" grpId="0" nodeType="after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1+#ppt_w/2"/>
                                          </p:val>
                                        </p:tav>
                                        <p:tav tm="100000">
                                          <p:val>
                                            <p:strVal val="#ppt_x"/>
                                          </p:val>
                                        </p:tav>
                                      </p:tavLst>
                                    </p:anim>
                                    <p:anim calcmode="lin" valueType="num">
                                      <p:cBhvr additive="base">
                                        <p:cTn id="64" dur="500" fill="hold"/>
                                        <p:tgtEl>
                                          <p:spTgt spid="18"/>
                                        </p:tgtEl>
                                        <p:attrNameLst>
                                          <p:attrName>ppt_y</p:attrName>
                                        </p:attrNameLst>
                                      </p:cBhvr>
                                      <p:tavLst>
                                        <p:tav tm="0">
                                          <p:val>
                                            <p:strVal val="#ppt_y"/>
                                          </p:val>
                                        </p:tav>
                                        <p:tav tm="100000">
                                          <p:val>
                                            <p:strVal val="#ppt_y"/>
                                          </p:val>
                                        </p:tav>
                                      </p:tavLst>
                                    </p:anim>
                                  </p:childTnLst>
                                </p:cTn>
                              </p:par>
                              <p:par>
                                <p:cTn id="65" presetID="22" presetClass="entr" presetSubtype="2" fill="hold" grpId="0" nodeType="withEffect">
                                  <p:stCondLst>
                                    <p:cond delay="150"/>
                                  </p:stCondLst>
                                  <p:childTnLst>
                                    <p:set>
                                      <p:cBhvr>
                                        <p:cTn id="66" dur="1" fill="hold">
                                          <p:stCondLst>
                                            <p:cond delay="0"/>
                                          </p:stCondLst>
                                        </p:cTn>
                                        <p:tgtEl>
                                          <p:spTgt spid="19"/>
                                        </p:tgtEl>
                                        <p:attrNameLst>
                                          <p:attrName>style.visibility</p:attrName>
                                        </p:attrNameLst>
                                      </p:cBhvr>
                                      <p:to>
                                        <p:strVal val="visible"/>
                                      </p:to>
                                    </p:set>
                                    <p:animEffect transition="in" filter="wipe(right)">
                                      <p:cBhvr>
                                        <p:cTn id="67" dur="700"/>
                                        <p:tgtEl>
                                          <p:spTgt spid="19"/>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500" fill="hold"/>
                                        <p:tgtEl>
                                          <p:spTgt spid="20"/>
                                        </p:tgtEl>
                                        <p:attrNameLst>
                                          <p:attrName>ppt_w</p:attrName>
                                        </p:attrNameLst>
                                      </p:cBhvr>
                                      <p:tavLst>
                                        <p:tav tm="0">
                                          <p:val>
                                            <p:fltVal val="0"/>
                                          </p:val>
                                        </p:tav>
                                        <p:tav tm="100000">
                                          <p:val>
                                            <p:strVal val="#ppt_w"/>
                                          </p:val>
                                        </p:tav>
                                      </p:tavLst>
                                    </p:anim>
                                    <p:anim calcmode="lin" valueType="num">
                                      <p:cBhvr additive="base">
                                        <p:cTn id="71" dur="500" fill="hold"/>
                                        <p:tgtEl>
                                          <p:spTgt spid="20"/>
                                        </p:tgtEl>
                                        <p:attrNameLst>
                                          <p:attrName>ppt_h</p:attrName>
                                        </p:attrNameLst>
                                      </p:cBhvr>
                                      <p:tavLst>
                                        <p:tav tm="0">
                                          <p:val>
                                            <p:fltVal val="0"/>
                                          </p:val>
                                        </p:tav>
                                        <p:tav tm="100000">
                                          <p:val>
                                            <p:strVal val="#ppt_h"/>
                                          </p:val>
                                        </p:tav>
                                      </p:tavLst>
                                    </p:anim>
                                    <p:animEffect transition="in" filter="fade">
                                      <p:cBhvr>
                                        <p:cTn id="72" dur="500"/>
                                        <p:tgtEl>
                                          <p:spTgt spid="2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 name=""/>
        <p:cNvGrpSpPr/>
        <p:nvPr/>
      </p:nvGrpSpPr>
      <p:grpSpPr>
        <a:xfrm>
          <a:off x="0" y="0"/>
          <a:ext cx="0" cy="0"/>
          <a:chOff x="0" y="0"/>
          <a:chExt cx="0" cy="0"/>
        </a:xfrm>
      </p:grpSpPr>
      <p:sp>
        <p:nvSpPr>
          <p:cNvPr id="3" name="anim_3_28"/>
          <p:cNvSpPr/>
          <p:nvPr/>
        </p:nvSpPr>
        <p:spPr>
          <a:xfrm>
            <a:off x="6629400" y="502920"/>
            <a:ext cx="5120640" cy="868680"/>
          </a:xfrm>
          <a:prstGeom prst="roundRect">
            <a:avLst>
              <a:gd name="adj" fmla="val 49474"/>
            </a:avLst>
          </a:prstGeom>
          <a:solidFill>
            <a:srgbClr val="6C4FE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كيف سأتعلم ؟</a:t>
            </a:r>
            <a:endParaRPr lang="ar-KW" sz="3600" dirty="0"/>
          </a:p>
        </p:txBody>
      </p:sp>
      <p:pic>
        <p:nvPicPr>
          <p:cNvPr id="4" name="anim_3_29" descr="sp_purple.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3_30" descr="be_atom.png">    </p:cNvPr>
          <p:cNvPicPr>
            <a:picLocks noChangeAspect="1"/>
          </p:cNvPicPr>
          <p:nvPr/>
        </p:nvPicPr>
        <p:blipFill>
          <a:blip r:embed="rId2"/>
          <a:stretch>
            <a:fillRect/>
          </a:stretch>
        </p:blipFill>
        <p:spPr>
          <a:xfrm>
            <a:off x="457200" y="1691640"/>
            <a:ext cx="4206240" cy="4206240"/>
          </a:xfrm>
          <a:prstGeom prst="rect">
            <a:avLst/>
          </a:prstGeom>
        </p:spPr>
      </p:pic>
      <p:sp>
        <p:nvSpPr>
          <p:cNvPr id="6" name="anim_3_31"/>
          <p:cNvSpPr/>
          <p:nvPr/>
        </p:nvSpPr>
        <p:spPr>
          <a:xfrm>
            <a:off x="5120640" y="1828800"/>
            <a:ext cx="6629400" cy="1115568"/>
          </a:xfrm>
          <a:prstGeom prst="roundRect">
            <a:avLst>
              <a:gd name="adj" fmla="val 40984"/>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7" name="anim_3_32"/>
          <p:cNvSpPr txBox="1"/>
          <p:nvPr/>
        </p:nvSpPr>
        <p:spPr>
          <a:xfrm>
            <a:off x="5257800" y="1828800"/>
            <a:ext cx="5486400" cy="1115568"/>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800" b="1" dirty="0">
                <a:solidFill>
                  <a:srgbClr val="16325C"/>
                </a:solidFill>
                <a:latin typeface="Arial" pitchFamily="34" charset="0"/>
                <a:ea typeface="Arial" pitchFamily="34" charset="-122"/>
                <a:cs typeface="Arial" pitchFamily="34" charset="-120"/>
              </a:rPr>
              <a:t>أتعرّف على مفهوم كلٍّ من التكافؤ وإلكترونات التكافؤ.</a:t>
            </a:r>
            <a:endParaRPr lang="ar-KW" sz="2800" dirty="0"/>
          </a:p>
        </p:txBody>
      </p:sp>
      <p:pic>
        <p:nvPicPr>
          <p:cNvPr id="8" name="anim_3_33" descr="sp_purple.png">    </p:cNvPr>
          <p:cNvPicPr>
            <a:picLocks noChangeAspect="1"/>
          </p:cNvPicPr>
          <p:nvPr/>
        </p:nvPicPr>
        <p:blipFill>
          <a:blip r:embed="rId3"/>
          <a:stretch>
            <a:fillRect/>
          </a:stretch>
        </p:blipFill>
        <p:spPr>
          <a:xfrm>
            <a:off x="10835640" y="1929384"/>
            <a:ext cx="914400" cy="914400"/>
          </a:xfrm>
          <a:prstGeom prst="rect">
            <a:avLst/>
          </a:prstGeom>
        </p:spPr>
      </p:pic>
      <p:sp>
        <p:nvSpPr>
          <p:cNvPr id="9" name="anim_3_34"/>
          <p:cNvSpPr txBox="1"/>
          <p:nvPr/>
        </p:nvSpPr>
        <p:spPr>
          <a:xfrm>
            <a:off x="10835640" y="2002536"/>
            <a:ext cx="914400" cy="7315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10" name="anim_3_35"/>
          <p:cNvSpPr/>
          <p:nvPr/>
        </p:nvSpPr>
        <p:spPr>
          <a:xfrm>
            <a:off x="5120640" y="3200400"/>
            <a:ext cx="6629400" cy="1115568"/>
          </a:xfrm>
          <a:prstGeom prst="roundRect">
            <a:avLst>
              <a:gd name="adj" fmla="val 40984"/>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11" name="anim_3_36"/>
          <p:cNvSpPr txBox="1"/>
          <p:nvPr/>
        </p:nvSpPr>
        <p:spPr>
          <a:xfrm>
            <a:off x="5257800" y="3200400"/>
            <a:ext cx="5486400" cy="1115568"/>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800" b="1" dirty="0">
                <a:solidFill>
                  <a:srgbClr val="16325C"/>
                </a:solidFill>
                <a:latin typeface="Arial" pitchFamily="34" charset="0"/>
                <a:ea typeface="Arial" pitchFamily="34" charset="-122"/>
                <a:cs typeface="Arial" pitchFamily="34" charset="-120"/>
              </a:rPr>
              <a:t>أكتب الترتيب الإلكتروني النقطي (تمثيل لويس).</a:t>
            </a:r>
            <a:endParaRPr lang="ar-KW" sz="2800" dirty="0"/>
          </a:p>
        </p:txBody>
      </p:sp>
      <p:pic>
        <p:nvPicPr>
          <p:cNvPr id="12" name="anim_3_37" descr="sp_blue.png">    </p:cNvPr>
          <p:cNvPicPr>
            <a:picLocks noChangeAspect="1"/>
          </p:cNvPicPr>
          <p:nvPr/>
        </p:nvPicPr>
        <p:blipFill>
          <a:blip r:embed="rId4"/>
          <a:stretch>
            <a:fillRect/>
          </a:stretch>
        </p:blipFill>
        <p:spPr>
          <a:xfrm>
            <a:off x="10835640" y="3300984"/>
            <a:ext cx="914400" cy="914400"/>
          </a:xfrm>
          <a:prstGeom prst="rect">
            <a:avLst/>
          </a:prstGeom>
        </p:spPr>
      </p:pic>
      <p:sp>
        <p:nvSpPr>
          <p:cNvPr id="13" name="anim_3_38"/>
          <p:cNvSpPr txBox="1"/>
          <p:nvPr/>
        </p:nvSpPr>
        <p:spPr>
          <a:xfrm>
            <a:off x="10835640" y="3374136"/>
            <a:ext cx="914400" cy="7315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14" name="anim_3_39"/>
          <p:cNvSpPr/>
          <p:nvPr/>
        </p:nvSpPr>
        <p:spPr>
          <a:xfrm>
            <a:off x="5120640" y="4572000"/>
            <a:ext cx="6629400" cy="1115568"/>
          </a:xfrm>
          <a:prstGeom prst="roundRect">
            <a:avLst>
              <a:gd name="adj" fmla="val 40984"/>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15" name="anim_3_40"/>
          <p:cNvSpPr txBox="1"/>
          <p:nvPr/>
        </p:nvSpPr>
        <p:spPr>
          <a:xfrm>
            <a:off x="5257800" y="4572000"/>
            <a:ext cx="5486400" cy="1115568"/>
          </a:xfrm>
          <a:prstGeom prst="rect">
            <a:avLst/>
          </a:prstGeom>
          <a:noFill/>
          <a:ln/>
        </p:spPr>
        <p:txBody>
          <a:bodyPr wrap="square" lIns="0" tIns="0" rIns="0" bIns="0" rtlCol="0" anchor="ctr"/>
          <a:lstStyle/>
          <a:p>
            <a:pPr rtl="1" algn="r" indent="0" marL="0">
              <a:lnSpc>
                <a:spcPct val="105000"/>
              </a:lnSpc>
              <a:spcAft>
                <a:spcPts val="600"/>
              </a:spcAft>
              <a:buNone/>
            </a:pPr>
            <a:r>
              <a:rPr lang="ar-KW" altLang="en-US" sz="2800" b="1" dirty="0">
                <a:solidFill>
                  <a:srgbClr val="16325C"/>
                </a:solidFill>
                <a:latin typeface="Arial" pitchFamily="34" charset="0"/>
                <a:ea typeface="Arial" pitchFamily="34" charset="-122"/>
                <a:cs typeface="Arial" pitchFamily="34" charset="-120"/>
              </a:rPr>
              <a:t>أطبّق قاعدة الثمانية.</a:t>
            </a:r>
            <a:endParaRPr lang="ar-KW" sz="2800" dirty="0"/>
          </a:p>
        </p:txBody>
      </p:sp>
      <p:pic>
        <p:nvPicPr>
          <p:cNvPr id="16" name="anim_3_41" descr="sp_coral.png">    </p:cNvPr>
          <p:cNvPicPr>
            <a:picLocks noChangeAspect="1"/>
          </p:cNvPicPr>
          <p:nvPr/>
        </p:nvPicPr>
        <p:blipFill>
          <a:blip r:embed="rId5"/>
          <a:stretch>
            <a:fillRect/>
          </a:stretch>
        </p:blipFill>
        <p:spPr>
          <a:xfrm>
            <a:off x="10835640" y="4672584"/>
            <a:ext cx="914400" cy="914400"/>
          </a:xfrm>
          <a:prstGeom prst="rect">
            <a:avLst/>
          </a:prstGeom>
        </p:spPr>
      </p:pic>
      <p:sp>
        <p:nvSpPr>
          <p:cNvPr id="17" name="anim_3_42"/>
          <p:cNvSpPr txBox="1"/>
          <p:nvPr/>
        </p:nvSpPr>
        <p:spPr>
          <a:xfrm>
            <a:off x="10835640" y="4745736"/>
            <a:ext cx="914400" cy="7315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3000" b="1" dirty="0">
                <a:solidFill>
                  <a:srgbClr val="FFFFFF"/>
                </a:solidFill>
                <a:latin typeface="Arial" pitchFamily="34" charset="0"/>
                <a:ea typeface="Arial" pitchFamily="34" charset="-122"/>
                <a:cs typeface="Arial" pitchFamily="34" charset="-120"/>
              </a:rPr>
              <a:t>3</a:t>
            </a:r>
            <a:endParaRPr lang="en-US" sz="3000" dirty="0"/>
          </a:p>
        </p:txBody>
      </p:sp>
    </p:spTree>
  </p:cSld>
  <p:clrMapOvr>
    <a:masterClrMapping/>
  </p:clrMapOvr>
  <p:transition spd="slow">
    <p:wipe dir="l"/>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61"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62"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900" fill="hold"/>
                                        <p:tgtEl>
                                          <p:spTgt spid="5"/>
                                        </p:tgtEl>
                                        <p:attrNameLst>
                                          <p:attrName>ppt_w</p:attrName>
                                        </p:attrNameLst>
                                      </p:cBhvr>
                                      <p:tavLst>
                                        <p:tav tm="0">
                                          <p:val>
                                            <p:fltVal val="0"/>
                                          </p:val>
                                        </p:tav>
                                        <p:tav tm="100000">
                                          <p:val>
                                            <p:strVal val="#ppt_w"/>
                                          </p:val>
                                        </p:tav>
                                      </p:tavLst>
                                    </p:anim>
                                    <p:anim calcmode="lin" valueType="num">
                                      <p:cBhvr additive="base">
                                        <p:cTn id="14" dur="900" fill="hold"/>
                                        <p:tgtEl>
                                          <p:spTgt spid="5"/>
                                        </p:tgtEl>
                                        <p:attrNameLst>
                                          <p:attrName>ppt_h</p:attrName>
                                        </p:attrNameLst>
                                      </p:cBhvr>
                                      <p:tavLst>
                                        <p:tav tm="0">
                                          <p:val>
                                            <p:fltVal val="0"/>
                                          </p:val>
                                        </p:tav>
                                        <p:tav tm="100000">
                                          <p:val>
                                            <p:strVal val="#ppt_h"/>
                                          </p:val>
                                        </p:tav>
                                      </p:tavLst>
                                    </p:anim>
                                    <p:animEffect transition="in" filter="fade">
                                      <p:cBhvr>
                                        <p:cTn id="15" dur="900"/>
                                        <p:tgtEl>
                                          <p:spTgt spid="5"/>
                                        </p:tgtEl>
                                      </p:cBhvr>
                                    </p:animEffect>
                                  </p:childTnLst>
                                </p:cTn>
                              </p:par>
                            </p:childTnLst>
                          </p:cTn>
                        </p:par>
                        <p:par>
                          <p:cTn id="63" fill="hold">
                            <p:stCondLst>
                              <p:cond delay="1700"/>
                            </p:stCondLst>
                            <p:childTnLst>
                              <p:par>
                                <p:cTn id="16" presetID="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par>
                                <p:cTn id="20" presetID="22" presetClass="entr" presetSubtype="2" fill="hold" grpId="0" nodeType="withEffect">
                                  <p:stCondLst>
                                    <p:cond delay="15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700"/>
                                        <p:tgtEl>
                                          <p:spTgt spid="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ppt_w</p:attrName>
                                        </p:attrNameLst>
                                      </p:cBhvr>
                                      <p:tavLst>
                                        <p:tav tm="0">
                                          <p:val>
                                            <p:fltVal val="0"/>
                                          </p:val>
                                        </p:tav>
                                        <p:tav tm="100000">
                                          <p:val>
                                            <p:strVal val="#ppt_w"/>
                                          </p:val>
                                        </p:tav>
                                      </p:tavLst>
                                    </p:anim>
                                    <p:anim calcmode="lin" valueType="num">
                                      <p:cBhvr additive="base">
                                        <p:cTn id="26" dur="500" fill="hold"/>
                                        <p:tgtEl>
                                          <p:spTgt spid="8"/>
                                        </p:tgtEl>
                                        <p:attrNameLst>
                                          <p:attrName>ppt_h</p:attrName>
                                        </p:attrNameLst>
                                      </p:cBhvr>
                                      <p:tavLst>
                                        <p:tav tm="0">
                                          <p:val>
                                            <p:fltVal val="0"/>
                                          </p:val>
                                        </p:tav>
                                        <p:tav tm="100000">
                                          <p:val>
                                            <p:strVal val="#ppt_h"/>
                                          </p:val>
                                        </p:tav>
                                      </p:tavLst>
                                    </p:anim>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00"/>
                                        <p:tgtEl>
                                          <p:spTgt spid="9"/>
                                        </p:tgtEl>
                                      </p:cBhvr>
                                    </p:animEffect>
                                  </p:childTnLst>
                                </p:cTn>
                              </p:par>
                            </p:childTnLst>
                          </p:cTn>
                        </p:par>
                        <p:par>
                          <p:cTn id="64" fill="hold">
                            <p:stCondLst>
                              <p:cond delay="2550"/>
                            </p:stCondLst>
                            <p:childTnLst>
                              <p:par>
                                <p:cTn id="31" presetID="2" presetClass="entr" presetSubtype="2"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1+#ppt_w/2"/>
                                          </p:val>
                                        </p:tav>
                                        <p:tav tm="100000">
                                          <p:val>
                                            <p:strVal val="#ppt_x"/>
                                          </p:val>
                                        </p:tav>
                                      </p:tavLst>
                                    </p:anim>
                                    <p:anim calcmode="lin" valueType="num">
                                      <p:cBhvr additive="base">
                                        <p:cTn id="34" dur="500" fill="hold"/>
                                        <p:tgtEl>
                                          <p:spTgt spid="10"/>
                                        </p:tgtEl>
                                        <p:attrNameLst>
                                          <p:attrName>ppt_y</p:attrName>
                                        </p:attrNameLst>
                                      </p:cBhvr>
                                      <p:tavLst>
                                        <p:tav tm="0">
                                          <p:val>
                                            <p:strVal val="#ppt_y"/>
                                          </p:val>
                                        </p:tav>
                                        <p:tav tm="100000">
                                          <p:val>
                                            <p:strVal val="#ppt_y"/>
                                          </p:val>
                                        </p:tav>
                                      </p:tavLst>
                                    </p:anim>
                                  </p:childTnLst>
                                </p:cTn>
                              </p:par>
                              <p:par>
                                <p:cTn id="35" presetID="22" presetClass="entr" presetSubtype="2" fill="hold" grpId="0" nodeType="withEffect">
                                  <p:stCondLst>
                                    <p:cond delay="150"/>
                                  </p:stCondLst>
                                  <p:childTnLst>
                                    <p:set>
                                      <p:cBhvr>
                                        <p:cTn id="36" dur="1" fill="hold">
                                          <p:stCondLst>
                                            <p:cond delay="0"/>
                                          </p:stCondLst>
                                        </p:cTn>
                                        <p:tgtEl>
                                          <p:spTgt spid="11"/>
                                        </p:tgtEl>
                                        <p:attrNameLst>
                                          <p:attrName>style.visibility</p:attrName>
                                        </p:attrNameLst>
                                      </p:cBhvr>
                                      <p:to>
                                        <p:strVal val="visible"/>
                                      </p:to>
                                    </p:set>
                                    <p:animEffect transition="in" filter="wipe(right)">
                                      <p:cBhvr>
                                        <p:cTn id="37" dur="700"/>
                                        <p:tgtEl>
                                          <p:spTgt spid="11"/>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ppt_w</p:attrName>
                                        </p:attrNameLst>
                                      </p:cBhvr>
                                      <p:tavLst>
                                        <p:tav tm="0">
                                          <p:val>
                                            <p:fltVal val="0"/>
                                          </p:val>
                                        </p:tav>
                                        <p:tav tm="100000">
                                          <p:val>
                                            <p:strVal val="#ppt_w"/>
                                          </p:val>
                                        </p:tav>
                                      </p:tavLst>
                                    </p:anim>
                                    <p:anim calcmode="lin" valueType="num">
                                      <p:cBhvr additive="base">
                                        <p:cTn id="41" dur="500" fill="hold"/>
                                        <p:tgtEl>
                                          <p:spTgt spid="12"/>
                                        </p:tgtEl>
                                        <p:attrNameLst>
                                          <p:attrName>ppt_h</p:attrName>
                                        </p:attrNameLst>
                                      </p:cBhvr>
                                      <p:tavLst>
                                        <p:tav tm="0">
                                          <p:val>
                                            <p:fltVal val="0"/>
                                          </p:val>
                                        </p:tav>
                                        <p:tav tm="100000">
                                          <p:val>
                                            <p:strVal val="#ppt_h"/>
                                          </p:val>
                                        </p:tav>
                                      </p:tavLst>
                                    </p:anim>
                                    <p:animEffect transition="in" filter="fade">
                                      <p:cBhvr>
                                        <p:cTn id="42" dur="50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300"/>
                                        <p:tgtEl>
                                          <p:spTgt spid="13"/>
                                        </p:tgtEl>
                                      </p:cBhvr>
                                    </p:animEffect>
                                  </p:childTnLst>
                                </p:cTn>
                              </p:par>
                            </p:childTnLst>
                          </p:cTn>
                        </p:par>
                        <p:par>
                          <p:cTn id="65" fill="hold">
                            <p:stCondLst>
                              <p:cond delay="3400"/>
                            </p:stCondLst>
                            <p:childTnLst>
                              <p:par>
                                <p:cTn id="46" presetID="2" presetClass="entr" presetSubtype="2"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fill="hold"/>
                                        <p:tgtEl>
                                          <p:spTgt spid="14"/>
                                        </p:tgtEl>
                                        <p:attrNameLst>
                                          <p:attrName>ppt_x</p:attrName>
                                        </p:attrNameLst>
                                      </p:cBhvr>
                                      <p:tavLst>
                                        <p:tav tm="0">
                                          <p:val>
                                            <p:strVal val="1+#ppt_w/2"/>
                                          </p:val>
                                        </p:tav>
                                        <p:tav tm="100000">
                                          <p:val>
                                            <p:strVal val="#ppt_x"/>
                                          </p:val>
                                        </p:tav>
                                      </p:tavLst>
                                    </p:anim>
                                    <p:anim calcmode="lin" valueType="num">
                                      <p:cBhvr additive="base">
                                        <p:cTn id="49" dur="500" fill="hold"/>
                                        <p:tgtEl>
                                          <p:spTgt spid="14"/>
                                        </p:tgtEl>
                                        <p:attrNameLst>
                                          <p:attrName>ppt_y</p:attrName>
                                        </p:attrNameLst>
                                      </p:cBhvr>
                                      <p:tavLst>
                                        <p:tav tm="0">
                                          <p:val>
                                            <p:strVal val="#ppt_y"/>
                                          </p:val>
                                        </p:tav>
                                        <p:tav tm="100000">
                                          <p:val>
                                            <p:strVal val="#ppt_y"/>
                                          </p:val>
                                        </p:tav>
                                      </p:tavLst>
                                    </p:anim>
                                  </p:childTnLst>
                                </p:cTn>
                              </p:par>
                              <p:par>
                                <p:cTn id="50" presetID="22" presetClass="entr" presetSubtype="2" fill="hold" grpId="0" nodeType="withEffect">
                                  <p:stCondLst>
                                    <p:cond delay="150"/>
                                  </p:stCondLst>
                                  <p:childTnLst>
                                    <p:set>
                                      <p:cBhvr>
                                        <p:cTn id="51" dur="1" fill="hold">
                                          <p:stCondLst>
                                            <p:cond delay="0"/>
                                          </p:stCondLst>
                                        </p:cTn>
                                        <p:tgtEl>
                                          <p:spTgt spid="15"/>
                                        </p:tgtEl>
                                        <p:attrNameLst>
                                          <p:attrName>style.visibility</p:attrName>
                                        </p:attrNameLst>
                                      </p:cBhvr>
                                      <p:to>
                                        <p:strVal val="visible"/>
                                      </p:to>
                                    </p:set>
                                    <p:animEffect transition="in" filter="wipe(right)">
                                      <p:cBhvr>
                                        <p:cTn id="52" dur="700"/>
                                        <p:tgtEl>
                                          <p:spTgt spid="15"/>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ppt_w</p:attrName>
                                        </p:attrNameLst>
                                      </p:cBhvr>
                                      <p:tavLst>
                                        <p:tav tm="0">
                                          <p:val>
                                            <p:fltVal val="0"/>
                                          </p:val>
                                        </p:tav>
                                        <p:tav tm="100000">
                                          <p:val>
                                            <p:strVal val="#ppt_w"/>
                                          </p:val>
                                        </p:tav>
                                      </p:tavLst>
                                    </p:anim>
                                    <p:anim calcmode="lin" valueType="num">
                                      <p:cBhvr additive="base">
                                        <p:cTn id="56" dur="500" fill="hold"/>
                                        <p:tgtEl>
                                          <p:spTgt spid="16"/>
                                        </p:tgtEl>
                                        <p:attrNameLst>
                                          <p:attrName>ppt_h</p:attrName>
                                        </p:attrNameLst>
                                      </p:cBhvr>
                                      <p:tavLst>
                                        <p:tav tm="0">
                                          <p:val>
                                            <p:fltVal val="0"/>
                                          </p:val>
                                        </p:tav>
                                        <p:tav tm="100000">
                                          <p:val>
                                            <p:strVal val="#ppt_h"/>
                                          </p:val>
                                        </p:tav>
                                      </p:tavLst>
                                    </p:anim>
                                    <p:animEffect transition="in" filter="fade">
                                      <p:cBhvr>
                                        <p:cTn id="57" dur="500"/>
                                        <p:tgtEl>
                                          <p:spTgt spid="1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9" grpId="0" animBg="1"/>
      <p:bldP spid="10" grpId="0" animBg="1"/>
      <p:bldP spid="11" grpId="0" animBg="1"/>
      <p:bldP spid="13" grpId="0" animBg="1"/>
      <p:bldP spid="14" grpId="0" animBg="1"/>
      <p:bldP spid="15"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 name=""/>
        <p:cNvGrpSpPr/>
        <p:nvPr/>
      </p:nvGrpSpPr>
      <p:grpSpPr>
        <a:xfrm>
          <a:off x="0" y="0"/>
          <a:ext cx="0" cy="0"/>
          <a:chOff x="0" y="0"/>
          <a:chExt cx="0" cy="0"/>
        </a:xfrm>
      </p:grpSpPr>
      <p:sp>
        <p:nvSpPr>
          <p:cNvPr id="3" name="anim_4_43"/>
          <p:cNvSpPr/>
          <p:nvPr/>
        </p:nvSpPr>
        <p:spPr>
          <a:xfrm>
            <a:off x="3886200" y="502920"/>
            <a:ext cx="7863840" cy="868680"/>
          </a:xfrm>
          <a:prstGeom prst="roundRect">
            <a:avLst>
              <a:gd name="adj" fmla="val 49474"/>
            </a:avLst>
          </a:prstGeom>
          <a:solidFill>
            <a:srgbClr val="E59A0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تأمّل الصورة الافتتاحية</a:t>
            </a:r>
            <a:endParaRPr lang="ar-KW" sz="3600" dirty="0"/>
          </a:p>
        </p:txBody>
      </p:sp>
      <p:pic>
        <p:nvPicPr>
          <p:cNvPr id="4" name="anim_4_44" descr="sp_gold.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4_45"/>
          <p:cNvSpPr/>
          <p:nvPr/>
        </p:nvSpPr>
        <p:spPr>
          <a:xfrm>
            <a:off x="365760" y="1783080"/>
            <a:ext cx="6766560" cy="2971800"/>
          </a:xfrm>
          <a:prstGeom prst="roundRect">
            <a:avLst>
              <a:gd name="adj" fmla="val 6154"/>
            </a:avLst>
          </a:prstGeom>
          <a:solidFill>
            <a:srgbClr val="FFFFFF"/>
          </a:solidFill>
          <a:ln/>
          <a:effectLst>
            <a:outerShdw sx="100000" sy="100000" kx="0" ky="0" algn="bl" rotWithShape="0" blurRad="152400" dist="50800" dir="5400000">
              <a:srgbClr val="1F4F8A">
                <a:alpha val="18000"/>
              </a:srgbClr>
            </a:outerShdw>
          </a:effectLst>
        </p:spPr>
      </p:sp>
      <p:pic>
        <p:nvPicPr>
          <p:cNvPr id="6" name="anim_4_46" descr="ptable.png">    </p:cNvPr>
          <p:cNvPicPr>
            <a:picLocks noChangeAspect="1"/>
          </p:cNvPicPr>
          <p:nvPr/>
        </p:nvPicPr>
        <p:blipFill>
          <a:blip r:embed="rId2"/>
          <a:stretch>
            <a:fillRect/>
          </a:stretch>
        </p:blipFill>
        <p:spPr>
          <a:xfrm>
            <a:off x="457200" y="1874520"/>
            <a:ext cx="6583680" cy="2665750"/>
          </a:xfrm>
          <a:prstGeom prst="rect">
            <a:avLst/>
          </a:prstGeom>
        </p:spPr>
      </p:pic>
      <p:sp>
        <p:nvSpPr>
          <p:cNvPr id="7" name="anim_4_47"/>
          <p:cNvSpPr/>
          <p:nvPr/>
        </p:nvSpPr>
        <p:spPr>
          <a:xfrm>
            <a:off x="7360920" y="1645920"/>
            <a:ext cx="4434840" cy="4709160"/>
          </a:xfrm>
          <a:prstGeom prst="roundRect">
            <a:avLst>
              <a:gd name="adj" fmla="val 3093"/>
            </a:avLst>
          </a:prstGeom>
          <a:solidFill>
            <a:srgbClr val="FFFFFF"/>
          </a:solidFill>
          <a:ln w="76200">
            <a:solidFill>
              <a:srgbClr val="7FB2D9"/>
            </a:solidFill>
            <a:prstDash val="solid"/>
          </a:ln>
          <a:effectLst>
            <a:outerShdw sx="100000" sy="100000" kx="0" ky="0" algn="bl" rotWithShape="0" blurRad="152400" dist="50800" dir="5400000">
              <a:srgbClr val="1F4F8A">
                <a:alpha val="18000"/>
              </a:srgbClr>
            </a:outerShdw>
          </a:effectLst>
        </p:spPr>
      </p:sp>
      <p:sp>
        <p:nvSpPr>
          <p:cNvPr id="8" name="anim_4_48"/>
          <p:cNvSpPr txBox="1"/>
          <p:nvPr/>
        </p:nvSpPr>
        <p:spPr>
          <a:xfrm>
            <a:off x="7498080" y="1737360"/>
            <a:ext cx="4160520" cy="150876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تأمّل الصورة الافتتاحية للدرس، تظهر نقاط حول رموز العناصر في الجدول الدوري.</a:t>
            </a:r>
            <a:endParaRPr lang="ar-KW" sz="2200" dirty="0"/>
          </a:p>
        </p:txBody>
      </p:sp>
      <p:sp>
        <p:nvSpPr>
          <p:cNvPr id="9" name="anim_4_49"/>
          <p:cNvSpPr txBox="1"/>
          <p:nvPr/>
        </p:nvSpPr>
        <p:spPr>
          <a:xfrm>
            <a:off x="7498080" y="3291840"/>
            <a:ext cx="4160520" cy="8229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200" b="1" dirty="0">
                <a:solidFill>
                  <a:srgbClr val="E8335F"/>
                </a:solidFill>
                <a:latin typeface="Arial" pitchFamily="34" charset="0"/>
                <a:ea typeface="Arial" pitchFamily="34" charset="-122"/>
                <a:cs typeface="Arial" pitchFamily="34" charset="-120"/>
              </a:rPr>
              <a:t>ماذا تمثّل هذه النقاط؟</a:t>
            </a:r>
            <a:endParaRPr lang="ar-KW" sz="2200" dirty="0"/>
          </a:p>
        </p:txBody>
      </p:sp>
      <p:sp>
        <p:nvSpPr>
          <p:cNvPr id="10" name="anim_4_50"/>
          <p:cNvSpPr txBox="1"/>
          <p:nvPr/>
        </p:nvSpPr>
        <p:spPr>
          <a:xfrm>
            <a:off x="7498080" y="3794760"/>
            <a:ext cx="4160520" cy="8229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200" b="1" dirty="0">
                <a:solidFill>
                  <a:srgbClr val="1F6FB2"/>
                </a:solidFill>
                <a:latin typeface="Arial" pitchFamily="34" charset="0"/>
                <a:ea typeface="Arial" pitchFamily="34" charset="-122"/>
                <a:cs typeface="Arial" pitchFamily="34" charset="-120"/>
              </a:rPr>
              <a:t>وكيف نستطيع استنتاجها؟</a:t>
            </a:r>
            <a:endParaRPr lang="ar-KW" sz="2200" dirty="0"/>
          </a:p>
        </p:txBody>
      </p:sp>
      <p:sp>
        <p:nvSpPr>
          <p:cNvPr id="11" name="anim_4_51"/>
          <p:cNvSpPr txBox="1"/>
          <p:nvPr/>
        </p:nvSpPr>
        <p:spPr>
          <a:xfrm>
            <a:off x="7498080" y="4297680"/>
            <a:ext cx="4160520" cy="8229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200" b="1" dirty="0">
                <a:solidFill>
                  <a:srgbClr val="6C4FE0"/>
                </a:solidFill>
                <a:latin typeface="Arial" pitchFamily="34" charset="0"/>
                <a:ea typeface="Arial" pitchFamily="34" charset="-122"/>
                <a:cs typeface="Arial" pitchFamily="34" charset="-120"/>
              </a:rPr>
              <a:t>ومن هو العالم الذي ابتكر هذه الطريقة؟</a:t>
            </a:r>
            <a:endParaRPr lang="ar-KW" sz="2200" dirty="0"/>
          </a:p>
        </p:txBody>
      </p:sp>
      <p:sp>
        <p:nvSpPr>
          <p:cNvPr id="12" name="anim_4_52"/>
          <p:cNvSpPr txBox="1"/>
          <p:nvPr/>
        </p:nvSpPr>
        <p:spPr>
          <a:xfrm>
            <a:off x="7498080" y="5120640"/>
            <a:ext cx="4160520" cy="11887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200" b="1" dirty="0">
                <a:solidFill>
                  <a:srgbClr val="0F9D8E"/>
                </a:solidFill>
                <a:latin typeface="Arial" pitchFamily="34" charset="0"/>
                <a:ea typeface="Arial" pitchFamily="34" charset="-122"/>
                <a:cs typeface="Arial" pitchFamily="34" charset="-120"/>
              </a:rPr>
              <a:t>والسؤال الأهم كيف ستفيدنا في دراستنا للروابط الكيميائية؟</a:t>
            </a:r>
            <a:endParaRPr lang="ar-KW" sz="2200" dirty="0"/>
          </a:p>
        </p:txBody>
      </p:sp>
      <p:pic>
        <p:nvPicPr>
          <p:cNvPr id="13" name="anim_4_53" descr="lewis_N.png">    </p:cNvPr>
          <p:cNvPicPr>
            <a:picLocks noChangeAspect="1"/>
          </p:cNvPicPr>
          <p:nvPr/>
        </p:nvPicPr>
        <p:blipFill>
          <a:blip r:embed="rId3"/>
          <a:stretch>
            <a:fillRect/>
          </a:stretch>
        </p:blipFill>
        <p:spPr>
          <a:xfrm>
            <a:off x="822960" y="4983480"/>
            <a:ext cx="1001684" cy="1097280"/>
          </a:xfrm>
          <a:prstGeom prst="rect">
            <a:avLst/>
          </a:prstGeom>
        </p:spPr>
      </p:pic>
      <p:pic>
        <p:nvPicPr>
          <p:cNvPr id="14" name="anim_4_54" descr="lewis_C.png">    </p:cNvPr>
          <p:cNvPicPr>
            <a:picLocks noChangeAspect="1"/>
          </p:cNvPicPr>
          <p:nvPr/>
        </p:nvPicPr>
        <p:blipFill>
          <a:blip r:embed="rId4"/>
          <a:stretch>
            <a:fillRect/>
          </a:stretch>
        </p:blipFill>
        <p:spPr>
          <a:xfrm>
            <a:off x="2926080" y="4983480"/>
            <a:ext cx="1001684" cy="1097280"/>
          </a:xfrm>
          <a:prstGeom prst="rect">
            <a:avLst/>
          </a:prstGeom>
        </p:spPr>
      </p:pic>
      <p:pic>
        <p:nvPicPr>
          <p:cNvPr id="15" name="anim_4_55" descr="lewis_F.png">    </p:cNvPr>
          <p:cNvPicPr>
            <a:picLocks noChangeAspect="1"/>
          </p:cNvPicPr>
          <p:nvPr/>
        </p:nvPicPr>
        <p:blipFill>
          <a:blip r:embed="rId5"/>
          <a:stretch>
            <a:fillRect/>
          </a:stretch>
        </p:blipFill>
        <p:spPr>
          <a:xfrm>
            <a:off x="5029200" y="4983480"/>
            <a:ext cx="1001684" cy="1097280"/>
          </a:xfrm>
          <a:prstGeom prst="rect">
            <a:avLst/>
          </a:prstGeom>
        </p:spPr>
      </p:pic>
    </p:spTree>
  </p:cSld>
  <p:clrMapOvr>
    <a:masterClrMapping/>
  </p:clrMapOvr>
  <p:transition spd="slow">
    <p:cover dir="l"/>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27"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8"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700" fill="hold"/>
                                        <p:tgtEl>
                                          <p:spTgt spid="5"/>
                                        </p:tgtEl>
                                        <p:attrNameLst>
                                          <p:attrName>ppt_w</p:attrName>
                                        </p:attrNameLst>
                                      </p:cBhvr>
                                      <p:tavLst>
                                        <p:tav tm="0">
                                          <p:val>
                                            <p:fltVal val="0"/>
                                          </p:val>
                                        </p:tav>
                                        <p:tav tm="100000">
                                          <p:val>
                                            <p:strVal val="#ppt_w"/>
                                          </p:val>
                                        </p:tav>
                                      </p:tavLst>
                                    </p:anim>
                                    <p:anim calcmode="lin" valueType="num">
                                      <p:cBhvr additive="base">
                                        <p:cTn id="14" dur="700" fill="hold"/>
                                        <p:tgtEl>
                                          <p:spTgt spid="5"/>
                                        </p:tgtEl>
                                        <p:attrNameLst>
                                          <p:attrName>ppt_h</p:attrName>
                                        </p:attrNameLst>
                                      </p:cBhvr>
                                      <p:tavLst>
                                        <p:tav tm="0">
                                          <p:val>
                                            <p:fltVal val="0"/>
                                          </p:val>
                                        </p:tav>
                                        <p:tav tm="100000">
                                          <p:val>
                                            <p:strVal val="#ppt_h"/>
                                          </p:val>
                                        </p:tav>
                                      </p:tavLst>
                                    </p:anim>
                                    <p:animEffect transition="in" filter="fade">
                                      <p:cBhvr>
                                        <p:cTn id="15" dur="700"/>
                                        <p:tgtEl>
                                          <p:spTgt spid="5"/>
                                        </p:tgtEl>
                                      </p:cBhvr>
                                    </p:animEffect>
                                  </p:childTnLst>
                                </p:cTn>
                              </p:par>
                              <p:par>
                                <p:cTn id="16" presetID="53" presetClass="entr" presetSubtype="16"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800" fill="hold"/>
                                        <p:tgtEl>
                                          <p:spTgt spid="6"/>
                                        </p:tgtEl>
                                        <p:attrNameLst>
                                          <p:attrName>ppt_w</p:attrName>
                                        </p:attrNameLst>
                                      </p:cBhvr>
                                      <p:tavLst>
                                        <p:tav tm="0">
                                          <p:val>
                                            <p:fltVal val="0"/>
                                          </p:val>
                                        </p:tav>
                                        <p:tav tm="100000">
                                          <p:val>
                                            <p:strVal val="#ppt_w"/>
                                          </p:val>
                                        </p:tav>
                                      </p:tavLst>
                                    </p:anim>
                                    <p:anim calcmode="lin" valueType="num">
                                      <p:cBhvr additive="base">
                                        <p:cTn id="19" dur="800" fill="hold"/>
                                        <p:tgtEl>
                                          <p:spTgt spid="6"/>
                                        </p:tgtEl>
                                        <p:attrNameLst>
                                          <p:attrName>ppt_h</p:attrName>
                                        </p:attrNameLst>
                                      </p:cBhvr>
                                      <p:tavLst>
                                        <p:tav tm="0">
                                          <p:val>
                                            <p:fltVal val="0"/>
                                          </p:val>
                                        </p:tav>
                                        <p:tav tm="100000">
                                          <p:val>
                                            <p:strVal val="#ppt_h"/>
                                          </p:val>
                                        </p:tav>
                                      </p:tavLst>
                                    </p:anim>
                                    <p:animEffect transition="in" filter="fade">
                                      <p:cBhvr>
                                        <p:cTn id="20" dur="800"/>
                                        <p:tgtEl>
                                          <p:spTgt spid="6"/>
                                        </p:tgtEl>
                                      </p:cBhvr>
                                    </p:animEffect>
                                  </p:childTnLst>
                                </p:cTn>
                              </p:par>
                            </p:childTnLst>
                          </p:cTn>
                        </p:par>
                        <p:par>
                          <p:cTn id="29" fill="hold">
                            <p:stCondLst>
                              <p:cond delay="18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30" fill="hold">
                            <p:stCondLst>
                              <p:cond delay="2300"/>
                            </p:stCondLst>
                            <p:childTnLst>
                              <p:par>
                                <p:cTn id="24" presetID="22" presetClass="entr" presetSubtype="2"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right)">
                                      <p:cBhvr>
                                        <p:cTn id="26" dur="900"/>
                                        <p:tgtEl>
                                          <p:spTgt spid="8"/>
                                        </p:tgtEl>
                                      </p:cBhvr>
                                    </p:animEffect>
                                  </p:childTnLst>
                                </p:cTn>
                              </p:par>
                            </p:childTnLst>
                          </p:cTn>
                        </p:par>
                      </p:childTnLst>
                    </p:cTn>
                  </p:par>
                  <p:par>
                    <p:cTn id="36" fill="hold">
                      <p:stCondLst>
                        <p:cond delay="indefinite"/>
                      </p:stCondLst>
                      <p:childTnLst>
                        <p:par>
                          <p:cTn id="35" fill="hold">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right)">
                                      <p:cBhvr>
                                        <p:cTn id="34" dur="700"/>
                                        <p:tgtEl>
                                          <p:spTgt spid="9"/>
                                        </p:tgtEl>
                                      </p:cBhvr>
                                    </p:animEffect>
                                  </p:childTnLst>
                                </p:cTn>
                              </p:par>
                            </p:childTnLst>
                          </p:cTn>
                        </p:par>
                      </p:childTnLst>
                    </p:cTn>
                  </p:par>
                  <p:par>
                    <p:cTn id="41" fill="hold">
                      <p:stCondLst>
                        <p:cond delay="indefinite"/>
                      </p:stCondLst>
                      <p:childTnLst>
                        <p:par>
                          <p:cTn id="40"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right)">
                                      <p:cBhvr>
                                        <p:cTn id="39" dur="700"/>
                                        <p:tgtEl>
                                          <p:spTgt spid="10"/>
                                        </p:tgtEl>
                                      </p:cBhvr>
                                    </p:animEffect>
                                  </p:childTnLst>
                                </p:cTn>
                              </p:par>
                            </p:childTnLst>
                          </p:cTn>
                        </p:par>
                      </p:childTnLst>
                    </p:cTn>
                  </p:par>
                  <p:par>
                    <p:cTn id="46" fill="hold">
                      <p:stCondLst>
                        <p:cond delay="indefinite"/>
                      </p:stCondLst>
                      <p:childTnLst>
                        <p:par>
                          <p:cTn id="45"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right)">
                                      <p:cBhvr>
                                        <p:cTn id="44" dur="700"/>
                                        <p:tgtEl>
                                          <p:spTgt spid="11"/>
                                        </p:tgtEl>
                                      </p:cBhvr>
                                    </p:animEffect>
                                  </p:childTnLst>
                                </p:cTn>
                              </p:par>
                            </p:childTnLst>
                          </p:cTn>
                        </p:par>
                      </p:childTnLst>
                    </p:cTn>
                  </p:par>
                  <p:par>
                    <p:cTn id="67" fill="hold">
                      <p:stCondLst>
                        <p:cond delay="indefinite"/>
                      </p:stCondLst>
                      <p:childTnLst>
                        <p:par>
                          <p:cTn id="65"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right)">
                                      <p:cBhvr>
                                        <p:cTn id="49" dur="700"/>
                                        <p:tgtEl>
                                          <p:spTgt spid="12"/>
                                        </p:tgtEl>
                                      </p:cBhvr>
                                    </p:animEffect>
                                  </p:childTnLst>
                                </p:cTn>
                              </p:par>
                            </p:childTnLst>
                          </p:cTn>
                        </p:par>
                        <p:par>
                          <p:cTn id="66" fill="hold">
                            <p:stCondLst>
                              <p:cond delay="700"/>
                            </p:stCondLst>
                            <p:childTnLst>
                              <p:par>
                                <p:cTn id="50" presetID="42" presetClass="entr" presetSubtype="0"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anim calcmode="lin" valueType="num">
                                      <p:cBhvr additive="base">
                                        <p:cTn id="53" dur="600" fill="hold"/>
                                        <p:tgtEl>
                                          <p:spTgt spid="13"/>
                                        </p:tgtEl>
                                        <p:attrNameLst>
                                          <p:attrName>ppt_x</p:attrName>
                                        </p:attrNameLst>
                                      </p:cBhvr>
                                      <p:tavLst>
                                        <p:tav tm="0">
                                          <p:val>
                                            <p:strVal val="#ppt_x"/>
                                          </p:val>
                                        </p:tav>
                                        <p:tav tm="100000">
                                          <p:val>
                                            <p:strVal val="#ppt_x"/>
                                          </p:val>
                                        </p:tav>
                                      </p:tavLst>
                                    </p:anim>
                                    <p:anim calcmode="lin" valueType="num">
                                      <p:cBhvr additive="base">
                                        <p:cTn id="54" dur="60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15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fill="hold"/>
                                        <p:tgtEl>
                                          <p:spTgt spid="14"/>
                                        </p:tgtEl>
                                        <p:attrNameLst>
                                          <p:attrName>ppt_x</p:attrName>
                                        </p:attrNameLst>
                                      </p:cBhvr>
                                      <p:tavLst>
                                        <p:tav tm="0">
                                          <p:val>
                                            <p:strVal val="#ppt_x"/>
                                          </p:val>
                                        </p:tav>
                                        <p:tav tm="100000">
                                          <p:val>
                                            <p:strVal val="#ppt_x"/>
                                          </p:val>
                                        </p:tav>
                                      </p:tavLst>
                                    </p:anim>
                                    <p:anim calcmode="lin" valueType="num">
                                      <p:cBhvr additive="base">
                                        <p:cTn id="59" dur="60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30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600"/>
                                        <p:tgtEl>
                                          <p:spTgt spid="15"/>
                                        </p:tgtEl>
                                      </p:cBhvr>
                                    </p:animEffect>
                                    <p:anim calcmode="lin" valueType="num">
                                      <p:cBhvr additive="base">
                                        <p:cTn id="63" dur="600" fill="hold"/>
                                        <p:tgtEl>
                                          <p:spTgt spid="15"/>
                                        </p:tgtEl>
                                        <p:attrNameLst>
                                          <p:attrName>ppt_x</p:attrName>
                                        </p:attrNameLst>
                                      </p:cBhvr>
                                      <p:tavLst>
                                        <p:tav tm="0">
                                          <p:val>
                                            <p:strVal val="#ppt_x"/>
                                          </p:val>
                                        </p:tav>
                                        <p:tav tm="100000">
                                          <p:val>
                                            <p:strVal val="#ppt_x"/>
                                          </p:val>
                                        </p:tav>
                                      </p:tavLst>
                                    </p:anim>
                                    <p:anim calcmode="lin" valueType="num">
                                      <p:cBhvr additive="base">
                                        <p:cTn id="64" dur="6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 name=""/>
        <p:cNvGrpSpPr/>
        <p:nvPr/>
      </p:nvGrpSpPr>
      <p:grpSpPr>
        <a:xfrm>
          <a:off x="0" y="0"/>
          <a:ext cx="0" cy="0"/>
          <a:chOff x="0" y="0"/>
          <a:chExt cx="0" cy="0"/>
        </a:xfrm>
      </p:grpSpPr>
      <p:sp>
        <p:nvSpPr>
          <p:cNvPr id="3" name="anim_5_56"/>
          <p:cNvSpPr/>
          <p:nvPr/>
        </p:nvSpPr>
        <p:spPr>
          <a:xfrm>
            <a:off x="7909560" y="502920"/>
            <a:ext cx="3840480" cy="868680"/>
          </a:xfrm>
          <a:prstGeom prst="roundRect">
            <a:avLst>
              <a:gd name="adj" fmla="val 49474"/>
            </a:avLst>
          </a:prstGeom>
          <a:solidFill>
            <a:srgbClr val="E8335F"/>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نشاط...</a:t>
            </a:r>
            <a:endParaRPr lang="ar-KW" sz="3600" dirty="0"/>
          </a:p>
        </p:txBody>
      </p:sp>
      <p:pic>
        <p:nvPicPr>
          <p:cNvPr id="4" name="anim_5_57" descr="sp_cor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5_58" descr="bld_done.png">    </p:cNvPr>
          <p:cNvPicPr>
            <a:picLocks noChangeAspect="1"/>
          </p:cNvPicPr>
          <p:nvPr/>
        </p:nvPicPr>
        <p:blipFill>
          <a:blip r:embed="rId2"/>
          <a:stretch>
            <a:fillRect/>
          </a:stretch>
        </p:blipFill>
        <p:spPr>
          <a:xfrm>
            <a:off x="3063240" y="1783080"/>
            <a:ext cx="2606040" cy="2671849"/>
          </a:xfrm>
          <a:prstGeom prst="rect">
            <a:avLst/>
          </a:prstGeom>
        </p:spPr>
      </p:pic>
      <p:pic>
        <p:nvPicPr>
          <p:cNvPr id="6" name="anim_5_59" descr="bld_wip.png">    </p:cNvPr>
          <p:cNvPicPr>
            <a:picLocks noChangeAspect="1"/>
          </p:cNvPicPr>
          <p:nvPr/>
        </p:nvPicPr>
        <p:blipFill>
          <a:blip r:embed="rId3"/>
          <a:stretch>
            <a:fillRect/>
          </a:stretch>
        </p:blipFill>
        <p:spPr>
          <a:xfrm>
            <a:off x="365760" y="1783080"/>
            <a:ext cx="2606040" cy="2692026"/>
          </a:xfrm>
          <a:prstGeom prst="rect">
            <a:avLst/>
          </a:prstGeom>
        </p:spPr>
      </p:pic>
      <p:sp>
        <p:nvSpPr>
          <p:cNvPr id="7" name="anim_5_60"/>
          <p:cNvSpPr txBox="1"/>
          <p:nvPr/>
        </p:nvSpPr>
        <p:spPr>
          <a:xfrm>
            <a:off x="3063240" y="4526280"/>
            <a:ext cx="2606040" cy="45720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000" b="1" dirty="0">
                <a:solidFill>
                  <a:srgbClr val="0F9D8E"/>
                </a:solidFill>
                <a:latin typeface="Arial" pitchFamily="34" charset="0"/>
                <a:ea typeface="Arial" pitchFamily="34" charset="-122"/>
                <a:cs typeface="Arial" pitchFamily="34" charset="-120"/>
              </a:rPr>
              <a:t>الصورة الأولى</a:t>
            </a:r>
            <a:endParaRPr lang="ar-KW" sz="2000" dirty="0"/>
          </a:p>
        </p:txBody>
      </p:sp>
      <p:sp>
        <p:nvSpPr>
          <p:cNvPr id="8" name="anim_5_61"/>
          <p:cNvSpPr txBox="1"/>
          <p:nvPr/>
        </p:nvSpPr>
        <p:spPr>
          <a:xfrm>
            <a:off x="365760" y="4526280"/>
            <a:ext cx="2606040" cy="45720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000" b="1" dirty="0">
                <a:solidFill>
                  <a:srgbClr val="E8335F"/>
                </a:solidFill>
                <a:latin typeface="Arial" pitchFamily="34" charset="0"/>
                <a:ea typeface="Arial" pitchFamily="34" charset="-122"/>
                <a:cs typeface="Arial" pitchFamily="34" charset="-120"/>
              </a:rPr>
              <a:t>الصورة الثانية</a:t>
            </a:r>
            <a:endParaRPr lang="ar-KW" sz="2000" dirty="0"/>
          </a:p>
        </p:txBody>
      </p:sp>
      <p:sp>
        <p:nvSpPr>
          <p:cNvPr id="9" name="anim_5_62"/>
          <p:cNvSpPr/>
          <p:nvPr/>
        </p:nvSpPr>
        <p:spPr>
          <a:xfrm>
            <a:off x="5897880" y="1645920"/>
            <a:ext cx="5852160" cy="4617720"/>
          </a:xfrm>
          <a:prstGeom prst="roundRect">
            <a:avLst>
              <a:gd name="adj" fmla="val 7921"/>
            </a:avLst>
          </a:prstGeom>
          <a:solidFill>
            <a:srgbClr val="FFFFFF"/>
          </a:solidFill>
          <a:ln w="76200">
            <a:solidFill>
              <a:srgbClr val="8FB1DA"/>
            </a:solidFill>
            <a:prstDash val="solid"/>
          </a:ln>
          <a:effectLst>
            <a:outerShdw sx="100000" sy="100000" kx="0" ky="0" algn="bl" rotWithShape="0" blurRad="152400" dist="50800" dir="5400000">
              <a:srgbClr val="1F4F8A">
                <a:alpha val="18000"/>
              </a:srgbClr>
            </a:outerShdw>
          </a:effectLst>
        </p:spPr>
      </p:sp>
      <p:sp>
        <p:nvSpPr>
          <p:cNvPr id="10" name="anim_5_63"/>
          <p:cNvSpPr txBox="1"/>
          <p:nvPr/>
        </p:nvSpPr>
        <p:spPr>
          <a:xfrm>
            <a:off x="6172200" y="1783080"/>
            <a:ext cx="5394960" cy="5486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800" b="1" dirty="0">
                <a:solidFill>
                  <a:srgbClr val="1F6FB2"/>
                </a:solidFill>
                <a:latin typeface="Arial" pitchFamily="34" charset="0"/>
                <a:ea typeface="Arial" pitchFamily="34" charset="-122"/>
                <a:cs typeface="Arial" pitchFamily="34" charset="-120"/>
              </a:rPr>
              <a:t>لديك صورتين:</a:t>
            </a:r>
            <a:endParaRPr lang="ar-KW" sz="2800" dirty="0"/>
          </a:p>
        </p:txBody>
      </p:sp>
      <p:sp>
        <p:nvSpPr>
          <p:cNvPr id="11" name="anim_5_64"/>
          <p:cNvSpPr txBox="1"/>
          <p:nvPr/>
        </p:nvSpPr>
        <p:spPr>
          <a:xfrm>
            <a:off x="6172200" y="2331720"/>
            <a:ext cx="5394960" cy="502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الصورة الأولى تمثل بناء مكتمل .</a:t>
            </a:r>
            <a:endParaRPr lang="ar-KW" sz="2400" dirty="0"/>
          </a:p>
        </p:txBody>
      </p:sp>
      <p:sp>
        <p:nvSpPr>
          <p:cNvPr id="12" name="anim_5_65"/>
          <p:cNvSpPr txBox="1"/>
          <p:nvPr/>
        </p:nvSpPr>
        <p:spPr>
          <a:xfrm>
            <a:off x="6172200" y="2834640"/>
            <a:ext cx="5394960" cy="502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الصورة الثانية تمثل بناء غير مكتمل.</a:t>
            </a:r>
            <a:endParaRPr lang="ar-KW" sz="2400" dirty="0"/>
          </a:p>
        </p:txBody>
      </p:sp>
      <p:sp>
        <p:nvSpPr>
          <p:cNvPr id="13" name="anim_5_66"/>
          <p:cNvSpPr txBox="1"/>
          <p:nvPr/>
        </p:nvSpPr>
        <p:spPr>
          <a:xfrm>
            <a:off x="6172200" y="3383280"/>
            <a:ext cx="5394960" cy="502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E8335F"/>
                </a:solidFill>
                <a:latin typeface="Arial" pitchFamily="34" charset="0"/>
                <a:ea typeface="Arial" pitchFamily="34" charset="-122"/>
                <a:cs typeface="Arial" pitchFamily="34" charset="-120"/>
              </a:rPr>
              <a:t>المطلوب:</a:t>
            </a:r>
            <a:endParaRPr lang="ar-KW" sz="2600" dirty="0"/>
          </a:p>
        </p:txBody>
      </p:sp>
      <p:sp>
        <p:nvSpPr>
          <p:cNvPr id="14" name="anim_5_67"/>
          <p:cNvSpPr txBox="1"/>
          <p:nvPr/>
        </p:nvSpPr>
        <p:spPr>
          <a:xfrm>
            <a:off x="6035040" y="3886200"/>
            <a:ext cx="5577840" cy="502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 أي البناءين يبدو أكثر استقرارًا؟ ...</a:t>
            </a:r>
            <a:endParaRPr lang="ar-KW" sz="2200" dirty="0"/>
          </a:p>
        </p:txBody>
      </p:sp>
      <p:sp>
        <p:nvSpPr>
          <p:cNvPr id="15" name="anim_5_68"/>
          <p:cNvSpPr txBox="1"/>
          <p:nvPr/>
        </p:nvSpPr>
        <p:spPr>
          <a:xfrm>
            <a:off x="6035040" y="4389120"/>
            <a:ext cx="5577840" cy="502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ما السبب؟ ...............</a:t>
            </a:r>
            <a:endParaRPr lang="ar-KW" sz="2200" dirty="0"/>
          </a:p>
        </p:txBody>
      </p:sp>
      <p:sp>
        <p:nvSpPr>
          <p:cNvPr id="16" name="anim_5_69"/>
          <p:cNvSpPr txBox="1"/>
          <p:nvPr/>
        </p:nvSpPr>
        <p:spPr>
          <a:xfrm>
            <a:off x="6172200" y="4892040"/>
            <a:ext cx="5394960" cy="128016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ماذا يحتاج المبنى غير المكتمل ليصبح أكثر استقرارًا؟</a:t>
            </a:r>
            <a:endParaRPr lang="ar-KW" sz="2400" dirty="0"/>
          </a:p>
          <a:p>
            <a:pPr rtl="0" algn="r" indent="0" marL="0">
              <a:lnSpc>
                <a:spcPct val="105000"/>
              </a:lnSpc>
              <a:spcAft>
                <a:spcPts val="600"/>
              </a:spcAft>
              <a:buNone/>
            </a:pPr>
            <a:r>
              <a:rPr lang="ar-KW" altLang="en-US" sz="2400" b="1" dirty="0">
                <a:solidFill>
                  <a:srgbClr val="7A8CA8"/>
                </a:solidFill>
                <a:latin typeface="Arial" pitchFamily="34" charset="0"/>
                <a:ea typeface="Arial" pitchFamily="34" charset="-122"/>
                <a:cs typeface="Arial" pitchFamily="34" charset="-120"/>
              </a:rPr>
              <a:t>.............................................</a:t>
            </a:r>
            <a:endParaRPr lang="ar-KW" sz="2400" dirty="0"/>
          </a:p>
        </p:txBody>
      </p:sp>
      <p:pic>
        <p:nvPicPr>
          <p:cNvPr id="17" name="anim_5_70" descr="sp_gold.png">    </p:cNvPr>
          <p:cNvPicPr>
            <a:picLocks noChangeAspect="1"/>
          </p:cNvPicPr>
          <p:nvPr/>
        </p:nvPicPr>
        <p:blipFill>
          <a:blip r:embed="rId4"/>
          <a:stretch>
            <a:fillRect/>
          </a:stretch>
        </p:blipFill>
        <p:spPr>
          <a:xfrm>
            <a:off x="685800" y="5120640"/>
            <a:ext cx="685800" cy="685800"/>
          </a:xfrm>
          <a:prstGeom prst="rect">
            <a:avLst/>
          </a:prstGeom>
        </p:spPr>
      </p:pic>
      <p:sp>
        <p:nvSpPr>
          <p:cNvPr id="18" name="anim_5_71"/>
          <p:cNvSpPr txBox="1"/>
          <p:nvPr/>
        </p:nvSpPr>
        <p:spPr>
          <a:xfrm>
            <a:off x="1417320" y="5120640"/>
            <a:ext cx="4206240" cy="685800"/>
          </a:xfrm>
          <a:prstGeom prst="rect">
            <a:avLst/>
          </a:prstGeom>
          <a:noFill/>
          <a:ln/>
        </p:spPr>
        <p:txBody>
          <a:bodyPr wrap="square" lIns="50800" tIns="50800" rIns="50800" bIns="50800" rtlCol="0" anchor="ctr"/>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أي البناءين أكثر استقرارًا؟</a:t>
            </a:r>
            <a:endParaRPr lang="ar-KW" sz="2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42"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43" fill="hold">
                            <p:stCondLst>
                              <p:cond delay="800"/>
                            </p:stCondLst>
                            <p:childTnLst>
                              <p:par>
                                <p:cTn id="11" presetID="2" presetClass="entr" presetSubtype="8"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700" fill="hold"/>
                                        <p:tgtEl>
                                          <p:spTgt spid="5"/>
                                        </p:tgtEl>
                                        <p:attrNameLst>
                                          <p:attrName>ppt_x</p:attrName>
                                        </p:attrNameLst>
                                      </p:cBhvr>
                                      <p:tavLst>
                                        <p:tav tm="0">
                                          <p:val>
                                            <p:strVal val="0-#ppt_w/2"/>
                                          </p:val>
                                        </p:tav>
                                        <p:tav tm="100000">
                                          <p:val>
                                            <p:strVal val="#ppt_x"/>
                                          </p:val>
                                        </p:tav>
                                      </p:tavLst>
                                    </p:anim>
                                    <p:anim calcmode="lin" valueType="num">
                                      <p:cBhvr additive="base">
                                        <p:cTn id="14" dur="700" fill="hold"/>
                                        <p:tgtEl>
                                          <p:spTgt spid="5"/>
                                        </p:tgtEl>
                                        <p:attrNameLst>
                                          <p:attrName>ppt_y</p:attrName>
                                        </p:attrNameLst>
                                      </p:cBhvr>
                                      <p:tavLst>
                                        <p:tav tm="0">
                                          <p:val>
                                            <p:strVal val="#ppt_y"/>
                                          </p:val>
                                        </p:tav>
                                        <p:tav tm="100000">
                                          <p:val>
                                            <p:strVal val="#ppt_y"/>
                                          </p:val>
                                        </p:tav>
                                      </p:tavLst>
                                    </p:anim>
                                  </p:childTnLst>
                                </p:cTn>
                              </p:par>
                            </p:childTnLst>
                          </p:cTn>
                        </p:par>
                        <p:par>
                          <p:cTn id="44" fill="hold">
                            <p:stCondLst>
                              <p:cond delay="1500"/>
                            </p:stCondLst>
                            <p:childTnLst>
                              <p:par>
                                <p:cTn id="15" presetID="2" presetClass="entr" presetSubtype="8"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700" fill="hold"/>
                                        <p:tgtEl>
                                          <p:spTgt spid="6"/>
                                        </p:tgtEl>
                                        <p:attrNameLst>
                                          <p:attrName>ppt_x</p:attrName>
                                        </p:attrNameLst>
                                      </p:cBhvr>
                                      <p:tavLst>
                                        <p:tav tm="0">
                                          <p:val>
                                            <p:strVal val="0-#ppt_w/2"/>
                                          </p:val>
                                        </p:tav>
                                        <p:tav tm="100000">
                                          <p:val>
                                            <p:strVal val="#ppt_x"/>
                                          </p:val>
                                        </p:tav>
                                      </p:tavLst>
                                    </p:anim>
                                    <p:anim calcmode="lin" valueType="num">
                                      <p:cBhvr additive="base">
                                        <p:cTn id="18" dur="700" fill="hold"/>
                                        <p:tgtEl>
                                          <p:spTgt spid="6"/>
                                        </p:tgtEl>
                                        <p:attrNameLst>
                                          <p:attrName>ppt_y</p:attrName>
                                        </p:attrNameLst>
                                      </p:cBhvr>
                                      <p:tavLst>
                                        <p:tav tm="0">
                                          <p:val>
                                            <p:strVal val="#ppt_y"/>
                                          </p:val>
                                        </p:tav>
                                        <p:tav tm="100000">
                                          <p:val>
                                            <p:strVal val="#ppt_y"/>
                                          </p:val>
                                        </p:tav>
                                      </p:tavLst>
                                    </p:anim>
                                  </p:childTnLst>
                                </p:cTn>
                              </p:par>
                            </p:childTnLst>
                          </p:cTn>
                        </p:par>
                        <p:par>
                          <p:cTn id="45" fill="hold">
                            <p:stCondLst>
                              <p:cond delay="22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childTnLst>
                          </p:cTn>
                        </p:par>
                        <p:par>
                          <p:cTn id="46" fill="hold">
                            <p:stCondLst>
                              <p:cond delay="250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600" fill="hold"/>
                                        <p:tgtEl>
                                          <p:spTgt spid="9"/>
                                        </p:tgtEl>
                                        <p:attrNameLst>
                                          <p:attrName>ppt_w</p:attrName>
                                        </p:attrNameLst>
                                      </p:cBhvr>
                                      <p:tavLst>
                                        <p:tav tm="0">
                                          <p:val>
                                            <p:fltVal val="0"/>
                                          </p:val>
                                        </p:tav>
                                        <p:tav tm="100000">
                                          <p:val>
                                            <p:strVal val="#ppt_w"/>
                                          </p:val>
                                        </p:tav>
                                      </p:tavLst>
                                    </p:anim>
                                    <p:anim calcmode="lin" valueType="num">
                                      <p:cBhvr additive="base">
                                        <p:cTn id="28" dur="600" fill="hold"/>
                                        <p:tgtEl>
                                          <p:spTgt spid="9"/>
                                        </p:tgtEl>
                                        <p:attrNameLst>
                                          <p:attrName>ppt_h</p:attrName>
                                        </p:attrNameLst>
                                      </p:cBhvr>
                                      <p:tavLst>
                                        <p:tav tm="0">
                                          <p:val>
                                            <p:fltVal val="0"/>
                                          </p:val>
                                        </p:tav>
                                        <p:tav tm="100000">
                                          <p:val>
                                            <p:strVal val="#ppt_h"/>
                                          </p:val>
                                        </p:tav>
                                      </p:tavLst>
                                    </p:anim>
                                    <p:animEffect transition="in" filter="fade">
                                      <p:cBhvr>
                                        <p:cTn id="29" dur="600"/>
                                        <p:tgtEl>
                                          <p:spTgt spid="9"/>
                                        </p:tgtEl>
                                      </p:cBhvr>
                                    </p:animEffect>
                                  </p:childTnLst>
                                </p:cTn>
                              </p:par>
                            </p:childTnLst>
                          </p:cTn>
                        </p:par>
                        <p:par>
                          <p:cTn id="47" fill="hold">
                            <p:stCondLst>
                              <p:cond delay="3100"/>
                            </p:stCondLst>
                            <p:childTnLst>
                              <p:par>
                                <p:cTn id="30" presetID="22" presetClass="entr" presetSubtype="2"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right)">
                                      <p:cBhvr>
                                        <p:cTn id="32" dur="600"/>
                                        <p:tgtEl>
                                          <p:spTgt spid="10"/>
                                        </p:tgtEl>
                                      </p:cBhvr>
                                    </p:animEffect>
                                  </p:childTnLst>
                                </p:cTn>
                              </p:par>
                            </p:childTnLst>
                          </p:cTn>
                        </p:par>
                        <p:par>
                          <p:cTn id="48" fill="hold">
                            <p:stCondLst>
                              <p:cond delay="3700"/>
                            </p:stCondLst>
                            <p:childTnLst>
                              <p:par>
                                <p:cTn id="33" presetID="22" presetClass="entr" presetSubtype="2"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right)">
                                      <p:cBhvr>
                                        <p:cTn id="35" dur="700"/>
                                        <p:tgtEl>
                                          <p:spTgt spid="11"/>
                                        </p:tgtEl>
                                      </p:cBhvr>
                                    </p:animEffect>
                                  </p:childTnLst>
                                </p:cTn>
                              </p:par>
                            </p:childTnLst>
                          </p:cTn>
                        </p:par>
                        <p:par>
                          <p:cTn id="49" fill="hold">
                            <p:stCondLst>
                              <p:cond delay="4400"/>
                            </p:stCondLst>
                            <p:childTnLst>
                              <p:par>
                                <p:cTn id="36" presetID="22" presetClass="entr" presetSubtype="2"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700"/>
                                        <p:tgtEl>
                                          <p:spTgt spid="12"/>
                                        </p:tgtEl>
                                      </p:cBhvr>
                                    </p:animEffect>
                                  </p:childTnLst>
                                </p:cTn>
                              </p:par>
                            </p:childTnLst>
                          </p:cTn>
                        </p:par>
                        <p:par>
                          <p:cTn id="50" fill="hold">
                            <p:stCondLst>
                              <p:cond delay="5100"/>
                            </p:stCondLst>
                            <p:childTnLst>
                              <p:par>
                                <p:cTn id="39" presetID="22" presetClass="entr" presetSubtype="2"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right)">
                                      <p:cBhvr>
                                        <p:cTn id="41" dur="500"/>
                                        <p:tgtEl>
                                          <p:spTgt spid="13"/>
                                        </p:tgtEl>
                                      </p:cBhvr>
                                    </p:animEffect>
                                  </p:childTnLst>
                                </p:cTn>
                              </p:par>
                            </p:childTnLst>
                          </p:cTn>
                        </p:par>
                      </p:childTnLst>
                    </p:cTn>
                  </p:par>
                  <p:par>
                    <p:cTn id="56" fill="hold">
                      <p:stCondLst>
                        <p:cond delay="indefinite"/>
                      </p:stCondLst>
                      <p:childTnLst>
                        <p:par>
                          <p:cTn id="55" fill="hold">
                            <p:stCondLst>
                              <p:cond delay="0"/>
                            </p:stCondLst>
                            <p:childTnLst>
                              <p:par>
                                <p:cTn id="52" presetID="22" presetClass="entr" presetSubtype="2"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right)">
                                      <p:cBhvr>
                                        <p:cTn id="54" dur="700"/>
                                        <p:tgtEl>
                                          <p:spTgt spid="14"/>
                                        </p:tgtEl>
                                      </p:cBhvr>
                                    </p:animEffect>
                                  </p:childTnLst>
                                </p:cTn>
                              </p:par>
                            </p:childTnLst>
                          </p:cTn>
                        </p:par>
                      </p:childTnLst>
                    </p:cTn>
                  </p:par>
                  <p:par>
                    <p:cTn id="61" fill="hold">
                      <p:stCondLst>
                        <p:cond delay="indefinite"/>
                      </p:stCondLst>
                      <p:childTnLst>
                        <p:par>
                          <p:cTn id="60"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right)">
                                      <p:cBhvr>
                                        <p:cTn id="59" dur="700"/>
                                        <p:tgtEl>
                                          <p:spTgt spid="15"/>
                                        </p:tgtEl>
                                      </p:cBhvr>
                                    </p:animEffect>
                                  </p:childTnLst>
                                </p:cTn>
                              </p:par>
                            </p:childTnLst>
                          </p:cTn>
                        </p:par>
                      </p:childTnLst>
                    </p:cTn>
                  </p:par>
                  <p:par>
                    <p:cTn id="75" fill="hold">
                      <p:stCondLst>
                        <p:cond delay="indefinite"/>
                      </p:stCondLst>
                      <p:childTnLst>
                        <p:par>
                          <p:cTn id="73" fill="hold">
                            <p:stCondLst>
                              <p:cond delay="0"/>
                            </p:stCondLst>
                            <p:childTnLst>
                              <p:par>
                                <p:cTn id="62" presetID="22" presetClass="entr" presetSubtype="2"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wipe(right)">
                                      <p:cBhvr>
                                        <p:cTn id="64" dur="900"/>
                                        <p:tgtEl>
                                          <p:spTgt spid="16"/>
                                        </p:tgtEl>
                                      </p:cBhvr>
                                    </p:animEffect>
                                  </p:childTnLst>
                                </p:cTn>
                              </p:par>
                            </p:childTnLst>
                          </p:cTn>
                        </p:par>
                        <p:par>
                          <p:cTn id="74" fill="hold">
                            <p:stCondLst>
                              <p:cond delay="900"/>
                            </p:stCondLst>
                            <p:childTnLst>
                              <p:par>
                                <p:cTn id="65" presetID="53" presetClass="entr" presetSubtype="16" fill="hold" grpId="0" nodeType="after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400" fill="hold"/>
                                        <p:tgtEl>
                                          <p:spTgt spid="17"/>
                                        </p:tgtEl>
                                        <p:attrNameLst>
                                          <p:attrName>ppt_w</p:attrName>
                                        </p:attrNameLst>
                                      </p:cBhvr>
                                      <p:tavLst>
                                        <p:tav tm="0">
                                          <p:val>
                                            <p:fltVal val="0"/>
                                          </p:val>
                                        </p:tav>
                                        <p:tav tm="100000">
                                          <p:val>
                                            <p:strVal val="#ppt_w"/>
                                          </p:val>
                                        </p:tav>
                                      </p:tavLst>
                                    </p:anim>
                                    <p:anim calcmode="lin" valueType="num">
                                      <p:cBhvr additive="base">
                                        <p:cTn id="68" dur="400" fill="hold"/>
                                        <p:tgtEl>
                                          <p:spTgt spid="17"/>
                                        </p:tgtEl>
                                        <p:attrNameLst>
                                          <p:attrName>ppt_h</p:attrName>
                                        </p:attrNameLst>
                                      </p:cBhvr>
                                      <p:tavLst>
                                        <p:tav tm="0">
                                          <p:val>
                                            <p:fltVal val="0"/>
                                          </p:val>
                                        </p:tav>
                                        <p:tav tm="100000">
                                          <p:val>
                                            <p:strVal val="#ppt_h"/>
                                          </p:val>
                                        </p:tav>
                                      </p:tavLst>
                                    </p:anim>
                                    <p:animEffect transition="in" filter="fade">
                                      <p:cBhvr>
                                        <p:cTn id="69" dur="400"/>
                                        <p:tgtEl>
                                          <p:spTgt spid="1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2" name=""/>
        <p:cNvGrpSpPr/>
        <p:nvPr/>
      </p:nvGrpSpPr>
      <p:grpSpPr>
        <a:xfrm>
          <a:off x="0" y="0"/>
          <a:ext cx="0" cy="0"/>
          <a:chOff x="0" y="0"/>
          <a:chExt cx="0" cy="0"/>
        </a:xfrm>
      </p:grpSpPr>
      <p:sp>
        <p:nvSpPr>
          <p:cNvPr id="3" name="anim_6_72"/>
          <p:cNvSpPr/>
          <p:nvPr/>
        </p:nvSpPr>
        <p:spPr>
          <a:xfrm>
            <a:off x="3886200" y="502920"/>
            <a:ext cx="786384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الأشياء تميل إلى الاستقرار</a:t>
            </a:r>
            <a:endParaRPr lang="ar-KW" sz="3600" dirty="0"/>
          </a:p>
        </p:txBody>
      </p:sp>
      <p:pic>
        <p:nvPicPr>
          <p:cNvPr id="4" name="anim_6_73" descr="sp_te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6_74"/>
          <p:cNvSpPr/>
          <p:nvPr/>
        </p:nvSpPr>
        <p:spPr>
          <a:xfrm>
            <a:off x="411480" y="1691640"/>
            <a:ext cx="11338560" cy="1371600"/>
          </a:xfrm>
          <a:prstGeom prst="roundRect">
            <a:avLst>
              <a:gd name="adj" fmla="val 20000"/>
            </a:avLst>
          </a:prstGeom>
          <a:solidFill>
            <a:srgbClr val="FFFFFF"/>
          </a:solidFill>
          <a:ln/>
          <a:effectLst>
            <a:outerShdw sx="100000" sy="100000" kx="0" ky="0" algn="bl" rotWithShape="0" blurRad="152400" dist="50800" dir="5400000">
              <a:srgbClr val="1F4F8A">
                <a:alpha val="18000"/>
              </a:srgbClr>
            </a:outerShdw>
          </a:effectLst>
        </p:spPr>
      </p:sp>
      <p:sp>
        <p:nvSpPr>
          <p:cNvPr id="6" name="anim_6_75"/>
          <p:cNvSpPr txBox="1"/>
          <p:nvPr/>
        </p:nvSpPr>
        <p:spPr>
          <a:xfrm>
            <a:off x="594360" y="1755648"/>
            <a:ext cx="10972800" cy="1261872"/>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من خلال النشاط نجد أن الأشياء </a:t>
            </a:r>
            <a:r>
              <a:rPr lang="ar-KW" altLang="en-US" sz="2600" b="1" dirty="0">
                <a:solidFill>
                  <a:srgbClr val="0F9D8E"/>
                </a:solidFill>
                <a:latin typeface="Arial" pitchFamily="34" charset="0"/>
                <a:ea typeface="Arial" pitchFamily="34" charset="-122"/>
                <a:cs typeface="Arial" pitchFamily="34" charset="-120"/>
              </a:rPr>
              <a:t>تميل إلى الاستقرار</a:t>
            </a:r>
            <a:r>
              <a:rPr lang="ar-KW" altLang="en-US" sz="2600" b="1" dirty="0">
                <a:solidFill>
                  <a:srgbClr val="16325C"/>
                </a:solidFill>
                <a:latin typeface="Arial" pitchFamily="34" charset="0"/>
                <a:ea typeface="Arial" pitchFamily="34" charset="-122"/>
                <a:cs typeface="Arial" pitchFamily="34" charset="-120"/>
              </a:rPr>
              <a:t> حتى تكون مكتملة ومتوازنة. </a:t>
            </a:r>
            <a:r>
              <a:rPr lang="ar-KW" altLang="en-US" sz="2600" b="1" dirty="0">
                <a:solidFill>
                  <a:srgbClr val="E8335F"/>
                </a:solidFill>
                <a:latin typeface="Arial" pitchFamily="34" charset="0"/>
                <a:ea typeface="Arial" pitchFamily="34" charset="-122"/>
                <a:cs typeface="Arial" pitchFamily="34" charset="-120"/>
              </a:rPr>
              <a:t>فهل ينطبق ذلك على ذرات العناصر أيضًا؟</a:t>
            </a:r>
            <a:endParaRPr lang="ar-KW" sz="2600" dirty="0"/>
          </a:p>
        </p:txBody>
      </p:sp>
      <p:sp>
        <p:nvSpPr>
          <p:cNvPr id="7" name="anim_6_76"/>
          <p:cNvSpPr txBox="1"/>
          <p:nvPr/>
        </p:nvSpPr>
        <p:spPr>
          <a:xfrm>
            <a:off x="548640" y="3200400"/>
            <a:ext cx="11201400" cy="178308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500" b="1" dirty="0">
                <a:solidFill>
                  <a:srgbClr val="16325C"/>
                </a:solidFill>
                <a:latin typeface="Arial" pitchFamily="34" charset="0"/>
                <a:ea typeface="Arial" pitchFamily="34" charset="-122"/>
                <a:cs typeface="Arial" pitchFamily="34" charset="-120"/>
              </a:rPr>
              <a:t>وجد العلماء أن </a:t>
            </a:r>
            <a:r>
              <a:rPr lang="ar-KW" altLang="en-US" sz="2500" b="1" dirty="0">
                <a:solidFill>
                  <a:srgbClr val="E8335F"/>
                </a:solidFill>
                <a:latin typeface="Arial" pitchFamily="34" charset="0"/>
                <a:ea typeface="Arial" pitchFamily="34" charset="-122"/>
                <a:cs typeface="Arial" pitchFamily="34" charset="-120"/>
              </a:rPr>
              <a:t>عناصر المجموعة (18)</a:t>
            </a:r>
            <a:r>
              <a:rPr lang="ar-KW" altLang="en-US" sz="2500" b="1" dirty="0">
                <a:solidFill>
                  <a:srgbClr val="16325C"/>
                </a:solidFill>
                <a:latin typeface="Arial" pitchFamily="34" charset="0"/>
                <a:ea typeface="Arial" pitchFamily="34" charset="-122"/>
                <a:cs typeface="Arial" pitchFamily="34" charset="-120"/>
              </a:rPr>
              <a:t> تتمتع بتركيب إلكتروني يجعلها مستقرة، ولذلك لا تميل إلى التفاعل. أما معظم الذرات الأخرى فتسعى للوصول إلى هذا الاستقرار عن طريق </a:t>
            </a:r>
            <a:r>
              <a:rPr lang="ar-KW" altLang="en-US" sz="2500" b="1" dirty="0">
                <a:solidFill>
                  <a:srgbClr val="1F6FB2"/>
                </a:solidFill>
                <a:latin typeface="Arial" pitchFamily="34" charset="0"/>
                <a:ea typeface="Arial" pitchFamily="34" charset="-122"/>
                <a:cs typeface="Arial" pitchFamily="34" charset="-120"/>
              </a:rPr>
              <a:t>فقد</a:t>
            </a:r>
            <a:r>
              <a:rPr lang="ar-KW" altLang="en-US" sz="2500" b="1" dirty="0">
                <a:solidFill>
                  <a:srgbClr val="16325C"/>
                </a:solidFill>
                <a:latin typeface="Arial" pitchFamily="34" charset="0"/>
                <a:ea typeface="Arial" pitchFamily="34" charset="-122"/>
                <a:cs typeface="Arial" pitchFamily="34" charset="-120"/>
              </a:rPr>
              <a:t> أو </a:t>
            </a:r>
            <a:r>
              <a:rPr lang="ar-KW" altLang="en-US" sz="2500" b="1" dirty="0">
                <a:solidFill>
                  <a:srgbClr val="1F6FB2"/>
                </a:solidFill>
                <a:latin typeface="Arial" pitchFamily="34" charset="0"/>
                <a:ea typeface="Arial" pitchFamily="34" charset="-122"/>
                <a:cs typeface="Arial" pitchFamily="34" charset="-120"/>
              </a:rPr>
              <a:t>اكتساب</a:t>
            </a:r>
            <a:r>
              <a:rPr lang="ar-KW" altLang="en-US" sz="2500" b="1" dirty="0">
                <a:solidFill>
                  <a:srgbClr val="16325C"/>
                </a:solidFill>
                <a:latin typeface="Arial" pitchFamily="34" charset="0"/>
                <a:ea typeface="Arial" pitchFamily="34" charset="-122"/>
                <a:cs typeface="Arial" pitchFamily="34" charset="-120"/>
              </a:rPr>
              <a:t> أو </a:t>
            </a:r>
            <a:r>
              <a:rPr lang="ar-KW" altLang="en-US" sz="2500" b="1" dirty="0">
                <a:solidFill>
                  <a:srgbClr val="1F6FB2"/>
                </a:solidFill>
                <a:latin typeface="Arial" pitchFamily="34" charset="0"/>
                <a:ea typeface="Arial" pitchFamily="34" charset="-122"/>
                <a:cs typeface="Arial" pitchFamily="34" charset="-120"/>
              </a:rPr>
              <a:t>مشاركة</a:t>
            </a:r>
            <a:r>
              <a:rPr lang="ar-KW" altLang="en-US" sz="2500" b="1" dirty="0">
                <a:solidFill>
                  <a:srgbClr val="16325C"/>
                </a:solidFill>
                <a:latin typeface="Arial" pitchFamily="34" charset="0"/>
                <a:ea typeface="Arial" pitchFamily="34" charset="-122"/>
                <a:cs typeface="Arial" pitchFamily="34" charset="-120"/>
              </a:rPr>
              <a:t> الإلكترونات، </a:t>
            </a:r>
            <a:r>
              <a:rPr lang="ar-KW" altLang="en-US" sz="2500" b="1" dirty="0">
                <a:solidFill>
                  <a:srgbClr val="6C4FE0"/>
                </a:solidFill>
                <a:latin typeface="Arial" pitchFamily="34" charset="0"/>
                <a:ea typeface="Arial" pitchFamily="34" charset="-122"/>
                <a:cs typeface="Arial" pitchFamily="34" charset="-120"/>
              </a:rPr>
              <a:t>ولكن هل جميع إلكترونات الذرة تشارك في هذا التغيير؟</a:t>
            </a:r>
            <a:endParaRPr lang="ar-KW" sz="2500" dirty="0"/>
          </a:p>
        </p:txBody>
      </p:sp>
      <p:pic>
        <p:nvPicPr>
          <p:cNvPr id="8" name="anim_6_77" descr="noble.png">    </p:cNvPr>
          <p:cNvPicPr>
            <a:picLocks noChangeAspect="1"/>
          </p:cNvPicPr>
          <p:nvPr/>
        </p:nvPicPr>
        <p:blipFill>
          <a:blip r:embed="rId2"/>
          <a:stretch>
            <a:fillRect/>
          </a:stretch>
        </p:blipFill>
        <p:spPr>
          <a:xfrm>
            <a:off x="2011680" y="4983480"/>
            <a:ext cx="8229600" cy="1596947"/>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17"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18"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par>
                          <p:cTn id="19" fill="hold">
                            <p:stCondLst>
                              <p:cond delay="1300"/>
                            </p:stCondLst>
                            <p:childTnLst>
                              <p:par>
                                <p:cTn id="14" presetID="22" presetClass="entr" presetSubtype="2"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right)">
                                      <p:cBhvr>
                                        <p:cTn id="16" dur="1100"/>
                                        <p:tgtEl>
                                          <p:spTgt spid="6"/>
                                        </p:tgtEl>
                                      </p:cBhvr>
                                    </p:animEffect>
                                  </p:childTnLst>
                                </p:cTn>
                              </p:par>
                            </p:childTnLst>
                          </p:cTn>
                        </p:par>
                      </p:childTnLst>
                    </p:cTn>
                  </p:par>
                  <p:par>
                    <p:cTn id="30" fill="hold">
                      <p:stCondLst>
                        <p:cond delay="indefinite"/>
                      </p:stCondLst>
                      <p:childTnLst>
                        <p:par>
                          <p:cTn id="28"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right)">
                                      <p:cBhvr>
                                        <p:cTn id="23" dur="1500"/>
                                        <p:tgtEl>
                                          <p:spTgt spid="7"/>
                                        </p:tgtEl>
                                      </p:cBhvr>
                                    </p:animEffect>
                                  </p:childTnLst>
                                </p:cTn>
                              </p:par>
                            </p:childTnLst>
                          </p:cTn>
                        </p:par>
                        <p:par>
                          <p:cTn id="29" fill="hold">
                            <p:stCondLst>
                              <p:cond delay="1500"/>
                            </p:stCondLst>
                            <p:childTnLst>
                              <p:par>
                                <p:cTn id="24" presetID="2" presetClass="entr" presetSubtype="4"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900" fill="hold"/>
                                        <p:tgtEl>
                                          <p:spTgt spid="8"/>
                                        </p:tgtEl>
                                        <p:attrNameLst>
                                          <p:attrName>ppt_x</p:attrName>
                                        </p:attrNameLst>
                                      </p:cBhvr>
                                      <p:tavLst>
                                        <p:tav tm="0">
                                          <p:val>
                                            <p:strVal val="#ppt_x"/>
                                          </p:val>
                                        </p:tav>
                                        <p:tav tm="100000">
                                          <p:val>
                                            <p:strVal val="#ppt_x"/>
                                          </p:val>
                                        </p:tav>
                                      </p:tavLst>
                                    </p:anim>
                                    <p:anim calcmode="lin" valueType="num">
                                      <p:cBhvr additive="base">
                                        <p:cTn id="27" dur="9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anim_7_78"/>
          <p:cNvSpPr/>
          <p:nvPr/>
        </p:nvSpPr>
        <p:spPr>
          <a:xfrm>
            <a:off x="5257800" y="502920"/>
            <a:ext cx="6492240" cy="868680"/>
          </a:xfrm>
          <a:prstGeom prst="roundRect">
            <a:avLst>
              <a:gd name="adj" fmla="val 49474"/>
            </a:avLst>
          </a:prstGeom>
          <a:solidFill>
            <a:srgbClr val="E59A0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إلكترونات التكافؤ</a:t>
            </a:r>
            <a:endParaRPr lang="ar-KW" sz="3600" dirty="0"/>
          </a:p>
        </p:txBody>
      </p:sp>
      <p:pic>
        <p:nvPicPr>
          <p:cNvPr id="4" name="anim_7_79" descr="sp_gold.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7_80" descr="carbon.png">    </p:cNvPr>
          <p:cNvPicPr>
            <a:picLocks noChangeAspect="1"/>
          </p:cNvPicPr>
          <p:nvPr/>
        </p:nvPicPr>
        <p:blipFill>
          <a:blip r:embed="rId2"/>
          <a:stretch>
            <a:fillRect/>
          </a:stretch>
        </p:blipFill>
        <p:spPr>
          <a:xfrm>
            <a:off x="274320" y="1737360"/>
            <a:ext cx="5120640" cy="4023360"/>
          </a:xfrm>
          <a:prstGeom prst="rect">
            <a:avLst/>
          </a:prstGeom>
        </p:spPr>
      </p:pic>
      <p:sp>
        <p:nvSpPr>
          <p:cNvPr id="6" name="anim_7_81"/>
          <p:cNvSpPr txBox="1"/>
          <p:nvPr/>
        </p:nvSpPr>
        <p:spPr>
          <a:xfrm>
            <a:off x="5669280" y="1691640"/>
            <a:ext cx="6080760" cy="54864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800" b="1" dirty="0">
                <a:solidFill>
                  <a:srgbClr val="E8335F"/>
                </a:solidFill>
                <a:latin typeface="Arial" pitchFamily="34" charset="0"/>
                <a:ea typeface="Arial" pitchFamily="34" charset="-122"/>
                <a:cs typeface="Arial" pitchFamily="34" charset="-120"/>
              </a:rPr>
              <a:t>في الحقيقة، لا .</a:t>
            </a:r>
            <a:endParaRPr lang="ar-KW" sz="2800" dirty="0"/>
          </a:p>
        </p:txBody>
      </p:sp>
      <p:sp>
        <p:nvSpPr>
          <p:cNvPr id="7" name="anim_7_82"/>
          <p:cNvSpPr txBox="1"/>
          <p:nvPr/>
        </p:nvSpPr>
        <p:spPr>
          <a:xfrm>
            <a:off x="5669280" y="2240280"/>
            <a:ext cx="6080760" cy="1234440"/>
          </a:xfrm>
          <a:prstGeom prst="rect">
            <a:avLst/>
          </a:prstGeom>
          <a:noFill/>
          <a:ln/>
        </p:spPr>
        <p:txBody>
          <a:bodyPr wrap="square" lIns="50800" tIns="50800" rIns="50800" bIns="50800" rtlCol="0" anchor="t"/>
          <a:lstStyle/>
          <a:p>
            <a:pPr rtl="0" algn="r" indent="0" marL="0">
              <a:lnSpc>
                <a:spcPct val="105000"/>
              </a:lnSpc>
              <a:buNone/>
            </a:pPr>
            <a:r>
              <a:rPr lang="ar-KW" altLang="en-US" sz="2500" b="1" dirty="0">
                <a:solidFill>
                  <a:srgbClr val="16325C"/>
                </a:solidFill>
                <a:latin typeface="Arial" pitchFamily="34" charset="0"/>
                <a:ea typeface="Arial" pitchFamily="34" charset="-122"/>
                <a:cs typeface="Arial" pitchFamily="34" charset="-120"/>
              </a:rPr>
              <a:t>إنّ </a:t>
            </a:r>
            <a:r>
              <a:rPr lang="ar-KW" altLang="en-US" sz="2500" b="1" dirty="0">
                <a:solidFill>
                  <a:srgbClr val="E59A00"/>
                </a:solidFill>
                <a:latin typeface="Arial" pitchFamily="34" charset="0"/>
                <a:ea typeface="Arial" pitchFamily="34" charset="-122"/>
                <a:cs typeface="Arial" pitchFamily="34" charset="-120"/>
              </a:rPr>
              <a:t>إلكترونات التكافؤ</a:t>
            </a:r>
            <a:endParaRPr lang="ar-KW" sz="2500" dirty="0"/>
          </a:p>
          <a:p>
            <a:pPr rtl="0" algn="r" indent="0" marL="0">
              <a:lnSpc>
                <a:spcPct val="105000"/>
              </a:lnSpc>
              <a:buNone/>
            </a:pPr>
            <a:r>
              <a:rPr lang="ar-KW" altLang="en-US" sz="2500" b="1" dirty="0">
                <a:solidFill>
                  <a:srgbClr val="E59A00"/>
                </a:solidFill>
                <a:latin typeface="Arial" pitchFamily="34" charset="0"/>
                <a:ea typeface="Arial" pitchFamily="34" charset="-122"/>
                <a:cs typeface="Arial" pitchFamily="34" charset="-120"/>
              </a:rPr>
              <a:t>Valence Electrons</a:t>
            </a:r>
            <a:endParaRPr lang="ar-KW" sz="2500" dirty="0"/>
          </a:p>
          <a:p>
            <a:pPr rtl="0" algn="r" indent="0" marL="0">
              <a:lnSpc>
                <a:spcPct val="105000"/>
              </a:lnSpc>
              <a:buNone/>
            </a:pPr>
            <a:r>
              <a:rPr lang="ar-KW" altLang="en-US" sz="2500" b="1" dirty="0">
                <a:solidFill>
                  <a:srgbClr val="16325C"/>
                </a:solidFill>
                <a:latin typeface="Arial" pitchFamily="34" charset="0"/>
                <a:ea typeface="Arial" pitchFamily="34" charset="-122"/>
                <a:cs typeface="Arial" pitchFamily="34" charset="-120"/>
              </a:rPr>
              <a:t>والتي تعرّف بـ:</a:t>
            </a:r>
            <a:endParaRPr lang="ar-KW" sz="2500" dirty="0"/>
          </a:p>
        </p:txBody>
      </p:sp>
      <p:sp>
        <p:nvSpPr>
          <p:cNvPr id="8" name="anim_7_83"/>
          <p:cNvSpPr/>
          <p:nvPr/>
        </p:nvSpPr>
        <p:spPr>
          <a:xfrm>
            <a:off x="5669280" y="3520440"/>
            <a:ext cx="6080760" cy="2606040"/>
          </a:xfrm>
          <a:prstGeom prst="roundRect">
            <a:avLst>
              <a:gd name="adj" fmla="val 10526"/>
            </a:avLst>
          </a:prstGeom>
          <a:solidFill>
            <a:srgbClr val="FFF7E0"/>
          </a:solidFill>
          <a:ln w="38100">
            <a:solidFill>
              <a:srgbClr val="F2C14E"/>
            </a:solidFill>
            <a:prstDash val="solid"/>
          </a:ln>
          <a:effectLst>
            <a:outerShdw sx="100000" sy="100000" kx="0" ky="0" algn="bl" rotWithShape="0" blurRad="152400" dist="50800" dir="5400000">
              <a:srgbClr val="1F4F8A">
                <a:alpha val="18000"/>
              </a:srgbClr>
            </a:outerShdw>
          </a:effectLst>
        </p:spPr>
      </p:sp>
      <p:sp>
        <p:nvSpPr>
          <p:cNvPr id="9" name="anim_7_84"/>
          <p:cNvSpPr txBox="1"/>
          <p:nvPr/>
        </p:nvSpPr>
        <p:spPr>
          <a:xfrm>
            <a:off x="5852160" y="3611880"/>
            <a:ext cx="5760720" cy="2423160"/>
          </a:xfrm>
          <a:prstGeom prst="rect">
            <a:avLst/>
          </a:prstGeom>
          <a:noFill/>
          <a:ln/>
        </p:spPr>
        <p:txBody>
          <a:bodyPr wrap="square" lIns="50800" tIns="50800" rIns="50800" bIns="50800" rtlCol="0" anchor="ctr"/>
          <a:lstStyle/>
          <a:p>
            <a:pPr rtl="1" algn="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«الإلكترونات الموجودة في أعلى مستوى طاقة ممتلئ جزئيًا أو بشكل كامل بالإلكترونات في الذرة، وهي التي تستخدم في التفاعل والارتباط مع الذرات الأخرى».</a:t>
            </a:r>
            <a:endParaRPr lang="ar-KW" sz="2600" dirty="0"/>
          </a:p>
        </p:txBody>
      </p:sp>
    </p:spTree>
  </p:cSld>
  <p:clrMapOvr>
    <a:masterClrMapping/>
  </p:clrMapOvr>
  <p:transition spd="slow">
    <p:wipe dir="l"/>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0"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1"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900" fill="hold"/>
                                        <p:tgtEl>
                                          <p:spTgt spid="5"/>
                                        </p:tgtEl>
                                        <p:attrNameLst>
                                          <p:attrName>ppt_w</p:attrName>
                                        </p:attrNameLst>
                                      </p:cBhvr>
                                      <p:tavLst>
                                        <p:tav tm="0">
                                          <p:val>
                                            <p:fltVal val="0"/>
                                          </p:val>
                                        </p:tav>
                                        <p:tav tm="100000">
                                          <p:val>
                                            <p:strVal val="#ppt_w"/>
                                          </p:val>
                                        </p:tav>
                                      </p:tavLst>
                                    </p:anim>
                                    <p:anim calcmode="lin" valueType="num">
                                      <p:cBhvr additive="base">
                                        <p:cTn id="14" dur="900" fill="hold"/>
                                        <p:tgtEl>
                                          <p:spTgt spid="5"/>
                                        </p:tgtEl>
                                        <p:attrNameLst>
                                          <p:attrName>ppt_h</p:attrName>
                                        </p:attrNameLst>
                                      </p:cBhvr>
                                      <p:tavLst>
                                        <p:tav tm="0">
                                          <p:val>
                                            <p:fltVal val="0"/>
                                          </p:val>
                                        </p:tav>
                                        <p:tav tm="100000">
                                          <p:val>
                                            <p:strVal val="#ppt_h"/>
                                          </p:val>
                                        </p:tav>
                                      </p:tavLst>
                                    </p:anim>
                                    <p:animEffect transition="in" filter="fade">
                                      <p:cBhvr>
                                        <p:cTn id="15" dur="900"/>
                                        <p:tgtEl>
                                          <p:spTgt spid="5"/>
                                        </p:tgtEl>
                                      </p:cBhvr>
                                    </p:animEffect>
                                  </p:childTnLst>
                                </p:cTn>
                              </p:par>
                            </p:childTnLst>
                          </p:cTn>
                        </p:par>
                        <p:par>
                          <p:cTn id="32" fill="hold">
                            <p:stCondLst>
                              <p:cond delay="17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600"/>
                                        <p:tgtEl>
                                          <p:spTgt spid="6"/>
                                        </p:tgtEl>
                                      </p:cBhvr>
                                    </p:animEffect>
                                  </p:childTnLst>
                                </p:cTn>
                              </p:par>
                            </p:childTnLst>
                          </p:cTn>
                        </p:par>
                        <p:par>
                          <p:cTn id="33" fill="hold">
                            <p:stCondLst>
                              <p:cond delay="2300"/>
                            </p:stCondLst>
                            <p:childTnLst>
                              <p:par>
                                <p:cTn id="19" presetID="22" presetClass="entr" presetSubtype="2"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900"/>
                                        <p:tgtEl>
                                          <p:spTgt spid="7"/>
                                        </p:tgtEl>
                                      </p:cBhvr>
                                    </p:animEffect>
                                  </p:childTnLst>
                                </p:cTn>
                              </p:par>
                            </p:childTnLst>
                          </p:cTn>
                        </p:par>
                        <p:par>
                          <p:cTn id="34" fill="hold">
                            <p:stCondLst>
                              <p:cond delay="3200"/>
                            </p:stCondLst>
                            <p:childTnLst>
                              <p:par>
                                <p:cTn id="22"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ppt_w</p:attrName>
                                        </p:attrNameLst>
                                      </p:cBhvr>
                                      <p:tavLst>
                                        <p:tav tm="0">
                                          <p:val>
                                            <p:fltVal val="0"/>
                                          </p:val>
                                        </p:tav>
                                        <p:tav tm="100000">
                                          <p:val>
                                            <p:strVal val="#ppt_w"/>
                                          </p:val>
                                        </p:tav>
                                      </p:tavLst>
                                    </p:anim>
                                    <p:anim calcmode="lin" valueType="num">
                                      <p:cBhvr additive="base">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childTnLst>
                          </p:cTn>
                        </p:par>
                        <p:par>
                          <p:cTn id="35" fill="hold">
                            <p:stCondLst>
                              <p:cond delay="3700"/>
                            </p:stCondLst>
                            <p:childTnLst>
                              <p:par>
                                <p:cTn id="27" presetID="22" presetClass="entr" presetSubtype="2"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right)">
                                      <p:cBhvr>
                                        <p:cTn id="29" dur="1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anim_8_85"/>
          <p:cNvSpPr/>
          <p:nvPr/>
        </p:nvSpPr>
        <p:spPr>
          <a:xfrm>
            <a:off x="6355080" y="502920"/>
            <a:ext cx="5394960" cy="868680"/>
          </a:xfrm>
          <a:prstGeom prst="roundRect">
            <a:avLst>
              <a:gd name="adj" fmla="val 49474"/>
            </a:avLst>
          </a:prstGeom>
          <a:solidFill>
            <a:srgbClr val="1F6FB2"/>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مستوى التكافؤ</a:t>
            </a:r>
            <a:endParaRPr lang="ar-KW" sz="3600" dirty="0"/>
          </a:p>
        </p:txBody>
      </p:sp>
      <p:pic>
        <p:nvPicPr>
          <p:cNvPr id="4" name="anim_8_86" descr="sp_blue.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8_87"/>
          <p:cNvSpPr txBox="1"/>
          <p:nvPr/>
        </p:nvSpPr>
        <p:spPr>
          <a:xfrm>
            <a:off x="5989320" y="1783080"/>
            <a:ext cx="5760720" cy="329184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ويسمى «مستوى الطاقة الخارجي للذرة الذي تُفقد منه الإلكترونات أو تنتقل إليه في التفاعل الكيميائي» بـ </a:t>
            </a:r>
            <a:r>
              <a:rPr lang="ar-KW" altLang="en-US" sz="2600" b="1" dirty="0">
                <a:solidFill>
                  <a:srgbClr val="1F6FB2"/>
                </a:solidFill>
                <a:latin typeface="Arial" pitchFamily="34" charset="0"/>
                <a:ea typeface="Arial" pitchFamily="34" charset="-122"/>
                <a:cs typeface="Arial" pitchFamily="34" charset="-120"/>
              </a:rPr>
              <a:t>مستوى التكافؤ Valence Shell</a:t>
            </a:r>
            <a:r>
              <a:rPr lang="ar-KW" altLang="en-US" sz="2600" b="1" dirty="0">
                <a:solidFill>
                  <a:srgbClr val="16325C"/>
                </a:solidFill>
                <a:latin typeface="Arial" pitchFamily="34" charset="0"/>
                <a:ea typeface="Arial" pitchFamily="34" charset="-122"/>
                <a:cs typeface="Arial" pitchFamily="34" charset="-120"/>
              </a:rPr>
              <a:t> ويوضح الشكل (24) كلًّا من إلكترونات التكافؤ ومستوى التكافؤ.</a:t>
            </a:r>
            <a:endParaRPr lang="ar-KW" sz="2600" dirty="0"/>
          </a:p>
        </p:txBody>
      </p:sp>
      <p:pic>
        <p:nvPicPr>
          <p:cNvPr id="6" name="anim_8_88" descr="carbon.png">    </p:cNvPr>
          <p:cNvPicPr>
            <a:picLocks noChangeAspect="1"/>
          </p:cNvPicPr>
          <p:nvPr/>
        </p:nvPicPr>
        <p:blipFill>
          <a:blip r:embed="rId2"/>
          <a:stretch>
            <a:fillRect/>
          </a:stretch>
        </p:blipFill>
        <p:spPr>
          <a:xfrm>
            <a:off x="2103120" y="1600200"/>
            <a:ext cx="4206240" cy="3304903"/>
          </a:xfrm>
          <a:prstGeom prst="rect">
            <a:avLst/>
          </a:prstGeom>
        </p:spPr>
      </p:pic>
      <p:sp>
        <p:nvSpPr>
          <p:cNvPr id="7" name="anim_8_89"/>
          <p:cNvSpPr txBox="1"/>
          <p:nvPr/>
        </p:nvSpPr>
        <p:spPr>
          <a:xfrm>
            <a:off x="274320" y="1737360"/>
            <a:ext cx="2286000" cy="960120"/>
          </a:xfrm>
          <a:prstGeom prst="roundRect">
            <a:avLst>
              <a:gd name="adj" fmla="val 14286"/>
            </a:avLst>
          </a:prstGeom>
          <a:solidFill>
            <a:srgbClr val="FFFFFF"/>
          </a:solidFill>
          <a:ln w="25400">
            <a:solidFill>
              <a:srgbClr val="16325C"/>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مستوى التكافؤ</a:t>
            </a:r>
            <a:endParaRPr lang="ar-KW" sz="2600" dirty="0"/>
          </a:p>
          <a:p>
            <a:pPr rtl="0" algn="ctr" indent="0" marL="0">
              <a:lnSpc>
                <a:spcPct val="105000"/>
              </a:lnSpc>
              <a:spcAft>
                <a:spcPts val="600"/>
              </a:spcAft>
              <a:buNone/>
            </a:pPr>
            <a:r>
              <a:rPr lang="ar-KW" altLang="en-US" sz="1600" b="1" dirty="0">
                <a:solidFill>
                  <a:srgbClr val="1F6FB2"/>
                </a:solidFill>
                <a:latin typeface="Arial" pitchFamily="34" charset="0"/>
                <a:ea typeface="Arial" pitchFamily="34" charset="-122"/>
                <a:cs typeface="Arial" pitchFamily="34" charset="-120"/>
              </a:rPr>
              <a:t>Valence Shell</a:t>
            </a:r>
            <a:endParaRPr lang="ar-KW" sz="2600" dirty="0"/>
          </a:p>
        </p:txBody>
      </p:sp>
      <p:sp>
        <p:nvSpPr>
          <p:cNvPr id="8" name="anim_8_90"/>
          <p:cNvSpPr/>
          <p:nvPr/>
        </p:nvSpPr>
        <p:spPr>
          <a:xfrm>
            <a:off x="2578608" y="2011680"/>
            <a:ext cx="868680" cy="164592"/>
          </a:xfrm>
          <a:prstGeom prst="line">
            <a:avLst/>
          </a:prstGeom>
          <a:noFill/>
          <a:ln w="38100">
            <a:solidFill>
              <a:srgbClr val="16325C"/>
            </a:solidFill>
            <a:prstDash val="solid"/>
            <a:tailEnd type="triangle"/>
          </a:ln>
        </p:spPr>
      </p:sp>
      <p:sp>
        <p:nvSpPr>
          <p:cNvPr id="9" name="anim_8_91"/>
          <p:cNvSpPr txBox="1"/>
          <p:nvPr/>
        </p:nvSpPr>
        <p:spPr>
          <a:xfrm>
            <a:off x="274320" y="4114800"/>
            <a:ext cx="2423160" cy="960120"/>
          </a:xfrm>
          <a:prstGeom prst="roundRect">
            <a:avLst>
              <a:gd name="adj" fmla="val 14286"/>
            </a:avLst>
          </a:prstGeom>
          <a:solidFill>
            <a:srgbClr val="FFFFFF"/>
          </a:solidFill>
          <a:ln w="25400">
            <a:solidFill>
              <a:srgbClr val="16325C"/>
            </a:solidFill>
          </a:ln>
          <a:effectLst>
            <a:outerShdw sx="100000" sy="100000" kx="0" ky="0" algn="bl" rotWithShape="0" blurRad="152400" dist="50800" dir="5400000">
              <a:srgbClr val="1F4F8A">
                <a:alpha val="18000"/>
              </a:srgbClr>
            </a:outerShdw>
          </a:effectLst>
        </p:spPr>
        <p:txBody>
          <a:bodyPr wrap="square" lIns="0" tIns="0" rIns="0" bIns="0" rtlCol="0" anchor="ctr"/>
          <a:lstStyle/>
          <a:p>
            <a:pPr rtl="0" algn="ct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إلكترونات التكافؤ</a:t>
            </a:r>
            <a:endParaRPr lang="ar-KW" sz="2600" dirty="0"/>
          </a:p>
          <a:p>
            <a:pPr rtl="0" algn="ctr" indent="0" marL="0">
              <a:lnSpc>
                <a:spcPct val="105000"/>
              </a:lnSpc>
              <a:spcAft>
                <a:spcPts val="600"/>
              </a:spcAft>
              <a:buNone/>
            </a:pPr>
            <a:r>
              <a:rPr lang="ar-KW" altLang="en-US" sz="1600" b="1" dirty="0">
                <a:solidFill>
                  <a:srgbClr val="E59A00"/>
                </a:solidFill>
                <a:latin typeface="Arial" pitchFamily="34" charset="0"/>
                <a:ea typeface="Arial" pitchFamily="34" charset="-122"/>
                <a:cs typeface="Arial" pitchFamily="34" charset="-120"/>
              </a:rPr>
              <a:t>Valence Electrons</a:t>
            </a:r>
            <a:endParaRPr lang="ar-KW" sz="2600" dirty="0"/>
          </a:p>
        </p:txBody>
      </p:sp>
      <p:sp>
        <p:nvSpPr>
          <p:cNvPr id="10" name="anim_8_92"/>
          <p:cNvSpPr/>
          <p:nvPr/>
        </p:nvSpPr>
        <p:spPr>
          <a:xfrm>
            <a:off x="2715768" y="4590288"/>
            <a:ext cx="1325880" cy="128016"/>
          </a:xfrm>
          <a:prstGeom prst="line">
            <a:avLst/>
          </a:prstGeom>
          <a:noFill/>
          <a:ln w="38100">
            <a:solidFill>
              <a:srgbClr val="16325C"/>
            </a:solidFill>
            <a:prstDash val="solid"/>
            <a:tailEnd type="triangle"/>
          </a:ln>
        </p:spPr>
      </p:sp>
      <p:sp>
        <p:nvSpPr>
          <p:cNvPr id="11" name="anim_8_93"/>
          <p:cNvSpPr txBox="1"/>
          <p:nvPr/>
        </p:nvSpPr>
        <p:spPr>
          <a:xfrm>
            <a:off x="2926080" y="5120640"/>
            <a:ext cx="2560320" cy="45720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000" b="1" dirty="0">
                <a:solidFill>
                  <a:srgbClr val="1F6FB2"/>
                </a:solidFill>
                <a:latin typeface="Arial" pitchFamily="34" charset="0"/>
                <a:ea typeface="Arial" pitchFamily="34" charset="-122"/>
                <a:cs typeface="Arial" pitchFamily="34" charset="-120"/>
              </a:rPr>
              <a:t>شكل (24)</a:t>
            </a:r>
            <a:endParaRPr lang="ar-KW" sz="2000" dirty="0"/>
          </a:p>
        </p:txBody>
      </p:sp>
      <p:sp>
        <p:nvSpPr>
          <p:cNvPr id="12" name="anim_8_94"/>
          <p:cNvSpPr/>
          <p:nvPr/>
        </p:nvSpPr>
        <p:spPr>
          <a:xfrm>
            <a:off x="5989320" y="5120640"/>
            <a:ext cx="5760720" cy="868680"/>
          </a:xfrm>
          <a:prstGeom prst="roundRect">
            <a:avLst>
              <a:gd name="adj" fmla="val 49474"/>
            </a:avLst>
          </a:prstGeom>
          <a:solidFill>
            <a:srgbClr val="FFF7E0"/>
          </a:solidFill>
          <a:ln/>
          <a:effectLst>
            <a:outerShdw sx="100000" sy="100000" kx="0" ky="0" algn="bl" rotWithShape="0" blurRad="152400" dist="50800" dir="5400000">
              <a:srgbClr val="1F4F8A">
                <a:alpha val="18000"/>
              </a:srgbClr>
            </a:outerShdw>
          </a:effectLst>
        </p:spPr>
      </p:sp>
      <p:pic>
        <p:nvPicPr>
          <p:cNvPr id="13" name="anim_8_95" descr="sp_gold.png">    </p:cNvPr>
          <p:cNvPicPr>
            <a:picLocks noChangeAspect="1"/>
          </p:cNvPicPr>
          <p:nvPr/>
        </p:nvPicPr>
        <p:blipFill>
          <a:blip r:embed="rId3"/>
          <a:stretch>
            <a:fillRect/>
          </a:stretch>
        </p:blipFill>
        <p:spPr>
          <a:xfrm>
            <a:off x="10972800" y="5212080"/>
            <a:ext cx="685800" cy="685800"/>
          </a:xfrm>
          <a:prstGeom prst="rect">
            <a:avLst/>
          </a:prstGeom>
        </p:spPr>
      </p:pic>
      <p:sp>
        <p:nvSpPr>
          <p:cNvPr id="14" name="anim_8_96"/>
          <p:cNvSpPr txBox="1"/>
          <p:nvPr/>
        </p:nvSpPr>
        <p:spPr>
          <a:xfrm>
            <a:off x="6126480" y="5120640"/>
            <a:ext cx="4754880" cy="868680"/>
          </a:xfrm>
          <a:prstGeom prst="rect">
            <a:avLst/>
          </a:prstGeom>
          <a:noFill/>
          <a:ln/>
        </p:spPr>
        <p:txBody>
          <a:bodyPr wrap="square" lIns="50800" tIns="50800" rIns="50800" bIns="50800" rtlCol="0" anchor="ctr"/>
          <a:lstStyle/>
          <a:p>
            <a:pPr rtl="1"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النقاط الذهبية = إلكترونات التكافؤ</a:t>
            </a:r>
            <a:endParaRPr lang="ar-KW" sz="2200" dirty="0"/>
          </a:p>
        </p:txBody>
      </p:sp>
    </p:spTree>
  </p:cSld>
  <p:clrMapOvr>
    <a:masterClrMapping/>
  </p:clrMapOvr>
  <p:transition spd="slow">
    <p:cover dir="l"/>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48"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49"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800"/>
                                        <p:tgtEl>
                                          <p:spTgt spid="5"/>
                                        </p:tgtEl>
                                      </p:cBhvr>
                                    </p:animEffect>
                                  </p:childTnLst>
                                </p:cTn>
                              </p:par>
                            </p:childTnLst>
                          </p:cTn>
                        </p:par>
                        <p:par>
                          <p:cTn id="50" fill="hold">
                            <p:stCondLst>
                              <p:cond delay="2600"/>
                            </p:stCondLst>
                            <p:childTnLst>
                              <p:par>
                                <p:cTn id="14" presetID="53"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900" fill="hold"/>
                                        <p:tgtEl>
                                          <p:spTgt spid="6"/>
                                        </p:tgtEl>
                                        <p:attrNameLst>
                                          <p:attrName>ppt_w</p:attrName>
                                        </p:attrNameLst>
                                      </p:cBhvr>
                                      <p:tavLst>
                                        <p:tav tm="0">
                                          <p:val>
                                            <p:fltVal val="0"/>
                                          </p:val>
                                        </p:tav>
                                        <p:tav tm="100000">
                                          <p:val>
                                            <p:strVal val="#ppt_w"/>
                                          </p:val>
                                        </p:tav>
                                      </p:tavLst>
                                    </p:anim>
                                    <p:anim calcmode="lin" valueType="num">
                                      <p:cBhvr additive="base">
                                        <p:cTn id="17" dur="900" fill="hold"/>
                                        <p:tgtEl>
                                          <p:spTgt spid="6"/>
                                        </p:tgtEl>
                                        <p:attrNameLst>
                                          <p:attrName>ppt_h</p:attrName>
                                        </p:attrNameLst>
                                      </p:cBhvr>
                                      <p:tavLst>
                                        <p:tav tm="0">
                                          <p:val>
                                            <p:fltVal val="0"/>
                                          </p:val>
                                        </p:tav>
                                        <p:tav tm="100000">
                                          <p:val>
                                            <p:strVal val="#ppt_h"/>
                                          </p:val>
                                        </p:tav>
                                      </p:tavLst>
                                    </p:anim>
                                    <p:animEffect transition="in" filter="fade">
                                      <p:cBhvr>
                                        <p:cTn id="18" dur="900"/>
                                        <p:tgtEl>
                                          <p:spTgt spid="6"/>
                                        </p:tgtEl>
                                      </p:cBhvr>
                                    </p:animEffect>
                                  </p:childTnLst>
                                </p:cTn>
                              </p:par>
                            </p:childTnLst>
                          </p:cTn>
                        </p:par>
                        <p:par>
                          <p:cTn id="51" fill="hold">
                            <p:stCondLst>
                              <p:cond delay="3500"/>
                            </p:stCondLst>
                            <p:childTnLst>
                              <p:par>
                                <p:cTn id="19" presetID="2" presetClass="entr" presetSubtype="8"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p:tgtEl>
                                          <p:spTgt spid="7"/>
                                        </p:tgtEl>
                                        <p:attrNameLst>
                                          <p:attrName>ppt_x</p:attrName>
                                        </p:attrNameLst>
                                      </p:cBhvr>
                                      <p:tavLst>
                                        <p:tav tm="0">
                                          <p:val>
                                            <p:strVal val="0-#ppt_w/2"/>
                                          </p:val>
                                        </p:tav>
                                        <p:tav tm="100000">
                                          <p:val>
                                            <p:strVal val="#ppt_x"/>
                                          </p:val>
                                        </p:tav>
                                      </p:tavLst>
                                    </p:anim>
                                    <p:anim calcmode="lin" valueType="num">
                                      <p:cBhvr additive="base">
                                        <p:cTn id="22" dur="600" fill="hold"/>
                                        <p:tgtEl>
                                          <p:spTgt spid="7"/>
                                        </p:tgtEl>
                                        <p:attrNameLst>
                                          <p:attrName>ppt_y</p:attrName>
                                        </p:attrNameLst>
                                      </p:cBhvr>
                                      <p:tavLst>
                                        <p:tav tm="0">
                                          <p:val>
                                            <p:strVal val="#ppt_y"/>
                                          </p:val>
                                        </p:tav>
                                        <p:tav tm="100000">
                                          <p:val>
                                            <p:strVal val="#ppt_y"/>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childTnLst>
                          </p:cTn>
                        </p:par>
                        <p:par>
                          <p:cTn id="52" fill="hold">
                            <p:stCondLst>
                              <p:cond delay="4100"/>
                            </p:stCondLst>
                            <p:childTnLst>
                              <p:par>
                                <p:cTn id="26" presetID="2" presetClass="entr" presetSubtype="8"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600" fill="hold"/>
                                        <p:tgtEl>
                                          <p:spTgt spid="9"/>
                                        </p:tgtEl>
                                        <p:attrNameLst>
                                          <p:attrName>ppt_x</p:attrName>
                                        </p:attrNameLst>
                                      </p:cBhvr>
                                      <p:tavLst>
                                        <p:tav tm="0">
                                          <p:val>
                                            <p:strVal val="0-#ppt_w/2"/>
                                          </p:val>
                                        </p:tav>
                                        <p:tav tm="100000">
                                          <p:val>
                                            <p:strVal val="#ppt_x"/>
                                          </p:val>
                                        </p:tav>
                                      </p:tavLst>
                                    </p:anim>
                                    <p:anim calcmode="lin" valueType="num">
                                      <p:cBhvr additive="base">
                                        <p:cTn id="29" dur="600" fill="hold"/>
                                        <p:tgtEl>
                                          <p:spTgt spid="9"/>
                                        </p:tgtEl>
                                        <p:attrNameLst>
                                          <p:attrName>ppt_y</p:attrName>
                                        </p:attrNameLst>
                                      </p:cBhvr>
                                      <p:tavLst>
                                        <p:tav tm="0">
                                          <p:val>
                                            <p:strVal val="#ppt_y"/>
                                          </p:val>
                                        </p:tav>
                                        <p:tav tm="100000">
                                          <p:val>
                                            <p:strVal val="#ppt_y"/>
                                          </p:val>
                                        </p:tav>
                                      </p:tavLst>
                                    </p:anim>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childTnLst>
                          </p:cTn>
                        </p:par>
                        <p:par>
                          <p:cTn id="53" fill="hold">
                            <p:stCondLst>
                              <p:cond delay="47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00"/>
                                        <p:tgtEl>
                                          <p:spTgt spid="11"/>
                                        </p:tgtEl>
                                      </p:cBhvr>
                                    </p:animEffect>
                                  </p:childTnLst>
                                </p:cTn>
                              </p:par>
                            </p:childTnLst>
                          </p:cTn>
                        </p:par>
                        <p:par>
                          <p:cTn id="54" fill="hold">
                            <p:stCondLst>
                              <p:cond delay="5100"/>
                            </p:stCondLst>
                            <p:childTnLst>
                              <p:par>
                                <p:cTn id="36" presetID="2" presetClass="entr" presetSubtype="4"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ppt_x"/>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par>
                                <p:cTn id="40" presetID="53" presetClass="entr" presetSubtype="16"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400" fill="hold"/>
                                        <p:tgtEl>
                                          <p:spTgt spid="13"/>
                                        </p:tgtEl>
                                        <p:attrNameLst>
                                          <p:attrName>ppt_w</p:attrName>
                                        </p:attrNameLst>
                                      </p:cBhvr>
                                      <p:tavLst>
                                        <p:tav tm="0">
                                          <p:val>
                                            <p:fltVal val="0"/>
                                          </p:val>
                                        </p:tav>
                                        <p:tav tm="100000">
                                          <p:val>
                                            <p:strVal val="#ppt_w"/>
                                          </p:val>
                                        </p:tav>
                                      </p:tavLst>
                                    </p:anim>
                                    <p:anim calcmode="lin" valueType="num">
                                      <p:cBhvr additive="base">
                                        <p:cTn id="43" dur="400" fill="hold"/>
                                        <p:tgtEl>
                                          <p:spTgt spid="13"/>
                                        </p:tgtEl>
                                        <p:attrNameLst>
                                          <p:attrName>ppt_h</p:attrName>
                                        </p:attrNameLst>
                                      </p:cBhvr>
                                      <p:tavLst>
                                        <p:tav tm="0">
                                          <p:val>
                                            <p:fltVal val="0"/>
                                          </p:val>
                                        </p:tav>
                                        <p:tav tm="100000">
                                          <p:val>
                                            <p:strVal val="#ppt_h"/>
                                          </p:val>
                                        </p:tav>
                                      </p:tavLst>
                                    </p:anim>
                                    <p:animEffect transition="in" filter="fade">
                                      <p:cBhvr>
                                        <p:cTn id="44" dur="400"/>
                                        <p:tgtEl>
                                          <p:spTgt spid="13"/>
                                        </p:tgtEl>
                                      </p:cBhvr>
                                    </p:animEffect>
                                  </p:childTnLst>
                                </p:cTn>
                              </p:par>
                              <p:par>
                                <p:cTn id="45" presetID="22" presetClass="entr" presetSubtype="2"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right)">
                                      <p:cBhvr>
                                        <p:cTn id="4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0" grpId="0" animBg="1"/>
      <p:bldP spid="11" grpId="0" animBg="1"/>
      <p:bldP spid="12"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sp>
        <p:nvSpPr>
          <p:cNvPr id="3" name="anim_9_97"/>
          <p:cNvSpPr/>
          <p:nvPr/>
        </p:nvSpPr>
        <p:spPr>
          <a:xfrm>
            <a:off x="5806440" y="502920"/>
            <a:ext cx="5943600" cy="868680"/>
          </a:xfrm>
          <a:prstGeom prst="roundRect">
            <a:avLst>
              <a:gd name="adj" fmla="val 49474"/>
            </a:avLst>
          </a:prstGeom>
          <a:solidFill>
            <a:srgbClr val="6C4FE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التكافؤ Valency</a:t>
            </a:r>
            <a:endParaRPr lang="ar-KW" sz="3600" dirty="0"/>
          </a:p>
        </p:txBody>
      </p:sp>
      <p:pic>
        <p:nvPicPr>
          <p:cNvPr id="4" name="anim_9_98" descr="sp_purple.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9_99"/>
          <p:cNvSpPr txBox="1"/>
          <p:nvPr/>
        </p:nvSpPr>
        <p:spPr>
          <a:xfrm>
            <a:off x="457200" y="1737360"/>
            <a:ext cx="11292840" cy="64008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3000" b="1" dirty="0">
                <a:solidFill>
                  <a:srgbClr val="16325C"/>
                </a:solidFill>
                <a:latin typeface="Arial" pitchFamily="34" charset="0"/>
                <a:ea typeface="Arial" pitchFamily="34" charset="-122"/>
                <a:cs typeface="Arial" pitchFamily="34" charset="-120"/>
              </a:rPr>
              <a:t>ويُعرّف </a:t>
            </a:r>
            <a:r>
              <a:rPr lang="ar-KW" altLang="en-US" sz="3000" b="1" dirty="0">
                <a:solidFill>
                  <a:srgbClr val="6C4FE0"/>
                </a:solidFill>
                <a:latin typeface="Arial" pitchFamily="34" charset="0"/>
                <a:ea typeface="Arial" pitchFamily="34" charset="-122"/>
                <a:cs typeface="Arial" pitchFamily="34" charset="-120"/>
              </a:rPr>
              <a:t>التكافؤ Valency</a:t>
            </a:r>
            <a:r>
              <a:rPr lang="ar-KW" altLang="en-US" sz="3000" b="1" dirty="0">
                <a:solidFill>
                  <a:srgbClr val="16325C"/>
                </a:solidFill>
                <a:latin typeface="Arial" pitchFamily="34" charset="0"/>
                <a:ea typeface="Arial" pitchFamily="34" charset="-122"/>
                <a:cs typeface="Arial" pitchFamily="34" charset="-120"/>
              </a:rPr>
              <a:t> بأنه:</a:t>
            </a:r>
            <a:endParaRPr lang="ar-KW" sz="3000" dirty="0"/>
          </a:p>
        </p:txBody>
      </p:sp>
      <p:sp>
        <p:nvSpPr>
          <p:cNvPr id="6" name="anim_9_100"/>
          <p:cNvSpPr/>
          <p:nvPr/>
        </p:nvSpPr>
        <p:spPr>
          <a:xfrm>
            <a:off x="457200" y="2423160"/>
            <a:ext cx="11292840" cy="1508760"/>
          </a:xfrm>
          <a:prstGeom prst="roundRect">
            <a:avLst>
              <a:gd name="adj" fmla="val 18182"/>
            </a:avLst>
          </a:prstGeom>
          <a:solidFill>
            <a:srgbClr val="F1EDFF"/>
          </a:solidFill>
          <a:ln w="38100">
            <a:solidFill>
              <a:srgbClr val="B9A8FF"/>
            </a:solidFill>
            <a:prstDash val="solid"/>
          </a:ln>
          <a:effectLst>
            <a:outerShdw sx="100000" sy="100000" kx="0" ky="0" algn="bl" rotWithShape="0" blurRad="152400" dist="50800" dir="5400000">
              <a:srgbClr val="1F4F8A">
                <a:alpha val="18000"/>
              </a:srgbClr>
            </a:outerShdw>
          </a:effectLst>
        </p:spPr>
      </p:sp>
      <p:sp>
        <p:nvSpPr>
          <p:cNvPr id="7" name="anim_9_101"/>
          <p:cNvSpPr txBox="1"/>
          <p:nvPr/>
        </p:nvSpPr>
        <p:spPr>
          <a:xfrm>
            <a:off x="685800" y="2468880"/>
            <a:ext cx="10881360" cy="1417320"/>
          </a:xfrm>
          <a:prstGeom prst="rect">
            <a:avLst/>
          </a:prstGeom>
          <a:noFill/>
          <a:ln/>
        </p:spPr>
        <p:txBody>
          <a:bodyPr wrap="square" lIns="50800" tIns="50800" rIns="50800" bIns="50800" rtlCol="0" anchor="ctr"/>
          <a:lstStyle/>
          <a:p>
            <a:pPr rtl="1" algn="ctr" indent="0" marL="0">
              <a:lnSpc>
                <a:spcPct val="105000"/>
              </a:lnSpc>
              <a:spcAft>
                <a:spcPts val="600"/>
              </a:spcAft>
              <a:buNone/>
            </a:pPr>
            <a:r>
              <a:rPr lang="ar-KW" altLang="en-US" sz="3000" b="1" dirty="0">
                <a:solidFill>
                  <a:srgbClr val="16325C"/>
                </a:solidFill>
                <a:latin typeface="Arial" pitchFamily="34" charset="0"/>
                <a:ea typeface="Arial" pitchFamily="34" charset="-122"/>
                <a:cs typeface="Arial" pitchFamily="34" charset="-120"/>
              </a:rPr>
              <a:t>«عدد الإلكترونات التي تفقدها أو تكتسبها أو تشارك بها الذرّة للوصول إلى حالة الاستقرار الإلكتروني».</a:t>
            </a:r>
            <a:endParaRPr lang="ar-KW" sz="3000" dirty="0"/>
          </a:p>
        </p:txBody>
      </p:sp>
      <p:pic>
        <p:nvPicPr>
          <p:cNvPr id="8" name="anim_9_102" descr="sp_coral.png">    </p:cNvPr>
          <p:cNvPicPr>
            <a:picLocks noChangeAspect="1"/>
          </p:cNvPicPr>
          <p:nvPr/>
        </p:nvPicPr>
        <p:blipFill>
          <a:blip r:embed="rId2"/>
          <a:stretch>
            <a:fillRect/>
          </a:stretch>
        </p:blipFill>
        <p:spPr>
          <a:xfrm>
            <a:off x="9189720" y="4160520"/>
            <a:ext cx="1188720" cy="1188720"/>
          </a:xfrm>
          <a:prstGeom prst="rect">
            <a:avLst/>
          </a:prstGeom>
        </p:spPr>
      </p:pic>
      <p:sp>
        <p:nvSpPr>
          <p:cNvPr id="9" name="anim_9_103"/>
          <p:cNvSpPr txBox="1"/>
          <p:nvPr/>
        </p:nvSpPr>
        <p:spPr>
          <a:xfrm>
            <a:off x="8229600" y="5394960"/>
            <a:ext cx="310896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3000" b="1" dirty="0">
                <a:solidFill>
                  <a:srgbClr val="E8335F"/>
                </a:solidFill>
                <a:latin typeface="Arial" pitchFamily="34" charset="0"/>
                <a:ea typeface="Arial" pitchFamily="34" charset="-122"/>
                <a:cs typeface="Arial" pitchFamily="34" charset="-120"/>
              </a:rPr>
              <a:t>تفقد</a:t>
            </a:r>
            <a:endParaRPr lang="ar-KW" sz="3000" dirty="0"/>
          </a:p>
        </p:txBody>
      </p:sp>
      <p:pic>
        <p:nvPicPr>
          <p:cNvPr id="10" name="anim_9_104" descr="sp_blue.png">    </p:cNvPr>
          <p:cNvPicPr>
            <a:picLocks noChangeAspect="1"/>
          </p:cNvPicPr>
          <p:nvPr/>
        </p:nvPicPr>
        <p:blipFill>
          <a:blip r:embed="rId3"/>
          <a:stretch>
            <a:fillRect/>
          </a:stretch>
        </p:blipFill>
        <p:spPr>
          <a:xfrm>
            <a:off x="5623560" y="4160520"/>
            <a:ext cx="1188720" cy="1188720"/>
          </a:xfrm>
          <a:prstGeom prst="rect">
            <a:avLst/>
          </a:prstGeom>
        </p:spPr>
      </p:pic>
      <p:sp>
        <p:nvSpPr>
          <p:cNvPr id="11" name="anim_9_105"/>
          <p:cNvSpPr txBox="1"/>
          <p:nvPr/>
        </p:nvSpPr>
        <p:spPr>
          <a:xfrm>
            <a:off x="4663440" y="5394960"/>
            <a:ext cx="310896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3000" b="1" dirty="0">
                <a:solidFill>
                  <a:srgbClr val="1F6FB2"/>
                </a:solidFill>
                <a:latin typeface="Arial" pitchFamily="34" charset="0"/>
                <a:ea typeface="Arial" pitchFamily="34" charset="-122"/>
                <a:cs typeface="Arial" pitchFamily="34" charset="-120"/>
              </a:rPr>
              <a:t>تكتسب</a:t>
            </a:r>
            <a:endParaRPr lang="ar-KW" sz="3000" dirty="0"/>
          </a:p>
        </p:txBody>
      </p:sp>
      <p:pic>
        <p:nvPicPr>
          <p:cNvPr id="12" name="anim_9_106" descr="sp_teal.png">    </p:cNvPr>
          <p:cNvPicPr>
            <a:picLocks noChangeAspect="1"/>
          </p:cNvPicPr>
          <p:nvPr/>
        </p:nvPicPr>
        <p:blipFill>
          <a:blip r:embed="rId4"/>
          <a:stretch>
            <a:fillRect/>
          </a:stretch>
        </p:blipFill>
        <p:spPr>
          <a:xfrm>
            <a:off x="2057400" y="4160520"/>
            <a:ext cx="1188720" cy="1188720"/>
          </a:xfrm>
          <a:prstGeom prst="rect">
            <a:avLst/>
          </a:prstGeom>
        </p:spPr>
      </p:pic>
      <p:sp>
        <p:nvSpPr>
          <p:cNvPr id="13" name="anim_9_107"/>
          <p:cNvSpPr txBox="1"/>
          <p:nvPr/>
        </p:nvSpPr>
        <p:spPr>
          <a:xfrm>
            <a:off x="1097280" y="5394960"/>
            <a:ext cx="310896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3000" b="1" dirty="0">
                <a:solidFill>
                  <a:srgbClr val="0F9D8E"/>
                </a:solidFill>
                <a:latin typeface="Arial" pitchFamily="34" charset="0"/>
                <a:ea typeface="Arial" pitchFamily="34" charset="-122"/>
                <a:cs typeface="Arial" pitchFamily="34" charset="-120"/>
              </a:rPr>
              <a:t>تشارك</a:t>
            </a:r>
            <a:endParaRPr lang="ar-KW" sz="3000" dirty="0"/>
          </a:p>
        </p:txBody>
      </p:sp>
      <p:sp>
        <p:nvSpPr>
          <p:cNvPr id="14" name="anim_9_108"/>
          <p:cNvSpPr txBox="1"/>
          <p:nvPr/>
        </p:nvSpPr>
        <p:spPr>
          <a:xfrm>
            <a:off x="1645920" y="5943600"/>
            <a:ext cx="10104120" cy="50292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200" b="1" dirty="0">
                <a:solidFill>
                  <a:srgbClr val="0F9D8E"/>
                </a:solidFill>
                <a:latin typeface="Arial" pitchFamily="34" charset="0"/>
                <a:ea typeface="Arial" pitchFamily="34" charset="-122"/>
                <a:cs typeface="Arial" pitchFamily="34" charset="-120"/>
              </a:rPr>
              <a:t>ولمعرفة الاختلاف بين التكافؤ وإلكترونات التكافؤ قم بحل التمرين التالي:</a:t>
            </a:r>
            <a:endParaRPr lang="ar-KW" sz="2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57" fill="hold">
                      <p:stCondLst>
                        <p:cond delay="indefinite"/>
                        <p:cond evt="onBegin" delay="0">
                          <p:tn val="2"/>
                        </p:cond>
                      </p:stCondLst>
                      <p:childTnLst>
                        <p:par>
                          <p:cTn id="49"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50"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700"/>
                                        <p:tgtEl>
                                          <p:spTgt spid="5"/>
                                        </p:tgtEl>
                                      </p:cBhvr>
                                    </p:animEffect>
                                  </p:childTnLst>
                                </p:cTn>
                              </p:par>
                            </p:childTnLst>
                          </p:cTn>
                        </p:par>
                        <p:par>
                          <p:cTn id="51"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ppt_w</p:attrName>
                                        </p:attrNameLst>
                                      </p:cBhvr>
                                      <p:tavLst>
                                        <p:tav tm="0">
                                          <p:val>
                                            <p:fltVal val="0"/>
                                          </p:val>
                                        </p:tav>
                                        <p:tav tm="100000">
                                          <p:val>
                                            <p:strVal val="#ppt_w"/>
                                          </p:val>
                                        </p:tav>
                                      </p:tavLst>
                                    </p:anim>
                                    <p:anim calcmode="lin" valueType="num">
                                      <p:cBhvr additive="base">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par>
                          <p:cTn id="52" fill="hold">
                            <p:stCondLst>
                              <p:cond delay="2000"/>
                            </p:stCondLst>
                            <p:childTnLst>
                              <p:par>
                                <p:cTn id="19" presetID="22" presetClass="entr" presetSubtype="2"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1400"/>
                                        <p:tgtEl>
                                          <p:spTgt spid="7"/>
                                        </p:tgtEl>
                                      </p:cBhvr>
                                    </p:animEffect>
                                  </p:childTnLst>
                                </p:cTn>
                              </p:par>
                            </p:childTnLst>
                          </p:cTn>
                        </p:par>
                        <p:par>
                          <p:cTn id="53" fill="hold">
                            <p:stCondLst>
                              <p:cond delay="3400"/>
                            </p:stCondLst>
                            <p:childTnLst>
                              <p:par>
                                <p:cTn id="22" presetID="53" presetClass="entr" presetSubtype="16"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ppt_w</p:attrName>
                                        </p:attrNameLst>
                                      </p:cBhvr>
                                      <p:tavLst>
                                        <p:tav tm="0">
                                          <p:val>
                                            <p:fltVal val="0"/>
                                          </p:val>
                                        </p:tav>
                                        <p:tav tm="100000">
                                          <p:val>
                                            <p:strVal val="#ppt_w"/>
                                          </p:val>
                                        </p:tav>
                                      </p:tavLst>
                                    </p:anim>
                                    <p:anim calcmode="lin" valueType="num">
                                      <p:cBhvr additive="base">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childTnLst>
                          </p:cTn>
                        </p:par>
                        <p:par>
                          <p:cTn id="54" fill="hold">
                            <p:stCondLst>
                              <p:cond delay="3900"/>
                            </p:stCondLst>
                            <p:childTnLst>
                              <p:par>
                                <p:cTn id="30" presetID="53" presetClass="entr" presetSubtype="16"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ppt_w</p:attrName>
                                        </p:attrNameLst>
                                      </p:cBhvr>
                                      <p:tavLst>
                                        <p:tav tm="0">
                                          <p:val>
                                            <p:fltVal val="0"/>
                                          </p:val>
                                        </p:tav>
                                        <p:tav tm="100000">
                                          <p:val>
                                            <p:strVal val="#ppt_w"/>
                                          </p:val>
                                        </p:tav>
                                      </p:tavLst>
                                    </p:anim>
                                    <p:anim calcmode="lin" valueType="num">
                                      <p:cBhvr additive="base">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00"/>
                                        <p:tgtEl>
                                          <p:spTgt spid="11"/>
                                        </p:tgtEl>
                                      </p:cBhvr>
                                    </p:animEffect>
                                  </p:childTnLst>
                                </p:cTn>
                              </p:par>
                            </p:childTnLst>
                          </p:cTn>
                        </p:par>
                        <p:par>
                          <p:cTn id="55" fill="hold">
                            <p:stCondLst>
                              <p:cond delay="4400"/>
                            </p:stCondLst>
                            <p:childTnLst>
                              <p:par>
                                <p:cTn id="38" presetID="53" presetClass="entr" presetSubtype="16"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ppt_w</p:attrName>
                                        </p:attrNameLst>
                                      </p:cBhvr>
                                      <p:tavLst>
                                        <p:tav tm="0">
                                          <p:val>
                                            <p:fltVal val="0"/>
                                          </p:val>
                                        </p:tav>
                                        <p:tav tm="100000">
                                          <p:val>
                                            <p:strVal val="#ppt_w"/>
                                          </p:val>
                                        </p:tav>
                                      </p:tavLst>
                                    </p:anim>
                                    <p:anim calcmode="lin" valueType="num">
                                      <p:cBhvr additive="base">
                                        <p:cTn id="41" dur="500" fill="hold"/>
                                        <p:tgtEl>
                                          <p:spTgt spid="12"/>
                                        </p:tgtEl>
                                        <p:attrNameLst>
                                          <p:attrName>ppt_h</p:attrName>
                                        </p:attrNameLst>
                                      </p:cBhvr>
                                      <p:tavLst>
                                        <p:tav tm="0">
                                          <p:val>
                                            <p:fltVal val="0"/>
                                          </p:val>
                                        </p:tav>
                                        <p:tav tm="100000">
                                          <p:val>
                                            <p:strVal val="#ppt_h"/>
                                          </p:val>
                                        </p:tav>
                                      </p:tavLst>
                                    </p:anim>
                                    <p:animEffect transition="in" filter="fade">
                                      <p:cBhvr>
                                        <p:cTn id="42" dur="50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400"/>
                                        <p:tgtEl>
                                          <p:spTgt spid="13"/>
                                        </p:tgtEl>
                                      </p:cBhvr>
                                    </p:animEffect>
                                  </p:childTnLst>
                                </p:cTn>
                              </p:par>
                            </p:childTnLst>
                          </p:cTn>
                        </p:par>
                        <p:par>
                          <p:cTn id="56" fill="hold">
                            <p:stCondLst>
                              <p:cond delay="4900"/>
                            </p:stCondLst>
                            <p:childTnLst>
                              <p:par>
                                <p:cTn id="46" presetID="10" presetClass="entr" presetSubtype="0"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 name=""/>
        <p:cNvGrpSpPr/>
        <p:nvPr/>
      </p:nvGrpSpPr>
      <p:grpSpPr>
        <a:xfrm>
          <a:off x="0" y="0"/>
          <a:ext cx="0" cy="0"/>
          <a:chOff x="0" y="0"/>
          <a:chExt cx="0" cy="0"/>
        </a:xfrm>
      </p:grpSpPr>
      <p:sp>
        <p:nvSpPr>
          <p:cNvPr id="3" name="anim_10_109"/>
          <p:cNvSpPr/>
          <p:nvPr/>
        </p:nvSpPr>
        <p:spPr>
          <a:xfrm>
            <a:off x="7452360" y="502920"/>
            <a:ext cx="4297680" cy="868680"/>
          </a:xfrm>
          <a:prstGeom prst="roundRect">
            <a:avLst>
              <a:gd name="adj" fmla="val 49474"/>
            </a:avLst>
          </a:prstGeom>
          <a:solidFill>
            <a:srgbClr val="E8335F"/>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تمرين (1)</a:t>
            </a:r>
            <a:endParaRPr lang="ar-KW" sz="3600" dirty="0"/>
          </a:p>
        </p:txBody>
      </p:sp>
      <p:pic>
        <p:nvPicPr>
          <p:cNvPr id="4" name="anim_10_110" descr="sp_cor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0_111"/>
          <p:cNvSpPr/>
          <p:nvPr/>
        </p:nvSpPr>
        <p:spPr>
          <a:xfrm>
            <a:off x="612648" y="1572768"/>
            <a:ext cx="11484864" cy="4425696"/>
          </a:xfrm>
          <a:prstGeom prst="roundRect">
            <a:avLst>
              <a:gd name="adj" fmla="val 7231"/>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6" name="anim_10_112"/>
          <p:cNvGraphicFramePr>
            <a:graphicFrameLocks noGrp="1"/>
          </p:cNvGraphicFramePr>
          <p:nvPr>
            <p:extLst>
              <p:ext uri="{D42A27DB-BD31-4B8C-83A1-F6EECF244321}">
                <p14:modId xmlns:p14="http://schemas.microsoft.com/office/powerpoint/2010/main" val="1579011935"/>
              </p:ext>
            </p:extLst>
          </p:nvPr>
        </p:nvGraphicFramePr>
        <p:xfrm>
          <a:off x="868680" y="1828800"/>
          <a:ext cx="10972800" cy="914400"/>
        </p:xfrm>
        <a:graphic>
          <a:graphicData uri="http://schemas.openxmlformats.org/drawingml/2006/table">
            <a:tbl>
              <a:tblPr/>
              <a:tblGrid>
                <a:gridCol w="1325880"/>
                <a:gridCol w="1325880"/>
                <a:gridCol w="1325880"/>
                <a:gridCol w="1325880"/>
                <a:gridCol w="1325880"/>
                <a:gridCol w="1325880"/>
                <a:gridCol w="3017520"/>
              </a:tblGrid>
              <a:tr h="749808">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1</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2</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13</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15</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16</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400" b="1" dirty="0">
                          <a:solidFill>
                            <a:srgbClr val="16325C"/>
                          </a:solidFill>
                          <a:latin typeface="Arial" pitchFamily="34" charset="0"/>
                          <a:ea typeface="Arial" pitchFamily="34" charset="-122"/>
                          <a:cs typeface="Arial" pitchFamily="34" charset="-120"/>
                        </a:rPr>
                        <a:t>17</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رقم المجموعة</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749808">
                <a:tc>
                  <a:txBody>
                    <a:bodyPr/>
                    <a:lstStyle/>
                    <a:p>
                      <a:pPr rtl="0" algn="ctr" indent="0" marL="0">
                        <a:buNone/>
                      </a:pPr>
                      <a:r>
                        <a:rPr lang="en-US" sz="2400" b="1" baseline="-40000" dirty="0">
                          <a:solidFill>
                            <a:srgbClr val="16325C"/>
                          </a:solidFill>
                          <a:latin typeface="Arial" pitchFamily="34" charset="0"/>
                          <a:ea typeface="Arial" pitchFamily="34" charset="-122"/>
                          <a:cs typeface="Arial" pitchFamily="34" charset="-120"/>
                        </a:rPr>
                        <a:t>3</a:t>
                      </a:r>
                      <a:r>
                        <a:rPr lang="en-US" sz="2400" b="1" dirty="0">
                          <a:solidFill>
                            <a:srgbClr val="16325C"/>
                          </a:solidFill>
                          <a:latin typeface="Arial" pitchFamily="34" charset="0"/>
                          <a:ea typeface="Arial" pitchFamily="34" charset="-122"/>
                          <a:cs typeface="Arial" pitchFamily="34" charset="-120"/>
                        </a:rPr>
                        <a:t>Li</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400" b="1" baseline="-40000" dirty="0">
                          <a:solidFill>
                            <a:srgbClr val="16325C"/>
                          </a:solidFill>
                          <a:latin typeface="Arial" pitchFamily="34" charset="0"/>
                          <a:ea typeface="Arial" pitchFamily="34" charset="-122"/>
                          <a:cs typeface="Arial" pitchFamily="34" charset="-120"/>
                        </a:rPr>
                        <a:t>4</a:t>
                      </a:r>
                      <a:r>
                        <a:rPr lang="en-US" sz="2400" b="1" dirty="0">
                          <a:solidFill>
                            <a:srgbClr val="16325C"/>
                          </a:solidFill>
                          <a:latin typeface="Arial" pitchFamily="34" charset="0"/>
                          <a:ea typeface="Arial" pitchFamily="34" charset="-122"/>
                          <a:cs typeface="Arial" pitchFamily="34" charset="-120"/>
                        </a:rPr>
                        <a:t>Be</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400" b="1" baseline="-40000" dirty="0">
                          <a:solidFill>
                            <a:srgbClr val="16325C"/>
                          </a:solidFill>
                          <a:latin typeface="Arial" pitchFamily="34" charset="0"/>
                          <a:ea typeface="Arial" pitchFamily="34" charset="-122"/>
                          <a:cs typeface="Arial" pitchFamily="34" charset="-120"/>
                        </a:rPr>
                        <a:t>5</a:t>
                      </a:r>
                      <a:r>
                        <a:rPr lang="en-US" sz="2400" b="1" dirty="0">
                          <a:solidFill>
                            <a:srgbClr val="16325C"/>
                          </a:solidFill>
                          <a:latin typeface="Arial" pitchFamily="34" charset="0"/>
                          <a:ea typeface="Arial" pitchFamily="34" charset="-122"/>
                          <a:cs typeface="Arial" pitchFamily="34" charset="-120"/>
                        </a:rPr>
                        <a:t>B</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400" b="1" baseline="-40000" dirty="0">
                          <a:solidFill>
                            <a:srgbClr val="16325C"/>
                          </a:solidFill>
                          <a:latin typeface="Arial" pitchFamily="34" charset="0"/>
                          <a:ea typeface="Arial" pitchFamily="34" charset="-122"/>
                          <a:cs typeface="Arial" pitchFamily="34" charset="-120"/>
                        </a:rPr>
                        <a:t>7</a:t>
                      </a:r>
                      <a:r>
                        <a:rPr lang="en-US" sz="2400" b="1" dirty="0">
                          <a:solidFill>
                            <a:srgbClr val="16325C"/>
                          </a:solidFill>
                          <a:latin typeface="Arial" pitchFamily="34" charset="0"/>
                          <a:ea typeface="Arial" pitchFamily="34" charset="-122"/>
                          <a:cs typeface="Arial" pitchFamily="34" charset="-120"/>
                        </a:rPr>
                        <a:t>N</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400" b="1" baseline="-40000" dirty="0">
                          <a:solidFill>
                            <a:srgbClr val="16325C"/>
                          </a:solidFill>
                          <a:latin typeface="Arial" pitchFamily="34" charset="0"/>
                          <a:ea typeface="Arial" pitchFamily="34" charset="-122"/>
                          <a:cs typeface="Arial" pitchFamily="34" charset="-120"/>
                        </a:rPr>
                        <a:t>8</a:t>
                      </a:r>
                      <a:r>
                        <a:rPr lang="en-US" sz="2400" b="1" dirty="0">
                          <a:solidFill>
                            <a:srgbClr val="16325C"/>
                          </a:solidFill>
                          <a:latin typeface="Arial" pitchFamily="34" charset="0"/>
                          <a:ea typeface="Arial" pitchFamily="34" charset="-122"/>
                          <a:cs typeface="Arial" pitchFamily="34" charset="-120"/>
                        </a:rPr>
                        <a:t>O</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400" b="1" baseline="-40000" dirty="0">
                          <a:solidFill>
                            <a:srgbClr val="16325C"/>
                          </a:solidFill>
                          <a:latin typeface="Arial" pitchFamily="34" charset="0"/>
                          <a:ea typeface="Arial" pitchFamily="34" charset="-122"/>
                          <a:cs typeface="Arial" pitchFamily="34" charset="-120"/>
                        </a:rPr>
                        <a:t>9</a:t>
                      </a:r>
                      <a:r>
                        <a:rPr lang="en-US" sz="2400" b="1" dirty="0">
                          <a:solidFill>
                            <a:srgbClr val="16325C"/>
                          </a:solidFill>
                          <a:latin typeface="Arial" pitchFamily="34" charset="0"/>
                          <a:ea typeface="Arial" pitchFamily="34" charset="-122"/>
                          <a:cs typeface="Arial" pitchFamily="34" charset="-120"/>
                        </a:rPr>
                        <a:t>F</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العنصر</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91440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الترتيب الإلكتروني حسب مستويات الطاقة الرئيسية</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749808">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إلكترونات التكافؤ</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749808">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التكافؤ</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bl>
          </a:graphicData>
        </a:graphic>
      </p:graphicFrame>
      <p:sp>
        <p:nvSpPr>
          <p:cNvPr id="7" name="anim_10_113"/>
          <p:cNvSpPr txBox="1"/>
          <p:nvPr/>
        </p:nvSpPr>
        <p:spPr>
          <a:xfrm>
            <a:off x="868680" y="3328416"/>
            <a:ext cx="1325880" cy="91440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2,1</a:t>
            </a:r>
            <a:endParaRPr lang="en-US" sz="2400" dirty="0"/>
          </a:p>
        </p:txBody>
      </p:sp>
      <p:sp>
        <p:nvSpPr>
          <p:cNvPr id="8" name="anim_10_114"/>
          <p:cNvSpPr txBox="1"/>
          <p:nvPr/>
        </p:nvSpPr>
        <p:spPr>
          <a:xfrm>
            <a:off x="2194560" y="3328416"/>
            <a:ext cx="1325880" cy="91440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2,2</a:t>
            </a:r>
            <a:endParaRPr lang="en-US" sz="2400" dirty="0"/>
          </a:p>
        </p:txBody>
      </p:sp>
      <p:sp>
        <p:nvSpPr>
          <p:cNvPr id="9" name="anim_10_115"/>
          <p:cNvSpPr txBox="1"/>
          <p:nvPr/>
        </p:nvSpPr>
        <p:spPr>
          <a:xfrm>
            <a:off x="3520440" y="3328416"/>
            <a:ext cx="1325880" cy="91440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2,3</a:t>
            </a:r>
            <a:endParaRPr lang="en-US" sz="2400" dirty="0"/>
          </a:p>
        </p:txBody>
      </p:sp>
      <p:sp>
        <p:nvSpPr>
          <p:cNvPr id="10" name="anim_10_116"/>
          <p:cNvSpPr txBox="1"/>
          <p:nvPr/>
        </p:nvSpPr>
        <p:spPr>
          <a:xfrm>
            <a:off x="4846320" y="3328416"/>
            <a:ext cx="1325880" cy="91440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2,5</a:t>
            </a:r>
            <a:endParaRPr lang="en-US" sz="2400" dirty="0"/>
          </a:p>
        </p:txBody>
      </p:sp>
      <p:sp>
        <p:nvSpPr>
          <p:cNvPr id="11" name="anim_10_117"/>
          <p:cNvSpPr txBox="1"/>
          <p:nvPr/>
        </p:nvSpPr>
        <p:spPr>
          <a:xfrm>
            <a:off x="6172200" y="3328416"/>
            <a:ext cx="1325880" cy="91440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2,6</a:t>
            </a:r>
            <a:endParaRPr lang="en-US" sz="2400" dirty="0"/>
          </a:p>
        </p:txBody>
      </p:sp>
      <p:sp>
        <p:nvSpPr>
          <p:cNvPr id="12" name="anim_10_118"/>
          <p:cNvSpPr txBox="1"/>
          <p:nvPr/>
        </p:nvSpPr>
        <p:spPr>
          <a:xfrm>
            <a:off x="7498080" y="3328416"/>
            <a:ext cx="1325880" cy="91440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2,7</a:t>
            </a:r>
            <a:endParaRPr lang="en-US" sz="2400" dirty="0"/>
          </a:p>
        </p:txBody>
      </p:sp>
      <p:sp>
        <p:nvSpPr>
          <p:cNvPr id="13" name="anim_10_119"/>
          <p:cNvSpPr txBox="1"/>
          <p:nvPr/>
        </p:nvSpPr>
        <p:spPr>
          <a:xfrm>
            <a:off x="868680" y="4242816"/>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1</a:t>
            </a:r>
            <a:endParaRPr lang="en-US" sz="2400" dirty="0"/>
          </a:p>
        </p:txBody>
      </p:sp>
      <p:sp>
        <p:nvSpPr>
          <p:cNvPr id="14" name="anim_10_120"/>
          <p:cNvSpPr txBox="1"/>
          <p:nvPr/>
        </p:nvSpPr>
        <p:spPr>
          <a:xfrm>
            <a:off x="2194560" y="4242816"/>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a:t>
            </a:r>
            <a:endParaRPr lang="en-US" sz="2400" dirty="0"/>
          </a:p>
        </p:txBody>
      </p:sp>
      <p:sp>
        <p:nvSpPr>
          <p:cNvPr id="15" name="anim_10_121"/>
          <p:cNvSpPr txBox="1"/>
          <p:nvPr/>
        </p:nvSpPr>
        <p:spPr>
          <a:xfrm>
            <a:off x="3520440" y="4242816"/>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3</a:t>
            </a:r>
            <a:endParaRPr lang="en-US" sz="2400" dirty="0"/>
          </a:p>
        </p:txBody>
      </p:sp>
      <p:sp>
        <p:nvSpPr>
          <p:cNvPr id="16" name="anim_10_122"/>
          <p:cNvSpPr txBox="1"/>
          <p:nvPr/>
        </p:nvSpPr>
        <p:spPr>
          <a:xfrm>
            <a:off x="4846320" y="4242816"/>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5</a:t>
            </a:r>
            <a:endParaRPr lang="en-US" sz="2400" dirty="0"/>
          </a:p>
        </p:txBody>
      </p:sp>
      <p:sp>
        <p:nvSpPr>
          <p:cNvPr id="17" name="anim_10_123"/>
          <p:cNvSpPr txBox="1"/>
          <p:nvPr/>
        </p:nvSpPr>
        <p:spPr>
          <a:xfrm>
            <a:off x="6172200" y="4242816"/>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6</a:t>
            </a:r>
            <a:endParaRPr lang="en-US" sz="2400" dirty="0"/>
          </a:p>
        </p:txBody>
      </p:sp>
      <p:sp>
        <p:nvSpPr>
          <p:cNvPr id="18" name="anim_10_124"/>
          <p:cNvSpPr txBox="1"/>
          <p:nvPr/>
        </p:nvSpPr>
        <p:spPr>
          <a:xfrm>
            <a:off x="7498080" y="4242816"/>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7</a:t>
            </a:r>
            <a:endParaRPr lang="en-US" sz="2400" dirty="0"/>
          </a:p>
        </p:txBody>
      </p:sp>
      <p:sp>
        <p:nvSpPr>
          <p:cNvPr id="19" name="anim_10_125"/>
          <p:cNvSpPr txBox="1"/>
          <p:nvPr/>
        </p:nvSpPr>
        <p:spPr>
          <a:xfrm>
            <a:off x="868680" y="4992624"/>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1</a:t>
            </a:r>
            <a:endParaRPr lang="en-US" sz="2400" dirty="0"/>
          </a:p>
        </p:txBody>
      </p:sp>
      <p:sp>
        <p:nvSpPr>
          <p:cNvPr id="20" name="anim_10_126"/>
          <p:cNvSpPr txBox="1"/>
          <p:nvPr/>
        </p:nvSpPr>
        <p:spPr>
          <a:xfrm>
            <a:off x="2194560" y="4992624"/>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a:t>
            </a:r>
            <a:endParaRPr lang="en-US" sz="2400" dirty="0"/>
          </a:p>
        </p:txBody>
      </p:sp>
      <p:sp>
        <p:nvSpPr>
          <p:cNvPr id="21" name="anim_10_127"/>
          <p:cNvSpPr txBox="1"/>
          <p:nvPr/>
        </p:nvSpPr>
        <p:spPr>
          <a:xfrm>
            <a:off x="3520440" y="4992624"/>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3</a:t>
            </a:r>
            <a:endParaRPr lang="en-US" sz="2400" dirty="0"/>
          </a:p>
        </p:txBody>
      </p:sp>
      <p:sp>
        <p:nvSpPr>
          <p:cNvPr id="22" name="anim_10_128"/>
          <p:cNvSpPr txBox="1"/>
          <p:nvPr/>
        </p:nvSpPr>
        <p:spPr>
          <a:xfrm>
            <a:off x="4846320" y="4992624"/>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3</a:t>
            </a:r>
            <a:endParaRPr lang="en-US" sz="2400" dirty="0"/>
          </a:p>
        </p:txBody>
      </p:sp>
      <p:sp>
        <p:nvSpPr>
          <p:cNvPr id="23" name="anim_10_129"/>
          <p:cNvSpPr txBox="1"/>
          <p:nvPr/>
        </p:nvSpPr>
        <p:spPr>
          <a:xfrm>
            <a:off x="6172200" y="4992624"/>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a:t>
            </a:r>
            <a:endParaRPr lang="en-US" sz="2400" dirty="0"/>
          </a:p>
        </p:txBody>
      </p:sp>
      <p:sp>
        <p:nvSpPr>
          <p:cNvPr id="24" name="anim_10_130"/>
          <p:cNvSpPr txBox="1"/>
          <p:nvPr/>
        </p:nvSpPr>
        <p:spPr>
          <a:xfrm>
            <a:off x="7498080" y="4992624"/>
            <a:ext cx="1325880" cy="74980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1</a:t>
            </a:r>
            <a:endParaRPr lang="en-US" sz="24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19"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0"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21" fill="hold">
                            <p:stCondLst>
                              <p:cond delay="140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childTnLst>
                                </p:cTn>
                              </p:par>
                            </p:childTnLst>
                          </p:cTn>
                        </p:par>
                      </p:childTnLst>
                    </p:cTn>
                  </p:par>
                  <p:par>
                    <p:cTn id="54" fill="hold">
                      <p:stCondLst>
                        <p:cond delay="indefinite"/>
                      </p:stCondLst>
                      <p:childTnLst>
                        <p:par>
                          <p:cTn id="53"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450" fill="hold"/>
                                        <p:tgtEl>
                                          <p:spTgt spid="7"/>
                                        </p:tgtEl>
                                        <p:attrNameLst>
                                          <p:attrName>ppt_w</p:attrName>
                                        </p:attrNameLst>
                                      </p:cBhvr>
                                      <p:tavLst>
                                        <p:tav tm="0">
                                          <p:val>
                                            <p:fltVal val="0"/>
                                          </p:val>
                                        </p:tav>
                                        <p:tav tm="100000">
                                          <p:val>
                                            <p:strVal val="#ppt_w"/>
                                          </p:val>
                                        </p:tav>
                                      </p:tavLst>
                                    </p:anim>
                                    <p:anim calcmode="lin" valueType="num">
                                      <p:cBhvr additive="base">
                                        <p:cTn id="26" dur="450" fill="hold"/>
                                        <p:tgtEl>
                                          <p:spTgt spid="7"/>
                                        </p:tgtEl>
                                        <p:attrNameLst>
                                          <p:attrName>ppt_h</p:attrName>
                                        </p:attrNameLst>
                                      </p:cBhvr>
                                      <p:tavLst>
                                        <p:tav tm="0">
                                          <p:val>
                                            <p:fltVal val="0"/>
                                          </p:val>
                                        </p:tav>
                                        <p:tav tm="100000">
                                          <p:val>
                                            <p:strVal val="#ppt_h"/>
                                          </p:val>
                                        </p:tav>
                                      </p:tavLst>
                                    </p:anim>
                                    <p:animEffect transition="in" filter="fade">
                                      <p:cBhvr>
                                        <p:cTn id="27" dur="450"/>
                                        <p:tgtEl>
                                          <p:spTgt spid="7"/>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450" fill="hold"/>
                                        <p:tgtEl>
                                          <p:spTgt spid="8"/>
                                        </p:tgtEl>
                                        <p:attrNameLst>
                                          <p:attrName>ppt_w</p:attrName>
                                        </p:attrNameLst>
                                      </p:cBhvr>
                                      <p:tavLst>
                                        <p:tav tm="0">
                                          <p:val>
                                            <p:fltVal val="0"/>
                                          </p:val>
                                        </p:tav>
                                        <p:tav tm="100000">
                                          <p:val>
                                            <p:strVal val="#ppt_w"/>
                                          </p:val>
                                        </p:tav>
                                      </p:tavLst>
                                    </p:anim>
                                    <p:anim calcmode="lin" valueType="num">
                                      <p:cBhvr additive="base">
                                        <p:cTn id="31" dur="450" fill="hold"/>
                                        <p:tgtEl>
                                          <p:spTgt spid="8"/>
                                        </p:tgtEl>
                                        <p:attrNameLst>
                                          <p:attrName>ppt_h</p:attrName>
                                        </p:attrNameLst>
                                      </p:cBhvr>
                                      <p:tavLst>
                                        <p:tav tm="0">
                                          <p:val>
                                            <p:fltVal val="0"/>
                                          </p:val>
                                        </p:tav>
                                        <p:tav tm="100000">
                                          <p:val>
                                            <p:strVal val="#ppt_h"/>
                                          </p:val>
                                        </p:tav>
                                      </p:tavLst>
                                    </p:anim>
                                    <p:animEffect transition="in" filter="fade">
                                      <p:cBhvr>
                                        <p:cTn id="32" dur="450"/>
                                        <p:tgtEl>
                                          <p:spTgt spid="8"/>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450" fill="hold"/>
                                        <p:tgtEl>
                                          <p:spTgt spid="9"/>
                                        </p:tgtEl>
                                        <p:attrNameLst>
                                          <p:attrName>ppt_w</p:attrName>
                                        </p:attrNameLst>
                                      </p:cBhvr>
                                      <p:tavLst>
                                        <p:tav tm="0">
                                          <p:val>
                                            <p:fltVal val="0"/>
                                          </p:val>
                                        </p:tav>
                                        <p:tav tm="100000">
                                          <p:val>
                                            <p:strVal val="#ppt_w"/>
                                          </p:val>
                                        </p:tav>
                                      </p:tavLst>
                                    </p:anim>
                                    <p:anim calcmode="lin" valueType="num">
                                      <p:cBhvr additive="base">
                                        <p:cTn id="36" dur="450" fill="hold"/>
                                        <p:tgtEl>
                                          <p:spTgt spid="9"/>
                                        </p:tgtEl>
                                        <p:attrNameLst>
                                          <p:attrName>ppt_h</p:attrName>
                                        </p:attrNameLst>
                                      </p:cBhvr>
                                      <p:tavLst>
                                        <p:tav tm="0">
                                          <p:val>
                                            <p:fltVal val="0"/>
                                          </p:val>
                                        </p:tav>
                                        <p:tav tm="100000">
                                          <p:val>
                                            <p:strVal val="#ppt_h"/>
                                          </p:val>
                                        </p:tav>
                                      </p:tavLst>
                                    </p:anim>
                                    <p:animEffect transition="in" filter="fade">
                                      <p:cBhvr>
                                        <p:cTn id="37" dur="450"/>
                                        <p:tgtEl>
                                          <p:spTgt spid="9"/>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450" fill="hold"/>
                                        <p:tgtEl>
                                          <p:spTgt spid="10"/>
                                        </p:tgtEl>
                                        <p:attrNameLst>
                                          <p:attrName>ppt_w</p:attrName>
                                        </p:attrNameLst>
                                      </p:cBhvr>
                                      <p:tavLst>
                                        <p:tav tm="0">
                                          <p:val>
                                            <p:fltVal val="0"/>
                                          </p:val>
                                        </p:tav>
                                        <p:tav tm="100000">
                                          <p:val>
                                            <p:strVal val="#ppt_w"/>
                                          </p:val>
                                        </p:tav>
                                      </p:tavLst>
                                    </p:anim>
                                    <p:anim calcmode="lin" valueType="num">
                                      <p:cBhvr additive="base">
                                        <p:cTn id="41" dur="450" fill="hold"/>
                                        <p:tgtEl>
                                          <p:spTgt spid="10"/>
                                        </p:tgtEl>
                                        <p:attrNameLst>
                                          <p:attrName>ppt_h</p:attrName>
                                        </p:attrNameLst>
                                      </p:cBhvr>
                                      <p:tavLst>
                                        <p:tav tm="0">
                                          <p:val>
                                            <p:fltVal val="0"/>
                                          </p:val>
                                        </p:tav>
                                        <p:tav tm="100000">
                                          <p:val>
                                            <p:strVal val="#ppt_h"/>
                                          </p:val>
                                        </p:tav>
                                      </p:tavLst>
                                    </p:anim>
                                    <p:animEffect transition="in" filter="fade">
                                      <p:cBhvr>
                                        <p:cTn id="42" dur="450"/>
                                        <p:tgtEl>
                                          <p:spTgt spid="10"/>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450" fill="hold"/>
                                        <p:tgtEl>
                                          <p:spTgt spid="11"/>
                                        </p:tgtEl>
                                        <p:attrNameLst>
                                          <p:attrName>ppt_w</p:attrName>
                                        </p:attrNameLst>
                                      </p:cBhvr>
                                      <p:tavLst>
                                        <p:tav tm="0">
                                          <p:val>
                                            <p:fltVal val="0"/>
                                          </p:val>
                                        </p:tav>
                                        <p:tav tm="100000">
                                          <p:val>
                                            <p:strVal val="#ppt_w"/>
                                          </p:val>
                                        </p:tav>
                                      </p:tavLst>
                                    </p:anim>
                                    <p:anim calcmode="lin" valueType="num">
                                      <p:cBhvr additive="base">
                                        <p:cTn id="46" dur="450" fill="hold"/>
                                        <p:tgtEl>
                                          <p:spTgt spid="11"/>
                                        </p:tgtEl>
                                        <p:attrNameLst>
                                          <p:attrName>ppt_h</p:attrName>
                                        </p:attrNameLst>
                                      </p:cBhvr>
                                      <p:tavLst>
                                        <p:tav tm="0">
                                          <p:val>
                                            <p:fltVal val="0"/>
                                          </p:val>
                                        </p:tav>
                                        <p:tav tm="100000">
                                          <p:val>
                                            <p:strVal val="#ppt_h"/>
                                          </p:val>
                                        </p:tav>
                                      </p:tavLst>
                                    </p:anim>
                                    <p:animEffect transition="in" filter="fade">
                                      <p:cBhvr>
                                        <p:cTn id="47" dur="450"/>
                                        <p:tgtEl>
                                          <p:spTgt spid="11"/>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50" fill="hold"/>
                                        <p:tgtEl>
                                          <p:spTgt spid="12"/>
                                        </p:tgtEl>
                                        <p:attrNameLst>
                                          <p:attrName>ppt_w</p:attrName>
                                        </p:attrNameLst>
                                      </p:cBhvr>
                                      <p:tavLst>
                                        <p:tav tm="0">
                                          <p:val>
                                            <p:fltVal val="0"/>
                                          </p:val>
                                        </p:tav>
                                        <p:tav tm="100000">
                                          <p:val>
                                            <p:strVal val="#ppt_w"/>
                                          </p:val>
                                        </p:tav>
                                      </p:tavLst>
                                    </p:anim>
                                    <p:anim calcmode="lin" valueType="num">
                                      <p:cBhvr additive="base">
                                        <p:cTn id="51" dur="450" fill="hold"/>
                                        <p:tgtEl>
                                          <p:spTgt spid="12"/>
                                        </p:tgtEl>
                                        <p:attrNameLst>
                                          <p:attrName>ppt_h</p:attrName>
                                        </p:attrNameLst>
                                      </p:cBhvr>
                                      <p:tavLst>
                                        <p:tav tm="0">
                                          <p:val>
                                            <p:fltVal val="0"/>
                                          </p:val>
                                        </p:tav>
                                        <p:tav tm="100000">
                                          <p:val>
                                            <p:strVal val="#ppt_h"/>
                                          </p:val>
                                        </p:tav>
                                      </p:tavLst>
                                    </p:anim>
                                    <p:animEffect transition="in" filter="fade">
                                      <p:cBhvr>
                                        <p:cTn id="52" dur="450"/>
                                        <p:tgtEl>
                                          <p:spTgt spid="12"/>
                                        </p:tgtEl>
                                      </p:cBhvr>
                                    </p:animEffect>
                                  </p:childTnLst>
                                </p:cTn>
                              </p:par>
                            </p:childTnLst>
                          </p:cTn>
                        </p:par>
                      </p:childTnLst>
                    </p:cTn>
                  </p:par>
                  <p:par>
                    <p:cTn id="86" fill="hold">
                      <p:stCondLst>
                        <p:cond delay="indefinite"/>
                      </p:stCondLst>
                      <p:childTnLst>
                        <p:par>
                          <p:cTn id="85"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450" fill="hold"/>
                                        <p:tgtEl>
                                          <p:spTgt spid="13"/>
                                        </p:tgtEl>
                                        <p:attrNameLst>
                                          <p:attrName>ppt_w</p:attrName>
                                        </p:attrNameLst>
                                      </p:cBhvr>
                                      <p:tavLst>
                                        <p:tav tm="0">
                                          <p:val>
                                            <p:fltVal val="0"/>
                                          </p:val>
                                        </p:tav>
                                        <p:tav tm="100000">
                                          <p:val>
                                            <p:strVal val="#ppt_w"/>
                                          </p:val>
                                        </p:tav>
                                      </p:tavLst>
                                    </p:anim>
                                    <p:anim calcmode="lin" valueType="num">
                                      <p:cBhvr additive="base">
                                        <p:cTn id="58" dur="450" fill="hold"/>
                                        <p:tgtEl>
                                          <p:spTgt spid="13"/>
                                        </p:tgtEl>
                                        <p:attrNameLst>
                                          <p:attrName>ppt_h</p:attrName>
                                        </p:attrNameLst>
                                      </p:cBhvr>
                                      <p:tavLst>
                                        <p:tav tm="0">
                                          <p:val>
                                            <p:fltVal val="0"/>
                                          </p:val>
                                        </p:tav>
                                        <p:tav tm="100000">
                                          <p:val>
                                            <p:strVal val="#ppt_h"/>
                                          </p:val>
                                        </p:tav>
                                      </p:tavLst>
                                    </p:anim>
                                    <p:animEffect transition="in" filter="fade">
                                      <p:cBhvr>
                                        <p:cTn id="59" dur="450"/>
                                        <p:tgtEl>
                                          <p:spTgt spid="13"/>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450" fill="hold"/>
                                        <p:tgtEl>
                                          <p:spTgt spid="14"/>
                                        </p:tgtEl>
                                        <p:attrNameLst>
                                          <p:attrName>ppt_w</p:attrName>
                                        </p:attrNameLst>
                                      </p:cBhvr>
                                      <p:tavLst>
                                        <p:tav tm="0">
                                          <p:val>
                                            <p:fltVal val="0"/>
                                          </p:val>
                                        </p:tav>
                                        <p:tav tm="100000">
                                          <p:val>
                                            <p:strVal val="#ppt_w"/>
                                          </p:val>
                                        </p:tav>
                                      </p:tavLst>
                                    </p:anim>
                                    <p:anim calcmode="lin" valueType="num">
                                      <p:cBhvr additive="base">
                                        <p:cTn id="63" dur="450" fill="hold"/>
                                        <p:tgtEl>
                                          <p:spTgt spid="14"/>
                                        </p:tgtEl>
                                        <p:attrNameLst>
                                          <p:attrName>ppt_h</p:attrName>
                                        </p:attrNameLst>
                                      </p:cBhvr>
                                      <p:tavLst>
                                        <p:tav tm="0">
                                          <p:val>
                                            <p:fltVal val="0"/>
                                          </p:val>
                                        </p:tav>
                                        <p:tav tm="100000">
                                          <p:val>
                                            <p:strVal val="#ppt_h"/>
                                          </p:val>
                                        </p:tav>
                                      </p:tavLst>
                                    </p:anim>
                                    <p:animEffect transition="in" filter="fade">
                                      <p:cBhvr>
                                        <p:cTn id="64" dur="450"/>
                                        <p:tgtEl>
                                          <p:spTgt spid="14"/>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450" fill="hold"/>
                                        <p:tgtEl>
                                          <p:spTgt spid="15"/>
                                        </p:tgtEl>
                                        <p:attrNameLst>
                                          <p:attrName>ppt_w</p:attrName>
                                        </p:attrNameLst>
                                      </p:cBhvr>
                                      <p:tavLst>
                                        <p:tav tm="0">
                                          <p:val>
                                            <p:fltVal val="0"/>
                                          </p:val>
                                        </p:tav>
                                        <p:tav tm="100000">
                                          <p:val>
                                            <p:strVal val="#ppt_w"/>
                                          </p:val>
                                        </p:tav>
                                      </p:tavLst>
                                    </p:anim>
                                    <p:anim calcmode="lin" valueType="num">
                                      <p:cBhvr additive="base">
                                        <p:cTn id="68" dur="450" fill="hold"/>
                                        <p:tgtEl>
                                          <p:spTgt spid="15"/>
                                        </p:tgtEl>
                                        <p:attrNameLst>
                                          <p:attrName>ppt_h</p:attrName>
                                        </p:attrNameLst>
                                      </p:cBhvr>
                                      <p:tavLst>
                                        <p:tav tm="0">
                                          <p:val>
                                            <p:fltVal val="0"/>
                                          </p:val>
                                        </p:tav>
                                        <p:tav tm="100000">
                                          <p:val>
                                            <p:strVal val="#ppt_h"/>
                                          </p:val>
                                        </p:tav>
                                      </p:tavLst>
                                    </p:anim>
                                    <p:animEffect transition="in" filter="fade">
                                      <p:cBhvr>
                                        <p:cTn id="69" dur="450"/>
                                        <p:tgtEl>
                                          <p:spTgt spid="15"/>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6"/>
                                        </p:tgtEl>
                                        <p:attrNameLst>
                                          <p:attrName>style.visibility</p:attrName>
                                        </p:attrNameLst>
                                      </p:cBhvr>
                                      <p:to>
                                        <p:strVal val="visible"/>
                                      </p:to>
                                    </p:set>
                                    <p:anim calcmode="lin" valueType="num">
                                      <p:cBhvr additive="base">
                                        <p:cTn id="72" dur="450" fill="hold"/>
                                        <p:tgtEl>
                                          <p:spTgt spid="16"/>
                                        </p:tgtEl>
                                        <p:attrNameLst>
                                          <p:attrName>ppt_w</p:attrName>
                                        </p:attrNameLst>
                                      </p:cBhvr>
                                      <p:tavLst>
                                        <p:tav tm="0">
                                          <p:val>
                                            <p:fltVal val="0"/>
                                          </p:val>
                                        </p:tav>
                                        <p:tav tm="100000">
                                          <p:val>
                                            <p:strVal val="#ppt_w"/>
                                          </p:val>
                                        </p:tav>
                                      </p:tavLst>
                                    </p:anim>
                                    <p:anim calcmode="lin" valueType="num">
                                      <p:cBhvr additive="base">
                                        <p:cTn id="73" dur="450" fill="hold"/>
                                        <p:tgtEl>
                                          <p:spTgt spid="16"/>
                                        </p:tgtEl>
                                        <p:attrNameLst>
                                          <p:attrName>ppt_h</p:attrName>
                                        </p:attrNameLst>
                                      </p:cBhvr>
                                      <p:tavLst>
                                        <p:tav tm="0">
                                          <p:val>
                                            <p:fltVal val="0"/>
                                          </p:val>
                                        </p:tav>
                                        <p:tav tm="100000">
                                          <p:val>
                                            <p:strVal val="#ppt_h"/>
                                          </p:val>
                                        </p:tav>
                                      </p:tavLst>
                                    </p:anim>
                                    <p:animEffect transition="in" filter="fade">
                                      <p:cBhvr>
                                        <p:cTn id="74" dur="450"/>
                                        <p:tgtEl>
                                          <p:spTgt spid="16"/>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7"/>
                                        </p:tgtEl>
                                        <p:attrNameLst>
                                          <p:attrName>style.visibility</p:attrName>
                                        </p:attrNameLst>
                                      </p:cBhvr>
                                      <p:to>
                                        <p:strVal val="visible"/>
                                      </p:to>
                                    </p:set>
                                    <p:anim calcmode="lin" valueType="num">
                                      <p:cBhvr additive="base">
                                        <p:cTn id="77" dur="450" fill="hold"/>
                                        <p:tgtEl>
                                          <p:spTgt spid="17"/>
                                        </p:tgtEl>
                                        <p:attrNameLst>
                                          <p:attrName>ppt_w</p:attrName>
                                        </p:attrNameLst>
                                      </p:cBhvr>
                                      <p:tavLst>
                                        <p:tav tm="0">
                                          <p:val>
                                            <p:fltVal val="0"/>
                                          </p:val>
                                        </p:tav>
                                        <p:tav tm="100000">
                                          <p:val>
                                            <p:strVal val="#ppt_w"/>
                                          </p:val>
                                        </p:tav>
                                      </p:tavLst>
                                    </p:anim>
                                    <p:anim calcmode="lin" valueType="num">
                                      <p:cBhvr additive="base">
                                        <p:cTn id="78" dur="450" fill="hold"/>
                                        <p:tgtEl>
                                          <p:spTgt spid="17"/>
                                        </p:tgtEl>
                                        <p:attrNameLst>
                                          <p:attrName>ppt_h</p:attrName>
                                        </p:attrNameLst>
                                      </p:cBhvr>
                                      <p:tavLst>
                                        <p:tav tm="0">
                                          <p:val>
                                            <p:fltVal val="0"/>
                                          </p:val>
                                        </p:tav>
                                        <p:tav tm="100000">
                                          <p:val>
                                            <p:strVal val="#ppt_h"/>
                                          </p:val>
                                        </p:tav>
                                      </p:tavLst>
                                    </p:anim>
                                    <p:animEffect transition="in" filter="fade">
                                      <p:cBhvr>
                                        <p:cTn id="79" dur="450"/>
                                        <p:tgtEl>
                                          <p:spTgt spid="17"/>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8"/>
                                        </p:tgtEl>
                                        <p:attrNameLst>
                                          <p:attrName>style.visibility</p:attrName>
                                        </p:attrNameLst>
                                      </p:cBhvr>
                                      <p:to>
                                        <p:strVal val="visible"/>
                                      </p:to>
                                    </p:set>
                                    <p:anim calcmode="lin" valueType="num">
                                      <p:cBhvr additive="base">
                                        <p:cTn id="82" dur="450" fill="hold"/>
                                        <p:tgtEl>
                                          <p:spTgt spid="18"/>
                                        </p:tgtEl>
                                        <p:attrNameLst>
                                          <p:attrName>ppt_w</p:attrName>
                                        </p:attrNameLst>
                                      </p:cBhvr>
                                      <p:tavLst>
                                        <p:tav tm="0">
                                          <p:val>
                                            <p:fltVal val="0"/>
                                          </p:val>
                                        </p:tav>
                                        <p:tav tm="100000">
                                          <p:val>
                                            <p:strVal val="#ppt_w"/>
                                          </p:val>
                                        </p:tav>
                                      </p:tavLst>
                                    </p:anim>
                                    <p:anim calcmode="lin" valueType="num">
                                      <p:cBhvr additive="base">
                                        <p:cTn id="83" dur="450" fill="hold"/>
                                        <p:tgtEl>
                                          <p:spTgt spid="18"/>
                                        </p:tgtEl>
                                        <p:attrNameLst>
                                          <p:attrName>ppt_h</p:attrName>
                                        </p:attrNameLst>
                                      </p:cBhvr>
                                      <p:tavLst>
                                        <p:tav tm="0">
                                          <p:val>
                                            <p:fltVal val="0"/>
                                          </p:val>
                                        </p:tav>
                                        <p:tav tm="100000">
                                          <p:val>
                                            <p:strVal val="#ppt_h"/>
                                          </p:val>
                                        </p:tav>
                                      </p:tavLst>
                                    </p:anim>
                                    <p:animEffect transition="in" filter="fade">
                                      <p:cBhvr>
                                        <p:cTn id="84" dur="450"/>
                                        <p:tgtEl>
                                          <p:spTgt spid="18"/>
                                        </p:tgtEl>
                                      </p:cBhvr>
                                    </p:animEffect>
                                  </p:childTnLst>
                                </p:cTn>
                              </p:par>
                            </p:childTnLst>
                          </p:cTn>
                        </p:par>
                      </p:childTnLst>
                    </p:cTn>
                  </p:par>
                  <p:par>
                    <p:cTn id="118" fill="hold">
                      <p:stCondLst>
                        <p:cond delay="indefinite"/>
                      </p:stCondLst>
                      <p:childTnLst>
                        <p:par>
                          <p:cTn id="117" fill="hold">
                            <p:stCondLst>
                              <p:cond delay="0"/>
                            </p:stCondLst>
                            <p:childTnLst>
                              <p:par>
                                <p:cTn id="87" presetID="53" presetClass="entr" presetSubtype="16" fill="hold" grpId="0" nodeType="clickEffect">
                                  <p:stCondLst>
                                    <p:cond delay="0"/>
                                  </p:stCondLst>
                                  <p:childTnLst>
                                    <p:set>
                                      <p:cBhvr>
                                        <p:cTn id="88" dur="1" fill="hold">
                                          <p:stCondLst>
                                            <p:cond delay="0"/>
                                          </p:stCondLst>
                                        </p:cTn>
                                        <p:tgtEl>
                                          <p:spTgt spid="19"/>
                                        </p:tgtEl>
                                        <p:attrNameLst>
                                          <p:attrName>style.visibility</p:attrName>
                                        </p:attrNameLst>
                                      </p:cBhvr>
                                      <p:to>
                                        <p:strVal val="visible"/>
                                      </p:to>
                                    </p:set>
                                    <p:anim calcmode="lin" valueType="num">
                                      <p:cBhvr additive="base">
                                        <p:cTn id="89" dur="450" fill="hold"/>
                                        <p:tgtEl>
                                          <p:spTgt spid="19"/>
                                        </p:tgtEl>
                                        <p:attrNameLst>
                                          <p:attrName>ppt_w</p:attrName>
                                        </p:attrNameLst>
                                      </p:cBhvr>
                                      <p:tavLst>
                                        <p:tav tm="0">
                                          <p:val>
                                            <p:fltVal val="0"/>
                                          </p:val>
                                        </p:tav>
                                        <p:tav tm="100000">
                                          <p:val>
                                            <p:strVal val="#ppt_w"/>
                                          </p:val>
                                        </p:tav>
                                      </p:tavLst>
                                    </p:anim>
                                    <p:anim calcmode="lin" valueType="num">
                                      <p:cBhvr additive="base">
                                        <p:cTn id="90" dur="450" fill="hold"/>
                                        <p:tgtEl>
                                          <p:spTgt spid="19"/>
                                        </p:tgtEl>
                                        <p:attrNameLst>
                                          <p:attrName>ppt_h</p:attrName>
                                        </p:attrNameLst>
                                      </p:cBhvr>
                                      <p:tavLst>
                                        <p:tav tm="0">
                                          <p:val>
                                            <p:fltVal val="0"/>
                                          </p:val>
                                        </p:tav>
                                        <p:tav tm="100000">
                                          <p:val>
                                            <p:strVal val="#ppt_h"/>
                                          </p:val>
                                        </p:tav>
                                      </p:tavLst>
                                    </p:anim>
                                    <p:animEffect transition="in" filter="fade">
                                      <p:cBhvr>
                                        <p:cTn id="91" dur="450"/>
                                        <p:tgtEl>
                                          <p:spTgt spid="19"/>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anim calcmode="lin" valueType="num">
                                      <p:cBhvr additive="base">
                                        <p:cTn id="94" dur="450" fill="hold"/>
                                        <p:tgtEl>
                                          <p:spTgt spid="20"/>
                                        </p:tgtEl>
                                        <p:attrNameLst>
                                          <p:attrName>ppt_w</p:attrName>
                                        </p:attrNameLst>
                                      </p:cBhvr>
                                      <p:tavLst>
                                        <p:tav tm="0">
                                          <p:val>
                                            <p:fltVal val="0"/>
                                          </p:val>
                                        </p:tav>
                                        <p:tav tm="100000">
                                          <p:val>
                                            <p:strVal val="#ppt_w"/>
                                          </p:val>
                                        </p:tav>
                                      </p:tavLst>
                                    </p:anim>
                                    <p:anim calcmode="lin" valueType="num">
                                      <p:cBhvr additive="base">
                                        <p:cTn id="95" dur="450" fill="hold"/>
                                        <p:tgtEl>
                                          <p:spTgt spid="20"/>
                                        </p:tgtEl>
                                        <p:attrNameLst>
                                          <p:attrName>ppt_h</p:attrName>
                                        </p:attrNameLst>
                                      </p:cBhvr>
                                      <p:tavLst>
                                        <p:tav tm="0">
                                          <p:val>
                                            <p:fltVal val="0"/>
                                          </p:val>
                                        </p:tav>
                                        <p:tav tm="100000">
                                          <p:val>
                                            <p:strVal val="#ppt_h"/>
                                          </p:val>
                                        </p:tav>
                                      </p:tavLst>
                                    </p:anim>
                                    <p:animEffect transition="in" filter="fade">
                                      <p:cBhvr>
                                        <p:cTn id="96" dur="450"/>
                                        <p:tgtEl>
                                          <p:spTgt spid="20"/>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 calcmode="lin" valueType="num">
                                      <p:cBhvr additive="base">
                                        <p:cTn id="99" dur="450" fill="hold"/>
                                        <p:tgtEl>
                                          <p:spTgt spid="21"/>
                                        </p:tgtEl>
                                        <p:attrNameLst>
                                          <p:attrName>ppt_w</p:attrName>
                                        </p:attrNameLst>
                                      </p:cBhvr>
                                      <p:tavLst>
                                        <p:tav tm="0">
                                          <p:val>
                                            <p:fltVal val="0"/>
                                          </p:val>
                                        </p:tav>
                                        <p:tav tm="100000">
                                          <p:val>
                                            <p:strVal val="#ppt_w"/>
                                          </p:val>
                                        </p:tav>
                                      </p:tavLst>
                                    </p:anim>
                                    <p:anim calcmode="lin" valueType="num">
                                      <p:cBhvr additive="base">
                                        <p:cTn id="100" dur="450" fill="hold"/>
                                        <p:tgtEl>
                                          <p:spTgt spid="21"/>
                                        </p:tgtEl>
                                        <p:attrNameLst>
                                          <p:attrName>ppt_h</p:attrName>
                                        </p:attrNameLst>
                                      </p:cBhvr>
                                      <p:tavLst>
                                        <p:tav tm="0">
                                          <p:val>
                                            <p:fltVal val="0"/>
                                          </p:val>
                                        </p:tav>
                                        <p:tav tm="100000">
                                          <p:val>
                                            <p:strVal val="#ppt_h"/>
                                          </p:val>
                                        </p:tav>
                                      </p:tavLst>
                                    </p:anim>
                                    <p:animEffect transition="in" filter="fade">
                                      <p:cBhvr>
                                        <p:cTn id="101" dur="450"/>
                                        <p:tgtEl>
                                          <p:spTgt spid="21"/>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22"/>
                                        </p:tgtEl>
                                        <p:attrNameLst>
                                          <p:attrName>style.visibility</p:attrName>
                                        </p:attrNameLst>
                                      </p:cBhvr>
                                      <p:to>
                                        <p:strVal val="visible"/>
                                      </p:to>
                                    </p:set>
                                    <p:anim calcmode="lin" valueType="num">
                                      <p:cBhvr additive="base">
                                        <p:cTn id="104" dur="450" fill="hold"/>
                                        <p:tgtEl>
                                          <p:spTgt spid="22"/>
                                        </p:tgtEl>
                                        <p:attrNameLst>
                                          <p:attrName>ppt_w</p:attrName>
                                        </p:attrNameLst>
                                      </p:cBhvr>
                                      <p:tavLst>
                                        <p:tav tm="0">
                                          <p:val>
                                            <p:fltVal val="0"/>
                                          </p:val>
                                        </p:tav>
                                        <p:tav tm="100000">
                                          <p:val>
                                            <p:strVal val="#ppt_w"/>
                                          </p:val>
                                        </p:tav>
                                      </p:tavLst>
                                    </p:anim>
                                    <p:anim calcmode="lin" valueType="num">
                                      <p:cBhvr additive="base">
                                        <p:cTn id="105" dur="450" fill="hold"/>
                                        <p:tgtEl>
                                          <p:spTgt spid="22"/>
                                        </p:tgtEl>
                                        <p:attrNameLst>
                                          <p:attrName>ppt_h</p:attrName>
                                        </p:attrNameLst>
                                      </p:cBhvr>
                                      <p:tavLst>
                                        <p:tav tm="0">
                                          <p:val>
                                            <p:fltVal val="0"/>
                                          </p:val>
                                        </p:tav>
                                        <p:tav tm="100000">
                                          <p:val>
                                            <p:strVal val="#ppt_h"/>
                                          </p:val>
                                        </p:tav>
                                      </p:tavLst>
                                    </p:anim>
                                    <p:animEffect transition="in" filter="fade">
                                      <p:cBhvr>
                                        <p:cTn id="106" dur="450"/>
                                        <p:tgtEl>
                                          <p:spTgt spid="22"/>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23"/>
                                        </p:tgtEl>
                                        <p:attrNameLst>
                                          <p:attrName>style.visibility</p:attrName>
                                        </p:attrNameLst>
                                      </p:cBhvr>
                                      <p:to>
                                        <p:strVal val="visible"/>
                                      </p:to>
                                    </p:set>
                                    <p:anim calcmode="lin" valueType="num">
                                      <p:cBhvr additive="base">
                                        <p:cTn id="109" dur="450" fill="hold"/>
                                        <p:tgtEl>
                                          <p:spTgt spid="23"/>
                                        </p:tgtEl>
                                        <p:attrNameLst>
                                          <p:attrName>ppt_w</p:attrName>
                                        </p:attrNameLst>
                                      </p:cBhvr>
                                      <p:tavLst>
                                        <p:tav tm="0">
                                          <p:val>
                                            <p:fltVal val="0"/>
                                          </p:val>
                                        </p:tav>
                                        <p:tav tm="100000">
                                          <p:val>
                                            <p:strVal val="#ppt_w"/>
                                          </p:val>
                                        </p:tav>
                                      </p:tavLst>
                                    </p:anim>
                                    <p:anim calcmode="lin" valueType="num">
                                      <p:cBhvr additive="base">
                                        <p:cTn id="110" dur="450" fill="hold"/>
                                        <p:tgtEl>
                                          <p:spTgt spid="23"/>
                                        </p:tgtEl>
                                        <p:attrNameLst>
                                          <p:attrName>ppt_h</p:attrName>
                                        </p:attrNameLst>
                                      </p:cBhvr>
                                      <p:tavLst>
                                        <p:tav tm="0">
                                          <p:val>
                                            <p:fltVal val="0"/>
                                          </p:val>
                                        </p:tav>
                                        <p:tav tm="100000">
                                          <p:val>
                                            <p:strVal val="#ppt_h"/>
                                          </p:val>
                                        </p:tav>
                                      </p:tavLst>
                                    </p:anim>
                                    <p:animEffect transition="in" filter="fade">
                                      <p:cBhvr>
                                        <p:cTn id="111" dur="450"/>
                                        <p:tgtEl>
                                          <p:spTgt spid="23"/>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24"/>
                                        </p:tgtEl>
                                        <p:attrNameLst>
                                          <p:attrName>style.visibility</p:attrName>
                                        </p:attrNameLst>
                                      </p:cBhvr>
                                      <p:to>
                                        <p:strVal val="visible"/>
                                      </p:to>
                                    </p:set>
                                    <p:anim calcmode="lin" valueType="num">
                                      <p:cBhvr additive="base">
                                        <p:cTn id="114" dur="450" fill="hold"/>
                                        <p:tgtEl>
                                          <p:spTgt spid="24"/>
                                        </p:tgtEl>
                                        <p:attrNameLst>
                                          <p:attrName>ppt_w</p:attrName>
                                        </p:attrNameLst>
                                      </p:cBhvr>
                                      <p:tavLst>
                                        <p:tav tm="0">
                                          <p:val>
                                            <p:fltVal val="0"/>
                                          </p:val>
                                        </p:tav>
                                        <p:tav tm="100000">
                                          <p:val>
                                            <p:strVal val="#ppt_w"/>
                                          </p:val>
                                        </p:tav>
                                      </p:tavLst>
                                    </p:anim>
                                    <p:anim calcmode="lin" valueType="num">
                                      <p:cBhvr additive="base">
                                        <p:cTn id="115" dur="450" fill="hold"/>
                                        <p:tgtEl>
                                          <p:spTgt spid="24"/>
                                        </p:tgtEl>
                                        <p:attrNameLst>
                                          <p:attrName>ppt_h</p:attrName>
                                        </p:attrNameLst>
                                      </p:cBhvr>
                                      <p:tavLst>
                                        <p:tav tm="0">
                                          <p:val>
                                            <p:fltVal val="0"/>
                                          </p:val>
                                        </p:tav>
                                        <p:tav tm="100000">
                                          <p:val>
                                            <p:strVal val="#ppt_h"/>
                                          </p:val>
                                        </p:tav>
                                      </p:tavLst>
                                    </p:anim>
                                    <p:animEffect transition="in" filter="fade">
                                      <p:cBhvr>
                                        <p:cTn id="116"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Graphic spid="6" grpId="0">
        <p:bldAsOne/>
      </p:bldGraphic>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 name=""/>
        <p:cNvGrpSpPr/>
        <p:nvPr/>
      </p:nvGrpSpPr>
      <p:grpSpPr>
        <a:xfrm>
          <a:off x="0" y="0"/>
          <a:ext cx="0" cy="0"/>
          <a:chOff x="0" y="0"/>
          <a:chExt cx="0" cy="0"/>
        </a:xfrm>
      </p:grpSpPr>
      <p:sp>
        <p:nvSpPr>
          <p:cNvPr id="3" name="anim_11_131"/>
          <p:cNvSpPr/>
          <p:nvPr/>
        </p:nvSpPr>
        <p:spPr>
          <a:xfrm>
            <a:off x="7726680" y="502920"/>
            <a:ext cx="4023360" cy="868680"/>
          </a:xfrm>
          <a:prstGeom prst="roundRect">
            <a:avLst>
              <a:gd name="adj" fmla="val 49474"/>
            </a:avLst>
          </a:prstGeom>
          <a:solidFill>
            <a:srgbClr val="E8335F"/>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لاحظ أن:</a:t>
            </a:r>
            <a:endParaRPr lang="ar-KW" sz="3600" dirty="0"/>
          </a:p>
        </p:txBody>
      </p:sp>
      <p:pic>
        <p:nvPicPr>
          <p:cNvPr id="4" name="anim_11_132" descr="sp_cor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11_133" descr="warn.png">    </p:cNvPr>
          <p:cNvPicPr>
            <a:picLocks noChangeAspect="1"/>
          </p:cNvPicPr>
          <p:nvPr/>
        </p:nvPicPr>
        <p:blipFill>
          <a:blip r:embed="rId2"/>
          <a:stretch>
            <a:fillRect/>
          </a:stretch>
        </p:blipFill>
        <p:spPr>
          <a:xfrm>
            <a:off x="685800" y="1783080"/>
            <a:ext cx="1920240" cy="1750807"/>
          </a:xfrm>
          <a:prstGeom prst="rect">
            <a:avLst/>
          </a:prstGeom>
        </p:spPr>
      </p:pic>
      <p:sp>
        <p:nvSpPr>
          <p:cNvPr id="6" name="anim_11_134"/>
          <p:cNvSpPr/>
          <p:nvPr/>
        </p:nvSpPr>
        <p:spPr>
          <a:xfrm>
            <a:off x="3017520" y="1737360"/>
            <a:ext cx="8732520" cy="1920240"/>
          </a:xfrm>
          <a:prstGeom prst="roundRect">
            <a:avLst>
              <a:gd name="adj" fmla="val 11905"/>
            </a:avLst>
          </a:prstGeom>
          <a:solidFill>
            <a:srgbClr val="E3F2FC"/>
          </a:solidFill>
          <a:ln/>
          <a:effectLst>
            <a:outerShdw sx="100000" sy="100000" kx="0" ky="0" algn="bl" rotWithShape="0" blurRad="152400" dist="50800" dir="5400000">
              <a:srgbClr val="1F4F8A">
                <a:alpha val="18000"/>
              </a:srgbClr>
            </a:outerShdw>
          </a:effectLst>
        </p:spPr>
      </p:sp>
      <p:pic>
        <p:nvPicPr>
          <p:cNvPr id="7" name="anim_11_135" descr="sp_coral.png">    </p:cNvPr>
          <p:cNvPicPr>
            <a:picLocks noChangeAspect="1"/>
          </p:cNvPicPr>
          <p:nvPr/>
        </p:nvPicPr>
        <p:blipFill>
          <a:blip r:embed="rId3"/>
          <a:stretch>
            <a:fillRect/>
          </a:stretch>
        </p:blipFill>
        <p:spPr>
          <a:xfrm>
            <a:off x="10927080" y="1874520"/>
            <a:ext cx="685800" cy="685800"/>
          </a:xfrm>
          <a:prstGeom prst="rect">
            <a:avLst/>
          </a:prstGeom>
        </p:spPr>
      </p:pic>
      <p:sp>
        <p:nvSpPr>
          <p:cNvPr id="8" name="anim_11_136"/>
          <p:cNvSpPr txBox="1"/>
          <p:nvPr/>
        </p:nvSpPr>
        <p:spPr>
          <a:xfrm>
            <a:off x="10927080" y="1929384"/>
            <a:ext cx="685800" cy="54864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250" b="1" dirty="0">
                <a:solidFill>
                  <a:srgbClr val="FFFFFF"/>
                </a:solidFill>
                <a:latin typeface="Arial" pitchFamily="34" charset="0"/>
                <a:ea typeface="Arial" pitchFamily="34" charset="-122"/>
                <a:cs typeface="Arial" pitchFamily="34" charset="-120"/>
              </a:rPr>
              <a:t>1</a:t>
            </a:r>
            <a:endParaRPr lang="en-US" sz="2250" dirty="0"/>
          </a:p>
        </p:txBody>
      </p:sp>
      <p:sp>
        <p:nvSpPr>
          <p:cNvPr id="9" name="anim_11_137"/>
          <p:cNvSpPr txBox="1"/>
          <p:nvPr/>
        </p:nvSpPr>
        <p:spPr>
          <a:xfrm>
            <a:off x="3154680" y="1783080"/>
            <a:ext cx="7680960" cy="182880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500" b="1" dirty="0">
                <a:solidFill>
                  <a:srgbClr val="16325C"/>
                </a:solidFill>
                <a:latin typeface="Arial" pitchFamily="34" charset="0"/>
                <a:ea typeface="Arial" pitchFamily="34" charset="-122"/>
                <a:cs typeface="Arial" pitchFamily="34" charset="-120"/>
              </a:rPr>
              <a:t>عدم ذكر تكافؤ عناصر </a:t>
            </a:r>
            <a:r>
              <a:rPr lang="ar-KW" altLang="en-US" sz="2500" b="1" dirty="0">
                <a:solidFill>
                  <a:srgbClr val="E8335F"/>
                </a:solidFill>
                <a:latin typeface="Arial" pitchFamily="34" charset="0"/>
                <a:ea typeface="Arial" pitchFamily="34" charset="-122"/>
                <a:cs typeface="Arial" pitchFamily="34" charset="-120"/>
              </a:rPr>
              <a:t>المجموعة (14)</a:t>
            </a:r>
            <a:r>
              <a:rPr lang="ar-KW" altLang="en-US" sz="2500" b="1" dirty="0">
                <a:solidFill>
                  <a:srgbClr val="16325C"/>
                </a:solidFill>
                <a:latin typeface="Arial" pitchFamily="34" charset="0"/>
                <a:ea typeface="Arial" pitchFamily="34" charset="-122"/>
                <a:cs typeface="Arial" pitchFamily="34" charset="-120"/>
              </a:rPr>
              <a:t> والتي تشمل (الكربون، السيليكون، الجرمانيوم، القصدير، والرصاص) لأنه </a:t>
            </a:r>
            <a:r>
              <a:rPr lang="ar-KW" altLang="en-US" sz="2500" b="1" dirty="0">
                <a:solidFill>
                  <a:srgbClr val="1F6FB2"/>
                </a:solidFill>
                <a:latin typeface="Arial" pitchFamily="34" charset="0"/>
                <a:ea typeface="Arial" pitchFamily="34" charset="-122"/>
                <a:cs typeface="Arial" pitchFamily="34" charset="-120"/>
              </a:rPr>
              <a:t>متغير وليس ثابت.</a:t>
            </a:r>
            <a:endParaRPr lang="ar-KW" sz="2500" dirty="0"/>
          </a:p>
        </p:txBody>
      </p:sp>
      <p:sp>
        <p:nvSpPr>
          <p:cNvPr id="10" name="anim_11_138"/>
          <p:cNvSpPr/>
          <p:nvPr/>
        </p:nvSpPr>
        <p:spPr>
          <a:xfrm>
            <a:off x="3017520" y="3886200"/>
            <a:ext cx="8732520" cy="2286000"/>
          </a:xfrm>
          <a:prstGeom prst="roundRect">
            <a:avLst>
              <a:gd name="adj" fmla="val 10000"/>
            </a:avLst>
          </a:prstGeom>
          <a:solidFill>
            <a:srgbClr val="E3F2FC"/>
          </a:solidFill>
          <a:ln/>
          <a:effectLst>
            <a:outerShdw sx="100000" sy="100000" kx="0" ky="0" algn="bl" rotWithShape="0" blurRad="152400" dist="50800" dir="5400000">
              <a:srgbClr val="1F4F8A">
                <a:alpha val="18000"/>
              </a:srgbClr>
            </a:outerShdw>
          </a:effectLst>
        </p:spPr>
      </p:sp>
      <p:pic>
        <p:nvPicPr>
          <p:cNvPr id="11" name="anim_11_139" descr="sp_blue.png">    </p:cNvPr>
          <p:cNvPicPr>
            <a:picLocks noChangeAspect="1"/>
          </p:cNvPicPr>
          <p:nvPr/>
        </p:nvPicPr>
        <p:blipFill>
          <a:blip r:embed="rId4"/>
          <a:stretch>
            <a:fillRect/>
          </a:stretch>
        </p:blipFill>
        <p:spPr>
          <a:xfrm>
            <a:off x="10927080" y="4023360"/>
            <a:ext cx="685800" cy="685800"/>
          </a:xfrm>
          <a:prstGeom prst="rect">
            <a:avLst/>
          </a:prstGeom>
        </p:spPr>
      </p:pic>
      <p:sp>
        <p:nvSpPr>
          <p:cNvPr id="12" name="anim_11_140"/>
          <p:cNvSpPr txBox="1"/>
          <p:nvPr/>
        </p:nvSpPr>
        <p:spPr>
          <a:xfrm>
            <a:off x="10927080" y="4078224"/>
            <a:ext cx="685800" cy="54864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250" b="1" dirty="0">
                <a:solidFill>
                  <a:srgbClr val="FFFFFF"/>
                </a:solidFill>
                <a:latin typeface="Arial" pitchFamily="34" charset="0"/>
                <a:ea typeface="Arial" pitchFamily="34" charset="-122"/>
                <a:cs typeface="Arial" pitchFamily="34" charset="-120"/>
              </a:rPr>
              <a:t>2</a:t>
            </a:r>
            <a:endParaRPr lang="en-US" sz="2250" dirty="0"/>
          </a:p>
        </p:txBody>
      </p:sp>
      <p:sp>
        <p:nvSpPr>
          <p:cNvPr id="13" name="anim_11_141"/>
          <p:cNvSpPr txBox="1"/>
          <p:nvPr/>
        </p:nvSpPr>
        <p:spPr>
          <a:xfrm>
            <a:off x="3154680" y="3931920"/>
            <a:ext cx="7680960" cy="219456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500" b="1" dirty="0">
                <a:solidFill>
                  <a:srgbClr val="16325C"/>
                </a:solidFill>
                <a:latin typeface="Arial" pitchFamily="34" charset="0"/>
                <a:ea typeface="Arial" pitchFamily="34" charset="-122"/>
                <a:cs typeface="Arial" pitchFamily="34" charset="-120"/>
              </a:rPr>
              <a:t>عدم ذكر تكافؤ عناصر </a:t>
            </a:r>
            <a:r>
              <a:rPr lang="ar-KW" altLang="en-US" sz="2500" b="1" dirty="0">
                <a:solidFill>
                  <a:srgbClr val="E8335F"/>
                </a:solidFill>
                <a:latin typeface="Arial" pitchFamily="34" charset="0"/>
                <a:ea typeface="Arial" pitchFamily="34" charset="-122"/>
                <a:cs typeface="Arial" pitchFamily="34" charset="-120"/>
              </a:rPr>
              <a:t>المجموعة (18)</a:t>
            </a:r>
            <a:r>
              <a:rPr lang="ar-KW" altLang="en-US" sz="2500" b="1" dirty="0">
                <a:solidFill>
                  <a:srgbClr val="16325C"/>
                </a:solidFill>
                <a:latin typeface="Arial" pitchFamily="34" charset="0"/>
                <a:ea typeface="Arial" pitchFamily="34" charset="-122"/>
                <a:cs typeface="Arial" pitchFamily="34" charset="-120"/>
              </a:rPr>
              <a:t> والتي تشمل (الهيليوم، النيون، الآرجون، والكريبتون) لأن مستوى الطاقة الرئيسي الخارجي لها </a:t>
            </a:r>
            <a:r>
              <a:rPr lang="ar-KW" altLang="en-US" sz="2500" b="1" dirty="0">
                <a:solidFill>
                  <a:srgbClr val="1F6FB2"/>
                </a:solidFill>
                <a:latin typeface="Arial" pitchFamily="34" charset="0"/>
                <a:ea typeface="Arial" pitchFamily="34" charset="-122"/>
                <a:cs typeface="Arial" pitchFamily="34" charset="-120"/>
              </a:rPr>
              <a:t>مستقر وممتلئ بالإلكترونات</a:t>
            </a:r>
            <a:r>
              <a:rPr lang="ar-KW" altLang="en-US" sz="2500" b="1" dirty="0">
                <a:solidFill>
                  <a:srgbClr val="16325C"/>
                </a:solidFill>
                <a:latin typeface="Arial" pitchFamily="34" charset="0"/>
                <a:ea typeface="Arial" pitchFamily="34" charset="-122"/>
                <a:cs typeface="Arial" pitchFamily="34" charset="-120"/>
              </a:rPr>
              <a:t>، لذلك لا تميل إلى فقد أو اكتساب أو مشاركة الإلكترونات.</a:t>
            </a:r>
            <a:endParaRPr lang="ar-KW" sz="2500" dirty="0"/>
          </a:p>
        </p:txBody>
      </p:sp>
      <p:pic>
        <p:nvPicPr>
          <p:cNvPr id="14" name="anim_11_142" descr="noble.png">    </p:cNvPr>
          <p:cNvPicPr>
            <a:picLocks noChangeAspect="1"/>
          </p:cNvPicPr>
          <p:nvPr/>
        </p:nvPicPr>
        <p:blipFill>
          <a:blip r:embed="rId5"/>
          <a:stretch>
            <a:fillRect/>
          </a:stretch>
        </p:blipFill>
        <p:spPr>
          <a:xfrm>
            <a:off x="365760" y="4572000"/>
            <a:ext cx="2514600" cy="487956"/>
          </a:xfrm>
          <a:prstGeom prst="rect">
            <a:avLst/>
          </a:prstGeom>
        </p:spPr>
      </p:pic>
    </p:spTree>
  </p:cSld>
  <p:clrMapOvr>
    <a:masterClrMapping/>
  </p:clrMapOvr>
  <p:transition spd="slow">
    <p:wipe dir="l"/>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1"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2"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700" fill="hold"/>
                                        <p:tgtEl>
                                          <p:spTgt spid="5"/>
                                        </p:tgtEl>
                                        <p:attrNameLst>
                                          <p:attrName>ppt_w</p:attrName>
                                        </p:attrNameLst>
                                      </p:cBhvr>
                                      <p:tavLst>
                                        <p:tav tm="0">
                                          <p:val>
                                            <p:fltVal val="0"/>
                                          </p:val>
                                        </p:tav>
                                        <p:tav tm="100000">
                                          <p:val>
                                            <p:strVal val="#ppt_w"/>
                                          </p:val>
                                        </p:tav>
                                      </p:tavLst>
                                    </p:anim>
                                    <p:anim calcmode="lin" valueType="num">
                                      <p:cBhvr additive="base">
                                        <p:cTn id="14" dur="700" fill="hold"/>
                                        <p:tgtEl>
                                          <p:spTgt spid="5"/>
                                        </p:tgtEl>
                                        <p:attrNameLst>
                                          <p:attrName>ppt_h</p:attrName>
                                        </p:attrNameLst>
                                      </p:cBhvr>
                                      <p:tavLst>
                                        <p:tav tm="0">
                                          <p:val>
                                            <p:fltVal val="0"/>
                                          </p:val>
                                        </p:tav>
                                        <p:tav tm="100000">
                                          <p:val>
                                            <p:strVal val="#ppt_h"/>
                                          </p:val>
                                        </p:tav>
                                      </p:tavLst>
                                    </p:anim>
                                    <p:animEffect transition="in" filter="fade">
                                      <p:cBhvr>
                                        <p:cTn id="15" dur="700"/>
                                        <p:tgtEl>
                                          <p:spTgt spid="5"/>
                                        </p:tgtEl>
                                      </p:cBhvr>
                                    </p:animEffect>
                                  </p:childTnLst>
                                </p:cTn>
                              </p:par>
                            </p:childTnLst>
                          </p:cTn>
                        </p:par>
                        <p:par>
                          <p:cTn id="33" fill="hold">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ppt_w</p:attrName>
                                        </p:attrNameLst>
                                      </p:cBhvr>
                                      <p:tavLst>
                                        <p:tav tm="0">
                                          <p:val>
                                            <p:fltVal val="0"/>
                                          </p:val>
                                        </p:tav>
                                        <p:tav tm="100000">
                                          <p:val>
                                            <p:strVal val="#ppt_w"/>
                                          </p:val>
                                        </p:tav>
                                      </p:tavLst>
                                    </p:anim>
                                    <p:anim calcmode="lin" valueType="num">
                                      <p:cBhvr additive="base">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300"/>
                                        <p:tgtEl>
                                          <p:spTgt spid="8"/>
                                        </p:tgtEl>
                                      </p:cBhvr>
                                    </p:animEffect>
                                  </p:childTnLst>
                                </p:cTn>
                              </p:par>
                            </p:childTnLst>
                          </p:cTn>
                        </p:par>
                        <p:par>
                          <p:cTn id="34" fill="hold">
                            <p:stCondLst>
                              <p:cond delay="2000"/>
                            </p:stCondLst>
                            <p:childTnLst>
                              <p:par>
                                <p:cTn id="28" presetID="22" presetClass="entr" presetSubtype="2"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right)">
                                      <p:cBhvr>
                                        <p:cTn id="30" dur="1300"/>
                                        <p:tgtEl>
                                          <p:spTgt spid="9"/>
                                        </p:tgtEl>
                                      </p:cBhvr>
                                    </p:animEffect>
                                  </p:childTnLst>
                                </p:cTn>
                              </p:par>
                            </p:childTnLst>
                          </p:cTn>
                        </p:par>
                      </p:childTnLst>
                    </p:cTn>
                  </p:par>
                  <p:par>
                    <p:cTn id="56" fill="hold">
                      <p:stCondLst>
                        <p:cond delay="indefinite"/>
                      </p:stCondLst>
                      <p:childTnLst>
                        <p:par>
                          <p:cTn id="54"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1+#ppt_w/2"/>
                                          </p:val>
                                        </p:tav>
                                        <p:tav tm="100000">
                                          <p:val>
                                            <p:strVal val="#ppt_x"/>
                                          </p:val>
                                        </p:tav>
                                      </p:tavLst>
                                    </p:anim>
                                    <p:anim calcmode="lin" valueType="num">
                                      <p:cBhvr additive="base">
                                        <p:cTn id="39" dur="500" fill="hold"/>
                                        <p:tgtEl>
                                          <p:spTgt spid="10"/>
                                        </p:tgtEl>
                                        <p:attrNameLst>
                                          <p:attrName>ppt_y</p:attrName>
                                        </p:attrNameLst>
                                      </p:cBhvr>
                                      <p:tavLst>
                                        <p:tav tm="0">
                                          <p:val>
                                            <p:strVal val="#ppt_y"/>
                                          </p:val>
                                        </p:tav>
                                        <p:tav tm="100000">
                                          <p:val>
                                            <p:strVal val="#ppt_y"/>
                                          </p:val>
                                        </p:tav>
                                      </p:tavLst>
                                    </p:anim>
                                  </p:childTnLst>
                                </p:cTn>
                              </p:par>
                              <p:par>
                                <p:cTn id="40" presetID="53"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ppt_w</p:attrName>
                                        </p:attrNameLst>
                                      </p:cBhvr>
                                      <p:tavLst>
                                        <p:tav tm="0">
                                          <p:val>
                                            <p:fltVal val="0"/>
                                          </p:val>
                                        </p:tav>
                                        <p:tav tm="100000">
                                          <p:val>
                                            <p:strVal val="#ppt_w"/>
                                          </p:val>
                                        </p:tav>
                                      </p:tavLst>
                                    </p:anim>
                                    <p:anim calcmode="lin" valueType="num">
                                      <p:cBhvr additive="base">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300"/>
                                        <p:tgtEl>
                                          <p:spTgt spid="12"/>
                                        </p:tgtEl>
                                      </p:cBhvr>
                                    </p:animEffect>
                                  </p:childTnLst>
                                </p:cTn>
                              </p:par>
                            </p:childTnLst>
                          </p:cTn>
                        </p:par>
                        <p:par>
                          <p:cTn id="55" fill="hold">
                            <p:stCondLst>
                              <p:cond delay="500"/>
                            </p:stCondLst>
                            <p:childTnLst>
                              <p:par>
                                <p:cTn id="48" presetID="22" presetClass="entr" presetSubtype="2"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right)">
                                      <p:cBhvr>
                                        <p:cTn id="50" dur="1500"/>
                                        <p:tgtEl>
                                          <p:spTgt spid="1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9" grpId="0" animBg="1"/>
      <p:bldP spid="10"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 name=""/>
        <p:cNvGrpSpPr/>
        <p:nvPr/>
      </p:nvGrpSpPr>
      <p:grpSpPr>
        <a:xfrm>
          <a:off x="0" y="0"/>
          <a:ext cx="0" cy="0"/>
          <a:chOff x="0" y="0"/>
          <a:chExt cx="0" cy="0"/>
        </a:xfrm>
      </p:grpSpPr>
      <p:sp>
        <p:nvSpPr>
          <p:cNvPr id="3" name="anim_12_143"/>
          <p:cNvSpPr/>
          <p:nvPr/>
        </p:nvSpPr>
        <p:spPr>
          <a:xfrm>
            <a:off x="7178040" y="502920"/>
            <a:ext cx="457200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تمثيل لويس</a:t>
            </a:r>
            <a:endParaRPr lang="ar-KW" sz="3600" dirty="0"/>
          </a:p>
        </p:txBody>
      </p:sp>
      <p:pic>
        <p:nvPicPr>
          <p:cNvPr id="4" name="anim_12_144" descr="sp_te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2_145"/>
          <p:cNvSpPr txBox="1"/>
          <p:nvPr/>
        </p:nvSpPr>
        <p:spPr>
          <a:xfrm>
            <a:off x="457200" y="1600200"/>
            <a:ext cx="11292840" cy="960120"/>
          </a:xfrm>
          <a:prstGeom prst="rect">
            <a:avLst/>
          </a:prstGeom>
          <a:noFill/>
          <a:ln/>
        </p:spPr>
        <p:txBody>
          <a:bodyPr wrap="square" lIns="50800" tIns="50800" rIns="50800" bIns="50800" rtlCol="0" anchor="t"/>
          <a:lstStyle/>
          <a:p>
            <a:pPr rtl="0" algn="r" indent="0" marL="0">
              <a:lnSpc>
                <a:spcPct val="105000"/>
              </a:lnSpc>
              <a:buNone/>
            </a:pPr>
            <a:r>
              <a:rPr lang="ar-KW" altLang="en-US" sz="2600" b="1" dirty="0">
                <a:solidFill>
                  <a:srgbClr val="0F9D8E"/>
                </a:solidFill>
                <a:latin typeface="Arial" pitchFamily="34" charset="0"/>
                <a:ea typeface="Arial" pitchFamily="34" charset="-122"/>
                <a:cs typeface="Arial" pitchFamily="34" charset="-120"/>
              </a:rPr>
              <a:t>الترتيب الإلكتروني النقطي </a:t>
            </a:r>
            <a:r>
              <a:rPr lang="ar-KW" altLang="en-US" sz="2600" b="1" dirty="0">
                <a:solidFill>
                  <a:srgbClr val="1F6FB2"/>
                </a:solidFill>
                <a:latin typeface="Arial" pitchFamily="34" charset="0"/>
                <a:ea typeface="Arial" pitchFamily="34" charset="-122"/>
                <a:cs typeface="Arial" pitchFamily="34" charset="-120"/>
              </a:rPr>
              <a:t>Electron Dot Structure</a:t>
            </a:r>
            <a:endParaRPr lang="ar-KW" sz="2600" dirty="0"/>
          </a:p>
          <a:p>
            <a:pPr rtl="0" algn="r" indent="0" marL="0">
              <a:lnSpc>
                <a:spcPct val="105000"/>
              </a:lnSpc>
              <a:buNone/>
            </a:pPr>
            <a:r>
              <a:rPr lang="ar-KW" altLang="en-US" sz="2600" b="1" dirty="0">
                <a:solidFill>
                  <a:srgbClr val="0F9D8E"/>
                </a:solidFill>
                <a:latin typeface="Arial" pitchFamily="34" charset="0"/>
                <a:ea typeface="Arial" pitchFamily="34" charset="-122"/>
                <a:cs typeface="Arial" pitchFamily="34" charset="-120"/>
              </a:rPr>
              <a:t>(تمثيل لويس) </a:t>
            </a:r>
            <a:r>
              <a:rPr lang="ar-KW" altLang="en-US" sz="2600" b="1" dirty="0">
                <a:solidFill>
                  <a:srgbClr val="1F6FB2"/>
                </a:solidFill>
                <a:latin typeface="Arial" pitchFamily="34" charset="0"/>
                <a:ea typeface="Arial" pitchFamily="34" charset="-122"/>
                <a:cs typeface="Arial" pitchFamily="34" charset="-120"/>
              </a:rPr>
              <a:t>Lewis Structure</a:t>
            </a:r>
            <a:endParaRPr lang="ar-KW" sz="2600" dirty="0"/>
          </a:p>
        </p:txBody>
      </p:sp>
      <p:sp>
        <p:nvSpPr>
          <p:cNvPr id="6" name="anim_12_146"/>
          <p:cNvSpPr txBox="1"/>
          <p:nvPr/>
        </p:nvSpPr>
        <p:spPr>
          <a:xfrm>
            <a:off x="457200" y="2606040"/>
            <a:ext cx="11292840" cy="7772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يمكن تمثيل إلكترونات التكافؤ بنقاط حول ذرة العنصر، وهي طريقة ابتكرها العالم جلبرت لويس.</a:t>
            </a:r>
            <a:endParaRPr lang="ar-KW" sz="2600" dirty="0"/>
          </a:p>
        </p:txBody>
      </p:sp>
      <p:sp>
        <p:nvSpPr>
          <p:cNvPr id="7" name="anim_12_147"/>
          <p:cNvSpPr/>
          <p:nvPr/>
        </p:nvSpPr>
        <p:spPr>
          <a:xfrm>
            <a:off x="4343400" y="3611880"/>
            <a:ext cx="7406640" cy="2468880"/>
          </a:xfrm>
          <a:prstGeom prst="roundRect">
            <a:avLst>
              <a:gd name="adj" fmla="val 11111"/>
            </a:avLst>
          </a:prstGeom>
          <a:solidFill>
            <a:srgbClr val="E6F7F4"/>
          </a:solidFill>
          <a:ln w="38100">
            <a:solidFill>
              <a:srgbClr val="7FD3C6"/>
            </a:solidFill>
            <a:prstDash val="solid"/>
          </a:ln>
          <a:effectLst>
            <a:outerShdw sx="100000" sy="100000" kx="0" ky="0" algn="bl" rotWithShape="0" blurRad="152400" dist="50800" dir="5400000">
              <a:srgbClr val="1F4F8A">
                <a:alpha val="18000"/>
              </a:srgbClr>
            </a:outerShdw>
          </a:effectLst>
        </p:spPr>
      </p:sp>
      <p:sp>
        <p:nvSpPr>
          <p:cNvPr id="8" name="anim_12_148"/>
          <p:cNvSpPr txBox="1"/>
          <p:nvPr/>
        </p:nvSpPr>
        <p:spPr>
          <a:xfrm>
            <a:off x="4526280" y="3657600"/>
            <a:ext cx="7040880" cy="237744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700" b="1" dirty="0">
                <a:solidFill>
                  <a:srgbClr val="16325C"/>
                </a:solidFill>
                <a:latin typeface="Arial" pitchFamily="34" charset="0"/>
                <a:ea typeface="Arial" pitchFamily="34" charset="-122"/>
                <a:cs typeface="Arial" pitchFamily="34" charset="-120"/>
              </a:rPr>
              <a:t>وتعرّف </a:t>
            </a:r>
            <a:r>
              <a:rPr lang="ar-KW" altLang="en-US" sz="2700" b="1" dirty="0">
                <a:solidFill>
                  <a:srgbClr val="0F9D8E"/>
                </a:solidFill>
                <a:latin typeface="Arial" pitchFamily="34" charset="0"/>
                <a:ea typeface="Arial" pitchFamily="34" charset="-122"/>
                <a:cs typeface="Arial" pitchFamily="34" charset="-120"/>
              </a:rPr>
              <a:t>الترتيبات الإلكترونية النقطية</a:t>
            </a:r>
            <a:r>
              <a:rPr lang="ar-KW" altLang="en-US" sz="2700" b="1" dirty="0">
                <a:solidFill>
                  <a:srgbClr val="16325C"/>
                </a:solidFill>
                <a:latin typeface="Arial" pitchFamily="34" charset="0"/>
                <a:ea typeface="Arial" pitchFamily="34" charset="-122"/>
                <a:cs typeface="Arial" pitchFamily="34" charset="-120"/>
              </a:rPr>
              <a:t> بأنها « الأشكال التي توضّح إلكترونات التكافؤ في صورة نقاط على رمز ذرة العنصر».</a:t>
            </a:r>
            <a:endParaRPr lang="ar-KW" sz="2700" dirty="0"/>
          </a:p>
        </p:txBody>
      </p:sp>
      <p:pic>
        <p:nvPicPr>
          <p:cNvPr id="9" name="anim_12_149" descr="lewis_N.png">    </p:cNvPr>
          <p:cNvPicPr>
            <a:picLocks noChangeAspect="1"/>
          </p:cNvPicPr>
          <p:nvPr/>
        </p:nvPicPr>
        <p:blipFill>
          <a:blip r:embed="rId2"/>
          <a:stretch>
            <a:fillRect/>
          </a:stretch>
        </p:blipFill>
        <p:spPr>
          <a:xfrm>
            <a:off x="502920" y="3611880"/>
            <a:ext cx="1085157" cy="1188720"/>
          </a:xfrm>
          <a:prstGeom prst="rect">
            <a:avLst/>
          </a:prstGeom>
        </p:spPr>
      </p:pic>
      <p:pic>
        <p:nvPicPr>
          <p:cNvPr id="10" name="anim_12_150" descr="lewis_C.png">    </p:cNvPr>
          <p:cNvPicPr>
            <a:picLocks noChangeAspect="1"/>
          </p:cNvPicPr>
          <p:nvPr/>
        </p:nvPicPr>
        <p:blipFill>
          <a:blip r:embed="rId3"/>
          <a:stretch>
            <a:fillRect/>
          </a:stretch>
        </p:blipFill>
        <p:spPr>
          <a:xfrm>
            <a:off x="2331720" y="3611880"/>
            <a:ext cx="1085157" cy="1188720"/>
          </a:xfrm>
          <a:prstGeom prst="rect">
            <a:avLst/>
          </a:prstGeom>
        </p:spPr>
      </p:pic>
      <p:pic>
        <p:nvPicPr>
          <p:cNvPr id="11" name="anim_12_151" descr="lewis_F.png">    </p:cNvPr>
          <p:cNvPicPr>
            <a:picLocks noChangeAspect="1"/>
          </p:cNvPicPr>
          <p:nvPr/>
        </p:nvPicPr>
        <p:blipFill>
          <a:blip r:embed="rId4"/>
          <a:stretch>
            <a:fillRect/>
          </a:stretch>
        </p:blipFill>
        <p:spPr>
          <a:xfrm>
            <a:off x="1371600" y="4892040"/>
            <a:ext cx="1085157" cy="1188720"/>
          </a:xfrm>
          <a:prstGeom prst="rect">
            <a:avLst/>
          </a:prstGeom>
        </p:spPr>
      </p:pic>
    </p:spTree>
  </p:cSld>
  <p:clrMapOvr>
    <a:masterClrMapping/>
  </p:clrMapOvr>
  <p:transition spd="slow">
    <p:cover dir="l"/>
  </p:transition>
  <p:timing>
    <p:tnLst>
      <p:par>
        <p:cTn id="1" dur="indefinite" restart="never" nodeType="tmRoot">
          <p:childTnLst>
            <p:seq concurrent="1" nextAc="seek">
              <p:cTn id="2" dur="indefinite" nodeType="mainSeq">
                <p:childTnLst>
                  <p:par>
                    <p:cTn id="48" fill="hold">
                      <p:stCondLst>
                        <p:cond delay="indefinite"/>
                        <p:cond evt="onBegin" delay="0">
                          <p:tn val="2"/>
                        </p:cond>
                      </p:stCondLst>
                      <p:childTnLst>
                        <p:par>
                          <p:cTn id="40"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41"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000"/>
                                        <p:tgtEl>
                                          <p:spTgt spid="5"/>
                                        </p:tgtEl>
                                      </p:cBhvr>
                                    </p:animEffect>
                                  </p:childTnLst>
                                </p:cTn>
                              </p:par>
                            </p:childTnLst>
                          </p:cTn>
                        </p:par>
                        <p:par>
                          <p:cTn id="42" fill="hold">
                            <p:stCondLst>
                              <p:cond delay="1800"/>
                            </p:stCondLst>
                            <p:childTnLst>
                              <p:par>
                                <p:cTn id="14" presetID="22" presetClass="entr" presetSubtype="2"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right)">
                                      <p:cBhvr>
                                        <p:cTn id="16" dur="1200"/>
                                        <p:tgtEl>
                                          <p:spTgt spid="6"/>
                                        </p:tgtEl>
                                      </p:cBhvr>
                                    </p:animEffect>
                                  </p:childTnLst>
                                </p:cTn>
                              </p:par>
                            </p:childTnLst>
                          </p:cTn>
                        </p:par>
                        <p:par>
                          <p:cTn id="43" fill="hold">
                            <p:stCondLst>
                              <p:cond delay="3000"/>
                            </p:stCondLst>
                            <p:childTnLst>
                              <p:par>
                                <p:cTn id="17" presetID="53" presetClass="entr" presetSubtype="16"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ppt_w</p:attrName>
                                        </p:attrNameLst>
                                      </p:cBhvr>
                                      <p:tavLst>
                                        <p:tav tm="0">
                                          <p:val>
                                            <p:fltVal val="0"/>
                                          </p:val>
                                        </p:tav>
                                        <p:tav tm="100000">
                                          <p:val>
                                            <p:strVal val="#ppt_w"/>
                                          </p:val>
                                        </p:tav>
                                      </p:tavLst>
                                    </p:anim>
                                    <p:anim calcmode="lin" valueType="num">
                                      <p:cBhvr additive="base">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par>
                          <p:cTn id="44" fill="hold">
                            <p:stCondLst>
                              <p:cond delay="3500"/>
                            </p:stCondLst>
                            <p:childTnLst>
                              <p:par>
                                <p:cTn id="22" presetID="22" presetClass="entr" presetSubtype="2"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right)">
                                      <p:cBhvr>
                                        <p:cTn id="24" dur="1500"/>
                                        <p:tgtEl>
                                          <p:spTgt spid="8"/>
                                        </p:tgtEl>
                                      </p:cBhvr>
                                    </p:animEffect>
                                  </p:childTnLst>
                                </p:cTn>
                              </p:par>
                            </p:childTnLst>
                          </p:cTn>
                        </p:par>
                        <p:par>
                          <p:cTn id="45" fill="hold">
                            <p:stCondLst>
                              <p:cond delay="500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ppt_w</p:attrName>
                                        </p:attrNameLst>
                                      </p:cBhvr>
                                      <p:tavLst>
                                        <p:tav tm="0">
                                          <p:val>
                                            <p:fltVal val="0"/>
                                          </p:val>
                                        </p:tav>
                                        <p:tav tm="100000">
                                          <p:val>
                                            <p:strVal val="#ppt_w"/>
                                          </p:val>
                                        </p:tav>
                                      </p:tavLst>
                                    </p:anim>
                                    <p:anim calcmode="lin" valueType="num">
                                      <p:cBhvr additive="base">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par>
                          <p:cTn id="46" fill="hold">
                            <p:stCondLst>
                              <p:cond delay="5500"/>
                            </p:stCondLst>
                            <p:childTnLst>
                              <p:par>
                                <p:cTn id="30" presetID="53" presetClass="entr" presetSubtype="16"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ppt_w</p:attrName>
                                        </p:attrNameLst>
                                      </p:cBhvr>
                                      <p:tavLst>
                                        <p:tav tm="0">
                                          <p:val>
                                            <p:fltVal val="0"/>
                                          </p:val>
                                        </p:tav>
                                        <p:tav tm="100000">
                                          <p:val>
                                            <p:strVal val="#ppt_w"/>
                                          </p:val>
                                        </p:tav>
                                      </p:tavLst>
                                    </p:anim>
                                    <p:anim calcmode="lin" valueType="num">
                                      <p:cBhvr additive="base">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par>
                          <p:cTn id="47" fill="hold">
                            <p:stCondLst>
                              <p:cond delay="6000"/>
                            </p:stCondLst>
                            <p:childTnLst>
                              <p:par>
                                <p:cTn id="35" presetID="53" presetClass="entr" presetSubtype="16"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ppt_w</p:attrName>
                                        </p:attrNameLst>
                                      </p:cBhvr>
                                      <p:tavLst>
                                        <p:tav tm="0">
                                          <p:val>
                                            <p:fltVal val="0"/>
                                          </p:val>
                                        </p:tav>
                                        <p:tav tm="100000">
                                          <p:val>
                                            <p:strVal val="#ppt_w"/>
                                          </p:val>
                                        </p:tav>
                                      </p:tavLst>
                                    </p:anim>
                                    <p:anim calcmode="lin" valueType="num">
                                      <p:cBhvr additive="base">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 name=""/>
        <p:cNvGrpSpPr/>
        <p:nvPr/>
      </p:nvGrpSpPr>
      <p:grpSpPr>
        <a:xfrm>
          <a:off x="0" y="0"/>
          <a:ext cx="0" cy="0"/>
          <a:chOff x="0" y="0"/>
          <a:chExt cx="0" cy="0"/>
        </a:xfrm>
      </p:grpSpPr>
      <p:sp>
        <p:nvSpPr>
          <p:cNvPr id="3" name="anim_13_152"/>
          <p:cNvSpPr/>
          <p:nvPr/>
        </p:nvSpPr>
        <p:spPr>
          <a:xfrm>
            <a:off x="7726680" y="502920"/>
            <a:ext cx="4023360" cy="868680"/>
          </a:xfrm>
          <a:prstGeom prst="roundRect">
            <a:avLst>
              <a:gd name="adj" fmla="val 49474"/>
            </a:avLst>
          </a:prstGeom>
          <a:solidFill>
            <a:srgbClr val="1F6FB2"/>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مثال (1)</a:t>
            </a:r>
            <a:endParaRPr lang="ar-KW" sz="3600" dirty="0"/>
          </a:p>
        </p:txBody>
      </p:sp>
      <p:pic>
        <p:nvPicPr>
          <p:cNvPr id="4" name="anim_13_153" descr="sp_blue.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3_154"/>
          <p:cNvSpPr/>
          <p:nvPr/>
        </p:nvSpPr>
        <p:spPr>
          <a:xfrm>
            <a:off x="411480" y="1645920"/>
            <a:ext cx="11338560" cy="4526280"/>
          </a:xfrm>
          <a:prstGeom prst="roundRect">
            <a:avLst>
              <a:gd name="adj" fmla="val 8081"/>
            </a:avLst>
          </a:prstGeom>
          <a:solidFill>
            <a:srgbClr val="EEF8FF"/>
          </a:solidFill>
          <a:ln w="76200">
            <a:solidFill>
              <a:srgbClr val="A9D6F2"/>
            </a:solidFill>
            <a:prstDash val="solid"/>
          </a:ln>
          <a:effectLst>
            <a:outerShdw sx="100000" sy="100000" kx="0" ky="0" algn="bl" rotWithShape="0" blurRad="152400" dist="50800" dir="5400000">
              <a:srgbClr val="1F4F8A">
                <a:alpha val="18000"/>
              </a:srgbClr>
            </a:outerShdw>
          </a:effectLst>
        </p:spPr>
      </p:sp>
      <p:sp>
        <p:nvSpPr>
          <p:cNvPr id="6" name="anim_13_155"/>
          <p:cNvSpPr txBox="1"/>
          <p:nvPr/>
        </p:nvSpPr>
        <p:spPr>
          <a:xfrm>
            <a:off x="4343400" y="1810512"/>
            <a:ext cx="7223760" cy="64008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F6FB2"/>
                </a:solidFill>
                <a:latin typeface="Arial" pitchFamily="34" charset="0"/>
                <a:ea typeface="Arial" pitchFamily="34" charset="-122"/>
                <a:cs typeface="Arial" pitchFamily="34" charset="-120"/>
              </a:rPr>
              <a:t>وضّح الترتيب الإلكتروني النقطي لذرة البريليوم</a:t>
            </a:r>
            <a:endParaRPr lang="ar-KW" sz="2400" dirty="0"/>
          </a:p>
        </p:txBody>
      </p:sp>
      <p:sp>
        <p:nvSpPr>
          <p:cNvPr id="7" name="anim_13_156"/>
          <p:cNvSpPr txBox="1"/>
          <p:nvPr/>
        </p:nvSpPr>
        <p:spPr>
          <a:xfrm>
            <a:off x="3063240" y="1828800"/>
            <a:ext cx="1188720" cy="594360"/>
          </a:xfrm>
          <a:prstGeom prst="roundRect">
            <a:avLst>
              <a:gd name="adj" fmla="val 49231"/>
            </a:avLst>
          </a:prstGeom>
          <a:solidFill>
            <a:srgbClr val="1F6FB2"/>
          </a:solidFill>
          <a:ln/>
        </p:spPr>
        <p:txBody>
          <a:bodyPr wrap="square" lIns="0" tIns="0" rIns="0" bIns="0" rtlCol="0" anchor="ctr"/>
          <a:lstStyle/>
          <a:p>
            <a:pPr rtl="0" algn="ctr" indent="0" marL="0">
              <a:lnSpc>
                <a:spcPct val="105000"/>
              </a:lnSpc>
              <a:spcAft>
                <a:spcPts val="600"/>
              </a:spcAft>
              <a:buNone/>
            </a:pPr>
            <a:r>
              <a:rPr lang="en-US" altLang="en-US" sz="2800" b="1" baseline="-40000" dirty="0">
                <a:solidFill>
                  <a:srgbClr val="FFFFFF"/>
                </a:solidFill>
                <a:latin typeface="Arial" pitchFamily="34" charset="0"/>
                <a:ea typeface="Arial" pitchFamily="34" charset="-122"/>
                <a:cs typeface="Arial" pitchFamily="34" charset="-120"/>
              </a:rPr>
              <a:t>4</a:t>
            </a:r>
            <a:r>
              <a:rPr lang="en-US" altLang="en-US" sz="2800" b="1" dirty="0">
                <a:solidFill>
                  <a:srgbClr val="FFFFFF"/>
                </a:solidFill>
                <a:latin typeface="Arial" pitchFamily="34" charset="0"/>
                <a:ea typeface="Arial" pitchFamily="34" charset="-122"/>
                <a:cs typeface="Arial" pitchFamily="34" charset="-120"/>
              </a:rPr>
              <a:t>Be</a:t>
            </a:r>
            <a:endParaRPr lang="en-US" sz="2800" dirty="0"/>
          </a:p>
        </p:txBody>
      </p:sp>
      <p:pic>
        <p:nvPicPr>
          <p:cNvPr id="8" name="anim_13_157" descr="be_photo.png">    </p:cNvPr>
          <p:cNvPicPr>
            <a:picLocks noChangeAspect="1"/>
          </p:cNvPicPr>
          <p:nvPr/>
        </p:nvPicPr>
        <p:blipFill>
          <a:blip r:embed="rId2"/>
          <a:stretch>
            <a:fillRect/>
          </a:stretch>
        </p:blipFill>
        <p:spPr>
          <a:xfrm>
            <a:off x="685800" y="1828800"/>
            <a:ext cx="2103120" cy="2103120"/>
          </a:xfrm>
          <a:prstGeom prst="rect">
            <a:avLst/>
          </a:prstGeom>
        </p:spPr>
      </p:pic>
      <p:sp>
        <p:nvSpPr>
          <p:cNvPr id="9" name="anim_13_158"/>
          <p:cNvSpPr txBox="1"/>
          <p:nvPr/>
        </p:nvSpPr>
        <p:spPr>
          <a:xfrm>
            <a:off x="3657600" y="2633472"/>
            <a:ext cx="7909560" cy="5486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800" b="1" dirty="0">
                <a:solidFill>
                  <a:srgbClr val="E8335F"/>
                </a:solidFill>
                <a:latin typeface="Arial" pitchFamily="34" charset="0"/>
                <a:ea typeface="Arial" pitchFamily="34" charset="-122"/>
                <a:cs typeface="Arial" pitchFamily="34" charset="-120"/>
              </a:rPr>
              <a:t>الحـل:</a:t>
            </a:r>
            <a:endParaRPr lang="ar-KW" sz="2800" dirty="0"/>
          </a:p>
        </p:txBody>
      </p:sp>
      <p:sp>
        <p:nvSpPr>
          <p:cNvPr id="10" name="anim_13_159"/>
          <p:cNvSpPr txBox="1"/>
          <p:nvPr/>
        </p:nvSpPr>
        <p:spPr>
          <a:xfrm>
            <a:off x="3657600" y="3154680"/>
            <a:ext cx="7909560" cy="91440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1 – نكتب الترتيب الإلكتروني حسب مستويات الطاقة الرئيسية (2,2).</a:t>
            </a:r>
            <a:endParaRPr lang="ar-KW" sz="2600" dirty="0"/>
          </a:p>
        </p:txBody>
      </p:sp>
      <p:pic>
        <p:nvPicPr>
          <p:cNvPr id="11" name="anim_13_160" descr="be_atom.png">    </p:cNvPr>
          <p:cNvPicPr>
            <a:picLocks noChangeAspect="1"/>
          </p:cNvPicPr>
          <p:nvPr/>
        </p:nvPicPr>
        <p:blipFill>
          <a:blip r:embed="rId3"/>
          <a:stretch>
            <a:fillRect/>
          </a:stretch>
        </p:blipFill>
        <p:spPr>
          <a:xfrm>
            <a:off x="685800" y="3977640"/>
            <a:ext cx="2103120" cy="2103120"/>
          </a:xfrm>
          <a:prstGeom prst="rect">
            <a:avLst/>
          </a:prstGeom>
        </p:spPr>
      </p:pic>
      <p:sp>
        <p:nvSpPr>
          <p:cNvPr id="12" name="anim_13_161"/>
          <p:cNvSpPr txBox="1"/>
          <p:nvPr/>
        </p:nvSpPr>
        <p:spPr>
          <a:xfrm>
            <a:off x="5577840" y="4160520"/>
            <a:ext cx="5989320" cy="10058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2 – نكتب رمز العنصر ونمثّل إلكترونات التكافؤ حوله بنقاط كالتالي:</a:t>
            </a:r>
            <a:endParaRPr lang="ar-KW" sz="2600" dirty="0"/>
          </a:p>
        </p:txBody>
      </p:sp>
      <p:sp>
        <p:nvSpPr>
          <p:cNvPr id="13" name="anim_13_162"/>
          <p:cNvSpPr/>
          <p:nvPr/>
        </p:nvSpPr>
        <p:spPr>
          <a:xfrm>
            <a:off x="3200400" y="4114800"/>
            <a:ext cx="2194560" cy="1463040"/>
          </a:xfrm>
          <a:prstGeom prst="roundRect">
            <a:avLst>
              <a:gd name="adj" fmla="val 15625"/>
            </a:avLst>
          </a:prstGeom>
          <a:solidFill>
            <a:srgbClr val="FFFFFF"/>
          </a:solidFill>
          <a:ln/>
          <a:effectLst>
            <a:outerShdw sx="100000" sy="100000" kx="0" ky="0" algn="bl" rotWithShape="0" blurRad="152400" dist="50800" dir="5400000">
              <a:srgbClr val="1F4F8A">
                <a:alpha val="18000"/>
              </a:srgbClr>
            </a:outerShdw>
          </a:effectLst>
        </p:spPr>
      </p:sp>
      <p:pic>
        <p:nvPicPr>
          <p:cNvPr id="14" name="anim_13_163" descr="lewis_Be.png">    </p:cNvPr>
          <p:cNvPicPr>
            <a:picLocks noChangeAspect="1"/>
          </p:cNvPicPr>
          <p:nvPr/>
        </p:nvPicPr>
        <p:blipFill>
          <a:blip r:embed="rId4"/>
          <a:stretch>
            <a:fillRect/>
          </a:stretch>
        </p:blipFill>
        <p:spPr>
          <a:xfrm>
            <a:off x="3337560" y="4206240"/>
            <a:ext cx="1920240" cy="1640593"/>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1"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2"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33"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900"/>
                                        <p:tgtEl>
                                          <p:spTgt spid="6"/>
                                        </p:tgtEl>
                                      </p:cBhvr>
                                    </p:animEffect>
                                  </p:childTnLst>
                                </p:cTn>
                              </p:par>
                            </p:childTnLst>
                          </p:cTn>
                        </p:par>
                        <p:par>
                          <p:cTn id="34" fill="hold">
                            <p:stCondLst>
                              <p:cond delay="23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ppt_w</p:attrName>
                                        </p:attrNameLst>
                                      </p:cBhvr>
                                      <p:tavLst>
                                        <p:tav tm="0">
                                          <p:val>
                                            <p:fltVal val="0"/>
                                          </p:val>
                                        </p:tav>
                                        <p:tav tm="100000">
                                          <p:val>
                                            <p:strVal val="#ppt_w"/>
                                          </p:val>
                                        </p:tav>
                                      </p:tavLst>
                                    </p:anim>
                                    <p:anim calcmode="lin" valueType="num">
                                      <p:cBhvr additive="base">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4" presetID="2" presetClass="entr" presetSubtype="8"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700" fill="hold"/>
                                        <p:tgtEl>
                                          <p:spTgt spid="8"/>
                                        </p:tgtEl>
                                        <p:attrNameLst>
                                          <p:attrName>ppt_x</p:attrName>
                                        </p:attrNameLst>
                                      </p:cBhvr>
                                      <p:tavLst>
                                        <p:tav tm="0">
                                          <p:val>
                                            <p:strVal val="0-#ppt_w/2"/>
                                          </p:val>
                                        </p:tav>
                                        <p:tav tm="100000">
                                          <p:val>
                                            <p:strVal val="#ppt_x"/>
                                          </p:val>
                                        </p:tav>
                                      </p:tavLst>
                                    </p:anim>
                                    <p:anim calcmode="lin" valueType="num">
                                      <p:cBhvr additive="base">
                                        <p:cTn id="27" dur="700" fill="hold"/>
                                        <p:tgtEl>
                                          <p:spTgt spid="8"/>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childTnLst>
                                </p:cTn>
                              </p:par>
                            </p:childTnLst>
                          </p:cTn>
                        </p:par>
                      </p:childTnLst>
                    </p:cTn>
                  </p:par>
                  <p:par>
                    <p:cTn id="46" fill="hold">
                      <p:stCondLst>
                        <p:cond delay="indefinite"/>
                      </p:stCondLst>
                      <p:childTnLst>
                        <p:par>
                          <p:cTn id="45"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right)">
                                      <p:cBhvr>
                                        <p:cTn id="39" dur="1100"/>
                                        <p:tgtEl>
                                          <p:spTgt spid="10"/>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700" fill="hold"/>
                                        <p:tgtEl>
                                          <p:spTgt spid="11"/>
                                        </p:tgtEl>
                                        <p:attrNameLst>
                                          <p:attrName>ppt_w</p:attrName>
                                        </p:attrNameLst>
                                      </p:cBhvr>
                                      <p:tavLst>
                                        <p:tav tm="0">
                                          <p:val>
                                            <p:fltVal val="0"/>
                                          </p:val>
                                        </p:tav>
                                        <p:tav tm="100000">
                                          <p:val>
                                            <p:strVal val="#ppt_w"/>
                                          </p:val>
                                        </p:tav>
                                      </p:tavLst>
                                    </p:anim>
                                    <p:anim calcmode="lin" valueType="num">
                                      <p:cBhvr additive="base">
                                        <p:cTn id="43" dur="700" fill="hold"/>
                                        <p:tgtEl>
                                          <p:spTgt spid="11"/>
                                        </p:tgtEl>
                                        <p:attrNameLst>
                                          <p:attrName>ppt_h</p:attrName>
                                        </p:attrNameLst>
                                      </p:cBhvr>
                                      <p:tavLst>
                                        <p:tav tm="0">
                                          <p:val>
                                            <p:fltVal val="0"/>
                                          </p:val>
                                        </p:tav>
                                        <p:tav tm="100000">
                                          <p:val>
                                            <p:strVal val="#ppt_h"/>
                                          </p:val>
                                        </p:tav>
                                      </p:tavLst>
                                    </p:anim>
                                    <p:animEffect transition="in" filter="fade">
                                      <p:cBhvr>
                                        <p:cTn id="44" dur="700"/>
                                        <p:tgtEl>
                                          <p:spTgt spid="11"/>
                                        </p:tgtEl>
                                      </p:cBhvr>
                                    </p:animEffect>
                                  </p:childTnLst>
                                </p:cTn>
                              </p:par>
                            </p:childTnLst>
                          </p:cTn>
                        </p:par>
                      </p:childTnLst>
                    </p:cTn>
                  </p:par>
                  <p:par>
                    <p:cTn id="62" fill="hold">
                      <p:stCondLst>
                        <p:cond delay="indefinite"/>
                      </p:stCondLst>
                      <p:childTnLst>
                        <p:par>
                          <p:cTn id="60"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right)">
                                      <p:cBhvr>
                                        <p:cTn id="49" dur="1100"/>
                                        <p:tgtEl>
                                          <p:spTgt spid="12"/>
                                        </p:tgtEl>
                                      </p:cBhvr>
                                    </p:animEffect>
                                  </p:childTnLst>
                                </p:cTn>
                              </p:par>
                            </p:childTnLst>
                          </p:cTn>
                        </p:par>
                        <p:par>
                          <p:cTn id="61" fill="hold">
                            <p:stCondLst>
                              <p:cond delay="1100"/>
                            </p:stCondLst>
                            <p:childTnLst>
                              <p:par>
                                <p:cTn id="50" presetID="53" presetClass="entr" presetSubtype="16"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400" fill="hold"/>
                                        <p:tgtEl>
                                          <p:spTgt spid="13"/>
                                        </p:tgtEl>
                                        <p:attrNameLst>
                                          <p:attrName>ppt_w</p:attrName>
                                        </p:attrNameLst>
                                      </p:cBhvr>
                                      <p:tavLst>
                                        <p:tav tm="0">
                                          <p:val>
                                            <p:fltVal val="0"/>
                                          </p:val>
                                        </p:tav>
                                        <p:tav tm="100000">
                                          <p:val>
                                            <p:strVal val="#ppt_w"/>
                                          </p:val>
                                        </p:tav>
                                      </p:tavLst>
                                    </p:anim>
                                    <p:anim calcmode="lin" valueType="num">
                                      <p:cBhvr additive="base">
                                        <p:cTn id="53" dur="400" fill="hold"/>
                                        <p:tgtEl>
                                          <p:spTgt spid="13"/>
                                        </p:tgtEl>
                                        <p:attrNameLst>
                                          <p:attrName>ppt_h</p:attrName>
                                        </p:attrNameLst>
                                      </p:cBhvr>
                                      <p:tavLst>
                                        <p:tav tm="0">
                                          <p:val>
                                            <p:fltVal val="0"/>
                                          </p:val>
                                        </p:tav>
                                        <p:tav tm="100000">
                                          <p:val>
                                            <p:strVal val="#ppt_h"/>
                                          </p:val>
                                        </p:tav>
                                      </p:tavLst>
                                    </p:anim>
                                    <p:animEffect transition="in" filter="fade">
                                      <p:cBhvr>
                                        <p:cTn id="54" dur="400"/>
                                        <p:tgtEl>
                                          <p:spTgt spid="13"/>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600" fill="hold"/>
                                        <p:tgtEl>
                                          <p:spTgt spid="14"/>
                                        </p:tgtEl>
                                        <p:attrNameLst>
                                          <p:attrName>ppt_w</p:attrName>
                                        </p:attrNameLst>
                                      </p:cBhvr>
                                      <p:tavLst>
                                        <p:tav tm="0">
                                          <p:val>
                                            <p:fltVal val="0"/>
                                          </p:val>
                                        </p:tav>
                                        <p:tav tm="100000">
                                          <p:val>
                                            <p:strVal val="#ppt_w"/>
                                          </p:val>
                                        </p:tav>
                                      </p:tavLst>
                                    </p:anim>
                                    <p:anim calcmode="lin" valueType="num">
                                      <p:cBhvr additive="base">
                                        <p:cTn id="58" dur="600" fill="hold"/>
                                        <p:tgtEl>
                                          <p:spTgt spid="14"/>
                                        </p:tgtEl>
                                        <p:attrNameLst>
                                          <p:attrName>ppt_h</p:attrName>
                                        </p:attrNameLst>
                                      </p:cBhvr>
                                      <p:tavLst>
                                        <p:tav tm="0">
                                          <p:val>
                                            <p:fltVal val="0"/>
                                          </p:val>
                                        </p:tav>
                                        <p:tav tm="100000">
                                          <p:val>
                                            <p:strVal val="#ppt_h"/>
                                          </p:val>
                                        </p:tav>
                                      </p:tavLst>
                                    </p:anim>
                                    <p:animEffect transition="in" filter="fade">
                                      <p:cBhvr>
                                        <p:cTn id="59"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2" name=""/>
        <p:cNvGrpSpPr/>
        <p:nvPr/>
      </p:nvGrpSpPr>
      <p:grpSpPr>
        <a:xfrm>
          <a:off x="0" y="0"/>
          <a:ext cx="0" cy="0"/>
          <a:chOff x="0" y="0"/>
          <a:chExt cx="0" cy="0"/>
        </a:xfrm>
      </p:grpSpPr>
      <p:sp>
        <p:nvSpPr>
          <p:cNvPr id="3" name="anim_14_164"/>
          <p:cNvSpPr/>
          <p:nvPr/>
        </p:nvSpPr>
        <p:spPr>
          <a:xfrm>
            <a:off x="7452360" y="502920"/>
            <a:ext cx="4297680" cy="868680"/>
          </a:xfrm>
          <a:prstGeom prst="roundRect">
            <a:avLst>
              <a:gd name="adj" fmla="val 49474"/>
            </a:avLst>
          </a:prstGeom>
          <a:solidFill>
            <a:srgbClr val="E8335F"/>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تمرين (2)</a:t>
            </a:r>
            <a:endParaRPr lang="ar-KW" sz="3600" dirty="0"/>
          </a:p>
        </p:txBody>
      </p:sp>
      <p:pic>
        <p:nvPicPr>
          <p:cNvPr id="4" name="anim_14_165" descr="sp_cor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4_166"/>
          <p:cNvSpPr txBox="1"/>
          <p:nvPr/>
        </p:nvSpPr>
        <p:spPr>
          <a:xfrm>
            <a:off x="6400800" y="1600200"/>
            <a:ext cx="5349240" cy="5486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800" b="1" dirty="0">
                <a:solidFill>
                  <a:srgbClr val="1F6FB2"/>
                </a:solidFill>
                <a:latin typeface="Arial" pitchFamily="34" charset="0"/>
                <a:ea typeface="Arial" pitchFamily="34" charset="-122"/>
                <a:cs typeface="Arial" pitchFamily="34" charset="-120"/>
              </a:rPr>
              <a:t>أكمل الجدول التالي:</a:t>
            </a:r>
            <a:endParaRPr lang="ar-KW" sz="2800" dirty="0"/>
          </a:p>
        </p:txBody>
      </p:sp>
      <p:sp>
        <p:nvSpPr>
          <p:cNvPr id="6" name="anim_14_167"/>
          <p:cNvSpPr/>
          <p:nvPr/>
        </p:nvSpPr>
        <p:spPr>
          <a:xfrm>
            <a:off x="704088" y="2258568"/>
            <a:ext cx="10799064" cy="4123944"/>
          </a:xfrm>
          <a:prstGeom prst="roundRect">
            <a:avLst>
              <a:gd name="adj" fmla="val 7761"/>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7" name="anim_14_168"/>
          <p:cNvGraphicFramePr>
            <a:graphicFrameLocks noGrp="1"/>
          </p:cNvGraphicFramePr>
          <p:nvPr>
            <p:extLst>
              <p:ext uri="{D42A27DB-BD31-4B8C-83A1-F6EECF244321}">
                <p14:modId xmlns:p14="http://schemas.microsoft.com/office/powerpoint/2010/main" val="1579011935"/>
              </p:ext>
            </p:extLst>
          </p:nvPr>
        </p:nvGraphicFramePr>
        <p:xfrm>
          <a:off x="960120" y="2514600"/>
          <a:ext cx="10287000" cy="914400"/>
        </p:xfrm>
        <a:graphic>
          <a:graphicData uri="http://schemas.openxmlformats.org/drawingml/2006/table">
            <a:tbl>
              <a:tblPr/>
              <a:tblGrid>
                <a:gridCol w="1783080"/>
                <a:gridCol w="1783080"/>
                <a:gridCol w="1783080"/>
                <a:gridCol w="1783080"/>
                <a:gridCol w="3154680"/>
              </a:tblGrid>
              <a:tr h="868680">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19</a:t>
                      </a:r>
                      <a:r>
                        <a:rPr lang="en-US" sz="2800" b="1" dirty="0">
                          <a:solidFill>
                            <a:srgbClr val="16325C"/>
                          </a:solidFill>
                          <a:latin typeface="Arial" pitchFamily="34" charset="0"/>
                          <a:ea typeface="Arial" pitchFamily="34" charset="-122"/>
                          <a:cs typeface="Arial" pitchFamily="34" charset="-120"/>
                        </a:rPr>
                        <a:t>K</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7</a:t>
                      </a:r>
                      <a:r>
                        <a:rPr lang="en-US" sz="2800" b="1" dirty="0">
                          <a:solidFill>
                            <a:srgbClr val="16325C"/>
                          </a:solidFill>
                          <a:latin typeface="Arial" pitchFamily="34" charset="0"/>
                          <a:ea typeface="Arial" pitchFamily="34" charset="-122"/>
                          <a:cs typeface="Arial" pitchFamily="34" charset="-120"/>
                        </a:rPr>
                        <a:t>N</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6</a:t>
                      </a:r>
                      <a:r>
                        <a:rPr lang="en-US" sz="2800" b="1" dirty="0">
                          <a:solidFill>
                            <a:srgbClr val="16325C"/>
                          </a:solidFill>
                          <a:latin typeface="Arial" pitchFamily="34" charset="0"/>
                          <a:ea typeface="Arial" pitchFamily="34" charset="-122"/>
                          <a:cs typeface="Arial" pitchFamily="34" charset="-120"/>
                        </a:rPr>
                        <a:t>C</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1</a:t>
                      </a:r>
                      <a:r>
                        <a:rPr lang="en-US" sz="2800" b="1" dirty="0">
                          <a:solidFill>
                            <a:srgbClr val="16325C"/>
                          </a:solidFill>
                          <a:latin typeface="Arial" pitchFamily="34" charset="0"/>
                          <a:ea typeface="Arial" pitchFamily="34" charset="-122"/>
                          <a:cs typeface="Arial" pitchFamily="34" charset="-120"/>
                        </a:rPr>
                        <a:t>H</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الذرة</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105156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dirty="0">
                          <a:solidFill>
                            <a:srgbClr val="16325C"/>
                          </a:solidFill>
                          <a:latin typeface="Arial" pitchFamily="34" charset="0"/>
                          <a:ea typeface="Arial" pitchFamily="34" charset="-122"/>
                          <a:cs typeface="Arial" pitchFamily="34" charset="-120"/>
                        </a:rPr>
                        <a:t>2 , 4</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الترتيب الإلكتروني حسب المستويات الرئيسية</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169164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ctr" indent="0" marL="0">
                        <a:buNone/>
                      </a:pPr>
                      <a:r>
                        <a:rPr lang="en-US" sz="2200" b="1" dirty="0">
                          <a:solidFill>
                            <a:srgbClr val="16325C"/>
                          </a:solidFill>
                          <a:latin typeface="Arial" pitchFamily="34" charset="0"/>
                          <a:ea typeface="Arial" pitchFamily="34" charset="-122"/>
                          <a:cs typeface="Arial" pitchFamily="34" charset="-120"/>
                        </a:rPr>
                        <a:t>الترتيب النقطي</a:t>
                      </a:r>
                      <a:endParaRPr lang="en-US" sz="22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bl>
          </a:graphicData>
        </a:graphic>
      </p:graphicFrame>
      <p:pic>
        <p:nvPicPr>
          <p:cNvPr id="8" name="anim_14_169" descr="lewis_C.png">    </p:cNvPr>
          <p:cNvPicPr>
            <a:picLocks noChangeAspect="1"/>
          </p:cNvPicPr>
          <p:nvPr/>
        </p:nvPicPr>
        <p:blipFill>
          <a:blip r:embed="rId2"/>
          <a:stretch>
            <a:fillRect/>
          </a:stretch>
        </p:blipFill>
        <p:spPr>
          <a:xfrm>
            <a:off x="4784672" y="4587088"/>
            <a:ext cx="1266295" cy="1387145"/>
          </a:xfrm>
          <a:prstGeom prst="rect">
            <a:avLst/>
          </a:prstGeom>
        </p:spPr>
      </p:pic>
      <p:pic>
        <p:nvPicPr>
          <p:cNvPr id="9" name="anim_14_170" descr="lewis_H.png">    </p:cNvPr>
          <p:cNvPicPr>
            <a:picLocks noChangeAspect="1"/>
          </p:cNvPicPr>
          <p:nvPr/>
        </p:nvPicPr>
        <p:blipFill>
          <a:blip r:embed="rId3"/>
          <a:stretch>
            <a:fillRect/>
          </a:stretch>
        </p:blipFill>
        <p:spPr>
          <a:xfrm>
            <a:off x="6776228" y="4815459"/>
            <a:ext cx="849344" cy="930402"/>
          </a:xfrm>
          <a:prstGeom prst="rect">
            <a:avLst/>
          </a:prstGeom>
        </p:spPr>
      </p:pic>
      <p:sp>
        <p:nvSpPr>
          <p:cNvPr id="10" name="anim_14_171"/>
          <p:cNvSpPr txBox="1"/>
          <p:nvPr/>
        </p:nvSpPr>
        <p:spPr>
          <a:xfrm>
            <a:off x="6309360" y="3383280"/>
            <a:ext cx="1783080" cy="105156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800" b="1" dirty="0">
                <a:solidFill>
                  <a:srgbClr val="0B8A5A"/>
                </a:solidFill>
                <a:latin typeface="Arial" pitchFamily="34" charset="0"/>
                <a:ea typeface="Arial" pitchFamily="34" charset="-122"/>
                <a:cs typeface="Arial" pitchFamily="34" charset="-120"/>
              </a:rPr>
              <a:t>1</a:t>
            </a:r>
            <a:endParaRPr lang="en-US" sz="2800" dirty="0"/>
          </a:p>
        </p:txBody>
      </p:sp>
      <p:sp>
        <p:nvSpPr>
          <p:cNvPr id="11" name="anim_14_172"/>
          <p:cNvSpPr txBox="1"/>
          <p:nvPr/>
        </p:nvSpPr>
        <p:spPr>
          <a:xfrm>
            <a:off x="2743200" y="3383280"/>
            <a:ext cx="1783080" cy="105156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800" b="1" dirty="0">
                <a:solidFill>
                  <a:srgbClr val="0B8A5A"/>
                </a:solidFill>
                <a:latin typeface="Arial" pitchFamily="34" charset="0"/>
                <a:ea typeface="Arial" pitchFamily="34" charset="-122"/>
                <a:cs typeface="Arial" pitchFamily="34" charset="-120"/>
              </a:rPr>
              <a:t>2 , 5</a:t>
            </a:r>
            <a:endParaRPr lang="en-US" sz="2800" dirty="0"/>
          </a:p>
        </p:txBody>
      </p:sp>
      <p:sp>
        <p:nvSpPr>
          <p:cNvPr id="12" name="anim_14_173"/>
          <p:cNvSpPr txBox="1"/>
          <p:nvPr/>
        </p:nvSpPr>
        <p:spPr>
          <a:xfrm>
            <a:off x="960120" y="3383280"/>
            <a:ext cx="1783080" cy="105156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600" b="1" dirty="0">
                <a:solidFill>
                  <a:srgbClr val="0B8A5A"/>
                </a:solidFill>
                <a:latin typeface="Arial" pitchFamily="34" charset="0"/>
                <a:ea typeface="Arial" pitchFamily="34" charset="-122"/>
                <a:cs typeface="Arial" pitchFamily="34" charset="-120"/>
              </a:rPr>
              <a:t>2 , 8 , 8 , 1</a:t>
            </a:r>
            <a:endParaRPr lang="en-US" sz="2600" dirty="0"/>
          </a:p>
        </p:txBody>
      </p:sp>
      <p:pic>
        <p:nvPicPr>
          <p:cNvPr id="13" name="anim_14_174" descr="lewisA_N.png">    </p:cNvPr>
          <p:cNvPicPr>
            <a:picLocks noChangeAspect="1"/>
          </p:cNvPicPr>
          <p:nvPr/>
        </p:nvPicPr>
        <p:blipFill>
          <a:blip r:embed="rId4"/>
          <a:stretch>
            <a:fillRect/>
          </a:stretch>
        </p:blipFill>
        <p:spPr>
          <a:xfrm>
            <a:off x="3001592" y="4587088"/>
            <a:ext cx="1266295" cy="1387145"/>
          </a:xfrm>
          <a:prstGeom prst="rect">
            <a:avLst/>
          </a:prstGeom>
        </p:spPr>
      </p:pic>
      <p:pic>
        <p:nvPicPr>
          <p:cNvPr id="14" name="anim_14_175" descr="lewisA_K.png">    </p:cNvPr>
          <p:cNvPicPr>
            <a:picLocks noChangeAspect="1"/>
          </p:cNvPicPr>
          <p:nvPr/>
        </p:nvPicPr>
        <p:blipFill>
          <a:blip r:embed="rId5"/>
          <a:stretch>
            <a:fillRect/>
          </a:stretch>
        </p:blipFill>
        <p:spPr>
          <a:xfrm>
            <a:off x="1388381" y="4773168"/>
            <a:ext cx="926557" cy="1014984"/>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2"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3"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600"/>
                                        <p:tgtEl>
                                          <p:spTgt spid="5"/>
                                        </p:tgtEl>
                                      </p:cBhvr>
                                    </p:animEffect>
                                  </p:childTnLst>
                                </p:cTn>
                              </p:par>
                            </p:childTnLst>
                          </p:cTn>
                        </p:par>
                        <p:par>
                          <p:cTn id="34" fill="hold">
                            <p:stCondLst>
                              <p:cond delay="1400"/>
                            </p:stCondLst>
                            <p:childTnLst>
                              <p:par>
                                <p:cTn id="14" presetID="53"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ppt_w</p:attrName>
                                        </p:attrNameLst>
                                      </p:cBhvr>
                                      <p:tavLst>
                                        <p:tav tm="0">
                                          <p:val>
                                            <p:fltVal val="0"/>
                                          </p:val>
                                        </p:tav>
                                        <p:tav tm="100000">
                                          <p:val>
                                            <p:strVal val="#ppt_w"/>
                                          </p:val>
                                        </p:tav>
                                      </p:tavLst>
                                    </p:anim>
                                    <p:anim calcmode="lin" valueType="num">
                                      <p:cBhvr additive="base">
                                        <p:cTn id="17" dur="600" fill="hold"/>
                                        <p:tgtEl>
                                          <p:spTgt spid="6"/>
                                        </p:tgtEl>
                                        <p:attrNameLst>
                                          <p:attrName>ppt_h</p:attrName>
                                        </p:attrNameLst>
                                      </p:cBhvr>
                                      <p:tavLst>
                                        <p:tav tm="0">
                                          <p:val>
                                            <p:fltVal val="0"/>
                                          </p:val>
                                        </p:tav>
                                        <p:tav tm="100000">
                                          <p:val>
                                            <p:strVal val="#ppt_h"/>
                                          </p:val>
                                        </p:tav>
                                      </p:tavLst>
                                    </p:anim>
                                    <p:animEffect transition="in" filter="fade">
                                      <p:cBhvr>
                                        <p:cTn id="18" dur="600"/>
                                        <p:tgtEl>
                                          <p:spTgt spid="6"/>
                                        </p:tgtEl>
                                      </p:cBhvr>
                                    </p:animEffect>
                                  </p:childTnLst>
                                </p:cTn>
                              </p:par>
                            </p:childTnLst>
                          </p:cTn>
                        </p:par>
                        <p:par>
                          <p:cTn id="35"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70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450" fill="hold"/>
                                        <p:tgtEl>
                                          <p:spTgt spid="8"/>
                                        </p:tgtEl>
                                        <p:attrNameLst>
                                          <p:attrName>ppt_w</p:attrName>
                                        </p:attrNameLst>
                                      </p:cBhvr>
                                      <p:tavLst>
                                        <p:tav tm="0">
                                          <p:val>
                                            <p:fltVal val="0"/>
                                          </p:val>
                                        </p:tav>
                                        <p:tav tm="100000">
                                          <p:val>
                                            <p:strVal val="#ppt_w"/>
                                          </p:val>
                                        </p:tav>
                                      </p:tavLst>
                                    </p:anim>
                                    <p:anim calcmode="lin" valueType="num">
                                      <p:cBhvr additive="base">
                                        <p:cTn id="25" dur="450" fill="hold"/>
                                        <p:tgtEl>
                                          <p:spTgt spid="8"/>
                                        </p:tgtEl>
                                        <p:attrNameLst>
                                          <p:attrName>ppt_h</p:attrName>
                                        </p:attrNameLst>
                                      </p:cBhvr>
                                      <p:tavLst>
                                        <p:tav tm="0">
                                          <p:val>
                                            <p:fltVal val="0"/>
                                          </p:val>
                                        </p:tav>
                                        <p:tav tm="100000">
                                          <p:val>
                                            <p:strVal val="#ppt_h"/>
                                          </p:val>
                                        </p:tav>
                                      </p:tavLst>
                                    </p:anim>
                                    <p:animEffect transition="in" filter="fade">
                                      <p:cBhvr>
                                        <p:cTn id="26" dur="450"/>
                                        <p:tgtEl>
                                          <p:spTgt spid="8"/>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450" fill="hold"/>
                                        <p:tgtEl>
                                          <p:spTgt spid="9"/>
                                        </p:tgtEl>
                                        <p:attrNameLst>
                                          <p:attrName>ppt_w</p:attrName>
                                        </p:attrNameLst>
                                      </p:cBhvr>
                                      <p:tavLst>
                                        <p:tav tm="0">
                                          <p:val>
                                            <p:fltVal val="0"/>
                                          </p:val>
                                        </p:tav>
                                        <p:tav tm="100000">
                                          <p:val>
                                            <p:strVal val="#ppt_w"/>
                                          </p:val>
                                        </p:tav>
                                      </p:tavLst>
                                    </p:anim>
                                    <p:anim calcmode="lin" valueType="num">
                                      <p:cBhvr additive="base">
                                        <p:cTn id="30" dur="450" fill="hold"/>
                                        <p:tgtEl>
                                          <p:spTgt spid="9"/>
                                        </p:tgtEl>
                                        <p:attrNameLst>
                                          <p:attrName>ppt_h</p:attrName>
                                        </p:attrNameLst>
                                      </p:cBhvr>
                                      <p:tavLst>
                                        <p:tav tm="0">
                                          <p:val>
                                            <p:fltVal val="0"/>
                                          </p:val>
                                        </p:tav>
                                        <p:tav tm="100000">
                                          <p:val>
                                            <p:strVal val="#ppt_h"/>
                                          </p:val>
                                        </p:tav>
                                      </p:tavLst>
                                    </p:anim>
                                    <p:animEffect transition="in" filter="fade">
                                      <p:cBhvr>
                                        <p:cTn id="31" dur="450"/>
                                        <p:tgtEl>
                                          <p:spTgt spid="9"/>
                                        </p:tgtEl>
                                      </p:cBhvr>
                                    </p:animEffect>
                                  </p:childTnLst>
                                </p:cTn>
                              </p:par>
                            </p:childTnLst>
                          </p:cTn>
                        </p:par>
                      </p:childTnLst>
                    </p:cTn>
                  </p:par>
                  <p:par>
                    <p:cTn id="53" fill="hold">
                      <p:stCondLst>
                        <p:cond delay="indefinite"/>
                      </p:stCondLst>
                      <p:childTnLst>
                        <p:par>
                          <p:cTn id="52"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450" fill="hold"/>
                                        <p:tgtEl>
                                          <p:spTgt spid="10"/>
                                        </p:tgtEl>
                                        <p:attrNameLst>
                                          <p:attrName>ppt_w</p:attrName>
                                        </p:attrNameLst>
                                      </p:cBhvr>
                                      <p:tavLst>
                                        <p:tav tm="0">
                                          <p:val>
                                            <p:fltVal val="0"/>
                                          </p:val>
                                        </p:tav>
                                        <p:tav tm="100000">
                                          <p:val>
                                            <p:strVal val="#ppt_w"/>
                                          </p:val>
                                        </p:tav>
                                      </p:tavLst>
                                    </p:anim>
                                    <p:anim calcmode="lin" valueType="num">
                                      <p:cBhvr additive="base">
                                        <p:cTn id="40" dur="450" fill="hold"/>
                                        <p:tgtEl>
                                          <p:spTgt spid="10"/>
                                        </p:tgtEl>
                                        <p:attrNameLst>
                                          <p:attrName>ppt_h</p:attrName>
                                        </p:attrNameLst>
                                      </p:cBhvr>
                                      <p:tavLst>
                                        <p:tav tm="0">
                                          <p:val>
                                            <p:fltVal val="0"/>
                                          </p:val>
                                        </p:tav>
                                        <p:tav tm="100000">
                                          <p:val>
                                            <p:strVal val="#ppt_h"/>
                                          </p:val>
                                        </p:tav>
                                      </p:tavLst>
                                    </p:anim>
                                    <p:animEffect transition="in" filter="fade">
                                      <p:cBhvr>
                                        <p:cTn id="41" dur="450"/>
                                        <p:tgtEl>
                                          <p:spTgt spid="10"/>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450" fill="hold"/>
                                        <p:tgtEl>
                                          <p:spTgt spid="11"/>
                                        </p:tgtEl>
                                        <p:attrNameLst>
                                          <p:attrName>ppt_w</p:attrName>
                                        </p:attrNameLst>
                                      </p:cBhvr>
                                      <p:tavLst>
                                        <p:tav tm="0">
                                          <p:val>
                                            <p:fltVal val="0"/>
                                          </p:val>
                                        </p:tav>
                                        <p:tav tm="100000">
                                          <p:val>
                                            <p:strVal val="#ppt_w"/>
                                          </p:val>
                                        </p:tav>
                                      </p:tavLst>
                                    </p:anim>
                                    <p:anim calcmode="lin" valueType="num">
                                      <p:cBhvr additive="base">
                                        <p:cTn id="45" dur="450" fill="hold"/>
                                        <p:tgtEl>
                                          <p:spTgt spid="11"/>
                                        </p:tgtEl>
                                        <p:attrNameLst>
                                          <p:attrName>ppt_h</p:attrName>
                                        </p:attrNameLst>
                                      </p:cBhvr>
                                      <p:tavLst>
                                        <p:tav tm="0">
                                          <p:val>
                                            <p:fltVal val="0"/>
                                          </p:val>
                                        </p:tav>
                                        <p:tav tm="100000">
                                          <p:val>
                                            <p:strVal val="#ppt_h"/>
                                          </p:val>
                                        </p:tav>
                                      </p:tavLst>
                                    </p:anim>
                                    <p:animEffect transition="in" filter="fade">
                                      <p:cBhvr>
                                        <p:cTn id="46" dur="450"/>
                                        <p:tgtEl>
                                          <p:spTgt spid="11"/>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450" fill="hold"/>
                                        <p:tgtEl>
                                          <p:spTgt spid="12"/>
                                        </p:tgtEl>
                                        <p:attrNameLst>
                                          <p:attrName>ppt_w</p:attrName>
                                        </p:attrNameLst>
                                      </p:cBhvr>
                                      <p:tavLst>
                                        <p:tav tm="0">
                                          <p:val>
                                            <p:fltVal val="0"/>
                                          </p:val>
                                        </p:tav>
                                        <p:tav tm="100000">
                                          <p:val>
                                            <p:strVal val="#ppt_w"/>
                                          </p:val>
                                        </p:tav>
                                      </p:tavLst>
                                    </p:anim>
                                    <p:anim calcmode="lin" valueType="num">
                                      <p:cBhvr additive="base">
                                        <p:cTn id="50" dur="450" fill="hold"/>
                                        <p:tgtEl>
                                          <p:spTgt spid="12"/>
                                        </p:tgtEl>
                                        <p:attrNameLst>
                                          <p:attrName>ppt_h</p:attrName>
                                        </p:attrNameLst>
                                      </p:cBhvr>
                                      <p:tavLst>
                                        <p:tav tm="0">
                                          <p:val>
                                            <p:fltVal val="0"/>
                                          </p:val>
                                        </p:tav>
                                        <p:tav tm="100000">
                                          <p:val>
                                            <p:strVal val="#ppt_h"/>
                                          </p:val>
                                        </p:tav>
                                      </p:tavLst>
                                    </p:anim>
                                    <p:animEffect transition="in" filter="fade">
                                      <p:cBhvr>
                                        <p:cTn id="51" dur="450"/>
                                        <p:tgtEl>
                                          <p:spTgt spid="12"/>
                                        </p:tgtEl>
                                      </p:cBhvr>
                                    </p:animEffect>
                                  </p:childTnLst>
                                </p:cTn>
                              </p:par>
                            </p:childTnLst>
                          </p:cTn>
                        </p:par>
                      </p:childTnLst>
                    </p:cTn>
                  </p:par>
                  <p:par>
                    <p:cTn id="65" fill="hold">
                      <p:stCondLst>
                        <p:cond delay="indefinite"/>
                      </p:stCondLst>
                      <p:childTnLst>
                        <p:par>
                          <p:cTn id="64"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450" fill="hold"/>
                                        <p:tgtEl>
                                          <p:spTgt spid="13"/>
                                        </p:tgtEl>
                                        <p:attrNameLst>
                                          <p:attrName>ppt_w</p:attrName>
                                        </p:attrNameLst>
                                      </p:cBhvr>
                                      <p:tavLst>
                                        <p:tav tm="0">
                                          <p:val>
                                            <p:fltVal val="0"/>
                                          </p:val>
                                        </p:tav>
                                        <p:tav tm="100000">
                                          <p:val>
                                            <p:strVal val="#ppt_w"/>
                                          </p:val>
                                        </p:tav>
                                      </p:tavLst>
                                    </p:anim>
                                    <p:anim calcmode="lin" valueType="num">
                                      <p:cBhvr additive="base">
                                        <p:cTn id="57" dur="450" fill="hold"/>
                                        <p:tgtEl>
                                          <p:spTgt spid="13"/>
                                        </p:tgtEl>
                                        <p:attrNameLst>
                                          <p:attrName>ppt_h</p:attrName>
                                        </p:attrNameLst>
                                      </p:cBhvr>
                                      <p:tavLst>
                                        <p:tav tm="0">
                                          <p:val>
                                            <p:fltVal val="0"/>
                                          </p:val>
                                        </p:tav>
                                        <p:tav tm="100000">
                                          <p:val>
                                            <p:strVal val="#ppt_h"/>
                                          </p:val>
                                        </p:tav>
                                      </p:tavLst>
                                    </p:anim>
                                    <p:animEffect transition="in" filter="fade">
                                      <p:cBhvr>
                                        <p:cTn id="58" dur="450"/>
                                        <p:tgtEl>
                                          <p:spTgt spid="13"/>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450" fill="hold"/>
                                        <p:tgtEl>
                                          <p:spTgt spid="14"/>
                                        </p:tgtEl>
                                        <p:attrNameLst>
                                          <p:attrName>ppt_w</p:attrName>
                                        </p:attrNameLst>
                                      </p:cBhvr>
                                      <p:tavLst>
                                        <p:tav tm="0">
                                          <p:val>
                                            <p:fltVal val="0"/>
                                          </p:val>
                                        </p:tav>
                                        <p:tav tm="100000">
                                          <p:val>
                                            <p:strVal val="#ppt_w"/>
                                          </p:val>
                                        </p:tav>
                                      </p:tavLst>
                                    </p:anim>
                                    <p:anim calcmode="lin" valueType="num">
                                      <p:cBhvr additive="base">
                                        <p:cTn id="62" dur="450" fill="hold"/>
                                        <p:tgtEl>
                                          <p:spTgt spid="14"/>
                                        </p:tgtEl>
                                        <p:attrNameLst>
                                          <p:attrName>ppt_h</p:attrName>
                                        </p:attrNameLst>
                                      </p:cBhvr>
                                      <p:tavLst>
                                        <p:tav tm="0">
                                          <p:val>
                                            <p:fltVal val="0"/>
                                          </p:val>
                                        </p:tav>
                                        <p:tav tm="100000">
                                          <p:val>
                                            <p:strVal val="#ppt_h"/>
                                          </p:val>
                                        </p:tav>
                                      </p:tavLst>
                                    </p:anim>
                                    <p:animEffect transition="in" filter="fade">
                                      <p:cBhvr>
                                        <p:cTn id="6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Graphic spid="7" grpId="0">
        <p:bldAsOne/>
      </p:bldGraphic>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 name=""/>
        <p:cNvGrpSpPr/>
        <p:nvPr/>
      </p:nvGrpSpPr>
      <p:grpSpPr>
        <a:xfrm>
          <a:off x="0" y="0"/>
          <a:ext cx="0" cy="0"/>
          <a:chOff x="0" y="0"/>
          <a:chExt cx="0" cy="0"/>
        </a:xfrm>
      </p:grpSpPr>
      <p:sp>
        <p:nvSpPr>
          <p:cNvPr id="3" name="anim_15_176"/>
          <p:cNvSpPr/>
          <p:nvPr/>
        </p:nvSpPr>
        <p:spPr>
          <a:xfrm>
            <a:off x="6080760" y="502920"/>
            <a:ext cx="5669280" cy="868680"/>
          </a:xfrm>
          <a:prstGeom prst="roundRect">
            <a:avLst>
              <a:gd name="adj" fmla="val 49474"/>
            </a:avLst>
          </a:prstGeom>
          <a:solidFill>
            <a:srgbClr val="E59A0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قاعدة الثمانية</a:t>
            </a:r>
            <a:endParaRPr lang="ar-KW" sz="3600" dirty="0"/>
          </a:p>
        </p:txBody>
      </p:sp>
      <p:pic>
        <p:nvPicPr>
          <p:cNvPr id="4" name="anim_15_177" descr="sp_gold.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5_178"/>
          <p:cNvSpPr txBox="1"/>
          <p:nvPr/>
        </p:nvSpPr>
        <p:spPr>
          <a:xfrm>
            <a:off x="457200" y="1691640"/>
            <a:ext cx="11292840" cy="155448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700" b="1" dirty="0">
                <a:solidFill>
                  <a:srgbClr val="16325C"/>
                </a:solidFill>
                <a:latin typeface="Arial" pitchFamily="34" charset="0"/>
                <a:ea typeface="Arial" pitchFamily="34" charset="-122"/>
                <a:cs typeface="Arial" pitchFamily="34" charset="-120"/>
              </a:rPr>
              <a:t>كما تعلمت في دراستك للجدول الدوري، أنّ </a:t>
            </a:r>
            <a:r>
              <a:rPr lang="ar-KW" altLang="en-US" sz="2700" b="1" dirty="0">
                <a:solidFill>
                  <a:srgbClr val="E8335F"/>
                </a:solidFill>
                <a:latin typeface="Arial" pitchFamily="34" charset="0"/>
                <a:ea typeface="Arial" pitchFamily="34" charset="-122"/>
                <a:cs typeface="Arial" pitchFamily="34" charset="-120"/>
              </a:rPr>
              <a:t>الغازات النبيلة مستقرة</a:t>
            </a:r>
            <a:r>
              <a:rPr lang="ar-KW" altLang="en-US" sz="2700" b="1" dirty="0">
                <a:solidFill>
                  <a:srgbClr val="16325C"/>
                </a:solidFill>
                <a:latin typeface="Arial" pitchFamily="34" charset="0"/>
                <a:ea typeface="Arial" pitchFamily="34" charset="-122"/>
                <a:cs typeface="Arial" pitchFamily="34" charset="-120"/>
              </a:rPr>
              <a:t> وينتهي ترتيبها الإلكتروني حسب مستويات الطاقة الرئيسية </a:t>
            </a:r>
            <a:r>
              <a:rPr lang="ar-KW" altLang="en-US" sz="2700" b="1" dirty="0">
                <a:solidFill>
                  <a:srgbClr val="E59A00"/>
                </a:solidFill>
                <a:latin typeface="Arial" pitchFamily="34" charset="0"/>
                <a:ea typeface="Arial" pitchFamily="34" charset="-122"/>
                <a:cs typeface="Arial" pitchFamily="34" charset="-120"/>
              </a:rPr>
              <a:t>بثمانية إلكترونات</a:t>
            </a:r>
            <a:r>
              <a:rPr lang="ar-KW" altLang="en-US" sz="2700" b="1" dirty="0">
                <a:solidFill>
                  <a:srgbClr val="16325C"/>
                </a:solidFill>
                <a:latin typeface="Arial" pitchFamily="34" charset="0"/>
                <a:ea typeface="Arial" pitchFamily="34" charset="-122"/>
                <a:cs typeface="Arial" pitchFamily="34" charset="-120"/>
              </a:rPr>
              <a:t> ، ماعدا </a:t>
            </a:r>
            <a:r>
              <a:rPr lang="ar-KW" altLang="en-US" sz="2700" b="1" dirty="0">
                <a:solidFill>
                  <a:srgbClr val="0F9D8E"/>
                </a:solidFill>
                <a:latin typeface="Arial" pitchFamily="34" charset="0"/>
                <a:ea typeface="Arial" pitchFamily="34" charset="-122"/>
                <a:cs typeface="Arial" pitchFamily="34" charset="-120"/>
              </a:rPr>
              <a:t>الهيليوم</a:t>
            </a:r>
            <a:r>
              <a:rPr lang="ar-KW" altLang="en-US" sz="2700" b="1" dirty="0">
                <a:solidFill>
                  <a:srgbClr val="16325C"/>
                </a:solidFill>
                <a:latin typeface="Arial" pitchFamily="34" charset="0"/>
                <a:ea typeface="Arial" pitchFamily="34" charset="-122"/>
                <a:cs typeface="Arial" pitchFamily="34" charset="-120"/>
              </a:rPr>
              <a:t> ينتهي </a:t>
            </a:r>
            <a:r>
              <a:rPr lang="ar-KW" altLang="en-US" sz="2700" b="1" dirty="0">
                <a:solidFill>
                  <a:srgbClr val="0F9D8E"/>
                </a:solidFill>
                <a:latin typeface="Arial" pitchFamily="34" charset="0"/>
                <a:ea typeface="Arial" pitchFamily="34" charset="-122"/>
                <a:cs typeface="Arial" pitchFamily="34" charset="-120"/>
              </a:rPr>
              <a:t>بإلكترونين فقط.</a:t>
            </a:r>
            <a:endParaRPr lang="ar-KW" sz="2700" dirty="0"/>
          </a:p>
        </p:txBody>
      </p:sp>
      <p:pic>
        <p:nvPicPr>
          <p:cNvPr id="6" name="anim_15_179" descr="octet.png">    </p:cNvPr>
          <p:cNvPicPr>
            <a:picLocks noChangeAspect="1"/>
          </p:cNvPicPr>
          <p:nvPr/>
        </p:nvPicPr>
        <p:blipFill>
          <a:blip r:embed="rId2"/>
          <a:stretch>
            <a:fillRect/>
          </a:stretch>
        </p:blipFill>
        <p:spPr>
          <a:xfrm>
            <a:off x="6126480" y="3108960"/>
            <a:ext cx="3154680" cy="3154680"/>
          </a:xfrm>
          <a:prstGeom prst="rect">
            <a:avLst/>
          </a:prstGeom>
        </p:spPr>
      </p:pic>
      <p:sp>
        <p:nvSpPr>
          <p:cNvPr id="7" name="anim_15_180"/>
          <p:cNvSpPr txBox="1"/>
          <p:nvPr/>
        </p:nvSpPr>
        <p:spPr>
          <a:xfrm>
            <a:off x="9326880" y="4206240"/>
            <a:ext cx="1645920" cy="822960"/>
          </a:xfrm>
          <a:prstGeom prst="rect">
            <a:avLst/>
          </a:prstGeom>
          <a:noFill/>
          <a:ln/>
        </p:spPr>
        <p:txBody>
          <a:bodyPr wrap="square" lIns="50800" tIns="50800" rIns="50800" bIns="50800" rtlCol="0" anchor="t"/>
          <a:lstStyle/>
          <a:p>
            <a:pPr rtl="0" algn="ctr" indent="0" marL="0">
              <a:lnSpc>
                <a:spcPct val="105000"/>
              </a:lnSpc>
              <a:spcAft>
                <a:spcPts val="600"/>
              </a:spcAft>
              <a:buNone/>
            </a:pPr>
            <a:r>
              <a:rPr lang="en-US" altLang="en-US" sz="4400" b="1" dirty="0">
                <a:solidFill>
                  <a:srgbClr val="E59A00"/>
                </a:solidFill>
                <a:latin typeface="Arial" pitchFamily="34" charset="0"/>
                <a:ea typeface="Arial" pitchFamily="34" charset="-122"/>
                <a:cs typeface="Arial" pitchFamily="34" charset="-120"/>
              </a:rPr>
              <a:t>8e</a:t>
            </a:r>
            <a:r>
              <a:rPr lang="en-US" altLang="en-US" sz="4400" b="1" baseline="30000" dirty="0">
                <a:solidFill>
                  <a:srgbClr val="E59A00"/>
                </a:solidFill>
                <a:latin typeface="Arial" pitchFamily="34" charset="0"/>
                <a:ea typeface="Arial" pitchFamily="34" charset="-122"/>
                <a:cs typeface="Arial" pitchFamily="34" charset="-120"/>
              </a:rPr>
              <a:t>−</a:t>
            </a:r>
            <a:endParaRPr lang="en-US" sz="4400" dirty="0"/>
          </a:p>
        </p:txBody>
      </p:sp>
      <p:pic>
        <p:nvPicPr>
          <p:cNvPr id="8" name="anim_15_181" descr="helium.png">    </p:cNvPr>
          <p:cNvPicPr>
            <a:picLocks noChangeAspect="1"/>
          </p:cNvPicPr>
          <p:nvPr/>
        </p:nvPicPr>
        <p:blipFill>
          <a:blip r:embed="rId3"/>
          <a:stretch>
            <a:fillRect/>
          </a:stretch>
        </p:blipFill>
        <p:spPr>
          <a:xfrm>
            <a:off x="1691640" y="3200400"/>
            <a:ext cx="2834640" cy="2834640"/>
          </a:xfrm>
          <a:prstGeom prst="rect">
            <a:avLst/>
          </a:prstGeom>
        </p:spPr>
      </p:pic>
      <p:sp>
        <p:nvSpPr>
          <p:cNvPr id="9" name="anim_15_182"/>
          <p:cNvSpPr txBox="1"/>
          <p:nvPr/>
        </p:nvSpPr>
        <p:spPr>
          <a:xfrm>
            <a:off x="365760" y="4206240"/>
            <a:ext cx="1371600" cy="822960"/>
          </a:xfrm>
          <a:prstGeom prst="rect">
            <a:avLst/>
          </a:prstGeom>
          <a:noFill/>
          <a:ln/>
        </p:spPr>
        <p:txBody>
          <a:bodyPr wrap="square" lIns="50800" tIns="50800" rIns="50800" bIns="50800" rtlCol="0" anchor="t"/>
          <a:lstStyle/>
          <a:p>
            <a:pPr rtl="0" algn="ctr" indent="0" marL="0">
              <a:lnSpc>
                <a:spcPct val="105000"/>
              </a:lnSpc>
              <a:spcAft>
                <a:spcPts val="600"/>
              </a:spcAft>
              <a:buNone/>
            </a:pPr>
            <a:r>
              <a:rPr lang="en-US" altLang="en-US" sz="4400" b="1" dirty="0">
                <a:solidFill>
                  <a:srgbClr val="0F9D8E"/>
                </a:solidFill>
                <a:latin typeface="Arial" pitchFamily="34" charset="0"/>
                <a:ea typeface="Arial" pitchFamily="34" charset="-122"/>
                <a:cs typeface="Arial" pitchFamily="34" charset="-120"/>
              </a:rPr>
              <a:t>2e</a:t>
            </a:r>
            <a:r>
              <a:rPr lang="en-US" altLang="en-US" sz="4400" b="1" baseline="30000" dirty="0">
                <a:solidFill>
                  <a:srgbClr val="0F9D8E"/>
                </a:solidFill>
                <a:latin typeface="Arial" pitchFamily="34" charset="0"/>
                <a:ea typeface="Arial" pitchFamily="34" charset="-122"/>
                <a:cs typeface="Arial" pitchFamily="34" charset="-120"/>
              </a:rPr>
              <a:t>−</a:t>
            </a:r>
            <a:endParaRPr lang="en-US" sz="4400" dirty="0"/>
          </a:p>
        </p:txBody>
      </p:sp>
      <p:sp>
        <p:nvSpPr>
          <p:cNvPr id="10" name="anim_15_183"/>
          <p:cNvSpPr txBox="1"/>
          <p:nvPr/>
        </p:nvSpPr>
        <p:spPr>
          <a:xfrm>
            <a:off x="1965960" y="5897880"/>
            <a:ext cx="2286000" cy="45720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200" b="1" dirty="0">
                <a:solidFill>
                  <a:srgbClr val="0F9D8E"/>
                </a:solidFill>
                <a:latin typeface="Arial" pitchFamily="34" charset="0"/>
                <a:ea typeface="Arial" pitchFamily="34" charset="-122"/>
                <a:cs typeface="Arial" pitchFamily="34" charset="-120"/>
              </a:rPr>
              <a:t>الهيليوم</a:t>
            </a:r>
            <a:endParaRPr lang="ar-KW" sz="2200" dirty="0"/>
          </a:p>
        </p:txBody>
      </p:sp>
    </p:spTree>
  </p:cSld>
  <p:clrMapOvr>
    <a:masterClrMapping/>
  </p:clrMapOvr>
  <p:transition spd="slow">
    <p:wipe dir="l"/>
  </p:transition>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4"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15"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700"/>
                                        <p:tgtEl>
                                          <p:spTgt spid="5"/>
                                        </p:tgtEl>
                                      </p:cBhvr>
                                    </p:animEffect>
                                  </p:childTnLst>
                                </p:cTn>
                              </p:par>
                            </p:childTnLst>
                          </p:cTn>
                        </p:par>
                      </p:childTnLst>
                    </p:cTn>
                  </p:par>
                  <p:par>
                    <p:cTn id="44" fill="hold">
                      <p:stCondLst>
                        <p:cond delay="indefinite"/>
                      </p:stCondLst>
                      <p:childTnLst>
                        <p:par>
                          <p:cTn id="40"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900" fill="hold"/>
                                        <p:tgtEl>
                                          <p:spTgt spid="6"/>
                                        </p:tgtEl>
                                        <p:attrNameLst>
                                          <p:attrName>ppt_w</p:attrName>
                                        </p:attrNameLst>
                                      </p:cBhvr>
                                      <p:tavLst>
                                        <p:tav tm="0">
                                          <p:val>
                                            <p:fltVal val="0"/>
                                          </p:val>
                                        </p:tav>
                                        <p:tav tm="100000">
                                          <p:val>
                                            <p:strVal val="#ppt_w"/>
                                          </p:val>
                                        </p:tav>
                                      </p:tavLst>
                                    </p:anim>
                                    <p:anim calcmode="lin" valueType="num">
                                      <p:cBhvr additive="base">
                                        <p:cTn id="20" dur="900" fill="hold"/>
                                        <p:tgtEl>
                                          <p:spTgt spid="6"/>
                                        </p:tgtEl>
                                        <p:attrNameLst>
                                          <p:attrName>ppt_h</p:attrName>
                                        </p:attrNameLst>
                                      </p:cBhvr>
                                      <p:tavLst>
                                        <p:tav tm="0">
                                          <p:val>
                                            <p:fltVal val="0"/>
                                          </p:val>
                                        </p:tav>
                                        <p:tav tm="100000">
                                          <p:val>
                                            <p:strVal val="#ppt_h"/>
                                          </p:val>
                                        </p:tav>
                                      </p:tavLst>
                                    </p:anim>
                                    <p:animEffect transition="in" filter="fade">
                                      <p:cBhvr>
                                        <p:cTn id="21" dur="900"/>
                                        <p:tgtEl>
                                          <p:spTgt spid="6"/>
                                        </p:tgtEl>
                                      </p:cBhvr>
                                    </p:animEffect>
                                  </p:childTnLst>
                                </p:cTn>
                              </p:par>
                            </p:childTnLst>
                          </p:cTn>
                        </p:par>
                        <p:par>
                          <p:cTn id="41" fill="hold">
                            <p:stCondLst>
                              <p:cond delay="900"/>
                            </p:stCondLst>
                            <p:childTnLst>
                              <p:par>
                                <p:cTn id="22" presetID="53" presetClass="entr" presetSubtype="16"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ppt_w</p:attrName>
                                        </p:attrNameLst>
                                      </p:cBhvr>
                                      <p:tavLst>
                                        <p:tav tm="0">
                                          <p:val>
                                            <p:fltVal val="0"/>
                                          </p:val>
                                        </p:tav>
                                        <p:tav tm="100000">
                                          <p:val>
                                            <p:strVal val="#ppt_w"/>
                                          </p:val>
                                        </p:tav>
                                      </p:tavLst>
                                    </p:anim>
                                    <p:anim calcmode="lin" valueType="num">
                                      <p:cBhvr additive="base">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par>
                          <p:cTn id="42" fill="hold">
                            <p:stCondLst>
                              <p:cond delay="14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900" fill="hold"/>
                                        <p:tgtEl>
                                          <p:spTgt spid="8"/>
                                        </p:tgtEl>
                                        <p:attrNameLst>
                                          <p:attrName>ppt_w</p:attrName>
                                        </p:attrNameLst>
                                      </p:cBhvr>
                                      <p:tavLst>
                                        <p:tav tm="0">
                                          <p:val>
                                            <p:fltVal val="0"/>
                                          </p:val>
                                        </p:tav>
                                        <p:tav tm="100000">
                                          <p:val>
                                            <p:strVal val="#ppt_w"/>
                                          </p:val>
                                        </p:tav>
                                      </p:tavLst>
                                    </p:anim>
                                    <p:anim calcmode="lin" valueType="num">
                                      <p:cBhvr additive="base">
                                        <p:cTn id="30" dur="900" fill="hold"/>
                                        <p:tgtEl>
                                          <p:spTgt spid="8"/>
                                        </p:tgtEl>
                                        <p:attrNameLst>
                                          <p:attrName>ppt_h</p:attrName>
                                        </p:attrNameLst>
                                      </p:cBhvr>
                                      <p:tavLst>
                                        <p:tav tm="0">
                                          <p:val>
                                            <p:fltVal val="0"/>
                                          </p:val>
                                        </p:tav>
                                        <p:tav tm="100000">
                                          <p:val>
                                            <p:strVal val="#ppt_h"/>
                                          </p:val>
                                        </p:tav>
                                      </p:tavLst>
                                    </p:anim>
                                    <p:animEffect transition="in" filter="fade">
                                      <p:cBhvr>
                                        <p:cTn id="31" dur="900"/>
                                        <p:tgtEl>
                                          <p:spTgt spid="8"/>
                                        </p:tgtEl>
                                      </p:cBhvr>
                                    </p:animEffect>
                                  </p:childTnLst>
                                </p:cTn>
                              </p:par>
                            </p:childTnLst>
                          </p:cTn>
                        </p:par>
                        <p:par>
                          <p:cTn id="43" fill="hold">
                            <p:stCondLst>
                              <p:cond delay="2300"/>
                            </p:stCondLst>
                            <p:childTnLst>
                              <p:par>
                                <p:cTn id="32" presetID="53" presetClass="entr" presetSubtype="16"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ppt_w</p:attrName>
                                        </p:attrNameLst>
                                      </p:cBhvr>
                                      <p:tavLst>
                                        <p:tav tm="0">
                                          <p:val>
                                            <p:fltVal val="0"/>
                                          </p:val>
                                        </p:tav>
                                        <p:tav tm="100000">
                                          <p:val>
                                            <p:strVal val="#ppt_w"/>
                                          </p:val>
                                        </p:tav>
                                      </p:tavLst>
                                    </p:anim>
                                    <p:anim calcmode="lin" valueType="num">
                                      <p:cBhvr additive="base">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2" name=""/>
        <p:cNvGrpSpPr/>
        <p:nvPr/>
      </p:nvGrpSpPr>
      <p:grpSpPr>
        <a:xfrm>
          <a:off x="0" y="0"/>
          <a:ext cx="0" cy="0"/>
          <a:chOff x="0" y="0"/>
          <a:chExt cx="0" cy="0"/>
        </a:xfrm>
      </p:grpSpPr>
      <p:sp>
        <p:nvSpPr>
          <p:cNvPr id="3" name="anim_16_184"/>
          <p:cNvSpPr/>
          <p:nvPr/>
        </p:nvSpPr>
        <p:spPr>
          <a:xfrm>
            <a:off x="5257800" y="502920"/>
            <a:ext cx="6492240" cy="868680"/>
          </a:xfrm>
          <a:prstGeom prst="roundRect">
            <a:avLst>
              <a:gd name="adj" fmla="val 49474"/>
            </a:avLst>
          </a:prstGeom>
          <a:solidFill>
            <a:srgbClr val="6C4FE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الكاتيون والأنيون</a:t>
            </a:r>
            <a:endParaRPr lang="ar-KW" sz="3600" dirty="0"/>
          </a:p>
        </p:txBody>
      </p:sp>
      <p:pic>
        <p:nvPicPr>
          <p:cNvPr id="4" name="anim_16_185" descr="sp_purple.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6_186"/>
          <p:cNvSpPr txBox="1"/>
          <p:nvPr/>
        </p:nvSpPr>
        <p:spPr>
          <a:xfrm>
            <a:off x="457200" y="1645920"/>
            <a:ext cx="11292840" cy="5943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700" b="1" dirty="0">
                <a:solidFill>
                  <a:srgbClr val="16325C"/>
                </a:solidFill>
                <a:latin typeface="Arial" pitchFamily="34" charset="0"/>
                <a:ea typeface="Arial" pitchFamily="34" charset="-122"/>
                <a:cs typeface="Arial" pitchFamily="34" charset="-120"/>
              </a:rPr>
              <a:t>تساعد هذه القاعدة في تحديد نوع الأيون الذي تنتجه ذرة العنصر.</a:t>
            </a:r>
            <a:endParaRPr lang="ar-KW" sz="2700" dirty="0"/>
          </a:p>
        </p:txBody>
      </p:sp>
      <p:sp>
        <p:nvSpPr>
          <p:cNvPr id="6" name="anim_16_187"/>
          <p:cNvSpPr/>
          <p:nvPr/>
        </p:nvSpPr>
        <p:spPr>
          <a:xfrm>
            <a:off x="6172200" y="2423160"/>
            <a:ext cx="5577840" cy="3794760"/>
          </a:xfrm>
          <a:prstGeom prst="roundRect">
            <a:avLst>
              <a:gd name="adj" fmla="val 7229"/>
            </a:avLst>
          </a:prstGeom>
          <a:solidFill>
            <a:srgbClr val="FFE8EE"/>
          </a:solidFill>
          <a:ln w="38100">
            <a:solidFill>
              <a:srgbClr val="F7A1B7"/>
            </a:solidFill>
            <a:prstDash val="solid"/>
          </a:ln>
          <a:effectLst>
            <a:outerShdw sx="100000" sy="100000" kx="0" ky="0" algn="bl" rotWithShape="0" blurRad="152400" dist="50800" dir="5400000">
              <a:srgbClr val="1F4F8A">
                <a:alpha val="18000"/>
              </a:srgbClr>
            </a:outerShdw>
          </a:effectLst>
        </p:spPr>
      </p:sp>
      <p:pic>
        <p:nvPicPr>
          <p:cNvPr id="7" name="anim_16_188" descr="sp_coral.png">    </p:cNvPr>
          <p:cNvPicPr>
            <a:picLocks noChangeAspect="1"/>
          </p:cNvPicPr>
          <p:nvPr/>
        </p:nvPicPr>
        <p:blipFill>
          <a:blip r:embed="rId2"/>
          <a:stretch>
            <a:fillRect/>
          </a:stretch>
        </p:blipFill>
        <p:spPr>
          <a:xfrm>
            <a:off x="8503920" y="2194560"/>
            <a:ext cx="914400" cy="914400"/>
          </a:xfrm>
          <a:prstGeom prst="rect">
            <a:avLst/>
          </a:prstGeom>
        </p:spPr>
      </p:pic>
      <p:sp>
        <p:nvSpPr>
          <p:cNvPr id="8" name="anim_16_189"/>
          <p:cNvSpPr txBox="1"/>
          <p:nvPr/>
        </p:nvSpPr>
        <p:spPr>
          <a:xfrm>
            <a:off x="8503920" y="2212848"/>
            <a:ext cx="914400" cy="84124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4400" b="1" dirty="0">
                <a:solidFill>
                  <a:srgbClr val="FFFFFF"/>
                </a:solidFill>
                <a:latin typeface="Arial" pitchFamily="34" charset="0"/>
                <a:ea typeface="Arial" pitchFamily="34" charset="-122"/>
                <a:cs typeface="Arial" pitchFamily="34" charset="-120"/>
              </a:rPr>
              <a:t>+</a:t>
            </a:r>
            <a:endParaRPr lang="en-US" sz="4400" dirty="0"/>
          </a:p>
        </p:txBody>
      </p:sp>
      <p:sp>
        <p:nvSpPr>
          <p:cNvPr id="9" name="anim_16_190"/>
          <p:cNvSpPr txBox="1"/>
          <p:nvPr/>
        </p:nvSpPr>
        <p:spPr>
          <a:xfrm>
            <a:off x="6355080" y="3154680"/>
            <a:ext cx="5212080" cy="169164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300" b="1" dirty="0">
                <a:solidFill>
                  <a:srgbClr val="16325C"/>
                </a:solidFill>
                <a:latin typeface="Arial" pitchFamily="34" charset="0"/>
                <a:ea typeface="Arial" pitchFamily="34" charset="-122"/>
                <a:cs typeface="Arial" pitchFamily="34" charset="-120"/>
              </a:rPr>
              <a:t>فذرات العناصر التي تميل إلى </a:t>
            </a:r>
            <a:r>
              <a:rPr lang="ar-KW" altLang="en-US" sz="2300" b="1" dirty="0">
                <a:solidFill>
                  <a:srgbClr val="E8335F"/>
                </a:solidFill>
                <a:latin typeface="Arial" pitchFamily="34" charset="0"/>
                <a:ea typeface="Arial" pitchFamily="34" charset="-122"/>
                <a:cs typeface="Arial" pitchFamily="34" charset="-120"/>
              </a:rPr>
              <a:t>فقد</a:t>
            </a:r>
            <a:r>
              <a:rPr lang="ar-KW" altLang="en-US" sz="2300" b="1" dirty="0">
                <a:solidFill>
                  <a:srgbClr val="16325C"/>
                </a:solidFill>
                <a:latin typeface="Arial" pitchFamily="34" charset="0"/>
                <a:ea typeface="Arial" pitchFamily="34" charset="-122"/>
                <a:cs typeface="Arial" pitchFamily="34" charset="-120"/>
              </a:rPr>
              <a:t> الإلكترونات تُنتج أيونات موجبة (كاتيونات)، ليصبح ترتيبها الإلكتروني مشابه للغاز النبيل.</a:t>
            </a:r>
            <a:endParaRPr lang="ar-KW" sz="2300" dirty="0"/>
          </a:p>
        </p:txBody>
      </p:sp>
      <p:sp>
        <p:nvSpPr>
          <p:cNvPr id="10" name="anim_16_191"/>
          <p:cNvSpPr txBox="1"/>
          <p:nvPr/>
        </p:nvSpPr>
        <p:spPr>
          <a:xfrm>
            <a:off x="6355080" y="4846320"/>
            <a:ext cx="5212080" cy="1280160"/>
          </a:xfrm>
          <a:prstGeom prst="roundRect">
            <a:avLst>
              <a:gd name="adj" fmla="val 14286"/>
            </a:avLst>
          </a:prstGeom>
          <a:solidFill>
            <a:srgbClr val="FFFFFF"/>
          </a:solidFill>
          <a:ln/>
        </p:spPr>
        <p:txBody>
          <a:bodyPr wrap="square" lIns="101600" tIns="101600" rIns="101600" bIns="101600" rtlCol="0" anchor="ctr"/>
          <a:lstStyle/>
          <a:p>
            <a:pPr rtl="0" algn="r" indent="0" marL="0">
              <a:lnSpc>
                <a:spcPct val="105000"/>
              </a:lnSpc>
              <a:spcAft>
                <a:spcPts val="600"/>
              </a:spcAft>
              <a:buNone/>
            </a:pPr>
            <a:r>
              <a:rPr lang="ar-KW" altLang="en-US" sz="2400" b="1" dirty="0">
                <a:solidFill>
                  <a:srgbClr val="E8335F"/>
                </a:solidFill>
                <a:latin typeface="Arial" pitchFamily="34" charset="0"/>
                <a:ea typeface="Arial" pitchFamily="34" charset="-122"/>
                <a:cs typeface="Arial" pitchFamily="34" charset="-120"/>
              </a:rPr>
              <a:t>الكاتيون</a:t>
            </a:r>
            <a:r>
              <a:rPr lang="ar-KW" altLang="en-US" sz="2400" b="1" dirty="0">
                <a:solidFill>
                  <a:srgbClr val="16325C"/>
                </a:solidFill>
                <a:latin typeface="Arial" pitchFamily="34" charset="0"/>
                <a:ea typeface="Arial" pitchFamily="34" charset="-122"/>
                <a:cs typeface="Arial" pitchFamily="34" charset="-120"/>
              </a:rPr>
              <a:t>: «ذرة العنصر عندما تفقد إلكترونًا أو أكثر».</a:t>
            </a:r>
            <a:endParaRPr lang="ar-KW" sz="2400" dirty="0"/>
          </a:p>
        </p:txBody>
      </p:sp>
      <p:sp>
        <p:nvSpPr>
          <p:cNvPr id="11" name="anim_16_192"/>
          <p:cNvSpPr/>
          <p:nvPr/>
        </p:nvSpPr>
        <p:spPr>
          <a:xfrm>
            <a:off x="457200" y="2423160"/>
            <a:ext cx="5577840" cy="3794760"/>
          </a:xfrm>
          <a:prstGeom prst="roundRect">
            <a:avLst>
              <a:gd name="adj" fmla="val 7229"/>
            </a:avLst>
          </a:prstGeom>
          <a:solidFill>
            <a:srgbClr val="E5F0FF"/>
          </a:solidFill>
          <a:ln w="38100">
            <a:solidFill>
              <a:srgbClr val="9DC2F5"/>
            </a:solidFill>
            <a:prstDash val="solid"/>
          </a:ln>
          <a:effectLst>
            <a:outerShdw sx="100000" sy="100000" kx="0" ky="0" algn="bl" rotWithShape="0" blurRad="152400" dist="50800" dir="5400000">
              <a:srgbClr val="1F4F8A">
                <a:alpha val="18000"/>
              </a:srgbClr>
            </a:outerShdw>
          </a:effectLst>
        </p:spPr>
      </p:sp>
      <p:pic>
        <p:nvPicPr>
          <p:cNvPr id="12" name="anim_16_193" descr="sp_blue.png">    </p:cNvPr>
          <p:cNvPicPr>
            <a:picLocks noChangeAspect="1"/>
          </p:cNvPicPr>
          <p:nvPr/>
        </p:nvPicPr>
        <p:blipFill>
          <a:blip r:embed="rId3"/>
          <a:stretch>
            <a:fillRect/>
          </a:stretch>
        </p:blipFill>
        <p:spPr>
          <a:xfrm>
            <a:off x="2788920" y="2194560"/>
            <a:ext cx="914400" cy="914400"/>
          </a:xfrm>
          <a:prstGeom prst="rect">
            <a:avLst/>
          </a:prstGeom>
        </p:spPr>
      </p:pic>
      <p:sp>
        <p:nvSpPr>
          <p:cNvPr id="13" name="anim_16_194"/>
          <p:cNvSpPr txBox="1"/>
          <p:nvPr/>
        </p:nvSpPr>
        <p:spPr>
          <a:xfrm>
            <a:off x="2788920" y="2212848"/>
            <a:ext cx="914400" cy="841248"/>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4400" b="1" dirty="0">
                <a:solidFill>
                  <a:srgbClr val="FFFFFF"/>
                </a:solidFill>
                <a:latin typeface="Arial" pitchFamily="34" charset="0"/>
                <a:ea typeface="Arial" pitchFamily="34" charset="-122"/>
                <a:cs typeface="Arial" pitchFamily="34" charset="-120"/>
              </a:rPr>
              <a:t>−</a:t>
            </a:r>
            <a:endParaRPr lang="en-US" sz="4400" dirty="0"/>
          </a:p>
        </p:txBody>
      </p:sp>
      <p:sp>
        <p:nvSpPr>
          <p:cNvPr id="14" name="anim_16_195"/>
          <p:cNvSpPr txBox="1"/>
          <p:nvPr/>
        </p:nvSpPr>
        <p:spPr>
          <a:xfrm>
            <a:off x="640080" y="3154680"/>
            <a:ext cx="5212080" cy="169164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300" b="1" dirty="0">
                <a:solidFill>
                  <a:srgbClr val="16325C"/>
                </a:solidFill>
                <a:latin typeface="Arial" pitchFamily="34" charset="0"/>
                <a:ea typeface="Arial" pitchFamily="34" charset="-122"/>
                <a:cs typeface="Arial" pitchFamily="34" charset="-120"/>
              </a:rPr>
              <a:t>بينما ذرات العناصر التي تميل إلى </a:t>
            </a:r>
            <a:r>
              <a:rPr lang="ar-KW" altLang="en-US" sz="2300" b="1" dirty="0">
                <a:solidFill>
                  <a:srgbClr val="1F6FB2"/>
                </a:solidFill>
                <a:latin typeface="Arial" pitchFamily="34" charset="0"/>
                <a:ea typeface="Arial" pitchFamily="34" charset="-122"/>
                <a:cs typeface="Arial" pitchFamily="34" charset="-120"/>
              </a:rPr>
              <a:t>اكتساب</a:t>
            </a:r>
            <a:r>
              <a:rPr lang="ar-KW" altLang="en-US" sz="2300" b="1" dirty="0">
                <a:solidFill>
                  <a:srgbClr val="16325C"/>
                </a:solidFill>
                <a:latin typeface="Arial" pitchFamily="34" charset="0"/>
                <a:ea typeface="Arial" pitchFamily="34" charset="-122"/>
                <a:cs typeface="Arial" pitchFamily="34" charset="-120"/>
              </a:rPr>
              <a:t> الإلكترونات تُنتج أيونات سالبة (أنيونات)، ليصبح ترتيبها الإلكتروني مشابه للغاز النبيل.</a:t>
            </a:r>
            <a:endParaRPr lang="ar-KW" sz="2300" dirty="0"/>
          </a:p>
        </p:txBody>
      </p:sp>
      <p:sp>
        <p:nvSpPr>
          <p:cNvPr id="15" name="anim_16_196"/>
          <p:cNvSpPr txBox="1"/>
          <p:nvPr/>
        </p:nvSpPr>
        <p:spPr>
          <a:xfrm>
            <a:off x="640080" y="4846320"/>
            <a:ext cx="5212080" cy="1280160"/>
          </a:xfrm>
          <a:prstGeom prst="roundRect">
            <a:avLst>
              <a:gd name="adj" fmla="val 14286"/>
            </a:avLst>
          </a:prstGeom>
          <a:solidFill>
            <a:srgbClr val="FFFFFF"/>
          </a:solidFill>
          <a:ln/>
        </p:spPr>
        <p:txBody>
          <a:bodyPr wrap="square" lIns="101600" tIns="101600" rIns="101600" bIns="101600" rtlCol="0" anchor="ctr"/>
          <a:lstStyle/>
          <a:p>
            <a:pPr rtl="0" algn="r" indent="0" marL="0">
              <a:lnSpc>
                <a:spcPct val="105000"/>
              </a:lnSpc>
              <a:spcAft>
                <a:spcPts val="600"/>
              </a:spcAft>
              <a:buNone/>
            </a:pPr>
            <a:r>
              <a:rPr lang="ar-KW" altLang="en-US" sz="2400" b="1" dirty="0">
                <a:solidFill>
                  <a:srgbClr val="1F6FB2"/>
                </a:solidFill>
                <a:latin typeface="Arial" pitchFamily="34" charset="0"/>
                <a:ea typeface="Arial" pitchFamily="34" charset="-122"/>
                <a:cs typeface="Arial" pitchFamily="34" charset="-120"/>
              </a:rPr>
              <a:t>الأنيون</a:t>
            </a:r>
            <a:r>
              <a:rPr lang="ar-KW" altLang="en-US" sz="2400" b="1" dirty="0">
                <a:solidFill>
                  <a:srgbClr val="16325C"/>
                </a:solidFill>
                <a:latin typeface="Arial" pitchFamily="34" charset="0"/>
                <a:ea typeface="Arial" pitchFamily="34" charset="-122"/>
                <a:cs typeface="Arial" pitchFamily="34" charset="-120"/>
              </a:rPr>
              <a:t>: «ذرة العنصر عندما تكتسب إلكترونًا أو أكثر».</a:t>
            </a:r>
            <a:endParaRPr lang="ar-KW" sz="2400" dirty="0"/>
          </a:p>
        </p:txBody>
      </p:sp>
    </p:spTree>
  </p:cSld>
  <p:clrMapOvr>
    <a:masterClrMapping/>
  </p:clrMapOvr>
  <p:transition spd="slow">
    <p:cover dir="l"/>
  </p:transition>
  <p:timing>
    <p:tnLst>
      <p:par>
        <p:cTn id="1" dur="indefinite" restart="never" nodeType="tmRoot">
          <p:childTnLst>
            <p:seq concurrent="1" nextAc="seek">
              <p:cTn id="2" dur="indefinite" nodeType="mainSeq">
                <p:childTnLst>
                  <p:par>
                    <p:cTn id="41" fill="hold">
                      <p:stCondLst>
                        <p:cond delay="indefinite"/>
                        <p:cond evt="onBegin" delay="0">
                          <p:tn val="2"/>
                        </p:cond>
                      </p:stCondLst>
                      <p:childTnLst>
                        <p:par>
                          <p:cTn id="36"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37"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000"/>
                                        <p:tgtEl>
                                          <p:spTgt spid="5"/>
                                        </p:tgtEl>
                                      </p:cBhvr>
                                    </p:animEffect>
                                  </p:childTnLst>
                                </p:cTn>
                              </p:par>
                            </p:childTnLst>
                          </p:cTn>
                        </p:par>
                        <p:par>
                          <p:cTn id="38" fill="hold">
                            <p:stCondLst>
                              <p:cond delay="1800"/>
                            </p:stCondLst>
                            <p:childTnLst>
                              <p:par>
                                <p:cTn id="14" presetID="2" presetClass="entr" presetSubtype="4"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ppt_x</p:attrName>
                                        </p:attrNameLst>
                                      </p:cBhvr>
                                      <p:tavLst>
                                        <p:tav tm="0">
                                          <p:val>
                                            <p:strVal val="#ppt_x"/>
                                          </p:val>
                                        </p:tav>
                                        <p:tav tm="100000">
                                          <p:val>
                                            <p:strVal val="#ppt_x"/>
                                          </p:val>
                                        </p:tav>
                                      </p:tavLst>
                                    </p:anim>
                                    <p:anim calcmode="lin" valueType="num">
                                      <p:cBhvr additive="base">
                                        <p:cTn id="17" dur="600" fill="hold"/>
                                        <p:tgtEl>
                                          <p:spTgt spid="6"/>
                                        </p:tgtEl>
                                        <p:attrNameLst>
                                          <p:attrName>ppt_y</p:attrName>
                                        </p:attrNameLst>
                                      </p:cBhvr>
                                      <p:tavLst>
                                        <p:tav tm="0">
                                          <p:val>
                                            <p:strVal val="1+#ppt_h/2"/>
                                          </p:val>
                                        </p:tav>
                                        <p:tav tm="100000">
                                          <p:val>
                                            <p:strVal val="#ppt_y"/>
                                          </p:val>
                                        </p:tav>
                                      </p:tavLst>
                                    </p:anim>
                                  </p:childTnLst>
                                </p:cTn>
                              </p:par>
                              <p:par>
                                <p:cTn id="18" presetID="53" presetClass="entr" presetSubtype="16" fill="hold" grpId="0" nodeType="withEffect">
                                  <p:stCondLst>
                                    <p:cond delay="2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ppt_w</p:attrName>
                                        </p:attrNameLst>
                                      </p:cBhvr>
                                      <p:tavLst>
                                        <p:tav tm="0">
                                          <p:val>
                                            <p:fltVal val="0"/>
                                          </p:val>
                                        </p:tav>
                                        <p:tav tm="100000">
                                          <p:val>
                                            <p:strVal val="#ppt_w"/>
                                          </p:val>
                                        </p:tav>
                                      </p:tavLst>
                                    </p:anim>
                                    <p:anim calcmode="lin" valueType="num">
                                      <p:cBhvr additive="base">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cTn>
                              </p:par>
                              <p:par>
                                <p:cTn id="23" presetID="53" presetClass="entr" presetSubtype="16" fill="hold" grpId="0" nodeType="withEffect">
                                  <p:stCondLst>
                                    <p:cond delay="2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ppt_w</p:attrName>
                                        </p:attrNameLst>
                                      </p:cBhvr>
                                      <p:tavLst>
                                        <p:tav tm="0">
                                          <p:val>
                                            <p:fltVal val="0"/>
                                          </p:val>
                                        </p:tav>
                                        <p:tav tm="100000">
                                          <p:val>
                                            <p:strVal val="#ppt_w"/>
                                          </p:val>
                                        </p:tav>
                                      </p:tavLst>
                                    </p:anim>
                                    <p:anim calcmode="lin" valueType="num">
                                      <p:cBhvr additive="base">
                                        <p:cTn id="26" dur="500" fill="hold"/>
                                        <p:tgtEl>
                                          <p:spTgt spid="8"/>
                                        </p:tgtEl>
                                        <p:attrNameLst>
                                          <p:attrName>ppt_h</p:attrName>
                                        </p:attrNameLst>
                                      </p:cBhvr>
                                      <p:tavLst>
                                        <p:tav tm="0">
                                          <p:val>
                                            <p:fltVal val="0"/>
                                          </p:val>
                                        </p:tav>
                                        <p:tav tm="100000">
                                          <p:val>
                                            <p:strVal val="#ppt_h"/>
                                          </p:val>
                                        </p:tav>
                                      </p:tavLst>
                                    </p:anim>
                                    <p:animEffect transition="in" filter="fade">
                                      <p:cBhvr>
                                        <p:cTn id="27" dur="500"/>
                                        <p:tgtEl>
                                          <p:spTgt spid="8"/>
                                        </p:tgtEl>
                                      </p:cBhvr>
                                    </p:animEffect>
                                  </p:childTnLst>
                                </p:cTn>
                              </p:par>
                            </p:childTnLst>
                          </p:cTn>
                        </p:par>
                        <p:par>
                          <p:cTn id="39" fill="hold">
                            <p:stCondLst>
                              <p:cond delay="2500"/>
                            </p:stCondLst>
                            <p:childTnLst>
                              <p:par>
                                <p:cTn id="28" presetID="22" presetClass="entr" presetSubtype="2"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right)">
                                      <p:cBhvr>
                                        <p:cTn id="30" dur="1200"/>
                                        <p:tgtEl>
                                          <p:spTgt spid="9"/>
                                        </p:tgtEl>
                                      </p:cBhvr>
                                    </p:animEffect>
                                  </p:childTnLst>
                                </p:cTn>
                              </p:par>
                            </p:childTnLst>
                          </p:cTn>
                        </p:par>
                        <p:par>
                          <p:cTn id="40" fill="hold">
                            <p:stCondLst>
                              <p:cond delay="3700"/>
                            </p:stCondLst>
                            <p:childTnLst>
                              <p:par>
                                <p:cTn id="31" presetID="5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600" fill="hold"/>
                                        <p:tgtEl>
                                          <p:spTgt spid="10"/>
                                        </p:tgtEl>
                                        <p:attrNameLst>
                                          <p:attrName>ppt_w</p:attrName>
                                        </p:attrNameLst>
                                      </p:cBhvr>
                                      <p:tavLst>
                                        <p:tav tm="0">
                                          <p:val>
                                            <p:fltVal val="0"/>
                                          </p:val>
                                        </p:tav>
                                        <p:tav tm="100000">
                                          <p:val>
                                            <p:strVal val="#ppt_w"/>
                                          </p:val>
                                        </p:tav>
                                      </p:tavLst>
                                    </p:anim>
                                    <p:anim calcmode="lin" valueType="num">
                                      <p:cBhvr additive="base">
                                        <p:cTn id="34" dur="600" fill="hold"/>
                                        <p:tgtEl>
                                          <p:spTgt spid="10"/>
                                        </p:tgtEl>
                                        <p:attrNameLst>
                                          <p:attrName>ppt_h</p:attrName>
                                        </p:attrNameLst>
                                      </p:cBhvr>
                                      <p:tavLst>
                                        <p:tav tm="0">
                                          <p:val>
                                            <p:fltVal val="0"/>
                                          </p:val>
                                        </p:tav>
                                        <p:tav tm="100000">
                                          <p:val>
                                            <p:strVal val="#ppt_h"/>
                                          </p:val>
                                        </p:tav>
                                      </p:tavLst>
                                    </p:anim>
                                    <p:animEffect transition="in" filter="fade">
                                      <p:cBhvr>
                                        <p:cTn id="35" dur="600"/>
                                        <p:tgtEl>
                                          <p:spTgt spid="10"/>
                                        </p:tgtEl>
                                      </p:cBhvr>
                                    </p:animEffect>
                                  </p:childTnLst>
                                </p:cTn>
                              </p:par>
                            </p:childTnLst>
                          </p:cTn>
                        </p:par>
                      </p:childTnLst>
                    </p:cTn>
                  </p:par>
                  <p:par>
                    <p:cTn id="67" fill="hold">
                      <p:stCondLst>
                        <p:cond delay="indefinite"/>
                      </p:stCondLst>
                      <p:childTnLst>
                        <p:par>
                          <p:cTn id="64"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600" fill="hold"/>
                                        <p:tgtEl>
                                          <p:spTgt spid="11"/>
                                        </p:tgtEl>
                                        <p:attrNameLst>
                                          <p:attrName>ppt_x</p:attrName>
                                        </p:attrNameLst>
                                      </p:cBhvr>
                                      <p:tavLst>
                                        <p:tav tm="0">
                                          <p:val>
                                            <p:strVal val="#ppt_x"/>
                                          </p:val>
                                        </p:tav>
                                        <p:tav tm="100000">
                                          <p:val>
                                            <p:strVal val="#ppt_x"/>
                                          </p:val>
                                        </p:tav>
                                      </p:tavLst>
                                    </p:anim>
                                    <p:anim calcmode="lin" valueType="num">
                                      <p:cBhvr additive="base">
                                        <p:cTn id="45" dur="600" fill="hold"/>
                                        <p:tgtEl>
                                          <p:spTgt spid="11"/>
                                        </p:tgtEl>
                                        <p:attrNameLst>
                                          <p:attrName>ppt_y</p:attrName>
                                        </p:attrNameLst>
                                      </p:cBhvr>
                                      <p:tavLst>
                                        <p:tav tm="0">
                                          <p:val>
                                            <p:strVal val="1+#ppt_h/2"/>
                                          </p:val>
                                        </p:tav>
                                        <p:tav tm="100000">
                                          <p:val>
                                            <p:strVal val="#ppt_y"/>
                                          </p:val>
                                        </p:tav>
                                      </p:tavLst>
                                    </p:anim>
                                  </p:childTnLst>
                                </p:cTn>
                              </p:par>
                              <p:par>
                                <p:cTn id="46" presetID="53" presetClass="entr" presetSubtype="16" fill="hold" grpId="0" nodeType="withEffect">
                                  <p:stCondLst>
                                    <p:cond delay="20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ppt_w</p:attrName>
                                        </p:attrNameLst>
                                      </p:cBhvr>
                                      <p:tavLst>
                                        <p:tav tm="0">
                                          <p:val>
                                            <p:fltVal val="0"/>
                                          </p:val>
                                        </p:tav>
                                        <p:tav tm="100000">
                                          <p:val>
                                            <p:strVal val="#ppt_w"/>
                                          </p:val>
                                        </p:tav>
                                      </p:tavLst>
                                    </p:anim>
                                    <p:anim calcmode="lin" valueType="num">
                                      <p:cBhvr additive="base">
                                        <p:cTn id="49" dur="500" fill="hold"/>
                                        <p:tgtEl>
                                          <p:spTgt spid="12"/>
                                        </p:tgtEl>
                                        <p:attrNameLst>
                                          <p:attrName>ppt_h</p:attrName>
                                        </p:attrNameLst>
                                      </p:cBhvr>
                                      <p:tavLst>
                                        <p:tav tm="0">
                                          <p:val>
                                            <p:fltVal val="0"/>
                                          </p:val>
                                        </p:tav>
                                        <p:tav tm="100000">
                                          <p:val>
                                            <p:strVal val="#ppt_h"/>
                                          </p:val>
                                        </p:tav>
                                      </p:tavLst>
                                    </p:anim>
                                    <p:animEffect transition="in" filter="fade">
                                      <p:cBhvr>
                                        <p:cTn id="50" dur="500"/>
                                        <p:tgtEl>
                                          <p:spTgt spid="12"/>
                                        </p:tgtEl>
                                      </p:cBhvr>
                                    </p:animEffect>
                                  </p:childTnLst>
                                </p:cTn>
                              </p:par>
                              <p:par>
                                <p:cTn id="51" presetID="53" presetClass="entr" presetSubtype="16" fill="hold" grpId="0" nodeType="withEffect">
                                  <p:stCondLst>
                                    <p:cond delay="20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ppt_w</p:attrName>
                                        </p:attrNameLst>
                                      </p:cBhvr>
                                      <p:tavLst>
                                        <p:tav tm="0">
                                          <p:val>
                                            <p:fltVal val="0"/>
                                          </p:val>
                                        </p:tav>
                                        <p:tav tm="100000">
                                          <p:val>
                                            <p:strVal val="#ppt_w"/>
                                          </p:val>
                                        </p:tav>
                                      </p:tavLst>
                                    </p:anim>
                                    <p:anim calcmode="lin" valueType="num">
                                      <p:cBhvr additive="base">
                                        <p:cTn id="54" dur="500" fill="hold"/>
                                        <p:tgtEl>
                                          <p:spTgt spid="13"/>
                                        </p:tgtEl>
                                        <p:attrNameLst>
                                          <p:attrName>ppt_h</p:attrName>
                                        </p:attrNameLst>
                                      </p:cBhvr>
                                      <p:tavLst>
                                        <p:tav tm="0">
                                          <p:val>
                                            <p:fltVal val="0"/>
                                          </p:val>
                                        </p:tav>
                                        <p:tav tm="100000">
                                          <p:val>
                                            <p:strVal val="#ppt_h"/>
                                          </p:val>
                                        </p:tav>
                                      </p:tavLst>
                                    </p:anim>
                                    <p:animEffect transition="in" filter="fade">
                                      <p:cBhvr>
                                        <p:cTn id="55" dur="500"/>
                                        <p:tgtEl>
                                          <p:spTgt spid="13"/>
                                        </p:tgtEl>
                                      </p:cBhvr>
                                    </p:animEffect>
                                  </p:childTnLst>
                                </p:cTn>
                              </p:par>
                            </p:childTnLst>
                          </p:cTn>
                        </p:par>
                        <p:par>
                          <p:cTn id="65" fill="hold">
                            <p:stCondLst>
                              <p:cond delay="700"/>
                            </p:stCondLst>
                            <p:childTnLst>
                              <p:par>
                                <p:cTn id="56" presetID="22" presetClass="entr" presetSubtype="2"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right)">
                                      <p:cBhvr>
                                        <p:cTn id="58" dur="1200"/>
                                        <p:tgtEl>
                                          <p:spTgt spid="14"/>
                                        </p:tgtEl>
                                      </p:cBhvr>
                                    </p:animEffect>
                                  </p:childTnLst>
                                </p:cTn>
                              </p:par>
                            </p:childTnLst>
                          </p:cTn>
                        </p:par>
                        <p:par>
                          <p:cTn id="66" fill="hold">
                            <p:stCondLst>
                              <p:cond delay="1900"/>
                            </p:stCondLst>
                            <p:childTnLst>
                              <p:par>
                                <p:cTn id="59" presetID="53" presetClass="entr" presetSubtype="16" fill="hold" grpId="0" nodeType="after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600" fill="hold"/>
                                        <p:tgtEl>
                                          <p:spTgt spid="15"/>
                                        </p:tgtEl>
                                        <p:attrNameLst>
                                          <p:attrName>ppt_w</p:attrName>
                                        </p:attrNameLst>
                                      </p:cBhvr>
                                      <p:tavLst>
                                        <p:tav tm="0">
                                          <p:val>
                                            <p:fltVal val="0"/>
                                          </p:val>
                                        </p:tav>
                                        <p:tav tm="100000">
                                          <p:val>
                                            <p:strVal val="#ppt_w"/>
                                          </p:val>
                                        </p:tav>
                                      </p:tavLst>
                                    </p:anim>
                                    <p:anim calcmode="lin" valueType="num">
                                      <p:cBhvr additive="base">
                                        <p:cTn id="62" dur="600" fill="hold"/>
                                        <p:tgtEl>
                                          <p:spTgt spid="15"/>
                                        </p:tgtEl>
                                        <p:attrNameLst>
                                          <p:attrName>ppt_h</p:attrName>
                                        </p:attrNameLst>
                                      </p:cBhvr>
                                      <p:tavLst>
                                        <p:tav tm="0">
                                          <p:val>
                                            <p:fltVal val="0"/>
                                          </p:val>
                                        </p:tav>
                                        <p:tav tm="100000">
                                          <p:val>
                                            <p:strVal val="#ppt_h"/>
                                          </p:val>
                                        </p:tav>
                                      </p:tavLst>
                                    </p:anim>
                                    <p:animEffect transition="in" filter="fade">
                                      <p:cBhvr>
                                        <p:cTn id="63"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0" grpId="0" animBg="1"/>
      <p:bldP spid="11"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2" name=""/>
        <p:cNvGrpSpPr/>
        <p:nvPr/>
      </p:nvGrpSpPr>
      <p:grpSpPr>
        <a:xfrm>
          <a:off x="0" y="0"/>
          <a:ext cx="0" cy="0"/>
          <a:chOff x="0" y="0"/>
          <a:chExt cx="0" cy="0"/>
        </a:xfrm>
      </p:grpSpPr>
      <p:sp>
        <p:nvSpPr>
          <p:cNvPr id="3" name="anim_17_197"/>
          <p:cNvSpPr/>
          <p:nvPr/>
        </p:nvSpPr>
        <p:spPr>
          <a:xfrm>
            <a:off x="4983480" y="502920"/>
            <a:ext cx="67665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ذرة العنصر والأيون</a:t>
            </a:r>
            <a:endParaRPr lang="ar-KW" sz="3600" dirty="0"/>
          </a:p>
        </p:txBody>
      </p:sp>
      <p:pic>
        <p:nvPicPr>
          <p:cNvPr id="4" name="anim_17_198" descr="sp_te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7_199"/>
          <p:cNvSpPr/>
          <p:nvPr/>
        </p:nvSpPr>
        <p:spPr>
          <a:xfrm>
            <a:off x="6263640" y="1645920"/>
            <a:ext cx="5486400" cy="4343400"/>
          </a:xfrm>
          <a:prstGeom prst="roundRect">
            <a:avLst>
              <a:gd name="adj" fmla="val 6316"/>
            </a:avLst>
          </a:prstGeom>
          <a:solidFill>
            <a:srgbClr val="FFFFFF">
              <a:alpha val="90000"/>
            </a:srgbClr>
          </a:solidFill>
          <a:ln/>
          <a:effectLst>
            <a:outerShdw sx="100000" sy="100000" kx="0" ky="0" algn="bl" rotWithShape="0" blurRad="152400" dist="50800" dir="5400000">
              <a:srgbClr val="1F4F8A">
                <a:alpha val="18000"/>
              </a:srgbClr>
            </a:outerShdw>
          </a:effectLst>
        </p:spPr>
      </p:sp>
      <p:pic>
        <p:nvPicPr>
          <p:cNvPr id="6" name="anim_17_200" descr="na_atom.png">    </p:cNvPr>
          <p:cNvPicPr>
            <a:picLocks noChangeAspect="1"/>
          </p:cNvPicPr>
          <p:nvPr/>
        </p:nvPicPr>
        <p:blipFill>
          <a:blip r:embed="rId2"/>
          <a:stretch>
            <a:fillRect/>
          </a:stretch>
        </p:blipFill>
        <p:spPr>
          <a:xfrm>
            <a:off x="6355080" y="1691640"/>
            <a:ext cx="2011680" cy="2011680"/>
          </a:xfrm>
          <a:prstGeom prst="rect">
            <a:avLst/>
          </a:prstGeom>
        </p:spPr>
      </p:pic>
      <p:sp>
        <p:nvSpPr>
          <p:cNvPr id="7" name="anim_17_201"/>
          <p:cNvSpPr txBox="1"/>
          <p:nvPr/>
        </p:nvSpPr>
        <p:spPr>
          <a:xfrm>
            <a:off x="8458200" y="1828800"/>
            <a:ext cx="315468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ذرة الصوديوم</a:t>
            </a:r>
            <a:endParaRPr lang="ar-KW" sz="2600" dirty="0"/>
          </a:p>
        </p:txBody>
      </p:sp>
      <p:sp>
        <p:nvSpPr>
          <p:cNvPr id="8" name="anim_17_202"/>
          <p:cNvSpPr txBox="1"/>
          <p:nvPr/>
        </p:nvSpPr>
        <p:spPr>
          <a:xfrm>
            <a:off x="8458200" y="2423160"/>
            <a:ext cx="3154680" cy="640080"/>
          </a:xfrm>
          <a:prstGeom prst="roundRect">
            <a:avLst>
              <a:gd name="adj" fmla="val 21429"/>
            </a:avLst>
          </a:prstGeom>
          <a:solidFill>
            <a:srgbClr val="D6ECFA"/>
          </a:solidFill>
          <a:ln/>
        </p:spPr>
        <p:txBody>
          <a:bodyPr wrap="square" lIns="50800" tIns="50800" rIns="50800" bIns="50800" rtlCol="0" anchor="t"/>
          <a:lstStyle/>
          <a:p>
            <a:pPr rtl="0" algn="ctr" indent="0" marL="0">
              <a:lnSpc>
                <a:spcPct val="105000"/>
              </a:lnSpc>
              <a:spcAft>
                <a:spcPts val="600"/>
              </a:spcAft>
              <a:buNone/>
            </a:pPr>
            <a:r>
              <a:rPr lang="en-US" altLang="en-US" sz="3000" b="1" baseline="-40000" dirty="0">
                <a:solidFill>
                  <a:srgbClr val="16325C"/>
                </a:solidFill>
                <a:latin typeface="Arial" pitchFamily="34" charset="0"/>
                <a:ea typeface="Arial" pitchFamily="34" charset="-122"/>
                <a:cs typeface="Arial" pitchFamily="34" charset="-120"/>
              </a:rPr>
              <a:t>11</a:t>
            </a:r>
            <a:r>
              <a:rPr lang="en-US" altLang="en-US" sz="3000" b="1" dirty="0">
                <a:solidFill>
                  <a:srgbClr val="16325C"/>
                </a:solidFill>
                <a:latin typeface="Arial" pitchFamily="34" charset="0"/>
                <a:ea typeface="Arial" pitchFamily="34" charset="-122"/>
                <a:cs typeface="Arial" pitchFamily="34" charset="-120"/>
              </a:rPr>
              <a:t>Na : 2,8,1</a:t>
            </a:r>
            <a:endParaRPr lang="en-US" sz="3000" dirty="0"/>
          </a:p>
        </p:txBody>
      </p:sp>
      <p:sp>
        <p:nvSpPr>
          <p:cNvPr id="9" name="anim_17_203"/>
          <p:cNvSpPr txBox="1"/>
          <p:nvPr/>
        </p:nvSpPr>
        <p:spPr>
          <a:xfrm>
            <a:off x="8458200" y="3291840"/>
            <a:ext cx="3154680" cy="502920"/>
          </a:xfrm>
          <a:prstGeom prst="rect">
            <a:avLst/>
          </a:prstGeom>
          <a:noFill/>
          <a:ln/>
        </p:spPr>
        <p:txBody>
          <a:bodyPr wrap="square" lIns="50800" tIns="50800" rIns="50800" bIns="50800" rtlCol="0" anchor="t"/>
          <a:lstStyle/>
          <a:p>
            <a:pPr rtl="0" algn="ctr" indent="0" marL="0">
              <a:lnSpc>
                <a:spcPct val="105000"/>
              </a:lnSpc>
              <a:spcAft>
                <a:spcPts val="600"/>
              </a:spcAft>
              <a:buNone/>
            </a:pPr>
            <a:r>
              <a:rPr lang="ar-KW" altLang="en-US" sz="2200" b="1" dirty="0">
                <a:solidFill>
                  <a:srgbClr val="E8335F"/>
                </a:solidFill>
                <a:latin typeface="Arial" pitchFamily="34" charset="0"/>
                <a:ea typeface="Arial" pitchFamily="34" charset="-122"/>
                <a:cs typeface="Arial" pitchFamily="34" charset="-120"/>
              </a:rPr>
              <a:t>تفقد إلكترونًا</a:t>
            </a:r>
            <a:r>
              <a:rPr lang="ar-KW" altLang="en-US" sz="2200" b="1" dirty="0">
                <a:solidFill>
                  <a:srgbClr val="E8335F"/>
                </a:solidFill>
                <a:latin typeface="Arial" pitchFamily="34" charset="0"/>
                <a:ea typeface="Arial" pitchFamily="34" charset="-122"/>
                <a:cs typeface="Arial" pitchFamily="34" charset="-120"/>
              </a:rPr>
              <a:t>  ▼</a:t>
            </a:r>
            <a:endParaRPr lang="ar-KW" sz="2200" dirty="0"/>
          </a:p>
        </p:txBody>
      </p:sp>
      <p:pic>
        <p:nvPicPr>
          <p:cNvPr id="10" name="anim_17_204" descr="na_ion.png">    </p:cNvPr>
          <p:cNvPicPr>
            <a:picLocks noChangeAspect="1"/>
          </p:cNvPicPr>
          <p:nvPr/>
        </p:nvPicPr>
        <p:blipFill>
          <a:blip r:embed="rId3"/>
          <a:stretch>
            <a:fillRect/>
          </a:stretch>
        </p:blipFill>
        <p:spPr>
          <a:xfrm>
            <a:off x="6355080" y="3886200"/>
            <a:ext cx="2011680" cy="2011680"/>
          </a:xfrm>
          <a:prstGeom prst="rect">
            <a:avLst/>
          </a:prstGeom>
        </p:spPr>
      </p:pic>
      <p:sp>
        <p:nvSpPr>
          <p:cNvPr id="11" name="anim_17_205"/>
          <p:cNvSpPr txBox="1"/>
          <p:nvPr/>
        </p:nvSpPr>
        <p:spPr>
          <a:xfrm>
            <a:off x="8458200" y="4023360"/>
            <a:ext cx="315468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600" b="1" dirty="0">
                <a:solidFill>
                  <a:srgbClr val="E8335F"/>
                </a:solidFill>
                <a:latin typeface="Arial" pitchFamily="34" charset="0"/>
                <a:ea typeface="Arial" pitchFamily="34" charset="-122"/>
                <a:cs typeface="Arial" pitchFamily="34" charset="-120"/>
              </a:rPr>
              <a:t>كاتيون الصوديوم</a:t>
            </a:r>
            <a:endParaRPr lang="ar-KW" sz="2600" dirty="0"/>
          </a:p>
        </p:txBody>
      </p:sp>
      <p:sp>
        <p:nvSpPr>
          <p:cNvPr id="12" name="anim_17_206"/>
          <p:cNvSpPr txBox="1"/>
          <p:nvPr/>
        </p:nvSpPr>
        <p:spPr>
          <a:xfrm>
            <a:off x="8458200" y="4617720"/>
            <a:ext cx="3154680" cy="640080"/>
          </a:xfrm>
          <a:prstGeom prst="roundRect">
            <a:avLst>
              <a:gd name="adj" fmla="val 21429"/>
            </a:avLst>
          </a:prstGeom>
          <a:solidFill>
            <a:srgbClr val="D6ECFA"/>
          </a:solidFill>
          <a:ln/>
        </p:spPr>
        <p:txBody>
          <a:bodyPr wrap="square" lIns="50800" tIns="50800" rIns="50800" bIns="50800" rtlCol="0" anchor="t"/>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Na</a:t>
            </a:r>
            <a:r>
              <a:rPr lang="en-US" altLang="en-US" sz="3000" b="1" baseline="30000" dirty="0">
                <a:solidFill>
                  <a:srgbClr val="16325C"/>
                </a:solidFill>
                <a:latin typeface="Arial" pitchFamily="34" charset="0"/>
                <a:ea typeface="Arial" pitchFamily="34" charset="-122"/>
                <a:cs typeface="Arial" pitchFamily="34" charset="-120"/>
              </a:rPr>
              <a:t>+</a:t>
            </a:r>
            <a:r>
              <a:rPr lang="en-US" altLang="en-US" sz="3000" b="1" dirty="0">
                <a:solidFill>
                  <a:srgbClr val="16325C"/>
                </a:solidFill>
                <a:latin typeface="Arial" pitchFamily="34" charset="0"/>
                <a:ea typeface="Arial" pitchFamily="34" charset="-122"/>
                <a:cs typeface="Arial" pitchFamily="34" charset="-120"/>
              </a:rPr>
              <a:t> : 2,8</a:t>
            </a:r>
            <a:endParaRPr lang="en-US" sz="3000" dirty="0"/>
          </a:p>
        </p:txBody>
      </p:sp>
      <p:sp>
        <p:nvSpPr>
          <p:cNvPr id="13" name="anim_17_207"/>
          <p:cNvSpPr/>
          <p:nvPr/>
        </p:nvSpPr>
        <p:spPr>
          <a:xfrm>
            <a:off x="411480" y="1645920"/>
            <a:ext cx="5486400" cy="4343400"/>
          </a:xfrm>
          <a:prstGeom prst="roundRect">
            <a:avLst>
              <a:gd name="adj" fmla="val 6316"/>
            </a:avLst>
          </a:prstGeom>
          <a:solidFill>
            <a:srgbClr val="FFFFFF">
              <a:alpha val="90000"/>
            </a:srgbClr>
          </a:solidFill>
          <a:ln/>
          <a:effectLst>
            <a:outerShdw sx="100000" sy="100000" kx="0" ky="0" algn="bl" rotWithShape="0" blurRad="152400" dist="50800" dir="5400000">
              <a:srgbClr val="1F4F8A">
                <a:alpha val="18000"/>
              </a:srgbClr>
            </a:outerShdw>
          </a:effectLst>
        </p:spPr>
      </p:sp>
      <p:pic>
        <p:nvPicPr>
          <p:cNvPr id="14" name="anim_17_208" descr="cl_atom.png">    </p:cNvPr>
          <p:cNvPicPr>
            <a:picLocks noChangeAspect="1"/>
          </p:cNvPicPr>
          <p:nvPr/>
        </p:nvPicPr>
        <p:blipFill>
          <a:blip r:embed="rId4"/>
          <a:stretch>
            <a:fillRect/>
          </a:stretch>
        </p:blipFill>
        <p:spPr>
          <a:xfrm>
            <a:off x="502920" y="1691640"/>
            <a:ext cx="2011680" cy="2011680"/>
          </a:xfrm>
          <a:prstGeom prst="rect">
            <a:avLst/>
          </a:prstGeom>
        </p:spPr>
      </p:pic>
      <p:sp>
        <p:nvSpPr>
          <p:cNvPr id="15" name="anim_17_209"/>
          <p:cNvSpPr txBox="1"/>
          <p:nvPr/>
        </p:nvSpPr>
        <p:spPr>
          <a:xfrm>
            <a:off x="2606040" y="1828800"/>
            <a:ext cx="315468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ذرة الكلور</a:t>
            </a:r>
            <a:endParaRPr lang="ar-KW" sz="2600" dirty="0"/>
          </a:p>
        </p:txBody>
      </p:sp>
      <p:sp>
        <p:nvSpPr>
          <p:cNvPr id="16" name="anim_17_210"/>
          <p:cNvSpPr txBox="1"/>
          <p:nvPr/>
        </p:nvSpPr>
        <p:spPr>
          <a:xfrm>
            <a:off x="2606040" y="2423160"/>
            <a:ext cx="3154680" cy="640080"/>
          </a:xfrm>
          <a:prstGeom prst="roundRect">
            <a:avLst>
              <a:gd name="adj" fmla="val 21429"/>
            </a:avLst>
          </a:prstGeom>
          <a:solidFill>
            <a:srgbClr val="D6ECFA"/>
          </a:solidFill>
          <a:ln/>
        </p:spPr>
        <p:txBody>
          <a:bodyPr wrap="square" lIns="50800" tIns="50800" rIns="50800" bIns="50800" rtlCol="0" anchor="t"/>
          <a:lstStyle/>
          <a:p>
            <a:pPr rtl="0" algn="ctr" indent="0" marL="0">
              <a:lnSpc>
                <a:spcPct val="105000"/>
              </a:lnSpc>
              <a:spcAft>
                <a:spcPts val="600"/>
              </a:spcAft>
              <a:buNone/>
            </a:pPr>
            <a:r>
              <a:rPr lang="en-US" altLang="en-US" sz="3000" b="1" baseline="-40000" dirty="0">
                <a:solidFill>
                  <a:srgbClr val="16325C"/>
                </a:solidFill>
                <a:latin typeface="Arial" pitchFamily="34" charset="0"/>
                <a:ea typeface="Arial" pitchFamily="34" charset="-122"/>
                <a:cs typeface="Arial" pitchFamily="34" charset="-120"/>
              </a:rPr>
              <a:t>17</a:t>
            </a:r>
            <a:r>
              <a:rPr lang="en-US" altLang="en-US" sz="3000" b="1" dirty="0">
                <a:solidFill>
                  <a:srgbClr val="16325C"/>
                </a:solidFill>
                <a:latin typeface="Arial" pitchFamily="34" charset="0"/>
                <a:ea typeface="Arial" pitchFamily="34" charset="-122"/>
                <a:cs typeface="Arial" pitchFamily="34" charset="-120"/>
              </a:rPr>
              <a:t>Cl : 2,8,7</a:t>
            </a:r>
            <a:endParaRPr lang="en-US" sz="3000" dirty="0"/>
          </a:p>
        </p:txBody>
      </p:sp>
      <p:sp>
        <p:nvSpPr>
          <p:cNvPr id="17" name="anim_17_211"/>
          <p:cNvSpPr txBox="1"/>
          <p:nvPr/>
        </p:nvSpPr>
        <p:spPr>
          <a:xfrm>
            <a:off x="2606040" y="3291840"/>
            <a:ext cx="3154680" cy="502920"/>
          </a:xfrm>
          <a:prstGeom prst="rect">
            <a:avLst/>
          </a:prstGeom>
          <a:noFill/>
          <a:ln/>
        </p:spPr>
        <p:txBody>
          <a:bodyPr wrap="square" lIns="50800" tIns="50800" rIns="50800" bIns="50800" rtlCol="0" anchor="t"/>
          <a:lstStyle/>
          <a:p>
            <a:pPr rtl="0" algn="ctr" indent="0" marL="0">
              <a:lnSpc>
                <a:spcPct val="105000"/>
              </a:lnSpc>
              <a:spcAft>
                <a:spcPts val="600"/>
              </a:spcAft>
              <a:buNone/>
            </a:pPr>
            <a:r>
              <a:rPr lang="ar-KW" altLang="en-US" sz="2200" b="1" dirty="0">
                <a:solidFill>
                  <a:srgbClr val="1F6FB2"/>
                </a:solidFill>
                <a:latin typeface="Arial" pitchFamily="34" charset="0"/>
                <a:ea typeface="Arial" pitchFamily="34" charset="-122"/>
                <a:cs typeface="Arial" pitchFamily="34" charset="-120"/>
              </a:rPr>
              <a:t>تكتسب إلكترونًا</a:t>
            </a:r>
            <a:r>
              <a:rPr lang="ar-KW" altLang="en-US" sz="2200" b="1" dirty="0">
                <a:solidFill>
                  <a:srgbClr val="1F6FB2"/>
                </a:solidFill>
                <a:latin typeface="Arial" pitchFamily="34" charset="0"/>
                <a:ea typeface="Arial" pitchFamily="34" charset="-122"/>
                <a:cs typeface="Arial" pitchFamily="34" charset="-120"/>
              </a:rPr>
              <a:t>  ▼</a:t>
            </a:r>
            <a:endParaRPr lang="ar-KW" sz="2200" dirty="0"/>
          </a:p>
        </p:txBody>
      </p:sp>
      <p:pic>
        <p:nvPicPr>
          <p:cNvPr id="18" name="anim_17_212" descr="cl_ion.png">    </p:cNvPr>
          <p:cNvPicPr>
            <a:picLocks noChangeAspect="1"/>
          </p:cNvPicPr>
          <p:nvPr/>
        </p:nvPicPr>
        <p:blipFill>
          <a:blip r:embed="rId5"/>
          <a:stretch>
            <a:fillRect/>
          </a:stretch>
        </p:blipFill>
        <p:spPr>
          <a:xfrm>
            <a:off x="502920" y="3886200"/>
            <a:ext cx="2011680" cy="2011680"/>
          </a:xfrm>
          <a:prstGeom prst="rect">
            <a:avLst/>
          </a:prstGeom>
        </p:spPr>
      </p:pic>
      <p:sp>
        <p:nvSpPr>
          <p:cNvPr id="19" name="anim_17_213"/>
          <p:cNvSpPr txBox="1"/>
          <p:nvPr/>
        </p:nvSpPr>
        <p:spPr>
          <a:xfrm>
            <a:off x="2606040" y="4023360"/>
            <a:ext cx="315468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600" b="1" dirty="0">
                <a:solidFill>
                  <a:srgbClr val="1F6FB2"/>
                </a:solidFill>
                <a:latin typeface="Arial" pitchFamily="34" charset="0"/>
                <a:ea typeface="Arial" pitchFamily="34" charset="-122"/>
                <a:cs typeface="Arial" pitchFamily="34" charset="-120"/>
              </a:rPr>
              <a:t>أنيون الكلوريد</a:t>
            </a:r>
            <a:endParaRPr lang="ar-KW" sz="2600" dirty="0"/>
          </a:p>
        </p:txBody>
      </p:sp>
      <p:sp>
        <p:nvSpPr>
          <p:cNvPr id="20" name="anim_17_214"/>
          <p:cNvSpPr txBox="1"/>
          <p:nvPr/>
        </p:nvSpPr>
        <p:spPr>
          <a:xfrm>
            <a:off x="2606040" y="4617720"/>
            <a:ext cx="3154680" cy="640080"/>
          </a:xfrm>
          <a:prstGeom prst="roundRect">
            <a:avLst>
              <a:gd name="adj" fmla="val 21429"/>
            </a:avLst>
          </a:prstGeom>
          <a:solidFill>
            <a:srgbClr val="D6ECFA"/>
          </a:solidFill>
          <a:ln/>
        </p:spPr>
        <p:txBody>
          <a:bodyPr wrap="square" lIns="50800" tIns="50800" rIns="50800" bIns="50800" rtlCol="0" anchor="t"/>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Cl</a:t>
            </a:r>
            <a:r>
              <a:rPr lang="en-US" altLang="en-US" sz="3000" b="1" baseline="30000" dirty="0">
                <a:solidFill>
                  <a:srgbClr val="16325C"/>
                </a:solidFill>
                <a:latin typeface="Arial" pitchFamily="34" charset="0"/>
                <a:ea typeface="Arial" pitchFamily="34" charset="-122"/>
                <a:cs typeface="Arial" pitchFamily="34" charset="-120"/>
              </a:rPr>
              <a:t>−</a:t>
            </a:r>
            <a:r>
              <a:rPr lang="en-US" altLang="en-US" sz="3000" b="1" dirty="0">
                <a:solidFill>
                  <a:srgbClr val="16325C"/>
                </a:solidFill>
                <a:latin typeface="Arial" pitchFamily="34" charset="0"/>
                <a:ea typeface="Arial" pitchFamily="34" charset="-122"/>
                <a:cs typeface="Arial" pitchFamily="34" charset="-120"/>
              </a:rPr>
              <a:t> : 2,8,8</a:t>
            </a:r>
            <a:endParaRPr lang="en-US" sz="3000" dirty="0"/>
          </a:p>
        </p:txBody>
      </p:sp>
      <p:sp>
        <p:nvSpPr>
          <p:cNvPr id="21" name="anim_17_215"/>
          <p:cNvSpPr txBox="1"/>
          <p:nvPr/>
        </p:nvSpPr>
        <p:spPr>
          <a:xfrm>
            <a:off x="1463040" y="6053328"/>
            <a:ext cx="9235440" cy="457200"/>
          </a:xfrm>
          <a:prstGeom prst="rect">
            <a:avLst/>
          </a:prstGeom>
          <a:noFill/>
          <a:ln/>
        </p:spPr>
        <p:txBody>
          <a:bodyPr wrap="square" lIns="50800" tIns="50800" rIns="50800" bIns="50800" rtlCol="0" anchor="t"/>
          <a:lstStyle/>
          <a:p>
            <a:pPr rtl="0" algn="ctr" indent="0" marL="0">
              <a:lnSpc>
                <a:spcPct val="105000"/>
              </a:lnSpc>
              <a:spcAft>
                <a:spcPts val="600"/>
              </a:spcAft>
              <a:buNone/>
            </a:pPr>
            <a:r>
              <a:rPr lang="ar-KW" altLang="en-US" sz="1800" b="1" dirty="0">
                <a:solidFill>
                  <a:srgbClr val="1F6FB2"/>
                </a:solidFill>
                <a:latin typeface="Arial" pitchFamily="34" charset="0"/>
                <a:ea typeface="Arial" pitchFamily="34" charset="-122"/>
                <a:cs typeface="Arial" pitchFamily="34" charset="-120"/>
              </a:rPr>
              <a:t>جدول (12) </a:t>
            </a:r>
            <a:r>
              <a:rPr lang="ar-KW" altLang="en-US" sz="1800" b="1" dirty="0">
                <a:solidFill>
                  <a:srgbClr val="16325C"/>
                </a:solidFill>
                <a:latin typeface="Arial" pitchFamily="34" charset="0"/>
                <a:ea typeface="Arial" pitchFamily="34" charset="-122"/>
                <a:cs typeface="Arial" pitchFamily="34" charset="-120"/>
              </a:rPr>
              <a:t>يوضح الفرق بين الترتيب الإلكتروني لذرة العنصر والأيون</a:t>
            </a:r>
            <a:endParaRPr lang="ar-KW" sz="1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4"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45"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par>
                          <p:cTn id="46" fill="hold">
                            <p:stCondLst>
                              <p:cond delay="1300"/>
                            </p:stCondLst>
                            <p:childTnLst>
                              <p:par>
                                <p:cTn id="14" presetID="53"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00" fill="hold"/>
                                        <p:tgtEl>
                                          <p:spTgt spid="6"/>
                                        </p:tgtEl>
                                        <p:attrNameLst>
                                          <p:attrName>ppt_w</p:attrName>
                                        </p:attrNameLst>
                                      </p:cBhvr>
                                      <p:tavLst>
                                        <p:tav tm="0">
                                          <p:val>
                                            <p:fltVal val="0"/>
                                          </p:val>
                                        </p:tav>
                                        <p:tav tm="100000">
                                          <p:val>
                                            <p:strVal val="#ppt_w"/>
                                          </p:val>
                                        </p:tav>
                                      </p:tavLst>
                                    </p:anim>
                                    <p:anim calcmode="lin" valueType="num">
                                      <p:cBhvr additive="base">
                                        <p:cTn id="17" dur="700" fill="hold"/>
                                        <p:tgtEl>
                                          <p:spTgt spid="6"/>
                                        </p:tgtEl>
                                        <p:attrNameLst>
                                          <p:attrName>ppt_h</p:attrName>
                                        </p:attrNameLst>
                                      </p:cBhvr>
                                      <p:tavLst>
                                        <p:tav tm="0">
                                          <p:val>
                                            <p:fltVal val="0"/>
                                          </p:val>
                                        </p:tav>
                                        <p:tav tm="100000">
                                          <p:val>
                                            <p:strVal val="#ppt_h"/>
                                          </p:val>
                                        </p:tav>
                                      </p:tavLst>
                                    </p:anim>
                                    <p:animEffect transition="in" filter="fade">
                                      <p:cBhvr>
                                        <p:cTn id="18" dur="7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ppt_w</p:attrName>
                                        </p:attrNameLst>
                                      </p:cBhvr>
                                      <p:tavLst>
                                        <p:tav tm="0">
                                          <p:val>
                                            <p:fltVal val="0"/>
                                          </p:val>
                                        </p:tav>
                                        <p:tav tm="100000">
                                          <p:val>
                                            <p:strVal val="#ppt_w"/>
                                          </p:val>
                                        </p:tav>
                                      </p:tavLst>
                                    </p:anim>
                                    <p:anim calcmode="lin" valueType="num">
                                      <p:cBhvr additive="base">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childTnLst>
                          </p:cTn>
                        </p:par>
                        <p:par>
                          <p:cTn id="47" fill="hold">
                            <p:stCondLst>
                              <p:cond delay="2000"/>
                            </p:stCondLst>
                            <p:childTnLst>
                              <p:par>
                                <p:cTn id="27" presetID="2" presetClass="entr" presetSubtype="4"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600" fill="hold"/>
                                        <p:tgtEl>
                                          <p:spTgt spid="9"/>
                                        </p:tgtEl>
                                        <p:attrNameLst>
                                          <p:attrName>ppt_x</p:attrName>
                                        </p:attrNameLst>
                                      </p:cBhvr>
                                      <p:tavLst>
                                        <p:tav tm="0">
                                          <p:val>
                                            <p:strVal val="#ppt_x"/>
                                          </p:val>
                                        </p:tav>
                                        <p:tav tm="100000">
                                          <p:val>
                                            <p:strVal val="#ppt_x"/>
                                          </p:val>
                                        </p:tav>
                                      </p:tavLst>
                                    </p:anim>
                                    <p:anim calcmode="lin" valueType="num">
                                      <p:cBhvr additive="base">
                                        <p:cTn id="30" dur="600" fill="hold"/>
                                        <p:tgtEl>
                                          <p:spTgt spid="9"/>
                                        </p:tgtEl>
                                        <p:attrNameLst>
                                          <p:attrName>ppt_y</p:attrName>
                                        </p:attrNameLst>
                                      </p:cBhvr>
                                      <p:tavLst>
                                        <p:tav tm="0">
                                          <p:val>
                                            <p:strVal val="1+#ppt_h/2"/>
                                          </p:val>
                                        </p:tav>
                                        <p:tav tm="100000">
                                          <p:val>
                                            <p:strVal val="#ppt_y"/>
                                          </p:val>
                                        </p:tav>
                                      </p:tavLst>
                                    </p:anim>
                                  </p:childTnLst>
                                </p:cTn>
                              </p:par>
                            </p:childTnLst>
                          </p:cTn>
                        </p:par>
                        <p:par>
                          <p:cTn id="48" fill="hold">
                            <p:stCondLst>
                              <p:cond delay="2600"/>
                            </p:stCondLst>
                            <p:childTnLst>
                              <p:par>
                                <p:cTn id="31" presetID="53" presetClass="entr" presetSubtype="1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700" fill="hold"/>
                                        <p:tgtEl>
                                          <p:spTgt spid="10"/>
                                        </p:tgtEl>
                                        <p:attrNameLst>
                                          <p:attrName>ppt_w</p:attrName>
                                        </p:attrNameLst>
                                      </p:cBhvr>
                                      <p:tavLst>
                                        <p:tav tm="0">
                                          <p:val>
                                            <p:fltVal val="0"/>
                                          </p:val>
                                        </p:tav>
                                        <p:tav tm="100000">
                                          <p:val>
                                            <p:strVal val="#ppt_w"/>
                                          </p:val>
                                        </p:tav>
                                      </p:tavLst>
                                    </p:anim>
                                    <p:anim calcmode="lin" valueType="num">
                                      <p:cBhvr additive="base">
                                        <p:cTn id="34" dur="700" fill="hold"/>
                                        <p:tgtEl>
                                          <p:spTgt spid="10"/>
                                        </p:tgtEl>
                                        <p:attrNameLst>
                                          <p:attrName>ppt_h</p:attrName>
                                        </p:attrNameLst>
                                      </p:cBhvr>
                                      <p:tavLst>
                                        <p:tav tm="0">
                                          <p:val>
                                            <p:fltVal val="0"/>
                                          </p:val>
                                        </p:tav>
                                        <p:tav tm="100000">
                                          <p:val>
                                            <p:strVal val="#ppt_h"/>
                                          </p:val>
                                        </p:tav>
                                      </p:tavLst>
                                    </p:anim>
                                    <p:animEffect transition="in" filter="fade">
                                      <p:cBhvr>
                                        <p:cTn id="35" dur="7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ppt_w</p:attrName>
                                        </p:attrNameLst>
                                      </p:cBhvr>
                                      <p:tavLst>
                                        <p:tav tm="0">
                                          <p:val>
                                            <p:fltVal val="0"/>
                                          </p:val>
                                        </p:tav>
                                        <p:tav tm="100000">
                                          <p:val>
                                            <p:strVal val="#ppt_w"/>
                                          </p:val>
                                        </p:tav>
                                      </p:tavLst>
                                    </p:anim>
                                    <p:anim calcmode="lin" valueType="num">
                                      <p:cBhvr additive="base">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childTnLst>
                          </p:cTn>
                        </p:par>
                      </p:childTnLst>
                    </p:cTn>
                  </p:par>
                  <p:par>
                    <p:cTn id="91" fill="hold">
                      <p:stCondLst>
                        <p:cond delay="indefinite"/>
                      </p:stCondLst>
                      <p:childTnLst>
                        <p:par>
                          <p:cTn id="86"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par>
                          <p:cTn id="87" fill="hold">
                            <p:stCondLst>
                              <p:cond delay="500"/>
                            </p:stCondLst>
                            <p:childTnLst>
                              <p:par>
                                <p:cTn id="53" presetID="53" presetClass="entr" presetSubtype="16"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700" fill="hold"/>
                                        <p:tgtEl>
                                          <p:spTgt spid="14"/>
                                        </p:tgtEl>
                                        <p:attrNameLst>
                                          <p:attrName>ppt_w</p:attrName>
                                        </p:attrNameLst>
                                      </p:cBhvr>
                                      <p:tavLst>
                                        <p:tav tm="0">
                                          <p:val>
                                            <p:fltVal val="0"/>
                                          </p:val>
                                        </p:tav>
                                        <p:tav tm="100000">
                                          <p:val>
                                            <p:strVal val="#ppt_w"/>
                                          </p:val>
                                        </p:tav>
                                      </p:tavLst>
                                    </p:anim>
                                    <p:anim calcmode="lin" valueType="num">
                                      <p:cBhvr additive="base">
                                        <p:cTn id="56" dur="700" fill="hold"/>
                                        <p:tgtEl>
                                          <p:spTgt spid="14"/>
                                        </p:tgtEl>
                                        <p:attrNameLst>
                                          <p:attrName>ppt_h</p:attrName>
                                        </p:attrNameLst>
                                      </p:cBhvr>
                                      <p:tavLst>
                                        <p:tav tm="0">
                                          <p:val>
                                            <p:fltVal val="0"/>
                                          </p:val>
                                        </p:tav>
                                        <p:tav tm="100000">
                                          <p:val>
                                            <p:strVal val="#ppt_h"/>
                                          </p:val>
                                        </p:tav>
                                      </p:tavLst>
                                    </p:anim>
                                    <p:animEffect transition="in" filter="fade">
                                      <p:cBhvr>
                                        <p:cTn id="57" dur="700"/>
                                        <p:tgtEl>
                                          <p:spTgt spid="1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500" fill="hold"/>
                                        <p:tgtEl>
                                          <p:spTgt spid="16"/>
                                        </p:tgtEl>
                                        <p:attrNameLst>
                                          <p:attrName>ppt_w</p:attrName>
                                        </p:attrNameLst>
                                      </p:cBhvr>
                                      <p:tavLst>
                                        <p:tav tm="0">
                                          <p:val>
                                            <p:fltVal val="0"/>
                                          </p:val>
                                        </p:tav>
                                        <p:tav tm="100000">
                                          <p:val>
                                            <p:strVal val="#ppt_w"/>
                                          </p:val>
                                        </p:tav>
                                      </p:tavLst>
                                    </p:anim>
                                    <p:anim calcmode="lin" valueType="num">
                                      <p:cBhvr additive="base">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childTnLst>
                                </p:cTn>
                              </p:par>
                            </p:childTnLst>
                          </p:cTn>
                        </p:par>
                        <p:par>
                          <p:cTn id="88" fill="hold">
                            <p:stCondLst>
                              <p:cond delay="1200"/>
                            </p:stCondLst>
                            <p:childTnLst>
                              <p:par>
                                <p:cTn id="66" presetID="2" presetClass="entr" presetSubtype="4" fill="hold" grpId="0" nodeType="after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600" fill="hold"/>
                                        <p:tgtEl>
                                          <p:spTgt spid="17"/>
                                        </p:tgtEl>
                                        <p:attrNameLst>
                                          <p:attrName>ppt_x</p:attrName>
                                        </p:attrNameLst>
                                      </p:cBhvr>
                                      <p:tavLst>
                                        <p:tav tm="0">
                                          <p:val>
                                            <p:strVal val="#ppt_x"/>
                                          </p:val>
                                        </p:tav>
                                        <p:tav tm="100000">
                                          <p:val>
                                            <p:strVal val="#ppt_x"/>
                                          </p:val>
                                        </p:tav>
                                      </p:tavLst>
                                    </p:anim>
                                    <p:anim calcmode="lin" valueType="num">
                                      <p:cBhvr additive="base">
                                        <p:cTn id="69" dur="600" fill="hold"/>
                                        <p:tgtEl>
                                          <p:spTgt spid="17"/>
                                        </p:tgtEl>
                                        <p:attrNameLst>
                                          <p:attrName>ppt_y</p:attrName>
                                        </p:attrNameLst>
                                      </p:cBhvr>
                                      <p:tavLst>
                                        <p:tav tm="0">
                                          <p:val>
                                            <p:strVal val="1+#ppt_h/2"/>
                                          </p:val>
                                        </p:tav>
                                        <p:tav tm="100000">
                                          <p:val>
                                            <p:strVal val="#ppt_y"/>
                                          </p:val>
                                        </p:tav>
                                      </p:tavLst>
                                    </p:anim>
                                  </p:childTnLst>
                                </p:cTn>
                              </p:par>
                            </p:childTnLst>
                          </p:cTn>
                        </p:par>
                        <p:par>
                          <p:cTn id="89" fill="hold">
                            <p:stCondLst>
                              <p:cond delay="1800"/>
                            </p:stCondLst>
                            <p:childTnLst>
                              <p:par>
                                <p:cTn id="70" presetID="53" presetClass="entr" presetSubtype="16" fill="hold" grpId="0" nodeType="afterEffect">
                                  <p:stCondLst>
                                    <p:cond delay="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700" fill="hold"/>
                                        <p:tgtEl>
                                          <p:spTgt spid="18"/>
                                        </p:tgtEl>
                                        <p:attrNameLst>
                                          <p:attrName>ppt_w</p:attrName>
                                        </p:attrNameLst>
                                      </p:cBhvr>
                                      <p:tavLst>
                                        <p:tav tm="0">
                                          <p:val>
                                            <p:fltVal val="0"/>
                                          </p:val>
                                        </p:tav>
                                        <p:tav tm="100000">
                                          <p:val>
                                            <p:strVal val="#ppt_w"/>
                                          </p:val>
                                        </p:tav>
                                      </p:tavLst>
                                    </p:anim>
                                    <p:anim calcmode="lin" valueType="num">
                                      <p:cBhvr additive="base">
                                        <p:cTn id="73" dur="700" fill="hold"/>
                                        <p:tgtEl>
                                          <p:spTgt spid="18"/>
                                        </p:tgtEl>
                                        <p:attrNameLst>
                                          <p:attrName>ppt_h</p:attrName>
                                        </p:attrNameLst>
                                      </p:cBhvr>
                                      <p:tavLst>
                                        <p:tav tm="0">
                                          <p:val>
                                            <p:fltVal val="0"/>
                                          </p:val>
                                        </p:tav>
                                        <p:tav tm="100000">
                                          <p:val>
                                            <p:strVal val="#ppt_h"/>
                                          </p:val>
                                        </p:tav>
                                      </p:tavLst>
                                    </p:anim>
                                    <p:animEffect transition="in" filter="fade">
                                      <p:cBhvr>
                                        <p:cTn id="74" dur="700"/>
                                        <p:tgtEl>
                                          <p:spTgt spid="1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500" fill="hold"/>
                                        <p:tgtEl>
                                          <p:spTgt spid="20"/>
                                        </p:tgtEl>
                                        <p:attrNameLst>
                                          <p:attrName>ppt_w</p:attrName>
                                        </p:attrNameLst>
                                      </p:cBhvr>
                                      <p:tavLst>
                                        <p:tav tm="0">
                                          <p:val>
                                            <p:fltVal val="0"/>
                                          </p:val>
                                        </p:tav>
                                        <p:tav tm="100000">
                                          <p:val>
                                            <p:strVal val="#ppt_w"/>
                                          </p:val>
                                        </p:tav>
                                      </p:tavLst>
                                    </p:anim>
                                    <p:anim calcmode="lin" valueType="num">
                                      <p:cBhvr additive="base">
                                        <p:cTn id="81" dur="500" fill="hold"/>
                                        <p:tgtEl>
                                          <p:spTgt spid="20"/>
                                        </p:tgtEl>
                                        <p:attrNameLst>
                                          <p:attrName>ppt_h</p:attrName>
                                        </p:attrNameLst>
                                      </p:cBhvr>
                                      <p:tavLst>
                                        <p:tav tm="0">
                                          <p:val>
                                            <p:fltVal val="0"/>
                                          </p:val>
                                        </p:tav>
                                        <p:tav tm="100000">
                                          <p:val>
                                            <p:strVal val="#ppt_h"/>
                                          </p:val>
                                        </p:tav>
                                      </p:tavLst>
                                    </p:anim>
                                    <p:animEffect transition="in" filter="fade">
                                      <p:cBhvr>
                                        <p:cTn id="82" dur="500"/>
                                        <p:tgtEl>
                                          <p:spTgt spid="20"/>
                                        </p:tgtEl>
                                      </p:cBhvr>
                                    </p:animEffect>
                                  </p:childTnLst>
                                </p:cTn>
                              </p:par>
                            </p:childTnLst>
                          </p:cTn>
                        </p:par>
                        <p:par>
                          <p:cTn id="90" fill="hold">
                            <p:stCondLst>
                              <p:cond delay="2500"/>
                            </p:stCondLst>
                            <p:childTnLst>
                              <p:par>
                                <p:cTn id="83" presetID="10" presetClass="entr" presetSubtype="0" fill="hold" grpId="0" nodeType="after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2" name=""/>
        <p:cNvGrpSpPr/>
        <p:nvPr/>
      </p:nvGrpSpPr>
      <p:grpSpPr>
        <a:xfrm>
          <a:off x="0" y="0"/>
          <a:ext cx="0" cy="0"/>
          <a:chOff x="0" y="0"/>
          <a:chExt cx="0" cy="0"/>
        </a:xfrm>
      </p:grpSpPr>
      <p:sp>
        <p:nvSpPr>
          <p:cNvPr id="3" name="anim_18_216"/>
          <p:cNvSpPr/>
          <p:nvPr/>
        </p:nvSpPr>
        <p:spPr>
          <a:xfrm>
            <a:off x="6080760" y="502920"/>
            <a:ext cx="5669280" cy="868680"/>
          </a:xfrm>
          <a:prstGeom prst="roundRect">
            <a:avLst>
              <a:gd name="adj" fmla="val 49474"/>
            </a:avLst>
          </a:prstGeom>
          <a:solidFill>
            <a:srgbClr val="E59A0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قاعدة الثمانية</a:t>
            </a:r>
            <a:endParaRPr lang="ar-KW" sz="3600" dirty="0"/>
          </a:p>
        </p:txBody>
      </p:sp>
      <p:pic>
        <p:nvPicPr>
          <p:cNvPr id="4" name="anim_18_217" descr="sp_gold.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8_218"/>
          <p:cNvSpPr txBox="1"/>
          <p:nvPr/>
        </p:nvSpPr>
        <p:spPr>
          <a:xfrm>
            <a:off x="3657600" y="1645920"/>
            <a:ext cx="8092440" cy="260604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300" b="1" dirty="0">
                <a:solidFill>
                  <a:srgbClr val="16325C"/>
                </a:solidFill>
                <a:latin typeface="Arial" pitchFamily="34" charset="0"/>
                <a:ea typeface="Arial" pitchFamily="34" charset="-122"/>
                <a:cs typeface="Arial" pitchFamily="34" charset="-120"/>
              </a:rPr>
              <a:t>نلاحظ من خلال الجدول رقم (12) أن الترتيب الإلكتروني لـ</a:t>
            </a:r>
            <a:r>
              <a:rPr lang="ar-KW" altLang="en-US" sz="2300" b="1" dirty="0">
                <a:solidFill>
                  <a:srgbClr val="E8335F"/>
                </a:solidFill>
                <a:latin typeface="Arial" pitchFamily="34" charset="0"/>
                <a:ea typeface="Arial" pitchFamily="34" charset="-122"/>
                <a:cs typeface="Arial" pitchFamily="34" charset="-120"/>
              </a:rPr>
              <a:t>كاتيون الصوديوم</a:t>
            </a:r>
            <a:r>
              <a:rPr lang="ar-KW" altLang="en-US" sz="2300" b="1" dirty="0">
                <a:solidFill>
                  <a:srgbClr val="16325C"/>
                </a:solidFill>
                <a:latin typeface="Arial" pitchFamily="34" charset="0"/>
                <a:ea typeface="Arial" pitchFamily="34" charset="-122"/>
                <a:cs typeface="Arial" pitchFamily="34" charset="-120"/>
              </a:rPr>
              <a:t> مشابه للترتيب الإلكتروني لغاز </a:t>
            </a:r>
            <a:r>
              <a:rPr lang="ar-KW" altLang="en-US" sz="2300" b="1" dirty="0">
                <a:solidFill>
                  <a:srgbClr val="E8335F"/>
                </a:solidFill>
                <a:latin typeface="Arial" pitchFamily="34" charset="0"/>
                <a:ea typeface="Arial" pitchFamily="34" charset="-122"/>
                <a:cs typeface="Arial" pitchFamily="34" charset="-120"/>
              </a:rPr>
              <a:t>النيون</a:t>
            </a:r>
            <a:r>
              <a:rPr lang="ar-KW" altLang="en-US" sz="2300" b="1" dirty="0">
                <a:solidFill>
                  <a:srgbClr val="16325C"/>
                </a:solidFill>
                <a:latin typeface="Arial" pitchFamily="34" charset="0"/>
                <a:ea typeface="Arial" pitchFamily="34" charset="-122"/>
                <a:cs typeface="Arial" pitchFamily="34" charset="-120"/>
              </a:rPr>
              <a:t> (غاز نبيل) والترتيب الإلكتروني لـ</a:t>
            </a:r>
            <a:r>
              <a:rPr lang="ar-KW" altLang="en-US" sz="2300" b="1" dirty="0">
                <a:solidFill>
                  <a:srgbClr val="1F6FB2"/>
                </a:solidFill>
                <a:latin typeface="Arial" pitchFamily="34" charset="0"/>
                <a:ea typeface="Arial" pitchFamily="34" charset="-122"/>
                <a:cs typeface="Arial" pitchFamily="34" charset="-120"/>
              </a:rPr>
              <a:t>أنيون الكلوريد</a:t>
            </a:r>
            <a:r>
              <a:rPr lang="ar-KW" altLang="en-US" sz="2300" b="1" dirty="0">
                <a:solidFill>
                  <a:srgbClr val="16325C"/>
                </a:solidFill>
                <a:latin typeface="Arial" pitchFamily="34" charset="0"/>
                <a:ea typeface="Arial" pitchFamily="34" charset="-122"/>
                <a:cs typeface="Arial" pitchFamily="34" charset="-120"/>
              </a:rPr>
              <a:t> مشابه للترتيب الإلكتروني لغاز </a:t>
            </a:r>
            <a:r>
              <a:rPr lang="ar-KW" altLang="en-US" sz="2300" b="1" dirty="0">
                <a:solidFill>
                  <a:srgbClr val="1F6FB2"/>
                </a:solidFill>
                <a:latin typeface="Arial" pitchFamily="34" charset="0"/>
                <a:ea typeface="Arial" pitchFamily="34" charset="-122"/>
                <a:cs typeface="Arial" pitchFamily="34" charset="-120"/>
              </a:rPr>
              <a:t>الأرجون</a:t>
            </a:r>
            <a:r>
              <a:rPr lang="ar-KW" altLang="en-US" sz="2300" b="1" dirty="0">
                <a:solidFill>
                  <a:srgbClr val="16325C"/>
                </a:solidFill>
                <a:latin typeface="Arial" pitchFamily="34" charset="0"/>
                <a:ea typeface="Arial" pitchFamily="34" charset="-122"/>
                <a:cs typeface="Arial" pitchFamily="34" charset="-120"/>
              </a:rPr>
              <a:t> (غاز نبيل)، وتؤدّي هذه الملاحظة إلى أحد القواعد الكيميائية، وهي قاعدة الثمانية:</a:t>
            </a:r>
            <a:endParaRPr lang="ar-KW" sz="2300" dirty="0"/>
          </a:p>
        </p:txBody>
      </p:sp>
      <p:pic>
        <p:nvPicPr>
          <p:cNvPr id="6" name="anim_18_219" descr="octet.png">    </p:cNvPr>
          <p:cNvPicPr>
            <a:picLocks noChangeAspect="1"/>
          </p:cNvPicPr>
          <p:nvPr/>
        </p:nvPicPr>
        <p:blipFill>
          <a:blip r:embed="rId2"/>
          <a:stretch>
            <a:fillRect/>
          </a:stretch>
        </p:blipFill>
        <p:spPr>
          <a:xfrm>
            <a:off x="411480" y="1600200"/>
            <a:ext cx="3017520" cy="3017520"/>
          </a:xfrm>
          <a:prstGeom prst="rect">
            <a:avLst/>
          </a:prstGeom>
        </p:spPr>
      </p:pic>
      <p:sp>
        <p:nvSpPr>
          <p:cNvPr id="7" name="anim_18_220"/>
          <p:cNvSpPr/>
          <p:nvPr/>
        </p:nvSpPr>
        <p:spPr>
          <a:xfrm>
            <a:off x="457200" y="4389120"/>
            <a:ext cx="11292840" cy="1783080"/>
          </a:xfrm>
          <a:prstGeom prst="roundRect">
            <a:avLst>
              <a:gd name="adj" fmla="val 17949"/>
            </a:avLst>
          </a:prstGeom>
          <a:solidFill>
            <a:srgbClr val="FFF4D6"/>
          </a:solidFill>
          <a:ln w="50800">
            <a:solidFill>
              <a:srgbClr val="F2C14E"/>
            </a:solidFill>
            <a:prstDash val="solid"/>
          </a:ln>
          <a:effectLst>
            <a:outerShdw sx="100000" sy="100000" kx="0" ky="0" algn="bl" rotWithShape="0" blurRad="152400" dist="50800" dir="5400000">
              <a:srgbClr val="1F4F8A">
                <a:alpha val="18000"/>
              </a:srgbClr>
            </a:outerShdw>
          </a:effectLst>
        </p:spPr>
      </p:sp>
      <p:pic>
        <p:nvPicPr>
          <p:cNvPr id="8" name="anim_18_221" descr="sp_gold.png">    </p:cNvPr>
          <p:cNvPicPr>
            <a:picLocks noChangeAspect="1"/>
          </p:cNvPicPr>
          <p:nvPr/>
        </p:nvPicPr>
        <p:blipFill>
          <a:blip r:embed="rId3"/>
          <a:stretch>
            <a:fillRect/>
          </a:stretch>
        </p:blipFill>
        <p:spPr>
          <a:xfrm>
            <a:off x="10607040" y="4160520"/>
            <a:ext cx="1005840" cy="1005840"/>
          </a:xfrm>
          <a:prstGeom prst="rect">
            <a:avLst/>
          </a:prstGeom>
        </p:spPr>
      </p:pic>
      <p:sp>
        <p:nvSpPr>
          <p:cNvPr id="9" name="anim_18_222"/>
          <p:cNvSpPr txBox="1"/>
          <p:nvPr/>
        </p:nvSpPr>
        <p:spPr>
          <a:xfrm>
            <a:off x="10607040" y="4187952"/>
            <a:ext cx="1005840" cy="91440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3600" b="1" dirty="0">
                <a:solidFill>
                  <a:srgbClr val="FFFFFF"/>
                </a:solidFill>
                <a:latin typeface="Arial" pitchFamily="34" charset="0"/>
                <a:ea typeface="Arial" pitchFamily="34" charset="-122"/>
                <a:cs typeface="Arial" pitchFamily="34" charset="-120"/>
              </a:rPr>
              <a:t>8</a:t>
            </a:r>
            <a:endParaRPr lang="en-US" sz="3600" dirty="0"/>
          </a:p>
        </p:txBody>
      </p:sp>
      <p:sp>
        <p:nvSpPr>
          <p:cNvPr id="10" name="anim_18_223"/>
          <p:cNvSpPr txBox="1"/>
          <p:nvPr/>
        </p:nvSpPr>
        <p:spPr>
          <a:xfrm>
            <a:off x="685800" y="4434840"/>
            <a:ext cx="9784080" cy="169164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400" b="1" dirty="0">
                <a:solidFill>
                  <a:srgbClr val="E59A00"/>
                </a:solidFill>
                <a:latin typeface="Arial" pitchFamily="34" charset="0"/>
                <a:ea typeface="Arial" pitchFamily="34" charset="-122"/>
                <a:cs typeface="Arial" pitchFamily="34" charset="-120"/>
              </a:rPr>
              <a:t>قاعدة الثمانية</a:t>
            </a:r>
            <a:r>
              <a:rPr lang="ar-KW" altLang="en-US" sz="2400" b="1" dirty="0">
                <a:solidFill>
                  <a:srgbClr val="16325C"/>
                </a:solidFill>
                <a:latin typeface="Arial" pitchFamily="34" charset="0"/>
                <a:ea typeface="Arial" pitchFamily="34" charset="-122"/>
                <a:cs typeface="Arial" pitchFamily="34" charset="-120"/>
              </a:rPr>
              <a:t> تنص على: «ميل ذرة العنصر إلى فقد أو اكتساب أو مشاركة إلكترونات مستوى التكافؤ للوصول إلى ثماني إلكترونات لتحقيق حالة الاستقرار المشابهة للغاز النبيل».</a:t>
            </a:r>
            <a:endParaRPr lang="ar-KW" sz="24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19"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0"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1800"/>
                                        <p:tgtEl>
                                          <p:spTgt spid="5"/>
                                        </p:tgtEl>
                                      </p:cBhvr>
                                    </p:animEffect>
                                  </p:childTnLst>
                                </p:cTn>
                              </p:par>
                            </p:childTnLst>
                          </p:cTn>
                        </p:par>
                        <p:par>
                          <p:cTn id="21" fill="hold">
                            <p:stCondLst>
                              <p:cond delay="2600"/>
                            </p:stCondLst>
                            <p:childTnLst>
                              <p:par>
                                <p:cTn id="14" presetID="53"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900" fill="hold"/>
                                        <p:tgtEl>
                                          <p:spTgt spid="6"/>
                                        </p:tgtEl>
                                        <p:attrNameLst>
                                          <p:attrName>ppt_w</p:attrName>
                                        </p:attrNameLst>
                                      </p:cBhvr>
                                      <p:tavLst>
                                        <p:tav tm="0">
                                          <p:val>
                                            <p:fltVal val="0"/>
                                          </p:val>
                                        </p:tav>
                                        <p:tav tm="100000">
                                          <p:val>
                                            <p:strVal val="#ppt_w"/>
                                          </p:val>
                                        </p:tav>
                                      </p:tavLst>
                                    </p:anim>
                                    <p:anim calcmode="lin" valueType="num">
                                      <p:cBhvr additive="base">
                                        <p:cTn id="17" dur="900" fill="hold"/>
                                        <p:tgtEl>
                                          <p:spTgt spid="6"/>
                                        </p:tgtEl>
                                        <p:attrNameLst>
                                          <p:attrName>ppt_h</p:attrName>
                                        </p:attrNameLst>
                                      </p:cBhvr>
                                      <p:tavLst>
                                        <p:tav tm="0">
                                          <p:val>
                                            <p:fltVal val="0"/>
                                          </p:val>
                                        </p:tav>
                                        <p:tav tm="100000">
                                          <p:val>
                                            <p:strVal val="#ppt_h"/>
                                          </p:val>
                                        </p:tav>
                                      </p:tavLst>
                                    </p:anim>
                                    <p:animEffect transition="in" filter="fade">
                                      <p:cBhvr>
                                        <p:cTn id="18" dur="900"/>
                                        <p:tgtEl>
                                          <p:spTgt spid="6"/>
                                        </p:tgtEl>
                                      </p:cBhvr>
                                    </p:animEffect>
                                  </p:childTnLst>
                                </p:cTn>
                              </p:par>
                            </p:childTnLst>
                          </p:cTn>
                        </p:par>
                      </p:childTnLst>
                    </p:cTn>
                  </p:par>
                  <p:par>
                    <p:cTn id="43" fill="hold">
                      <p:stCondLst>
                        <p:cond delay="indefinite"/>
                      </p:stCondLst>
                      <p:childTnLst>
                        <p:par>
                          <p:cTn id="41"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600" fill="hold"/>
                                        <p:tgtEl>
                                          <p:spTgt spid="7"/>
                                        </p:tgtEl>
                                        <p:attrNameLst>
                                          <p:attrName>ppt_w</p:attrName>
                                        </p:attrNameLst>
                                      </p:cBhvr>
                                      <p:tavLst>
                                        <p:tav tm="0">
                                          <p:val>
                                            <p:fltVal val="0"/>
                                          </p:val>
                                        </p:tav>
                                        <p:tav tm="100000">
                                          <p:val>
                                            <p:strVal val="#ppt_w"/>
                                          </p:val>
                                        </p:tav>
                                      </p:tavLst>
                                    </p:anim>
                                    <p:anim calcmode="lin" valueType="num">
                                      <p:cBhvr additive="base">
                                        <p:cTn id="26" dur="600" fill="hold"/>
                                        <p:tgtEl>
                                          <p:spTgt spid="7"/>
                                        </p:tgtEl>
                                        <p:attrNameLst>
                                          <p:attrName>ppt_h</p:attrName>
                                        </p:attrNameLst>
                                      </p:cBhvr>
                                      <p:tavLst>
                                        <p:tav tm="0">
                                          <p:val>
                                            <p:fltVal val="0"/>
                                          </p:val>
                                        </p:tav>
                                        <p:tav tm="100000">
                                          <p:val>
                                            <p:strVal val="#ppt_h"/>
                                          </p:val>
                                        </p:tav>
                                      </p:tavLst>
                                    </p:anim>
                                    <p:animEffect transition="in" filter="fade">
                                      <p:cBhvr>
                                        <p:cTn id="27" dur="600"/>
                                        <p:tgtEl>
                                          <p:spTgt spid="7"/>
                                        </p:tgtEl>
                                      </p:cBhvr>
                                    </p:animEffect>
                                  </p:childTnLst>
                                </p:cTn>
                              </p:par>
                              <p:par>
                                <p:cTn id="28" presetID="53" presetClass="entr" presetSubtype="16" fill="hold" grpId="0" nodeType="withEffect">
                                  <p:stCondLst>
                                    <p:cond delay="20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ppt_w</p:attrName>
                                        </p:attrNameLst>
                                      </p:cBhvr>
                                      <p:tavLst>
                                        <p:tav tm="0">
                                          <p:val>
                                            <p:fltVal val="0"/>
                                          </p:val>
                                        </p:tav>
                                        <p:tav tm="100000">
                                          <p:val>
                                            <p:strVal val="#ppt_w"/>
                                          </p:val>
                                        </p:tav>
                                      </p:tavLst>
                                    </p:anim>
                                    <p:anim calcmode="lin" valueType="num">
                                      <p:cBhvr additive="base">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par>
                                <p:cTn id="33" presetID="53" presetClass="entr" presetSubtype="16" fill="hold" grpId="0" nodeType="withEffect">
                                  <p:stCondLst>
                                    <p:cond delay="2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ppt_w</p:attrName>
                                        </p:attrNameLst>
                                      </p:cBhvr>
                                      <p:tavLst>
                                        <p:tav tm="0">
                                          <p:val>
                                            <p:fltVal val="0"/>
                                          </p:val>
                                        </p:tav>
                                        <p:tav tm="100000">
                                          <p:val>
                                            <p:strVal val="#ppt_w"/>
                                          </p:val>
                                        </p:tav>
                                      </p:tavLst>
                                    </p:anim>
                                    <p:anim calcmode="lin" valueType="num">
                                      <p:cBhvr additive="base">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par>
                          <p:cTn id="42" fill="hold">
                            <p:stCondLst>
                              <p:cond delay="700"/>
                            </p:stCondLst>
                            <p:childTnLst>
                              <p:par>
                                <p:cTn id="38" presetID="22" presetClass="entr" presetSubtype="2"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right)">
                                      <p:cBhvr>
                                        <p:cTn id="40" dur="1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2" name=""/>
        <p:cNvGrpSpPr/>
        <p:nvPr/>
      </p:nvGrpSpPr>
      <p:grpSpPr>
        <a:xfrm>
          <a:off x="0" y="0"/>
          <a:ext cx="0" cy="0"/>
          <a:chOff x="0" y="0"/>
          <a:chExt cx="0" cy="0"/>
        </a:xfrm>
      </p:grpSpPr>
      <p:sp>
        <p:nvSpPr>
          <p:cNvPr id="3" name="anim_19_224"/>
          <p:cNvSpPr/>
          <p:nvPr/>
        </p:nvSpPr>
        <p:spPr>
          <a:xfrm>
            <a:off x="7452360" y="502920"/>
            <a:ext cx="4297680" cy="868680"/>
          </a:xfrm>
          <a:prstGeom prst="roundRect">
            <a:avLst>
              <a:gd name="adj" fmla="val 49474"/>
            </a:avLst>
          </a:prstGeom>
          <a:solidFill>
            <a:srgbClr val="E8335F"/>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تمرين (3)</a:t>
            </a:r>
            <a:endParaRPr lang="ar-KW" sz="3600" dirty="0"/>
          </a:p>
        </p:txBody>
      </p:sp>
      <p:pic>
        <p:nvPicPr>
          <p:cNvPr id="4" name="anim_19_225" descr="sp_coral.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19_226"/>
          <p:cNvSpPr txBox="1"/>
          <p:nvPr/>
        </p:nvSpPr>
        <p:spPr>
          <a:xfrm>
            <a:off x="6400800" y="1600200"/>
            <a:ext cx="5349240" cy="5486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800" b="1" dirty="0">
                <a:solidFill>
                  <a:srgbClr val="1F6FB2"/>
                </a:solidFill>
                <a:latin typeface="Arial" pitchFamily="34" charset="0"/>
                <a:ea typeface="Arial" pitchFamily="34" charset="-122"/>
                <a:cs typeface="Arial" pitchFamily="34" charset="-120"/>
              </a:rPr>
              <a:t>أكمل الجدول التالي:</a:t>
            </a:r>
            <a:endParaRPr lang="ar-KW" sz="2800" dirty="0"/>
          </a:p>
        </p:txBody>
      </p:sp>
      <p:sp>
        <p:nvSpPr>
          <p:cNvPr id="6" name="anim_19_227"/>
          <p:cNvSpPr/>
          <p:nvPr/>
        </p:nvSpPr>
        <p:spPr>
          <a:xfrm>
            <a:off x="612648" y="2212848"/>
            <a:ext cx="10936224" cy="4306824"/>
          </a:xfrm>
          <a:prstGeom prst="roundRect">
            <a:avLst>
              <a:gd name="adj" fmla="val 7431"/>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7" name="anim_19_228"/>
          <p:cNvGraphicFramePr>
            <a:graphicFrameLocks noGrp="1"/>
          </p:cNvGraphicFramePr>
          <p:nvPr>
            <p:extLst>
              <p:ext uri="{D42A27DB-BD31-4B8C-83A1-F6EECF244321}">
                <p14:modId xmlns:p14="http://schemas.microsoft.com/office/powerpoint/2010/main" val="1579011935"/>
              </p:ext>
            </p:extLst>
          </p:nvPr>
        </p:nvGraphicFramePr>
        <p:xfrm>
          <a:off x="868680" y="2468880"/>
          <a:ext cx="10424160" cy="914400"/>
        </p:xfrm>
        <a:graphic>
          <a:graphicData uri="http://schemas.openxmlformats.org/drawingml/2006/table">
            <a:tbl>
              <a:tblPr/>
              <a:tblGrid>
                <a:gridCol w="3108960"/>
                <a:gridCol w="3291840"/>
                <a:gridCol w="2651760"/>
                <a:gridCol w="1371600"/>
              </a:tblGrid>
              <a:tr h="914400">
                <a:tc>
                  <a:txBody>
                    <a:bodyPr/>
                    <a:lstStyle/>
                    <a:p>
                      <a:pPr rtl="1" algn="ctr" indent="0" marL="0">
                        <a:buNone/>
                      </a:pPr>
                      <a:r>
                        <a:rPr lang="en-US" sz="2100" b="1" dirty="0">
                          <a:solidFill>
                            <a:srgbClr val="16325C"/>
                          </a:solidFill>
                          <a:latin typeface="Arial" pitchFamily="34" charset="0"/>
                          <a:ea typeface="Arial" pitchFamily="34" charset="-122"/>
                          <a:cs typeface="Arial" pitchFamily="34" charset="-120"/>
                        </a:rPr>
                        <a:t>قاعدة الثمانية (يحقق / لا يحقق)</a:t>
                      </a:r>
                      <a:endParaRPr lang="en-US" sz="21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100" b="1" dirty="0">
                          <a:solidFill>
                            <a:srgbClr val="16325C"/>
                          </a:solidFill>
                          <a:latin typeface="Arial" pitchFamily="34" charset="0"/>
                          <a:ea typeface="Arial" pitchFamily="34" charset="-122"/>
                          <a:cs typeface="Arial" pitchFamily="34" charset="-120"/>
                        </a:rPr>
                        <a:t>للوصول للاستقرار (يفقد/ يكتسب) إلكترونات</a:t>
                      </a:r>
                      <a:endParaRPr lang="en-US" sz="21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100" b="1" dirty="0">
                          <a:solidFill>
                            <a:srgbClr val="16325C"/>
                          </a:solidFill>
                          <a:latin typeface="Arial" pitchFamily="34" charset="0"/>
                          <a:ea typeface="Arial" pitchFamily="34" charset="-122"/>
                          <a:cs typeface="Arial" pitchFamily="34" charset="-120"/>
                        </a:rPr>
                        <a:t>الترتيب الإلكتروني النقطي</a:t>
                      </a:r>
                      <a:endParaRPr lang="en-US" sz="21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100" b="1" dirty="0">
                          <a:solidFill>
                            <a:srgbClr val="16325C"/>
                          </a:solidFill>
                          <a:latin typeface="Arial" pitchFamily="34" charset="0"/>
                          <a:ea typeface="Arial" pitchFamily="34" charset="-122"/>
                          <a:cs typeface="Arial" pitchFamily="34" charset="-120"/>
                        </a:rPr>
                        <a:t>العنصر</a:t>
                      </a:r>
                      <a:endParaRPr lang="en-US" sz="21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96012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3</a:t>
                      </a:r>
                      <a:r>
                        <a:rPr lang="en-US" sz="2800" b="1" dirty="0">
                          <a:solidFill>
                            <a:srgbClr val="16325C"/>
                          </a:solidFill>
                          <a:latin typeface="Arial" pitchFamily="34" charset="0"/>
                          <a:ea typeface="Arial" pitchFamily="34" charset="-122"/>
                          <a:cs typeface="Arial" pitchFamily="34" charset="-120"/>
                        </a:rPr>
                        <a:t>Li</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96012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9</a:t>
                      </a:r>
                      <a:r>
                        <a:rPr lang="en-US" sz="2800" b="1" dirty="0">
                          <a:solidFill>
                            <a:srgbClr val="16325C"/>
                          </a:solidFill>
                          <a:latin typeface="Arial" pitchFamily="34" charset="0"/>
                          <a:ea typeface="Arial" pitchFamily="34" charset="-122"/>
                          <a:cs typeface="Arial" pitchFamily="34" charset="-120"/>
                        </a:rPr>
                        <a:t>F</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96012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12</a:t>
                      </a:r>
                      <a:r>
                        <a:rPr lang="en-US" sz="2800" b="1" dirty="0">
                          <a:solidFill>
                            <a:srgbClr val="16325C"/>
                          </a:solidFill>
                          <a:latin typeface="Arial" pitchFamily="34" charset="0"/>
                          <a:ea typeface="Arial" pitchFamily="34" charset="-122"/>
                          <a:cs typeface="Arial" pitchFamily="34" charset="-120"/>
                        </a:rPr>
                        <a:t>Mg</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bl>
          </a:graphicData>
        </a:graphic>
      </p:graphicFrame>
      <p:pic>
        <p:nvPicPr>
          <p:cNvPr id="8" name="anim_19_229" descr="lewisA_Li.png">    </p:cNvPr>
          <p:cNvPicPr>
            <a:picLocks noChangeAspect="1"/>
          </p:cNvPicPr>
          <p:nvPr/>
        </p:nvPicPr>
        <p:blipFill>
          <a:blip r:embed="rId2"/>
          <a:stretch>
            <a:fillRect/>
          </a:stretch>
        </p:blipFill>
        <p:spPr>
          <a:xfrm>
            <a:off x="8202038" y="3527298"/>
            <a:ext cx="786644" cy="672084"/>
          </a:xfrm>
          <a:prstGeom prst="rect">
            <a:avLst/>
          </a:prstGeom>
        </p:spPr>
      </p:pic>
      <p:sp>
        <p:nvSpPr>
          <p:cNvPr id="9" name="anim_19_230"/>
          <p:cNvSpPr txBox="1"/>
          <p:nvPr/>
        </p:nvSpPr>
        <p:spPr>
          <a:xfrm>
            <a:off x="3977640" y="3383280"/>
            <a:ext cx="3291840" cy="96012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400" b="1" dirty="0">
                <a:solidFill>
                  <a:srgbClr val="0B8A5A"/>
                </a:solidFill>
                <a:latin typeface="Arial" pitchFamily="34" charset="0"/>
                <a:ea typeface="Arial" pitchFamily="34" charset="-122"/>
                <a:cs typeface="Arial" pitchFamily="34" charset="-120"/>
              </a:rPr>
              <a:t>يفقد 1</a:t>
            </a:r>
            <a:endParaRPr lang="ar-KW" sz="2400" dirty="0"/>
          </a:p>
        </p:txBody>
      </p:sp>
      <p:sp>
        <p:nvSpPr>
          <p:cNvPr id="10" name="anim_19_231"/>
          <p:cNvSpPr txBox="1"/>
          <p:nvPr/>
        </p:nvSpPr>
        <p:spPr>
          <a:xfrm>
            <a:off x="868680" y="3383280"/>
            <a:ext cx="3108960" cy="96012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400" b="1" dirty="0">
                <a:solidFill>
                  <a:srgbClr val="0B8A5A"/>
                </a:solidFill>
                <a:latin typeface="Arial" pitchFamily="34" charset="0"/>
                <a:ea typeface="Arial" pitchFamily="34" charset="-122"/>
                <a:cs typeface="Arial" pitchFamily="34" charset="-120"/>
              </a:rPr>
              <a:t>لا يحقق</a:t>
            </a:r>
            <a:endParaRPr lang="ar-KW" sz="2400" dirty="0"/>
          </a:p>
        </p:txBody>
      </p:sp>
      <p:pic>
        <p:nvPicPr>
          <p:cNvPr id="11" name="anim_19_232" descr="lewisA_F.png">    </p:cNvPr>
          <p:cNvPicPr>
            <a:picLocks noChangeAspect="1"/>
          </p:cNvPicPr>
          <p:nvPr/>
        </p:nvPicPr>
        <p:blipFill>
          <a:blip r:embed="rId3"/>
          <a:stretch>
            <a:fillRect/>
          </a:stretch>
        </p:blipFill>
        <p:spPr>
          <a:xfrm>
            <a:off x="8200947" y="4391406"/>
            <a:ext cx="788826" cy="864108"/>
          </a:xfrm>
          <a:prstGeom prst="rect">
            <a:avLst/>
          </a:prstGeom>
        </p:spPr>
      </p:pic>
      <p:sp>
        <p:nvSpPr>
          <p:cNvPr id="12" name="anim_19_233"/>
          <p:cNvSpPr txBox="1"/>
          <p:nvPr/>
        </p:nvSpPr>
        <p:spPr>
          <a:xfrm>
            <a:off x="3977640" y="4343400"/>
            <a:ext cx="3291840" cy="96012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400" b="1" dirty="0">
                <a:solidFill>
                  <a:srgbClr val="0B8A5A"/>
                </a:solidFill>
                <a:latin typeface="Arial" pitchFamily="34" charset="0"/>
                <a:ea typeface="Arial" pitchFamily="34" charset="-122"/>
                <a:cs typeface="Arial" pitchFamily="34" charset="-120"/>
              </a:rPr>
              <a:t>يكتسب 1</a:t>
            </a:r>
            <a:endParaRPr lang="ar-KW" sz="2400" dirty="0"/>
          </a:p>
        </p:txBody>
      </p:sp>
      <p:sp>
        <p:nvSpPr>
          <p:cNvPr id="13" name="anim_19_234"/>
          <p:cNvSpPr txBox="1"/>
          <p:nvPr/>
        </p:nvSpPr>
        <p:spPr>
          <a:xfrm>
            <a:off x="868680" y="4343400"/>
            <a:ext cx="3108960" cy="96012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400" b="1" dirty="0">
                <a:solidFill>
                  <a:srgbClr val="0B8A5A"/>
                </a:solidFill>
                <a:latin typeface="Arial" pitchFamily="34" charset="0"/>
                <a:ea typeface="Arial" pitchFamily="34" charset="-122"/>
                <a:cs typeface="Arial" pitchFamily="34" charset="-120"/>
              </a:rPr>
              <a:t>يحقق</a:t>
            </a:r>
            <a:endParaRPr lang="ar-KW" sz="2400" dirty="0"/>
          </a:p>
        </p:txBody>
      </p:sp>
      <p:pic>
        <p:nvPicPr>
          <p:cNvPr id="14" name="anim_19_235" descr="lewisA_Mg.png">    </p:cNvPr>
          <p:cNvPicPr>
            <a:picLocks noChangeAspect="1"/>
          </p:cNvPicPr>
          <p:nvPr/>
        </p:nvPicPr>
        <p:blipFill>
          <a:blip r:embed="rId4"/>
          <a:stretch>
            <a:fillRect/>
          </a:stretch>
        </p:blipFill>
        <p:spPr>
          <a:xfrm>
            <a:off x="8202038" y="5447538"/>
            <a:ext cx="786644" cy="672084"/>
          </a:xfrm>
          <a:prstGeom prst="rect">
            <a:avLst/>
          </a:prstGeom>
        </p:spPr>
      </p:pic>
      <p:sp>
        <p:nvSpPr>
          <p:cNvPr id="15" name="anim_19_236"/>
          <p:cNvSpPr txBox="1"/>
          <p:nvPr/>
        </p:nvSpPr>
        <p:spPr>
          <a:xfrm>
            <a:off x="3977640" y="5303520"/>
            <a:ext cx="3291840" cy="96012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400" b="1" dirty="0">
                <a:solidFill>
                  <a:srgbClr val="0B8A5A"/>
                </a:solidFill>
                <a:latin typeface="Arial" pitchFamily="34" charset="0"/>
                <a:ea typeface="Arial" pitchFamily="34" charset="-122"/>
                <a:cs typeface="Arial" pitchFamily="34" charset="-120"/>
              </a:rPr>
              <a:t>يفقد 2</a:t>
            </a:r>
            <a:endParaRPr lang="ar-KW" sz="2400" dirty="0"/>
          </a:p>
        </p:txBody>
      </p:sp>
      <p:sp>
        <p:nvSpPr>
          <p:cNvPr id="16" name="anim_19_237"/>
          <p:cNvSpPr txBox="1"/>
          <p:nvPr/>
        </p:nvSpPr>
        <p:spPr>
          <a:xfrm>
            <a:off x="868680" y="5303520"/>
            <a:ext cx="3108960" cy="96012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400" b="1" dirty="0">
                <a:solidFill>
                  <a:srgbClr val="0B8A5A"/>
                </a:solidFill>
                <a:latin typeface="Arial" pitchFamily="34" charset="0"/>
                <a:ea typeface="Arial" pitchFamily="34" charset="-122"/>
                <a:cs typeface="Arial" pitchFamily="34" charset="-120"/>
              </a:rPr>
              <a:t>يحقق</a:t>
            </a:r>
            <a:endParaRPr lang="ar-KW" sz="2400" dirty="0"/>
          </a:p>
        </p:txBody>
      </p:sp>
    </p:spTree>
  </p:cSld>
  <p:clrMapOvr>
    <a:masterClrMapping/>
  </p:clrMapOvr>
  <p:transition spd="slow">
    <p:wipe dir="l"/>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22"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3"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600"/>
                                        <p:tgtEl>
                                          <p:spTgt spid="5"/>
                                        </p:tgtEl>
                                      </p:cBhvr>
                                    </p:animEffect>
                                  </p:childTnLst>
                                </p:cTn>
                              </p:par>
                            </p:childTnLst>
                          </p:cTn>
                        </p:par>
                        <p:par>
                          <p:cTn id="24" fill="hold">
                            <p:stCondLst>
                              <p:cond delay="1400"/>
                            </p:stCondLst>
                            <p:childTnLst>
                              <p:par>
                                <p:cTn id="14" presetID="53"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ppt_w</p:attrName>
                                        </p:attrNameLst>
                                      </p:cBhvr>
                                      <p:tavLst>
                                        <p:tav tm="0">
                                          <p:val>
                                            <p:fltVal val="0"/>
                                          </p:val>
                                        </p:tav>
                                        <p:tav tm="100000">
                                          <p:val>
                                            <p:strVal val="#ppt_w"/>
                                          </p:val>
                                        </p:tav>
                                      </p:tavLst>
                                    </p:anim>
                                    <p:anim calcmode="lin" valueType="num">
                                      <p:cBhvr additive="base">
                                        <p:cTn id="17" dur="600" fill="hold"/>
                                        <p:tgtEl>
                                          <p:spTgt spid="6"/>
                                        </p:tgtEl>
                                        <p:attrNameLst>
                                          <p:attrName>ppt_h</p:attrName>
                                        </p:attrNameLst>
                                      </p:cBhvr>
                                      <p:tavLst>
                                        <p:tav tm="0">
                                          <p:val>
                                            <p:fltVal val="0"/>
                                          </p:val>
                                        </p:tav>
                                        <p:tav tm="100000">
                                          <p:val>
                                            <p:strVal val="#ppt_h"/>
                                          </p:val>
                                        </p:tav>
                                      </p:tavLst>
                                    </p:anim>
                                    <p:animEffect transition="in" filter="fade">
                                      <p:cBhvr>
                                        <p:cTn id="18" dur="600"/>
                                        <p:tgtEl>
                                          <p:spTgt spid="6"/>
                                        </p:tgtEl>
                                      </p:cBhvr>
                                    </p:animEffect>
                                  </p:childTnLst>
                                </p:cTn>
                              </p:par>
                            </p:childTnLst>
                          </p:cTn>
                        </p:par>
                        <p:par>
                          <p:cTn id="25"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700"/>
                                        <p:tgtEl>
                                          <p:spTgt spid="7"/>
                                        </p:tgtEl>
                                      </p:cBhvr>
                                    </p:animEffect>
                                  </p:childTnLst>
                                </p:cTn>
                              </p:par>
                            </p:childTnLst>
                          </p:cTn>
                        </p:par>
                      </p:childTnLst>
                    </p:cTn>
                  </p:par>
                  <p:par>
                    <p:cTn id="43" fill="hold">
                      <p:stCondLst>
                        <p:cond delay="indefinite"/>
                      </p:stCondLst>
                      <p:childTnLst>
                        <p:par>
                          <p:cTn id="42"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450" fill="hold"/>
                                        <p:tgtEl>
                                          <p:spTgt spid="8"/>
                                        </p:tgtEl>
                                        <p:attrNameLst>
                                          <p:attrName>ppt_w</p:attrName>
                                        </p:attrNameLst>
                                      </p:cBhvr>
                                      <p:tavLst>
                                        <p:tav tm="0">
                                          <p:val>
                                            <p:fltVal val="0"/>
                                          </p:val>
                                        </p:tav>
                                        <p:tav tm="100000">
                                          <p:val>
                                            <p:strVal val="#ppt_w"/>
                                          </p:val>
                                        </p:tav>
                                      </p:tavLst>
                                    </p:anim>
                                    <p:anim calcmode="lin" valueType="num">
                                      <p:cBhvr additive="base">
                                        <p:cTn id="30" dur="450" fill="hold"/>
                                        <p:tgtEl>
                                          <p:spTgt spid="8"/>
                                        </p:tgtEl>
                                        <p:attrNameLst>
                                          <p:attrName>ppt_h</p:attrName>
                                        </p:attrNameLst>
                                      </p:cBhvr>
                                      <p:tavLst>
                                        <p:tav tm="0">
                                          <p:val>
                                            <p:fltVal val="0"/>
                                          </p:val>
                                        </p:tav>
                                        <p:tav tm="100000">
                                          <p:val>
                                            <p:strVal val="#ppt_h"/>
                                          </p:val>
                                        </p:tav>
                                      </p:tavLst>
                                    </p:anim>
                                    <p:animEffect transition="in" filter="fade">
                                      <p:cBhvr>
                                        <p:cTn id="31" dur="450"/>
                                        <p:tgtEl>
                                          <p:spTgt spid="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450" fill="hold"/>
                                        <p:tgtEl>
                                          <p:spTgt spid="9"/>
                                        </p:tgtEl>
                                        <p:attrNameLst>
                                          <p:attrName>ppt_w</p:attrName>
                                        </p:attrNameLst>
                                      </p:cBhvr>
                                      <p:tavLst>
                                        <p:tav tm="0">
                                          <p:val>
                                            <p:fltVal val="0"/>
                                          </p:val>
                                        </p:tav>
                                        <p:tav tm="100000">
                                          <p:val>
                                            <p:strVal val="#ppt_w"/>
                                          </p:val>
                                        </p:tav>
                                      </p:tavLst>
                                    </p:anim>
                                    <p:anim calcmode="lin" valueType="num">
                                      <p:cBhvr additive="base">
                                        <p:cTn id="35" dur="450" fill="hold"/>
                                        <p:tgtEl>
                                          <p:spTgt spid="9"/>
                                        </p:tgtEl>
                                        <p:attrNameLst>
                                          <p:attrName>ppt_h</p:attrName>
                                        </p:attrNameLst>
                                      </p:cBhvr>
                                      <p:tavLst>
                                        <p:tav tm="0">
                                          <p:val>
                                            <p:fltVal val="0"/>
                                          </p:val>
                                        </p:tav>
                                        <p:tav tm="100000">
                                          <p:val>
                                            <p:strVal val="#ppt_h"/>
                                          </p:val>
                                        </p:tav>
                                      </p:tavLst>
                                    </p:anim>
                                    <p:animEffect transition="in" filter="fade">
                                      <p:cBhvr>
                                        <p:cTn id="36" dur="450"/>
                                        <p:tgtEl>
                                          <p:spTgt spid="9"/>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450" fill="hold"/>
                                        <p:tgtEl>
                                          <p:spTgt spid="10"/>
                                        </p:tgtEl>
                                        <p:attrNameLst>
                                          <p:attrName>ppt_w</p:attrName>
                                        </p:attrNameLst>
                                      </p:cBhvr>
                                      <p:tavLst>
                                        <p:tav tm="0">
                                          <p:val>
                                            <p:fltVal val="0"/>
                                          </p:val>
                                        </p:tav>
                                        <p:tav tm="100000">
                                          <p:val>
                                            <p:strVal val="#ppt_w"/>
                                          </p:val>
                                        </p:tav>
                                      </p:tavLst>
                                    </p:anim>
                                    <p:anim calcmode="lin" valueType="num">
                                      <p:cBhvr additive="base">
                                        <p:cTn id="40" dur="450" fill="hold"/>
                                        <p:tgtEl>
                                          <p:spTgt spid="10"/>
                                        </p:tgtEl>
                                        <p:attrNameLst>
                                          <p:attrName>ppt_h</p:attrName>
                                        </p:attrNameLst>
                                      </p:cBhvr>
                                      <p:tavLst>
                                        <p:tav tm="0">
                                          <p:val>
                                            <p:fltVal val="0"/>
                                          </p:val>
                                        </p:tav>
                                        <p:tav tm="100000">
                                          <p:val>
                                            <p:strVal val="#ppt_h"/>
                                          </p:val>
                                        </p:tav>
                                      </p:tavLst>
                                    </p:anim>
                                    <p:animEffect transition="in" filter="fade">
                                      <p:cBhvr>
                                        <p:cTn id="41" dur="450"/>
                                        <p:tgtEl>
                                          <p:spTgt spid="10"/>
                                        </p:tgtEl>
                                      </p:cBhvr>
                                    </p:animEffect>
                                  </p:childTnLst>
                                </p:cTn>
                              </p:par>
                            </p:childTnLst>
                          </p:cTn>
                        </p:par>
                      </p:childTnLst>
                    </p:cTn>
                  </p:par>
                  <p:par>
                    <p:cTn id="60" fill="hold">
                      <p:stCondLst>
                        <p:cond delay="indefinite"/>
                      </p:stCondLst>
                      <p:childTnLst>
                        <p:par>
                          <p:cTn id="59"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450" fill="hold"/>
                                        <p:tgtEl>
                                          <p:spTgt spid="11"/>
                                        </p:tgtEl>
                                        <p:attrNameLst>
                                          <p:attrName>ppt_w</p:attrName>
                                        </p:attrNameLst>
                                      </p:cBhvr>
                                      <p:tavLst>
                                        <p:tav tm="0">
                                          <p:val>
                                            <p:fltVal val="0"/>
                                          </p:val>
                                        </p:tav>
                                        <p:tav tm="100000">
                                          <p:val>
                                            <p:strVal val="#ppt_w"/>
                                          </p:val>
                                        </p:tav>
                                      </p:tavLst>
                                    </p:anim>
                                    <p:anim calcmode="lin" valueType="num">
                                      <p:cBhvr additive="base">
                                        <p:cTn id="47" dur="450" fill="hold"/>
                                        <p:tgtEl>
                                          <p:spTgt spid="11"/>
                                        </p:tgtEl>
                                        <p:attrNameLst>
                                          <p:attrName>ppt_h</p:attrName>
                                        </p:attrNameLst>
                                      </p:cBhvr>
                                      <p:tavLst>
                                        <p:tav tm="0">
                                          <p:val>
                                            <p:fltVal val="0"/>
                                          </p:val>
                                        </p:tav>
                                        <p:tav tm="100000">
                                          <p:val>
                                            <p:strVal val="#ppt_h"/>
                                          </p:val>
                                        </p:tav>
                                      </p:tavLst>
                                    </p:anim>
                                    <p:animEffect transition="in" filter="fade">
                                      <p:cBhvr>
                                        <p:cTn id="48" dur="450"/>
                                        <p:tgtEl>
                                          <p:spTgt spid="11"/>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450" fill="hold"/>
                                        <p:tgtEl>
                                          <p:spTgt spid="12"/>
                                        </p:tgtEl>
                                        <p:attrNameLst>
                                          <p:attrName>ppt_w</p:attrName>
                                        </p:attrNameLst>
                                      </p:cBhvr>
                                      <p:tavLst>
                                        <p:tav tm="0">
                                          <p:val>
                                            <p:fltVal val="0"/>
                                          </p:val>
                                        </p:tav>
                                        <p:tav tm="100000">
                                          <p:val>
                                            <p:strVal val="#ppt_w"/>
                                          </p:val>
                                        </p:tav>
                                      </p:tavLst>
                                    </p:anim>
                                    <p:anim calcmode="lin" valueType="num">
                                      <p:cBhvr additive="base">
                                        <p:cTn id="52" dur="450" fill="hold"/>
                                        <p:tgtEl>
                                          <p:spTgt spid="12"/>
                                        </p:tgtEl>
                                        <p:attrNameLst>
                                          <p:attrName>ppt_h</p:attrName>
                                        </p:attrNameLst>
                                      </p:cBhvr>
                                      <p:tavLst>
                                        <p:tav tm="0">
                                          <p:val>
                                            <p:fltVal val="0"/>
                                          </p:val>
                                        </p:tav>
                                        <p:tav tm="100000">
                                          <p:val>
                                            <p:strVal val="#ppt_h"/>
                                          </p:val>
                                        </p:tav>
                                      </p:tavLst>
                                    </p:anim>
                                    <p:animEffect transition="in" filter="fade">
                                      <p:cBhvr>
                                        <p:cTn id="53" dur="450"/>
                                        <p:tgtEl>
                                          <p:spTgt spid="12"/>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450" fill="hold"/>
                                        <p:tgtEl>
                                          <p:spTgt spid="13"/>
                                        </p:tgtEl>
                                        <p:attrNameLst>
                                          <p:attrName>ppt_w</p:attrName>
                                        </p:attrNameLst>
                                      </p:cBhvr>
                                      <p:tavLst>
                                        <p:tav tm="0">
                                          <p:val>
                                            <p:fltVal val="0"/>
                                          </p:val>
                                        </p:tav>
                                        <p:tav tm="100000">
                                          <p:val>
                                            <p:strVal val="#ppt_w"/>
                                          </p:val>
                                        </p:tav>
                                      </p:tavLst>
                                    </p:anim>
                                    <p:anim calcmode="lin" valueType="num">
                                      <p:cBhvr additive="base">
                                        <p:cTn id="57" dur="450" fill="hold"/>
                                        <p:tgtEl>
                                          <p:spTgt spid="13"/>
                                        </p:tgtEl>
                                        <p:attrNameLst>
                                          <p:attrName>ppt_h</p:attrName>
                                        </p:attrNameLst>
                                      </p:cBhvr>
                                      <p:tavLst>
                                        <p:tav tm="0">
                                          <p:val>
                                            <p:fltVal val="0"/>
                                          </p:val>
                                        </p:tav>
                                        <p:tav tm="100000">
                                          <p:val>
                                            <p:strVal val="#ppt_h"/>
                                          </p:val>
                                        </p:tav>
                                      </p:tavLst>
                                    </p:anim>
                                    <p:animEffect transition="in" filter="fade">
                                      <p:cBhvr>
                                        <p:cTn id="58" dur="450"/>
                                        <p:tgtEl>
                                          <p:spTgt spid="13"/>
                                        </p:tgtEl>
                                      </p:cBhvr>
                                    </p:animEffect>
                                  </p:childTnLst>
                                </p:cTn>
                              </p:par>
                            </p:childTnLst>
                          </p:cTn>
                        </p:par>
                      </p:childTnLst>
                    </p:cTn>
                  </p:par>
                  <p:par>
                    <p:cTn id="77" fill="hold">
                      <p:stCondLst>
                        <p:cond delay="indefinite"/>
                      </p:stCondLst>
                      <p:childTnLst>
                        <p:par>
                          <p:cTn id="76"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450" fill="hold"/>
                                        <p:tgtEl>
                                          <p:spTgt spid="14"/>
                                        </p:tgtEl>
                                        <p:attrNameLst>
                                          <p:attrName>ppt_w</p:attrName>
                                        </p:attrNameLst>
                                      </p:cBhvr>
                                      <p:tavLst>
                                        <p:tav tm="0">
                                          <p:val>
                                            <p:fltVal val="0"/>
                                          </p:val>
                                        </p:tav>
                                        <p:tav tm="100000">
                                          <p:val>
                                            <p:strVal val="#ppt_w"/>
                                          </p:val>
                                        </p:tav>
                                      </p:tavLst>
                                    </p:anim>
                                    <p:anim calcmode="lin" valueType="num">
                                      <p:cBhvr additive="base">
                                        <p:cTn id="64" dur="450" fill="hold"/>
                                        <p:tgtEl>
                                          <p:spTgt spid="14"/>
                                        </p:tgtEl>
                                        <p:attrNameLst>
                                          <p:attrName>ppt_h</p:attrName>
                                        </p:attrNameLst>
                                      </p:cBhvr>
                                      <p:tavLst>
                                        <p:tav tm="0">
                                          <p:val>
                                            <p:fltVal val="0"/>
                                          </p:val>
                                        </p:tav>
                                        <p:tav tm="100000">
                                          <p:val>
                                            <p:strVal val="#ppt_h"/>
                                          </p:val>
                                        </p:tav>
                                      </p:tavLst>
                                    </p:anim>
                                    <p:animEffect transition="in" filter="fade">
                                      <p:cBhvr>
                                        <p:cTn id="65" dur="450"/>
                                        <p:tgtEl>
                                          <p:spTgt spid="14"/>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 calcmode="lin" valueType="num">
                                      <p:cBhvr additive="base">
                                        <p:cTn id="68" dur="450" fill="hold"/>
                                        <p:tgtEl>
                                          <p:spTgt spid="15"/>
                                        </p:tgtEl>
                                        <p:attrNameLst>
                                          <p:attrName>ppt_w</p:attrName>
                                        </p:attrNameLst>
                                      </p:cBhvr>
                                      <p:tavLst>
                                        <p:tav tm="0">
                                          <p:val>
                                            <p:fltVal val="0"/>
                                          </p:val>
                                        </p:tav>
                                        <p:tav tm="100000">
                                          <p:val>
                                            <p:strVal val="#ppt_w"/>
                                          </p:val>
                                        </p:tav>
                                      </p:tavLst>
                                    </p:anim>
                                    <p:anim calcmode="lin" valueType="num">
                                      <p:cBhvr additive="base">
                                        <p:cTn id="69" dur="450" fill="hold"/>
                                        <p:tgtEl>
                                          <p:spTgt spid="15"/>
                                        </p:tgtEl>
                                        <p:attrNameLst>
                                          <p:attrName>ppt_h</p:attrName>
                                        </p:attrNameLst>
                                      </p:cBhvr>
                                      <p:tavLst>
                                        <p:tav tm="0">
                                          <p:val>
                                            <p:fltVal val="0"/>
                                          </p:val>
                                        </p:tav>
                                        <p:tav tm="100000">
                                          <p:val>
                                            <p:strVal val="#ppt_h"/>
                                          </p:val>
                                        </p:tav>
                                      </p:tavLst>
                                    </p:anim>
                                    <p:animEffect transition="in" filter="fade">
                                      <p:cBhvr>
                                        <p:cTn id="70" dur="450"/>
                                        <p:tgtEl>
                                          <p:spTgt spid="15"/>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450" fill="hold"/>
                                        <p:tgtEl>
                                          <p:spTgt spid="16"/>
                                        </p:tgtEl>
                                        <p:attrNameLst>
                                          <p:attrName>ppt_w</p:attrName>
                                        </p:attrNameLst>
                                      </p:cBhvr>
                                      <p:tavLst>
                                        <p:tav tm="0">
                                          <p:val>
                                            <p:fltVal val="0"/>
                                          </p:val>
                                        </p:tav>
                                        <p:tav tm="100000">
                                          <p:val>
                                            <p:strVal val="#ppt_w"/>
                                          </p:val>
                                        </p:tav>
                                      </p:tavLst>
                                    </p:anim>
                                    <p:anim calcmode="lin" valueType="num">
                                      <p:cBhvr additive="base">
                                        <p:cTn id="74" dur="450" fill="hold"/>
                                        <p:tgtEl>
                                          <p:spTgt spid="16"/>
                                        </p:tgtEl>
                                        <p:attrNameLst>
                                          <p:attrName>ppt_h</p:attrName>
                                        </p:attrNameLst>
                                      </p:cBhvr>
                                      <p:tavLst>
                                        <p:tav tm="0">
                                          <p:val>
                                            <p:fltVal val="0"/>
                                          </p:val>
                                        </p:tav>
                                        <p:tav tm="100000">
                                          <p:val>
                                            <p:strVal val="#ppt_h"/>
                                          </p:val>
                                        </p:tav>
                                      </p:tavLst>
                                    </p:anim>
                                    <p:animEffect transition="in" filter="fade">
                                      <p:cBhvr>
                                        <p:cTn id="75"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Graphic spid="7" grpId="0">
        <p:bldAsOne/>
      </p:bldGraphic>
      <p:bldP spid="9" grpId="0" animBg="1"/>
      <p:bldP spid="10" grpId="0" animBg="1"/>
      <p:bldP spid="12" grpId="0" animBg="1"/>
      <p:bldP spid="13" grpId="0" animBg="1"/>
      <p:bldP spid="15"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2" name=""/>
        <p:cNvGrpSpPr/>
        <p:nvPr/>
      </p:nvGrpSpPr>
      <p:grpSpPr>
        <a:xfrm>
          <a:off x="0" y="0"/>
          <a:ext cx="0" cy="0"/>
          <a:chOff x="0" y="0"/>
          <a:chExt cx="0" cy="0"/>
        </a:xfrm>
      </p:grpSpPr>
      <p:sp>
        <p:nvSpPr>
          <p:cNvPr id="3" name="anim_20_238"/>
          <p:cNvSpPr/>
          <p:nvPr/>
        </p:nvSpPr>
        <p:spPr>
          <a:xfrm>
            <a:off x="3886200" y="502920"/>
            <a:ext cx="7863840" cy="868680"/>
          </a:xfrm>
          <a:prstGeom prst="roundRect">
            <a:avLst>
              <a:gd name="adj" fmla="val 49474"/>
            </a:avLst>
          </a:prstGeom>
          <a:solidFill>
            <a:srgbClr val="6C4FE0"/>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استثناءات قاعدة الثمانية</a:t>
            </a:r>
            <a:endParaRPr lang="ar-KW" sz="3600" dirty="0"/>
          </a:p>
        </p:txBody>
      </p:sp>
      <p:pic>
        <p:nvPicPr>
          <p:cNvPr id="4" name="anim_20_239" descr="sp_purple.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20_240"/>
          <p:cNvSpPr/>
          <p:nvPr/>
        </p:nvSpPr>
        <p:spPr>
          <a:xfrm>
            <a:off x="9006840" y="1737360"/>
            <a:ext cx="2606040" cy="2423160"/>
          </a:xfrm>
          <a:prstGeom prst="roundRect">
            <a:avLst>
              <a:gd name="adj" fmla="val 11321"/>
            </a:avLst>
          </a:prstGeom>
          <a:solidFill>
            <a:srgbClr val="FFD9E2"/>
          </a:solidFill>
          <a:ln/>
          <a:effectLst>
            <a:outerShdw sx="100000" sy="100000" kx="0" ky="0" algn="bl" rotWithShape="0" blurRad="152400" dist="50800" dir="5400000">
              <a:srgbClr val="1F4F8A">
                <a:alpha val="18000"/>
              </a:srgbClr>
            </a:outerShdw>
          </a:effectLst>
        </p:spPr>
      </p:sp>
      <p:sp>
        <p:nvSpPr>
          <p:cNvPr id="6" name="anim_20_241"/>
          <p:cNvSpPr txBox="1"/>
          <p:nvPr/>
        </p:nvSpPr>
        <p:spPr>
          <a:xfrm>
            <a:off x="9006840" y="1783080"/>
            <a:ext cx="2606040" cy="109728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6000" b="1" baseline="-40000" dirty="0">
                <a:solidFill>
                  <a:srgbClr val="E8335F"/>
                </a:solidFill>
                <a:latin typeface="Arial" pitchFamily="34" charset="0"/>
                <a:ea typeface="Arial" pitchFamily="34" charset="-122"/>
                <a:cs typeface="Arial" pitchFamily="34" charset="-120"/>
              </a:rPr>
              <a:t>1</a:t>
            </a:r>
            <a:r>
              <a:rPr lang="en-US" altLang="en-US" sz="6000" b="1" dirty="0">
                <a:solidFill>
                  <a:srgbClr val="E8335F"/>
                </a:solidFill>
                <a:latin typeface="Arial" pitchFamily="34" charset="0"/>
                <a:ea typeface="Arial" pitchFamily="34" charset="-122"/>
                <a:cs typeface="Arial" pitchFamily="34" charset="-120"/>
              </a:rPr>
              <a:t>H</a:t>
            </a:r>
            <a:endParaRPr lang="en-US" sz="6000" dirty="0"/>
          </a:p>
        </p:txBody>
      </p:sp>
      <p:sp>
        <p:nvSpPr>
          <p:cNvPr id="7" name="anim_20_242"/>
          <p:cNvSpPr txBox="1"/>
          <p:nvPr/>
        </p:nvSpPr>
        <p:spPr>
          <a:xfrm>
            <a:off x="9006840" y="2834640"/>
            <a:ext cx="260604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الهيدروجين</a:t>
            </a:r>
            <a:endParaRPr lang="ar-KW" sz="2600" dirty="0"/>
          </a:p>
        </p:txBody>
      </p:sp>
      <p:sp>
        <p:nvSpPr>
          <p:cNvPr id="8" name="anim_20_243"/>
          <p:cNvSpPr txBox="1"/>
          <p:nvPr/>
        </p:nvSpPr>
        <p:spPr>
          <a:xfrm>
            <a:off x="9464040" y="3383280"/>
            <a:ext cx="1691640" cy="548640"/>
          </a:xfrm>
          <a:prstGeom prst="roundRect">
            <a:avLst>
              <a:gd name="adj" fmla="val 25000"/>
            </a:avLst>
          </a:prstGeom>
          <a:solidFill>
            <a:srgbClr val="FFFFFF"/>
          </a:solidFill>
          <a:ln/>
        </p:spPr>
        <p:txBody>
          <a:bodyPr wrap="square" lIns="50800" tIns="50800" rIns="50800" bIns="50800" rtlCol="0" anchor="t"/>
          <a:lstStyle/>
          <a:p>
            <a:pPr rtl="0" algn="ctr" indent="0" marL="0">
              <a:lnSpc>
                <a:spcPct val="105000"/>
              </a:lnSpc>
              <a:spcAft>
                <a:spcPts val="600"/>
              </a:spcAft>
              <a:buNone/>
            </a:pPr>
            <a:r>
              <a:rPr lang="en-US" altLang="en-US" sz="2800" b="1" dirty="0">
                <a:solidFill>
                  <a:srgbClr val="16325C"/>
                </a:solidFill>
                <a:latin typeface="Arial" pitchFamily="34" charset="0"/>
                <a:ea typeface="Arial" pitchFamily="34" charset="-122"/>
                <a:cs typeface="Arial" pitchFamily="34" charset="-120"/>
              </a:rPr>
              <a:t>1</a:t>
            </a:r>
            <a:endParaRPr lang="en-US" sz="2800" dirty="0"/>
          </a:p>
        </p:txBody>
      </p:sp>
      <p:sp>
        <p:nvSpPr>
          <p:cNvPr id="9" name="anim_20_244"/>
          <p:cNvSpPr/>
          <p:nvPr/>
        </p:nvSpPr>
        <p:spPr>
          <a:xfrm>
            <a:off x="6172200" y="1737360"/>
            <a:ext cx="2606040" cy="2423160"/>
          </a:xfrm>
          <a:prstGeom prst="roundRect">
            <a:avLst>
              <a:gd name="adj" fmla="val 11321"/>
            </a:avLst>
          </a:prstGeom>
          <a:solidFill>
            <a:srgbClr val="FFE6CC"/>
          </a:solidFill>
          <a:ln/>
          <a:effectLst>
            <a:outerShdw sx="100000" sy="100000" kx="0" ky="0" algn="bl" rotWithShape="0" blurRad="152400" dist="50800" dir="5400000">
              <a:srgbClr val="1F4F8A">
                <a:alpha val="18000"/>
              </a:srgbClr>
            </a:outerShdw>
          </a:effectLst>
        </p:spPr>
      </p:sp>
      <p:sp>
        <p:nvSpPr>
          <p:cNvPr id="10" name="anim_20_245"/>
          <p:cNvSpPr txBox="1"/>
          <p:nvPr/>
        </p:nvSpPr>
        <p:spPr>
          <a:xfrm>
            <a:off x="6172200" y="1783080"/>
            <a:ext cx="2606040" cy="109728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6000" b="1" baseline="-40000" dirty="0">
                <a:solidFill>
                  <a:srgbClr val="D9730D"/>
                </a:solidFill>
                <a:latin typeface="Arial" pitchFamily="34" charset="0"/>
                <a:ea typeface="Arial" pitchFamily="34" charset="-122"/>
                <a:cs typeface="Arial" pitchFamily="34" charset="-120"/>
              </a:rPr>
              <a:t>3</a:t>
            </a:r>
            <a:r>
              <a:rPr lang="en-US" altLang="en-US" sz="6000" b="1" dirty="0">
                <a:solidFill>
                  <a:srgbClr val="D9730D"/>
                </a:solidFill>
                <a:latin typeface="Arial" pitchFamily="34" charset="0"/>
                <a:ea typeface="Arial" pitchFamily="34" charset="-122"/>
                <a:cs typeface="Arial" pitchFamily="34" charset="-120"/>
              </a:rPr>
              <a:t>Li</a:t>
            </a:r>
            <a:endParaRPr lang="en-US" sz="6000" dirty="0"/>
          </a:p>
        </p:txBody>
      </p:sp>
      <p:sp>
        <p:nvSpPr>
          <p:cNvPr id="11" name="anim_20_246"/>
          <p:cNvSpPr txBox="1"/>
          <p:nvPr/>
        </p:nvSpPr>
        <p:spPr>
          <a:xfrm>
            <a:off x="6172200" y="2834640"/>
            <a:ext cx="260604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الليثيوم</a:t>
            </a:r>
            <a:endParaRPr lang="ar-KW" sz="2600" dirty="0"/>
          </a:p>
        </p:txBody>
      </p:sp>
      <p:sp>
        <p:nvSpPr>
          <p:cNvPr id="12" name="anim_20_247"/>
          <p:cNvSpPr txBox="1"/>
          <p:nvPr/>
        </p:nvSpPr>
        <p:spPr>
          <a:xfrm>
            <a:off x="6629400" y="3383280"/>
            <a:ext cx="1691640" cy="548640"/>
          </a:xfrm>
          <a:prstGeom prst="roundRect">
            <a:avLst>
              <a:gd name="adj" fmla="val 25000"/>
            </a:avLst>
          </a:prstGeom>
          <a:solidFill>
            <a:srgbClr val="FFFFFF"/>
          </a:solidFill>
          <a:ln/>
        </p:spPr>
        <p:txBody>
          <a:bodyPr wrap="square" lIns="50800" tIns="50800" rIns="50800" bIns="50800" rtlCol="0" anchor="t"/>
          <a:lstStyle/>
          <a:p>
            <a:pPr rtl="0" algn="ctr" indent="0" marL="0">
              <a:lnSpc>
                <a:spcPct val="105000"/>
              </a:lnSpc>
              <a:spcAft>
                <a:spcPts val="600"/>
              </a:spcAft>
              <a:buNone/>
            </a:pPr>
            <a:r>
              <a:rPr lang="en-US" altLang="en-US" sz="2800" b="1" dirty="0">
                <a:solidFill>
                  <a:srgbClr val="16325C"/>
                </a:solidFill>
                <a:latin typeface="Arial" pitchFamily="34" charset="0"/>
                <a:ea typeface="Arial" pitchFamily="34" charset="-122"/>
                <a:cs typeface="Arial" pitchFamily="34" charset="-120"/>
              </a:rPr>
              <a:t>2,1</a:t>
            </a:r>
            <a:endParaRPr lang="en-US" sz="2800" dirty="0"/>
          </a:p>
        </p:txBody>
      </p:sp>
      <p:sp>
        <p:nvSpPr>
          <p:cNvPr id="13" name="anim_20_248"/>
          <p:cNvSpPr/>
          <p:nvPr/>
        </p:nvSpPr>
        <p:spPr>
          <a:xfrm>
            <a:off x="3337560" y="1737360"/>
            <a:ext cx="2606040" cy="2423160"/>
          </a:xfrm>
          <a:prstGeom prst="roundRect">
            <a:avLst>
              <a:gd name="adj" fmla="val 11321"/>
            </a:avLst>
          </a:prstGeom>
          <a:solidFill>
            <a:srgbClr val="FFF1BF"/>
          </a:solidFill>
          <a:ln/>
          <a:effectLst>
            <a:outerShdw sx="100000" sy="100000" kx="0" ky="0" algn="bl" rotWithShape="0" blurRad="152400" dist="50800" dir="5400000">
              <a:srgbClr val="1F4F8A">
                <a:alpha val="18000"/>
              </a:srgbClr>
            </a:outerShdw>
          </a:effectLst>
        </p:spPr>
      </p:sp>
      <p:sp>
        <p:nvSpPr>
          <p:cNvPr id="14" name="anim_20_249"/>
          <p:cNvSpPr txBox="1"/>
          <p:nvPr/>
        </p:nvSpPr>
        <p:spPr>
          <a:xfrm>
            <a:off x="3337560" y="1783080"/>
            <a:ext cx="2606040" cy="109728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6000" b="1" baseline="-40000" dirty="0">
                <a:solidFill>
                  <a:srgbClr val="E59A00"/>
                </a:solidFill>
                <a:latin typeface="Arial" pitchFamily="34" charset="0"/>
                <a:ea typeface="Arial" pitchFamily="34" charset="-122"/>
                <a:cs typeface="Arial" pitchFamily="34" charset="-120"/>
              </a:rPr>
              <a:t>4</a:t>
            </a:r>
            <a:r>
              <a:rPr lang="en-US" altLang="en-US" sz="6000" b="1" dirty="0">
                <a:solidFill>
                  <a:srgbClr val="E59A00"/>
                </a:solidFill>
                <a:latin typeface="Arial" pitchFamily="34" charset="0"/>
                <a:ea typeface="Arial" pitchFamily="34" charset="-122"/>
                <a:cs typeface="Arial" pitchFamily="34" charset="-120"/>
              </a:rPr>
              <a:t>Be</a:t>
            </a:r>
            <a:endParaRPr lang="en-US" sz="6000" dirty="0"/>
          </a:p>
        </p:txBody>
      </p:sp>
      <p:sp>
        <p:nvSpPr>
          <p:cNvPr id="15" name="anim_20_250"/>
          <p:cNvSpPr txBox="1"/>
          <p:nvPr/>
        </p:nvSpPr>
        <p:spPr>
          <a:xfrm>
            <a:off x="3337560" y="2834640"/>
            <a:ext cx="260604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البريليوم</a:t>
            </a:r>
            <a:endParaRPr lang="ar-KW" sz="2600" dirty="0"/>
          </a:p>
        </p:txBody>
      </p:sp>
      <p:sp>
        <p:nvSpPr>
          <p:cNvPr id="16" name="anim_20_251"/>
          <p:cNvSpPr txBox="1"/>
          <p:nvPr/>
        </p:nvSpPr>
        <p:spPr>
          <a:xfrm>
            <a:off x="3794760" y="3383280"/>
            <a:ext cx="1691640" cy="548640"/>
          </a:xfrm>
          <a:prstGeom prst="roundRect">
            <a:avLst>
              <a:gd name="adj" fmla="val 25000"/>
            </a:avLst>
          </a:prstGeom>
          <a:solidFill>
            <a:srgbClr val="FFFFFF"/>
          </a:solidFill>
          <a:ln/>
        </p:spPr>
        <p:txBody>
          <a:bodyPr wrap="square" lIns="50800" tIns="50800" rIns="50800" bIns="50800" rtlCol="0" anchor="t"/>
          <a:lstStyle/>
          <a:p>
            <a:pPr rtl="0" algn="ctr" indent="0" marL="0">
              <a:lnSpc>
                <a:spcPct val="105000"/>
              </a:lnSpc>
              <a:spcAft>
                <a:spcPts val="600"/>
              </a:spcAft>
              <a:buNone/>
            </a:pPr>
            <a:r>
              <a:rPr lang="en-US" altLang="en-US" sz="2800" b="1" dirty="0">
                <a:solidFill>
                  <a:srgbClr val="16325C"/>
                </a:solidFill>
                <a:latin typeface="Arial" pitchFamily="34" charset="0"/>
                <a:ea typeface="Arial" pitchFamily="34" charset="-122"/>
                <a:cs typeface="Arial" pitchFamily="34" charset="-120"/>
              </a:rPr>
              <a:t>2,2</a:t>
            </a:r>
            <a:endParaRPr lang="en-US" sz="2800" dirty="0"/>
          </a:p>
        </p:txBody>
      </p:sp>
      <p:sp>
        <p:nvSpPr>
          <p:cNvPr id="17" name="anim_20_252"/>
          <p:cNvSpPr/>
          <p:nvPr/>
        </p:nvSpPr>
        <p:spPr>
          <a:xfrm>
            <a:off x="502920" y="1737360"/>
            <a:ext cx="2606040" cy="2423160"/>
          </a:xfrm>
          <a:prstGeom prst="roundRect">
            <a:avLst>
              <a:gd name="adj" fmla="val 11321"/>
            </a:avLst>
          </a:prstGeom>
          <a:solidFill>
            <a:srgbClr val="D8F3E6"/>
          </a:solidFill>
          <a:ln/>
          <a:effectLst>
            <a:outerShdw sx="100000" sy="100000" kx="0" ky="0" algn="bl" rotWithShape="0" blurRad="152400" dist="50800" dir="5400000">
              <a:srgbClr val="1F4F8A">
                <a:alpha val="18000"/>
              </a:srgbClr>
            </a:outerShdw>
          </a:effectLst>
        </p:spPr>
      </p:sp>
      <p:sp>
        <p:nvSpPr>
          <p:cNvPr id="18" name="anim_20_253"/>
          <p:cNvSpPr txBox="1"/>
          <p:nvPr/>
        </p:nvSpPr>
        <p:spPr>
          <a:xfrm>
            <a:off x="502920" y="1783080"/>
            <a:ext cx="2606040" cy="109728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6000" b="1" baseline="-40000" dirty="0">
                <a:solidFill>
                  <a:srgbClr val="0B8A5A"/>
                </a:solidFill>
                <a:latin typeface="Arial" pitchFamily="34" charset="0"/>
                <a:ea typeface="Arial" pitchFamily="34" charset="-122"/>
                <a:cs typeface="Arial" pitchFamily="34" charset="-120"/>
              </a:rPr>
              <a:t>5</a:t>
            </a:r>
            <a:r>
              <a:rPr lang="en-US" altLang="en-US" sz="6000" b="1" dirty="0">
                <a:solidFill>
                  <a:srgbClr val="0B8A5A"/>
                </a:solidFill>
                <a:latin typeface="Arial" pitchFamily="34" charset="0"/>
                <a:ea typeface="Arial" pitchFamily="34" charset="-122"/>
                <a:cs typeface="Arial" pitchFamily="34" charset="-120"/>
              </a:rPr>
              <a:t>B</a:t>
            </a:r>
            <a:endParaRPr lang="en-US" sz="6000" dirty="0"/>
          </a:p>
        </p:txBody>
      </p:sp>
      <p:sp>
        <p:nvSpPr>
          <p:cNvPr id="19" name="anim_20_254"/>
          <p:cNvSpPr txBox="1"/>
          <p:nvPr/>
        </p:nvSpPr>
        <p:spPr>
          <a:xfrm>
            <a:off x="502920" y="2834640"/>
            <a:ext cx="2606040" cy="548640"/>
          </a:xfrm>
          <a:prstGeom prst="rect">
            <a:avLst/>
          </a:prstGeom>
          <a:noFill/>
          <a:ln/>
        </p:spPr>
        <p:txBody>
          <a:bodyPr wrap="square" lIns="50800" tIns="50800" rIns="50800" bIns="50800" rtlCol="0" anchor="t"/>
          <a:lstStyle/>
          <a:p>
            <a:pPr rtl="1" algn="ctr" indent="0" marL="0">
              <a:lnSpc>
                <a:spcPct val="105000"/>
              </a:lnSpc>
              <a:spcAft>
                <a:spcPts val="600"/>
              </a:spcAft>
              <a:buNone/>
            </a:pPr>
            <a:r>
              <a:rPr lang="ar-KW" altLang="en-US" sz="2600" b="1" dirty="0">
                <a:solidFill>
                  <a:srgbClr val="16325C"/>
                </a:solidFill>
                <a:latin typeface="Arial" pitchFamily="34" charset="0"/>
                <a:ea typeface="Arial" pitchFamily="34" charset="-122"/>
                <a:cs typeface="Arial" pitchFamily="34" charset="-120"/>
              </a:rPr>
              <a:t>البورون</a:t>
            </a:r>
            <a:endParaRPr lang="ar-KW" sz="2600" dirty="0"/>
          </a:p>
        </p:txBody>
      </p:sp>
      <p:sp>
        <p:nvSpPr>
          <p:cNvPr id="20" name="anim_20_255"/>
          <p:cNvSpPr txBox="1"/>
          <p:nvPr/>
        </p:nvSpPr>
        <p:spPr>
          <a:xfrm>
            <a:off x="960120" y="3383280"/>
            <a:ext cx="1691640" cy="548640"/>
          </a:xfrm>
          <a:prstGeom prst="roundRect">
            <a:avLst>
              <a:gd name="adj" fmla="val 25000"/>
            </a:avLst>
          </a:prstGeom>
          <a:solidFill>
            <a:srgbClr val="FFFFFF"/>
          </a:solidFill>
          <a:ln/>
        </p:spPr>
        <p:txBody>
          <a:bodyPr wrap="square" lIns="50800" tIns="50800" rIns="50800" bIns="50800" rtlCol="0" anchor="t"/>
          <a:lstStyle/>
          <a:p>
            <a:pPr rtl="0" algn="ctr" indent="0" marL="0">
              <a:lnSpc>
                <a:spcPct val="105000"/>
              </a:lnSpc>
              <a:spcAft>
                <a:spcPts val="600"/>
              </a:spcAft>
              <a:buNone/>
            </a:pPr>
            <a:r>
              <a:rPr lang="en-US" altLang="en-US" sz="2800" b="1" dirty="0">
                <a:solidFill>
                  <a:srgbClr val="16325C"/>
                </a:solidFill>
                <a:latin typeface="Arial" pitchFamily="34" charset="0"/>
                <a:ea typeface="Arial" pitchFamily="34" charset="-122"/>
                <a:cs typeface="Arial" pitchFamily="34" charset="-120"/>
              </a:rPr>
              <a:t>2,3</a:t>
            </a:r>
            <a:endParaRPr lang="en-US" sz="2800" dirty="0"/>
          </a:p>
        </p:txBody>
      </p:sp>
      <p:sp>
        <p:nvSpPr>
          <p:cNvPr id="21" name="anim_20_256"/>
          <p:cNvSpPr/>
          <p:nvPr/>
        </p:nvSpPr>
        <p:spPr>
          <a:xfrm>
            <a:off x="2926080" y="4434840"/>
            <a:ext cx="8823960" cy="1691640"/>
          </a:xfrm>
          <a:prstGeom prst="roundRect">
            <a:avLst>
              <a:gd name="adj" fmla="val 16216"/>
            </a:avLst>
          </a:prstGeom>
          <a:solidFill>
            <a:srgbClr val="FFFFFF"/>
          </a:solidFill>
          <a:ln w="38100">
            <a:solidFill>
              <a:srgbClr val="B9A8FF"/>
            </a:solidFill>
            <a:prstDash val="solid"/>
          </a:ln>
          <a:effectLst>
            <a:outerShdw sx="100000" sy="100000" kx="0" ky="0" algn="bl" rotWithShape="0" blurRad="152400" dist="50800" dir="5400000">
              <a:srgbClr val="1F4F8A">
                <a:alpha val="18000"/>
              </a:srgbClr>
            </a:outerShdw>
          </a:effectLst>
        </p:spPr>
      </p:sp>
      <p:sp>
        <p:nvSpPr>
          <p:cNvPr id="22" name="anim_20_257"/>
          <p:cNvSpPr txBox="1"/>
          <p:nvPr/>
        </p:nvSpPr>
        <p:spPr>
          <a:xfrm>
            <a:off x="3108960" y="4480560"/>
            <a:ext cx="8503920" cy="1600200"/>
          </a:xfrm>
          <a:prstGeom prst="rect">
            <a:avLst/>
          </a:prstGeom>
          <a:noFill/>
          <a:ln/>
        </p:spPr>
        <p:txBody>
          <a:bodyPr wrap="square" lIns="50800" tIns="50800" rIns="50800" bIns="50800" rtlCol="0" anchor="ctr"/>
          <a:lstStyle/>
          <a:p>
            <a:pPr rtl="0" algn="r" indent="0" marL="0">
              <a:lnSpc>
                <a:spcPct val="105000"/>
              </a:lnSpc>
              <a:spcAft>
                <a:spcPts val="600"/>
              </a:spcAft>
              <a:buNone/>
            </a:pPr>
            <a:r>
              <a:rPr lang="ar-KW" altLang="en-US" sz="2400" b="1" dirty="0">
                <a:solidFill>
                  <a:srgbClr val="16325C"/>
                </a:solidFill>
                <a:latin typeface="Arial" pitchFamily="34" charset="0"/>
                <a:ea typeface="Arial" pitchFamily="34" charset="-122"/>
                <a:cs typeface="Arial" pitchFamily="34" charset="-120"/>
              </a:rPr>
              <a:t>العناصر السابقة </a:t>
            </a:r>
            <a:r>
              <a:rPr lang="ar-KW" altLang="en-US" sz="2400" b="1" dirty="0">
                <a:solidFill>
                  <a:srgbClr val="6C4FE0"/>
                </a:solidFill>
                <a:latin typeface="Arial" pitchFamily="34" charset="0"/>
                <a:ea typeface="Arial" pitchFamily="34" charset="-122"/>
                <a:cs typeface="Arial" pitchFamily="34" charset="-120"/>
              </a:rPr>
              <a:t>لا تحقق قاعدة الثمانية</a:t>
            </a:r>
            <a:r>
              <a:rPr lang="ar-KW" altLang="en-US" sz="2400" b="1" dirty="0">
                <a:solidFill>
                  <a:srgbClr val="16325C"/>
                </a:solidFill>
                <a:latin typeface="Arial" pitchFamily="34" charset="0"/>
                <a:ea typeface="Arial" pitchFamily="34" charset="-122"/>
                <a:cs typeface="Arial" pitchFamily="34" charset="-120"/>
              </a:rPr>
              <a:t> عندما تفقد إلكترونات التكافؤ، لأنها تستقر بإلكترونين فقط لتشابه أقرب غاز نبيل لها وهو الهيليوم .</a:t>
            </a:r>
            <a:endParaRPr lang="ar-KW" sz="2400" dirty="0"/>
          </a:p>
        </p:txBody>
      </p:sp>
      <p:pic>
        <p:nvPicPr>
          <p:cNvPr id="23" name="anim_20_258" descr="helium.png">    </p:cNvPr>
          <p:cNvPicPr>
            <a:picLocks noChangeAspect="1"/>
          </p:cNvPicPr>
          <p:nvPr/>
        </p:nvPicPr>
        <p:blipFill>
          <a:blip r:embed="rId2"/>
          <a:stretch>
            <a:fillRect/>
          </a:stretch>
        </p:blipFill>
        <p:spPr>
          <a:xfrm>
            <a:off x="411480" y="3931920"/>
            <a:ext cx="2377440" cy="2377440"/>
          </a:xfrm>
          <a:prstGeom prst="rect">
            <a:avLst/>
          </a:prstGeom>
        </p:spPr>
      </p:pic>
      <p:sp>
        <p:nvSpPr>
          <p:cNvPr id="24" name="anim_20_259"/>
          <p:cNvSpPr txBox="1"/>
          <p:nvPr/>
        </p:nvSpPr>
        <p:spPr>
          <a:xfrm>
            <a:off x="1005840" y="5806440"/>
            <a:ext cx="1188720" cy="548640"/>
          </a:xfrm>
          <a:prstGeom prst="roundRect">
            <a:avLst>
              <a:gd name="adj" fmla="val 50000"/>
            </a:avLst>
          </a:prstGeom>
          <a:solidFill>
            <a:srgbClr val="0F9D8E"/>
          </a:solidFill>
          <a:ln/>
        </p:spPr>
        <p:txBody>
          <a:bodyPr wrap="square" lIns="0" tIns="0" rIns="0" bIns="0" rtlCol="0" anchor="ctr"/>
          <a:lstStyle/>
          <a:p>
            <a:pPr rtl="0" algn="ctr" indent="0" marL="0">
              <a:lnSpc>
                <a:spcPct val="105000"/>
              </a:lnSpc>
              <a:spcAft>
                <a:spcPts val="600"/>
              </a:spcAft>
              <a:buNone/>
            </a:pPr>
            <a:r>
              <a:rPr lang="en-US" altLang="en-US" sz="2600" b="1" baseline="-40000" dirty="0">
                <a:solidFill>
                  <a:srgbClr val="FFFFFF"/>
                </a:solidFill>
                <a:latin typeface="Arial" pitchFamily="34" charset="0"/>
                <a:ea typeface="Arial" pitchFamily="34" charset="-122"/>
                <a:cs typeface="Arial" pitchFamily="34" charset="-120"/>
              </a:rPr>
              <a:t>2</a:t>
            </a:r>
            <a:r>
              <a:rPr lang="en-US" altLang="en-US" sz="2600" b="1" dirty="0">
                <a:solidFill>
                  <a:srgbClr val="FFFFFF"/>
                </a:solidFill>
                <a:latin typeface="Arial" pitchFamily="34" charset="0"/>
                <a:ea typeface="Arial" pitchFamily="34" charset="-122"/>
                <a:cs typeface="Arial" pitchFamily="34" charset="-120"/>
              </a:rPr>
              <a:t>He</a:t>
            </a:r>
            <a:endParaRPr lang="en-US" sz="2600" dirty="0"/>
          </a:p>
        </p:txBody>
      </p:sp>
    </p:spTree>
  </p:cSld>
  <p:clrMapOvr>
    <a:masterClrMapping/>
  </p:clrMapOvr>
  <p:transition spd="slow">
    <p:cover dir="l"/>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79"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80" fill="hold">
                            <p:stCondLst>
                              <p:cond delay="800"/>
                            </p:stCondLst>
                            <p:childTnLst>
                              <p:par>
                                <p:cTn id="11" presetID="2" presetClass="entr" presetSubtype="4"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53" presetClass="entr" presetSubtype="16" fill="hold" grpId="0" nodeType="withEffect">
                                  <p:stCondLst>
                                    <p:cond delay="15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ppt_w</p:attrName>
                                        </p:attrNameLst>
                                      </p:cBhvr>
                                      <p:tavLst>
                                        <p:tav tm="0">
                                          <p:val>
                                            <p:fltVal val="0"/>
                                          </p:val>
                                        </p:tav>
                                        <p:tav tm="100000">
                                          <p:val>
                                            <p:strVal val="#ppt_w"/>
                                          </p:val>
                                        </p:tav>
                                      </p:tavLst>
                                    </p:anim>
                                    <p:anim calcmode="lin" valueType="num">
                                      <p:cBhvr additive="base">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53" presetClass="entr" presetSubtype="16" fill="hold" grpId="0" nodeType="withEffect">
                                  <p:stCondLst>
                                    <p:cond delay="3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400" fill="hold"/>
                                        <p:tgtEl>
                                          <p:spTgt spid="8"/>
                                        </p:tgtEl>
                                        <p:attrNameLst>
                                          <p:attrName>ppt_w</p:attrName>
                                        </p:attrNameLst>
                                      </p:cBhvr>
                                      <p:tavLst>
                                        <p:tav tm="0">
                                          <p:val>
                                            <p:fltVal val="0"/>
                                          </p:val>
                                        </p:tav>
                                        <p:tav tm="100000">
                                          <p:val>
                                            <p:strVal val="#ppt_w"/>
                                          </p:val>
                                        </p:tav>
                                      </p:tavLst>
                                    </p:anim>
                                    <p:anim calcmode="lin" valueType="num">
                                      <p:cBhvr additive="base">
                                        <p:cTn id="26" dur="400" fill="hold"/>
                                        <p:tgtEl>
                                          <p:spTgt spid="8"/>
                                        </p:tgtEl>
                                        <p:attrNameLst>
                                          <p:attrName>ppt_h</p:attrName>
                                        </p:attrNameLst>
                                      </p:cBhvr>
                                      <p:tavLst>
                                        <p:tav tm="0">
                                          <p:val>
                                            <p:fltVal val="0"/>
                                          </p:val>
                                        </p:tav>
                                        <p:tav tm="100000">
                                          <p:val>
                                            <p:strVal val="#ppt_h"/>
                                          </p:val>
                                        </p:tav>
                                      </p:tavLst>
                                    </p:anim>
                                    <p:animEffect transition="in" filter="fade">
                                      <p:cBhvr>
                                        <p:cTn id="27" dur="400"/>
                                        <p:tgtEl>
                                          <p:spTgt spid="8"/>
                                        </p:tgtEl>
                                      </p:cBhvr>
                                    </p:animEffect>
                                  </p:childTnLst>
                                </p:cTn>
                              </p:par>
                            </p:childTnLst>
                          </p:cTn>
                        </p:par>
                        <p:par>
                          <p:cTn id="81" fill="hold">
                            <p:stCondLst>
                              <p:cond delay="1500"/>
                            </p:stCondLst>
                            <p:childTnLst>
                              <p:par>
                                <p:cTn id="28" presetID="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53" presetClass="entr" presetSubtype="16" fill="hold" grpId="0" nodeType="withEffect">
                                  <p:stCondLst>
                                    <p:cond delay="15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ppt_w</p:attrName>
                                        </p:attrNameLst>
                                      </p:cBhvr>
                                      <p:tavLst>
                                        <p:tav tm="0">
                                          <p:val>
                                            <p:fltVal val="0"/>
                                          </p:val>
                                        </p:tav>
                                        <p:tav tm="100000">
                                          <p:val>
                                            <p:strVal val="#ppt_w"/>
                                          </p:val>
                                        </p:tav>
                                      </p:tavLst>
                                    </p:anim>
                                    <p:anim calcmode="lin" valueType="num">
                                      <p:cBhvr additive="base">
                                        <p:cTn id="35" dur="500" fill="hold"/>
                                        <p:tgtEl>
                                          <p:spTgt spid="10"/>
                                        </p:tgtEl>
                                        <p:attrNameLst>
                                          <p:attrName>ppt_h</p:attrName>
                                        </p:attrNameLst>
                                      </p:cBhvr>
                                      <p:tavLst>
                                        <p:tav tm="0">
                                          <p:val>
                                            <p:fltVal val="0"/>
                                          </p:val>
                                        </p:tav>
                                        <p:tav tm="100000">
                                          <p:val>
                                            <p:strVal val="#ppt_h"/>
                                          </p:val>
                                        </p:tav>
                                      </p:tavLst>
                                    </p:anim>
                                    <p:animEffect transition="in" filter="fade">
                                      <p:cBhvr>
                                        <p:cTn id="36" dur="500"/>
                                        <p:tgtEl>
                                          <p:spTgt spid="10"/>
                                        </p:tgtEl>
                                      </p:cBhvr>
                                    </p:animEffect>
                                  </p:childTnLst>
                                </p:cTn>
                              </p:par>
                              <p:par>
                                <p:cTn id="37" presetID="10" presetClass="entr" presetSubtype="0" fill="hold" grpId="0" nodeType="withEffect">
                                  <p:stCondLst>
                                    <p:cond delay="25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400"/>
                                        <p:tgtEl>
                                          <p:spTgt spid="11"/>
                                        </p:tgtEl>
                                      </p:cBhvr>
                                    </p:animEffect>
                                  </p:childTnLst>
                                </p:cTn>
                              </p:par>
                              <p:par>
                                <p:cTn id="40" presetID="53" presetClass="entr" presetSubtype="16" fill="hold" grpId="0" nodeType="withEffect">
                                  <p:stCondLst>
                                    <p:cond delay="30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400" fill="hold"/>
                                        <p:tgtEl>
                                          <p:spTgt spid="12"/>
                                        </p:tgtEl>
                                        <p:attrNameLst>
                                          <p:attrName>ppt_w</p:attrName>
                                        </p:attrNameLst>
                                      </p:cBhvr>
                                      <p:tavLst>
                                        <p:tav tm="0">
                                          <p:val>
                                            <p:fltVal val="0"/>
                                          </p:val>
                                        </p:tav>
                                        <p:tav tm="100000">
                                          <p:val>
                                            <p:strVal val="#ppt_w"/>
                                          </p:val>
                                        </p:tav>
                                      </p:tavLst>
                                    </p:anim>
                                    <p:anim calcmode="lin" valueType="num">
                                      <p:cBhvr additive="base">
                                        <p:cTn id="43" dur="400" fill="hold"/>
                                        <p:tgtEl>
                                          <p:spTgt spid="12"/>
                                        </p:tgtEl>
                                        <p:attrNameLst>
                                          <p:attrName>ppt_h</p:attrName>
                                        </p:attrNameLst>
                                      </p:cBhvr>
                                      <p:tavLst>
                                        <p:tav tm="0">
                                          <p:val>
                                            <p:fltVal val="0"/>
                                          </p:val>
                                        </p:tav>
                                        <p:tav tm="100000">
                                          <p:val>
                                            <p:strVal val="#ppt_h"/>
                                          </p:val>
                                        </p:tav>
                                      </p:tavLst>
                                    </p:anim>
                                    <p:animEffect transition="in" filter="fade">
                                      <p:cBhvr>
                                        <p:cTn id="44" dur="400"/>
                                        <p:tgtEl>
                                          <p:spTgt spid="12"/>
                                        </p:tgtEl>
                                      </p:cBhvr>
                                    </p:animEffect>
                                  </p:childTnLst>
                                </p:cTn>
                              </p:par>
                            </p:childTnLst>
                          </p:cTn>
                        </p:par>
                        <p:par>
                          <p:cTn id="82" fill="hold">
                            <p:stCondLst>
                              <p:cond delay="2200"/>
                            </p:stCondLst>
                            <p:childTnLst>
                              <p:par>
                                <p:cTn id="45" presetID="2" presetClass="entr" presetSubtype="4"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53" presetClass="entr" presetSubtype="16" fill="hold" grpId="0" nodeType="withEffect">
                                  <p:stCondLst>
                                    <p:cond delay="15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ppt_w</p:attrName>
                                        </p:attrNameLst>
                                      </p:cBhvr>
                                      <p:tavLst>
                                        <p:tav tm="0">
                                          <p:val>
                                            <p:fltVal val="0"/>
                                          </p:val>
                                        </p:tav>
                                        <p:tav tm="100000">
                                          <p:val>
                                            <p:strVal val="#ppt_w"/>
                                          </p:val>
                                        </p:tav>
                                      </p:tavLst>
                                    </p:anim>
                                    <p:anim calcmode="lin" valueType="num">
                                      <p:cBhvr additive="base">
                                        <p:cTn id="52" dur="500" fill="hold"/>
                                        <p:tgtEl>
                                          <p:spTgt spid="14"/>
                                        </p:tgtEl>
                                        <p:attrNameLst>
                                          <p:attrName>ppt_h</p:attrName>
                                        </p:attrNameLst>
                                      </p:cBhvr>
                                      <p:tavLst>
                                        <p:tav tm="0">
                                          <p:val>
                                            <p:fltVal val="0"/>
                                          </p:val>
                                        </p:tav>
                                        <p:tav tm="100000">
                                          <p:val>
                                            <p:strVal val="#ppt_h"/>
                                          </p:val>
                                        </p:tav>
                                      </p:tavLst>
                                    </p:anim>
                                    <p:animEffect transition="in" filter="fade">
                                      <p:cBhvr>
                                        <p:cTn id="53" dur="500"/>
                                        <p:tgtEl>
                                          <p:spTgt spid="14"/>
                                        </p:tgtEl>
                                      </p:cBhvr>
                                    </p:animEffect>
                                  </p:childTnLst>
                                </p:cTn>
                              </p:par>
                              <p:par>
                                <p:cTn id="54" presetID="10" presetClass="entr" presetSubtype="0" fill="hold" grpId="0" nodeType="withEffect">
                                  <p:stCondLst>
                                    <p:cond delay="25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00"/>
                                        <p:tgtEl>
                                          <p:spTgt spid="15"/>
                                        </p:tgtEl>
                                      </p:cBhvr>
                                    </p:animEffect>
                                  </p:childTnLst>
                                </p:cTn>
                              </p:par>
                              <p:par>
                                <p:cTn id="57" presetID="53" presetClass="entr" presetSubtype="16" fill="hold" grpId="0" nodeType="withEffect">
                                  <p:stCondLst>
                                    <p:cond delay="30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400" fill="hold"/>
                                        <p:tgtEl>
                                          <p:spTgt spid="16"/>
                                        </p:tgtEl>
                                        <p:attrNameLst>
                                          <p:attrName>ppt_w</p:attrName>
                                        </p:attrNameLst>
                                      </p:cBhvr>
                                      <p:tavLst>
                                        <p:tav tm="0">
                                          <p:val>
                                            <p:fltVal val="0"/>
                                          </p:val>
                                        </p:tav>
                                        <p:tav tm="100000">
                                          <p:val>
                                            <p:strVal val="#ppt_w"/>
                                          </p:val>
                                        </p:tav>
                                      </p:tavLst>
                                    </p:anim>
                                    <p:anim calcmode="lin" valueType="num">
                                      <p:cBhvr additive="base">
                                        <p:cTn id="60" dur="400" fill="hold"/>
                                        <p:tgtEl>
                                          <p:spTgt spid="16"/>
                                        </p:tgtEl>
                                        <p:attrNameLst>
                                          <p:attrName>ppt_h</p:attrName>
                                        </p:attrNameLst>
                                      </p:cBhvr>
                                      <p:tavLst>
                                        <p:tav tm="0">
                                          <p:val>
                                            <p:fltVal val="0"/>
                                          </p:val>
                                        </p:tav>
                                        <p:tav tm="100000">
                                          <p:val>
                                            <p:strVal val="#ppt_h"/>
                                          </p:val>
                                        </p:tav>
                                      </p:tavLst>
                                    </p:anim>
                                    <p:animEffect transition="in" filter="fade">
                                      <p:cBhvr>
                                        <p:cTn id="61" dur="400"/>
                                        <p:tgtEl>
                                          <p:spTgt spid="16"/>
                                        </p:tgtEl>
                                      </p:cBhvr>
                                    </p:animEffect>
                                  </p:childTnLst>
                                </p:cTn>
                              </p:par>
                            </p:childTnLst>
                          </p:cTn>
                        </p:par>
                        <p:par>
                          <p:cTn id="83" fill="hold">
                            <p:stCondLst>
                              <p:cond delay="2900"/>
                            </p:stCondLst>
                            <p:childTnLst>
                              <p:par>
                                <p:cTn id="62" presetID="2" presetClass="entr" presetSubtype="4" fill="hold" grpId="0" nodeType="after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additive="base">
                                        <p:cTn id="64" dur="500" fill="hold"/>
                                        <p:tgtEl>
                                          <p:spTgt spid="17"/>
                                        </p:tgtEl>
                                        <p:attrNameLst>
                                          <p:attrName>ppt_x</p:attrName>
                                        </p:attrNameLst>
                                      </p:cBhvr>
                                      <p:tavLst>
                                        <p:tav tm="0">
                                          <p:val>
                                            <p:strVal val="#ppt_x"/>
                                          </p:val>
                                        </p:tav>
                                        <p:tav tm="100000">
                                          <p:val>
                                            <p:strVal val="#ppt_x"/>
                                          </p:val>
                                        </p:tav>
                                      </p:tavLst>
                                    </p:anim>
                                    <p:anim calcmode="lin" valueType="num">
                                      <p:cBhvr additive="base">
                                        <p:cTn id="65" dur="500" fill="hold"/>
                                        <p:tgtEl>
                                          <p:spTgt spid="17"/>
                                        </p:tgtEl>
                                        <p:attrNameLst>
                                          <p:attrName>ppt_y</p:attrName>
                                        </p:attrNameLst>
                                      </p:cBhvr>
                                      <p:tavLst>
                                        <p:tav tm="0">
                                          <p:val>
                                            <p:strVal val="1+#ppt_h/2"/>
                                          </p:val>
                                        </p:tav>
                                        <p:tav tm="100000">
                                          <p:val>
                                            <p:strVal val="#ppt_y"/>
                                          </p:val>
                                        </p:tav>
                                      </p:tavLst>
                                    </p:anim>
                                  </p:childTnLst>
                                </p:cTn>
                              </p:par>
                              <p:par>
                                <p:cTn id="66" presetID="53" presetClass="entr" presetSubtype="16" fill="hold" grpId="0" nodeType="withEffect">
                                  <p:stCondLst>
                                    <p:cond delay="15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500" fill="hold"/>
                                        <p:tgtEl>
                                          <p:spTgt spid="18"/>
                                        </p:tgtEl>
                                        <p:attrNameLst>
                                          <p:attrName>ppt_w</p:attrName>
                                        </p:attrNameLst>
                                      </p:cBhvr>
                                      <p:tavLst>
                                        <p:tav tm="0">
                                          <p:val>
                                            <p:fltVal val="0"/>
                                          </p:val>
                                        </p:tav>
                                        <p:tav tm="100000">
                                          <p:val>
                                            <p:strVal val="#ppt_w"/>
                                          </p:val>
                                        </p:tav>
                                      </p:tavLst>
                                    </p:anim>
                                    <p:anim calcmode="lin" valueType="num">
                                      <p:cBhvr additive="base">
                                        <p:cTn id="69" dur="500" fill="hold"/>
                                        <p:tgtEl>
                                          <p:spTgt spid="18"/>
                                        </p:tgtEl>
                                        <p:attrNameLst>
                                          <p:attrName>ppt_h</p:attrName>
                                        </p:attrNameLst>
                                      </p:cBhvr>
                                      <p:tavLst>
                                        <p:tav tm="0">
                                          <p:val>
                                            <p:fltVal val="0"/>
                                          </p:val>
                                        </p:tav>
                                        <p:tav tm="100000">
                                          <p:val>
                                            <p:strVal val="#ppt_h"/>
                                          </p:val>
                                        </p:tav>
                                      </p:tavLst>
                                    </p:anim>
                                    <p:animEffect transition="in" filter="fade">
                                      <p:cBhvr>
                                        <p:cTn id="70" dur="500"/>
                                        <p:tgtEl>
                                          <p:spTgt spid="18"/>
                                        </p:tgtEl>
                                      </p:cBhvr>
                                    </p:animEffect>
                                  </p:childTnLst>
                                </p:cTn>
                              </p:par>
                              <p:par>
                                <p:cTn id="71" presetID="10" presetClass="entr" presetSubtype="0" fill="hold" grpId="0" nodeType="withEffect">
                                  <p:stCondLst>
                                    <p:cond delay="25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400"/>
                                        <p:tgtEl>
                                          <p:spTgt spid="19"/>
                                        </p:tgtEl>
                                      </p:cBhvr>
                                    </p:animEffect>
                                  </p:childTnLst>
                                </p:cTn>
                              </p:par>
                              <p:par>
                                <p:cTn id="74" presetID="53" presetClass="entr" presetSubtype="16" fill="hold" grpId="0" nodeType="withEffect">
                                  <p:stCondLst>
                                    <p:cond delay="30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400" fill="hold"/>
                                        <p:tgtEl>
                                          <p:spTgt spid="20"/>
                                        </p:tgtEl>
                                        <p:attrNameLst>
                                          <p:attrName>ppt_w</p:attrName>
                                        </p:attrNameLst>
                                      </p:cBhvr>
                                      <p:tavLst>
                                        <p:tav tm="0">
                                          <p:val>
                                            <p:fltVal val="0"/>
                                          </p:val>
                                        </p:tav>
                                        <p:tav tm="100000">
                                          <p:val>
                                            <p:strVal val="#ppt_w"/>
                                          </p:val>
                                        </p:tav>
                                      </p:tavLst>
                                    </p:anim>
                                    <p:anim calcmode="lin" valueType="num">
                                      <p:cBhvr additive="base">
                                        <p:cTn id="77" dur="400" fill="hold"/>
                                        <p:tgtEl>
                                          <p:spTgt spid="20"/>
                                        </p:tgtEl>
                                        <p:attrNameLst>
                                          <p:attrName>ppt_h</p:attrName>
                                        </p:attrNameLst>
                                      </p:cBhvr>
                                      <p:tavLst>
                                        <p:tav tm="0">
                                          <p:val>
                                            <p:fltVal val="0"/>
                                          </p:val>
                                        </p:tav>
                                        <p:tav tm="100000">
                                          <p:val>
                                            <p:strVal val="#ppt_h"/>
                                          </p:val>
                                        </p:tav>
                                      </p:tavLst>
                                    </p:anim>
                                    <p:animEffect transition="in" filter="fade">
                                      <p:cBhvr>
                                        <p:cTn id="78" dur="400"/>
                                        <p:tgtEl>
                                          <p:spTgt spid="20"/>
                                        </p:tgtEl>
                                      </p:cBhvr>
                                    </p:animEffect>
                                  </p:childTnLst>
                                </p:cTn>
                              </p:par>
                            </p:childTnLst>
                          </p:cTn>
                        </p:par>
                      </p:childTnLst>
                    </p:cTn>
                  </p:par>
                  <p:par>
                    <p:cTn id="104" fill="hold">
                      <p:stCondLst>
                        <p:cond delay="indefinite"/>
                      </p:stCondLst>
                      <p:childTnLst>
                        <p:par>
                          <p:cTn id="101"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00"/>
                                        <p:tgtEl>
                                          <p:spTgt spid="21"/>
                                        </p:tgtEl>
                                      </p:cBhvr>
                                    </p:animEffect>
                                  </p:childTnLst>
                                </p:cTn>
                              </p:par>
                            </p:childTnLst>
                          </p:cTn>
                        </p:par>
                        <p:par>
                          <p:cTn id="102" fill="hold">
                            <p:stCondLst>
                              <p:cond delay="500"/>
                            </p:stCondLst>
                            <p:childTnLst>
                              <p:par>
                                <p:cTn id="88" presetID="22" presetClass="entr" presetSubtype="2" fill="hold" grpId="0" nodeType="after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wipe(right)">
                                      <p:cBhvr>
                                        <p:cTn id="90" dur="1600"/>
                                        <p:tgtEl>
                                          <p:spTgt spid="22"/>
                                        </p:tgtEl>
                                      </p:cBhvr>
                                    </p:animEffect>
                                  </p:childTnLst>
                                </p:cTn>
                              </p:par>
                            </p:childTnLst>
                          </p:cTn>
                        </p:par>
                        <p:par>
                          <p:cTn id="103" fill="hold">
                            <p:stCondLst>
                              <p:cond delay="2100"/>
                            </p:stCondLst>
                            <p:childTnLst>
                              <p:par>
                                <p:cTn id="91" presetID="53" presetClass="entr" presetSubtype="16" fill="hold" grpId="0" nodeType="afterEffect">
                                  <p:stCondLst>
                                    <p:cond delay="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800" fill="hold"/>
                                        <p:tgtEl>
                                          <p:spTgt spid="23"/>
                                        </p:tgtEl>
                                        <p:attrNameLst>
                                          <p:attrName>ppt_w</p:attrName>
                                        </p:attrNameLst>
                                      </p:cBhvr>
                                      <p:tavLst>
                                        <p:tav tm="0">
                                          <p:val>
                                            <p:fltVal val="0"/>
                                          </p:val>
                                        </p:tav>
                                        <p:tav tm="100000">
                                          <p:val>
                                            <p:strVal val="#ppt_w"/>
                                          </p:val>
                                        </p:tav>
                                      </p:tavLst>
                                    </p:anim>
                                    <p:anim calcmode="lin" valueType="num">
                                      <p:cBhvr additive="base">
                                        <p:cTn id="94" dur="800" fill="hold"/>
                                        <p:tgtEl>
                                          <p:spTgt spid="23"/>
                                        </p:tgtEl>
                                        <p:attrNameLst>
                                          <p:attrName>ppt_h</p:attrName>
                                        </p:attrNameLst>
                                      </p:cBhvr>
                                      <p:tavLst>
                                        <p:tav tm="0">
                                          <p:val>
                                            <p:fltVal val="0"/>
                                          </p:val>
                                        </p:tav>
                                        <p:tav tm="100000">
                                          <p:val>
                                            <p:strVal val="#ppt_h"/>
                                          </p:val>
                                        </p:tav>
                                      </p:tavLst>
                                    </p:anim>
                                    <p:animEffect transition="in" filter="fade">
                                      <p:cBhvr>
                                        <p:cTn id="95" dur="800"/>
                                        <p:tgtEl>
                                          <p:spTgt spid="23"/>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500" fill="hold"/>
                                        <p:tgtEl>
                                          <p:spTgt spid="24"/>
                                        </p:tgtEl>
                                        <p:attrNameLst>
                                          <p:attrName>ppt_w</p:attrName>
                                        </p:attrNameLst>
                                      </p:cBhvr>
                                      <p:tavLst>
                                        <p:tav tm="0">
                                          <p:val>
                                            <p:fltVal val="0"/>
                                          </p:val>
                                        </p:tav>
                                        <p:tav tm="100000">
                                          <p:val>
                                            <p:strVal val="#ppt_w"/>
                                          </p:val>
                                        </p:tav>
                                      </p:tavLst>
                                    </p:anim>
                                    <p:anim calcmode="lin" valueType="num">
                                      <p:cBhvr additive="base">
                                        <p:cTn id="99" dur="500" fill="hold"/>
                                        <p:tgtEl>
                                          <p:spTgt spid="24"/>
                                        </p:tgtEl>
                                        <p:attrNameLst>
                                          <p:attrName>ppt_h</p:attrName>
                                        </p:attrNameLst>
                                      </p:cBhvr>
                                      <p:tavLst>
                                        <p:tav tm="0">
                                          <p:val>
                                            <p:fltVal val="0"/>
                                          </p:val>
                                        </p:tav>
                                        <p:tav tm="100000">
                                          <p:val>
                                            <p:strVal val="#ppt_h"/>
                                          </p:val>
                                        </p:tav>
                                      </p:tavLst>
                                    </p:anim>
                                    <p:animEffect transition="in" filter="fade">
                                      <p:cBhvr>
                                        <p:cTn id="10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2" name=""/>
        <p:cNvGrpSpPr/>
        <p:nvPr/>
      </p:nvGrpSpPr>
      <p:grpSpPr>
        <a:xfrm>
          <a:off x="0" y="0"/>
          <a:ext cx="0" cy="0"/>
          <a:chOff x="0" y="0"/>
          <a:chExt cx="0" cy="0"/>
        </a:xfrm>
      </p:grpSpPr>
      <p:sp>
        <p:nvSpPr>
          <p:cNvPr id="3" name="anim_21_260"/>
          <p:cNvSpPr/>
          <p:nvPr/>
        </p:nvSpPr>
        <p:spPr>
          <a:xfrm>
            <a:off x="6080760" y="502920"/>
            <a:ext cx="5669280" cy="868680"/>
          </a:xfrm>
          <a:prstGeom prst="roundRect">
            <a:avLst>
              <a:gd name="adj" fmla="val 49474"/>
            </a:avLst>
          </a:prstGeom>
          <a:solidFill>
            <a:srgbClr val="0B8A5A"/>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تحقق مما تعلمت</a:t>
            </a:r>
            <a:endParaRPr lang="ar-KW" sz="3600" dirty="0"/>
          </a:p>
        </p:txBody>
      </p:sp>
      <p:pic>
        <p:nvPicPr>
          <p:cNvPr id="4" name="anim_21_261" descr="sp_green.png">    </p:cNvPr>
          <p:cNvPicPr>
            <a:picLocks noChangeAspect="1"/>
          </p:cNvPicPr>
          <p:nvPr/>
        </p:nvPicPr>
        <p:blipFill>
          <a:blip r:embed="rId1"/>
          <a:stretch>
            <a:fillRect/>
          </a:stretch>
        </p:blipFill>
        <p:spPr>
          <a:xfrm>
            <a:off x="10835640" y="384048"/>
            <a:ext cx="1097280" cy="1097280"/>
          </a:xfrm>
          <a:prstGeom prst="rect">
            <a:avLst/>
          </a:prstGeom>
        </p:spPr>
      </p:pic>
      <p:sp>
        <p:nvSpPr>
          <p:cNvPr id="5" name="anim_21_262"/>
          <p:cNvSpPr txBox="1"/>
          <p:nvPr/>
        </p:nvSpPr>
        <p:spPr>
          <a:xfrm>
            <a:off x="3657600" y="1600200"/>
            <a:ext cx="5349240" cy="54864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600" b="1" dirty="0">
                <a:solidFill>
                  <a:srgbClr val="1F6FB2"/>
                </a:solidFill>
                <a:latin typeface="Arial" pitchFamily="34" charset="0"/>
                <a:ea typeface="Arial" pitchFamily="34" charset="-122"/>
                <a:cs typeface="Arial" pitchFamily="34" charset="-120"/>
              </a:rPr>
              <a:t>أكمل الجدول التالي:</a:t>
            </a:r>
            <a:endParaRPr lang="ar-KW" sz="2600" dirty="0"/>
          </a:p>
        </p:txBody>
      </p:sp>
      <p:sp>
        <p:nvSpPr>
          <p:cNvPr id="6" name="anim_21_263"/>
          <p:cNvSpPr/>
          <p:nvPr/>
        </p:nvSpPr>
        <p:spPr>
          <a:xfrm>
            <a:off x="566928" y="2121408"/>
            <a:ext cx="11119104" cy="4352544"/>
          </a:xfrm>
          <a:prstGeom prst="roundRect">
            <a:avLst>
              <a:gd name="adj" fmla="val 7353"/>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7" name="anim_21_264"/>
          <p:cNvGraphicFramePr>
            <a:graphicFrameLocks noGrp="1"/>
          </p:cNvGraphicFramePr>
          <p:nvPr>
            <p:extLst>
              <p:ext uri="{D42A27DB-BD31-4B8C-83A1-F6EECF244321}">
                <p14:modId xmlns:p14="http://schemas.microsoft.com/office/powerpoint/2010/main" val="1579011935"/>
              </p:ext>
            </p:extLst>
          </p:nvPr>
        </p:nvGraphicFramePr>
        <p:xfrm>
          <a:off x="822960" y="2377440"/>
          <a:ext cx="10607040" cy="914400"/>
        </p:xfrm>
        <a:graphic>
          <a:graphicData uri="http://schemas.openxmlformats.org/drawingml/2006/table">
            <a:tbl>
              <a:tblPr/>
              <a:tblGrid>
                <a:gridCol w="2651760"/>
                <a:gridCol w="1371600"/>
                <a:gridCol w="2103120"/>
                <a:gridCol w="3246120"/>
                <a:gridCol w="1234440"/>
              </a:tblGrid>
              <a:tr h="960120">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الترتيب الإلكتروني النقطي</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التكافؤ</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عدد إلكترونات التكافؤ</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الترتيب الإلكتروني حسب مستويات الطاقة الرئيسية</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000" b="1" dirty="0">
                          <a:solidFill>
                            <a:srgbClr val="16325C"/>
                          </a:solidFill>
                          <a:latin typeface="Arial" pitchFamily="34" charset="0"/>
                          <a:ea typeface="Arial" pitchFamily="34" charset="-122"/>
                          <a:cs typeface="Arial" pitchFamily="34" charset="-120"/>
                        </a:rPr>
                        <a:t>العنصر</a:t>
                      </a:r>
                      <a:endParaRPr lang="en-US" sz="20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96012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7</a:t>
                      </a:r>
                      <a:r>
                        <a:rPr lang="en-US" sz="2800" b="1" dirty="0">
                          <a:solidFill>
                            <a:srgbClr val="16325C"/>
                          </a:solidFill>
                          <a:latin typeface="Arial" pitchFamily="34" charset="0"/>
                          <a:ea typeface="Arial" pitchFamily="34" charset="-122"/>
                          <a:cs typeface="Arial" pitchFamily="34" charset="-120"/>
                        </a:rPr>
                        <a:t>N</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96012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16</a:t>
                      </a:r>
                      <a:r>
                        <a:rPr lang="en-US" sz="2800" b="1" dirty="0">
                          <a:solidFill>
                            <a:srgbClr val="16325C"/>
                          </a:solidFill>
                          <a:latin typeface="Arial" pitchFamily="34" charset="0"/>
                          <a:ea typeface="Arial" pitchFamily="34" charset="-122"/>
                          <a:cs typeface="Arial" pitchFamily="34" charset="-120"/>
                        </a:rPr>
                        <a:t>S</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96012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800" b="1" baseline="-40000" dirty="0">
                          <a:solidFill>
                            <a:srgbClr val="16325C"/>
                          </a:solidFill>
                          <a:latin typeface="Arial" pitchFamily="34" charset="0"/>
                          <a:ea typeface="Arial" pitchFamily="34" charset="-122"/>
                          <a:cs typeface="Arial" pitchFamily="34" charset="-120"/>
                        </a:rPr>
                        <a:t>20</a:t>
                      </a:r>
                      <a:r>
                        <a:rPr lang="en-US" sz="2800" b="1" dirty="0">
                          <a:solidFill>
                            <a:srgbClr val="16325C"/>
                          </a:solidFill>
                          <a:latin typeface="Arial" pitchFamily="34" charset="0"/>
                          <a:ea typeface="Arial" pitchFamily="34" charset="-122"/>
                          <a:cs typeface="Arial" pitchFamily="34" charset="-120"/>
                        </a:rPr>
                        <a:t>Ca</a:t>
                      </a:r>
                      <a:endParaRPr lang="en-US" sz="28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bl>
          </a:graphicData>
        </a:graphic>
      </p:graphicFrame>
      <p:sp>
        <p:nvSpPr>
          <p:cNvPr id="8" name="anim_21_265"/>
          <p:cNvSpPr txBox="1"/>
          <p:nvPr/>
        </p:nvSpPr>
        <p:spPr>
          <a:xfrm>
            <a:off x="6949440" y="3337560"/>
            <a:ext cx="324612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2 , 5</a:t>
            </a:r>
            <a:endParaRPr lang="en-US" sz="2400" dirty="0"/>
          </a:p>
        </p:txBody>
      </p:sp>
      <p:sp>
        <p:nvSpPr>
          <p:cNvPr id="9" name="anim_21_266"/>
          <p:cNvSpPr txBox="1"/>
          <p:nvPr/>
        </p:nvSpPr>
        <p:spPr>
          <a:xfrm>
            <a:off x="4846320" y="3337560"/>
            <a:ext cx="210312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5</a:t>
            </a:r>
            <a:endParaRPr lang="en-US" sz="2400" dirty="0"/>
          </a:p>
        </p:txBody>
      </p:sp>
      <p:sp>
        <p:nvSpPr>
          <p:cNvPr id="10" name="anim_21_267"/>
          <p:cNvSpPr txBox="1"/>
          <p:nvPr/>
        </p:nvSpPr>
        <p:spPr>
          <a:xfrm>
            <a:off x="3474720" y="3337560"/>
            <a:ext cx="137160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3</a:t>
            </a:r>
            <a:endParaRPr lang="en-US" sz="2400" dirty="0"/>
          </a:p>
        </p:txBody>
      </p:sp>
      <p:pic>
        <p:nvPicPr>
          <p:cNvPr id="11" name="anim_21_268" descr="lewisA_N.png">    </p:cNvPr>
          <p:cNvPicPr>
            <a:picLocks noChangeAspect="1"/>
          </p:cNvPicPr>
          <p:nvPr/>
        </p:nvPicPr>
        <p:blipFill>
          <a:blip r:embed="rId2"/>
          <a:stretch>
            <a:fillRect/>
          </a:stretch>
        </p:blipFill>
        <p:spPr>
          <a:xfrm>
            <a:off x="1754427" y="3385566"/>
            <a:ext cx="788826" cy="864108"/>
          </a:xfrm>
          <a:prstGeom prst="rect">
            <a:avLst/>
          </a:prstGeom>
        </p:spPr>
      </p:pic>
      <p:sp>
        <p:nvSpPr>
          <p:cNvPr id="12" name="anim_21_269"/>
          <p:cNvSpPr txBox="1"/>
          <p:nvPr/>
        </p:nvSpPr>
        <p:spPr>
          <a:xfrm>
            <a:off x="6949440" y="4297680"/>
            <a:ext cx="324612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2 , 8 , 6</a:t>
            </a:r>
            <a:endParaRPr lang="en-US" sz="2400" dirty="0"/>
          </a:p>
        </p:txBody>
      </p:sp>
      <p:sp>
        <p:nvSpPr>
          <p:cNvPr id="13" name="anim_21_270"/>
          <p:cNvSpPr txBox="1"/>
          <p:nvPr/>
        </p:nvSpPr>
        <p:spPr>
          <a:xfrm>
            <a:off x="4846320" y="4297680"/>
            <a:ext cx="210312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6</a:t>
            </a:r>
            <a:endParaRPr lang="en-US" sz="2400" dirty="0"/>
          </a:p>
        </p:txBody>
      </p:sp>
      <p:sp>
        <p:nvSpPr>
          <p:cNvPr id="14" name="anim_21_271"/>
          <p:cNvSpPr txBox="1"/>
          <p:nvPr/>
        </p:nvSpPr>
        <p:spPr>
          <a:xfrm>
            <a:off x="3474720" y="4297680"/>
            <a:ext cx="137160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a:t>
            </a:r>
            <a:endParaRPr lang="en-US" sz="2400" dirty="0"/>
          </a:p>
        </p:txBody>
      </p:sp>
      <p:pic>
        <p:nvPicPr>
          <p:cNvPr id="15" name="anim_21_272" descr="lewisA_S.png">    </p:cNvPr>
          <p:cNvPicPr>
            <a:picLocks noChangeAspect="1"/>
          </p:cNvPicPr>
          <p:nvPr/>
        </p:nvPicPr>
        <p:blipFill>
          <a:blip r:embed="rId3"/>
          <a:stretch>
            <a:fillRect/>
          </a:stretch>
        </p:blipFill>
        <p:spPr>
          <a:xfrm>
            <a:off x="1754427" y="4345686"/>
            <a:ext cx="788826" cy="864108"/>
          </a:xfrm>
          <a:prstGeom prst="rect">
            <a:avLst/>
          </a:prstGeom>
        </p:spPr>
      </p:pic>
      <p:sp>
        <p:nvSpPr>
          <p:cNvPr id="16" name="anim_21_273"/>
          <p:cNvSpPr txBox="1"/>
          <p:nvPr/>
        </p:nvSpPr>
        <p:spPr>
          <a:xfrm>
            <a:off x="6949440" y="5257800"/>
            <a:ext cx="324612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2 , 8 , 8 , 2</a:t>
            </a:r>
            <a:endParaRPr lang="en-US" sz="2400" dirty="0"/>
          </a:p>
        </p:txBody>
      </p:sp>
      <p:sp>
        <p:nvSpPr>
          <p:cNvPr id="17" name="anim_21_274"/>
          <p:cNvSpPr txBox="1"/>
          <p:nvPr/>
        </p:nvSpPr>
        <p:spPr>
          <a:xfrm>
            <a:off x="4846320" y="5257800"/>
            <a:ext cx="210312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a:t>
            </a:r>
            <a:endParaRPr lang="en-US" sz="2400" dirty="0"/>
          </a:p>
        </p:txBody>
      </p:sp>
      <p:sp>
        <p:nvSpPr>
          <p:cNvPr id="18" name="anim_21_275"/>
          <p:cNvSpPr txBox="1"/>
          <p:nvPr/>
        </p:nvSpPr>
        <p:spPr>
          <a:xfrm>
            <a:off x="3474720" y="5257800"/>
            <a:ext cx="1371600" cy="96012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2400" b="1" dirty="0">
                <a:solidFill>
                  <a:srgbClr val="0B8A5A"/>
                </a:solidFill>
                <a:latin typeface="Arial" pitchFamily="34" charset="0"/>
                <a:ea typeface="Arial" pitchFamily="34" charset="-122"/>
                <a:cs typeface="Arial" pitchFamily="34" charset="-120"/>
              </a:rPr>
              <a:t>2</a:t>
            </a:r>
            <a:endParaRPr lang="en-US" sz="2400" dirty="0"/>
          </a:p>
        </p:txBody>
      </p:sp>
      <p:pic>
        <p:nvPicPr>
          <p:cNvPr id="19" name="anim_21_276" descr="lewisA_Ca.png">    </p:cNvPr>
          <p:cNvPicPr>
            <a:picLocks noChangeAspect="1"/>
          </p:cNvPicPr>
          <p:nvPr/>
        </p:nvPicPr>
        <p:blipFill>
          <a:blip r:embed="rId4"/>
          <a:stretch>
            <a:fillRect/>
          </a:stretch>
        </p:blipFill>
        <p:spPr>
          <a:xfrm>
            <a:off x="1811707" y="5449824"/>
            <a:ext cx="674266" cy="576072"/>
          </a:xfrm>
          <a:prstGeom prst="rect">
            <a:avLst/>
          </a:prstGeom>
        </p:spPr>
      </p:pic>
      <p:pic>
        <p:nvPicPr>
          <p:cNvPr id="20" name="anim_21_277" descr="badge_check.png">    </p:cNvPr>
          <p:cNvPicPr>
            <a:picLocks noChangeAspect="1"/>
          </p:cNvPicPr>
          <p:nvPr/>
        </p:nvPicPr>
        <p:blipFill>
          <a:blip r:embed="rId5"/>
          <a:stretch>
            <a:fillRect/>
          </a:stretch>
        </p:blipFill>
        <p:spPr>
          <a:xfrm>
            <a:off x="4663440" y="292608"/>
            <a:ext cx="1280160" cy="128016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22"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3" fill="hold">
                            <p:stCondLst>
                              <p:cond delay="800"/>
                            </p:stCondLst>
                            <p:childTnLst>
                              <p:par>
                                <p:cTn id="11" presetID="22" presetClass="entr" presetSubtype="2"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600"/>
                                        <p:tgtEl>
                                          <p:spTgt spid="5"/>
                                        </p:tgtEl>
                                      </p:cBhvr>
                                    </p:animEffect>
                                  </p:childTnLst>
                                </p:cTn>
                              </p:par>
                            </p:childTnLst>
                          </p:cTn>
                        </p:par>
                        <p:par>
                          <p:cTn id="24" fill="hold">
                            <p:stCondLst>
                              <p:cond delay="1400"/>
                            </p:stCondLst>
                            <p:childTnLst>
                              <p:par>
                                <p:cTn id="14" presetID="53"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600" fill="hold"/>
                                        <p:tgtEl>
                                          <p:spTgt spid="6"/>
                                        </p:tgtEl>
                                        <p:attrNameLst>
                                          <p:attrName>ppt_w</p:attrName>
                                        </p:attrNameLst>
                                      </p:cBhvr>
                                      <p:tavLst>
                                        <p:tav tm="0">
                                          <p:val>
                                            <p:fltVal val="0"/>
                                          </p:val>
                                        </p:tav>
                                        <p:tav tm="100000">
                                          <p:val>
                                            <p:strVal val="#ppt_w"/>
                                          </p:val>
                                        </p:tav>
                                      </p:tavLst>
                                    </p:anim>
                                    <p:anim calcmode="lin" valueType="num">
                                      <p:cBhvr additive="base">
                                        <p:cTn id="17" dur="600" fill="hold"/>
                                        <p:tgtEl>
                                          <p:spTgt spid="6"/>
                                        </p:tgtEl>
                                        <p:attrNameLst>
                                          <p:attrName>ppt_h</p:attrName>
                                        </p:attrNameLst>
                                      </p:cBhvr>
                                      <p:tavLst>
                                        <p:tav tm="0">
                                          <p:val>
                                            <p:fltVal val="0"/>
                                          </p:val>
                                        </p:tav>
                                        <p:tav tm="100000">
                                          <p:val>
                                            <p:strVal val="#ppt_h"/>
                                          </p:val>
                                        </p:tav>
                                      </p:tavLst>
                                    </p:anim>
                                    <p:animEffect transition="in" filter="fade">
                                      <p:cBhvr>
                                        <p:cTn id="18" dur="600"/>
                                        <p:tgtEl>
                                          <p:spTgt spid="6"/>
                                        </p:tgtEl>
                                      </p:cBhvr>
                                    </p:animEffect>
                                  </p:childTnLst>
                                </p:cTn>
                              </p:par>
                            </p:childTnLst>
                          </p:cTn>
                        </p:par>
                        <p:par>
                          <p:cTn id="25"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700"/>
                                        <p:tgtEl>
                                          <p:spTgt spid="7"/>
                                        </p:tgtEl>
                                      </p:cBhvr>
                                    </p:animEffect>
                                  </p:childTnLst>
                                </p:cTn>
                              </p:par>
                            </p:childTnLst>
                          </p:cTn>
                        </p:par>
                      </p:childTnLst>
                    </p:cTn>
                  </p:par>
                  <p:par>
                    <p:cTn id="48" fill="hold">
                      <p:stCondLst>
                        <p:cond delay="indefinite"/>
                      </p:stCondLst>
                      <p:childTnLst>
                        <p:par>
                          <p:cTn id="47"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450" fill="hold"/>
                                        <p:tgtEl>
                                          <p:spTgt spid="8"/>
                                        </p:tgtEl>
                                        <p:attrNameLst>
                                          <p:attrName>ppt_w</p:attrName>
                                        </p:attrNameLst>
                                      </p:cBhvr>
                                      <p:tavLst>
                                        <p:tav tm="0">
                                          <p:val>
                                            <p:fltVal val="0"/>
                                          </p:val>
                                        </p:tav>
                                        <p:tav tm="100000">
                                          <p:val>
                                            <p:strVal val="#ppt_w"/>
                                          </p:val>
                                        </p:tav>
                                      </p:tavLst>
                                    </p:anim>
                                    <p:anim calcmode="lin" valueType="num">
                                      <p:cBhvr additive="base">
                                        <p:cTn id="30" dur="450" fill="hold"/>
                                        <p:tgtEl>
                                          <p:spTgt spid="8"/>
                                        </p:tgtEl>
                                        <p:attrNameLst>
                                          <p:attrName>ppt_h</p:attrName>
                                        </p:attrNameLst>
                                      </p:cBhvr>
                                      <p:tavLst>
                                        <p:tav tm="0">
                                          <p:val>
                                            <p:fltVal val="0"/>
                                          </p:val>
                                        </p:tav>
                                        <p:tav tm="100000">
                                          <p:val>
                                            <p:strVal val="#ppt_h"/>
                                          </p:val>
                                        </p:tav>
                                      </p:tavLst>
                                    </p:anim>
                                    <p:animEffect transition="in" filter="fade">
                                      <p:cBhvr>
                                        <p:cTn id="31" dur="450"/>
                                        <p:tgtEl>
                                          <p:spTgt spid="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450" fill="hold"/>
                                        <p:tgtEl>
                                          <p:spTgt spid="9"/>
                                        </p:tgtEl>
                                        <p:attrNameLst>
                                          <p:attrName>ppt_w</p:attrName>
                                        </p:attrNameLst>
                                      </p:cBhvr>
                                      <p:tavLst>
                                        <p:tav tm="0">
                                          <p:val>
                                            <p:fltVal val="0"/>
                                          </p:val>
                                        </p:tav>
                                        <p:tav tm="100000">
                                          <p:val>
                                            <p:strVal val="#ppt_w"/>
                                          </p:val>
                                        </p:tav>
                                      </p:tavLst>
                                    </p:anim>
                                    <p:anim calcmode="lin" valueType="num">
                                      <p:cBhvr additive="base">
                                        <p:cTn id="35" dur="450" fill="hold"/>
                                        <p:tgtEl>
                                          <p:spTgt spid="9"/>
                                        </p:tgtEl>
                                        <p:attrNameLst>
                                          <p:attrName>ppt_h</p:attrName>
                                        </p:attrNameLst>
                                      </p:cBhvr>
                                      <p:tavLst>
                                        <p:tav tm="0">
                                          <p:val>
                                            <p:fltVal val="0"/>
                                          </p:val>
                                        </p:tav>
                                        <p:tav tm="100000">
                                          <p:val>
                                            <p:strVal val="#ppt_h"/>
                                          </p:val>
                                        </p:tav>
                                      </p:tavLst>
                                    </p:anim>
                                    <p:animEffect transition="in" filter="fade">
                                      <p:cBhvr>
                                        <p:cTn id="36" dur="450"/>
                                        <p:tgtEl>
                                          <p:spTgt spid="9"/>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450" fill="hold"/>
                                        <p:tgtEl>
                                          <p:spTgt spid="10"/>
                                        </p:tgtEl>
                                        <p:attrNameLst>
                                          <p:attrName>ppt_w</p:attrName>
                                        </p:attrNameLst>
                                      </p:cBhvr>
                                      <p:tavLst>
                                        <p:tav tm="0">
                                          <p:val>
                                            <p:fltVal val="0"/>
                                          </p:val>
                                        </p:tav>
                                        <p:tav tm="100000">
                                          <p:val>
                                            <p:strVal val="#ppt_w"/>
                                          </p:val>
                                        </p:tav>
                                      </p:tavLst>
                                    </p:anim>
                                    <p:anim calcmode="lin" valueType="num">
                                      <p:cBhvr additive="base">
                                        <p:cTn id="40" dur="450" fill="hold"/>
                                        <p:tgtEl>
                                          <p:spTgt spid="10"/>
                                        </p:tgtEl>
                                        <p:attrNameLst>
                                          <p:attrName>ppt_h</p:attrName>
                                        </p:attrNameLst>
                                      </p:cBhvr>
                                      <p:tavLst>
                                        <p:tav tm="0">
                                          <p:val>
                                            <p:fltVal val="0"/>
                                          </p:val>
                                        </p:tav>
                                        <p:tav tm="100000">
                                          <p:val>
                                            <p:strVal val="#ppt_h"/>
                                          </p:val>
                                        </p:tav>
                                      </p:tavLst>
                                    </p:anim>
                                    <p:animEffect transition="in" filter="fade">
                                      <p:cBhvr>
                                        <p:cTn id="41" dur="450"/>
                                        <p:tgtEl>
                                          <p:spTgt spid="10"/>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450" fill="hold"/>
                                        <p:tgtEl>
                                          <p:spTgt spid="11"/>
                                        </p:tgtEl>
                                        <p:attrNameLst>
                                          <p:attrName>ppt_w</p:attrName>
                                        </p:attrNameLst>
                                      </p:cBhvr>
                                      <p:tavLst>
                                        <p:tav tm="0">
                                          <p:val>
                                            <p:fltVal val="0"/>
                                          </p:val>
                                        </p:tav>
                                        <p:tav tm="100000">
                                          <p:val>
                                            <p:strVal val="#ppt_w"/>
                                          </p:val>
                                        </p:tav>
                                      </p:tavLst>
                                    </p:anim>
                                    <p:anim calcmode="lin" valueType="num">
                                      <p:cBhvr additive="base">
                                        <p:cTn id="45" dur="450" fill="hold"/>
                                        <p:tgtEl>
                                          <p:spTgt spid="11"/>
                                        </p:tgtEl>
                                        <p:attrNameLst>
                                          <p:attrName>ppt_h</p:attrName>
                                        </p:attrNameLst>
                                      </p:cBhvr>
                                      <p:tavLst>
                                        <p:tav tm="0">
                                          <p:val>
                                            <p:fltVal val="0"/>
                                          </p:val>
                                        </p:tav>
                                        <p:tav tm="100000">
                                          <p:val>
                                            <p:strVal val="#ppt_h"/>
                                          </p:val>
                                        </p:tav>
                                      </p:tavLst>
                                    </p:anim>
                                    <p:animEffect transition="in" filter="fade">
                                      <p:cBhvr>
                                        <p:cTn id="46" dur="450"/>
                                        <p:tgtEl>
                                          <p:spTgt spid="11"/>
                                        </p:tgtEl>
                                      </p:cBhvr>
                                    </p:animEffect>
                                  </p:childTnLst>
                                </p:cTn>
                              </p:par>
                            </p:childTnLst>
                          </p:cTn>
                        </p:par>
                      </p:childTnLst>
                    </p:cTn>
                  </p:par>
                  <p:par>
                    <p:cTn id="70" fill="hold">
                      <p:stCondLst>
                        <p:cond delay="indefinite"/>
                      </p:stCondLst>
                      <p:childTnLst>
                        <p:par>
                          <p:cTn id="69"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450" fill="hold"/>
                                        <p:tgtEl>
                                          <p:spTgt spid="12"/>
                                        </p:tgtEl>
                                        <p:attrNameLst>
                                          <p:attrName>ppt_w</p:attrName>
                                        </p:attrNameLst>
                                      </p:cBhvr>
                                      <p:tavLst>
                                        <p:tav tm="0">
                                          <p:val>
                                            <p:fltVal val="0"/>
                                          </p:val>
                                        </p:tav>
                                        <p:tav tm="100000">
                                          <p:val>
                                            <p:strVal val="#ppt_w"/>
                                          </p:val>
                                        </p:tav>
                                      </p:tavLst>
                                    </p:anim>
                                    <p:anim calcmode="lin" valueType="num">
                                      <p:cBhvr additive="base">
                                        <p:cTn id="52" dur="450" fill="hold"/>
                                        <p:tgtEl>
                                          <p:spTgt spid="12"/>
                                        </p:tgtEl>
                                        <p:attrNameLst>
                                          <p:attrName>ppt_h</p:attrName>
                                        </p:attrNameLst>
                                      </p:cBhvr>
                                      <p:tavLst>
                                        <p:tav tm="0">
                                          <p:val>
                                            <p:fltVal val="0"/>
                                          </p:val>
                                        </p:tav>
                                        <p:tav tm="100000">
                                          <p:val>
                                            <p:strVal val="#ppt_h"/>
                                          </p:val>
                                        </p:tav>
                                      </p:tavLst>
                                    </p:anim>
                                    <p:animEffect transition="in" filter="fade">
                                      <p:cBhvr>
                                        <p:cTn id="53" dur="450"/>
                                        <p:tgtEl>
                                          <p:spTgt spid="12"/>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450" fill="hold"/>
                                        <p:tgtEl>
                                          <p:spTgt spid="13"/>
                                        </p:tgtEl>
                                        <p:attrNameLst>
                                          <p:attrName>ppt_w</p:attrName>
                                        </p:attrNameLst>
                                      </p:cBhvr>
                                      <p:tavLst>
                                        <p:tav tm="0">
                                          <p:val>
                                            <p:fltVal val="0"/>
                                          </p:val>
                                        </p:tav>
                                        <p:tav tm="100000">
                                          <p:val>
                                            <p:strVal val="#ppt_w"/>
                                          </p:val>
                                        </p:tav>
                                      </p:tavLst>
                                    </p:anim>
                                    <p:anim calcmode="lin" valueType="num">
                                      <p:cBhvr additive="base">
                                        <p:cTn id="57" dur="450" fill="hold"/>
                                        <p:tgtEl>
                                          <p:spTgt spid="13"/>
                                        </p:tgtEl>
                                        <p:attrNameLst>
                                          <p:attrName>ppt_h</p:attrName>
                                        </p:attrNameLst>
                                      </p:cBhvr>
                                      <p:tavLst>
                                        <p:tav tm="0">
                                          <p:val>
                                            <p:fltVal val="0"/>
                                          </p:val>
                                        </p:tav>
                                        <p:tav tm="100000">
                                          <p:val>
                                            <p:strVal val="#ppt_h"/>
                                          </p:val>
                                        </p:tav>
                                      </p:tavLst>
                                    </p:anim>
                                    <p:animEffect transition="in" filter="fade">
                                      <p:cBhvr>
                                        <p:cTn id="58" dur="450"/>
                                        <p:tgtEl>
                                          <p:spTgt spid="13"/>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450" fill="hold"/>
                                        <p:tgtEl>
                                          <p:spTgt spid="14"/>
                                        </p:tgtEl>
                                        <p:attrNameLst>
                                          <p:attrName>ppt_w</p:attrName>
                                        </p:attrNameLst>
                                      </p:cBhvr>
                                      <p:tavLst>
                                        <p:tav tm="0">
                                          <p:val>
                                            <p:fltVal val="0"/>
                                          </p:val>
                                        </p:tav>
                                        <p:tav tm="100000">
                                          <p:val>
                                            <p:strVal val="#ppt_w"/>
                                          </p:val>
                                        </p:tav>
                                      </p:tavLst>
                                    </p:anim>
                                    <p:anim calcmode="lin" valueType="num">
                                      <p:cBhvr additive="base">
                                        <p:cTn id="62" dur="450" fill="hold"/>
                                        <p:tgtEl>
                                          <p:spTgt spid="14"/>
                                        </p:tgtEl>
                                        <p:attrNameLst>
                                          <p:attrName>ppt_h</p:attrName>
                                        </p:attrNameLst>
                                      </p:cBhvr>
                                      <p:tavLst>
                                        <p:tav tm="0">
                                          <p:val>
                                            <p:fltVal val="0"/>
                                          </p:val>
                                        </p:tav>
                                        <p:tav tm="100000">
                                          <p:val>
                                            <p:strVal val="#ppt_h"/>
                                          </p:val>
                                        </p:tav>
                                      </p:tavLst>
                                    </p:anim>
                                    <p:animEffect transition="in" filter="fade">
                                      <p:cBhvr>
                                        <p:cTn id="63" dur="450"/>
                                        <p:tgtEl>
                                          <p:spTgt spid="14"/>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450" fill="hold"/>
                                        <p:tgtEl>
                                          <p:spTgt spid="15"/>
                                        </p:tgtEl>
                                        <p:attrNameLst>
                                          <p:attrName>ppt_w</p:attrName>
                                        </p:attrNameLst>
                                      </p:cBhvr>
                                      <p:tavLst>
                                        <p:tav tm="0">
                                          <p:val>
                                            <p:fltVal val="0"/>
                                          </p:val>
                                        </p:tav>
                                        <p:tav tm="100000">
                                          <p:val>
                                            <p:strVal val="#ppt_w"/>
                                          </p:val>
                                        </p:tav>
                                      </p:tavLst>
                                    </p:anim>
                                    <p:anim calcmode="lin" valueType="num">
                                      <p:cBhvr additive="base">
                                        <p:cTn id="67" dur="450" fill="hold"/>
                                        <p:tgtEl>
                                          <p:spTgt spid="15"/>
                                        </p:tgtEl>
                                        <p:attrNameLst>
                                          <p:attrName>ppt_h</p:attrName>
                                        </p:attrNameLst>
                                      </p:cBhvr>
                                      <p:tavLst>
                                        <p:tav tm="0">
                                          <p:val>
                                            <p:fltVal val="0"/>
                                          </p:val>
                                        </p:tav>
                                        <p:tav tm="100000">
                                          <p:val>
                                            <p:strVal val="#ppt_h"/>
                                          </p:val>
                                        </p:tav>
                                      </p:tavLst>
                                    </p:anim>
                                    <p:animEffect transition="in" filter="fade">
                                      <p:cBhvr>
                                        <p:cTn id="68" dur="450"/>
                                        <p:tgtEl>
                                          <p:spTgt spid="15"/>
                                        </p:tgtEl>
                                      </p:cBhvr>
                                    </p:animEffect>
                                  </p:childTnLst>
                                </p:cTn>
                              </p:par>
                            </p:childTnLst>
                          </p:cTn>
                        </p:par>
                      </p:childTnLst>
                    </p:cTn>
                  </p:par>
                  <p:par>
                    <p:cTn id="98" fill="hold">
                      <p:stCondLst>
                        <p:cond delay="indefinite"/>
                      </p:stCondLst>
                      <p:childTnLst>
                        <p:par>
                          <p:cTn id="96"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additive="base">
                                        <p:cTn id="73" dur="450" fill="hold"/>
                                        <p:tgtEl>
                                          <p:spTgt spid="16"/>
                                        </p:tgtEl>
                                        <p:attrNameLst>
                                          <p:attrName>ppt_w</p:attrName>
                                        </p:attrNameLst>
                                      </p:cBhvr>
                                      <p:tavLst>
                                        <p:tav tm="0">
                                          <p:val>
                                            <p:fltVal val="0"/>
                                          </p:val>
                                        </p:tav>
                                        <p:tav tm="100000">
                                          <p:val>
                                            <p:strVal val="#ppt_w"/>
                                          </p:val>
                                        </p:tav>
                                      </p:tavLst>
                                    </p:anim>
                                    <p:anim calcmode="lin" valueType="num">
                                      <p:cBhvr additive="base">
                                        <p:cTn id="74" dur="450" fill="hold"/>
                                        <p:tgtEl>
                                          <p:spTgt spid="16"/>
                                        </p:tgtEl>
                                        <p:attrNameLst>
                                          <p:attrName>ppt_h</p:attrName>
                                        </p:attrNameLst>
                                      </p:cBhvr>
                                      <p:tavLst>
                                        <p:tav tm="0">
                                          <p:val>
                                            <p:fltVal val="0"/>
                                          </p:val>
                                        </p:tav>
                                        <p:tav tm="100000">
                                          <p:val>
                                            <p:strVal val="#ppt_h"/>
                                          </p:val>
                                        </p:tav>
                                      </p:tavLst>
                                    </p:anim>
                                    <p:animEffect transition="in" filter="fade">
                                      <p:cBhvr>
                                        <p:cTn id="75" dur="450"/>
                                        <p:tgtEl>
                                          <p:spTgt spid="1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 calcmode="lin" valueType="num">
                                      <p:cBhvr additive="base">
                                        <p:cTn id="78" dur="450" fill="hold"/>
                                        <p:tgtEl>
                                          <p:spTgt spid="17"/>
                                        </p:tgtEl>
                                        <p:attrNameLst>
                                          <p:attrName>ppt_w</p:attrName>
                                        </p:attrNameLst>
                                      </p:cBhvr>
                                      <p:tavLst>
                                        <p:tav tm="0">
                                          <p:val>
                                            <p:fltVal val="0"/>
                                          </p:val>
                                        </p:tav>
                                        <p:tav tm="100000">
                                          <p:val>
                                            <p:strVal val="#ppt_w"/>
                                          </p:val>
                                        </p:tav>
                                      </p:tavLst>
                                    </p:anim>
                                    <p:anim calcmode="lin" valueType="num">
                                      <p:cBhvr additive="base">
                                        <p:cTn id="79" dur="450" fill="hold"/>
                                        <p:tgtEl>
                                          <p:spTgt spid="17"/>
                                        </p:tgtEl>
                                        <p:attrNameLst>
                                          <p:attrName>ppt_h</p:attrName>
                                        </p:attrNameLst>
                                      </p:cBhvr>
                                      <p:tavLst>
                                        <p:tav tm="0">
                                          <p:val>
                                            <p:fltVal val="0"/>
                                          </p:val>
                                        </p:tav>
                                        <p:tav tm="100000">
                                          <p:val>
                                            <p:strVal val="#ppt_h"/>
                                          </p:val>
                                        </p:tav>
                                      </p:tavLst>
                                    </p:anim>
                                    <p:animEffect transition="in" filter="fade">
                                      <p:cBhvr>
                                        <p:cTn id="80" dur="450"/>
                                        <p:tgtEl>
                                          <p:spTgt spid="17"/>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additive="base">
                                        <p:cTn id="83" dur="450" fill="hold"/>
                                        <p:tgtEl>
                                          <p:spTgt spid="18"/>
                                        </p:tgtEl>
                                        <p:attrNameLst>
                                          <p:attrName>ppt_w</p:attrName>
                                        </p:attrNameLst>
                                      </p:cBhvr>
                                      <p:tavLst>
                                        <p:tav tm="0">
                                          <p:val>
                                            <p:fltVal val="0"/>
                                          </p:val>
                                        </p:tav>
                                        <p:tav tm="100000">
                                          <p:val>
                                            <p:strVal val="#ppt_w"/>
                                          </p:val>
                                        </p:tav>
                                      </p:tavLst>
                                    </p:anim>
                                    <p:anim calcmode="lin" valueType="num">
                                      <p:cBhvr additive="base">
                                        <p:cTn id="84" dur="450" fill="hold"/>
                                        <p:tgtEl>
                                          <p:spTgt spid="18"/>
                                        </p:tgtEl>
                                        <p:attrNameLst>
                                          <p:attrName>ppt_h</p:attrName>
                                        </p:attrNameLst>
                                      </p:cBhvr>
                                      <p:tavLst>
                                        <p:tav tm="0">
                                          <p:val>
                                            <p:fltVal val="0"/>
                                          </p:val>
                                        </p:tav>
                                        <p:tav tm="100000">
                                          <p:val>
                                            <p:strVal val="#ppt_h"/>
                                          </p:val>
                                        </p:tav>
                                      </p:tavLst>
                                    </p:anim>
                                    <p:animEffect transition="in" filter="fade">
                                      <p:cBhvr>
                                        <p:cTn id="85" dur="450"/>
                                        <p:tgtEl>
                                          <p:spTgt spid="18"/>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 calcmode="lin" valueType="num">
                                      <p:cBhvr additive="base">
                                        <p:cTn id="88" dur="450" fill="hold"/>
                                        <p:tgtEl>
                                          <p:spTgt spid="19"/>
                                        </p:tgtEl>
                                        <p:attrNameLst>
                                          <p:attrName>ppt_w</p:attrName>
                                        </p:attrNameLst>
                                      </p:cBhvr>
                                      <p:tavLst>
                                        <p:tav tm="0">
                                          <p:val>
                                            <p:fltVal val="0"/>
                                          </p:val>
                                        </p:tav>
                                        <p:tav tm="100000">
                                          <p:val>
                                            <p:strVal val="#ppt_w"/>
                                          </p:val>
                                        </p:tav>
                                      </p:tavLst>
                                    </p:anim>
                                    <p:anim calcmode="lin" valueType="num">
                                      <p:cBhvr additive="base">
                                        <p:cTn id="89" dur="450" fill="hold"/>
                                        <p:tgtEl>
                                          <p:spTgt spid="19"/>
                                        </p:tgtEl>
                                        <p:attrNameLst>
                                          <p:attrName>ppt_h</p:attrName>
                                        </p:attrNameLst>
                                      </p:cBhvr>
                                      <p:tavLst>
                                        <p:tav tm="0">
                                          <p:val>
                                            <p:fltVal val="0"/>
                                          </p:val>
                                        </p:tav>
                                        <p:tav tm="100000">
                                          <p:val>
                                            <p:strVal val="#ppt_h"/>
                                          </p:val>
                                        </p:tav>
                                      </p:tavLst>
                                    </p:anim>
                                    <p:animEffect transition="in" filter="fade">
                                      <p:cBhvr>
                                        <p:cTn id="90" dur="450"/>
                                        <p:tgtEl>
                                          <p:spTgt spid="19"/>
                                        </p:tgtEl>
                                      </p:cBhvr>
                                    </p:animEffect>
                                  </p:childTnLst>
                                </p:cTn>
                              </p:par>
                            </p:childTnLst>
                          </p:cTn>
                        </p:par>
                        <p:par>
                          <p:cTn id="97" fill="hold">
                            <p:stCondLst>
                              <p:cond delay="450"/>
                            </p:stCondLst>
                            <p:childTnLst>
                              <p:par>
                                <p:cTn id="91" presetID="53" presetClass="entr" presetSubtype="16" fill="hold" grpId="0" nodeType="afterEffect">
                                  <p:stCondLst>
                                    <p:cond delay="0"/>
                                  </p:stCondLst>
                                  <p:childTnLst>
                                    <p:set>
                                      <p:cBhvr>
                                        <p:cTn id="92" dur="1" fill="hold">
                                          <p:stCondLst>
                                            <p:cond delay="0"/>
                                          </p:stCondLst>
                                        </p:cTn>
                                        <p:tgtEl>
                                          <p:spTgt spid="20"/>
                                        </p:tgtEl>
                                        <p:attrNameLst>
                                          <p:attrName>style.visibility</p:attrName>
                                        </p:attrNameLst>
                                      </p:cBhvr>
                                      <p:to>
                                        <p:strVal val="visible"/>
                                      </p:to>
                                    </p:set>
                                    <p:anim calcmode="lin" valueType="num">
                                      <p:cBhvr additive="base">
                                        <p:cTn id="93" dur="600" fill="hold"/>
                                        <p:tgtEl>
                                          <p:spTgt spid="20"/>
                                        </p:tgtEl>
                                        <p:attrNameLst>
                                          <p:attrName>ppt_w</p:attrName>
                                        </p:attrNameLst>
                                      </p:cBhvr>
                                      <p:tavLst>
                                        <p:tav tm="0">
                                          <p:val>
                                            <p:fltVal val="0"/>
                                          </p:val>
                                        </p:tav>
                                        <p:tav tm="100000">
                                          <p:val>
                                            <p:strVal val="#ppt_w"/>
                                          </p:val>
                                        </p:tav>
                                      </p:tavLst>
                                    </p:anim>
                                    <p:anim calcmode="lin" valueType="num">
                                      <p:cBhvr additive="base">
                                        <p:cTn id="94" dur="600" fill="hold"/>
                                        <p:tgtEl>
                                          <p:spTgt spid="20"/>
                                        </p:tgtEl>
                                        <p:attrNameLst>
                                          <p:attrName>ppt_h</p:attrName>
                                        </p:attrNameLst>
                                      </p:cBhvr>
                                      <p:tavLst>
                                        <p:tav tm="0">
                                          <p:val>
                                            <p:fltVal val="0"/>
                                          </p:val>
                                        </p:tav>
                                        <p:tav tm="100000">
                                          <p:val>
                                            <p:strVal val="#ppt_h"/>
                                          </p:val>
                                        </p:tav>
                                      </p:tavLst>
                                    </p:anim>
                                    <p:animEffect transition="in" filter="fade">
                                      <p:cBhvr>
                                        <p:cTn id="95"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Graphic spid="7" grpId="0">
        <p:bldAsOne/>
      </p:bldGraphic>
      <p:bldP spid="8" grpId="0" animBg="1"/>
      <p:bldP spid="9" grpId="0" animBg="1"/>
      <p:bldP spid="10" grpId="0" animBg="1"/>
      <p:bldP spid="12" grpId="0" animBg="1"/>
      <p:bldP spid="13" grpId="0" animBg="1"/>
      <p:bldP spid="14" grpId="0" animBg="1"/>
      <p:bldP spid="16" grpId="0" animBg="1"/>
      <p:bldP spid="17" grpId="0" animBg="1"/>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2" name=""/>
        <p:cNvGrpSpPr/>
        <p:nvPr/>
      </p:nvGrpSpPr>
      <p:grpSpPr>
        <a:xfrm>
          <a:off x="0" y="0"/>
          <a:ext cx="0" cy="0"/>
          <a:chOff x="0" y="0"/>
          <a:chExt cx="0" cy="0"/>
        </a:xfrm>
      </p:grpSpPr>
      <p:sp>
        <p:nvSpPr>
          <p:cNvPr id="3" name="anim_22_278"/>
          <p:cNvSpPr/>
          <p:nvPr/>
        </p:nvSpPr>
        <p:spPr>
          <a:xfrm>
            <a:off x="8092440" y="502920"/>
            <a:ext cx="3657600" cy="868680"/>
          </a:xfrm>
          <a:prstGeom prst="roundRect">
            <a:avLst>
              <a:gd name="adj" fmla="val 49474"/>
            </a:avLst>
          </a:prstGeom>
          <a:solidFill>
            <a:srgbClr val="1F6FB2"/>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إضاءات</a:t>
            </a:r>
            <a:endParaRPr lang="ar-KW" sz="3600" dirty="0"/>
          </a:p>
        </p:txBody>
      </p:sp>
      <p:pic>
        <p:nvPicPr>
          <p:cNvPr id="4" name="anim_22_279" descr="sp_blue.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22_280" descr="badge_light.png">    </p:cNvPr>
          <p:cNvPicPr>
            <a:picLocks noChangeAspect="1"/>
          </p:cNvPicPr>
          <p:nvPr/>
        </p:nvPicPr>
        <p:blipFill>
          <a:blip r:embed="rId2"/>
          <a:stretch>
            <a:fillRect/>
          </a:stretch>
        </p:blipFill>
        <p:spPr>
          <a:xfrm>
            <a:off x="6675120" y="292608"/>
            <a:ext cx="1280160" cy="1280160"/>
          </a:xfrm>
          <a:prstGeom prst="rect">
            <a:avLst/>
          </a:prstGeom>
        </p:spPr>
      </p:pic>
      <p:sp>
        <p:nvSpPr>
          <p:cNvPr id="6" name="anim_22_281"/>
          <p:cNvSpPr/>
          <p:nvPr/>
        </p:nvSpPr>
        <p:spPr>
          <a:xfrm>
            <a:off x="411480" y="1645920"/>
            <a:ext cx="11338560" cy="4572000"/>
          </a:xfrm>
          <a:prstGeom prst="roundRect">
            <a:avLst>
              <a:gd name="adj" fmla="val 6000"/>
            </a:avLst>
          </a:prstGeom>
          <a:solidFill>
            <a:srgbClr val="DDF0FC"/>
          </a:solidFill>
          <a:ln/>
          <a:effectLst>
            <a:outerShdw sx="100000" sy="100000" kx="0" ky="0" algn="bl" rotWithShape="0" blurRad="152400" dist="50800" dir="5400000">
              <a:srgbClr val="1F4F8A">
                <a:alpha val="18000"/>
              </a:srgbClr>
            </a:outerShdw>
          </a:effectLst>
        </p:spPr>
      </p:sp>
      <p:pic>
        <p:nvPicPr>
          <p:cNvPr id="7" name="anim_22_282" descr="lewis_photo.png">    </p:cNvPr>
          <p:cNvPicPr>
            <a:picLocks noChangeAspect="1"/>
          </p:cNvPicPr>
          <p:nvPr/>
        </p:nvPicPr>
        <p:blipFill>
          <a:blip r:embed="rId3"/>
          <a:stretch>
            <a:fillRect/>
          </a:stretch>
        </p:blipFill>
        <p:spPr>
          <a:xfrm>
            <a:off x="640080" y="1920240"/>
            <a:ext cx="3749040" cy="3749040"/>
          </a:xfrm>
          <a:prstGeom prst="rect">
            <a:avLst/>
          </a:prstGeom>
        </p:spPr>
      </p:pic>
      <p:sp>
        <p:nvSpPr>
          <p:cNvPr id="8" name="anim_22_283"/>
          <p:cNvSpPr txBox="1"/>
          <p:nvPr/>
        </p:nvSpPr>
        <p:spPr>
          <a:xfrm>
            <a:off x="4572000" y="1737360"/>
            <a:ext cx="7040880" cy="187452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200" b="1" dirty="0">
                <a:solidFill>
                  <a:srgbClr val="16325C"/>
                </a:solidFill>
                <a:latin typeface="Arial" pitchFamily="34" charset="0"/>
                <a:ea typeface="Arial" pitchFamily="34" charset="-122"/>
                <a:cs typeface="Arial" pitchFamily="34" charset="-120"/>
              </a:rPr>
              <a:t>يعدّ العالم الأمريكي </a:t>
            </a:r>
            <a:r>
              <a:rPr lang="ar-KW" altLang="en-US" sz="2200" b="1" dirty="0">
                <a:solidFill>
                  <a:srgbClr val="1F6FB2"/>
                </a:solidFill>
                <a:latin typeface="Arial" pitchFamily="34" charset="0"/>
                <a:ea typeface="Arial" pitchFamily="34" charset="-122"/>
                <a:cs typeface="Arial" pitchFamily="34" charset="-120"/>
              </a:rPr>
              <a:t>جلبرت نيوتن لويس (Gilbert N. Lewis)</a:t>
            </a:r>
            <a:r>
              <a:rPr lang="ar-KW" altLang="en-US" sz="2200" b="1" dirty="0">
                <a:solidFill>
                  <a:srgbClr val="16325C"/>
                </a:solidFill>
                <a:latin typeface="Arial" pitchFamily="34" charset="0"/>
                <a:ea typeface="Arial" pitchFamily="34" charset="-122"/>
                <a:cs typeface="Arial" pitchFamily="34" charset="-120"/>
              </a:rPr>
              <a:t> من روّاد علم الكيمياء الحديثة. وُلِد عام 1875م، واشتهر بإسهاماته في دراسة الروابط الكيميائية وإلكترونات التكافؤ.</a:t>
            </a:r>
            <a:endParaRPr lang="ar-KW" sz="2200" dirty="0"/>
          </a:p>
        </p:txBody>
      </p:sp>
      <p:sp>
        <p:nvSpPr>
          <p:cNvPr id="9" name="anim_22_284"/>
          <p:cNvSpPr txBox="1"/>
          <p:nvPr/>
        </p:nvSpPr>
        <p:spPr>
          <a:xfrm>
            <a:off x="4572000" y="3611880"/>
            <a:ext cx="7040880" cy="2560320"/>
          </a:xfrm>
          <a:prstGeom prst="rect">
            <a:avLst/>
          </a:prstGeom>
          <a:noFill/>
          <a:ln/>
        </p:spPr>
        <p:txBody>
          <a:bodyPr wrap="square" lIns="50800" tIns="50800" rIns="50800" bIns="50800" rtlCol="0" anchor="t"/>
          <a:lstStyle/>
          <a:p>
            <a:pPr rtl="0" algn="r" indent="0" marL="0">
              <a:lnSpc>
                <a:spcPct val="105000"/>
              </a:lnSpc>
              <a:spcAft>
                <a:spcPts val="600"/>
              </a:spcAft>
              <a:buNone/>
            </a:pPr>
            <a:r>
              <a:rPr lang="ar-KW" altLang="en-US" sz="2000" b="1" dirty="0">
                <a:solidFill>
                  <a:srgbClr val="16325C"/>
                </a:solidFill>
                <a:latin typeface="Arial" pitchFamily="34" charset="0"/>
                <a:ea typeface="Arial" pitchFamily="34" charset="-122"/>
                <a:cs typeface="Arial" pitchFamily="34" charset="-120"/>
              </a:rPr>
              <a:t>ومن أبرز إنجازاته </a:t>
            </a:r>
            <a:r>
              <a:rPr lang="ar-KW" altLang="en-US" sz="2000" b="1" dirty="0">
                <a:solidFill>
                  <a:srgbClr val="0F9D8E"/>
                </a:solidFill>
                <a:latin typeface="Arial" pitchFamily="34" charset="0"/>
                <a:ea typeface="Arial" pitchFamily="34" charset="-122"/>
                <a:cs typeface="Arial" pitchFamily="34" charset="-120"/>
              </a:rPr>
              <a:t>ابتكار تمثيل لويس</a:t>
            </a:r>
            <a:r>
              <a:rPr lang="ar-KW" altLang="en-US" sz="2000" b="1" dirty="0">
                <a:solidFill>
                  <a:srgbClr val="16325C"/>
                </a:solidFill>
                <a:latin typeface="Arial" pitchFamily="34" charset="0"/>
                <a:ea typeface="Arial" pitchFamily="34" charset="-122"/>
                <a:cs typeface="Arial" pitchFamily="34" charset="-120"/>
              </a:rPr>
              <a:t> الذي يستخدم النقاط حول رمز العنصر لتمثيل إلكترونات التكافؤ، مما سهّل فهم كيفية ارتباط الذرات وتكوين المركبات الكيميائية. وقد أسهمت أفكار لويس في تطوير مفاهيم مهمة ما زالت تُدرَّس في المناهج العلمية حتى اليوم، لذلك يُعد من أكثر العلماء تأثيرًا في تعليم الكيمياء وفهم سلوك العناصر.</a:t>
            </a:r>
            <a:endParaRPr lang="ar-KW" sz="20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26"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7"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28" fill="hold">
                            <p:stCondLst>
                              <p:cond delay="140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29" fill="hold">
                            <p:stCondLst>
                              <p:cond delay="1900"/>
                            </p:stCondLst>
                            <p:childTnLst>
                              <p:par>
                                <p:cTn id="19" presetID="2" presetClass="entr" presetSubtype="8"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900" fill="hold"/>
                                        <p:tgtEl>
                                          <p:spTgt spid="7"/>
                                        </p:tgtEl>
                                        <p:attrNameLst>
                                          <p:attrName>ppt_x</p:attrName>
                                        </p:attrNameLst>
                                      </p:cBhvr>
                                      <p:tavLst>
                                        <p:tav tm="0">
                                          <p:val>
                                            <p:strVal val="0-#ppt_w/2"/>
                                          </p:val>
                                        </p:tav>
                                        <p:tav tm="100000">
                                          <p:val>
                                            <p:strVal val="#ppt_x"/>
                                          </p:val>
                                        </p:tav>
                                      </p:tavLst>
                                    </p:anim>
                                    <p:anim calcmode="lin" valueType="num">
                                      <p:cBhvr additive="base">
                                        <p:cTn id="22" dur="900" fill="hold"/>
                                        <p:tgtEl>
                                          <p:spTgt spid="7"/>
                                        </p:tgtEl>
                                        <p:attrNameLst>
                                          <p:attrName>ppt_y</p:attrName>
                                        </p:attrNameLst>
                                      </p:cBhvr>
                                      <p:tavLst>
                                        <p:tav tm="0">
                                          <p:val>
                                            <p:strVal val="#ppt_y"/>
                                          </p:val>
                                        </p:tav>
                                        <p:tav tm="100000">
                                          <p:val>
                                            <p:strVal val="#ppt_y"/>
                                          </p:val>
                                        </p:tav>
                                      </p:tavLst>
                                    </p:anim>
                                  </p:childTnLst>
                                </p:cTn>
                              </p:par>
                            </p:childTnLst>
                          </p:cTn>
                        </p:par>
                        <p:par>
                          <p:cTn id="30" fill="hold">
                            <p:stCondLst>
                              <p:cond delay="2800"/>
                            </p:stCondLst>
                            <p:childTnLst>
                              <p:par>
                                <p:cTn id="23" presetID="22" presetClass="entr" presetSubtype="2"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right)">
                                      <p:cBhvr>
                                        <p:cTn id="25" dur="1500"/>
                                        <p:tgtEl>
                                          <p:spTgt spid="8"/>
                                        </p:tgtEl>
                                      </p:cBhvr>
                                    </p:animEffect>
                                  </p:childTnLst>
                                </p:cTn>
                              </p:par>
                            </p:childTnLst>
                          </p:cTn>
                        </p:par>
                      </p:childTnLst>
                    </p:cTn>
                  </p:par>
                  <p:par>
                    <p:cTn id="36" fill="hold">
                      <p:stCondLst>
                        <p:cond delay="indefinite"/>
                      </p:stCondLst>
                      <p:childTnLst>
                        <p:par>
                          <p:cTn id="35" fill="hold">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right)">
                                      <p:cBhvr>
                                        <p:cTn id="34" dur="18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2" name=""/>
        <p:cNvGrpSpPr/>
        <p:nvPr/>
      </p:nvGrpSpPr>
      <p:grpSpPr>
        <a:xfrm>
          <a:off x="0" y="0"/>
          <a:ext cx="0" cy="0"/>
          <a:chOff x="0" y="0"/>
          <a:chExt cx="0" cy="0"/>
        </a:xfrm>
      </p:grpSpPr>
      <p:sp>
        <p:nvSpPr>
          <p:cNvPr id="3" name="anim_23_285"/>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أنت الكيميائي</a:t>
            </a:r>
            <a:endParaRPr lang="ar-KW" sz="3600" dirty="0"/>
          </a:p>
        </p:txBody>
      </p:sp>
      <p:pic>
        <p:nvPicPr>
          <p:cNvPr id="4" name="anim_23_286"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23_287" descr="badge_chem.png">    </p:cNvPr>
          <p:cNvPicPr>
            <a:picLocks noChangeAspect="1"/>
          </p:cNvPicPr>
          <p:nvPr/>
        </p:nvPicPr>
        <p:blipFill>
          <a:blip r:embed="rId2"/>
          <a:stretch>
            <a:fillRect/>
          </a:stretch>
        </p:blipFill>
        <p:spPr>
          <a:xfrm>
            <a:off x="4937760" y="292608"/>
            <a:ext cx="1280160" cy="1280160"/>
          </a:xfrm>
          <a:prstGeom prst="rect">
            <a:avLst/>
          </a:prstGeom>
        </p:spPr>
      </p:pic>
      <p:sp>
        <p:nvSpPr>
          <p:cNvPr id="6" name="anim_23_288"/>
          <p:cNvSpPr txBox="1"/>
          <p:nvPr/>
        </p:nvSpPr>
        <p:spPr>
          <a:xfrm>
            <a:off x="457200" y="1645920"/>
            <a:ext cx="11292840" cy="91440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F6FB2"/>
                </a:solidFill>
                <a:latin typeface="Arial" pitchFamily="34" charset="0"/>
                <a:ea typeface="Arial" pitchFamily="34" charset="-122"/>
                <a:cs typeface="Arial" pitchFamily="34" charset="-120"/>
              </a:rPr>
              <a:t>السؤال الأول: اكتب المصطلح العلمي الذي تدل عليه كل عبارة من العبارات الآتية :</a:t>
            </a:r>
            <a:endParaRPr lang="ar-KW" sz="2400" dirty="0"/>
          </a:p>
        </p:txBody>
      </p:sp>
      <p:sp>
        <p:nvSpPr>
          <p:cNvPr id="7" name="anim_23_289"/>
          <p:cNvSpPr/>
          <p:nvPr/>
        </p:nvSpPr>
        <p:spPr>
          <a:xfrm>
            <a:off x="521208" y="2624328"/>
            <a:ext cx="11119104" cy="3803904"/>
          </a:xfrm>
          <a:prstGeom prst="roundRect">
            <a:avLst>
              <a:gd name="adj" fmla="val 8413"/>
            </a:avLst>
          </a:prstGeom>
          <a:solidFill>
            <a:srgbClr val="FFFFFF">
              <a:alpha val="85000"/>
            </a:srgbClr>
          </a:solidFill>
          <a:ln w="63500">
            <a:solidFill>
              <a:srgbClr val="8FB1DA"/>
            </a:solidFill>
            <a:prstDash val="solid"/>
          </a:ln>
          <a:effectLst>
            <a:outerShdw sx="100000" sy="100000" kx="0" ky="0" algn="bl" rotWithShape="0" blurRad="152400" dist="50800" dir="5400000">
              <a:srgbClr val="1F4F8A">
                <a:alpha val="18000"/>
              </a:srgbClr>
            </a:outerShdw>
          </a:effectLst>
        </p:spPr>
      </p:sp>
      <p:graphicFrame>
        <p:nvGraphicFramePr>
          <p:cNvPr id="8" name="anim_23_290"/>
          <p:cNvGraphicFramePr>
            <a:graphicFrameLocks noGrp="1"/>
          </p:cNvGraphicFramePr>
          <p:nvPr>
            <p:extLst>
              <p:ext uri="{D42A27DB-BD31-4B8C-83A1-F6EECF244321}">
                <p14:modId xmlns:p14="http://schemas.microsoft.com/office/powerpoint/2010/main" val="1579011935"/>
              </p:ext>
            </p:extLst>
          </p:nvPr>
        </p:nvGraphicFramePr>
        <p:xfrm>
          <a:off x="777240" y="2880360"/>
          <a:ext cx="10607040" cy="914400"/>
        </p:xfrm>
        <a:graphic>
          <a:graphicData uri="http://schemas.openxmlformats.org/drawingml/2006/table">
            <a:tbl>
              <a:tblPr/>
              <a:tblGrid>
                <a:gridCol w="3108960"/>
                <a:gridCol w="6675120"/>
                <a:gridCol w="822960"/>
              </a:tblGrid>
              <a:tr h="640080">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المصطلح</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العبارة</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c>
                  <a:txBody>
                    <a:bodyPr/>
                    <a:lstStyle/>
                    <a:p>
                      <a:pPr rtl="1" algn="ctr" indent="0" marL="0">
                        <a:buNone/>
                      </a:pPr>
                      <a:r>
                        <a:rPr lang="en-US" sz="2400" b="1" dirty="0">
                          <a:solidFill>
                            <a:srgbClr val="16325C"/>
                          </a:solidFill>
                          <a:latin typeface="Arial" pitchFamily="34" charset="0"/>
                          <a:ea typeface="Arial" pitchFamily="34" charset="-122"/>
                          <a:cs typeface="Arial" pitchFamily="34" charset="-120"/>
                        </a:rPr>
                        <a:t>م</a:t>
                      </a: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D6ECFA"/>
                    </a:solidFill>
                  </a:tcPr>
                </a:tc>
              </a:tr>
              <a:tr h="132588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r" indent="0" marL="0">
                        <a:buNone/>
                      </a:pPr>
                      <a:r>
                        <a:rPr lang="en-US" sz="2300" b="1" dirty="0">
                          <a:solidFill>
                            <a:srgbClr val="16325C"/>
                          </a:solidFill>
                          <a:latin typeface="Arial" pitchFamily="34" charset="0"/>
                          <a:ea typeface="Arial" pitchFamily="34" charset="-122"/>
                          <a:cs typeface="Arial" pitchFamily="34" charset="-120"/>
                        </a:rPr>
                        <a:t>عدد الإلكترونات التي تفقدها أو تكتسبها أو تشارك بها الذرّة للوصول إلى حالة الاستقرار الإلكتروني.</a:t>
                      </a:r>
                      <a:endParaRPr lang="en-US" sz="23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600" b="1" dirty="0">
                          <a:solidFill>
                            <a:srgbClr val="16325C"/>
                          </a:solidFill>
                          <a:latin typeface="Arial" pitchFamily="34" charset="0"/>
                          <a:ea typeface="Arial" pitchFamily="34" charset="-122"/>
                          <a:cs typeface="Arial" pitchFamily="34" charset="-120"/>
                        </a:rPr>
                        <a:t>1</a:t>
                      </a:r>
                      <a:endParaRPr lang="en-US" sz="26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r h="1325880">
                <a:tc>
                  <a:txBody>
                    <a:bodyPr/>
                    <a:lstStyle/>
                    <a:p>
                      <a:pPr rtl="0" algn="ctr" indent="0" marL="0">
                        <a:buNone/>
                      </a:pPr>
                      <a:endParaRPr lang="en-US" sz="24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1" algn="r" indent="0" marL="0">
                        <a:buNone/>
                      </a:pPr>
                      <a:r>
                        <a:rPr lang="en-US" sz="2300" b="1" dirty="0">
                          <a:solidFill>
                            <a:srgbClr val="16325C"/>
                          </a:solidFill>
                          <a:latin typeface="Arial" pitchFamily="34" charset="0"/>
                          <a:ea typeface="Arial" pitchFamily="34" charset="-122"/>
                          <a:cs typeface="Arial" pitchFamily="34" charset="-120"/>
                        </a:rPr>
                        <a:t>الأشكال التي توضّح إلكترونات التكافؤ في صورة نقاط على رمز ذرة العنصر.</a:t>
                      </a:r>
                      <a:endParaRPr lang="en-US" sz="23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c>
                  <a:txBody>
                    <a:bodyPr/>
                    <a:lstStyle/>
                    <a:p>
                      <a:pPr rtl="0" algn="ctr" indent="0" marL="0">
                        <a:buNone/>
                      </a:pPr>
                      <a:r>
                        <a:rPr lang="en-US" sz="2600" b="1" dirty="0">
                          <a:solidFill>
                            <a:srgbClr val="16325C"/>
                          </a:solidFill>
                          <a:latin typeface="Arial" pitchFamily="34" charset="0"/>
                          <a:ea typeface="Arial" pitchFamily="34" charset="-122"/>
                          <a:cs typeface="Arial" pitchFamily="34" charset="-120"/>
                        </a:rPr>
                        <a:t>2</a:t>
                      </a:r>
                      <a:endParaRPr lang="en-US" sz="2600" dirty="0">
                        <a:latin typeface="Arial" charset="0"/>
                        <a:ea typeface="Arial" charset="0"/>
                        <a:cs typeface="Arial" charset="0"/>
                      </a:endParaRPr>
                    </a:p>
                  </a:txBody>
                  <a:tcPr marL="38100" marR="38100" marT="38100" marB="38100" anchor="ctr">
                    <a:lnL w="19050" cap="flat" cmpd="sng" algn="ctr">
                      <a:solidFill>
                        <a:srgbClr val="8FB1DA"/>
                      </a:solidFill>
                      <a:prstDash val="solid"/>
                      <a:round/>
                      <a:headEnd type="none" w="med" len="med"/>
                      <a:tailEnd type="none" w="med" len="med"/>
                    </a:lnL>
                    <a:lnR w="19050" cap="flat" cmpd="sng" algn="ctr">
                      <a:solidFill>
                        <a:srgbClr val="8FB1DA"/>
                      </a:solidFill>
                      <a:prstDash val="solid"/>
                      <a:round/>
                      <a:headEnd type="none" w="med" len="med"/>
                      <a:tailEnd type="none" w="med" len="med"/>
                    </a:lnR>
                    <a:lnT w="19050" cap="flat" cmpd="sng" algn="ctr">
                      <a:solidFill>
                        <a:srgbClr val="8FB1DA"/>
                      </a:solidFill>
                      <a:prstDash val="solid"/>
                      <a:round/>
                      <a:headEnd type="none" w="med" len="med"/>
                      <a:tailEnd type="none" w="med" len="med"/>
                    </a:lnT>
                    <a:lnB w="19050" cap="flat" cmpd="sng" algn="ctr">
                      <a:solidFill>
                        <a:srgbClr val="8FB1DA"/>
                      </a:solidFill>
                      <a:prstDash val="solid"/>
                      <a:round/>
                      <a:headEnd type="none" w="med" len="med"/>
                      <a:tailEnd type="none" w="med" len="med"/>
                    </a:lnB>
                    <a:solidFill>
                      <a:srgbClr val="FFFFFF"/>
                    </a:solidFill>
                  </a:tcPr>
                </a:tc>
              </a:tr>
            </a:tbl>
          </a:graphicData>
        </a:graphic>
      </p:graphicFrame>
      <p:sp>
        <p:nvSpPr>
          <p:cNvPr id="9" name="anim_23_291"/>
          <p:cNvSpPr txBox="1"/>
          <p:nvPr/>
        </p:nvSpPr>
        <p:spPr>
          <a:xfrm>
            <a:off x="777240" y="3520440"/>
            <a:ext cx="3108960" cy="132588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600" b="1" dirty="0">
                <a:solidFill>
                  <a:srgbClr val="0B8A5A"/>
                </a:solidFill>
                <a:latin typeface="Arial" pitchFamily="34" charset="0"/>
                <a:ea typeface="Arial" pitchFamily="34" charset="-122"/>
                <a:cs typeface="Arial" pitchFamily="34" charset="-120"/>
              </a:rPr>
              <a:t>التكافؤ</a:t>
            </a:r>
            <a:endParaRPr lang="ar-KW" sz="2600" dirty="0"/>
          </a:p>
        </p:txBody>
      </p:sp>
      <p:sp>
        <p:nvSpPr>
          <p:cNvPr id="10" name="anim_23_292"/>
          <p:cNvSpPr txBox="1"/>
          <p:nvPr/>
        </p:nvSpPr>
        <p:spPr>
          <a:xfrm>
            <a:off x="777240" y="4846320"/>
            <a:ext cx="3108960" cy="1325880"/>
          </a:xfrm>
          <a:prstGeom prst="rect">
            <a:avLst/>
          </a:prstGeom>
          <a:noFill/>
          <a:ln/>
        </p:spPr>
        <p:txBody>
          <a:bodyPr wrap="square" lIns="0" tIns="0" rIns="0" bIns="0" rtlCol="0" anchor="ctr"/>
          <a:lstStyle/>
          <a:p>
            <a:pPr rtl="1" algn="ctr" indent="0" marL="0">
              <a:lnSpc>
                <a:spcPct val="105000"/>
              </a:lnSpc>
              <a:spcAft>
                <a:spcPts val="600"/>
              </a:spcAft>
              <a:buNone/>
            </a:pPr>
            <a:r>
              <a:rPr lang="ar-KW" altLang="en-US" sz="2100" b="1" dirty="0">
                <a:solidFill>
                  <a:srgbClr val="0B8A5A"/>
                </a:solidFill>
                <a:latin typeface="Arial" pitchFamily="34" charset="0"/>
                <a:ea typeface="Arial" pitchFamily="34" charset="-122"/>
                <a:cs typeface="Arial" pitchFamily="34" charset="-120"/>
              </a:rPr>
              <a:t>الترتيب الإلكتروني النقطي (تمثيل لويس)</a:t>
            </a:r>
            <a:endParaRPr lang="ar-KW" sz="2100" dirty="0"/>
          </a:p>
        </p:txBody>
      </p:sp>
    </p:spTree>
  </p:cSld>
  <p:clrMapOvr>
    <a:masterClrMapping/>
  </p:clrMapOvr>
  <p:transition spd="slow">
    <p:wipe dir="l"/>
  </p:transition>
  <p:timing>
    <p:tnLst>
      <p:par>
        <p:cTn id="1" dur="indefinite" restart="never" nodeType="tmRoot">
          <p:childTnLst>
            <p:seq concurrent="1" nextAc="seek">
              <p:cTn id="2" dur="indefinite" nodeType="mainSeq">
                <p:childTnLst>
                  <p:par>
                    <p:cTn id="32" fill="hold">
                      <p:stCondLst>
                        <p:cond delay="indefinite"/>
                        <p:cond evt="onBegin" delay="0">
                          <p:tn val="2"/>
                        </p:cond>
                      </p:stCondLst>
                      <p:childTnLst>
                        <p:par>
                          <p:cTn id="27"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28"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29"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1000"/>
                                        <p:tgtEl>
                                          <p:spTgt spid="6"/>
                                        </p:tgtEl>
                                      </p:cBhvr>
                                    </p:animEffect>
                                  </p:childTnLst>
                                </p:cTn>
                              </p:par>
                            </p:childTnLst>
                          </p:cTn>
                        </p:par>
                        <p:par>
                          <p:cTn id="30" fill="hold">
                            <p:stCondLst>
                              <p:cond delay="24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p:tgtEl>
                                          <p:spTgt spid="7"/>
                                        </p:tgtEl>
                                        <p:attrNameLst>
                                          <p:attrName>ppt_w</p:attrName>
                                        </p:attrNameLst>
                                      </p:cBhvr>
                                      <p:tavLst>
                                        <p:tav tm="0">
                                          <p:val>
                                            <p:fltVal val="0"/>
                                          </p:val>
                                        </p:tav>
                                        <p:tav tm="100000">
                                          <p:val>
                                            <p:strVal val="#ppt_w"/>
                                          </p:val>
                                        </p:tav>
                                      </p:tavLst>
                                    </p:anim>
                                    <p:anim calcmode="lin" valueType="num">
                                      <p:cBhvr additive="base">
                                        <p:cTn id="22" dur="600" fill="hold"/>
                                        <p:tgtEl>
                                          <p:spTgt spid="7"/>
                                        </p:tgtEl>
                                        <p:attrNameLst>
                                          <p:attrName>ppt_h</p:attrName>
                                        </p:attrNameLst>
                                      </p:cBhvr>
                                      <p:tavLst>
                                        <p:tav tm="0">
                                          <p:val>
                                            <p:fltVal val="0"/>
                                          </p:val>
                                        </p:tav>
                                        <p:tav tm="100000">
                                          <p:val>
                                            <p:strVal val="#ppt_h"/>
                                          </p:val>
                                        </p:tav>
                                      </p:tavLst>
                                    </p:anim>
                                    <p:animEffect transition="in" filter="fade">
                                      <p:cBhvr>
                                        <p:cTn id="23" dur="600"/>
                                        <p:tgtEl>
                                          <p:spTgt spid="7"/>
                                        </p:tgtEl>
                                      </p:cBhvr>
                                    </p:animEffect>
                                  </p:childTnLst>
                                </p:cTn>
                              </p:par>
                            </p:childTnLst>
                          </p:cTn>
                        </p:par>
                        <p:par>
                          <p:cTn id="31" fill="hold">
                            <p:stCondLst>
                              <p:cond delay="300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700"/>
                                        <p:tgtEl>
                                          <p:spTgt spid="8"/>
                                        </p:tgtEl>
                                      </p:cBhvr>
                                    </p:animEffect>
                                  </p:childTnLst>
                                </p:cTn>
                              </p:par>
                            </p:childTnLst>
                          </p:cTn>
                        </p:par>
                      </p:childTnLst>
                    </p:cTn>
                  </p:par>
                  <p:par>
                    <p:cTn id="39" fill="hold">
                      <p:stCondLst>
                        <p:cond delay="indefinite"/>
                      </p:stCondLst>
                      <p:childTnLst>
                        <p:par>
                          <p:cTn id="38"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450" fill="hold"/>
                                        <p:tgtEl>
                                          <p:spTgt spid="9"/>
                                        </p:tgtEl>
                                        <p:attrNameLst>
                                          <p:attrName>ppt_w</p:attrName>
                                        </p:attrNameLst>
                                      </p:cBhvr>
                                      <p:tavLst>
                                        <p:tav tm="0">
                                          <p:val>
                                            <p:fltVal val="0"/>
                                          </p:val>
                                        </p:tav>
                                        <p:tav tm="100000">
                                          <p:val>
                                            <p:strVal val="#ppt_w"/>
                                          </p:val>
                                        </p:tav>
                                      </p:tavLst>
                                    </p:anim>
                                    <p:anim calcmode="lin" valueType="num">
                                      <p:cBhvr additive="base">
                                        <p:cTn id="36" dur="450" fill="hold"/>
                                        <p:tgtEl>
                                          <p:spTgt spid="9"/>
                                        </p:tgtEl>
                                        <p:attrNameLst>
                                          <p:attrName>ppt_h</p:attrName>
                                        </p:attrNameLst>
                                      </p:cBhvr>
                                      <p:tavLst>
                                        <p:tav tm="0">
                                          <p:val>
                                            <p:fltVal val="0"/>
                                          </p:val>
                                        </p:tav>
                                        <p:tav tm="100000">
                                          <p:val>
                                            <p:strVal val="#ppt_h"/>
                                          </p:val>
                                        </p:tav>
                                      </p:tavLst>
                                    </p:anim>
                                    <p:animEffect transition="in" filter="fade">
                                      <p:cBhvr>
                                        <p:cTn id="37" dur="450"/>
                                        <p:tgtEl>
                                          <p:spTgt spid="9"/>
                                        </p:tgtEl>
                                      </p:cBhvr>
                                    </p:animEffect>
                                  </p:childTnLst>
                                </p:cTn>
                              </p:par>
                            </p:childTnLst>
                          </p:cTn>
                        </p:par>
                      </p:childTnLst>
                    </p:cTn>
                  </p:par>
                  <p:par>
                    <p:cTn id="46" fill="hold">
                      <p:stCondLst>
                        <p:cond delay="indefinite"/>
                      </p:stCondLst>
                      <p:childTnLst>
                        <p:par>
                          <p:cTn id="45"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450" fill="hold"/>
                                        <p:tgtEl>
                                          <p:spTgt spid="10"/>
                                        </p:tgtEl>
                                        <p:attrNameLst>
                                          <p:attrName>ppt_w</p:attrName>
                                        </p:attrNameLst>
                                      </p:cBhvr>
                                      <p:tavLst>
                                        <p:tav tm="0">
                                          <p:val>
                                            <p:fltVal val="0"/>
                                          </p:val>
                                        </p:tav>
                                        <p:tav tm="100000">
                                          <p:val>
                                            <p:strVal val="#ppt_w"/>
                                          </p:val>
                                        </p:tav>
                                      </p:tavLst>
                                    </p:anim>
                                    <p:anim calcmode="lin" valueType="num">
                                      <p:cBhvr additive="base">
                                        <p:cTn id="43" dur="450" fill="hold"/>
                                        <p:tgtEl>
                                          <p:spTgt spid="10"/>
                                        </p:tgtEl>
                                        <p:attrNameLst>
                                          <p:attrName>ppt_h</p:attrName>
                                        </p:attrNameLst>
                                      </p:cBhvr>
                                      <p:tavLst>
                                        <p:tav tm="0">
                                          <p:val>
                                            <p:fltVal val="0"/>
                                          </p:val>
                                        </p:tav>
                                        <p:tav tm="100000">
                                          <p:val>
                                            <p:strVal val="#ppt_h"/>
                                          </p:val>
                                        </p:tav>
                                      </p:tavLst>
                                    </p:anim>
                                    <p:animEffect transition="in" filter="fade">
                                      <p:cBhvr>
                                        <p:cTn id="44"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Graphic spid="8" grpId="0">
        <p:bldAsOne/>
      </p:bldGraphic>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2" name=""/>
        <p:cNvGrpSpPr/>
        <p:nvPr/>
      </p:nvGrpSpPr>
      <p:grpSpPr>
        <a:xfrm>
          <a:off x="0" y="0"/>
          <a:ext cx="0" cy="0"/>
          <a:chOff x="0" y="0"/>
          <a:chExt cx="0" cy="0"/>
        </a:xfrm>
      </p:grpSpPr>
      <p:sp>
        <p:nvSpPr>
          <p:cNvPr id="3" name="anim_24_293"/>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أنت الكيميائي</a:t>
            </a:r>
            <a:endParaRPr lang="ar-KW" sz="3600" dirty="0"/>
          </a:p>
        </p:txBody>
      </p:sp>
      <p:pic>
        <p:nvPicPr>
          <p:cNvPr id="4" name="anim_24_294"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24_295" descr="badge_chem.png">    </p:cNvPr>
          <p:cNvPicPr>
            <a:picLocks noChangeAspect="1"/>
          </p:cNvPicPr>
          <p:nvPr/>
        </p:nvPicPr>
        <p:blipFill>
          <a:blip r:embed="rId2"/>
          <a:stretch>
            <a:fillRect/>
          </a:stretch>
        </p:blipFill>
        <p:spPr>
          <a:xfrm>
            <a:off x="4937760" y="292608"/>
            <a:ext cx="1280160" cy="1280160"/>
          </a:xfrm>
          <a:prstGeom prst="rect">
            <a:avLst/>
          </a:prstGeom>
        </p:spPr>
      </p:pic>
      <p:sp>
        <p:nvSpPr>
          <p:cNvPr id="6" name="anim_24_296"/>
          <p:cNvSpPr txBox="1"/>
          <p:nvPr/>
        </p:nvSpPr>
        <p:spPr>
          <a:xfrm>
            <a:off x="457200" y="1645920"/>
            <a:ext cx="11292840" cy="91440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400" b="1" dirty="0">
                <a:solidFill>
                  <a:srgbClr val="1F6FB2"/>
                </a:solidFill>
                <a:latin typeface="Arial" pitchFamily="34" charset="0"/>
                <a:ea typeface="Arial" pitchFamily="34" charset="-122"/>
                <a:cs typeface="Arial" pitchFamily="34" charset="-120"/>
              </a:rPr>
              <a:t>السؤال الثاني: اختر الإجابة الصحيحة لكل عبارة من العبارات الآتية وذلك بوضع علامة (✓) في المربع المقابل لها:</a:t>
            </a:r>
            <a:endParaRPr lang="ar-KW" sz="2400" dirty="0"/>
          </a:p>
        </p:txBody>
      </p:sp>
      <p:sp>
        <p:nvSpPr>
          <p:cNvPr id="7" name="anim_24_297"/>
          <p:cNvSpPr/>
          <p:nvPr/>
        </p:nvSpPr>
        <p:spPr>
          <a:xfrm>
            <a:off x="457200" y="2560320"/>
            <a:ext cx="11292840" cy="1783080"/>
          </a:xfrm>
          <a:prstGeom prst="roundRect">
            <a:avLst>
              <a:gd name="adj" fmla="val 15385"/>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8" name="anim_24_298"/>
          <p:cNvSpPr txBox="1"/>
          <p:nvPr/>
        </p:nvSpPr>
        <p:spPr>
          <a:xfrm>
            <a:off x="685800" y="2651760"/>
            <a:ext cx="10881360" cy="5943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500" b="1" dirty="0">
                <a:solidFill>
                  <a:srgbClr val="16325C"/>
                </a:solidFill>
                <a:latin typeface="Arial" pitchFamily="34" charset="0"/>
                <a:ea typeface="Arial" pitchFamily="34" charset="-122"/>
                <a:cs typeface="Arial" pitchFamily="34" charset="-120"/>
              </a:rPr>
              <a:t>1 – عدد إلكترونات التكافؤ لعنصر يقع في المجموعة (17):</a:t>
            </a:r>
            <a:endParaRPr lang="ar-KW" sz="2500" dirty="0"/>
          </a:p>
        </p:txBody>
      </p:sp>
      <p:sp>
        <p:nvSpPr>
          <p:cNvPr id="9" name="anim_24_299"/>
          <p:cNvSpPr txBox="1"/>
          <p:nvPr/>
        </p:nvSpPr>
        <p:spPr>
          <a:xfrm>
            <a:off x="9418320" y="338328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0</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0" name="anim_24_300"/>
          <p:cNvSpPr txBox="1"/>
          <p:nvPr/>
        </p:nvSpPr>
        <p:spPr>
          <a:xfrm>
            <a:off x="6583680" y="338328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1</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1" name="anim_24_301"/>
          <p:cNvSpPr txBox="1"/>
          <p:nvPr/>
        </p:nvSpPr>
        <p:spPr>
          <a:xfrm>
            <a:off x="3749040" y="338328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3</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2" name="anim_24_302"/>
          <p:cNvSpPr txBox="1"/>
          <p:nvPr/>
        </p:nvSpPr>
        <p:spPr>
          <a:xfrm>
            <a:off x="914400" y="338328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dirty="0">
                <a:solidFill>
                  <a:srgbClr val="16325C"/>
                </a:solidFill>
                <a:latin typeface="Arial" pitchFamily="34" charset="0"/>
                <a:ea typeface="Arial" pitchFamily="34" charset="-122"/>
                <a:cs typeface="Arial" pitchFamily="34" charset="-120"/>
              </a:rPr>
              <a:t>7</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3" name="anim_24_303"/>
          <p:cNvSpPr txBox="1"/>
          <p:nvPr/>
        </p:nvSpPr>
        <p:spPr>
          <a:xfrm>
            <a:off x="914400" y="3310128"/>
            <a:ext cx="868680" cy="822960"/>
          </a:xfrm>
          <a:prstGeom prst="ellipse">
            <a:avLst/>
          </a:prstGeom>
          <a:solidFill>
            <a:srgbClr val="0B8A5A"/>
          </a:solidFill>
          <a:ln/>
        </p:spPr>
        <p:txBody>
          <a:bodyPr wrap="square" lIns="0" tIns="0" rIns="0" bIns="0" rtlCol="0" anchor="ctr"/>
          <a:lstStyle/>
          <a:p>
            <a:pPr rtl="0" algn="ctr" indent="0" marL="0">
              <a:lnSpc>
                <a:spcPct val="105000"/>
              </a:lnSpc>
              <a:spcAft>
                <a:spcPts val="600"/>
              </a:spcAft>
              <a:buNone/>
            </a:pPr>
            <a:r>
              <a:rPr lang="en-US" alt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14" name="anim_24_304"/>
          <p:cNvSpPr/>
          <p:nvPr/>
        </p:nvSpPr>
        <p:spPr>
          <a:xfrm>
            <a:off x="1051560" y="3337560"/>
            <a:ext cx="2103120" cy="786384"/>
          </a:xfrm>
          <a:prstGeom prst="roundRect">
            <a:avLst>
              <a:gd name="adj" fmla="val 50000"/>
            </a:avLst>
          </a:prstGeom>
          <a:solidFill>
            <a:srgbClr val="0B8A5A">
              <a:alpha val="15000"/>
            </a:srgbClr>
          </a:solidFill>
          <a:ln w="38100">
            <a:solidFill>
              <a:srgbClr val="0B8A5A"/>
            </a:solidFill>
            <a:prstDash val="solid"/>
          </a:ln>
        </p:spPr>
      </p:sp>
      <p:sp>
        <p:nvSpPr>
          <p:cNvPr id="15" name="anim_24_305"/>
          <p:cNvSpPr/>
          <p:nvPr/>
        </p:nvSpPr>
        <p:spPr>
          <a:xfrm>
            <a:off x="457200" y="4480560"/>
            <a:ext cx="11292840" cy="1783080"/>
          </a:xfrm>
          <a:prstGeom prst="roundRect">
            <a:avLst>
              <a:gd name="adj" fmla="val 15385"/>
            </a:avLst>
          </a:prstGeom>
          <a:solidFill>
            <a:srgbClr val="FFFFFF">
              <a:alpha val="95000"/>
            </a:srgbClr>
          </a:solidFill>
          <a:ln/>
          <a:effectLst>
            <a:outerShdw sx="100000" sy="100000" kx="0" ky="0" algn="bl" rotWithShape="0" blurRad="152400" dist="50800" dir="5400000">
              <a:srgbClr val="1F4F8A">
                <a:alpha val="18000"/>
              </a:srgbClr>
            </a:outerShdw>
          </a:effectLst>
        </p:spPr>
      </p:sp>
      <p:sp>
        <p:nvSpPr>
          <p:cNvPr id="16" name="anim_24_306"/>
          <p:cNvSpPr txBox="1"/>
          <p:nvPr/>
        </p:nvSpPr>
        <p:spPr>
          <a:xfrm>
            <a:off x="685800" y="4572000"/>
            <a:ext cx="10881360" cy="59436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500" b="1" dirty="0">
                <a:solidFill>
                  <a:srgbClr val="16325C"/>
                </a:solidFill>
                <a:latin typeface="Arial" pitchFamily="34" charset="0"/>
                <a:ea typeface="Arial" pitchFamily="34" charset="-122"/>
                <a:cs typeface="Arial" pitchFamily="34" charset="-120"/>
              </a:rPr>
              <a:t>2 – أحد الذرات التالية تصل للاستقرار عن طريق فقد إلكترونين:</a:t>
            </a:r>
            <a:endParaRPr lang="ar-KW" sz="2500" dirty="0"/>
          </a:p>
        </p:txBody>
      </p:sp>
      <p:sp>
        <p:nvSpPr>
          <p:cNvPr id="17" name="anim_24_307"/>
          <p:cNvSpPr txBox="1"/>
          <p:nvPr/>
        </p:nvSpPr>
        <p:spPr>
          <a:xfrm>
            <a:off x="9418320" y="530352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baseline="-40000" dirty="0">
                <a:solidFill>
                  <a:srgbClr val="16325C"/>
                </a:solidFill>
                <a:latin typeface="Arial" pitchFamily="34" charset="0"/>
                <a:ea typeface="Arial" pitchFamily="34" charset="-122"/>
                <a:cs typeface="Arial" pitchFamily="34" charset="-120"/>
              </a:rPr>
              <a:t>16</a:t>
            </a:r>
            <a:r>
              <a:rPr lang="en-US" altLang="en-US" sz="3000" b="1" dirty="0">
                <a:solidFill>
                  <a:srgbClr val="16325C"/>
                </a:solidFill>
                <a:latin typeface="Arial" pitchFamily="34" charset="0"/>
                <a:ea typeface="Arial" pitchFamily="34" charset="-122"/>
                <a:cs typeface="Arial" pitchFamily="34" charset="-120"/>
              </a:rPr>
              <a:t>S</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8" name="anim_24_308"/>
          <p:cNvSpPr txBox="1"/>
          <p:nvPr/>
        </p:nvSpPr>
        <p:spPr>
          <a:xfrm>
            <a:off x="6583680" y="530352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baseline="-40000" dirty="0">
                <a:solidFill>
                  <a:srgbClr val="16325C"/>
                </a:solidFill>
                <a:latin typeface="Arial" pitchFamily="34" charset="0"/>
                <a:ea typeface="Arial" pitchFamily="34" charset="-122"/>
                <a:cs typeface="Arial" pitchFamily="34" charset="-120"/>
              </a:rPr>
              <a:t>19</a:t>
            </a:r>
            <a:r>
              <a:rPr lang="en-US" altLang="en-US" sz="3000" b="1" dirty="0">
                <a:solidFill>
                  <a:srgbClr val="16325C"/>
                </a:solidFill>
                <a:latin typeface="Arial" pitchFamily="34" charset="0"/>
                <a:ea typeface="Arial" pitchFamily="34" charset="-122"/>
                <a:cs typeface="Arial" pitchFamily="34" charset="-120"/>
              </a:rPr>
              <a:t>K</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19" name="anim_24_309"/>
          <p:cNvSpPr txBox="1"/>
          <p:nvPr/>
        </p:nvSpPr>
        <p:spPr>
          <a:xfrm>
            <a:off x="3749040" y="530352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baseline="-40000" dirty="0">
                <a:solidFill>
                  <a:srgbClr val="16325C"/>
                </a:solidFill>
                <a:latin typeface="Arial" pitchFamily="34" charset="0"/>
                <a:ea typeface="Arial" pitchFamily="34" charset="-122"/>
                <a:cs typeface="Arial" pitchFamily="34" charset="-120"/>
              </a:rPr>
              <a:t>12</a:t>
            </a:r>
            <a:r>
              <a:rPr lang="en-US" altLang="en-US" sz="3000" b="1" dirty="0">
                <a:solidFill>
                  <a:srgbClr val="16325C"/>
                </a:solidFill>
                <a:latin typeface="Arial" pitchFamily="34" charset="0"/>
                <a:ea typeface="Arial" pitchFamily="34" charset="-122"/>
                <a:cs typeface="Arial" pitchFamily="34" charset="-120"/>
              </a:rPr>
              <a:t>Mg</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20" name="anim_24_310"/>
          <p:cNvSpPr txBox="1"/>
          <p:nvPr/>
        </p:nvSpPr>
        <p:spPr>
          <a:xfrm>
            <a:off x="914400" y="5303520"/>
            <a:ext cx="2286000" cy="73152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000" b="1" baseline="-40000" dirty="0">
                <a:solidFill>
                  <a:srgbClr val="16325C"/>
                </a:solidFill>
                <a:latin typeface="Arial" pitchFamily="34" charset="0"/>
                <a:ea typeface="Arial" pitchFamily="34" charset="-122"/>
                <a:cs typeface="Arial" pitchFamily="34" charset="-120"/>
              </a:rPr>
              <a:t>9</a:t>
            </a:r>
            <a:r>
              <a:rPr lang="en-US" altLang="en-US" sz="3000" b="1" dirty="0">
                <a:solidFill>
                  <a:srgbClr val="16325C"/>
                </a:solidFill>
                <a:latin typeface="Arial" pitchFamily="34" charset="0"/>
                <a:ea typeface="Arial" pitchFamily="34" charset="-122"/>
                <a:cs typeface="Arial" pitchFamily="34" charset="-120"/>
              </a:rPr>
              <a:t>F</a:t>
            </a:r>
            <a:r>
              <a:rPr lang="en-US" altLang="en-US" sz="3000" b="1" dirty="0">
                <a:solidFill>
                  <a:srgbClr val="7A8CA8"/>
                </a:solidFill>
                <a:latin typeface="Arial" pitchFamily="34" charset="0"/>
                <a:ea typeface="Arial" pitchFamily="34" charset="-122"/>
                <a:cs typeface="Arial" pitchFamily="34" charset="-120"/>
              </a:rPr>
              <a:t> ❏</a:t>
            </a:r>
            <a:endParaRPr lang="en-US" sz="3000" dirty="0"/>
          </a:p>
        </p:txBody>
      </p:sp>
      <p:sp>
        <p:nvSpPr>
          <p:cNvPr id="21" name="anim_24_311"/>
          <p:cNvSpPr txBox="1"/>
          <p:nvPr/>
        </p:nvSpPr>
        <p:spPr>
          <a:xfrm>
            <a:off x="3749040" y="5230368"/>
            <a:ext cx="868680" cy="822960"/>
          </a:xfrm>
          <a:prstGeom prst="ellipse">
            <a:avLst/>
          </a:prstGeom>
          <a:solidFill>
            <a:srgbClr val="0B8A5A"/>
          </a:solidFill>
          <a:ln/>
        </p:spPr>
        <p:txBody>
          <a:bodyPr wrap="square" lIns="0" tIns="0" rIns="0" bIns="0" rtlCol="0" anchor="ctr"/>
          <a:lstStyle/>
          <a:p>
            <a:pPr rtl="0" algn="ctr" indent="0" marL="0">
              <a:lnSpc>
                <a:spcPct val="105000"/>
              </a:lnSpc>
              <a:spcAft>
                <a:spcPts val="600"/>
              </a:spcAft>
              <a:buNone/>
            </a:pPr>
            <a:r>
              <a:rPr lang="en-US" alt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22" name="anim_24_312"/>
          <p:cNvSpPr/>
          <p:nvPr/>
        </p:nvSpPr>
        <p:spPr>
          <a:xfrm>
            <a:off x="3886200" y="5257800"/>
            <a:ext cx="2103120" cy="786384"/>
          </a:xfrm>
          <a:prstGeom prst="roundRect">
            <a:avLst>
              <a:gd name="adj" fmla="val 50000"/>
            </a:avLst>
          </a:prstGeom>
          <a:solidFill>
            <a:srgbClr val="0B8A5A">
              <a:alpha val="15000"/>
            </a:srgbClr>
          </a:solidFill>
          <a:ln w="38100">
            <a:solidFill>
              <a:srgbClr val="0B8A5A"/>
            </a:solidFill>
            <a:prstDash val="solid"/>
          </a:ln>
        </p:spPr>
      </p:sp>
    </p:spTree>
  </p:cSld>
  <p:clrMapOvr>
    <a:masterClrMapping/>
  </p:clrMapOvr>
  <p:transition spd="slow">
    <p:cover dir="l"/>
  </p:transition>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45"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46"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47"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1200"/>
                                        <p:tgtEl>
                                          <p:spTgt spid="6"/>
                                        </p:tgtEl>
                                      </p:cBhvr>
                                    </p:animEffect>
                                  </p:childTnLst>
                                </p:cTn>
                              </p:par>
                            </p:childTnLst>
                          </p:cTn>
                        </p:par>
                        <p:par>
                          <p:cTn id="48" fill="hold">
                            <p:stCondLst>
                              <p:cond delay="26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childTnLst>
                          </p:cTn>
                        </p:par>
                        <p:par>
                          <p:cTn id="49" fill="hold">
                            <p:stCondLst>
                              <p:cond delay="3000"/>
                            </p:stCondLst>
                            <p:childTnLst>
                              <p:par>
                                <p:cTn id="22" presetID="22" presetClass="entr" presetSubtype="2"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right)">
                                      <p:cBhvr>
                                        <p:cTn id="24" dur="900"/>
                                        <p:tgtEl>
                                          <p:spTgt spid="8"/>
                                        </p:tgtEl>
                                      </p:cBhvr>
                                    </p:animEffect>
                                  </p:childTnLst>
                                </p:cTn>
                              </p:par>
                            </p:childTnLst>
                          </p:cTn>
                        </p:par>
                        <p:par>
                          <p:cTn id="50" fill="hold">
                            <p:stCondLst>
                              <p:cond delay="390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350" fill="hold"/>
                                        <p:tgtEl>
                                          <p:spTgt spid="9"/>
                                        </p:tgtEl>
                                        <p:attrNameLst>
                                          <p:attrName>ppt_w</p:attrName>
                                        </p:attrNameLst>
                                      </p:cBhvr>
                                      <p:tavLst>
                                        <p:tav tm="0">
                                          <p:val>
                                            <p:fltVal val="0"/>
                                          </p:val>
                                        </p:tav>
                                        <p:tav tm="100000">
                                          <p:val>
                                            <p:strVal val="#ppt_w"/>
                                          </p:val>
                                        </p:tav>
                                      </p:tavLst>
                                    </p:anim>
                                    <p:anim calcmode="lin" valueType="num">
                                      <p:cBhvr additive="base">
                                        <p:cTn id="28" dur="350" fill="hold"/>
                                        <p:tgtEl>
                                          <p:spTgt spid="9"/>
                                        </p:tgtEl>
                                        <p:attrNameLst>
                                          <p:attrName>ppt_h</p:attrName>
                                        </p:attrNameLst>
                                      </p:cBhvr>
                                      <p:tavLst>
                                        <p:tav tm="0">
                                          <p:val>
                                            <p:fltVal val="0"/>
                                          </p:val>
                                        </p:tav>
                                        <p:tav tm="100000">
                                          <p:val>
                                            <p:strVal val="#ppt_h"/>
                                          </p:val>
                                        </p:tav>
                                      </p:tavLst>
                                    </p:anim>
                                    <p:animEffect transition="in" filter="fade">
                                      <p:cBhvr>
                                        <p:cTn id="29" dur="350"/>
                                        <p:tgtEl>
                                          <p:spTgt spid="9"/>
                                        </p:tgtEl>
                                      </p:cBhvr>
                                    </p:animEffect>
                                  </p:childTnLst>
                                </p:cTn>
                              </p:par>
                            </p:childTnLst>
                          </p:cTn>
                        </p:par>
                        <p:par>
                          <p:cTn id="51" fill="hold">
                            <p:stCondLst>
                              <p:cond delay="4250"/>
                            </p:stCondLst>
                            <p:childTnLst>
                              <p:par>
                                <p:cTn id="30" presetID="53" presetClass="entr" presetSubtype="16"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350" fill="hold"/>
                                        <p:tgtEl>
                                          <p:spTgt spid="10"/>
                                        </p:tgtEl>
                                        <p:attrNameLst>
                                          <p:attrName>ppt_w</p:attrName>
                                        </p:attrNameLst>
                                      </p:cBhvr>
                                      <p:tavLst>
                                        <p:tav tm="0">
                                          <p:val>
                                            <p:fltVal val="0"/>
                                          </p:val>
                                        </p:tav>
                                        <p:tav tm="100000">
                                          <p:val>
                                            <p:strVal val="#ppt_w"/>
                                          </p:val>
                                        </p:tav>
                                      </p:tavLst>
                                    </p:anim>
                                    <p:anim calcmode="lin" valueType="num">
                                      <p:cBhvr additive="base">
                                        <p:cTn id="33" dur="350" fill="hold"/>
                                        <p:tgtEl>
                                          <p:spTgt spid="10"/>
                                        </p:tgtEl>
                                        <p:attrNameLst>
                                          <p:attrName>ppt_h</p:attrName>
                                        </p:attrNameLst>
                                      </p:cBhvr>
                                      <p:tavLst>
                                        <p:tav tm="0">
                                          <p:val>
                                            <p:fltVal val="0"/>
                                          </p:val>
                                        </p:tav>
                                        <p:tav tm="100000">
                                          <p:val>
                                            <p:strVal val="#ppt_h"/>
                                          </p:val>
                                        </p:tav>
                                      </p:tavLst>
                                    </p:anim>
                                    <p:animEffect transition="in" filter="fade">
                                      <p:cBhvr>
                                        <p:cTn id="34" dur="350"/>
                                        <p:tgtEl>
                                          <p:spTgt spid="10"/>
                                        </p:tgtEl>
                                      </p:cBhvr>
                                    </p:animEffect>
                                  </p:childTnLst>
                                </p:cTn>
                              </p:par>
                            </p:childTnLst>
                          </p:cTn>
                        </p:par>
                        <p:par>
                          <p:cTn id="52" fill="hold">
                            <p:stCondLst>
                              <p:cond delay="4600"/>
                            </p:stCondLst>
                            <p:childTnLst>
                              <p:par>
                                <p:cTn id="35" presetID="53" presetClass="entr" presetSubtype="16"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350" fill="hold"/>
                                        <p:tgtEl>
                                          <p:spTgt spid="11"/>
                                        </p:tgtEl>
                                        <p:attrNameLst>
                                          <p:attrName>ppt_w</p:attrName>
                                        </p:attrNameLst>
                                      </p:cBhvr>
                                      <p:tavLst>
                                        <p:tav tm="0">
                                          <p:val>
                                            <p:fltVal val="0"/>
                                          </p:val>
                                        </p:tav>
                                        <p:tav tm="100000">
                                          <p:val>
                                            <p:strVal val="#ppt_w"/>
                                          </p:val>
                                        </p:tav>
                                      </p:tavLst>
                                    </p:anim>
                                    <p:anim calcmode="lin" valueType="num">
                                      <p:cBhvr additive="base">
                                        <p:cTn id="38" dur="350" fill="hold"/>
                                        <p:tgtEl>
                                          <p:spTgt spid="11"/>
                                        </p:tgtEl>
                                        <p:attrNameLst>
                                          <p:attrName>ppt_h</p:attrName>
                                        </p:attrNameLst>
                                      </p:cBhvr>
                                      <p:tavLst>
                                        <p:tav tm="0">
                                          <p:val>
                                            <p:fltVal val="0"/>
                                          </p:val>
                                        </p:tav>
                                        <p:tav tm="100000">
                                          <p:val>
                                            <p:strVal val="#ppt_h"/>
                                          </p:val>
                                        </p:tav>
                                      </p:tavLst>
                                    </p:anim>
                                    <p:animEffect transition="in" filter="fade">
                                      <p:cBhvr>
                                        <p:cTn id="39" dur="350"/>
                                        <p:tgtEl>
                                          <p:spTgt spid="11"/>
                                        </p:tgtEl>
                                      </p:cBhvr>
                                    </p:animEffect>
                                  </p:childTnLst>
                                </p:cTn>
                              </p:par>
                            </p:childTnLst>
                          </p:cTn>
                        </p:par>
                        <p:par>
                          <p:cTn id="53" fill="hold">
                            <p:stCondLst>
                              <p:cond delay="4950"/>
                            </p:stCondLst>
                            <p:childTnLst>
                              <p:par>
                                <p:cTn id="40" presetID="53" presetClass="entr" presetSubtype="16"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50" fill="hold"/>
                                        <p:tgtEl>
                                          <p:spTgt spid="12"/>
                                        </p:tgtEl>
                                        <p:attrNameLst>
                                          <p:attrName>ppt_w</p:attrName>
                                        </p:attrNameLst>
                                      </p:cBhvr>
                                      <p:tavLst>
                                        <p:tav tm="0">
                                          <p:val>
                                            <p:fltVal val="0"/>
                                          </p:val>
                                        </p:tav>
                                        <p:tav tm="100000">
                                          <p:val>
                                            <p:strVal val="#ppt_w"/>
                                          </p:val>
                                        </p:tav>
                                      </p:tavLst>
                                    </p:anim>
                                    <p:anim calcmode="lin" valueType="num">
                                      <p:cBhvr additive="base">
                                        <p:cTn id="43" dur="350" fill="hold"/>
                                        <p:tgtEl>
                                          <p:spTgt spid="12"/>
                                        </p:tgtEl>
                                        <p:attrNameLst>
                                          <p:attrName>ppt_h</p:attrName>
                                        </p:attrNameLst>
                                      </p:cBhvr>
                                      <p:tavLst>
                                        <p:tav tm="0">
                                          <p:val>
                                            <p:fltVal val="0"/>
                                          </p:val>
                                        </p:tav>
                                        <p:tav tm="100000">
                                          <p:val>
                                            <p:strVal val="#ppt_h"/>
                                          </p:val>
                                        </p:tav>
                                      </p:tavLst>
                                    </p:anim>
                                    <p:animEffect transition="in" filter="fade">
                                      <p:cBhvr>
                                        <p:cTn id="44" dur="350"/>
                                        <p:tgtEl>
                                          <p:spTgt spid="12"/>
                                        </p:tgtEl>
                                      </p:cBhvr>
                                    </p:animEffect>
                                  </p:childTnLst>
                                </p:cTn>
                              </p:par>
                            </p:childTnLst>
                          </p:cTn>
                        </p:par>
                      </p:childTnLst>
                    </p:cTn>
                  </p:par>
                  <p:par>
                    <p:cTn id="96" fill="hold">
                      <p:stCondLst>
                        <p:cond delay="indefinite"/>
                      </p:stCondLst>
                      <p:childTnLst>
                        <p:par>
                          <p:cTn id="89"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 calcmode="lin" valueType="num">
                                      <p:cBhvr additive="base">
                                        <p:cTn id="57" dur="500" fill="hold"/>
                                        <p:tgtEl>
                                          <p:spTgt spid="13"/>
                                        </p:tgtEl>
                                        <p:attrNameLst>
                                          <p:attrName>ppt_w</p:attrName>
                                        </p:attrNameLst>
                                      </p:cBhvr>
                                      <p:tavLst>
                                        <p:tav tm="0">
                                          <p:val>
                                            <p:fltVal val="0"/>
                                          </p:val>
                                        </p:tav>
                                        <p:tav tm="100000">
                                          <p:val>
                                            <p:strVal val="#ppt_w"/>
                                          </p:val>
                                        </p:tav>
                                      </p:tavLst>
                                    </p:anim>
                                    <p:anim calcmode="lin" valueType="num">
                                      <p:cBhvr additive="base">
                                        <p:cTn id="58" dur="500" fill="hold"/>
                                        <p:tgtEl>
                                          <p:spTgt spid="13"/>
                                        </p:tgtEl>
                                        <p:attrNameLst>
                                          <p:attrName>ppt_h</p:attrName>
                                        </p:attrNameLst>
                                      </p:cBhvr>
                                      <p:tavLst>
                                        <p:tav tm="0">
                                          <p:val>
                                            <p:fltVal val="0"/>
                                          </p:val>
                                        </p:tav>
                                        <p:tav tm="100000">
                                          <p:val>
                                            <p:strVal val="#ppt_h"/>
                                          </p:val>
                                        </p:tav>
                                      </p:tavLst>
                                    </p:anim>
                                    <p:animEffect transition="in" filter="fade">
                                      <p:cBhvr>
                                        <p:cTn id="59" dur="500"/>
                                        <p:tgtEl>
                                          <p:spTgt spid="1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par>
                          <p:cTn id="90" fill="hold">
                            <p:stCondLst>
                              <p:cond delay="500"/>
                            </p:stCondLst>
                            <p:childTnLst>
                              <p:par>
                                <p:cTn id="63" presetID="10" presetClass="entr" presetSubtype="0" fill="hold" grpId="0" nodeType="after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400"/>
                                        <p:tgtEl>
                                          <p:spTgt spid="15"/>
                                        </p:tgtEl>
                                      </p:cBhvr>
                                    </p:animEffect>
                                  </p:childTnLst>
                                </p:cTn>
                              </p:par>
                            </p:childTnLst>
                          </p:cTn>
                        </p:par>
                        <p:par>
                          <p:cTn id="91" fill="hold">
                            <p:stCondLst>
                              <p:cond delay="900"/>
                            </p:stCondLst>
                            <p:childTnLst>
                              <p:par>
                                <p:cTn id="66" presetID="22" presetClass="entr" presetSubtype="2" fill="hold" grpId="0"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right)">
                                      <p:cBhvr>
                                        <p:cTn id="68" dur="900"/>
                                        <p:tgtEl>
                                          <p:spTgt spid="16"/>
                                        </p:tgtEl>
                                      </p:cBhvr>
                                    </p:animEffect>
                                  </p:childTnLst>
                                </p:cTn>
                              </p:par>
                            </p:childTnLst>
                          </p:cTn>
                        </p:par>
                        <p:par>
                          <p:cTn id="92" fill="hold">
                            <p:stCondLst>
                              <p:cond delay="1800"/>
                            </p:stCondLst>
                            <p:childTnLst>
                              <p:par>
                                <p:cTn id="69" presetID="53" presetClass="entr" presetSubtype="16" fill="hold" grpId="0" nodeType="after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350" fill="hold"/>
                                        <p:tgtEl>
                                          <p:spTgt spid="17"/>
                                        </p:tgtEl>
                                        <p:attrNameLst>
                                          <p:attrName>ppt_w</p:attrName>
                                        </p:attrNameLst>
                                      </p:cBhvr>
                                      <p:tavLst>
                                        <p:tav tm="0">
                                          <p:val>
                                            <p:fltVal val="0"/>
                                          </p:val>
                                        </p:tav>
                                        <p:tav tm="100000">
                                          <p:val>
                                            <p:strVal val="#ppt_w"/>
                                          </p:val>
                                        </p:tav>
                                      </p:tavLst>
                                    </p:anim>
                                    <p:anim calcmode="lin" valueType="num">
                                      <p:cBhvr additive="base">
                                        <p:cTn id="72" dur="350" fill="hold"/>
                                        <p:tgtEl>
                                          <p:spTgt spid="17"/>
                                        </p:tgtEl>
                                        <p:attrNameLst>
                                          <p:attrName>ppt_h</p:attrName>
                                        </p:attrNameLst>
                                      </p:cBhvr>
                                      <p:tavLst>
                                        <p:tav tm="0">
                                          <p:val>
                                            <p:fltVal val="0"/>
                                          </p:val>
                                        </p:tav>
                                        <p:tav tm="100000">
                                          <p:val>
                                            <p:strVal val="#ppt_h"/>
                                          </p:val>
                                        </p:tav>
                                      </p:tavLst>
                                    </p:anim>
                                    <p:animEffect transition="in" filter="fade">
                                      <p:cBhvr>
                                        <p:cTn id="73" dur="350"/>
                                        <p:tgtEl>
                                          <p:spTgt spid="17"/>
                                        </p:tgtEl>
                                      </p:cBhvr>
                                    </p:animEffect>
                                  </p:childTnLst>
                                </p:cTn>
                              </p:par>
                            </p:childTnLst>
                          </p:cTn>
                        </p:par>
                        <p:par>
                          <p:cTn id="93" fill="hold">
                            <p:stCondLst>
                              <p:cond delay="2150"/>
                            </p:stCondLst>
                            <p:childTnLst>
                              <p:par>
                                <p:cTn id="74" presetID="53" presetClass="entr" presetSubtype="16" fill="hold" grpId="0" nodeType="after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350" fill="hold"/>
                                        <p:tgtEl>
                                          <p:spTgt spid="18"/>
                                        </p:tgtEl>
                                        <p:attrNameLst>
                                          <p:attrName>ppt_w</p:attrName>
                                        </p:attrNameLst>
                                      </p:cBhvr>
                                      <p:tavLst>
                                        <p:tav tm="0">
                                          <p:val>
                                            <p:fltVal val="0"/>
                                          </p:val>
                                        </p:tav>
                                        <p:tav tm="100000">
                                          <p:val>
                                            <p:strVal val="#ppt_w"/>
                                          </p:val>
                                        </p:tav>
                                      </p:tavLst>
                                    </p:anim>
                                    <p:anim calcmode="lin" valueType="num">
                                      <p:cBhvr additive="base">
                                        <p:cTn id="77" dur="350" fill="hold"/>
                                        <p:tgtEl>
                                          <p:spTgt spid="18"/>
                                        </p:tgtEl>
                                        <p:attrNameLst>
                                          <p:attrName>ppt_h</p:attrName>
                                        </p:attrNameLst>
                                      </p:cBhvr>
                                      <p:tavLst>
                                        <p:tav tm="0">
                                          <p:val>
                                            <p:fltVal val="0"/>
                                          </p:val>
                                        </p:tav>
                                        <p:tav tm="100000">
                                          <p:val>
                                            <p:strVal val="#ppt_h"/>
                                          </p:val>
                                        </p:tav>
                                      </p:tavLst>
                                    </p:anim>
                                    <p:animEffect transition="in" filter="fade">
                                      <p:cBhvr>
                                        <p:cTn id="78" dur="350"/>
                                        <p:tgtEl>
                                          <p:spTgt spid="18"/>
                                        </p:tgtEl>
                                      </p:cBhvr>
                                    </p:animEffect>
                                  </p:childTnLst>
                                </p:cTn>
                              </p:par>
                            </p:childTnLst>
                          </p:cTn>
                        </p:par>
                        <p:par>
                          <p:cTn id="94" fill="hold">
                            <p:stCondLst>
                              <p:cond delay="2500"/>
                            </p:stCondLst>
                            <p:childTnLst>
                              <p:par>
                                <p:cTn id="79" presetID="53" presetClass="entr" presetSubtype="16" fill="hold" grpId="0" nodeType="after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350" fill="hold"/>
                                        <p:tgtEl>
                                          <p:spTgt spid="19"/>
                                        </p:tgtEl>
                                        <p:attrNameLst>
                                          <p:attrName>ppt_w</p:attrName>
                                        </p:attrNameLst>
                                      </p:cBhvr>
                                      <p:tavLst>
                                        <p:tav tm="0">
                                          <p:val>
                                            <p:fltVal val="0"/>
                                          </p:val>
                                        </p:tav>
                                        <p:tav tm="100000">
                                          <p:val>
                                            <p:strVal val="#ppt_w"/>
                                          </p:val>
                                        </p:tav>
                                      </p:tavLst>
                                    </p:anim>
                                    <p:anim calcmode="lin" valueType="num">
                                      <p:cBhvr additive="base">
                                        <p:cTn id="82" dur="350" fill="hold"/>
                                        <p:tgtEl>
                                          <p:spTgt spid="19"/>
                                        </p:tgtEl>
                                        <p:attrNameLst>
                                          <p:attrName>ppt_h</p:attrName>
                                        </p:attrNameLst>
                                      </p:cBhvr>
                                      <p:tavLst>
                                        <p:tav tm="0">
                                          <p:val>
                                            <p:fltVal val="0"/>
                                          </p:val>
                                        </p:tav>
                                        <p:tav tm="100000">
                                          <p:val>
                                            <p:strVal val="#ppt_h"/>
                                          </p:val>
                                        </p:tav>
                                      </p:tavLst>
                                    </p:anim>
                                    <p:animEffect transition="in" filter="fade">
                                      <p:cBhvr>
                                        <p:cTn id="83" dur="350"/>
                                        <p:tgtEl>
                                          <p:spTgt spid="19"/>
                                        </p:tgtEl>
                                      </p:cBhvr>
                                    </p:animEffect>
                                  </p:childTnLst>
                                </p:cTn>
                              </p:par>
                            </p:childTnLst>
                          </p:cTn>
                        </p:par>
                        <p:par>
                          <p:cTn id="95" fill="hold">
                            <p:stCondLst>
                              <p:cond delay="285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additive="base">
                                        <p:cTn id="86" dur="350" fill="hold"/>
                                        <p:tgtEl>
                                          <p:spTgt spid="20"/>
                                        </p:tgtEl>
                                        <p:attrNameLst>
                                          <p:attrName>ppt_w</p:attrName>
                                        </p:attrNameLst>
                                      </p:cBhvr>
                                      <p:tavLst>
                                        <p:tav tm="0">
                                          <p:val>
                                            <p:fltVal val="0"/>
                                          </p:val>
                                        </p:tav>
                                        <p:tav tm="100000">
                                          <p:val>
                                            <p:strVal val="#ppt_w"/>
                                          </p:val>
                                        </p:tav>
                                      </p:tavLst>
                                    </p:anim>
                                    <p:anim calcmode="lin" valueType="num">
                                      <p:cBhvr additive="base">
                                        <p:cTn id="87" dur="350" fill="hold"/>
                                        <p:tgtEl>
                                          <p:spTgt spid="20"/>
                                        </p:tgtEl>
                                        <p:attrNameLst>
                                          <p:attrName>ppt_h</p:attrName>
                                        </p:attrNameLst>
                                      </p:cBhvr>
                                      <p:tavLst>
                                        <p:tav tm="0">
                                          <p:val>
                                            <p:fltVal val="0"/>
                                          </p:val>
                                        </p:tav>
                                        <p:tav tm="100000">
                                          <p:val>
                                            <p:strVal val="#ppt_h"/>
                                          </p:val>
                                        </p:tav>
                                      </p:tavLst>
                                    </p:anim>
                                    <p:animEffect transition="in" filter="fade">
                                      <p:cBhvr>
                                        <p:cTn id="88" dur="350"/>
                                        <p:tgtEl>
                                          <p:spTgt spid="20"/>
                                        </p:tgtEl>
                                      </p:cBhvr>
                                    </p:animEffect>
                                  </p:childTnLst>
                                </p:cTn>
                              </p:par>
                            </p:childTnLst>
                          </p:cTn>
                        </p:par>
                      </p:childTnLst>
                    </p:cTn>
                  </p:par>
                  <p:par>
                    <p:cTn id="106" fill="hold">
                      <p:stCondLst>
                        <p:cond delay="indefinite"/>
                      </p:stCondLst>
                      <p:childTnLst>
                        <p:par>
                          <p:cTn id="105" fill="hold">
                            <p:stCondLst>
                              <p:cond delay="0"/>
                            </p:stCondLst>
                            <p:childTnLst>
                              <p:par>
                                <p:cTn id="97" presetID="53" presetClass="entr" presetSubtype="16" fill="hold" grpId="0" nodeType="clickEffect">
                                  <p:stCondLst>
                                    <p:cond delay="0"/>
                                  </p:stCondLst>
                                  <p:childTnLst>
                                    <p:set>
                                      <p:cBhvr>
                                        <p:cTn id="98" dur="1" fill="hold">
                                          <p:stCondLst>
                                            <p:cond delay="0"/>
                                          </p:stCondLst>
                                        </p:cTn>
                                        <p:tgtEl>
                                          <p:spTgt spid="21"/>
                                        </p:tgtEl>
                                        <p:attrNameLst>
                                          <p:attrName>style.visibility</p:attrName>
                                        </p:attrNameLst>
                                      </p:cBhvr>
                                      <p:to>
                                        <p:strVal val="visible"/>
                                      </p:to>
                                    </p:set>
                                    <p:anim calcmode="lin" valueType="num">
                                      <p:cBhvr additive="base">
                                        <p:cTn id="99" dur="500" fill="hold"/>
                                        <p:tgtEl>
                                          <p:spTgt spid="21"/>
                                        </p:tgtEl>
                                        <p:attrNameLst>
                                          <p:attrName>ppt_w</p:attrName>
                                        </p:attrNameLst>
                                      </p:cBhvr>
                                      <p:tavLst>
                                        <p:tav tm="0">
                                          <p:val>
                                            <p:fltVal val="0"/>
                                          </p:val>
                                        </p:tav>
                                        <p:tav tm="100000">
                                          <p:val>
                                            <p:strVal val="#ppt_w"/>
                                          </p:val>
                                        </p:tav>
                                      </p:tavLst>
                                    </p:anim>
                                    <p:anim calcmode="lin" valueType="num">
                                      <p:cBhvr additive="base">
                                        <p:cTn id="100" dur="500" fill="hold"/>
                                        <p:tgtEl>
                                          <p:spTgt spid="21"/>
                                        </p:tgtEl>
                                        <p:attrNameLst>
                                          <p:attrName>ppt_h</p:attrName>
                                        </p:attrNameLst>
                                      </p:cBhvr>
                                      <p:tavLst>
                                        <p:tav tm="0">
                                          <p:val>
                                            <p:fltVal val="0"/>
                                          </p:val>
                                        </p:tav>
                                        <p:tav tm="100000">
                                          <p:val>
                                            <p:strVal val="#ppt_h"/>
                                          </p:val>
                                        </p:tav>
                                      </p:tavLst>
                                    </p:anim>
                                    <p:animEffect transition="in" filter="fade">
                                      <p:cBhvr>
                                        <p:cTn id="101" dur="500"/>
                                        <p:tgtEl>
                                          <p:spTgt spid="2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fade">
                                      <p:cBhvr>
                                        <p:cTn id="10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2" name=""/>
        <p:cNvGrpSpPr/>
        <p:nvPr/>
      </p:nvGrpSpPr>
      <p:grpSpPr>
        <a:xfrm>
          <a:off x="0" y="0"/>
          <a:ext cx="0" cy="0"/>
          <a:chOff x="0" y="0"/>
          <a:chExt cx="0" cy="0"/>
        </a:xfrm>
      </p:grpSpPr>
      <p:sp>
        <p:nvSpPr>
          <p:cNvPr id="3" name="anim_25_313"/>
          <p:cNvSpPr/>
          <p:nvPr/>
        </p:nvSpPr>
        <p:spPr>
          <a:xfrm>
            <a:off x="6355080" y="502920"/>
            <a:ext cx="5394960" cy="868680"/>
          </a:xfrm>
          <a:prstGeom prst="roundRect">
            <a:avLst>
              <a:gd name="adj" fmla="val 49474"/>
            </a:avLst>
          </a:prstGeom>
          <a:solidFill>
            <a:srgbClr val="0F9D8E"/>
          </a:solidFill>
          <a:ln/>
          <a:effectLst>
            <a:outerShdw sx="100000" sy="100000" kx="0" ky="0" algn="bl" rotWithShape="0" blurRad="152400" dist="50800" dir="5400000">
              <a:srgbClr val="1F4F8A">
                <a:alpha val="18000"/>
              </a:srgbClr>
            </a:outerShdw>
          </a:effectLst>
        </p:spPr>
        <p:txBody>
          <a:bodyPr wrap="square" lIns="274320" tIns="0" rIns="1051560" bIns="0" rtlCol="0" anchor="ctr"/>
          <a:lstStyle/>
          <a:p>
            <a:pPr rtl="1" algn="r" indent="0" marL="0">
              <a:buNone/>
            </a:pPr>
            <a:r>
              <a:rPr lang="ar-KW" altLang="en-US" sz="3600" b="1" dirty="0">
                <a:solidFill>
                  <a:srgbClr val="FFFFFF"/>
                </a:solidFill>
                <a:latin typeface="Arial" pitchFamily="34" charset="0"/>
                <a:ea typeface="Arial" pitchFamily="34" charset="-122"/>
                <a:cs typeface="Arial" pitchFamily="34" charset="-120"/>
              </a:rPr>
              <a:t>أنت الكيميائي</a:t>
            </a:r>
            <a:endParaRPr lang="ar-KW" sz="3600" dirty="0"/>
          </a:p>
        </p:txBody>
      </p:sp>
      <p:pic>
        <p:nvPicPr>
          <p:cNvPr id="4" name="anim_25_314" descr="sp_teal.png">    </p:cNvPr>
          <p:cNvPicPr>
            <a:picLocks noChangeAspect="1"/>
          </p:cNvPicPr>
          <p:nvPr/>
        </p:nvPicPr>
        <p:blipFill>
          <a:blip r:embed="rId1"/>
          <a:stretch>
            <a:fillRect/>
          </a:stretch>
        </p:blipFill>
        <p:spPr>
          <a:xfrm>
            <a:off x="10835640" y="384048"/>
            <a:ext cx="1097280" cy="1097280"/>
          </a:xfrm>
          <a:prstGeom prst="rect">
            <a:avLst/>
          </a:prstGeom>
        </p:spPr>
      </p:pic>
      <p:pic>
        <p:nvPicPr>
          <p:cNvPr id="5" name="anim_25_315" descr="badge_chem.png">    </p:cNvPr>
          <p:cNvPicPr>
            <a:picLocks noChangeAspect="1"/>
          </p:cNvPicPr>
          <p:nvPr/>
        </p:nvPicPr>
        <p:blipFill>
          <a:blip r:embed="rId2"/>
          <a:stretch>
            <a:fillRect/>
          </a:stretch>
        </p:blipFill>
        <p:spPr>
          <a:xfrm>
            <a:off x="4937760" y="292608"/>
            <a:ext cx="1280160" cy="1280160"/>
          </a:xfrm>
          <a:prstGeom prst="rect">
            <a:avLst/>
          </a:prstGeom>
        </p:spPr>
      </p:pic>
      <p:sp>
        <p:nvSpPr>
          <p:cNvPr id="6" name="anim_25_316"/>
          <p:cNvSpPr txBox="1"/>
          <p:nvPr/>
        </p:nvSpPr>
        <p:spPr>
          <a:xfrm>
            <a:off x="457200" y="1645920"/>
            <a:ext cx="11292840" cy="640080"/>
          </a:xfrm>
          <a:prstGeom prst="rect">
            <a:avLst/>
          </a:prstGeom>
          <a:noFill/>
          <a:ln/>
        </p:spPr>
        <p:txBody>
          <a:bodyPr wrap="square" lIns="50800" tIns="50800" rIns="50800" bIns="50800" rtlCol="0" anchor="t"/>
          <a:lstStyle/>
          <a:p>
            <a:pPr rtl="1" algn="r" indent="0" marL="0">
              <a:lnSpc>
                <a:spcPct val="105000"/>
              </a:lnSpc>
              <a:spcAft>
                <a:spcPts val="600"/>
              </a:spcAft>
              <a:buNone/>
            </a:pPr>
            <a:r>
              <a:rPr lang="ar-KW" altLang="en-US" sz="2800" b="1" dirty="0">
                <a:solidFill>
                  <a:srgbClr val="1F6FB2"/>
                </a:solidFill>
                <a:latin typeface="Arial" pitchFamily="34" charset="0"/>
                <a:ea typeface="Arial" pitchFamily="34" charset="-122"/>
                <a:cs typeface="Arial" pitchFamily="34" charset="-120"/>
              </a:rPr>
              <a:t>السؤال الثالث: أجب عما يلي:</a:t>
            </a:r>
            <a:endParaRPr lang="ar-KW" sz="2800" dirty="0"/>
          </a:p>
        </p:txBody>
      </p:sp>
      <p:sp>
        <p:nvSpPr>
          <p:cNvPr id="7" name="anim_25_317"/>
          <p:cNvSpPr/>
          <p:nvPr/>
        </p:nvSpPr>
        <p:spPr>
          <a:xfrm>
            <a:off x="4206240" y="2331720"/>
            <a:ext cx="7543800" cy="1920240"/>
          </a:xfrm>
          <a:prstGeom prst="roundRect">
            <a:avLst>
              <a:gd name="adj" fmla="val 14286"/>
            </a:avLst>
          </a:prstGeom>
          <a:solidFill>
            <a:srgbClr val="FFFFFF"/>
          </a:solidFill>
          <a:ln/>
          <a:effectLst>
            <a:outerShdw sx="100000" sy="100000" kx="0" ky="0" algn="bl" rotWithShape="0" blurRad="152400" dist="50800" dir="5400000">
              <a:srgbClr val="1F4F8A">
                <a:alpha val="18000"/>
              </a:srgbClr>
            </a:outerShdw>
          </a:effectLst>
        </p:spPr>
      </p:sp>
      <p:sp>
        <p:nvSpPr>
          <p:cNvPr id="8" name="anim_25_318"/>
          <p:cNvSpPr txBox="1"/>
          <p:nvPr/>
        </p:nvSpPr>
        <p:spPr>
          <a:xfrm>
            <a:off x="4389120" y="2377440"/>
            <a:ext cx="7223760" cy="1828800"/>
          </a:xfrm>
          <a:prstGeom prst="rect">
            <a:avLst/>
          </a:prstGeom>
          <a:noFill/>
          <a:ln/>
        </p:spPr>
        <p:txBody>
          <a:bodyPr wrap="square" lIns="50800" tIns="50800" rIns="50800" bIns="50800" rtlCol="0" anchor="ctr"/>
          <a:lstStyle/>
          <a:p>
            <a:pPr rtl="1" algn="r" indent="0" marL="0">
              <a:lnSpc>
                <a:spcPct val="105000"/>
              </a:lnSpc>
              <a:spcAft>
                <a:spcPts val="600"/>
              </a:spcAft>
              <a:buNone/>
            </a:pPr>
            <a:r>
              <a:rPr lang="ar-KW" altLang="en-US" sz="2300" b="1" dirty="0">
                <a:solidFill>
                  <a:srgbClr val="16325C"/>
                </a:solidFill>
                <a:latin typeface="Arial" pitchFamily="34" charset="0"/>
                <a:ea typeface="Arial" pitchFamily="34" charset="-122"/>
                <a:cs typeface="Arial" pitchFamily="34" charset="-120"/>
              </a:rPr>
              <a:t>إذا كان الترتيب الإلكتروني النقطي لأحد العناصر المُمَثِّلة يحتوي على ثلاثة نقاط فقط حول الرمز، فكيف يمكنك استخدام هذه المعلومة للتنبؤ بعدد الإلكترونات في مستوى التكافؤ – رقم المجموعة – عدد الإلكترونات المفقودة أو المكتسبة؟</a:t>
            </a:r>
            <a:endParaRPr lang="ar-KW" sz="2300" dirty="0"/>
          </a:p>
        </p:txBody>
      </p:sp>
      <p:pic>
        <p:nvPicPr>
          <p:cNvPr id="9" name="anim_25_319" descr="sp_purple.png">    </p:cNvPr>
          <p:cNvPicPr>
            <a:picLocks noChangeAspect="1"/>
          </p:cNvPicPr>
          <p:nvPr/>
        </p:nvPicPr>
        <p:blipFill>
          <a:blip r:embed="rId3"/>
          <a:stretch>
            <a:fillRect/>
          </a:stretch>
        </p:blipFill>
        <p:spPr>
          <a:xfrm>
            <a:off x="914400" y="2148840"/>
            <a:ext cx="2377440" cy="2377440"/>
          </a:xfrm>
          <a:prstGeom prst="rect">
            <a:avLst/>
          </a:prstGeom>
        </p:spPr>
      </p:pic>
      <p:sp>
        <p:nvSpPr>
          <p:cNvPr id="10" name="anim_25_320"/>
          <p:cNvSpPr txBox="1"/>
          <p:nvPr/>
        </p:nvSpPr>
        <p:spPr>
          <a:xfrm>
            <a:off x="914400" y="2148840"/>
            <a:ext cx="2377440" cy="2377440"/>
          </a:xfrm>
          <a:prstGeom prst="rect">
            <a:avLst/>
          </a:prstGeom>
          <a:noFill/>
          <a:ln/>
        </p:spPr>
        <p:txBody>
          <a:bodyPr wrap="square" lIns="0" tIns="0" rIns="0" bIns="0" rtlCol="0" anchor="ctr"/>
          <a:lstStyle/>
          <a:p>
            <a:pPr rtl="0" algn="ctr" indent="0" marL="0">
              <a:lnSpc>
                <a:spcPct val="105000"/>
              </a:lnSpc>
              <a:spcAft>
                <a:spcPts val="600"/>
              </a:spcAft>
              <a:buNone/>
            </a:pPr>
            <a:r>
              <a:rPr lang="en-US" altLang="en-US" sz="8000" b="1" dirty="0">
                <a:solidFill>
                  <a:srgbClr val="FFFFFF"/>
                </a:solidFill>
                <a:latin typeface="Arial" pitchFamily="34" charset="0"/>
                <a:ea typeface="Arial" pitchFamily="34" charset="-122"/>
                <a:cs typeface="Arial" pitchFamily="34" charset="-120"/>
              </a:rPr>
              <a:t>X</a:t>
            </a:r>
            <a:endParaRPr lang="en-US" sz="8000" dirty="0"/>
          </a:p>
        </p:txBody>
      </p:sp>
      <p:pic>
        <p:nvPicPr>
          <p:cNvPr id="11" name="anim_25_321" descr="sp_coral.png">    </p:cNvPr>
          <p:cNvPicPr>
            <a:picLocks noChangeAspect="1"/>
          </p:cNvPicPr>
          <p:nvPr/>
        </p:nvPicPr>
        <p:blipFill>
          <a:blip r:embed="rId4"/>
          <a:stretch>
            <a:fillRect/>
          </a:stretch>
        </p:blipFill>
        <p:spPr>
          <a:xfrm>
            <a:off x="1965960" y="1874520"/>
            <a:ext cx="292608" cy="292608"/>
          </a:xfrm>
          <a:prstGeom prst="rect">
            <a:avLst/>
          </a:prstGeom>
        </p:spPr>
      </p:pic>
      <p:pic>
        <p:nvPicPr>
          <p:cNvPr id="12" name="anim_25_322" descr="sp_coral.png">    </p:cNvPr>
          <p:cNvPicPr>
            <a:picLocks noChangeAspect="1"/>
          </p:cNvPicPr>
          <p:nvPr/>
        </p:nvPicPr>
        <p:blipFill>
          <a:blip r:embed="rId5"/>
          <a:stretch>
            <a:fillRect/>
          </a:stretch>
        </p:blipFill>
        <p:spPr>
          <a:xfrm>
            <a:off x="3429000" y="3200400"/>
            <a:ext cx="292608" cy="292608"/>
          </a:xfrm>
          <a:prstGeom prst="rect">
            <a:avLst/>
          </a:prstGeom>
        </p:spPr>
      </p:pic>
      <p:pic>
        <p:nvPicPr>
          <p:cNvPr id="13" name="anim_25_323" descr="sp_coral.png">    </p:cNvPr>
          <p:cNvPicPr>
            <a:picLocks noChangeAspect="1"/>
          </p:cNvPicPr>
          <p:nvPr/>
        </p:nvPicPr>
        <p:blipFill>
          <a:blip r:embed="rId6"/>
          <a:stretch>
            <a:fillRect/>
          </a:stretch>
        </p:blipFill>
        <p:spPr>
          <a:xfrm>
            <a:off x="548640" y="3200400"/>
            <a:ext cx="292608" cy="292608"/>
          </a:xfrm>
          <a:prstGeom prst="rect">
            <a:avLst/>
          </a:prstGeom>
        </p:spPr>
      </p:pic>
      <p:sp>
        <p:nvSpPr>
          <p:cNvPr id="14" name="anim_25_324"/>
          <p:cNvSpPr/>
          <p:nvPr/>
        </p:nvSpPr>
        <p:spPr>
          <a:xfrm>
            <a:off x="8092440" y="4572000"/>
            <a:ext cx="3657600" cy="1417320"/>
          </a:xfrm>
          <a:prstGeom prst="roundRect">
            <a:avLst>
              <a:gd name="adj" fmla="val 19355"/>
            </a:avLst>
          </a:prstGeom>
          <a:solidFill>
            <a:srgbClr val="E7F7EF"/>
          </a:solidFill>
          <a:ln w="38100">
            <a:solidFill>
              <a:srgbClr val="7CCFA6"/>
            </a:solidFill>
            <a:prstDash val="solid"/>
          </a:ln>
          <a:effectLst>
            <a:outerShdw sx="100000" sy="100000" kx="0" ky="0" algn="bl" rotWithShape="0" blurRad="152400" dist="50800" dir="5400000">
              <a:srgbClr val="1F4F8A">
                <a:alpha val="18000"/>
              </a:srgbClr>
            </a:outerShdw>
          </a:effectLst>
        </p:spPr>
      </p:sp>
      <p:sp>
        <p:nvSpPr>
          <p:cNvPr id="15" name="anim_25_325"/>
          <p:cNvSpPr txBox="1"/>
          <p:nvPr/>
        </p:nvSpPr>
        <p:spPr>
          <a:xfrm>
            <a:off x="8183880" y="4617720"/>
            <a:ext cx="3474720" cy="731520"/>
          </a:xfrm>
          <a:prstGeom prst="rect">
            <a:avLst/>
          </a:prstGeom>
          <a:noFill/>
          <a:ln/>
        </p:spPr>
        <p:txBody>
          <a:bodyPr wrap="square" lIns="50800" tIns="50800" rIns="50800" bIns="50800" rtlCol="0" anchor="ctr"/>
          <a:lstStyle/>
          <a:p>
            <a:pPr rtl="1" algn="ctr" indent="0" marL="0">
              <a:lnSpc>
                <a:spcPct val="105000"/>
              </a:lnSpc>
              <a:spcAft>
                <a:spcPts val="600"/>
              </a:spcAft>
              <a:buNone/>
            </a:pPr>
            <a:r>
              <a:rPr lang="ar-KW" altLang="en-US" sz="2000" b="1" dirty="0">
                <a:solidFill>
                  <a:srgbClr val="16325C"/>
                </a:solidFill>
                <a:latin typeface="Arial" pitchFamily="34" charset="0"/>
                <a:ea typeface="Arial" pitchFamily="34" charset="-122"/>
                <a:cs typeface="Arial" pitchFamily="34" charset="-120"/>
              </a:rPr>
              <a:t>عدد الإلكترونات في مستوى التكافؤ</a:t>
            </a:r>
            <a:endParaRPr lang="ar-KW" sz="2000" dirty="0"/>
          </a:p>
        </p:txBody>
      </p:sp>
      <p:sp>
        <p:nvSpPr>
          <p:cNvPr id="16" name="anim_25_326"/>
          <p:cNvSpPr txBox="1"/>
          <p:nvPr/>
        </p:nvSpPr>
        <p:spPr>
          <a:xfrm>
            <a:off x="8183880" y="5257800"/>
            <a:ext cx="3474720" cy="68580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600" b="1" dirty="0">
                <a:solidFill>
                  <a:srgbClr val="0B8A5A"/>
                </a:solidFill>
                <a:latin typeface="Arial" pitchFamily="34" charset="0"/>
                <a:ea typeface="Arial" pitchFamily="34" charset="-122"/>
                <a:cs typeface="Arial" pitchFamily="34" charset="-120"/>
              </a:rPr>
              <a:t>3</a:t>
            </a:r>
            <a:endParaRPr lang="en-US" sz="3600" dirty="0"/>
          </a:p>
        </p:txBody>
      </p:sp>
      <p:sp>
        <p:nvSpPr>
          <p:cNvPr id="17" name="anim_25_327"/>
          <p:cNvSpPr/>
          <p:nvPr/>
        </p:nvSpPr>
        <p:spPr>
          <a:xfrm>
            <a:off x="4297680" y="4572000"/>
            <a:ext cx="3657600" cy="1417320"/>
          </a:xfrm>
          <a:prstGeom prst="roundRect">
            <a:avLst>
              <a:gd name="adj" fmla="val 19355"/>
            </a:avLst>
          </a:prstGeom>
          <a:solidFill>
            <a:srgbClr val="E7F7EF"/>
          </a:solidFill>
          <a:ln w="38100">
            <a:solidFill>
              <a:srgbClr val="7CCFA6"/>
            </a:solidFill>
            <a:prstDash val="solid"/>
          </a:ln>
          <a:effectLst>
            <a:outerShdw sx="100000" sy="100000" kx="0" ky="0" algn="bl" rotWithShape="0" blurRad="152400" dist="50800" dir="5400000">
              <a:srgbClr val="1F4F8A">
                <a:alpha val="18000"/>
              </a:srgbClr>
            </a:outerShdw>
          </a:effectLst>
        </p:spPr>
      </p:sp>
      <p:sp>
        <p:nvSpPr>
          <p:cNvPr id="18" name="anim_25_328"/>
          <p:cNvSpPr txBox="1"/>
          <p:nvPr/>
        </p:nvSpPr>
        <p:spPr>
          <a:xfrm>
            <a:off x="4389120" y="4617720"/>
            <a:ext cx="3474720" cy="731520"/>
          </a:xfrm>
          <a:prstGeom prst="rect">
            <a:avLst/>
          </a:prstGeom>
          <a:noFill/>
          <a:ln/>
        </p:spPr>
        <p:txBody>
          <a:bodyPr wrap="square" lIns="50800" tIns="50800" rIns="50800" bIns="50800" rtlCol="0" anchor="ctr"/>
          <a:lstStyle/>
          <a:p>
            <a:pPr rtl="1" algn="ctr" indent="0" marL="0">
              <a:lnSpc>
                <a:spcPct val="105000"/>
              </a:lnSpc>
              <a:spcAft>
                <a:spcPts val="600"/>
              </a:spcAft>
              <a:buNone/>
            </a:pPr>
            <a:r>
              <a:rPr lang="ar-KW" altLang="en-US" sz="2000" b="1" dirty="0">
                <a:solidFill>
                  <a:srgbClr val="16325C"/>
                </a:solidFill>
                <a:latin typeface="Arial" pitchFamily="34" charset="0"/>
                <a:ea typeface="Arial" pitchFamily="34" charset="-122"/>
                <a:cs typeface="Arial" pitchFamily="34" charset="-120"/>
              </a:rPr>
              <a:t>رقم المجموعة</a:t>
            </a:r>
            <a:endParaRPr lang="ar-KW" sz="2000" dirty="0"/>
          </a:p>
        </p:txBody>
      </p:sp>
      <p:sp>
        <p:nvSpPr>
          <p:cNvPr id="19" name="anim_25_329"/>
          <p:cNvSpPr txBox="1"/>
          <p:nvPr/>
        </p:nvSpPr>
        <p:spPr>
          <a:xfrm>
            <a:off x="4389120" y="5257800"/>
            <a:ext cx="3474720" cy="68580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600" b="1" dirty="0">
                <a:solidFill>
                  <a:srgbClr val="0B8A5A"/>
                </a:solidFill>
                <a:latin typeface="Arial" pitchFamily="34" charset="0"/>
                <a:ea typeface="Arial" pitchFamily="34" charset="-122"/>
                <a:cs typeface="Arial" pitchFamily="34" charset="-120"/>
              </a:rPr>
              <a:t>13</a:t>
            </a:r>
            <a:endParaRPr lang="en-US" sz="3600" dirty="0"/>
          </a:p>
        </p:txBody>
      </p:sp>
      <p:sp>
        <p:nvSpPr>
          <p:cNvPr id="20" name="anim_25_330"/>
          <p:cNvSpPr/>
          <p:nvPr/>
        </p:nvSpPr>
        <p:spPr>
          <a:xfrm>
            <a:off x="502920" y="4572000"/>
            <a:ext cx="3657600" cy="1417320"/>
          </a:xfrm>
          <a:prstGeom prst="roundRect">
            <a:avLst>
              <a:gd name="adj" fmla="val 19355"/>
            </a:avLst>
          </a:prstGeom>
          <a:solidFill>
            <a:srgbClr val="E7F7EF"/>
          </a:solidFill>
          <a:ln w="38100">
            <a:solidFill>
              <a:srgbClr val="7CCFA6"/>
            </a:solidFill>
            <a:prstDash val="solid"/>
          </a:ln>
          <a:effectLst>
            <a:outerShdw sx="100000" sy="100000" kx="0" ky="0" algn="bl" rotWithShape="0" blurRad="152400" dist="50800" dir="5400000">
              <a:srgbClr val="1F4F8A">
                <a:alpha val="18000"/>
              </a:srgbClr>
            </a:outerShdw>
          </a:effectLst>
        </p:spPr>
      </p:sp>
      <p:sp>
        <p:nvSpPr>
          <p:cNvPr id="21" name="anim_25_331"/>
          <p:cNvSpPr txBox="1"/>
          <p:nvPr/>
        </p:nvSpPr>
        <p:spPr>
          <a:xfrm>
            <a:off x="594360" y="4617720"/>
            <a:ext cx="3474720" cy="731520"/>
          </a:xfrm>
          <a:prstGeom prst="rect">
            <a:avLst/>
          </a:prstGeom>
          <a:noFill/>
          <a:ln/>
        </p:spPr>
        <p:txBody>
          <a:bodyPr wrap="square" lIns="50800" tIns="50800" rIns="50800" bIns="50800" rtlCol="0" anchor="ctr"/>
          <a:lstStyle/>
          <a:p>
            <a:pPr rtl="1" algn="ctr" indent="0" marL="0">
              <a:lnSpc>
                <a:spcPct val="105000"/>
              </a:lnSpc>
              <a:spcAft>
                <a:spcPts val="600"/>
              </a:spcAft>
              <a:buNone/>
            </a:pPr>
            <a:r>
              <a:rPr lang="ar-KW" altLang="en-US" sz="2000" b="1" dirty="0">
                <a:solidFill>
                  <a:srgbClr val="16325C"/>
                </a:solidFill>
                <a:latin typeface="Arial" pitchFamily="34" charset="0"/>
                <a:ea typeface="Arial" pitchFamily="34" charset="-122"/>
                <a:cs typeface="Arial" pitchFamily="34" charset="-120"/>
              </a:rPr>
              <a:t>عدد الإلكترونات المفقودة</a:t>
            </a:r>
            <a:endParaRPr lang="ar-KW" sz="2000" dirty="0"/>
          </a:p>
        </p:txBody>
      </p:sp>
      <p:sp>
        <p:nvSpPr>
          <p:cNvPr id="22" name="anim_25_332"/>
          <p:cNvSpPr txBox="1"/>
          <p:nvPr/>
        </p:nvSpPr>
        <p:spPr>
          <a:xfrm>
            <a:off x="594360" y="5257800"/>
            <a:ext cx="3474720" cy="685800"/>
          </a:xfrm>
          <a:prstGeom prst="rect">
            <a:avLst/>
          </a:prstGeom>
          <a:noFill/>
          <a:ln/>
        </p:spPr>
        <p:txBody>
          <a:bodyPr wrap="square" lIns="50800" tIns="50800" rIns="50800" bIns="50800" rtlCol="0" anchor="ctr"/>
          <a:lstStyle/>
          <a:p>
            <a:pPr rtl="0" algn="ctr" indent="0" marL="0">
              <a:lnSpc>
                <a:spcPct val="105000"/>
              </a:lnSpc>
              <a:spcAft>
                <a:spcPts val="600"/>
              </a:spcAft>
              <a:buNone/>
            </a:pPr>
            <a:r>
              <a:rPr lang="en-US" altLang="en-US" sz="3600" b="1" dirty="0">
                <a:solidFill>
                  <a:srgbClr val="0B8A5A"/>
                </a:solidFill>
                <a:latin typeface="Arial" pitchFamily="34" charset="0"/>
                <a:ea typeface="Arial" pitchFamily="34" charset="-122"/>
                <a:cs typeface="Arial" pitchFamily="34" charset="-120"/>
              </a:rPr>
              <a:t>3</a:t>
            </a:r>
            <a:endParaRPr lang="en-US" sz="3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59" fill="hold">
                      <p:stCondLst>
                        <p:cond delay="indefinite"/>
                        <p:cond evt="onBegin" delay="0">
                          <p:tn val="2"/>
                        </p:cond>
                      </p:stCondLst>
                      <p:childTnLst>
                        <p:par>
                          <p:cTn id="50" fill="hold">
                            <p:stCondLst>
                              <p:cond delay="0"/>
                            </p:stCondLst>
                            <p:childTnLst>
                              <p:par>
                                <p:cTn id="3" presetID="22" presetClass="entr" presetSubtype="2"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right)">
                                      <p:cBhvr>
                                        <p:cTn id="5" dur="700"/>
                                        <p:tgtEl>
                                          <p:spTgt spid="3"/>
                                        </p:tgtEl>
                                      </p:cBhvr>
                                    </p:animEffect>
                                  </p:childTnLst>
                                </p:cTn>
                              </p:par>
                              <p:par>
                                <p:cTn id="6" presetID="53" presetClass="entr" presetSubtype="16"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600" fill="hold"/>
                                        <p:tgtEl>
                                          <p:spTgt spid="4"/>
                                        </p:tgtEl>
                                        <p:attrNameLst>
                                          <p:attrName>ppt_w</p:attrName>
                                        </p:attrNameLst>
                                      </p:cBhvr>
                                      <p:tavLst>
                                        <p:tav tm="0">
                                          <p:val>
                                            <p:fltVal val="0"/>
                                          </p:val>
                                        </p:tav>
                                        <p:tav tm="100000">
                                          <p:val>
                                            <p:strVal val="#ppt_w"/>
                                          </p:val>
                                        </p:tav>
                                      </p:tavLst>
                                    </p:anim>
                                    <p:anim calcmode="lin" valueType="num">
                                      <p:cBhvr additive="base">
                                        <p:cTn id="9" dur="600" fill="hold"/>
                                        <p:tgtEl>
                                          <p:spTgt spid="4"/>
                                        </p:tgtEl>
                                        <p:attrNameLst>
                                          <p:attrName>ppt_h</p:attrName>
                                        </p:attrNameLst>
                                      </p:cBhvr>
                                      <p:tavLst>
                                        <p:tav tm="0">
                                          <p:val>
                                            <p:fltVal val="0"/>
                                          </p:val>
                                        </p:tav>
                                        <p:tav tm="100000">
                                          <p:val>
                                            <p:strVal val="#ppt_h"/>
                                          </p:val>
                                        </p:tav>
                                      </p:tavLst>
                                    </p:anim>
                                    <p:animEffect transition="in" filter="fade">
                                      <p:cBhvr>
                                        <p:cTn id="10" dur="600"/>
                                        <p:tgtEl>
                                          <p:spTgt spid="4"/>
                                        </p:tgtEl>
                                      </p:cBhvr>
                                    </p:animEffect>
                                  </p:childTnLst>
                                </p:cTn>
                              </p:par>
                            </p:childTnLst>
                          </p:cTn>
                        </p:par>
                        <p:par>
                          <p:cTn id="51" fill="hold">
                            <p:stCondLst>
                              <p:cond delay="8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600" fill="hold"/>
                                        <p:tgtEl>
                                          <p:spTgt spid="5"/>
                                        </p:tgtEl>
                                        <p:attrNameLst>
                                          <p:attrName>ppt_w</p:attrName>
                                        </p:attrNameLst>
                                      </p:cBhvr>
                                      <p:tavLst>
                                        <p:tav tm="0">
                                          <p:val>
                                            <p:fltVal val="0"/>
                                          </p:val>
                                        </p:tav>
                                        <p:tav tm="100000">
                                          <p:val>
                                            <p:strVal val="#ppt_w"/>
                                          </p:val>
                                        </p:tav>
                                      </p:tavLst>
                                    </p:anim>
                                    <p:anim calcmode="lin" valueType="num">
                                      <p:cBhvr additive="base">
                                        <p:cTn id="14" dur="600" fill="hold"/>
                                        <p:tgtEl>
                                          <p:spTgt spid="5"/>
                                        </p:tgtEl>
                                        <p:attrNameLst>
                                          <p:attrName>ppt_h</p:attrName>
                                        </p:attrNameLst>
                                      </p:cBhvr>
                                      <p:tavLst>
                                        <p:tav tm="0">
                                          <p:val>
                                            <p:fltVal val="0"/>
                                          </p:val>
                                        </p:tav>
                                        <p:tav tm="100000">
                                          <p:val>
                                            <p:strVal val="#ppt_h"/>
                                          </p:val>
                                        </p:tav>
                                      </p:tavLst>
                                    </p:anim>
                                    <p:animEffect transition="in" filter="fade">
                                      <p:cBhvr>
                                        <p:cTn id="15" dur="600"/>
                                        <p:tgtEl>
                                          <p:spTgt spid="5"/>
                                        </p:tgtEl>
                                      </p:cBhvr>
                                    </p:animEffect>
                                  </p:childTnLst>
                                </p:cTn>
                              </p:par>
                            </p:childTnLst>
                          </p:cTn>
                        </p:par>
                        <p:par>
                          <p:cTn id="52" fill="hold">
                            <p:stCondLst>
                              <p:cond delay="1400"/>
                            </p:stCondLst>
                            <p:childTnLst>
                              <p:par>
                                <p:cTn id="16" presetID="22" presetClass="entr" presetSubtype="2"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right)">
                                      <p:cBhvr>
                                        <p:cTn id="18" dur="800"/>
                                        <p:tgtEl>
                                          <p:spTgt spid="6"/>
                                        </p:tgtEl>
                                      </p:cBhvr>
                                    </p:animEffect>
                                  </p:childTnLst>
                                </p:cTn>
                              </p:par>
                            </p:childTnLst>
                          </p:cTn>
                        </p:par>
                        <p:par>
                          <p:cTn id="53" fill="hold">
                            <p:stCondLst>
                              <p:cond delay="2200"/>
                            </p:stCondLst>
                            <p:childTnLst>
                              <p:par>
                                <p:cTn id="19" presetID="10"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childTnLst>
                          </p:cTn>
                        </p:par>
                        <p:par>
                          <p:cTn id="54" fill="hold">
                            <p:stCondLst>
                              <p:cond delay="2600"/>
                            </p:stCondLst>
                            <p:childTnLst>
                              <p:par>
                                <p:cTn id="22" presetID="22" presetClass="entr" presetSubtype="2"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right)">
                                      <p:cBhvr>
                                        <p:cTn id="24" dur="1800"/>
                                        <p:tgtEl>
                                          <p:spTgt spid="8"/>
                                        </p:tgtEl>
                                      </p:cBhvr>
                                    </p:animEffect>
                                  </p:childTnLst>
                                </p:cTn>
                              </p:par>
                            </p:childTnLst>
                          </p:cTn>
                        </p:par>
                        <p:par>
                          <p:cTn id="55" fill="hold">
                            <p:stCondLst>
                              <p:cond delay="4400"/>
                            </p:stCondLst>
                            <p:childTnLst>
                              <p:par>
                                <p:cTn id="25" presetID="53" presetClass="entr" presetSubtype="16"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700" fill="hold"/>
                                        <p:tgtEl>
                                          <p:spTgt spid="9"/>
                                        </p:tgtEl>
                                        <p:attrNameLst>
                                          <p:attrName>ppt_w</p:attrName>
                                        </p:attrNameLst>
                                      </p:cBhvr>
                                      <p:tavLst>
                                        <p:tav tm="0">
                                          <p:val>
                                            <p:fltVal val="0"/>
                                          </p:val>
                                        </p:tav>
                                        <p:tav tm="100000">
                                          <p:val>
                                            <p:strVal val="#ppt_w"/>
                                          </p:val>
                                        </p:tav>
                                      </p:tavLst>
                                    </p:anim>
                                    <p:anim calcmode="lin" valueType="num">
                                      <p:cBhvr additive="base">
                                        <p:cTn id="28" dur="700" fill="hold"/>
                                        <p:tgtEl>
                                          <p:spTgt spid="9"/>
                                        </p:tgtEl>
                                        <p:attrNameLst>
                                          <p:attrName>ppt_h</p:attrName>
                                        </p:attrNameLst>
                                      </p:cBhvr>
                                      <p:tavLst>
                                        <p:tav tm="0">
                                          <p:val>
                                            <p:fltVal val="0"/>
                                          </p:val>
                                        </p:tav>
                                        <p:tav tm="100000">
                                          <p:val>
                                            <p:strVal val="#ppt_h"/>
                                          </p:val>
                                        </p:tav>
                                      </p:tavLst>
                                    </p:anim>
                                    <p:animEffect transition="in" filter="fade">
                                      <p:cBhvr>
                                        <p:cTn id="29" dur="700"/>
                                        <p:tgtEl>
                                          <p:spTgt spid="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700" fill="hold"/>
                                        <p:tgtEl>
                                          <p:spTgt spid="10"/>
                                        </p:tgtEl>
                                        <p:attrNameLst>
                                          <p:attrName>ppt_w</p:attrName>
                                        </p:attrNameLst>
                                      </p:cBhvr>
                                      <p:tavLst>
                                        <p:tav tm="0">
                                          <p:val>
                                            <p:fltVal val="0"/>
                                          </p:val>
                                        </p:tav>
                                        <p:tav tm="100000">
                                          <p:val>
                                            <p:strVal val="#ppt_w"/>
                                          </p:val>
                                        </p:tav>
                                      </p:tavLst>
                                    </p:anim>
                                    <p:anim calcmode="lin" valueType="num">
                                      <p:cBhvr additive="base">
                                        <p:cTn id="33" dur="700" fill="hold"/>
                                        <p:tgtEl>
                                          <p:spTgt spid="10"/>
                                        </p:tgtEl>
                                        <p:attrNameLst>
                                          <p:attrName>ppt_h</p:attrName>
                                        </p:attrNameLst>
                                      </p:cBhvr>
                                      <p:tavLst>
                                        <p:tav tm="0">
                                          <p:val>
                                            <p:fltVal val="0"/>
                                          </p:val>
                                        </p:tav>
                                        <p:tav tm="100000">
                                          <p:val>
                                            <p:strVal val="#ppt_h"/>
                                          </p:val>
                                        </p:tav>
                                      </p:tavLst>
                                    </p:anim>
                                    <p:animEffect transition="in" filter="fade">
                                      <p:cBhvr>
                                        <p:cTn id="34" dur="700"/>
                                        <p:tgtEl>
                                          <p:spTgt spid="10"/>
                                        </p:tgtEl>
                                      </p:cBhvr>
                                    </p:animEffect>
                                  </p:childTnLst>
                                </p:cTn>
                              </p:par>
                            </p:childTnLst>
                          </p:cTn>
                        </p:par>
                        <p:par>
                          <p:cTn id="56" fill="hold">
                            <p:stCondLst>
                              <p:cond delay="5100"/>
                            </p:stCondLst>
                            <p:childTnLst>
                              <p:par>
                                <p:cTn id="35" presetID="53" presetClass="entr" presetSubtype="16"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300" fill="hold"/>
                                        <p:tgtEl>
                                          <p:spTgt spid="11"/>
                                        </p:tgtEl>
                                        <p:attrNameLst>
                                          <p:attrName>ppt_w</p:attrName>
                                        </p:attrNameLst>
                                      </p:cBhvr>
                                      <p:tavLst>
                                        <p:tav tm="0">
                                          <p:val>
                                            <p:fltVal val="0"/>
                                          </p:val>
                                        </p:tav>
                                        <p:tav tm="100000">
                                          <p:val>
                                            <p:strVal val="#ppt_w"/>
                                          </p:val>
                                        </p:tav>
                                      </p:tavLst>
                                    </p:anim>
                                    <p:anim calcmode="lin" valueType="num">
                                      <p:cBhvr additive="base">
                                        <p:cTn id="38" dur="300" fill="hold"/>
                                        <p:tgtEl>
                                          <p:spTgt spid="11"/>
                                        </p:tgtEl>
                                        <p:attrNameLst>
                                          <p:attrName>ppt_h</p:attrName>
                                        </p:attrNameLst>
                                      </p:cBhvr>
                                      <p:tavLst>
                                        <p:tav tm="0">
                                          <p:val>
                                            <p:fltVal val="0"/>
                                          </p:val>
                                        </p:tav>
                                        <p:tav tm="100000">
                                          <p:val>
                                            <p:strVal val="#ppt_h"/>
                                          </p:val>
                                        </p:tav>
                                      </p:tavLst>
                                    </p:anim>
                                    <p:animEffect transition="in" filter="fade">
                                      <p:cBhvr>
                                        <p:cTn id="39" dur="300"/>
                                        <p:tgtEl>
                                          <p:spTgt spid="11"/>
                                        </p:tgtEl>
                                      </p:cBhvr>
                                    </p:animEffect>
                                  </p:childTnLst>
                                </p:cTn>
                              </p:par>
                            </p:childTnLst>
                          </p:cTn>
                        </p:par>
                        <p:par>
                          <p:cTn id="57" fill="hold">
                            <p:stCondLst>
                              <p:cond delay="5400"/>
                            </p:stCondLst>
                            <p:childTnLst>
                              <p:par>
                                <p:cTn id="40" presetID="53" presetClass="entr" presetSubtype="16"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300" fill="hold"/>
                                        <p:tgtEl>
                                          <p:spTgt spid="12"/>
                                        </p:tgtEl>
                                        <p:attrNameLst>
                                          <p:attrName>ppt_w</p:attrName>
                                        </p:attrNameLst>
                                      </p:cBhvr>
                                      <p:tavLst>
                                        <p:tav tm="0">
                                          <p:val>
                                            <p:fltVal val="0"/>
                                          </p:val>
                                        </p:tav>
                                        <p:tav tm="100000">
                                          <p:val>
                                            <p:strVal val="#ppt_w"/>
                                          </p:val>
                                        </p:tav>
                                      </p:tavLst>
                                    </p:anim>
                                    <p:anim calcmode="lin" valueType="num">
                                      <p:cBhvr additive="base">
                                        <p:cTn id="43" dur="300" fill="hold"/>
                                        <p:tgtEl>
                                          <p:spTgt spid="12"/>
                                        </p:tgtEl>
                                        <p:attrNameLst>
                                          <p:attrName>ppt_h</p:attrName>
                                        </p:attrNameLst>
                                      </p:cBhvr>
                                      <p:tavLst>
                                        <p:tav tm="0">
                                          <p:val>
                                            <p:fltVal val="0"/>
                                          </p:val>
                                        </p:tav>
                                        <p:tav tm="100000">
                                          <p:val>
                                            <p:strVal val="#ppt_h"/>
                                          </p:val>
                                        </p:tav>
                                      </p:tavLst>
                                    </p:anim>
                                    <p:animEffect transition="in" filter="fade">
                                      <p:cBhvr>
                                        <p:cTn id="44" dur="300"/>
                                        <p:tgtEl>
                                          <p:spTgt spid="12"/>
                                        </p:tgtEl>
                                      </p:cBhvr>
                                    </p:animEffect>
                                  </p:childTnLst>
                                </p:cTn>
                              </p:par>
                            </p:childTnLst>
                          </p:cTn>
                        </p:par>
                        <p:par>
                          <p:cTn id="58" fill="hold">
                            <p:stCondLst>
                              <p:cond delay="5700"/>
                            </p:stCondLst>
                            <p:childTnLst>
                              <p:par>
                                <p:cTn id="45" presetID="53" presetClass="entr" presetSubtype="16"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300" fill="hold"/>
                                        <p:tgtEl>
                                          <p:spTgt spid="13"/>
                                        </p:tgtEl>
                                        <p:attrNameLst>
                                          <p:attrName>ppt_w</p:attrName>
                                        </p:attrNameLst>
                                      </p:cBhvr>
                                      <p:tavLst>
                                        <p:tav tm="0">
                                          <p:val>
                                            <p:fltVal val="0"/>
                                          </p:val>
                                        </p:tav>
                                        <p:tav tm="100000">
                                          <p:val>
                                            <p:strVal val="#ppt_w"/>
                                          </p:val>
                                        </p:tav>
                                      </p:tavLst>
                                    </p:anim>
                                    <p:anim calcmode="lin" valueType="num">
                                      <p:cBhvr additive="base">
                                        <p:cTn id="48" dur="300" fill="hold"/>
                                        <p:tgtEl>
                                          <p:spTgt spid="13"/>
                                        </p:tgtEl>
                                        <p:attrNameLst>
                                          <p:attrName>ppt_h</p:attrName>
                                        </p:attrNameLst>
                                      </p:cBhvr>
                                      <p:tavLst>
                                        <p:tav tm="0">
                                          <p:val>
                                            <p:fltVal val="0"/>
                                          </p:val>
                                        </p:tav>
                                        <p:tav tm="100000">
                                          <p:val>
                                            <p:strVal val="#ppt_h"/>
                                          </p:val>
                                        </p:tav>
                                      </p:tavLst>
                                    </p:anim>
                                    <p:animEffect transition="in" filter="fade">
                                      <p:cBhvr>
                                        <p:cTn id="49" dur="300"/>
                                        <p:tgtEl>
                                          <p:spTgt spid="13"/>
                                        </p:tgtEl>
                                      </p:cBhvr>
                                    </p:animEffect>
                                  </p:childTnLst>
                                </p:cTn>
                              </p:par>
                            </p:childTnLst>
                          </p:cTn>
                        </p:par>
                      </p:childTnLst>
                    </p:cTn>
                  </p:par>
                  <p:par>
                    <p:cTn id="73" fill="hold">
                      <p:stCondLst>
                        <p:cond delay="indefinite"/>
                      </p:stCondLst>
                      <p:childTnLst>
                        <p:par>
                          <p:cTn id="72"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fill="hold"/>
                                        <p:tgtEl>
                                          <p:spTgt spid="14"/>
                                        </p:tgtEl>
                                        <p:attrNameLst>
                                          <p:attrName>ppt_x</p:attrName>
                                        </p:attrNameLst>
                                      </p:cBhvr>
                                      <p:tavLst>
                                        <p:tav tm="0">
                                          <p:val>
                                            <p:strVal val="#ppt_x"/>
                                          </p:val>
                                        </p:tav>
                                        <p:tav tm="100000">
                                          <p:val>
                                            <p:strVal val="#ppt_x"/>
                                          </p:val>
                                        </p:tav>
                                      </p:tavLst>
                                    </p:anim>
                                    <p:anim calcmode="lin" valueType="num">
                                      <p:cBhvr additive="base">
                                        <p:cTn id="63" dur="500" fill="hold"/>
                                        <p:tgtEl>
                                          <p:spTgt spid="14"/>
                                        </p:tgtEl>
                                        <p:attrNameLst>
                                          <p:attrName>ppt_y</p:attrName>
                                        </p:attrNameLst>
                                      </p:cBhvr>
                                      <p:tavLst>
                                        <p:tav tm="0">
                                          <p:val>
                                            <p:strVal val="1+#ppt_h/2"/>
                                          </p:val>
                                        </p:tav>
                                        <p:tav tm="100000">
                                          <p:val>
                                            <p:strVal val="#ppt_y"/>
                                          </p:val>
                                        </p:tav>
                                      </p:tavLst>
                                    </p:anim>
                                  </p:childTnLst>
                                </p:cTn>
                              </p:par>
                              <p:par>
                                <p:cTn id="64" presetID="10"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400"/>
                                        <p:tgtEl>
                                          <p:spTgt spid="15"/>
                                        </p:tgtEl>
                                      </p:cBhvr>
                                    </p:animEffect>
                                  </p:childTnLst>
                                </p:cTn>
                              </p:par>
                              <p:par>
                                <p:cTn id="67" presetID="53" presetClass="entr" presetSubtype="16" fill="hold" grpId="0" nodeType="withEffect">
                                  <p:stCondLst>
                                    <p:cond delay="200"/>
                                  </p:stCondLst>
                                  <p:childTnLst>
                                    <p:set>
                                      <p:cBhvr>
                                        <p:cTn id="68" dur="1" fill="hold">
                                          <p:stCondLst>
                                            <p:cond delay="0"/>
                                          </p:stCondLst>
                                        </p:cTn>
                                        <p:tgtEl>
                                          <p:spTgt spid="16"/>
                                        </p:tgtEl>
                                        <p:attrNameLst>
                                          <p:attrName>style.visibility</p:attrName>
                                        </p:attrNameLst>
                                      </p:cBhvr>
                                      <p:to>
                                        <p:strVal val="visible"/>
                                      </p:to>
                                    </p:set>
                                    <p:anim calcmode="lin" valueType="num">
                                      <p:cBhvr additive="base">
                                        <p:cTn id="69" dur="500" fill="hold"/>
                                        <p:tgtEl>
                                          <p:spTgt spid="16"/>
                                        </p:tgtEl>
                                        <p:attrNameLst>
                                          <p:attrName>ppt_w</p:attrName>
                                        </p:attrNameLst>
                                      </p:cBhvr>
                                      <p:tavLst>
                                        <p:tav tm="0">
                                          <p:val>
                                            <p:fltVal val="0"/>
                                          </p:val>
                                        </p:tav>
                                        <p:tav tm="100000">
                                          <p:val>
                                            <p:strVal val="#ppt_w"/>
                                          </p:val>
                                        </p:tav>
                                      </p:tavLst>
                                    </p:anim>
                                    <p:anim calcmode="lin" valueType="num">
                                      <p:cBhvr additive="base">
                                        <p:cTn id="70" dur="500" fill="hold"/>
                                        <p:tgtEl>
                                          <p:spTgt spid="16"/>
                                        </p:tgtEl>
                                        <p:attrNameLst>
                                          <p:attrName>ppt_h</p:attrName>
                                        </p:attrNameLst>
                                      </p:cBhvr>
                                      <p:tavLst>
                                        <p:tav tm="0">
                                          <p:val>
                                            <p:fltVal val="0"/>
                                          </p:val>
                                        </p:tav>
                                        <p:tav tm="100000">
                                          <p:val>
                                            <p:strVal val="#ppt_h"/>
                                          </p:val>
                                        </p:tav>
                                      </p:tavLst>
                                    </p:anim>
                                    <p:animEffect transition="in" filter="fade">
                                      <p:cBhvr>
                                        <p:cTn id="71" dur="500"/>
                                        <p:tgtEl>
                                          <p:spTgt spid="16"/>
                                        </p:tgtEl>
                                      </p:cBhvr>
                                    </p:animEffect>
                                  </p:childTnLst>
                                </p:cTn>
                              </p:par>
                            </p:childTnLst>
                          </p:cTn>
                        </p:par>
                      </p:childTnLst>
                    </p:cTn>
                  </p:par>
                  <p:par>
                    <p:cTn id="87" fill="hold">
                      <p:stCondLst>
                        <p:cond delay="indefinite"/>
                      </p:stCondLst>
                      <p:childTnLst>
                        <p:par>
                          <p:cTn id="86"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500" fill="hold"/>
                                        <p:tgtEl>
                                          <p:spTgt spid="17"/>
                                        </p:tgtEl>
                                        <p:attrNameLst>
                                          <p:attrName>ppt_x</p:attrName>
                                        </p:attrNameLst>
                                      </p:cBhvr>
                                      <p:tavLst>
                                        <p:tav tm="0">
                                          <p:val>
                                            <p:strVal val="#ppt_x"/>
                                          </p:val>
                                        </p:tav>
                                        <p:tav tm="100000">
                                          <p:val>
                                            <p:strVal val="#ppt_x"/>
                                          </p:val>
                                        </p:tav>
                                      </p:tavLst>
                                    </p:anim>
                                    <p:anim calcmode="lin" valueType="num">
                                      <p:cBhvr additive="base">
                                        <p:cTn id="77" dur="500" fill="hold"/>
                                        <p:tgtEl>
                                          <p:spTgt spid="17"/>
                                        </p:tgtEl>
                                        <p:attrNameLst>
                                          <p:attrName>ppt_y</p:attrName>
                                        </p:attrNameLst>
                                      </p:cBhvr>
                                      <p:tavLst>
                                        <p:tav tm="0">
                                          <p:val>
                                            <p:strVal val="1+#ppt_h/2"/>
                                          </p:val>
                                        </p:tav>
                                        <p:tav tm="100000">
                                          <p:val>
                                            <p:strVal val="#ppt_y"/>
                                          </p:val>
                                        </p:tav>
                                      </p:tavLst>
                                    </p:anim>
                                  </p:childTnLst>
                                </p:cTn>
                              </p:par>
                              <p:par>
                                <p:cTn id="78" presetID="10" presetClass="entr" presetSubtype="0" fill="hold" grpId="0" nodeType="with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400"/>
                                        <p:tgtEl>
                                          <p:spTgt spid="18"/>
                                        </p:tgtEl>
                                      </p:cBhvr>
                                    </p:animEffect>
                                  </p:childTnLst>
                                </p:cTn>
                              </p:par>
                              <p:par>
                                <p:cTn id="81" presetID="53" presetClass="entr" presetSubtype="16" fill="hold" grpId="0" nodeType="withEffect">
                                  <p:stCondLst>
                                    <p:cond delay="20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ppt_w</p:attrName>
                                        </p:attrNameLst>
                                      </p:cBhvr>
                                      <p:tavLst>
                                        <p:tav tm="0">
                                          <p:val>
                                            <p:fltVal val="0"/>
                                          </p:val>
                                        </p:tav>
                                        <p:tav tm="100000">
                                          <p:val>
                                            <p:strVal val="#ppt_w"/>
                                          </p:val>
                                        </p:tav>
                                      </p:tavLst>
                                    </p:anim>
                                    <p:anim calcmode="lin" valueType="num">
                                      <p:cBhvr additive="base">
                                        <p:cTn id="84" dur="500" fill="hold"/>
                                        <p:tgtEl>
                                          <p:spTgt spid="19"/>
                                        </p:tgtEl>
                                        <p:attrNameLst>
                                          <p:attrName>ppt_h</p:attrName>
                                        </p:attrNameLst>
                                      </p:cBhvr>
                                      <p:tavLst>
                                        <p:tav tm="0">
                                          <p:val>
                                            <p:fltVal val="0"/>
                                          </p:val>
                                        </p:tav>
                                        <p:tav tm="100000">
                                          <p:val>
                                            <p:strVal val="#ppt_h"/>
                                          </p:val>
                                        </p:tav>
                                      </p:tavLst>
                                    </p:anim>
                                    <p:animEffect transition="in" filter="fade">
                                      <p:cBhvr>
                                        <p:cTn id="85" dur="500"/>
                                        <p:tgtEl>
                                          <p:spTgt spid="19"/>
                                        </p:tgtEl>
                                      </p:cBhvr>
                                    </p:animEffect>
                                  </p:childTnLst>
                                </p:cTn>
                              </p:par>
                            </p:childTnLst>
                          </p:cTn>
                        </p:par>
                      </p:childTnLst>
                    </p:cTn>
                  </p:par>
                  <p:par>
                    <p:cTn id="101" fill="hold">
                      <p:stCondLst>
                        <p:cond delay="indefinite"/>
                      </p:stCondLst>
                      <p:childTnLst>
                        <p:par>
                          <p:cTn id="100"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additive="base">
                                        <p:cTn id="90" dur="500" fill="hold"/>
                                        <p:tgtEl>
                                          <p:spTgt spid="20"/>
                                        </p:tgtEl>
                                        <p:attrNameLst>
                                          <p:attrName>ppt_x</p:attrName>
                                        </p:attrNameLst>
                                      </p:cBhvr>
                                      <p:tavLst>
                                        <p:tav tm="0">
                                          <p:val>
                                            <p:strVal val="#ppt_x"/>
                                          </p:val>
                                        </p:tav>
                                        <p:tav tm="100000">
                                          <p:val>
                                            <p:strVal val="#ppt_x"/>
                                          </p:val>
                                        </p:tav>
                                      </p:tavLst>
                                    </p:anim>
                                    <p:anim calcmode="lin" valueType="num">
                                      <p:cBhvr additive="base">
                                        <p:cTn id="91" dur="500" fill="hold"/>
                                        <p:tgtEl>
                                          <p:spTgt spid="20"/>
                                        </p:tgtEl>
                                        <p:attrNameLst>
                                          <p:attrName>ppt_y</p:attrName>
                                        </p:attrNameLst>
                                      </p:cBhvr>
                                      <p:tavLst>
                                        <p:tav tm="0">
                                          <p:val>
                                            <p:strVal val="1+#ppt_h/2"/>
                                          </p:val>
                                        </p:tav>
                                        <p:tav tm="100000">
                                          <p:val>
                                            <p:strVal val="#ppt_y"/>
                                          </p:val>
                                        </p:tav>
                                      </p:tavLst>
                                    </p:anim>
                                  </p:childTnLst>
                                </p:cTn>
                              </p:par>
                              <p:par>
                                <p:cTn id="92" presetID="10"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00"/>
                                        <p:tgtEl>
                                          <p:spTgt spid="21"/>
                                        </p:tgtEl>
                                      </p:cBhvr>
                                    </p:animEffect>
                                  </p:childTnLst>
                                </p:cTn>
                              </p:par>
                              <p:par>
                                <p:cTn id="95" presetID="53" presetClass="entr" presetSubtype="16" fill="hold" grpId="0" nodeType="withEffect">
                                  <p:stCondLst>
                                    <p:cond delay="20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500" fill="hold"/>
                                        <p:tgtEl>
                                          <p:spTgt spid="22"/>
                                        </p:tgtEl>
                                        <p:attrNameLst>
                                          <p:attrName>ppt_w</p:attrName>
                                        </p:attrNameLst>
                                      </p:cBhvr>
                                      <p:tavLst>
                                        <p:tav tm="0">
                                          <p:val>
                                            <p:fltVal val="0"/>
                                          </p:val>
                                        </p:tav>
                                        <p:tav tm="100000">
                                          <p:val>
                                            <p:strVal val="#ppt_w"/>
                                          </p:val>
                                        </p:tav>
                                      </p:tavLst>
                                    </p:anim>
                                    <p:anim calcmode="lin" valueType="num">
                                      <p:cBhvr additive="base">
                                        <p:cTn id="98" dur="500" fill="hold"/>
                                        <p:tgtEl>
                                          <p:spTgt spid="22"/>
                                        </p:tgtEl>
                                        <p:attrNameLst>
                                          <p:attrName>ppt_h</p:attrName>
                                        </p:attrNameLst>
                                      </p:cBhvr>
                                      <p:tavLst>
                                        <p:tav tm="0">
                                          <p:val>
                                            <p:fltVal val="0"/>
                                          </p:val>
                                        </p:tav>
                                        <p:tav tm="100000">
                                          <p:val>
                                            <p:strVal val="#ppt_h"/>
                                          </p:val>
                                        </p:tav>
                                      </p:tavLst>
                                    </p:anim>
                                    <p:animEffect transition="in" filter="fade">
                                      <p:cBhvr>
                                        <p:cTn id="9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10"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الترتيب الإلكتروني</dc:title>
  <dc:subject>PptxGenJS Presentation</dc:subject>
  <dc:creator>PptxGenJS</dc:creator>
  <cp:lastModifiedBy>PptxGenJS</cp:lastModifiedBy>
  <cp:revision>1</cp:revision>
  <dcterms:created xsi:type="dcterms:W3CDTF">2026-10-26T13:16:56Z</dcterms:created>
  <dcterms:modified xsi:type="dcterms:W3CDTF">2026-10-26T13:16:56Z</dcterms:modified>
</cp:coreProperties>
</file>