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viewProps" Target="viewProp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presProps" Target="presProps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10" Type="http://schemas.openxmlformats.org/officeDocument/2006/relationships/slide" Target="slides/slide9.xml" /><Relationship Id="rId19" Type="http://schemas.openxmlformats.org/officeDocument/2006/relationships/theme" Target="theme/theme1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 /><Relationship Id="rId1" Type="http://schemas.openxmlformats.org/officeDocument/2006/relationships/slideLayout" Target="../slideLayouts/slideLayout7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 /><Relationship Id="rId1" Type="http://schemas.openxmlformats.org/officeDocument/2006/relationships/slideLayout" Target="../slideLayouts/slideLayout7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7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 /><Relationship Id="rId1" Type="http://schemas.openxmlformats.org/officeDocument/2006/relationships/slideLayout" Target="../slideLayouts/slideLayout7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 /><Relationship Id="rId1" Type="http://schemas.openxmlformats.org/officeDocument/2006/relationships/slideLayout" Target="../slideLayouts/slideLayout7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 /><Relationship Id="rId1" Type="http://schemas.openxmlformats.org/officeDocument/2006/relationships/slideLayout" Target="../slideLayouts/slideLayout7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 /><Relationship Id="rId1" Type="http://schemas.openxmlformats.org/officeDocument/2006/relationships/slideLayout" Target="../slideLayouts/slideLayout7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 /><Relationship Id="rId1" Type="http://schemas.openxmlformats.org/officeDocument/2006/relationships/slideLayout" Target="../slideLayouts/slideLayout7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 /><Relationship Id="rId1" Type="http://schemas.openxmlformats.org/officeDocument/2006/relationships/slideLayout" Target="../slideLayouts/slideLayout7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 /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 /><Relationship Id="rId1" Type="http://schemas.openxmlformats.org/officeDocument/2006/relationships/slideLayout" Target="../slideLayouts/slideLayout7.xml" 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 /><Relationship Id="rId1" Type="http://schemas.openxmlformats.org/officeDocument/2006/relationships/slideLayout" Target="../slideLayouts/slideLayout7.xml" 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 /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297855"/>
            <a:ext cx="10065488" cy="19835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6000" b="1" dirty="0">
                <a:ln w="28575">
                  <a:solidFill>
                    <a:srgbClr val="2C62C9"/>
                  </a:solidFill>
                </a:ln>
                <a:solidFill>
                  <a:srgbClr val="FFFFFF"/>
                </a:solidFill>
                <a:effectLst>
                  <a:glow rad="101600">
                    <a:srgbClr val="9FD8FF">
                      <a:alpha val="50000"/>
                    </a:srgbClr>
                  </a:glow>
                  <a:outerShdw blurRad="12700" dist="57150" dir="2700000" algn="tl" rotWithShape="0">
                    <a:srgbClr val="1B3F8F">
                      <a:alpha val="90000"/>
                    </a:srgbClr>
                  </a:outerShdw>
                </a:effectLst>
                <a:latin typeface="Arial"/>
                <a:cs typeface="Arial"/>
              </a:rPr>
              <a:t xml:space="preserve">الترتيب الإلكتروني وإلكترونات</a:t>
            </a:r>
            <a:endParaRPr lang="ar-SA" sz="60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6000" b="1" dirty="0">
                <a:ln w="28575">
                  <a:solidFill>
                    <a:srgbClr val="2C62C9"/>
                  </a:solidFill>
                </a:ln>
                <a:solidFill>
                  <a:srgbClr val="FFFFFF"/>
                </a:solidFill>
                <a:effectLst>
                  <a:glow rad="101600">
                    <a:srgbClr val="9FD8FF">
                      <a:alpha val="50000"/>
                    </a:srgbClr>
                  </a:glow>
                  <a:outerShdw blurRad="12700" dist="57150" dir="2700000" algn="tl" rotWithShape="0">
                    <a:srgbClr val="1B3F8F">
                      <a:alpha val="90000"/>
                    </a:srgbClr>
                  </a:outerShdw>
                </a:effectLst>
                <a:latin typeface="Arial"/>
                <a:cs typeface="Arial"/>
              </a:rPr>
              <a:t xml:space="preserve">التكافؤ وقاعدة الثمانية</a:t>
            </a:r>
            <a:endParaRPr lang="ar-SA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2717209" y="2399506"/>
            <a:ext cx="10821581" cy="8028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000" b="1" dirty="0">
                <a:solidFill>
                  <a:srgbClr val="1B2A4A"/>
                </a:solidFill>
                <a:latin typeface="Arial"/>
                <a:cs typeface="Arial"/>
              </a:rPr>
              <a:t xml:space="preserve">رحلة استكشافية في مدينة الاستقرار الكيميائي</a:t>
            </a:r>
            <a:endParaRPr lang="ar-SA" sz="4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6308651" y="2659261"/>
            <a:ext cx="3662326" cy="37546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سؤال المفتش:</a:t>
            </a: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 أي البناءين يبدو أكثر استقراراً؟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800"/>
              </a:spcBef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الإجابة:</a:t>
            </a: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 البناء المكتمل على اليمين.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800"/>
              </a:spcBef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السبب:</a:t>
            </a: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 لأنه متوازن ومكتمل البناء، تماماً مثل ذرات الغازات النبيلة.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800"/>
              </a:spcBef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الحل للوصول للاستقرار:</a:t>
            </a: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 يحتاج المبنى غير المكتمل إلى إكمال بناء طابقه الأخير ليصبح أكثر استقراراً.</a:t>
            </a:r>
            <a:endParaRPr lang="ar-SA" sz="2000" dirty="0"/>
          </a:p>
        </p:txBody>
      </p:sp>
      <p:sp>
        <p:nvSpPr>
          <p:cNvPr id="4" name="Text 2"/>
          <p:cNvSpPr txBox="1"/>
          <p:nvPr/>
        </p:nvSpPr>
        <p:spPr>
          <a:xfrm rot="21420000">
            <a:off x="3307907" y="7523758"/>
            <a:ext cx="2599070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500" b="1" dirty="0">
                <a:solidFill>
                  <a:srgbClr val="2B2B2B"/>
                </a:solidFill>
                <a:latin typeface="Arial"/>
                <a:cs typeface="Arial"/>
              </a:rPr>
              <a:t xml:space="preserve">عناصر أخرى</a:t>
            </a:r>
            <a:endParaRPr lang="ar-SA" sz="25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500" b="1" dirty="0">
                <a:solidFill>
                  <a:srgbClr val="2B2B2B"/>
                </a:solidFill>
                <a:latin typeface="Arial"/>
                <a:cs typeface="Arial"/>
              </a:rPr>
              <a:t xml:space="preserve">(غير مستقرة)</a:t>
            </a:r>
            <a:endParaRPr lang="ar-SA" sz="2500" dirty="0"/>
          </a:p>
        </p:txBody>
      </p:sp>
      <p:sp>
        <p:nvSpPr>
          <p:cNvPr id="5" name="Text 3"/>
          <p:cNvSpPr txBox="1"/>
          <p:nvPr/>
        </p:nvSpPr>
        <p:spPr>
          <a:xfrm rot="360000">
            <a:off x="9994605" y="7216775"/>
            <a:ext cx="3024372" cy="122793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B2A4A"/>
                </a:solidFill>
                <a:latin typeface="Arial"/>
                <a:cs typeface="Arial"/>
              </a:rPr>
              <a:t xml:space="preserve">عناصر المجموعة </a:t>
            </a:r>
            <a:r>
              <a:rPr lang="en-US" sz="2400" b="1" dirty="0">
                <a:solidFill>
                  <a:srgbClr val="1B2A4A"/>
                </a:solidFill>
                <a:latin typeface="Arial"/>
                <a:cs typeface="Arial"/>
              </a:rPr>
              <a:t xml:space="preserve">18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B2A4A"/>
                </a:solidFill>
                <a:latin typeface="Arial"/>
                <a:cs typeface="Arial"/>
              </a:rPr>
              <a:t xml:space="preserve">(الغازات النبيلة)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5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394047" y="1077119"/>
            <a:ext cx="3993116" cy="16057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مستوى التكافؤ (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Valence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 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Shell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20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مستوى الطاقة الخارجي للذرة الذي تُفقد منه الإلكترونات أو تنتقل إليه (الطابق الأخير للمبنى).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441302" y="3509367"/>
            <a:ext cx="3898605" cy="120431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إلكترونات التكافؤ (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Valence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 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Electrons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20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الإلكترونات الموجودة في أعلى مستوى طاقة (الدرونز العاملة في الطابق الأخير).</a:t>
            </a:r>
            <a:endParaRPr lang="ar-SA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52279" y="5847159"/>
            <a:ext cx="3993116" cy="172382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التكافؤ (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Valency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20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عدد الإلكترونات التي تفقدها الذرة أو تكتسبها أو تشارك بها للوصول إلى حالة الاستقرار (عدد الدرونز المطلوبة لإكمال الطابق الأخير أو إخلائه).</a:t>
            </a:r>
            <a:endParaRPr lang="ar-SA" sz="1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0691628" y="1809155"/>
            <a:ext cx="4879163" cy="14168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4200" b="1" dirty="0">
                <a:solidFill>
                  <a:srgbClr val="1E4E8C"/>
                </a:solidFill>
                <a:latin typeface="Arial"/>
                <a:cs typeface="Arial"/>
              </a:rPr>
              <a:t xml:space="preserve">المهندس «لويس»</a:t>
            </a:r>
            <a:endParaRPr lang="ar-SA" sz="42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4200" b="1" dirty="0">
                <a:solidFill>
                  <a:srgbClr val="1E4E8C"/>
                </a:solidFill>
                <a:latin typeface="Arial"/>
                <a:cs typeface="Arial"/>
              </a:rPr>
              <a:t xml:space="preserve">ومخططاته العبقرية</a:t>
            </a:r>
            <a:endParaRPr lang="ar-SA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10514419" y="3320455"/>
            <a:ext cx="5056372" cy="39199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5000"/>
              </a:lnSpc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 xml:space="preserve">في عام 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 xml:space="preserve">1916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 xml:space="preserve">، ابتكر العالم جيلبرت لويس طريقة ذكية لمراقبة عمال الطابق الأخير فقط.</a:t>
            </a:r>
            <a:endParaRPr lang="ar-SA" sz="2200" dirty="0"/>
          </a:p>
          <a:p>
            <a:pPr algn="r" rtl="1">
              <a:lnSpc>
                <a:spcPct val="95000"/>
              </a:lnSpc>
              <a:spcBef>
                <a:spcPts val="1000"/>
              </a:spcBef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 xml:space="preserve">الترتيب الإلكتروني النقطي (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 xml:space="preserve">Electron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 xml:space="preserve"> 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 xml:space="preserve">Dot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 xml:space="preserve"> 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 xml:space="preserve">Structure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 xml:space="preserve">): الأشكال التي توضح إلكترونات التكافؤ في صورة نقاط حول رمز ذرة العنصر.</a:t>
            </a:r>
            <a:endParaRPr lang="ar-SA" sz="2200" dirty="0"/>
          </a:p>
          <a:p>
            <a:pPr algn="r" rtl="1">
              <a:lnSpc>
                <a:spcPct val="95000"/>
              </a:lnSpc>
              <a:spcBef>
                <a:spcPts val="1000"/>
              </a:spcBef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 xml:space="preserve">ملاحظة لويس: (النقاط هي كاميرات المراقبة الخاصة بنا؛ نقطة واحدة لكل إلكترون تكافؤ!)</a:t>
            </a:r>
            <a:endParaRPr lang="ar-SA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5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804093" y="1384102"/>
            <a:ext cx="860055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80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 xml:space="preserve">مكتب التدقيق المعماري: حل تمرين (</a:t>
            </a:r>
            <a:r>
              <a:rPr lang="en-US" sz="380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 xml:space="preserve">1</a:t>
            </a:r>
            <a:r>
              <a:rPr lang="ar-SA" sz="380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 xml:space="preserve">)</a:t>
            </a:r>
            <a:endParaRPr lang="ar-SA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998791" y="2446734"/>
            <a:ext cx="1512186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00" b="1" dirty="0">
                <a:solidFill>
                  <a:srgbClr val="1A2238"/>
                </a:solidFill>
                <a:latin typeface="Arial"/>
                <a:cs typeface="Arial"/>
              </a:rPr>
              <a:t xml:space="preserve">رقم المجموعة</a:t>
            </a:r>
            <a:endParaRPr lang="ar-SA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1046047" y="3084314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046047" y="3627438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2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1046047" y="4146947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13</a:t>
            </a:r>
            <a:endParaRPr lang="ar-SA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046047" y="4678263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15</a:t>
            </a:r>
            <a:endParaRPr lang="ar-SA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1046047" y="5221387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16</a:t>
            </a:r>
            <a:endParaRPr lang="ar-SA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1046047" y="5740896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17</a:t>
            </a:r>
            <a:endParaRPr lang="ar-SA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9250326" y="2446734"/>
            <a:ext cx="1571256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00" b="1" dirty="0">
                <a:solidFill>
                  <a:srgbClr val="1A2238"/>
                </a:solidFill>
                <a:latin typeface="Arial"/>
                <a:cs typeface="Arial"/>
              </a:rPr>
              <a:t xml:space="preserve">العنصر</a:t>
            </a:r>
            <a:endParaRPr lang="ar-SA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9297581" y="3084314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Li</a:t>
            </a:r>
            <a:endParaRPr lang="ar-SA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9297581" y="3627438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4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Be</a:t>
            </a:r>
            <a:endParaRPr lang="ar-SA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297581" y="4146947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5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B</a:t>
            </a:r>
            <a:endParaRPr lang="ar-SA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9297581" y="4678263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7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N</a:t>
            </a:r>
            <a:endParaRPr lang="ar-SA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297581" y="5221387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8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O</a:t>
            </a:r>
            <a:endParaRPr lang="ar-SA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9297581" y="5740896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9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F</a:t>
            </a:r>
            <a:endParaRPr lang="ar-SA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241953" y="2446734"/>
            <a:ext cx="1878419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00" b="1" dirty="0">
                <a:solidFill>
                  <a:srgbClr val="1A2238"/>
                </a:solidFill>
                <a:latin typeface="Arial"/>
                <a:cs typeface="Arial"/>
              </a:rPr>
              <a:t xml:space="preserve">الترتيب الإلكتروني</a:t>
            </a:r>
            <a:endParaRPr lang="ar-SA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289209" y="3084314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2,1</a:t>
            </a:r>
            <a:endParaRPr lang="ar-SA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289209" y="3627438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2,2</a:t>
            </a:r>
            <a:endParaRPr lang="ar-SA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289209" y="4146947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2,3</a:t>
            </a:r>
            <a:endParaRPr lang="ar-SA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289209" y="4678263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2,5</a:t>
            </a:r>
            <a:endParaRPr lang="ar-SA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289209" y="5221387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2,6</a:t>
            </a:r>
            <a:endParaRPr lang="ar-SA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289209" y="5740896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2,7</a:t>
            </a:r>
            <a:endParaRPr lang="ar-SA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5245395" y="2446734"/>
            <a:ext cx="1890233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00" b="1" dirty="0">
                <a:solidFill>
                  <a:srgbClr val="1A2238"/>
                </a:solidFill>
                <a:latin typeface="Arial"/>
                <a:cs typeface="Arial"/>
              </a:rPr>
              <a:t xml:space="preserve">إلكترونات التكافؤ</a:t>
            </a:r>
            <a:endParaRPr lang="ar-SA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292651" y="3084314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5292651" y="3627438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2</a:t>
            </a:r>
            <a:endParaRPr lang="ar-SA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5292651" y="4146947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endParaRPr lang="ar-SA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5292651" y="4678263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5</a:t>
            </a:r>
            <a:endParaRPr lang="ar-SA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5292651" y="5221387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6</a:t>
            </a:r>
            <a:endParaRPr lang="ar-SA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5292651" y="5740896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7</a:t>
            </a:r>
            <a:endParaRPr lang="ar-SA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3827721" y="2446734"/>
            <a:ext cx="1240465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00" b="1" dirty="0">
                <a:solidFill>
                  <a:srgbClr val="1A2238"/>
                </a:solidFill>
                <a:latin typeface="Arial"/>
                <a:cs typeface="Arial"/>
              </a:rPr>
              <a:t xml:space="preserve">التكافؤ</a:t>
            </a:r>
            <a:endParaRPr lang="ar-SA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3874977" y="3084314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3874977" y="3627438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2</a:t>
            </a:r>
            <a:endParaRPr lang="ar-SA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3874977" y="4146947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endParaRPr lang="ar-SA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3874977" y="4678263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endParaRPr lang="ar-SA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3874977" y="5221387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2</a:t>
            </a:r>
            <a:endParaRPr lang="ar-SA" sz="2400" dirty="0"/>
          </a:p>
        </p:txBody>
      </p:sp>
      <p:sp>
        <p:nvSpPr>
          <p:cNvPr id="38" name="Text 36"/>
          <p:cNvSpPr txBox="1"/>
          <p:nvPr/>
        </p:nvSpPr>
        <p:spPr>
          <a:xfrm>
            <a:off x="3874977" y="5740896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4843721" y="6390283"/>
            <a:ext cx="7631814" cy="85010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5000"/>
              </a:lnSpc>
              <a:buNone/>
            </a:pPr>
            <a:r>
              <a:rPr lang="ar-SA" sz="1500" b="1" dirty="0">
                <a:solidFill>
                  <a:srgbClr val="FFD84A"/>
                </a:solidFill>
                <a:latin typeface="Arial"/>
                <a:cs typeface="Arial"/>
              </a:rPr>
              <a:t xml:space="preserve">تنبيه رقابي هام:</a:t>
            </a:r>
            <a:endParaRPr lang="ar-SA" sz="1500" dirty="0"/>
          </a:p>
          <a:p>
            <a:pPr algn="r" rtl="1">
              <a:lnSpc>
                <a:spcPct val="95000"/>
              </a:lnSpc>
              <a:spcBef>
                <a:spcPts val="0"/>
              </a:spcBef>
              <a:buNone/>
            </a:pPr>
            <a:r>
              <a:rPr lang="ar-SA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- تكافؤ المجموعة (</a:t>
            </a: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14</a:t>
            </a:r>
            <a:r>
              <a:rPr lang="ar-SA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) متغير وليس ثابتاً.</a:t>
            </a:r>
            <a:endParaRPr lang="ar-SA" sz="1500" dirty="0"/>
          </a:p>
          <a:p>
            <a:pPr algn="r" rtl="1">
              <a:lnSpc>
                <a:spcPct val="95000"/>
              </a:lnSpc>
              <a:spcBef>
                <a:spcPts val="0"/>
              </a:spcBef>
              <a:buNone/>
            </a:pPr>
            <a:r>
              <a:rPr lang="ar-SA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- المجموعة (</a:t>
            </a: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18</a:t>
            </a:r>
            <a:r>
              <a:rPr lang="ar-SA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) تكافؤها صفر؛ لأن مبانيها مستقرة ولا تميل لفقد الإلكترونات أو اكتسابها.</a:t>
            </a:r>
            <a:endParaRPr lang="ar-SA" sz="15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5316279" y="935434"/>
            <a:ext cx="5635256" cy="11807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تطبيق المخططات النقطية:</a:t>
            </a:r>
            <a:endParaRPr lang="ar-SA" sz="33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حل تمرين (</a:t>
            </a:r>
            <a:r>
              <a:rPr lang="en-US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2</a:t>
            </a:r>
            <a:r>
              <a:rPr lang="ar-SA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)</a:t>
            </a:r>
            <a:endParaRPr lang="ar-SA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1559442" y="5634633"/>
            <a:ext cx="2906233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الهيدروجين (</a:t>
            </a:r>
            <a:r>
              <a:rPr lang="en-US" sz="15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H</a:t>
            </a:r>
            <a:r>
              <a:rPr lang="ar-SA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) | الترتيب: </a:t>
            </a: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150884" y="5481141"/>
            <a:ext cx="2575442" cy="389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الكربون (</a:t>
            </a:r>
            <a:r>
              <a:rPr lang="en-US" sz="15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6</a:t>
            </a: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C</a:t>
            </a:r>
            <a:r>
              <a:rPr lang="ar-SA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) | الترتيب: </a:t>
            </a: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2,4</a:t>
            </a:r>
            <a:endParaRPr lang="ar-SA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529674" y="5481141"/>
            <a:ext cx="2740837" cy="389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النيتروجين (</a:t>
            </a:r>
            <a:r>
              <a:rPr lang="en-US" sz="15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7</a:t>
            </a: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N</a:t>
            </a:r>
            <a:r>
              <a:rPr lang="ar-SA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) | الترتيب: </a:t>
            </a: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2,5</a:t>
            </a:r>
            <a:endParaRPr lang="ar-SA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955721" y="5611019"/>
            <a:ext cx="337879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البوتاسيوم (</a:t>
            </a:r>
            <a:r>
              <a:rPr lang="en-US" sz="15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19</a:t>
            </a: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K</a:t>
            </a:r>
            <a:r>
              <a:rPr lang="ar-SA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) | الترتيب: </a:t>
            </a: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 xml:space="preserve">2,8,8,1</a:t>
            </a:r>
            <a:endParaRPr lang="ar-SA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749209" y="6390283"/>
            <a:ext cx="3449674" cy="11334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مثال توجيهي (البريليوم </a:t>
            </a:r>
            <a:r>
              <a:rPr lang="en-US" sz="2100" b="1" dirty="0" baseline="-2500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4</a:t>
            </a:r>
            <a:r>
              <a:rPr lang="en-US" sz="2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Be</a:t>
            </a:r>
            <a:r>
              <a:rPr lang="ar-SA" sz="2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):</a:t>
            </a:r>
            <a:endParaRPr lang="ar-SA" sz="21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الترتيب: </a:t>
            </a:r>
            <a:r>
              <a:rPr lang="en-US" sz="2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2,2</a:t>
            </a:r>
            <a:endParaRPr lang="ar-SA" sz="2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087628" y="5776317"/>
            <a:ext cx="8080744" cy="28809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600" b="1" dirty="0">
                <a:solidFill>
                  <a:srgbClr val="111111"/>
                </a:solidFill>
                <a:latin typeface="Arial"/>
                <a:cs typeface="Arial"/>
              </a:rPr>
              <a:t xml:space="preserve">دستور المدينة: قاعدة الثمانية</a:t>
            </a:r>
            <a:endParaRPr lang="ar-SA" sz="2600" dirty="0"/>
          </a:p>
          <a:p>
            <a:pPr algn="ctr" rtl="1">
              <a:lnSpc>
                <a:spcPct val="90000"/>
              </a:lnSpc>
              <a:spcBef>
                <a:spcPts val="300"/>
              </a:spcBef>
              <a:buNone/>
            </a:pPr>
            <a:r>
              <a:rPr lang="ar-SA" sz="2000" b="1" dirty="0">
                <a:solidFill>
                  <a:srgbClr val="111111"/>
                </a:solidFill>
                <a:latin typeface="Arial"/>
                <a:cs typeface="Arial"/>
              </a:rPr>
              <a:t xml:space="preserve">الغازات النبيلة مستقرة لأن ترتيبها الإلكتروني ينتهي بثمانية إلكترونات.</a:t>
            </a:r>
            <a:endParaRPr lang="ar-SA" sz="2000" dirty="0"/>
          </a:p>
          <a:p>
            <a:pPr algn="ctr" rtl="1">
              <a:lnSpc>
                <a:spcPct val="90000"/>
              </a:lnSpc>
              <a:spcBef>
                <a:spcPts val="300"/>
              </a:spcBef>
              <a:buNone/>
            </a:pPr>
            <a:r>
              <a:rPr lang="ar-SA" sz="2000" b="1" dirty="0">
                <a:solidFill>
                  <a:srgbClr val="111111"/>
                </a:solidFill>
                <a:latin typeface="Arial"/>
                <a:cs typeface="Arial"/>
              </a:rPr>
              <a:t xml:space="preserve">نص القاعدة: ميل ذرة العنصر إلى فقد إلكترونات مستوى التكافؤ أو اكتسابها أو المشاركة بها للوصول إلى ثمانية إلكترونات، لتحقيق حالة الاستقرار المشابهة للغاز النبيل.</a:t>
            </a:r>
            <a:endParaRPr lang="ar-SA" sz="2000" dirty="0"/>
          </a:p>
          <a:p>
            <a:pPr algn="ctr" rtl="1">
              <a:lnSpc>
                <a:spcPct val="90000"/>
              </a:lnSpc>
              <a:spcBef>
                <a:spcPts val="300"/>
              </a:spcBef>
              <a:buNone/>
            </a:pPr>
            <a:r>
              <a:rPr lang="ar-SA" sz="2200" b="1" dirty="0">
                <a:solidFill>
                  <a:srgbClr val="111111"/>
                </a:solidFill>
                <a:latin typeface="Arial"/>
                <a:cs typeface="Arial"/>
              </a:rPr>
              <a:t xml:space="preserve">الهدف النهائي لكل مبنى هو تفعيل درع الثمانية!</a:t>
            </a:r>
            <a:endParaRPr lang="ar-SA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439539"/>
            <a:ext cx="10065488" cy="7320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6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بوابات الاستيراد والتصدير (الكاتيونات والأنيونات)</a:t>
            </a:r>
            <a:endParaRPr lang="ar-SA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079256" y="6862564"/>
            <a:ext cx="3638698" cy="59035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ar-SA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الأنيون (أيون سالب): ذرة تكتسب إلكتروناً أو أكثر.</a:t>
            </a:r>
            <a:endParaRPr lang="ar-SA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2079256" y="7452916"/>
            <a:ext cx="3638698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ذرة الكلور (</a:t>
            </a:r>
            <a:r>
              <a:rPr lang="en-US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Cl</a:t>
            </a:r>
            <a:r>
              <a:rPr lang="ar-SA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): </a:t>
            </a:r>
            <a:r>
              <a:rPr lang="en-US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2,8,7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2079256" y="7830741"/>
            <a:ext cx="3638698" cy="40143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أنيون الكلوريد (</a:t>
            </a:r>
            <a:r>
              <a:rPr lang="en-US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Cl</a:t>
            </a:r>
            <a:r>
              <a:rPr lang="ar-SA" sz="1650" b="1" dirty="0" baseline="3000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−</a:t>
            </a:r>
            <a:r>
              <a:rPr lang="ar-SA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‎): </a:t>
            </a:r>
            <a:r>
              <a:rPr lang="en-US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2,8,8</a:t>
            </a:r>
            <a:r>
              <a:rPr lang="ar-SA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 (مستقر)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0041860" y="6862564"/>
            <a:ext cx="3520558" cy="59035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ar-SA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الكاتيون (أيون موجب): ذرة تفقد إلكتروناً أو أكثر.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0041860" y="7452916"/>
            <a:ext cx="3520558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ذرة الصوديوم (</a:t>
            </a:r>
            <a:r>
              <a:rPr lang="en-US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Na</a:t>
            </a:r>
            <a:r>
              <a:rPr lang="ar-SA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): </a:t>
            </a:r>
            <a:r>
              <a:rPr lang="en-US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2,8,1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0041860" y="7830741"/>
            <a:ext cx="3520558" cy="40143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كاتيون الصوديوم (</a:t>
            </a:r>
            <a:r>
              <a:rPr lang="en-US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Na</a:t>
            </a:r>
            <a:r>
              <a:rPr lang="ar-SA" sz="1650" b="1" dirty="0" baseline="3000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+</a:t>
            </a:r>
            <a:r>
              <a:rPr lang="ar-SA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‎): </a:t>
            </a:r>
            <a:r>
              <a:rPr lang="en-US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2,8</a:t>
            </a:r>
            <a:r>
              <a:rPr lang="ar-SA" sz="16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 (مستقر)</a:t>
            </a:r>
            <a:endParaRPr lang="ar-SA" sz="16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5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000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 rot="21300000">
            <a:off x="6970233" y="1171575"/>
            <a:ext cx="7820837" cy="165298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360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 xml:space="preserve">جولة التفتيش الرقابية: حل تمرين (</a:t>
            </a:r>
            <a:r>
              <a:rPr lang="en-US" sz="360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 xml:space="preserve">3</a:t>
            </a:r>
            <a:r>
              <a:rPr lang="ar-SA" sz="360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 xml:space="preserve">)</a:t>
            </a:r>
            <a:endParaRPr lang="ar-SA" sz="3600" dirty="0"/>
          </a:p>
        </p:txBody>
      </p:sp>
      <p:sp>
        <p:nvSpPr>
          <p:cNvPr id="4" name="Text 2"/>
          <p:cNvSpPr txBox="1"/>
          <p:nvPr/>
        </p:nvSpPr>
        <p:spPr>
          <a:xfrm rot="21300000">
            <a:off x="12829953" y="2635647"/>
            <a:ext cx="2221023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العنصر</a:t>
            </a:r>
            <a:endParaRPr lang="ar-SA" sz="1700" dirty="0"/>
          </a:p>
        </p:txBody>
      </p:sp>
      <p:sp>
        <p:nvSpPr>
          <p:cNvPr id="5" name="Text 3"/>
          <p:cNvSpPr txBox="1"/>
          <p:nvPr/>
        </p:nvSpPr>
        <p:spPr>
          <a:xfrm rot="21300000">
            <a:off x="10845209" y="2682875"/>
            <a:ext cx="1866605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الترتيب الإلكتروني النقطي</a:t>
            </a:r>
            <a:endParaRPr lang="ar-SA" sz="1700" dirty="0"/>
          </a:p>
        </p:txBody>
      </p:sp>
      <p:sp>
        <p:nvSpPr>
          <p:cNvPr id="6" name="Text 4"/>
          <p:cNvSpPr txBox="1"/>
          <p:nvPr/>
        </p:nvSpPr>
        <p:spPr>
          <a:xfrm rot="21300000">
            <a:off x="9073116" y="2800945"/>
            <a:ext cx="1807535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للوصول للاستقرار (يفقد/يكتسب)</a:t>
            </a:r>
            <a:endParaRPr lang="ar-SA" sz="1700" dirty="0"/>
          </a:p>
        </p:txBody>
      </p:sp>
      <p:sp>
        <p:nvSpPr>
          <p:cNvPr id="7" name="Text 5"/>
          <p:cNvSpPr txBox="1"/>
          <p:nvPr/>
        </p:nvSpPr>
        <p:spPr>
          <a:xfrm rot="21300000">
            <a:off x="7301023" y="2966244"/>
            <a:ext cx="1866605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قاعدة الثمانية (يحقق/لا يحقق)</a:t>
            </a:r>
            <a:endParaRPr lang="ar-SA" sz="1700" dirty="0"/>
          </a:p>
        </p:txBody>
      </p:sp>
      <p:sp>
        <p:nvSpPr>
          <p:cNvPr id="8" name="Text 6"/>
          <p:cNvSpPr txBox="1"/>
          <p:nvPr/>
        </p:nvSpPr>
        <p:spPr>
          <a:xfrm rot="21300000">
            <a:off x="12759070" y="3674666"/>
            <a:ext cx="2386419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 xml:space="preserve">المغنيسيوم (</a:t>
            </a:r>
            <a:r>
              <a:rPr lang="en-US" sz="22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12</a:t>
            </a: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 xml:space="preserve">Mg</a:t>
            </a: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 xml:space="preserve">)</a:t>
            </a:r>
            <a:endParaRPr lang="ar-SA" sz="2200" dirty="0"/>
          </a:p>
        </p:txBody>
      </p:sp>
      <p:grpSp>
        <p:nvGrpSpPr>
          <p:cNvPr id="9" name="Lewis Mg"/>
          <p:cNvGrpSpPr/>
          <p:nvPr/>
        </p:nvGrpSpPr>
        <p:grpSpPr>
          <a:xfrm rot="21300000">
            <a:off x="10963349" y="3887192"/>
            <a:ext cx="1535814" cy="519509"/>
            <a:chOff x="10963349" y="3887192"/>
            <a:chExt cx="1535814" cy="519509"/>
          </a:xfrm>
        </p:grpSpPr>
        <p:sp>
          <p:nvSpPr>
            <p:cNvPr id="10" name="Text 8"/>
            <p:cNvSpPr txBox="1"/>
            <p:nvPr/>
          </p:nvSpPr>
          <p:spPr>
            <a:xfrm>
              <a:off x="11424093" y="3934420"/>
              <a:ext cx="614326" cy="42505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600" b="1" dirty="0">
                  <a:solidFill>
                    <a:srgbClr val="FFFFFF"/>
                  </a:solidFill>
                  <a:latin typeface="Arial"/>
                  <a:cs typeface="Arial"/>
                </a:rPr>
                <a:t xml:space="preserve">Mg</a:t>
              </a:r>
              <a:endParaRPr lang="ar-SA" sz="2600" dirty="0"/>
            </a:p>
          </p:txBody>
        </p:sp>
        <p:sp>
          <p:nvSpPr>
            <p:cNvPr id="11" name="Dot 11"/>
            <p:cNvSpPr/>
            <p:nvPr/>
          </p:nvSpPr>
          <p:spPr>
            <a:xfrm>
              <a:off x="11369749" y="4116249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12" name="Dot 12"/>
            <p:cNvSpPr/>
            <p:nvPr/>
          </p:nvSpPr>
          <p:spPr>
            <a:xfrm>
              <a:off x="12031330" y="4116249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</p:grpSp>
      <p:sp>
        <p:nvSpPr>
          <p:cNvPr id="13" name="Text 11"/>
          <p:cNvSpPr txBox="1"/>
          <p:nvPr/>
        </p:nvSpPr>
        <p:spPr>
          <a:xfrm rot="21300000">
            <a:off x="9214884" y="3981648"/>
            <a:ext cx="1488558" cy="49589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يفقد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2</a:t>
            </a:r>
            <a:endParaRPr lang="ar-SA" sz="2400" dirty="0"/>
          </a:p>
        </p:txBody>
      </p:sp>
      <p:sp>
        <p:nvSpPr>
          <p:cNvPr id="14" name="Text 12"/>
          <p:cNvSpPr txBox="1"/>
          <p:nvPr/>
        </p:nvSpPr>
        <p:spPr>
          <a:xfrm rot="21300000">
            <a:off x="7844465" y="4146947"/>
            <a:ext cx="779721" cy="44866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7CF29A"/>
                </a:solidFill>
                <a:latin typeface="Arial"/>
                <a:cs typeface="Arial"/>
              </a:rPr>
              <a:t xml:space="preserve">يحقق</a:t>
            </a:r>
            <a:endParaRPr lang="ar-SA" sz="2400" dirty="0"/>
          </a:p>
        </p:txBody>
      </p:sp>
      <p:sp>
        <p:nvSpPr>
          <p:cNvPr id="15" name="Text 13"/>
          <p:cNvSpPr txBox="1"/>
          <p:nvPr/>
        </p:nvSpPr>
        <p:spPr>
          <a:xfrm rot="21300000">
            <a:off x="12995349" y="4808141"/>
            <a:ext cx="1724837" cy="5667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 xml:space="preserve">الفلور (</a:t>
            </a:r>
            <a:r>
              <a:rPr lang="en-US" sz="22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9</a:t>
            </a: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 xml:space="preserve">F</a:t>
            </a: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 xml:space="preserve">)</a:t>
            </a:r>
            <a:endParaRPr lang="ar-SA" sz="2200" dirty="0"/>
          </a:p>
        </p:txBody>
      </p:sp>
      <p:grpSp>
        <p:nvGrpSpPr>
          <p:cNvPr id="16" name="Lewis F"/>
          <p:cNvGrpSpPr/>
          <p:nvPr/>
        </p:nvGrpSpPr>
        <p:grpSpPr>
          <a:xfrm rot="21300000">
            <a:off x="10986977" y="4878983"/>
            <a:ext cx="1535814" cy="519509"/>
            <a:chOff x="10986977" y="4878983"/>
            <a:chExt cx="1535814" cy="519509"/>
          </a:xfrm>
        </p:grpSpPr>
        <p:sp>
          <p:nvSpPr>
            <p:cNvPr id="17" name="Text 15"/>
            <p:cNvSpPr txBox="1"/>
            <p:nvPr/>
          </p:nvSpPr>
          <p:spPr>
            <a:xfrm>
              <a:off x="11613116" y="4949825"/>
              <a:ext cx="283535" cy="37782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600" b="1" dirty="0">
                  <a:solidFill>
                    <a:srgbClr val="FFFFFF"/>
                  </a:solidFill>
                  <a:latin typeface="Arial"/>
                  <a:cs typeface="Arial"/>
                </a:rPr>
                <a:t xml:space="preserve">F</a:t>
              </a:r>
              <a:endParaRPr lang="ar-SA" sz="2600" dirty="0"/>
            </a:p>
          </p:txBody>
        </p:sp>
        <p:sp>
          <p:nvSpPr>
            <p:cNvPr id="18" name="Dot 18"/>
            <p:cNvSpPr/>
            <p:nvPr/>
          </p:nvSpPr>
          <p:spPr>
            <a:xfrm>
              <a:off x="11676912" y="4895513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19" name="Dot 19"/>
            <p:cNvSpPr/>
            <p:nvPr/>
          </p:nvSpPr>
          <p:spPr>
            <a:xfrm>
              <a:off x="11771423" y="4895513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0" name="Dot 20"/>
            <p:cNvSpPr/>
            <p:nvPr/>
          </p:nvSpPr>
          <p:spPr>
            <a:xfrm>
              <a:off x="11676912" y="5320566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1" name="Dot 21"/>
            <p:cNvSpPr/>
            <p:nvPr/>
          </p:nvSpPr>
          <p:spPr>
            <a:xfrm>
              <a:off x="11771423" y="5320566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2" name="Dot 22"/>
            <p:cNvSpPr/>
            <p:nvPr/>
          </p:nvSpPr>
          <p:spPr>
            <a:xfrm>
              <a:off x="11535144" y="5060811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3" name="Dot 23"/>
            <p:cNvSpPr/>
            <p:nvPr/>
          </p:nvSpPr>
          <p:spPr>
            <a:xfrm>
              <a:off x="11535144" y="5155267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4" name="Dot 24"/>
            <p:cNvSpPr/>
            <p:nvPr/>
          </p:nvSpPr>
          <p:spPr>
            <a:xfrm>
              <a:off x="11913191" y="5108039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</p:grpSp>
      <p:sp>
        <p:nvSpPr>
          <p:cNvPr id="25" name="Text 23"/>
          <p:cNvSpPr txBox="1"/>
          <p:nvPr/>
        </p:nvSpPr>
        <p:spPr>
          <a:xfrm rot="21300000">
            <a:off x="9333023" y="4973439"/>
            <a:ext cx="1370419" cy="51950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يكتسب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2400" dirty="0"/>
          </a:p>
        </p:txBody>
      </p:sp>
      <p:sp>
        <p:nvSpPr>
          <p:cNvPr id="26" name="Text 24"/>
          <p:cNvSpPr txBox="1"/>
          <p:nvPr/>
        </p:nvSpPr>
        <p:spPr>
          <a:xfrm rot="21300000">
            <a:off x="7797209" y="5138738"/>
            <a:ext cx="826977" cy="40143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7CF29A"/>
                </a:solidFill>
                <a:latin typeface="Arial"/>
                <a:cs typeface="Arial"/>
              </a:rPr>
              <a:t xml:space="preserve">يحقق</a:t>
            </a:r>
            <a:endParaRPr lang="ar-SA" sz="2400" dirty="0"/>
          </a:p>
        </p:txBody>
      </p:sp>
      <p:sp>
        <p:nvSpPr>
          <p:cNvPr id="27" name="Text 25"/>
          <p:cNvSpPr txBox="1"/>
          <p:nvPr/>
        </p:nvSpPr>
        <p:spPr>
          <a:xfrm rot="21300000">
            <a:off x="12877209" y="5918002"/>
            <a:ext cx="2008372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 xml:space="preserve">الليثيوم (</a:t>
            </a:r>
            <a:r>
              <a:rPr lang="en-US" sz="220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 xml:space="preserve">Li</a:t>
            </a: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 xml:space="preserve">)</a:t>
            </a:r>
            <a:endParaRPr lang="ar-SA" sz="2200" dirty="0"/>
          </a:p>
        </p:txBody>
      </p:sp>
      <p:grpSp>
        <p:nvGrpSpPr>
          <p:cNvPr id="28" name="Lewis Li"/>
          <p:cNvGrpSpPr/>
          <p:nvPr/>
        </p:nvGrpSpPr>
        <p:grpSpPr>
          <a:xfrm rot="21300000">
            <a:off x="11034233" y="5965230"/>
            <a:ext cx="1063256" cy="519509"/>
            <a:chOff x="11034233" y="5965230"/>
            <a:chExt cx="1063256" cy="519509"/>
          </a:xfrm>
        </p:grpSpPr>
        <p:sp>
          <p:nvSpPr>
            <p:cNvPr id="29" name="Text 27"/>
            <p:cNvSpPr txBox="1"/>
            <p:nvPr/>
          </p:nvSpPr>
          <p:spPr>
            <a:xfrm>
              <a:off x="11376837" y="6012458"/>
              <a:ext cx="378047" cy="42505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600" b="1" dirty="0">
                  <a:solidFill>
                    <a:srgbClr val="FFFFFF"/>
                  </a:solidFill>
                  <a:latin typeface="Arial"/>
                  <a:cs typeface="Arial"/>
                </a:rPr>
                <a:t xml:space="preserve">Li</a:t>
              </a:r>
              <a:endParaRPr lang="ar-SA" sz="2600" dirty="0"/>
            </a:p>
          </p:txBody>
        </p:sp>
        <p:sp>
          <p:nvSpPr>
            <p:cNvPr id="30" name="Dot 30"/>
            <p:cNvSpPr/>
            <p:nvPr/>
          </p:nvSpPr>
          <p:spPr>
            <a:xfrm>
              <a:off x="11759609" y="6194286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</p:grpSp>
      <p:sp>
        <p:nvSpPr>
          <p:cNvPr id="31" name="Text 29"/>
          <p:cNvSpPr txBox="1"/>
          <p:nvPr/>
        </p:nvSpPr>
        <p:spPr>
          <a:xfrm rot="21300000">
            <a:off x="9380279" y="6036072"/>
            <a:ext cx="1027814" cy="448667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يفقد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2400" dirty="0"/>
          </a:p>
        </p:txBody>
      </p:sp>
      <p:sp>
        <p:nvSpPr>
          <p:cNvPr id="32" name="Text 30"/>
          <p:cNvSpPr txBox="1"/>
          <p:nvPr/>
        </p:nvSpPr>
        <p:spPr>
          <a:xfrm rot="21300000">
            <a:off x="7371907" y="5965230"/>
            <a:ext cx="1346791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FFD84A"/>
                </a:solidFill>
                <a:latin typeface="Arial"/>
                <a:cs typeface="Arial"/>
              </a:rPr>
              <a:t xml:space="preserve">لا يحقق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1200" b="1" dirty="0">
                <a:solidFill>
                  <a:srgbClr val="FFD84A"/>
                </a:solidFill>
                <a:latin typeface="Arial"/>
                <a:cs typeface="Arial"/>
              </a:rPr>
              <a:t xml:space="preserve">(راجع الاستثناءات)</a:t>
            </a:r>
            <a:endParaRPr lang="ar-SA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3" grpId="0" animBg="1"/>
      <p:bldP spid="14" grpId="0" animBg="1"/>
      <p:bldP spid="15" grpId="0" animBg="1"/>
      <p:bldP spid="25" grpId="0" animBg="1"/>
      <p:bldP spid="26" grpId="0" animBg="1"/>
      <p:bldP spid="27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275907" y="1879997"/>
            <a:ext cx="3709581" cy="684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500" b="1" dirty="0">
                <a:solidFill>
                  <a:srgbClr val="7FE6F5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استثناءات قاعدة الثمانية</a:t>
            </a:r>
            <a:endParaRPr lang="ar-SA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1346791" y="2706489"/>
            <a:ext cx="3591442" cy="469919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هناك مبانٍ صغيرة لا تحتاج إلى </a:t>
            </a:r>
            <a:r>
              <a:rPr lang="en-US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8</a:t>
            </a:r>
            <a:r>
              <a:rPr lang="ar-SA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 إلكترونات، بل تستقر بإلكترونين فقط لتتشبّه بالجار العظيم: </a:t>
            </a:r>
            <a:r>
              <a:rPr lang="ar-SA" sz="18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الهيليوم (</a:t>
            </a:r>
            <a:r>
              <a:rPr lang="en-US" sz="1800" b="1" dirty="0" baseline="-2500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2</a:t>
            </a:r>
            <a:r>
              <a:rPr lang="en-US" sz="18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He</a:t>
            </a:r>
            <a:r>
              <a:rPr lang="ar-SA" sz="18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)</a:t>
            </a:r>
            <a:r>
              <a:rPr lang="ar-SA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.</a:t>
            </a:r>
            <a:endParaRPr lang="ar-SA" sz="1800" dirty="0"/>
          </a:p>
          <a:p>
            <a:pPr algn="r" rtl="1">
              <a:lnSpc>
                <a:spcPct val="92000"/>
              </a:lnSpc>
              <a:spcBef>
                <a:spcPts val="1000"/>
              </a:spcBef>
              <a:buNone/>
            </a:pPr>
            <a:r>
              <a:rPr lang="ar-SA" sz="18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• العناصر المستثناة:</a:t>
            </a:r>
            <a:r>
              <a:rPr lang="ar-SA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 الهيدروجين (</a:t>
            </a:r>
            <a:r>
              <a:rPr lang="en-US" sz="1800" b="1" dirty="0" baseline="-2500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1</a:t>
            </a:r>
            <a:r>
              <a:rPr lang="en-US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H</a:t>
            </a:r>
            <a:r>
              <a:rPr lang="ar-SA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)، الليثيوم (</a:t>
            </a:r>
            <a:r>
              <a:rPr lang="en-US" sz="1800" b="1" dirty="0" baseline="-2500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3</a:t>
            </a:r>
            <a:r>
              <a:rPr lang="en-US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Li</a:t>
            </a:r>
            <a:r>
              <a:rPr lang="ar-SA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)، البريليوم (</a:t>
            </a:r>
            <a:r>
              <a:rPr lang="en-US" sz="1800" b="1" dirty="0" baseline="-2500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4</a:t>
            </a:r>
            <a:r>
              <a:rPr lang="en-US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Be</a:t>
            </a:r>
            <a:r>
              <a:rPr lang="ar-SA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)، البورون (</a:t>
            </a:r>
            <a:r>
              <a:rPr lang="en-US" sz="1800" b="1" dirty="0" baseline="-2500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5</a:t>
            </a:r>
            <a:r>
              <a:rPr lang="en-US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B</a:t>
            </a:r>
            <a:r>
              <a:rPr lang="ar-SA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).</a:t>
            </a:r>
            <a:endParaRPr lang="ar-SA" sz="1800" dirty="0"/>
          </a:p>
          <a:p>
            <a:pPr algn="r" rtl="1">
              <a:lnSpc>
                <a:spcPct val="92000"/>
              </a:lnSpc>
              <a:spcBef>
                <a:spcPts val="1000"/>
              </a:spcBef>
              <a:buNone/>
            </a:pPr>
            <a:r>
              <a:rPr lang="ar-SA" sz="18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السبب:</a:t>
            </a:r>
            <a:r>
              <a:rPr lang="ar-SA" sz="18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 عندما تفقد هذه الذرات إلكترونات التكافؤ، يتبقى لديها مستوى طاقة أول ممتلئ بإلكترونين، وهو قمة الاستقرار لهذه المباني!</a:t>
            </a:r>
            <a:endParaRPr lang="ar-SA" sz="1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725581" y="2116138"/>
            <a:ext cx="6497674" cy="7320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6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التحدي الأكبر: أنت الكيميائي!</a:t>
            </a:r>
            <a:endParaRPr lang="ar-SA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607442" y="2989858"/>
            <a:ext cx="7041116" cy="120431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ar-SA" sz="1900" b="1" dirty="0">
                <a:solidFill>
                  <a:srgbClr val="6FE0F5"/>
                </a:solidFill>
                <a:latin typeface="Arial"/>
                <a:cs typeface="Arial"/>
              </a:rPr>
              <a:t xml:space="preserve">السؤال الأول: المصطلحات</a:t>
            </a:r>
            <a:endParaRPr lang="ar-SA" sz="1900" dirty="0"/>
          </a:p>
          <a:p>
            <a:pPr algn="r" rtl="1">
              <a:lnSpc>
                <a:spcPct val="90000"/>
              </a:lnSpc>
              <a:spcBef>
                <a:spcPts val="100"/>
              </a:spcBef>
              <a:buNone/>
            </a:pPr>
            <a:r>
              <a:rPr lang="ar-SA" sz="1600" b="1" dirty="0">
                <a:solidFill>
                  <a:srgbClr val="FFFFFF"/>
                </a:solidFill>
                <a:latin typeface="Arial"/>
                <a:cs typeface="Arial"/>
              </a:rPr>
              <a:t xml:space="preserve">- عدد الإلكترونات التي تفقدها الذرة أو تكتسبها أو تشارك بها... ← </a:t>
            </a:r>
            <a:r>
              <a:rPr lang="ar-SA" sz="1600" b="1" dirty="0">
                <a:solidFill>
                  <a:srgbClr val="6FE0F5"/>
                </a:solidFill>
                <a:latin typeface="Arial"/>
                <a:cs typeface="Arial"/>
              </a:rPr>
              <a:t xml:space="preserve">التكافؤ</a:t>
            </a:r>
            <a:endParaRPr lang="ar-SA" sz="1600" dirty="0"/>
          </a:p>
          <a:p>
            <a:pPr algn="r" rtl="1">
              <a:lnSpc>
                <a:spcPct val="90000"/>
              </a:lnSpc>
              <a:spcBef>
                <a:spcPts val="100"/>
              </a:spcBef>
              <a:buNone/>
            </a:pPr>
            <a:r>
              <a:rPr lang="ar-SA" sz="1600" b="1" dirty="0">
                <a:solidFill>
                  <a:srgbClr val="FFFFFF"/>
                </a:solidFill>
                <a:latin typeface="Arial"/>
                <a:cs typeface="Arial"/>
              </a:rPr>
              <a:t xml:space="preserve">- الأشكال التي توضح إلكترونات التكافؤ في صورة نقاط... ← </a:t>
            </a:r>
            <a:r>
              <a:rPr lang="ar-SA" sz="1600" b="1" dirty="0">
                <a:solidFill>
                  <a:srgbClr val="7CF29A"/>
                </a:solidFill>
                <a:latin typeface="Arial"/>
                <a:cs typeface="Arial"/>
              </a:rPr>
              <a:t xml:space="preserve">الترتيب الإلكتروني النقطي (تمثيل لويس)</a:t>
            </a:r>
            <a:endParaRPr lang="ar-SA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654698" y="4524772"/>
            <a:ext cx="6993860" cy="11334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ar-SA" sz="1900" b="1" dirty="0">
                <a:solidFill>
                  <a:srgbClr val="FFB347"/>
                </a:solidFill>
                <a:latin typeface="Arial"/>
                <a:cs typeface="Arial"/>
              </a:rPr>
              <a:t xml:space="preserve">السؤال الثاني: الاختيارات</a:t>
            </a:r>
            <a:endParaRPr lang="ar-SA" sz="1900" dirty="0"/>
          </a:p>
          <a:p>
            <a:pPr algn="r" rtl="1">
              <a:lnSpc>
                <a:spcPct val="90000"/>
              </a:lnSpc>
              <a:spcBef>
                <a:spcPts val="100"/>
              </a:spcBef>
              <a:buNone/>
            </a:pPr>
            <a:r>
              <a:rPr lang="ar-SA" sz="1600" b="1" dirty="0">
                <a:solidFill>
                  <a:srgbClr val="FFFFFF"/>
                </a:solidFill>
                <a:latin typeface="Arial"/>
                <a:cs typeface="Arial"/>
              </a:rPr>
              <a:t xml:space="preserve">- عدد إلكترونات التكافؤ لعنصر يقع في المجموعة (</a:t>
            </a:r>
            <a:r>
              <a:rPr lang="en-US" sz="1600" b="1" dirty="0">
                <a:solidFill>
                  <a:srgbClr val="FFFFFF"/>
                </a:solidFill>
                <a:latin typeface="Arial"/>
                <a:cs typeface="Arial"/>
              </a:rPr>
              <a:t xml:space="preserve">17</a:t>
            </a:r>
            <a:r>
              <a:rPr lang="ar-SA" sz="1600" b="1" dirty="0">
                <a:solidFill>
                  <a:srgbClr val="FFFFFF"/>
                </a:solidFill>
                <a:latin typeface="Arial"/>
                <a:cs typeface="Arial"/>
              </a:rPr>
              <a:t xml:space="preserve">): ← </a:t>
            </a:r>
            <a:r>
              <a:rPr lang="ar-SA" sz="1600" b="1" dirty="0">
                <a:solidFill>
                  <a:srgbClr val="FFB347"/>
                </a:solidFill>
                <a:latin typeface="Arial"/>
                <a:cs typeface="Arial"/>
              </a:rPr>
              <a:t xml:space="preserve">الإجابة: (</a:t>
            </a:r>
            <a:r>
              <a:rPr lang="en-US" sz="1600" b="1" dirty="0">
                <a:solidFill>
                  <a:srgbClr val="FFB347"/>
                </a:solidFill>
                <a:latin typeface="Arial"/>
                <a:cs typeface="Arial"/>
              </a:rPr>
              <a:t xml:space="preserve">7</a:t>
            </a:r>
            <a:r>
              <a:rPr lang="ar-SA" sz="16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600" dirty="0"/>
          </a:p>
          <a:p>
            <a:pPr algn="r" rtl="1">
              <a:lnSpc>
                <a:spcPct val="90000"/>
              </a:lnSpc>
              <a:spcBef>
                <a:spcPts val="100"/>
              </a:spcBef>
              <a:buNone/>
            </a:pPr>
            <a:r>
              <a:rPr lang="ar-SA" sz="1600" b="1" dirty="0">
                <a:solidFill>
                  <a:srgbClr val="FFFFFF"/>
                </a:solidFill>
                <a:latin typeface="Arial"/>
                <a:cs typeface="Arial"/>
              </a:rPr>
              <a:t xml:space="preserve">- إحدى الذرات التالية تصل للاستقرار عن طريق فقد إلكترونين: ← </a:t>
            </a:r>
            <a:r>
              <a:rPr lang="ar-SA" sz="1600" b="1" dirty="0">
                <a:solidFill>
                  <a:srgbClr val="FFB347"/>
                </a:solidFill>
                <a:latin typeface="Arial"/>
                <a:cs typeface="Arial"/>
              </a:rPr>
              <a:t xml:space="preserve">الإجابة: (</a:t>
            </a:r>
            <a:r>
              <a:rPr lang="en-US" sz="1600" b="1" dirty="0" baseline="-25000">
                <a:solidFill>
                  <a:srgbClr val="FFB347"/>
                </a:solidFill>
                <a:latin typeface="Arial"/>
                <a:cs typeface="Arial"/>
              </a:rPr>
              <a:t xml:space="preserve">12</a:t>
            </a:r>
            <a:r>
              <a:rPr lang="en-US" sz="1600" b="1" dirty="0">
                <a:solidFill>
                  <a:srgbClr val="FFB347"/>
                </a:solidFill>
                <a:latin typeface="Arial"/>
                <a:cs typeface="Arial"/>
              </a:rPr>
              <a:t xml:space="preserve">Mg</a:t>
            </a:r>
            <a:r>
              <a:rPr lang="ar-SA" sz="16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811721" y="5634633"/>
            <a:ext cx="1878419" cy="49589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5CFF7A"/>
                </a:solidFill>
                <a:effectLst>
                  <a:glow rad="63500">
                    <a:srgbClr val="29FF5A">
                      <a:alpha val="35000"/>
                    </a:srgbClr>
                  </a:glow>
                </a:effectLst>
                <a:latin typeface="Arial"/>
                <a:cs typeface="Arial"/>
              </a:rPr>
              <a:t xml:space="preserve">إجابة صحيحة!</a:t>
            </a:r>
            <a:endParaRPr lang="ar-SA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554047" y="5634633"/>
            <a:ext cx="1878419" cy="49589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5CFF7A"/>
                </a:solidFill>
                <a:effectLst>
                  <a:glow rad="63500">
                    <a:srgbClr val="29FF5A">
                      <a:alpha val="35000"/>
                    </a:srgbClr>
                  </a:glow>
                </a:effectLst>
                <a:latin typeface="Arial"/>
                <a:cs typeface="Arial"/>
              </a:rPr>
              <a:t xml:space="preserve">إجابة صحيحة!</a:t>
            </a:r>
            <a:endParaRPr lang="ar-SA" sz="2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2126512" y="439539"/>
            <a:ext cx="12050233" cy="80287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8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لغز النقاط الثلاث (أنت الكيميائي - السؤال الثالث)</a:t>
            </a:r>
            <a:endParaRPr lang="ar-SA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2788093" y="6933406"/>
            <a:ext cx="4938233" cy="96817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100" b="1" dirty="0">
                <a:solidFill>
                  <a:srgbClr val="FFFFFF"/>
                </a:solidFill>
                <a:latin typeface="Arial"/>
                <a:cs typeface="Arial"/>
              </a:rPr>
              <a:t xml:space="preserve">المعطيات: عنصر مجهول يحتوي ترتيبه النقطي على </a:t>
            </a:r>
            <a:r>
              <a:rPr lang="en-US" sz="2100" b="1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r>
              <a:rPr lang="ar-SA" sz="2100" b="1" dirty="0">
                <a:solidFill>
                  <a:srgbClr val="FFFFFF"/>
                </a:solidFill>
                <a:latin typeface="Arial"/>
                <a:cs typeface="Arial"/>
              </a:rPr>
              <a:t xml:space="preserve"> نقاط فقط.</a:t>
            </a:r>
            <a:endParaRPr lang="ar-SA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1128744" y="2021681"/>
            <a:ext cx="4205767" cy="5667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 xml:space="preserve">الاستنتاج الأول (رقم المجموعة):</a:t>
            </a:r>
            <a:endParaRPr lang="ar-SA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176000" y="2777331"/>
            <a:ext cx="4111256" cy="8973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900" b="1" dirty="0">
                <a:solidFill>
                  <a:srgbClr val="FFFFFF"/>
                </a:solidFill>
                <a:latin typeface="Arial"/>
                <a:cs typeface="Arial"/>
              </a:rPr>
              <a:t xml:space="preserve">بما أن لديه </a:t>
            </a:r>
            <a:r>
              <a:rPr lang="en-US" sz="1900" b="1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r>
              <a:rPr lang="ar-SA" sz="1900" b="1" dirty="0">
                <a:solidFill>
                  <a:srgbClr val="FFFFFF"/>
                </a:solidFill>
                <a:latin typeface="Arial"/>
                <a:cs typeface="Arial"/>
              </a:rPr>
              <a:t xml:space="preserve"> إلكترونات تكافؤ، فهو يقع في المجموعة (</a:t>
            </a:r>
            <a:r>
              <a:rPr lang="en-US" sz="1900" b="1" dirty="0">
                <a:solidFill>
                  <a:srgbClr val="FFFFFF"/>
                </a:solidFill>
                <a:latin typeface="Arial"/>
                <a:cs typeface="Arial"/>
              </a:rPr>
              <a:t xml:space="preserve">13</a:t>
            </a:r>
            <a:r>
              <a:rPr lang="ar-SA" sz="1900" b="1" dirty="0">
                <a:solidFill>
                  <a:srgbClr val="FFFFFF"/>
                </a:solidFill>
                <a:latin typeface="Arial"/>
                <a:cs typeface="Arial"/>
              </a:rPr>
              <a:t xml:space="preserve">).</a:t>
            </a:r>
            <a:endParaRPr lang="ar-SA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1128744" y="5091509"/>
            <a:ext cx="4205767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 xml:space="preserve">الاستنتاج الثاني (للوصول للاستقرار):</a:t>
            </a:r>
            <a:endParaRPr lang="ar-SA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176000" y="5729089"/>
            <a:ext cx="4111256" cy="127515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900" b="1" dirty="0">
                <a:solidFill>
                  <a:srgbClr val="FFFFFF"/>
                </a:solidFill>
                <a:latin typeface="Arial"/>
                <a:cs typeface="Arial"/>
              </a:rPr>
              <a:t xml:space="preserve">الأسهل أن يفقد </a:t>
            </a:r>
            <a:r>
              <a:rPr lang="en-US" sz="1900" b="1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r>
              <a:rPr lang="ar-SA" sz="1900" b="1" dirty="0">
                <a:solidFill>
                  <a:srgbClr val="FFFFFF"/>
                </a:solidFill>
                <a:latin typeface="Arial"/>
                <a:cs typeface="Arial"/>
              </a:rPr>
              <a:t xml:space="preserve"> إلكترونات (ليُفرغ طابقه الأخير) بدلاً من أن يكتسب </a:t>
            </a:r>
            <a:r>
              <a:rPr lang="en-US" sz="1900" b="1" dirty="0">
                <a:solidFill>
                  <a:srgbClr val="FFFFFF"/>
                </a:solidFill>
                <a:latin typeface="Arial"/>
                <a:cs typeface="Arial"/>
              </a:rPr>
              <a:t xml:space="preserve">5</a:t>
            </a:r>
            <a:r>
              <a:rPr lang="ar-SA" sz="1900" b="1" dirty="0">
                <a:solidFill>
                  <a:srgbClr val="FFFFFF"/>
                </a:solidFill>
                <a:latin typeface="Arial"/>
                <a:cs typeface="Arial"/>
              </a:rPr>
              <a:t xml:space="preserve"> إلكترونات ليحقق قاعدة الثمانية.</a:t>
            </a:r>
            <a:endParaRPr lang="ar-SA" sz="19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5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843721" y="392311"/>
            <a:ext cx="6615814" cy="88552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2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خريطة الاستقرار الشاملة</a:t>
            </a:r>
            <a:endParaRPr lang="ar-SA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1653953" y="5587405"/>
            <a:ext cx="2433674" cy="11098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 xml:space="preserve">إلكترونات التكافؤ</a:t>
            </a:r>
            <a:endParaRPr lang="ar-SA" sz="22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1E1E1E"/>
                </a:solidFill>
                <a:latin typeface="Arial"/>
                <a:cs typeface="Arial"/>
              </a:rPr>
              <a:t xml:space="preserve">(تحدد سلوك الذرة)</a:t>
            </a:r>
            <a:endParaRPr lang="ar-SA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772837" y="1478558"/>
            <a:ext cx="2929860" cy="8973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تمثيل لويس النقطي</a:t>
            </a:r>
            <a:endParaRPr lang="ar-SA" sz="21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(يكشف العدد)</a:t>
            </a:r>
            <a:endParaRPr lang="ar-SA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505302" y="3462139"/>
            <a:ext cx="1961116" cy="873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88000"/>
              </a:lnSpc>
              <a:buNone/>
            </a:pPr>
            <a:r>
              <a:rPr lang="ar-SA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الذرات ذات</a:t>
            </a:r>
            <a:endParaRPr lang="ar-SA" sz="16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en-US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1</a:t>
            </a:r>
            <a:r>
              <a:rPr lang="ar-SA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 أو </a:t>
            </a:r>
            <a:r>
              <a:rPr lang="en-US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2</a:t>
            </a:r>
            <a:r>
              <a:rPr lang="ar-SA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 أو </a:t>
            </a:r>
            <a:r>
              <a:rPr lang="en-US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3</a:t>
            </a:r>
            <a:endParaRPr lang="ar-SA" sz="16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إلكترونات</a:t>
            </a:r>
            <a:endParaRPr lang="ar-SA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844465" y="3556595"/>
            <a:ext cx="992372" cy="49589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900" b="1" dirty="0">
                <a:solidFill>
                  <a:srgbClr val="1E1E1E"/>
                </a:solidFill>
                <a:latin typeface="Arial"/>
                <a:cs typeface="Arial"/>
              </a:rPr>
              <a:t xml:space="preserve">تفقد</a:t>
            </a:r>
            <a:endParaRPr lang="ar-SA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67628" y="3509367"/>
            <a:ext cx="1819349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700" b="1" dirty="0">
                <a:solidFill>
                  <a:srgbClr val="1E1E1E"/>
                </a:solidFill>
                <a:latin typeface="Arial"/>
                <a:cs typeface="Arial"/>
              </a:rPr>
              <a:t xml:space="preserve">تصبح</a:t>
            </a:r>
            <a:endParaRPr lang="ar-SA" sz="17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1E1E1E"/>
                </a:solidFill>
                <a:latin typeface="Arial"/>
                <a:cs typeface="Arial"/>
              </a:rPr>
              <a:t xml:space="preserve">كاتيوناً موجباً</a:t>
            </a:r>
            <a:endParaRPr lang="ar-SA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694326" y="4973439"/>
            <a:ext cx="1866605" cy="11098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88000"/>
              </a:lnSpc>
              <a:buNone/>
            </a:pPr>
            <a:r>
              <a:rPr lang="ar-SA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الذرات ذات</a:t>
            </a:r>
            <a:endParaRPr lang="ar-SA" sz="16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en-US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5</a:t>
            </a:r>
            <a:r>
              <a:rPr lang="ar-SA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 أو </a:t>
            </a:r>
            <a:r>
              <a:rPr lang="en-US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6</a:t>
            </a:r>
            <a:r>
              <a:rPr lang="ar-SA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 أو </a:t>
            </a:r>
            <a:r>
              <a:rPr lang="en-US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7</a:t>
            </a:r>
            <a:endParaRPr lang="ar-SA" sz="16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1600" b="1" dirty="0">
                <a:solidFill>
                  <a:srgbClr val="1E1E1E"/>
                </a:solidFill>
                <a:latin typeface="Arial"/>
                <a:cs typeface="Arial"/>
              </a:rPr>
              <a:t xml:space="preserve">إلكترونات</a:t>
            </a:r>
            <a:endParaRPr lang="ar-SA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844465" y="5422106"/>
            <a:ext cx="1039628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900" b="1" dirty="0">
                <a:solidFill>
                  <a:srgbClr val="1E1E1E"/>
                </a:solidFill>
                <a:latin typeface="Arial"/>
                <a:cs typeface="Arial"/>
              </a:rPr>
              <a:t xml:space="preserve">تكتسب</a:t>
            </a:r>
            <a:endParaRPr lang="ar-SA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285767" y="5185966"/>
            <a:ext cx="1559442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700" b="1" dirty="0">
                <a:solidFill>
                  <a:srgbClr val="1E1E1E"/>
                </a:solidFill>
                <a:latin typeface="Arial"/>
                <a:cs typeface="Arial"/>
              </a:rPr>
              <a:t xml:space="preserve">تصبح</a:t>
            </a:r>
            <a:endParaRPr lang="ar-SA" sz="17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1E1E1E"/>
                </a:solidFill>
                <a:latin typeface="Arial"/>
                <a:cs typeface="Arial"/>
              </a:rPr>
              <a:t xml:space="preserve">أنيوناً سالباً</a:t>
            </a:r>
            <a:endParaRPr lang="ar-SA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1766698" y="6248598"/>
            <a:ext cx="3048000" cy="873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300" b="1" dirty="0">
                <a:solidFill>
                  <a:srgbClr val="1E1E1E"/>
                </a:solidFill>
                <a:latin typeface="Arial"/>
                <a:cs typeface="Arial"/>
              </a:rPr>
              <a:t xml:space="preserve">الاستقرار</a:t>
            </a:r>
            <a:endParaRPr lang="ar-SA" sz="23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1E1E1E"/>
                </a:solidFill>
                <a:latin typeface="Arial"/>
                <a:cs typeface="Arial"/>
              </a:rPr>
              <a:t xml:space="preserve">(تحقيق قاعدة الثمانية)</a:t>
            </a:r>
            <a:endParaRPr lang="ar-SA" sz="17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1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5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6379535" y="557609"/>
            <a:ext cx="6710326" cy="184189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4800" b="1" dirty="0">
                <a:solidFill>
                  <a:srgbClr val="2E3440"/>
                </a:solidFill>
                <a:effectLst>
                  <a:outerShdw blurRad="12700" dist="38100" dir="2700000" algn="tl" rotWithShape="0">
                    <a:srgbClr val="000000">
                      <a:alpha val="55000"/>
                    </a:srgbClr>
                  </a:outerShdw>
                </a:effectLst>
                <a:latin typeface="Arial"/>
                <a:cs typeface="Arial"/>
              </a:rPr>
              <a:t xml:space="preserve">التقرير النهائي:</a:t>
            </a:r>
            <a:endParaRPr lang="ar-SA" sz="48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4800" b="1" dirty="0">
                <a:solidFill>
                  <a:srgbClr val="2E3440"/>
                </a:solidFill>
                <a:effectLst>
                  <a:outerShdw blurRad="12700" dist="38100" dir="2700000" algn="tl" rotWithShape="0">
                    <a:srgbClr val="000000">
                      <a:alpha val="55000"/>
                    </a:srgbClr>
                  </a:outerShdw>
                </a:effectLst>
                <a:latin typeface="Arial"/>
                <a:cs typeface="Arial"/>
              </a:rPr>
              <a:t xml:space="preserve">شهادة التدقيق المعماري</a:t>
            </a:r>
            <a:endParaRPr lang="ar-SA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733953" y="2919016"/>
            <a:ext cx="1606698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700" b="1" dirty="0">
                <a:solidFill>
                  <a:srgbClr val="1E1E1E"/>
                </a:solidFill>
                <a:latin typeface="Arial"/>
                <a:cs typeface="Arial"/>
              </a:rPr>
              <a:t xml:space="preserve">العنصر</a:t>
            </a:r>
            <a:endParaRPr lang="ar-SA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387907" y="2919016"/>
            <a:ext cx="1110512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700" b="1" dirty="0">
                <a:solidFill>
                  <a:srgbClr val="1E1E1E"/>
                </a:solidFill>
                <a:latin typeface="Arial"/>
                <a:cs typeface="Arial"/>
              </a:rPr>
              <a:t xml:space="preserve">الترتيب الإلكتروني</a:t>
            </a:r>
            <a:endParaRPr lang="ar-SA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545674" y="2919016"/>
            <a:ext cx="1098698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700" b="1" dirty="0">
                <a:solidFill>
                  <a:srgbClr val="1E1E1E"/>
                </a:solidFill>
                <a:latin typeface="Arial"/>
                <a:cs typeface="Arial"/>
              </a:rPr>
              <a:t xml:space="preserve">إلكترونات التكافؤ</a:t>
            </a:r>
            <a:endParaRPr lang="ar-SA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691628" y="2919016"/>
            <a:ext cx="1134140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700" b="1" dirty="0">
                <a:solidFill>
                  <a:srgbClr val="1E1E1E"/>
                </a:solidFill>
                <a:latin typeface="Arial"/>
                <a:cs typeface="Arial"/>
              </a:rPr>
              <a:t xml:space="preserve">التكافؤ</a:t>
            </a:r>
            <a:endParaRPr lang="ar-SA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1884837" y="2919016"/>
            <a:ext cx="1110512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700" b="1" dirty="0">
                <a:solidFill>
                  <a:srgbClr val="1E1E1E"/>
                </a:solidFill>
                <a:latin typeface="Arial"/>
                <a:cs typeface="Arial"/>
              </a:rPr>
              <a:t xml:space="preserve">الترتيب النقطي</a:t>
            </a:r>
            <a:endParaRPr lang="ar-SA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733953" y="3863578"/>
            <a:ext cx="160669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 xml:space="preserve">النيتروجين (</a:t>
            </a:r>
            <a:r>
              <a:rPr lang="en-US" sz="1800" b="1" dirty="0" baseline="-25000">
                <a:solidFill>
                  <a:srgbClr val="1E1E1E"/>
                </a:solidFill>
                <a:latin typeface="Arial"/>
                <a:cs typeface="Arial"/>
              </a:rPr>
              <a:t xml:space="preserve">7</a:t>
            </a:r>
            <a:r>
              <a:rPr lang="en-US" sz="1800" b="1" dirty="0">
                <a:solidFill>
                  <a:srgbClr val="1E1E1E"/>
                </a:solidFill>
                <a:latin typeface="Arial"/>
                <a:cs typeface="Arial"/>
              </a:rPr>
              <a:t xml:space="preserve">N</a:t>
            </a: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 xml:space="preserve">)</a:t>
            </a:r>
            <a:endParaRPr lang="ar-SA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387907" y="3863578"/>
            <a:ext cx="1110512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2,5</a:t>
            </a:r>
            <a:endParaRPr lang="ar-SA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545674" y="3863578"/>
            <a:ext cx="1098698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5</a:t>
            </a:r>
            <a:endParaRPr lang="ar-SA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0691628" y="3863578"/>
            <a:ext cx="1134140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يكتسب </a:t>
            </a: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3</a:t>
            </a:r>
            <a:endParaRPr lang="ar-SA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733953" y="4642842"/>
            <a:ext cx="160669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 xml:space="preserve">الكبريت (</a:t>
            </a:r>
            <a:r>
              <a:rPr lang="en-US" sz="1800" b="1" dirty="0" baseline="-25000">
                <a:solidFill>
                  <a:srgbClr val="1E1E1E"/>
                </a:solidFill>
                <a:latin typeface="Arial"/>
                <a:cs typeface="Arial"/>
              </a:rPr>
              <a:t xml:space="preserve">16</a:t>
            </a:r>
            <a:r>
              <a:rPr lang="en-US" sz="1800" b="1" dirty="0">
                <a:solidFill>
                  <a:srgbClr val="1E1E1E"/>
                </a:solidFill>
                <a:latin typeface="Arial"/>
                <a:cs typeface="Arial"/>
              </a:rPr>
              <a:t xml:space="preserve">S</a:t>
            </a: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 xml:space="preserve">)</a:t>
            </a:r>
            <a:endParaRPr lang="ar-SA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87907" y="4642842"/>
            <a:ext cx="1110512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2,8,6</a:t>
            </a:r>
            <a:endParaRPr lang="ar-SA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545674" y="4642842"/>
            <a:ext cx="1098698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6</a:t>
            </a:r>
            <a:endParaRPr lang="ar-SA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0691628" y="4642842"/>
            <a:ext cx="1134140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يكتسب </a:t>
            </a: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2</a:t>
            </a:r>
            <a:endParaRPr lang="ar-SA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733953" y="5433913"/>
            <a:ext cx="1606698" cy="684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 xml:space="preserve">الكالسيوم (</a:t>
            </a:r>
            <a:r>
              <a:rPr lang="en-US" sz="1800" b="1" dirty="0" baseline="-25000">
                <a:solidFill>
                  <a:srgbClr val="1E1E1E"/>
                </a:solidFill>
                <a:latin typeface="Arial"/>
                <a:cs typeface="Arial"/>
              </a:rPr>
              <a:t xml:space="preserve">20</a:t>
            </a:r>
            <a:r>
              <a:rPr lang="en-US" sz="1800" b="1" dirty="0">
                <a:solidFill>
                  <a:srgbClr val="1E1E1E"/>
                </a:solidFill>
                <a:latin typeface="Arial"/>
                <a:cs typeface="Arial"/>
              </a:rPr>
              <a:t xml:space="preserve">Ca</a:t>
            </a: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 xml:space="preserve">)</a:t>
            </a:r>
            <a:endParaRPr lang="ar-SA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87907" y="5433913"/>
            <a:ext cx="1110512" cy="68480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2,8,8,2</a:t>
            </a:r>
            <a:endParaRPr lang="ar-SA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545674" y="5433913"/>
            <a:ext cx="1098698" cy="68480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2</a:t>
            </a:r>
            <a:endParaRPr lang="ar-SA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0691628" y="5433913"/>
            <a:ext cx="1134140" cy="68480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يفقد </a:t>
            </a: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 xml:space="preserve">2</a:t>
            </a:r>
            <a:endParaRPr lang="ar-SA" sz="2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1053505"/>
            <a:ext cx="10065488" cy="247947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7000" b="1" dirty="0">
                <a:ln w="28575">
                  <a:solidFill>
                    <a:srgbClr val="B9741C"/>
                  </a:solidFill>
                </a:ln>
                <a:solidFill>
                  <a:srgbClr val="FFFFFF"/>
                </a:solidFill>
                <a:effectLst>
                  <a:glow rad="88900">
                    <a:srgbClr val="FFD27A">
                      <a:alpha val="40000"/>
                    </a:srgbClr>
                  </a:glow>
                  <a:outerShdw blurRad="12700" dist="63500" dir="2700000" algn="tl" rotWithShape="0">
                    <a:srgbClr val="7A4A12">
                      <a:alpha val="95000"/>
                    </a:srgbClr>
                  </a:outerShdw>
                </a:effectLst>
                <a:latin typeface="Arial"/>
                <a:cs typeface="Arial"/>
              </a:rPr>
              <a:t xml:space="preserve">تم تأمين</a:t>
            </a:r>
            <a:endParaRPr lang="ar-SA" sz="70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7000" b="1" dirty="0">
                <a:ln w="28575">
                  <a:solidFill>
                    <a:srgbClr val="B9741C"/>
                  </a:solidFill>
                </a:ln>
                <a:solidFill>
                  <a:srgbClr val="FFFFFF"/>
                </a:solidFill>
                <a:effectLst>
                  <a:glow rad="88900">
                    <a:srgbClr val="FFD27A">
                      <a:alpha val="40000"/>
                    </a:srgbClr>
                  </a:glow>
                  <a:outerShdw blurRad="12700" dist="63500" dir="2700000" algn="tl" rotWithShape="0">
                    <a:srgbClr val="7A4A12">
                      <a:alpha val="95000"/>
                    </a:srgbClr>
                  </a:outerShdw>
                </a:effectLst>
                <a:latin typeface="Arial"/>
                <a:cs typeface="Arial"/>
              </a:rPr>
              <a:t xml:space="preserve">الاستقرار الكيميائي بنجاح!</a:t>
            </a:r>
            <a:endParaRPr lang="ar-SA" sz="7000" dirty="0"/>
          </a:p>
        </p:txBody>
      </p:sp>
      <p:sp>
        <p:nvSpPr>
          <p:cNvPr id="4" name="Text 2"/>
          <p:cNvSpPr txBox="1"/>
          <p:nvPr/>
        </p:nvSpPr>
        <p:spPr>
          <a:xfrm>
            <a:off x="4465674" y="3910806"/>
            <a:ext cx="7608186" cy="873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2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لقد أتقنتم إدارة «عمال الطابق الأخير»، وفككتم شفرة الاستقرار.</a:t>
            </a:r>
            <a:endParaRPr lang="ar-SA" sz="2200" dirty="0"/>
          </a:p>
          <a:p>
            <a:pPr algn="ctr" rtl="1">
              <a:lnSpc>
                <a:spcPct val="92000"/>
              </a:lnSpc>
              <a:spcBef>
                <a:spcPts val="0"/>
              </a:spcBef>
              <a:buNone/>
            </a:pPr>
            <a:r>
              <a:rPr lang="ar-SA" sz="22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أنتم الآن مهندسو كيمياء معتمدون.</a:t>
            </a:r>
            <a:endParaRPr lang="ar-SA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انوار صالح عبدالله خزار</cp:lastModifiedBy>
  <cp:revision>2</cp:revision>
  <dcterms:created xsi:type="dcterms:W3CDTF">2006-08-16T00:00:00Z</dcterms:created>
  <dcterms:modified xsi:type="dcterms:W3CDTF">2026-10-27T12:18:41Z</dcterms:modified>
</cp:coreProperties>
</file>