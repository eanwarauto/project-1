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Relationship Id="rId11" Type="http://schemas.openxmlformats.org/officeDocument/2006/relationships/image" Target="../media/dot_H_0.png" /><Relationship Id="rId12" Type="http://schemas.openxmlformats.org/officeDocument/2006/relationships/image" Target="../media/dot_C_0.png" /><Relationship Id="rId13" Type="http://schemas.openxmlformats.org/officeDocument/2006/relationships/image" Target="../media/dot_C_1.png" /><Relationship Id="rId14" Type="http://schemas.openxmlformats.org/officeDocument/2006/relationships/image" Target="../media/dot_C_2.png" /><Relationship Id="rId15" Type="http://schemas.openxmlformats.org/officeDocument/2006/relationships/image" Target="../media/dot_C_3.png" /><Relationship Id="rId16" Type="http://schemas.openxmlformats.org/officeDocument/2006/relationships/image" Target="../media/dot_N_0.png" /><Relationship Id="rId17" Type="http://schemas.openxmlformats.org/officeDocument/2006/relationships/image" Target="../media/dot_N_1.png" /><Relationship Id="rId18" Type="http://schemas.openxmlformats.org/officeDocument/2006/relationships/image" Target="../media/dot_N_2.png" /><Relationship Id="rId19" Type="http://schemas.openxmlformats.org/officeDocument/2006/relationships/image" Target="../media/dot_N_3.png" /><Relationship Id="rId20" Type="http://schemas.openxmlformats.org/officeDocument/2006/relationships/image" Target="../media/dot_N_4.png" /><Relationship Id="rId21" Type="http://schemas.openxmlformats.org/officeDocument/2006/relationships/image" Target="../media/dot_K_0.png" /><Relationship Id="rId22" Type="http://schemas.openxmlformats.org/officeDocument/2006/relationships/image" Target="../media/dot_Be_0.png" /><Relationship Id="rId23" Type="http://schemas.openxmlformats.org/officeDocument/2006/relationships/image" Target="../media/dot_Be_1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3095256" y="297855"/>
            <a:ext cx="10065488" cy="198358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6000" b="1" dirty="0">
                <a:ln w="28575">
                  <a:solidFill>
                    <a:srgbClr val="2C62C9"/>
                  </a:solidFill>
                </a:ln>
                <a:solidFill>
                  <a:srgbClr val="FFFFFF"/>
                </a:solidFill>
                <a:effectLst>
                  <a:glow rad="101600">
                    <a:srgbClr val="9FD8FF">
                      <a:alpha val="50000"/>
                    </a:srgbClr>
                  </a:glow>
                  <a:outerShdw blurRad="12700" dist="57150" dir="2700000" algn="tl" rotWithShape="0">
                    <a:srgbClr val="1B3F8F">
                      <a:alpha val="90000"/>
                    </a:srgbClr>
                  </a:outerShdw>
                </a:effectLst>
                <a:latin typeface="Arial"/>
                <a:cs typeface="Arial"/>
              </a:rPr>
              <a:t>الترتيب الإلكتروني وإلكترونات</a:t>
            </a:r>
            <a:endParaRPr lang="ar-SA" sz="6000" dirty="0"/>
          </a:p>
          <a:p>
            <a:pPr algn="ct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6000" b="1" dirty="0">
                <a:ln w="28575">
                  <a:solidFill>
                    <a:srgbClr val="2C62C9"/>
                  </a:solidFill>
                </a:ln>
                <a:solidFill>
                  <a:srgbClr val="FFFFFF"/>
                </a:solidFill>
                <a:effectLst>
                  <a:glow rad="101600">
                    <a:srgbClr val="9FD8FF">
                      <a:alpha val="50000"/>
                    </a:srgbClr>
                  </a:glow>
                  <a:outerShdw blurRad="12700" dist="57150" dir="2700000" algn="tl" rotWithShape="0">
                    <a:srgbClr val="1B3F8F">
                      <a:alpha val="90000"/>
                    </a:srgbClr>
                  </a:outerShdw>
                </a:effectLst>
                <a:latin typeface="Arial"/>
                <a:cs typeface="Arial"/>
              </a:rPr>
              <a:t>التكافؤ وقاعدة الثمانية</a:t>
            </a:r>
            <a:endParaRPr lang="ar-SA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2717209" y="2399506"/>
            <a:ext cx="10821581" cy="8028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000" b="1" dirty="0">
                <a:solidFill>
                  <a:srgbClr val="1B2A4A"/>
                </a:solidFill>
                <a:latin typeface="Arial"/>
                <a:cs typeface="Arial"/>
              </a:rPr>
              <a:t>رحلة استكشافية في مدينة الاستقرار الكيميائي</a:t>
            </a:r>
            <a:endParaRPr lang="ar-SA" sz="4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5824904" y="3228404"/>
            <a:ext cx="4113808" cy="37546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2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الإجابة: البناء المكتمل على اليمين.</a:t>
            </a:r>
            <a:endParaRPr lang="ar-SA" sz="2400" dirty="0"/>
          </a:p>
          <a:p>
            <a:pPr algn="r" rtl="1">
              <a:lnSpc>
                <a:spcPct val="92000"/>
              </a:lnSpc>
              <a:spcBef>
                <a:spcPts val="80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السبب: لأنه متوازن ومكتمل البناء، تماماً مثل ذرات الغازات النبيلة.</a:t>
            </a:r>
            <a:endParaRPr lang="ar-SA" sz="2400" dirty="0"/>
          </a:p>
          <a:p>
            <a:pPr algn="r" rtl="1">
              <a:lnSpc>
                <a:spcPct val="92000"/>
              </a:lnSpc>
              <a:spcBef>
                <a:spcPts val="80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الحل للوصول للاستقرار: يحتاج المبنى غير المكتمل إلى إكمال بناء طابقه الأخير ليصبح أكثر استقراراً.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 rot="21420000">
            <a:off x="2941561" y="7545738"/>
            <a:ext cx="2599070" cy="920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500" b="1" dirty="0">
                <a:solidFill>
                  <a:srgbClr val="2B2B2B"/>
                </a:solidFill>
                <a:latin typeface="Arial"/>
                <a:cs typeface="Arial"/>
              </a:rPr>
              <a:t>عناصر أخرى</a:t>
            </a:r>
            <a:endParaRPr lang="ar-SA" sz="2500" dirty="0"/>
          </a:p>
          <a:p>
            <a:pPr algn="ctr" rtl="1">
              <a:lnSpc>
                <a:spcPct val="90000"/>
              </a:lnSpc>
              <a:spcBef>
                <a:spcPts val="0"/>
              </a:spcBef>
              <a:buNone/>
            </a:pPr>
            <a:r>
              <a:rPr lang="ar-SA" sz="2500" b="1" dirty="0">
                <a:solidFill>
                  <a:srgbClr val="2B2B2B"/>
                </a:solidFill>
                <a:latin typeface="Arial"/>
                <a:cs typeface="Arial"/>
              </a:rPr>
              <a:t>(غير مستقرة)</a:t>
            </a:r>
            <a:endParaRPr lang="ar-SA" sz="2500" dirty="0"/>
          </a:p>
        </p:txBody>
      </p:sp>
      <p:sp>
        <p:nvSpPr>
          <p:cNvPr id="5" name="Text 3"/>
          <p:cNvSpPr txBox="1"/>
          <p:nvPr/>
        </p:nvSpPr>
        <p:spPr>
          <a:xfrm rot="360000">
            <a:off x="9921337" y="7147865"/>
            <a:ext cx="3024372" cy="122793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400" b="1" dirty="0">
                <a:solidFill>
                  <a:srgbClr val="1B2A4A"/>
                </a:solidFill>
                <a:latin typeface="Arial"/>
                <a:cs typeface="Arial"/>
              </a:rPr>
              <a:t>عناصر المجموعة </a:t>
            </a:r>
            <a:r>
              <a:rPr lang="en-US" sz="2400" b="1" dirty="0">
                <a:solidFill>
                  <a:srgbClr val="1B2A4A"/>
                </a:solidFill>
                <a:latin typeface="Arial"/>
                <a:cs typeface="Arial"/>
              </a:rPr>
              <a:t>18</a:t>
            </a:r>
            <a:endParaRPr lang="ar-SA" sz="2400" dirty="0"/>
          </a:p>
          <a:p>
            <a:pPr algn="ctr" rtl="1">
              <a:lnSpc>
                <a:spcPct val="90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1B2A4A"/>
                </a:solidFill>
                <a:latin typeface="Arial"/>
                <a:cs typeface="Arial"/>
              </a:rPr>
              <a:t>(الغازات النبيلة)</a:t>
            </a:r>
            <a:endParaRPr lang="ar-SA" sz="2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061CDA7-4D4F-01B9-6372-476C711E6509}"/>
              </a:ext>
            </a:extLst>
          </p:cNvPr>
          <p:cNvSpPr txBox="1"/>
          <p:nvPr/>
        </p:nvSpPr>
        <p:spPr>
          <a:xfrm>
            <a:off x="6276386" y="2505393"/>
            <a:ext cx="3662326" cy="1446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2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سؤال المفتش: أي البناءين يبدو أكثر استقراراً؟</a:t>
            </a:r>
            <a:endParaRPr lang="ar-SA" sz="2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394047" y="1077119"/>
            <a:ext cx="3993116" cy="1605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2000"/>
              </a:lnSpc>
              <a:buNone/>
            </a:pP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مستوى التكافؤ (</a:t>
            </a:r>
            <a:r>
              <a:rPr lang="en-US" sz="2000" b="1" dirty="0">
                <a:solidFill>
                  <a:srgbClr val="FFB347"/>
                </a:solidFill>
                <a:latin typeface="Arial"/>
                <a:cs typeface="Arial"/>
              </a:rPr>
              <a:t>Valence</a:t>
            </a: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FFB347"/>
                </a:solidFill>
                <a:latin typeface="Arial"/>
                <a:cs typeface="Arial"/>
              </a:rPr>
              <a:t>Shell</a:t>
            </a: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)</a:t>
            </a:r>
            <a:endParaRPr lang="ar-SA" sz="2000" dirty="0"/>
          </a:p>
          <a:p>
            <a:pPr algn="r" rtl="1">
              <a:lnSpc>
                <a:spcPct val="92000"/>
              </a:lnSpc>
              <a:spcBef>
                <a:spcPts val="20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>مستوى الطاقة الخارجي للذرة الذي تُفقد منه الإلكترونات أو تنتقل إليه (الطابق الأخير للمبنى).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441302" y="3509367"/>
            <a:ext cx="3898605" cy="120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2000"/>
              </a:lnSpc>
              <a:buNone/>
            </a:pP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إلكترونات التكافؤ (</a:t>
            </a:r>
            <a:r>
              <a:rPr lang="en-US" sz="2000" b="1" dirty="0">
                <a:solidFill>
                  <a:srgbClr val="FFB347"/>
                </a:solidFill>
                <a:latin typeface="Arial"/>
                <a:cs typeface="Arial"/>
              </a:rPr>
              <a:t>Valence</a:t>
            </a: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FFB347"/>
                </a:solidFill>
                <a:latin typeface="Arial"/>
                <a:cs typeface="Arial"/>
              </a:rPr>
              <a:t>Electrons</a:t>
            </a: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)</a:t>
            </a:r>
            <a:endParaRPr lang="ar-SA" sz="2000" dirty="0"/>
          </a:p>
          <a:p>
            <a:pPr algn="r" rtl="1">
              <a:lnSpc>
                <a:spcPct val="92000"/>
              </a:lnSpc>
              <a:spcBef>
                <a:spcPts val="20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>الإلكترونات الموجودة في أعلى مستوى طاقة (الدرونز العاملة في الطابق الأخير).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52279" y="5847159"/>
            <a:ext cx="3993116" cy="17238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2000"/>
              </a:lnSpc>
              <a:buNone/>
            </a:pP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التكافؤ (</a:t>
            </a:r>
            <a:r>
              <a:rPr lang="en-US" sz="2000" b="1" dirty="0">
                <a:solidFill>
                  <a:srgbClr val="FFB347"/>
                </a:solidFill>
                <a:latin typeface="Arial"/>
                <a:cs typeface="Arial"/>
              </a:rPr>
              <a:t>Valency</a:t>
            </a: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>)</a:t>
            </a:r>
            <a:endParaRPr lang="ar-SA" sz="2000" dirty="0"/>
          </a:p>
          <a:p>
            <a:pPr algn="r" rtl="1">
              <a:lnSpc>
                <a:spcPct val="92000"/>
              </a:lnSpc>
              <a:spcBef>
                <a:spcPts val="20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>عدد الإلكترونات التي تفقدها الذرة أو تكتسبها أو تشارك بها للوصول إلى حالة الاستقرار (عدد الدرونز المطلوبة لإكمال الطابق الأخير أو إخلائه).</a:t>
            </a:r>
            <a:endParaRPr lang="ar-SA" sz="1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0691628" y="1809155"/>
            <a:ext cx="4879163" cy="14168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4200" b="1" dirty="0">
                <a:solidFill>
                  <a:srgbClr val="1E4E8C"/>
                </a:solidFill>
                <a:latin typeface="Arial"/>
                <a:cs typeface="Arial"/>
              </a:rPr>
              <a:t>المهندس «لويس»</a:t>
            </a:r>
            <a:endParaRPr lang="ar-SA" sz="4200" dirty="0"/>
          </a:p>
          <a:p>
            <a:pPr algn="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4200" b="1" dirty="0">
                <a:solidFill>
                  <a:srgbClr val="1E4E8C"/>
                </a:solidFill>
                <a:latin typeface="Arial"/>
                <a:cs typeface="Arial"/>
              </a:rPr>
              <a:t>ومخططاته العبقرية</a:t>
            </a:r>
            <a:endParaRPr lang="ar-SA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0514419" y="3320455"/>
            <a:ext cx="5056372" cy="39199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5000"/>
              </a:lnSpc>
              <a:buNone/>
            </a:pPr>
            <a:r>
              <a:rPr lang="ar-SA" sz="2200" b="1" dirty="0">
                <a:solidFill>
                  <a:srgbClr val="1E1E1E"/>
                </a:solidFill>
                <a:latin typeface="Arial"/>
                <a:cs typeface="Arial"/>
              </a:rPr>
              <a:t>في عام </a:t>
            </a:r>
            <a:r>
              <a:rPr lang="en-US" sz="2200" b="1" dirty="0">
                <a:solidFill>
                  <a:srgbClr val="1E1E1E"/>
                </a:solidFill>
                <a:latin typeface="Arial"/>
                <a:cs typeface="Arial"/>
              </a:rPr>
              <a:t>1916</a:t>
            </a:r>
            <a:r>
              <a:rPr lang="ar-SA" sz="2200" b="1" dirty="0">
                <a:solidFill>
                  <a:srgbClr val="1E1E1E"/>
                </a:solidFill>
                <a:latin typeface="Arial"/>
                <a:cs typeface="Arial"/>
              </a:rPr>
              <a:t>، ابتكر العالم جيلبرت لويس طريقة ذكية لمراقبة عمال الطابق الأخير فقط.</a:t>
            </a:r>
            <a:endParaRPr lang="ar-SA" sz="2200" dirty="0"/>
          </a:p>
          <a:p>
            <a:pPr algn="r" rtl="1">
              <a:lnSpc>
                <a:spcPct val="95000"/>
              </a:lnSpc>
              <a:spcBef>
                <a:spcPts val="1000"/>
              </a:spcBef>
              <a:buNone/>
            </a:pPr>
            <a:r>
              <a:rPr lang="ar-SA" sz="2200" b="1" dirty="0">
                <a:solidFill>
                  <a:srgbClr val="1E1E1E"/>
                </a:solidFill>
                <a:latin typeface="Arial"/>
                <a:cs typeface="Arial"/>
              </a:rPr>
              <a:t>الترتيب الإلكتروني النقطي (</a:t>
            </a:r>
            <a:r>
              <a:rPr lang="en-US" sz="2200" b="1" dirty="0">
                <a:solidFill>
                  <a:srgbClr val="1E1E1E"/>
                </a:solidFill>
                <a:latin typeface="Arial"/>
                <a:cs typeface="Arial"/>
              </a:rPr>
              <a:t>Electron</a:t>
            </a:r>
            <a:r>
              <a:rPr lang="ar-SA" sz="2200" b="1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srgbClr val="1E1E1E"/>
                </a:solidFill>
                <a:latin typeface="Arial"/>
                <a:cs typeface="Arial"/>
              </a:rPr>
              <a:t>Dot</a:t>
            </a:r>
            <a:r>
              <a:rPr lang="ar-SA" sz="2200" b="1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srgbClr val="1E1E1E"/>
                </a:solidFill>
                <a:latin typeface="Arial"/>
                <a:cs typeface="Arial"/>
              </a:rPr>
              <a:t>Structure</a:t>
            </a:r>
            <a:r>
              <a:rPr lang="ar-SA" sz="2200" b="1" dirty="0">
                <a:solidFill>
                  <a:srgbClr val="1E1E1E"/>
                </a:solidFill>
                <a:latin typeface="Arial"/>
                <a:cs typeface="Arial"/>
              </a:rPr>
              <a:t>): الأشكال التي توضح إلكترونات التكافؤ في صورة نقاط حول رمز ذرة العنصر.</a:t>
            </a:r>
            <a:endParaRPr lang="ar-SA" sz="2200" dirty="0"/>
          </a:p>
          <a:p>
            <a:pPr algn="r" rtl="1">
              <a:lnSpc>
                <a:spcPct val="95000"/>
              </a:lnSpc>
              <a:spcBef>
                <a:spcPts val="1000"/>
              </a:spcBef>
              <a:buNone/>
            </a:pPr>
            <a:r>
              <a:rPr lang="ar-SA" sz="2200" b="1" dirty="0">
                <a:solidFill>
                  <a:srgbClr val="1E1E1E"/>
                </a:solidFill>
                <a:latin typeface="Arial"/>
                <a:cs typeface="Arial"/>
              </a:rPr>
              <a:t>ملاحظة لويس: (النقاط هي كاميرات المراقبة الخاصة بنا؛ نقطة واحدة لكل إلكترون تكافؤ!)</a:t>
            </a:r>
            <a:endParaRPr lang="ar-SA" sz="2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3804093" y="1384102"/>
            <a:ext cx="8600558" cy="7084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800" b="1" dirty="0">
                <a:solidFill>
                  <a:srgbClr val="FFFFFF"/>
                </a:solidFill>
                <a:effectLst>
                  <a:glow rad="76200">
                    <a:srgbClr val="00C8FF">
                      <a:alpha val="45000"/>
                    </a:srgbClr>
                  </a:glow>
                  <a:outerShdw blurRad="25400" dist="12700" dir="2700000" algn="tl" rotWithShape="0">
                    <a:srgbClr val="000000">
                      <a:alpha val="60000"/>
                    </a:srgbClr>
                  </a:outerShdw>
                </a:effectLst>
                <a:latin typeface="Arial"/>
                <a:cs typeface="Arial"/>
              </a:rPr>
              <a:t>مكتب التدقيق المعماري: حل تمرين (</a:t>
            </a:r>
            <a:r>
              <a:rPr lang="en-US" sz="3800" b="1" dirty="0">
                <a:solidFill>
                  <a:srgbClr val="FFFFFF"/>
                </a:solidFill>
                <a:effectLst>
                  <a:glow rad="76200">
                    <a:srgbClr val="00C8FF">
                      <a:alpha val="45000"/>
                    </a:srgbClr>
                  </a:glow>
                  <a:outerShdw blurRad="25400" dist="12700" dir="2700000" algn="tl" rotWithShape="0">
                    <a:srgbClr val="000000">
                      <a:alpha val="60000"/>
                    </a:srgbClr>
                  </a:outerShdw>
                </a:effectLst>
                <a:latin typeface="Arial"/>
                <a:cs typeface="Arial"/>
              </a:rPr>
              <a:t>1</a:t>
            </a:r>
            <a:r>
              <a:rPr lang="ar-SA" sz="3800" b="1" dirty="0">
                <a:solidFill>
                  <a:srgbClr val="FFFFFF"/>
                </a:solidFill>
                <a:effectLst>
                  <a:glow rad="76200">
                    <a:srgbClr val="00C8FF">
                      <a:alpha val="45000"/>
                    </a:srgbClr>
                  </a:glow>
                  <a:outerShdw blurRad="25400" dist="12700" dir="2700000" algn="tl" rotWithShape="0">
                    <a:srgbClr val="000000">
                      <a:alpha val="60000"/>
                    </a:srgbClr>
                  </a:outerShdw>
                </a:effectLst>
                <a:latin typeface="Arial"/>
                <a:cs typeface="Arial"/>
              </a:rPr>
              <a:t>)</a:t>
            </a:r>
            <a:endParaRPr lang="ar-SA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998791" y="2446734"/>
            <a:ext cx="1512186" cy="47228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A2238"/>
                </a:solidFill>
                <a:latin typeface="Arial"/>
                <a:cs typeface="Arial"/>
              </a:rPr>
              <a:t>رقم المجموعة</a:t>
            </a:r>
            <a:endParaRPr lang="ar-SA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046047" y="3084314"/>
            <a:ext cx="141767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ar-SA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046047" y="3627438"/>
            <a:ext cx="141767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ar-SA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046047" y="4146947"/>
            <a:ext cx="141767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lang="ar-SA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046047" y="4678263"/>
            <a:ext cx="141767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lang="ar-SA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1046047" y="5221387"/>
            <a:ext cx="141767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lang="ar-SA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046047" y="5740896"/>
            <a:ext cx="141767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lang="ar-SA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250326" y="2446734"/>
            <a:ext cx="1571256" cy="47228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A2238"/>
                </a:solidFill>
                <a:latin typeface="Arial"/>
                <a:cs typeface="Arial"/>
              </a:rPr>
              <a:t>العنصر</a:t>
            </a:r>
            <a:endParaRPr lang="ar-SA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9297581" y="3084314"/>
            <a:ext cx="147674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baseline="-250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endParaRPr lang="ar-SA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297581" y="3627438"/>
            <a:ext cx="147674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baseline="-2500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endParaRPr lang="ar-SA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297581" y="4146947"/>
            <a:ext cx="147674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baseline="-2500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lang="ar-SA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297581" y="4678263"/>
            <a:ext cx="147674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baseline="-2500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lang="ar-SA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297581" y="5221387"/>
            <a:ext cx="147674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baseline="-2500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lang="ar-SA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297581" y="5740896"/>
            <a:ext cx="1476744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baseline="-2500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lang="ar-SA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41953" y="2446734"/>
            <a:ext cx="1878419" cy="47228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A2238"/>
                </a:solidFill>
                <a:latin typeface="Arial"/>
                <a:cs typeface="Arial"/>
              </a:rPr>
              <a:t>الترتيب الإلكتروني</a:t>
            </a:r>
            <a:endParaRPr lang="ar-SA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289209" y="3084314"/>
            <a:ext cx="1783907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2,1</a:t>
            </a:r>
            <a:endParaRPr lang="ar-SA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289209" y="3627438"/>
            <a:ext cx="1783907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2,2</a:t>
            </a:r>
            <a:endParaRPr lang="ar-SA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89209" y="4146947"/>
            <a:ext cx="1783907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2,3</a:t>
            </a:r>
            <a:endParaRPr lang="ar-SA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289209" y="4678263"/>
            <a:ext cx="1783907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2,5</a:t>
            </a:r>
            <a:endParaRPr lang="ar-SA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289209" y="5221387"/>
            <a:ext cx="1783907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2,6</a:t>
            </a:r>
            <a:endParaRPr lang="ar-SA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289209" y="5740896"/>
            <a:ext cx="1783907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2,7</a:t>
            </a:r>
            <a:endParaRPr lang="ar-SA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5245395" y="2446734"/>
            <a:ext cx="1890233" cy="47228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A2238"/>
                </a:solidFill>
                <a:latin typeface="Arial"/>
                <a:cs typeface="Arial"/>
              </a:rPr>
              <a:t>إلكترونات التكافؤ</a:t>
            </a:r>
            <a:endParaRPr lang="ar-SA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292651" y="3084314"/>
            <a:ext cx="179572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ar-SA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292651" y="3627438"/>
            <a:ext cx="179572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ar-SA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5292651" y="4146947"/>
            <a:ext cx="179572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ar-SA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5292651" y="4678263"/>
            <a:ext cx="179572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ar-SA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5292651" y="5221387"/>
            <a:ext cx="179572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ar-SA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5292651" y="5740896"/>
            <a:ext cx="179572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ar-SA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3827721" y="2446734"/>
            <a:ext cx="1240465" cy="47228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A2238"/>
                </a:solidFill>
                <a:latin typeface="Arial"/>
                <a:cs typeface="Arial"/>
              </a:rPr>
              <a:t>التكافؤ</a:t>
            </a:r>
            <a:endParaRPr lang="ar-SA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3874977" y="3084314"/>
            <a:ext cx="1145953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ar-SA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3874977" y="3627438"/>
            <a:ext cx="1145953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ar-SA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3874977" y="4146947"/>
            <a:ext cx="1145953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ar-SA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3874977" y="4678263"/>
            <a:ext cx="1145953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ar-SA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3874977" y="5221387"/>
            <a:ext cx="1145953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ar-SA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3874977" y="5740896"/>
            <a:ext cx="1145953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ar-SA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399653" y="6224986"/>
            <a:ext cx="10111324" cy="1248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5000"/>
              </a:lnSpc>
              <a:buNone/>
            </a:pPr>
            <a:r>
              <a:rPr lang="ar-SA" sz="2400" b="1" dirty="0">
                <a:solidFill>
                  <a:srgbClr val="FFD84A"/>
                </a:solidFill>
                <a:latin typeface="Arial"/>
                <a:cs typeface="Arial"/>
              </a:rPr>
              <a:t>تنبيه رقابي هام:</a:t>
            </a:r>
            <a:endParaRPr lang="ar-SA" sz="2400" dirty="0"/>
          </a:p>
          <a:p>
            <a:pPr algn="r" rtl="1">
              <a:lnSpc>
                <a:spcPct val="95000"/>
              </a:lnSpc>
              <a:spcBef>
                <a:spcPts val="0"/>
              </a:spcBef>
              <a:buNone/>
            </a:pPr>
            <a:r>
              <a:rPr lang="ar-SA" sz="2400" b="1" dirty="0">
                <a:latin typeface="Arial"/>
                <a:cs typeface="Arial"/>
              </a:rPr>
              <a:t>- تكافؤ المجموعة (</a:t>
            </a:r>
            <a:r>
              <a:rPr lang="en-US" sz="2400" b="1" dirty="0">
                <a:latin typeface="Arial"/>
                <a:cs typeface="Arial"/>
              </a:rPr>
              <a:t>14</a:t>
            </a:r>
            <a:r>
              <a:rPr lang="ar-SA" sz="2400" b="1" dirty="0">
                <a:latin typeface="Arial"/>
                <a:cs typeface="Arial"/>
              </a:rPr>
              <a:t>) متغير وليس ثابتاً.</a:t>
            </a:r>
            <a:endParaRPr lang="ar-SA" sz="2400" dirty="0"/>
          </a:p>
          <a:p>
            <a:pPr algn="r" rtl="1">
              <a:lnSpc>
                <a:spcPct val="95000"/>
              </a:lnSpc>
              <a:spcBef>
                <a:spcPts val="0"/>
              </a:spcBef>
              <a:buNone/>
            </a:pPr>
            <a:r>
              <a:rPr lang="ar-SA" sz="2400" b="1" dirty="0">
                <a:latin typeface="Arial"/>
                <a:cs typeface="Arial"/>
              </a:rPr>
              <a:t>- المجموعة (</a:t>
            </a:r>
            <a:r>
              <a:rPr lang="en-US" sz="2400" b="1" dirty="0">
                <a:latin typeface="Arial"/>
                <a:cs typeface="Arial"/>
              </a:rPr>
              <a:t>18</a:t>
            </a:r>
            <a:r>
              <a:rPr lang="ar-SA" sz="2400" b="1" dirty="0">
                <a:latin typeface="Arial"/>
                <a:cs typeface="Arial"/>
              </a:rPr>
              <a:t>) تكافؤها صفر؛ لأن مبانيها مستقرة ولا تميل لفقد الإلكترونات أو اكتسابها</a:t>
            </a: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ar-SA" sz="2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5316279" y="935434"/>
            <a:ext cx="5635256" cy="11807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3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تطبيق المخططات النقطية:</a:t>
            </a:r>
            <a:endParaRPr lang="ar-SA" sz="3300" dirty="0"/>
          </a:p>
          <a:p>
            <a:pPr algn="ct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33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حل تمرين (</a:t>
            </a:r>
            <a:r>
              <a:rPr lang="en-US" sz="33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2</a:t>
            </a:r>
            <a:r>
              <a:rPr lang="ar-SA" sz="33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)</a:t>
            </a:r>
            <a:endParaRPr lang="ar-SA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559442" y="5634633"/>
            <a:ext cx="2906233" cy="35421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الهيدروجين (</a:t>
            </a:r>
            <a:r>
              <a:rPr lang="en-US" b="1" baseline="-25000" dirty="0">
                <a:solidFill>
                  <a:srgbClr val="FFFFFF"/>
                </a:solidFill>
                <a:latin typeface="Arial"/>
                <a:cs typeface="Arial"/>
              </a:rPr>
              <a:t xml:space="preserve">1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H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1</a:t>
            </a:r>
            <a:endParaRPr lang="ar-SA" dirty="0"/>
          </a:p>
        </p:txBody>
      </p:sp>
      <p:sp>
        <p:nvSpPr>
          <p:cNvPr id="5" name="Text 3"/>
          <p:cNvSpPr txBox="1"/>
          <p:nvPr/>
        </p:nvSpPr>
        <p:spPr>
          <a:xfrm>
            <a:off x="5150884" y="5481141"/>
            <a:ext cx="2575442" cy="389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الكربون (</a:t>
            </a:r>
            <a:r>
              <a:rPr lang="en-US" b="1" baseline="-25000" dirty="0">
                <a:solidFill>
                  <a:srgbClr val="FFFFFF"/>
                </a:solidFill>
                <a:latin typeface="Arial"/>
                <a:cs typeface="Arial"/>
              </a:rPr>
              <a:t xml:space="preserve">6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C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2,4</a:t>
            </a:r>
            <a:endParaRPr lang="ar-SA" dirty="0"/>
          </a:p>
        </p:txBody>
      </p:sp>
      <p:sp>
        <p:nvSpPr>
          <p:cNvPr id="6" name="Text 4"/>
          <p:cNvSpPr txBox="1"/>
          <p:nvPr/>
        </p:nvSpPr>
        <p:spPr>
          <a:xfrm>
            <a:off x="8529674" y="5481141"/>
            <a:ext cx="2740837" cy="389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النيتروجين (</a:t>
            </a:r>
            <a:r>
              <a:rPr lang="en-US" b="1" baseline="-25000" dirty="0">
                <a:solidFill>
                  <a:srgbClr val="FFFFFF"/>
                </a:solidFill>
                <a:latin typeface="Arial"/>
                <a:cs typeface="Arial"/>
              </a:rPr>
              <a:t xml:space="preserve">7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N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2,5</a:t>
            </a:r>
            <a:endParaRPr lang="ar-SA" dirty="0"/>
          </a:p>
        </p:txBody>
      </p:sp>
      <p:sp>
        <p:nvSpPr>
          <p:cNvPr id="7" name="Text 5"/>
          <p:cNvSpPr txBox="1"/>
          <p:nvPr/>
        </p:nvSpPr>
        <p:spPr>
          <a:xfrm>
            <a:off x="11735913" y="5622825"/>
            <a:ext cx="337879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البوتاسيوم (</a:t>
            </a:r>
            <a:r>
              <a:rPr lang="en-US" b="1" baseline="-25000" dirty="0">
                <a:solidFill>
                  <a:srgbClr val="FFFFFF"/>
                </a:solidFill>
                <a:latin typeface="Arial"/>
                <a:cs typeface="Arial"/>
              </a:rPr>
              <a:t xml:space="preserve">19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K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2,8,8,1</a:t>
            </a:r>
            <a:endParaRPr lang="ar-SA" dirty="0"/>
          </a:p>
        </p:txBody>
      </p:sp>
      <p:sp>
        <p:nvSpPr>
          <p:cNvPr id="8" name="Text 6"/>
          <p:cNvSpPr txBox="1"/>
          <p:nvPr/>
        </p:nvSpPr>
        <p:spPr>
          <a:xfrm>
            <a:off x="4465675" y="6295825"/>
            <a:ext cx="3449674" cy="11334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مثال توجيهي (البريليوم </a:t>
            </a:r>
            <a:r>
              <a:rPr lang="en-US" sz="2400" b="1" baseline="-25000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4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Be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):</a:t>
            </a:r>
            <a:endParaRPr lang="ar-SA" sz="2400" dirty="0"/>
          </a:p>
          <a:p>
            <a:pPr algn="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الترتيب: 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2,2</a:t>
            </a:r>
            <a:endParaRPr lang="ar-SA" sz="2400" dirty="0"/>
          </a:p>
        </p:txBody>
      </p:sp>
      <p:sp>
        <p:nvSpPr>
          <p:cNvPr id="37" name="Configuration 37"/>
          <p:cNvSpPr txBox="1"/>
          <p:nvPr/>
        </p:nvSpPr>
        <p:spPr>
          <a:xfrm>
            <a:off x="1559442" y="5634633"/>
            <a:ext cx="2906233" cy="35421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الهيدروجين (</a:t>
            </a:r>
            <a:r>
              <a:rPr lang="en-US" b="1" baseline="-25000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1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H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1</a:t>
            </a:r>
            <a:endParaRPr lang="ar-SA" dirty="0"/>
          </a:p>
        </p:txBody>
      </p:sp>
      <p:grpSp>
        <p:nvGrpSpPr>
          <p:cNvPr id="38" name="Dots H"/>
          <p:cNvGrpSpPr/>
          <p:nvPr/>
        </p:nvGrpSpPr>
        <p:grpSpPr>
          <a:xfrm>
            <a:off x="2362791" y="2446734"/>
            <a:ext cx="803349" cy="802878"/>
            <a:chOff x="2362791" y="2446734"/>
            <a:chExt cx="803349" cy="802878"/>
          </a:xfrm>
        </p:grpSpPr>
        <p:pic>
          <p:nvPicPr>
            <p:cNvPr id="381" name="Electron H 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62791" y="2446734"/>
              <a:ext cx="803349" cy="802878"/>
            </a:xfrm>
            <a:prstGeom prst="rect">
              <a:avLst/>
            </a:prstGeom>
          </p:spPr>
        </p:pic>
      </p:grpSp>
      <p:sp>
        <p:nvSpPr>
          <p:cNvPr id="39" name="Configuration 39"/>
          <p:cNvSpPr txBox="1"/>
          <p:nvPr/>
        </p:nvSpPr>
        <p:spPr>
          <a:xfrm>
            <a:off x="5150884" y="5481141"/>
            <a:ext cx="2575442" cy="389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الكربون (</a:t>
            </a:r>
            <a:r>
              <a:rPr lang="en-US" b="1" baseline="-25000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6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C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2,4</a:t>
            </a:r>
            <a:endParaRPr lang="ar-SA" dirty="0"/>
          </a:p>
        </p:txBody>
      </p:sp>
      <p:grpSp>
        <p:nvGrpSpPr>
          <p:cNvPr id="40" name="Dots C"/>
          <p:cNvGrpSpPr/>
          <p:nvPr/>
        </p:nvGrpSpPr>
        <p:grpSpPr>
          <a:xfrm>
            <a:off x="5245395" y="2446734"/>
            <a:ext cx="2421861" cy="2526705"/>
            <a:chOff x="5245395" y="2446734"/>
            <a:chExt cx="2421861" cy="2526705"/>
          </a:xfrm>
        </p:grpSpPr>
        <p:pic>
          <p:nvPicPr>
            <p:cNvPr id="401" name="Electron C 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072372" y="2446734"/>
              <a:ext cx="803349" cy="802878"/>
            </a:xfrm>
            <a:prstGeom prst="rect">
              <a:avLst/>
            </a:prstGeom>
          </p:spPr>
        </p:pic>
        <p:pic>
          <p:nvPicPr>
            <p:cNvPr id="402" name="Electron C 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245395" y="3296841"/>
              <a:ext cx="803349" cy="802878"/>
            </a:xfrm>
            <a:prstGeom prst="rect">
              <a:avLst/>
            </a:prstGeom>
          </p:spPr>
        </p:pic>
        <p:pic>
          <p:nvPicPr>
            <p:cNvPr id="403" name="Electron C 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863907" y="3285034"/>
              <a:ext cx="803349" cy="802878"/>
            </a:xfrm>
            <a:prstGeom prst="rect">
              <a:avLst/>
            </a:prstGeom>
          </p:spPr>
        </p:pic>
        <p:pic>
          <p:nvPicPr>
            <p:cNvPr id="404" name="Electron C 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072372" y="4170561"/>
              <a:ext cx="803349" cy="802878"/>
            </a:xfrm>
            <a:prstGeom prst="rect">
              <a:avLst/>
            </a:prstGeom>
          </p:spPr>
        </p:pic>
      </p:grpSp>
      <p:sp>
        <p:nvSpPr>
          <p:cNvPr id="41" name="Configuration 41"/>
          <p:cNvSpPr txBox="1"/>
          <p:nvPr/>
        </p:nvSpPr>
        <p:spPr>
          <a:xfrm>
            <a:off x="8529674" y="5481141"/>
            <a:ext cx="2740837" cy="389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النيتروجين (</a:t>
            </a:r>
            <a:r>
              <a:rPr lang="en-US" b="1" baseline="-25000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7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N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2,5</a:t>
            </a:r>
            <a:endParaRPr lang="ar-SA" dirty="0"/>
          </a:p>
        </p:txBody>
      </p:sp>
      <p:grpSp>
        <p:nvGrpSpPr>
          <p:cNvPr id="42" name="Dots N"/>
          <p:cNvGrpSpPr/>
          <p:nvPr/>
        </p:nvGrpSpPr>
        <p:grpSpPr>
          <a:xfrm>
            <a:off x="8742326" y="2482155"/>
            <a:ext cx="2327349" cy="2420442"/>
            <a:chOff x="8742326" y="2482155"/>
            <a:chExt cx="2327349" cy="2420442"/>
          </a:xfrm>
        </p:grpSpPr>
        <p:pic>
          <p:nvPicPr>
            <p:cNvPr id="421" name="Electron N 1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179442" y="2482155"/>
              <a:ext cx="803349" cy="802878"/>
            </a:xfrm>
            <a:prstGeom prst="rect">
              <a:avLst/>
            </a:prstGeom>
          </p:spPr>
        </p:pic>
        <p:pic>
          <p:nvPicPr>
            <p:cNvPr id="422" name="Electron N 2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841023" y="2482155"/>
              <a:ext cx="803349" cy="802878"/>
            </a:xfrm>
            <a:prstGeom prst="rect">
              <a:avLst/>
            </a:prstGeom>
          </p:spPr>
        </p:pic>
        <p:pic>
          <p:nvPicPr>
            <p:cNvPr id="423" name="Electron N 3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42326" y="3273227"/>
              <a:ext cx="803349" cy="802878"/>
            </a:xfrm>
            <a:prstGeom prst="rect">
              <a:avLst/>
            </a:prstGeom>
          </p:spPr>
        </p:pic>
        <p:pic>
          <p:nvPicPr>
            <p:cNvPr id="424" name="Electron N 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66326" y="3273227"/>
              <a:ext cx="803349" cy="802878"/>
            </a:xfrm>
            <a:prstGeom prst="rect">
              <a:avLst/>
            </a:prstGeom>
          </p:spPr>
        </p:pic>
        <p:pic>
          <p:nvPicPr>
            <p:cNvPr id="425" name="Electron N 5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498419" y="4099719"/>
              <a:ext cx="803349" cy="802878"/>
            </a:xfrm>
            <a:prstGeom prst="rect">
              <a:avLst/>
            </a:prstGeom>
          </p:spPr>
        </p:pic>
      </p:grpSp>
      <p:sp>
        <p:nvSpPr>
          <p:cNvPr id="43" name="Configuration 43"/>
          <p:cNvSpPr txBox="1"/>
          <p:nvPr/>
        </p:nvSpPr>
        <p:spPr>
          <a:xfrm>
            <a:off x="11735913" y="5622825"/>
            <a:ext cx="3378791" cy="377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البوتاسيوم (</a:t>
            </a:r>
            <a:r>
              <a:rPr lang="en-US" b="1" baseline="-25000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19</a:t>
            </a:r>
            <a:r>
              <a:rPr lang="en-US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K</a:t>
            </a:r>
            <a:r>
              <a:rPr lang="ar-SA" b="1" dirty="0">
                <a:solidFill>
                  <a:srgbClr val="FFFFFF">
                    <a:alpha val="0"/>
                  </a:srgbClr>
                </a:solidFill>
                <a:latin typeface="Arial"/>
                <a:cs typeface="Arial"/>
              </a:rPr>
              <a:t xml:space="preserve">) </a:t>
            </a:r>
            <a:r>
              <a:rPr lang="ar-SA" b="1" dirty="0">
                <a:solidFill>
                  <a:srgbClr val="FFFFFF"/>
                </a:solidFill>
                <a:latin typeface="Arial"/>
                <a:cs typeface="Arial"/>
              </a:rPr>
              <a:t xml:space="preserve">| الترتيب: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 xml:space="preserve">2,8,8,1</a:t>
            </a:r>
            <a:endParaRPr lang="ar-SA" dirty="0"/>
          </a:p>
        </p:txBody>
      </p:sp>
      <p:grpSp>
        <p:nvGrpSpPr>
          <p:cNvPr id="44" name="Dots K"/>
          <p:cNvGrpSpPr/>
          <p:nvPr/>
        </p:nvGrpSpPr>
        <p:grpSpPr>
          <a:xfrm>
            <a:off x="13231628" y="2434927"/>
            <a:ext cx="803349" cy="802878"/>
            <a:chOff x="13231628" y="2434927"/>
            <a:chExt cx="803349" cy="802878"/>
          </a:xfrm>
        </p:grpSpPr>
        <p:pic>
          <p:nvPicPr>
            <p:cNvPr id="441" name="Electron K 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3231628" y="2434927"/>
              <a:ext cx="803349" cy="802878"/>
            </a:xfrm>
            <a:prstGeom prst="rect">
              <a:avLst/>
            </a:prstGeom>
          </p:spPr>
        </p:pic>
      </p:grpSp>
      <p:grpSp>
        <p:nvGrpSpPr>
          <p:cNvPr id="45" name="Dots Be"/>
          <p:cNvGrpSpPr/>
          <p:nvPr/>
        </p:nvGrpSpPr>
        <p:grpSpPr>
          <a:xfrm>
            <a:off x="8175256" y="6626423"/>
            <a:ext cx="3792279" cy="802878"/>
            <a:chOff x="8175256" y="6626423"/>
            <a:chExt cx="3792279" cy="802878"/>
          </a:xfrm>
        </p:grpSpPr>
        <p:pic>
          <p:nvPicPr>
            <p:cNvPr id="451" name="Electron Be 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8175256" y="6626423"/>
              <a:ext cx="803349" cy="802878"/>
            </a:xfrm>
            <a:prstGeom prst="rect">
              <a:avLst/>
            </a:prstGeom>
          </p:spPr>
        </p:pic>
        <p:pic>
          <p:nvPicPr>
            <p:cNvPr id="452" name="Electron Be 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1164186" y="6626423"/>
              <a:ext cx="803349" cy="80287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37" grpId="0" animBg="1"/>
      <p:bldP spid="5" grpId="0" animBg="1"/>
      <p:bldP spid="39" grpId="0" animBg="1"/>
      <p:bldP spid="6" grpId="0" animBg="1"/>
      <p:bldP spid="41" grpId="0" animBg="1"/>
      <p:bldP spid="7" grpId="0" animBg="1"/>
      <p:bldP spid="43" grpId="0" animBg="1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4182878" y="5790971"/>
            <a:ext cx="8080744" cy="28809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800" b="1" dirty="0">
                <a:solidFill>
                  <a:srgbClr val="111111"/>
                </a:solidFill>
                <a:latin typeface="Arial"/>
                <a:cs typeface="Arial"/>
              </a:rPr>
              <a:t>دستور المدينة: قاعدة الثمانية</a:t>
            </a:r>
            <a:endParaRPr lang="ar-SA" sz="2800" dirty="0"/>
          </a:p>
          <a:p>
            <a:pPr algn="ctr" rtl="1">
              <a:lnSpc>
                <a:spcPct val="90000"/>
              </a:lnSpc>
              <a:spcBef>
                <a:spcPts val="300"/>
              </a:spcBef>
              <a:buNone/>
            </a:pPr>
            <a:r>
              <a:rPr lang="ar-SA" sz="2800" b="1" dirty="0">
                <a:solidFill>
                  <a:srgbClr val="111111"/>
                </a:solidFill>
                <a:latin typeface="Arial"/>
                <a:cs typeface="Arial"/>
              </a:rPr>
              <a:t>الغازات النبيلة مستقرة لأن ترتيبها الإلكتروني ينتهي بثمانية إلكترونات.</a:t>
            </a:r>
            <a:endParaRPr lang="ar-SA" sz="2800" dirty="0"/>
          </a:p>
          <a:p>
            <a:pPr algn="ctr" rtl="1">
              <a:lnSpc>
                <a:spcPct val="90000"/>
              </a:lnSpc>
              <a:spcBef>
                <a:spcPts val="300"/>
              </a:spcBef>
              <a:buNone/>
            </a:pPr>
            <a:r>
              <a:rPr lang="ar-SA" sz="2800" b="1" dirty="0">
                <a:solidFill>
                  <a:srgbClr val="111111"/>
                </a:solidFill>
                <a:latin typeface="Arial"/>
                <a:cs typeface="Arial"/>
              </a:rPr>
              <a:t>نص القاعدة: ميل ذرة العنصر إلى فقد إلكترونات مستوى التكافؤ أو اكتسابها أو المشاركة بها للوصول إلى ثمانية إلكترونات، لتحقيق حالة الاستقرار المشابهة للغاز النبيل.</a:t>
            </a:r>
            <a:endParaRPr lang="ar-SA" sz="2800" dirty="0"/>
          </a:p>
          <a:p>
            <a:pPr algn="ctr" rtl="1">
              <a:lnSpc>
                <a:spcPct val="90000"/>
              </a:lnSpc>
              <a:spcBef>
                <a:spcPts val="300"/>
              </a:spcBef>
              <a:buNone/>
            </a:pPr>
            <a:r>
              <a:rPr lang="ar-SA" sz="2800" b="1" dirty="0">
                <a:solidFill>
                  <a:srgbClr val="111111"/>
                </a:solidFill>
                <a:latin typeface="Arial"/>
                <a:cs typeface="Arial"/>
              </a:rPr>
              <a:t>الهدف النهائي لكل مبنى هو تفعيل درع الثمانية!</a:t>
            </a:r>
            <a:endParaRPr lang="ar-SA" sz="2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3095256" y="439539"/>
            <a:ext cx="10065488" cy="7320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6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بوابات الاستيراد والتصدير (الكاتيونات والأنيونات)</a:t>
            </a:r>
            <a:endParaRPr lang="ar-SA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905000" y="6793317"/>
            <a:ext cx="4289204" cy="7288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الأنيون (أيون سالب): ذرة تكتسب إلكتروناً أو أكثر.</a:t>
            </a:r>
            <a:endParaRPr lang="ar-SA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932717" y="7396345"/>
            <a:ext cx="3638698" cy="35421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ذرة الكلور (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Cl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): 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2,8,7</a:t>
            </a:r>
            <a:endParaRPr lang="ar-SA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3308" y="7796346"/>
            <a:ext cx="4120600" cy="505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أنيون الكلوريد (</a:t>
            </a:r>
            <a:r>
              <a:rPr lang="ar-SA" sz="2400" b="1" baseline="30000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−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‎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Cl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): 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2,8,8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 (مستقر)</a:t>
            </a:r>
            <a:endParaRPr lang="ar-SA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468372" y="6724070"/>
            <a:ext cx="4667533" cy="8673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الكاتيون (أيون موجب): ذرة تفقد إلكتروناً أو أكثر.</a:t>
            </a:r>
            <a:endParaRPr lang="ar-SA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41860" y="7452916"/>
            <a:ext cx="3520558" cy="35421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ذرة الصوديوم (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Na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): 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2,8,1</a:t>
            </a:r>
            <a:endParaRPr lang="ar-SA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224598" y="7641485"/>
            <a:ext cx="4403764" cy="815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كاتيون الصوديوم (</a:t>
            </a:r>
            <a:r>
              <a:rPr lang="ar-SA" sz="2000" b="1" baseline="30000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+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Na</a:t>
            </a:r>
            <a:r>
              <a:rPr lang="ar-SA" sz="20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‎): 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2,8</a:t>
            </a:r>
            <a:r>
              <a:rPr lang="ar-SA" sz="20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 (مستقر)</a:t>
            </a:r>
            <a:endParaRPr lang="ar-SA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A1F13-DCBE-8B8B-7519-2632FD86E49A}"/>
              </a:ext>
            </a:extLst>
          </p:cNvPr>
          <p:cNvSpPr txBox="1"/>
          <p:nvPr/>
        </p:nvSpPr>
        <p:spPr>
          <a:xfrm>
            <a:off x="4020649" y="4055418"/>
            <a:ext cx="8217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400" b="1" kern="1200" baseline="30000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</a:t>
            </a:r>
            <a:r>
              <a:rPr lang="ar-SA" sz="2400" b="1" kern="1200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‎</a:t>
            </a:r>
            <a:endParaRPr 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 rot="21300000">
            <a:off x="6970233" y="1171575"/>
            <a:ext cx="7820837" cy="16529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3600" b="1" dirty="0">
                <a:solidFill>
                  <a:srgbClr val="1F3B70"/>
                </a:solidFill>
                <a:effectLst>
                  <a:outerShdw blurRad="25400" dist="12700" dir="2700000" algn="tl" rotWithShape="0">
                    <a:srgbClr val="FFFFFF">
                      <a:alpha val="45000"/>
                    </a:srgbClr>
                  </a:outerShdw>
                </a:effectLst>
                <a:latin typeface="Arial"/>
                <a:cs typeface="Arial"/>
              </a:rPr>
              <a:t>جولة التفتيش الرقابية: حل تمرين (</a:t>
            </a:r>
            <a:r>
              <a:rPr lang="en-US" sz="3600" b="1" dirty="0">
                <a:solidFill>
                  <a:srgbClr val="1F3B70"/>
                </a:solidFill>
                <a:effectLst>
                  <a:outerShdw blurRad="25400" dist="12700" dir="2700000" algn="tl" rotWithShape="0">
                    <a:srgbClr val="FFFFFF">
                      <a:alpha val="45000"/>
                    </a:srgbClr>
                  </a:outerShdw>
                </a:effectLst>
                <a:latin typeface="Arial"/>
                <a:cs typeface="Arial"/>
              </a:rPr>
              <a:t>3</a:t>
            </a:r>
            <a:r>
              <a:rPr lang="ar-SA" sz="3600" b="1" dirty="0">
                <a:solidFill>
                  <a:srgbClr val="1F3B70"/>
                </a:solidFill>
                <a:effectLst>
                  <a:outerShdw blurRad="25400" dist="12700" dir="2700000" algn="tl" rotWithShape="0">
                    <a:srgbClr val="FFFFFF">
                      <a:alpha val="45000"/>
                    </a:srgbClr>
                  </a:outerShdw>
                </a:effectLst>
                <a:latin typeface="Arial"/>
                <a:cs typeface="Arial"/>
              </a:rPr>
              <a:t>)</a:t>
            </a:r>
            <a:endParaRPr lang="ar-SA" sz="3600" dirty="0"/>
          </a:p>
        </p:txBody>
      </p:sp>
      <p:sp>
        <p:nvSpPr>
          <p:cNvPr id="4" name="Text 2"/>
          <p:cNvSpPr txBox="1"/>
          <p:nvPr/>
        </p:nvSpPr>
        <p:spPr>
          <a:xfrm rot="21300000">
            <a:off x="12829953" y="2635647"/>
            <a:ext cx="2221023" cy="519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800" b="1" dirty="0">
                <a:solidFill>
                  <a:srgbClr val="FFFFFF"/>
                </a:solidFill>
                <a:latin typeface="Arial"/>
                <a:cs typeface="Arial"/>
              </a:rPr>
              <a:t>العنصر</a:t>
            </a:r>
            <a:endParaRPr lang="ar-SA" sz="2800" dirty="0"/>
          </a:p>
        </p:txBody>
      </p:sp>
      <p:sp>
        <p:nvSpPr>
          <p:cNvPr id="5" name="Text 3"/>
          <p:cNvSpPr txBox="1"/>
          <p:nvPr/>
        </p:nvSpPr>
        <p:spPr>
          <a:xfrm rot="21300000">
            <a:off x="10845209" y="2682875"/>
            <a:ext cx="1866605" cy="920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الترتيب الإلكتروني النقطي</a:t>
            </a:r>
            <a:endParaRPr lang="ar-SA" sz="2400" dirty="0"/>
          </a:p>
        </p:txBody>
      </p:sp>
      <p:sp>
        <p:nvSpPr>
          <p:cNvPr id="6" name="Text 4"/>
          <p:cNvSpPr txBox="1"/>
          <p:nvPr/>
        </p:nvSpPr>
        <p:spPr>
          <a:xfrm rot="21300000">
            <a:off x="9073116" y="2800945"/>
            <a:ext cx="1807535" cy="920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للوصول للاستقرار (يفقد/يكتسب)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 rot="21300000">
            <a:off x="7301023" y="2966244"/>
            <a:ext cx="1866605" cy="920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قاعدة الثمانية (يحقق/لا يحقق)</a:t>
            </a:r>
            <a:endParaRPr lang="ar-SA" sz="2000" dirty="0"/>
          </a:p>
        </p:txBody>
      </p:sp>
      <p:sp>
        <p:nvSpPr>
          <p:cNvPr id="8" name="Text 6"/>
          <p:cNvSpPr txBox="1"/>
          <p:nvPr/>
        </p:nvSpPr>
        <p:spPr>
          <a:xfrm rot="21300000">
            <a:off x="12759070" y="3674666"/>
            <a:ext cx="2386419" cy="519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المغنيسيوم (</a:t>
            </a:r>
            <a:r>
              <a:rPr lang="en-US" sz="2200" b="1" baseline="-2500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Mg</a:t>
            </a:r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lang="ar-SA" sz="2200" dirty="0"/>
          </a:p>
        </p:txBody>
      </p:sp>
      <p:grpSp>
        <p:nvGrpSpPr>
          <p:cNvPr id="9" name="Lewis Mg"/>
          <p:cNvGrpSpPr/>
          <p:nvPr/>
        </p:nvGrpSpPr>
        <p:grpSpPr>
          <a:xfrm rot="21300000">
            <a:off x="10963349" y="3887192"/>
            <a:ext cx="1535814" cy="519509"/>
            <a:chOff x="10963349" y="3887192"/>
            <a:chExt cx="1535814" cy="519509"/>
          </a:xfrm>
        </p:grpSpPr>
        <p:sp>
          <p:nvSpPr>
            <p:cNvPr id="10" name="Text 8"/>
            <p:cNvSpPr txBox="1"/>
            <p:nvPr/>
          </p:nvSpPr>
          <p:spPr>
            <a:xfrm>
              <a:off x="11424093" y="3934420"/>
              <a:ext cx="614326" cy="42505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rtl="0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Arial"/>
                  <a:cs typeface="Arial"/>
                </a:rPr>
                <a:t>Mg</a:t>
              </a:r>
              <a:endParaRPr lang="ar-SA" sz="2600" dirty="0"/>
            </a:p>
          </p:txBody>
        </p:sp>
        <p:sp>
          <p:nvSpPr>
            <p:cNvPr id="11" name="Dot 11"/>
            <p:cNvSpPr/>
            <p:nvPr/>
          </p:nvSpPr>
          <p:spPr>
            <a:xfrm>
              <a:off x="11369749" y="4116249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12" name="Dot 12"/>
            <p:cNvSpPr/>
            <p:nvPr/>
          </p:nvSpPr>
          <p:spPr>
            <a:xfrm>
              <a:off x="12031330" y="4116249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</p:grpSp>
      <p:sp>
        <p:nvSpPr>
          <p:cNvPr id="13" name="Text 11"/>
          <p:cNvSpPr txBox="1"/>
          <p:nvPr/>
        </p:nvSpPr>
        <p:spPr>
          <a:xfrm rot="21300000">
            <a:off x="9214884" y="3981648"/>
            <a:ext cx="1488558" cy="49589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يفقد 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ar-SA" sz="2400" dirty="0"/>
          </a:p>
        </p:txBody>
      </p:sp>
      <p:sp>
        <p:nvSpPr>
          <p:cNvPr id="14" name="Text 12"/>
          <p:cNvSpPr txBox="1"/>
          <p:nvPr/>
        </p:nvSpPr>
        <p:spPr>
          <a:xfrm rot="21300000">
            <a:off x="7844465" y="4146947"/>
            <a:ext cx="779721" cy="4486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7CF29A"/>
                </a:solidFill>
                <a:latin typeface="Arial"/>
                <a:cs typeface="Arial"/>
              </a:rPr>
              <a:t>يحقق</a:t>
            </a:r>
            <a:endParaRPr lang="ar-SA" sz="2400" dirty="0"/>
          </a:p>
        </p:txBody>
      </p:sp>
      <p:sp>
        <p:nvSpPr>
          <p:cNvPr id="15" name="Text 13"/>
          <p:cNvSpPr txBox="1"/>
          <p:nvPr/>
        </p:nvSpPr>
        <p:spPr>
          <a:xfrm rot="21300000">
            <a:off x="12995349" y="4808141"/>
            <a:ext cx="1724837" cy="5667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الفلور (</a:t>
            </a:r>
            <a:r>
              <a:rPr lang="en-US" sz="2200" b="1" baseline="-2500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lang="ar-SA" sz="2200" dirty="0"/>
          </a:p>
        </p:txBody>
      </p:sp>
      <p:grpSp>
        <p:nvGrpSpPr>
          <p:cNvPr id="16" name="Lewis F"/>
          <p:cNvGrpSpPr/>
          <p:nvPr/>
        </p:nvGrpSpPr>
        <p:grpSpPr>
          <a:xfrm rot="21300000">
            <a:off x="10986977" y="4878983"/>
            <a:ext cx="1535814" cy="519509"/>
            <a:chOff x="10986977" y="4878983"/>
            <a:chExt cx="1535814" cy="519509"/>
          </a:xfrm>
        </p:grpSpPr>
        <p:sp>
          <p:nvSpPr>
            <p:cNvPr id="17" name="Text 15"/>
            <p:cNvSpPr txBox="1"/>
            <p:nvPr/>
          </p:nvSpPr>
          <p:spPr>
            <a:xfrm>
              <a:off x="11613116" y="4949825"/>
              <a:ext cx="283535" cy="37782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rtl="0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Arial"/>
                  <a:cs typeface="Arial"/>
                </a:rPr>
                <a:t>F</a:t>
              </a:r>
              <a:endParaRPr lang="ar-SA" sz="2600" dirty="0"/>
            </a:p>
          </p:txBody>
        </p:sp>
        <p:sp>
          <p:nvSpPr>
            <p:cNvPr id="18" name="Dot 18"/>
            <p:cNvSpPr/>
            <p:nvPr/>
          </p:nvSpPr>
          <p:spPr>
            <a:xfrm>
              <a:off x="11676912" y="4895513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19" name="Dot 19"/>
            <p:cNvSpPr/>
            <p:nvPr/>
          </p:nvSpPr>
          <p:spPr>
            <a:xfrm>
              <a:off x="11771423" y="4895513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20" name="Dot 20"/>
            <p:cNvSpPr/>
            <p:nvPr/>
          </p:nvSpPr>
          <p:spPr>
            <a:xfrm>
              <a:off x="11676912" y="5320566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21" name="Dot 21"/>
            <p:cNvSpPr/>
            <p:nvPr/>
          </p:nvSpPr>
          <p:spPr>
            <a:xfrm>
              <a:off x="11771423" y="5320566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22" name="Dot 22"/>
            <p:cNvSpPr/>
            <p:nvPr/>
          </p:nvSpPr>
          <p:spPr>
            <a:xfrm>
              <a:off x="11535144" y="5060811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23" name="Dot 23"/>
            <p:cNvSpPr/>
            <p:nvPr/>
          </p:nvSpPr>
          <p:spPr>
            <a:xfrm>
              <a:off x="11535144" y="5155267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24" name="Dot 24"/>
            <p:cNvSpPr/>
            <p:nvPr/>
          </p:nvSpPr>
          <p:spPr>
            <a:xfrm>
              <a:off x="11913191" y="5108039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</p:grpSp>
      <p:sp>
        <p:nvSpPr>
          <p:cNvPr id="25" name="Text 23"/>
          <p:cNvSpPr txBox="1"/>
          <p:nvPr/>
        </p:nvSpPr>
        <p:spPr>
          <a:xfrm rot="21415515">
            <a:off x="9333023" y="4973439"/>
            <a:ext cx="1370419" cy="5195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يكتسب 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ar-SA" sz="2400" dirty="0"/>
          </a:p>
        </p:txBody>
      </p:sp>
      <p:sp>
        <p:nvSpPr>
          <p:cNvPr id="26" name="Text 24"/>
          <p:cNvSpPr txBox="1"/>
          <p:nvPr/>
        </p:nvSpPr>
        <p:spPr>
          <a:xfrm rot="21300000">
            <a:off x="7797209" y="5138738"/>
            <a:ext cx="826977" cy="40143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7CF29A"/>
                </a:solidFill>
                <a:latin typeface="Arial"/>
                <a:cs typeface="Arial"/>
              </a:rPr>
              <a:t>يحقق</a:t>
            </a:r>
            <a:endParaRPr lang="ar-SA" sz="2400" dirty="0"/>
          </a:p>
        </p:txBody>
      </p:sp>
      <p:sp>
        <p:nvSpPr>
          <p:cNvPr id="27" name="Text 25"/>
          <p:cNvSpPr txBox="1"/>
          <p:nvPr/>
        </p:nvSpPr>
        <p:spPr>
          <a:xfrm rot="21300000">
            <a:off x="12877209" y="5918002"/>
            <a:ext cx="2008372" cy="519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الليثيوم (</a:t>
            </a:r>
            <a:r>
              <a:rPr lang="en-US" sz="2200" b="1" baseline="-250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lang="ar-SA" sz="2200" dirty="0"/>
          </a:p>
        </p:txBody>
      </p:sp>
      <p:grpSp>
        <p:nvGrpSpPr>
          <p:cNvPr id="28" name="Lewis Li"/>
          <p:cNvGrpSpPr/>
          <p:nvPr/>
        </p:nvGrpSpPr>
        <p:grpSpPr>
          <a:xfrm>
            <a:off x="11034233" y="5965230"/>
            <a:ext cx="1063256" cy="519509"/>
            <a:chOff x="11034233" y="5965230"/>
            <a:chExt cx="1063256" cy="519509"/>
          </a:xfrm>
        </p:grpSpPr>
        <p:sp>
          <p:nvSpPr>
            <p:cNvPr id="29" name="Text 27"/>
            <p:cNvSpPr txBox="1"/>
            <p:nvPr/>
          </p:nvSpPr>
          <p:spPr>
            <a:xfrm>
              <a:off x="11376837" y="6012458"/>
              <a:ext cx="378047" cy="42505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rtl="0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Arial"/>
                  <a:cs typeface="Arial"/>
                </a:rPr>
                <a:t>Li</a:t>
              </a:r>
              <a:endParaRPr lang="ar-SA" sz="2600" dirty="0"/>
            </a:p>
          </p:txBody>
        </p:sp>
        <p:sp>
          <p:nvSpPr>
            <p:cNvPr id="30" name="Dot 30"/>
            <p:cNvSpPr/>
            <p:nvPr/>
          </p:nvSpPr>
          <p:spPr>
            <a:xfrm>
              <a:off x="11759609" y="6194286"/>
              <a:ext cx="61433" cy="61397"/>
            </a:xfrm>
            <a:prstGeom prst="ellipse">
              <a:avLst/>
            </a:prstGeom>
            <a:solidFill>
              <a:srgbClr val="FFD84A"/>
            </a:solidFill>
            <a:ln>
              <a:noFill/>
            </a:ln>
          </p:spPr>
        </p:sp>
      </p:grpSp>
      <p:sp>
        <p:nvSpPr>
          <p:cNvPr id="31" name="Text 29"/>
          <p:cNvSpPr txBox="1"/>
          <p:nvPr/>
        </p:nvSpPr>
        <p:spPr>
          <a:xfrm>
            <a:off x="9380279" y="6036072"/>
            <a:ext cx="1027814" cy="4486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يفقد 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ar-SA" sz="2400" dirty="0"/>
          </a:p>
        </p:txBody>
      </p:sp>
      <p:sp>
        <p:nvSpPr>
          <p:cNvPr id="32" name="Text 30"/>
          <p:cNvSpPr txBox="1"/>
          <p:nvPr/>
        </p:nvSpPr>
        <p:spPr>
          <a:xfrm rot="21300000">
            <a:off x="7371907" y="5965230"/>
            <a:ext cx="1346791" cy="7084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400" b="1" dirty="0">
                <a:solidFill>
                  <a:srgbClr val="FFD84A"/>
                </a:solidFill>
                <a:latin typeface="Arial"/>
                <a:cs typeface="Arial"/>
              </a:rPr>
              <a:t>لا يحقق</a:t>
            </a:r>
            <a:endParaRPr lang="ar-SA" sz="2400" dirty="0"/>
          </a:p>
          <a:p>
            <a:pPr algn="ctr" rtl="1">
              <a:lnSpc>
                <a:spcPct val="90000"/>
              </a:lnSpc>
              <a:spcBef>
                <a:spcPts val="0"/>
              </a:spcBef>
              <a:buNone/>
            </a:pPr>
            <a:r>
              <a:rPr lang="ar-SA" sz="1200" b="1" dirty="0">
                <a:solidFill>
                  <a:srgbClr val="FFD84A"/>
                </a:solidFill>
                <a:latin typeface="Arial"/>
                <a:cs typeface="Arial"/>
              </a:rPr>
              <a:t>(راجع الاستثناءات)</a:t>
            </a:r>
            <a:endParaRPr lang="ar-SA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  <p:bldP spid="15" grpId="0" animBg="1"/>
      <p:bldP spid="25" grpId="0" animBg="1"/>
      <p:bldP spid="26" grpId="0" animBg="1"/>
      <p:bldP spid="27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275907" y="1879997"/>
            <a:ext cx="3709581" cy="684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00" b="1" dirty="0">
                <a:solidFill>
                  <a:srgbClr val="7FE6F5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استثناءات قاعدة الثمانية</a:t>
            </a:r>
            <a:endParaRPr lang="ar-SA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228652" y="2706489"/>
            <a:ext cx="3709581" cy="46991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92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هناك مبانٍ صغيرة لا تحتاج إلى 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8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 إلكترونات، بل تستقر بإلكترونين فقط لتتشبّه بالجار العظيم: </a:t>
            </a:r>
            <a:r>
              <a:rPr lang="ar-SA" sz="2400" b="1" dirty="0">
                <a:solidFill>
                  <a:srgbClr val="FFB347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الهيليوم (</a:t>
            </a:r>
            <a:r>
              <a:rPr lang="en-US" sz="2400" b="1" baseline="-25000" dirty="0">
                <a:solidFill>
                  <a:srgbClr val="FFB347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2</a:t>
            </a:r>
            <a:r>
              <a:rPr lang="en-US" sz="2400" b="1" dirty="0">
                <a:solidFill>
                  <a:srgbClr val="FFB347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He</a:t>
            </a:r>
            <a:r>
              <a:rPr lang="ar-SA" sz="2400" b="1" dirty="0">
                <a:solidFill>
                  <a:srgbClr val="FFB347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)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.</a:t>
            </a:r>
            <a:endParaRPr lang="ar-SA" sz="2400" dirty="0"/>
          </a:p>
          <a:p>
            <a:pPr algn="r" rtl="1">
              <a:lnSpc>
                <a:spcPct val="92000"/>
              </a:lnSpc>
              <a:spcBef>
                <a:spcPts val="1000"/>
              </a:spcBef>
              <a:buNone/>
            </a:pPr>
            <a:r>
              <a:rPr lang="ar-SA" sz="2400" b="1" dirty="0">
                <a:solidFill>
                  <a:srgbClr val="FFB347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• العناصر المستثناة: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 الهيدروجين (</a:t>
            </a:r>
            <a:r>
              <a:rPr lang="en-US" sz="2400" b="1" baseline="-25000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1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H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)، الليثيوم (</a:t>
            </a:r>
            <a:r>
              <a:rPr lang="en-US" sz="2400" b="1" baseline="-25000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3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Li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)، البريليوم (</a:t>
            </a:r>
            <a:r>
              <a:rPr lang="en-US" sz="2400" b="1" baseline="-25000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4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Be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)، البورون (</a:t>
            </a:r>
            <a:r>
              <a:rPr lang="en-US" sz="2400" b="1" baseline="-25000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5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B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).</a:t>
            </a:r>
            <a:endParaRPr lang="ar-SA" sz="2400" dirty="0"/>
          </a:p>
          <a:p>
            <a:pPr algn="r" rtl="1">
              <a:lnSpc>
                <a:spcPct val="92000"/>
              </a:lnSpc>
              <a:spcBef>
                <a:spcPts val="1000"/>
              </a:spcBef>
              <a:buNone/>
            </a:pPr>
            <a:r>
              <a:rPr lang="ar-SA" sz="2400" b="1" dirty="0">
                <a:solidFill>
                  <a:srgbClr val="FFB347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السبب:</a:t>
            </a:r>
            <a:r>
              <a:rPr lang="ar-SA" sz="24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 عندما تفقد هذه الذرات إلكترونات التكافؤ، يتبقى لديها مستوى طاقة أول ممتلئ بإلكترونين، وهو قمة الاستقرار لهذه المباني!</a:t>
            </a:r>
            <a:endParaRPr lang="ar-SA" sz="2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4016744" y="2068909"/>
            <a:ext cx="7915349" cy="77926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8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 xml:space="preserve">التحدي الأكبر: أنت الكيميائي!</a:t>
            </a:r>
            <a:endParaRPr lang="ar-SA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83814" y="2871788"/>
            <a:ext cx="7112000" cy="13932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86000"/>
              </a:lnSpc>
              <a:buNone/>
            </a:pPr>
            <a:r>
              <a:rPr lang="ar-SA" sz="2000" b="1" dirty="0">
                <a:solidFill>
                  <a:srgbClr val="6FE0F5"/>
                </a:solidFill>
                <a:latin typeface="Arial"/>
                <a:cs typeface="Arial"/>
              </a:rPr>
              <a:t xml:space="preserve">السؤال الأول: المصطلحات</a:t>
            </a:r>
            <a:endParaRPr lang="ar-SA" sz="20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- عدد الإلكترونات التي تفقدها الذرة أو تكتسبها أو تشارك بها...</a:t>
            </a:r>
            <a:endParaRPr lang="ar-SA" sz="18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← </a:t>
            </a:r>
            <a:r>
              <a:rPr lang="ar-SA" sz="1800" b="1" dirty="0">
                <a:solidFill>
                  <a:srgbClr val="6FE0F5"/>
                </a:solidFill>
                <a:latin typeface="Arial"/>
                <a:cs typeface="Arial"/>
              </a:rPr>
              <a:t xml:space="preserve">التكافؤ</a:t>
            </a:r>
            <a:endParaRPr lang="ar-SA" sz="18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- الأشكال التي توضح إلكترونات التكافؤ في صورة نقاط...</a:t>
            </a:r>
            <a:endParaRPr lang="ar-SA" sz="18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← </a:t>
            </a:r>
            <a:r>
              <a:rPr lang="ar-SA" sz="1800" b="1" dirty="0">
                <a:solidFill>
                  <a:srgbClr val="7CF29A"/>
                </a:solidFill>
                <a:latin typeface="Arial"/>
                <a:cs typeface="Arial"/>
              </a:rPr>
              <a:t xml:space="preserve">الترتيب الإلكتروني النقطي (تمثيل لويس)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631070" y="4430316"/>
            <a:ext cx="7064744" cy="14404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86000"/>
              </a:lnSpc>
              <a:buNone/>
            </a:pPr>
            <a:r>
              <a:rPr lang="ar-SA" sz="2000" b="1" dirty="0">
                <a:solidFill>
                  <a:srgbClr val="FFB347"/>
                </a:solidFill>
                <a:latin typeface="Arial"/>
                <a:cs typeface="Arial"/>
              </a:rPr>
              <a:t xml:space="preserve">السؤال الثاني: الاختيارات</a:t>
            </a:r>
            <a:endParaRPr lang="ar-SA" sz="20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- عدد إلكترونات التكافؤ لعنصر يقع في المجموعة (</a:t>
            </a: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17</a:t>
            </a: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):</a:t>
            </a:r>
            <a:endParaRPr lang="ar-SA" sz="18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← </a:t>
            </a:r>
            <a:r>
              <a:rPr lang="ar-SA" sz="1800" b="1" dirty="0">
                <a:solidFill>
                  <a:srgbClr val="FFB347"/>
                </a:solidFill>
                <a:latin typeface="Arial"/>
                <a:cs typeface="Arial"/>
              </a:rPr>
              <a:t xml:space="preserve">الإجابة: (</a:t>
            </a:r>
            <a:r>
              <a:rPr lang="en-US" sz="1800" b="1" dirty="0">
                <a:solidFill>
                  <a:srgbClr val="FFB347"/>
                </a:solidFill>
                <a:latin typeface="Arial"/>
                <a:cs typeface="Arial"/>
              </a:rPr>
              <a:t xml:space="preserve">7</a:t>
            </a:r>
            <a:r>
              <a:rPr lang="ar-SA" sz="1800" b="1" dirty="0">
                <a:solidFill>
                  <a:srgbClr val="FFB347"/>
                </a:solidFill>
                <a:latin typeface="Arial"/>
                <a:cs typeface="Arial"/>
              </a:rPr>
              <a:t xml:space="preserve">)</a:t>
            </a:r>
            <a:endParaRPr lang="ar-SA" sz="18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- إحدى الذرات التالية تصل للاستقرار عن طريق فقد إلكترونين:</a:t>
            </a:r>
            <a:endParaRPr lang="ar-SA" sz="1800" dirty="0"/>
          </a:p>
          <a:p>
            <a:pPr algn="r" rtl="1">
              <a:lnSpc>
                <a:spcPct val="86000"/>
              </a:lnSpc>
              <a:spcBef>
                <a:spcPts val="0"/>
              </a:spcBef>
              <a:buNone/>
            </a:pPr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 xml:space="preserve">← </a:t>
            </a:r>
            <a:r>
              <a:rPr lang="ar-SA" sz="1800" b="1" dirty="0">
                <a:solidFill>
                  <a:srgbClr val="FFB347"/>
                </a:solidFill>
                <a:latin typeface="Arial"/>
                <a:cs typeface="Arial"/>
              </a:rPr>
              <a:t xml:space="preserve">الإجابة: (</a:t>
            </a:r>
            <a:r>
              <a:rPr lang="en-US" sz="1800" b="1" dirty="0" baseline="-25000">
                <a:solidFill>
                  <a:srgbClr val="FFB347"/>
                </a:solidFill>
                <a:latin typeface="Arial"/>
                <a:cs typeface="Arial"/>
              </a:rPr>
              <a:t xml:space="preserve">12</a:t>
            </a:r>
            <a:r>
              <a:rPr lang="en-US" sz="1800" b="1" dirty="0">
                <a:solidFill>
                  <a:srgbClr val="FFB347"/>
                </a:solidFill>
                <a:latin typeface="Arial"/>
                <a:cs typeface="Arial"/>
              </a:rPr>
              <a:t xml:space="preserve">Mg</a:t>
            </a:r>
            <a:r>
              <a:rPr lang="ar-SA" sz="1800" b="1" dirty="0">
                <a:solidFill>
                  <a:srgbClr val="FFB347"/>
                </a:solidFill>
                <a:latin typeface="Arial"/>
                <a:cs typeface="Arial"/>
              </a:rPr>
              <a:t xml:space="preserve">)</a:t>
            </a:r>
            <a:endParaRPr lang="ar-SA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11721" y="5634633"/>
            <a:ext cx="1878419" cy="4958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00" b="1" dirty="0">
                <a:solidFill>
                  <a:srgbClr val="5CFF7A"/>
                </a:solidFill>
                <a:effectLst>
                  <a:glow rad="63500">
                    <a:srgbClr val="29FF5A">
                      <a:alpha val="35000"/>
                    </a:srgbClr>
                  </a:glow>
                </a:effectLst>
                <a:latin typeface="Arial"/>
                <a:cs typeface="Arial"/>
              </a:rPr>
              <a:t xml:space="preserve">إجابة صحيحة!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554047" y="5634633"/>
            <a:ext cx="1878419" cy="4958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00" b="1" dirty="0">
                <a:solidFill>
                  <a:srgbClr val="5CFF7A"/>
                </a:solidFill>
                <a:effectLst>
                  <a:glow rad="63500">
                    <a:srgbClr val="29FF5A">
                      <a:alpha val="35000"/>
                    </a:srgbClr>
                  </a:glow>
                </a:effectLst>
                <a:latin typeface="Arial"/>
                <a:cs typeface="Arial"/>
              </a:rPr>
              <a:t xml:space="preserve">إجابة صحيحة!</a:t>
            </a:r>
            <a:endParaRPr lang="ar-SA" sz="2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  <p:bldP spid="5" grpId="0" build="p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2126512" y="439539"/>
            <a:ext cx="12050233" cy="80287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8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لغز النقاط الثلاث (أنت الكيميائي - السؤال الثالث)</a:t>
            </a:r>
            <a:endParaRPr lang="ar-SA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2788093" y="6933406"/>
            <a:ext cx="4938233" cy="96817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المعطيات: عنصر مجهول يحتوي ترتيبه النقطي على 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 نقاط فقط.</a:t>
            </a:r>
            <a:endParaRPr lang="ar-SA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128744" y="2021681"/>
            <a:ext cx="4205767" cy="5667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الاستنتاج الأول (رقم المجموعة):</a:t>
            </a:r>
            <a:endParaRPr lang="ar-SA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176000" y="2777331"/>
            <a:ext cx="4111256" cy="8973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بما أن لديه 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 إلكترونات تكافؤ، فهو يقع في المجموعة (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).</a:t>
            </a:r>
            <a:endParaRPr lang="ar-SA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128744" y="5091509"/>
            <a:ext cx="4205767" cy="519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الاستنتاج الثاني (للوصول للاستقرار):</a:t>
            </a:r>
            <a:endParaRPr lang="ar-SA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176000" y="5729089"/>
            <a:ext cx="4111256" cy="127515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الأسهل أن يفقد 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 إلكترونات (ليُفرغ طابقه الأخير) بدلاً من أن يكتسب 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 إلكترونات ليحقق قاعدة الثمانية.</a:t>
            </a:r>
            <a:endParaRPr lang="ar-SA" sz="2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4843721" y="392311"/>
            <a:ext cx="6615814" cy="885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2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خريطة الاستقرار الشاملة</a:t>
            </a:r>
            <a:endParaRPr lang="ar-SA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653953" y="5587405"/>
            <a:ext cx="2433674" cy="11098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إلكترونات التكافؤ</a:t>
            </a:r>
            <a:endParaRPr lang="ar-SA" sz="2400" dirty="0"/>
          </a:p>
          <a:p>
            <a:pPr algn="ct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(تحدد سلوك الذرة)</a:t>
            </a:r>
            <a:endParaRPr lang="ar-SA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72837" y="1478558"/>
            <a:ext cx="2929860" cy="8973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1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تمثيل لويس النقطي</a:t>
            </a:r>
            <a:endParaRPr lang="ar-SA" sz="2100" dirty="0"/>
          </a:p>
          <a:p>
            <a:pPr algn="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1700" b="1" dirty="0"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65000"/>
                    </a:srgbClr>
                  </a:outerShdw>
                </a:effectLst>
                <a:latin typeface="Arial"/>
                <a:cs typeface="Arial"/>
              </a:rPr>
              <a:t>(يكشف العدد)</a:t>
            </a:r>
            <a:endParaRPr lang="ar-SA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505302" y="3462139"/>
            <a:ext cx="1961116" cy="873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88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الذرات ذات</a:t>
            </a:r>
            <a:endParaRPr lang="ar-SA" sz="2400" dirty="0"/>
          </a:p>
          <a:p>
            <a:pPr algn="ctr" rtl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 أو </a:t>
            </a:r>
            <a:r>
              <a:rPr lang="en-US" sz="2400" b="1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 أو </a:t>
            </a:r>
            <a:r>
              <a:rPr lang="en-US" sz="2400" b="1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lang="ar-SA" sz="2400" dirty="0"/>
          </a:p>
          <a:p>
            <a:pPr algn="ctr" rtl="1">
              <a:lnSpc>
                <a:spcPct val="88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إلكترونات</a:t>
            </a:r>
            <a:endParaRPr lang="ar-SA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844465" y="3556595"/>
            <a:ext cx="992372" cy="4958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تفقد</a:t>
            </a:r>
            <a:endParaRPr lang="ar-SA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167628" y="3509367"/>
            <a:ext cx="1819349" cy="77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تصبح</a:t>
            </a:r>
            <a:endParaRPr lang="ar-SA" sz="2400" dirty="0"/>
          </a:p>
          <a:p>
            <a:pPr algn="ctr" rtl="1">
              <a:lnSpc>
                <a:spcPct val="90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كاتيوناً موجباً</a:t>
            </a:r>
            <a:endParaRPr lang="ar-SA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694326" y="4973439"/>
            <a:ext cx="1866605" cy="11098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88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الذرات ذات</a:t>
            </a:r>
            <a:endParaRPr lang="ar-SA" sz="2400" dirty="0"/>
          </a:p>
          <a:p>
            <a:pPr algn="ctr" rtl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 أو </a:t>
            </a:r>
            <a:r>
              <a:rPr lang="en-US" sz="2400" b="1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 أو </a:t>
            </a:r>
            <a:r>
              <a:rPr lang="en-US" sz="2400" b="1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endParaRPr lang="ar-SA" sz="2400" dirty="0"/>
          </a:p>
          <a:p>
            <a:pPr algn="ctr" rtl="1">
              <a:lnSpc>
                <a:spcPct val="88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إلكترونات</a:t>
            </a:r>
            <a:endParaRPr lang="ar-SA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844465" y="5422106"/>
            <a:ext cx="1039628" cy="519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تكتسب</a:t>
            </a:r>
            <a:endParaRPr lang="ar-SA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285767" y="5185966"/>
            <a:ext cx="1559442" cy="77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تصبح</a:t>
            </a:r>
            <a:endParaRPr lang="ar-SA" sz="2400" dirty="0"/>
          </a:p>
          <a:p>
            <a:pPr algn="ctr" rtl="1">
              <a:lnSpc>
                <a:spcPct val="90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أنيوناً سالباً</a:t>
            </a:r>
            <a:endParaRPr lang="ar-SA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1766698" y="6248598"/>
            <a:ext cx="3048000" cy="873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الاستقرار</a:t>
            </a:r>
            <a:endParaRPr lang="ar-SA" sz="2400" dirty="0"/>
          </a:p>
          <a:p>
            <a:pPr algn="ct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(تحقيق قاعدة الثمانية)</a:t>
            </a:r>
            <a:endParaRPr lang="ar-SA" sz="2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5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6379535" y="557609"/>
            <a:ext cx="6710326" cy="18418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4800" b="1" dirty="0">
                <a:solidFill>
                  <a:srgbClr val="2E3440"/>
                </a:solidFill>
                <a:effectLst>
                  <a:outerShdw blurRad="12700" dist="38100" dir="2700000" algn="tl" rotWithShape="0">
                    <a:srgbClr val="000000">
                      <a:alpha val="55000"/>
                    </a:srgbClr>
                  </a:outerShdw>
                </a:effectLst>
                <a:latin typeface="Arial"/>
                <a:cs typeface="Arial"/>
              </a:rPr>
              <a:t>التقرير النهائي:</a:t>
            </a:r>
            <a:endParaRPr lang="ar-SA" sz="4800" dirty="0"/>
          </a:p>
          <a:p>
            <a:pPr algn="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4800" b="1" dirty="0">
                <a:solidFill>
                  <a:srgbClr val="2E3440"/>
                </a:solidFill>
                <a:effectLst>
                  <a:outerShdw blurRad="12700" dist="38100" dir="2700000" algn="tl" rotWithShape="0">
                    <a:srgbClr val="000000">
                      <a:alpha val="55000"/>
                    </a:srgbClr>
                  </a:outerShdw>
                </a:effectLst>
                <a:latin typeface="Arial"/>
                <a:cs typeface="Arial"/>
              </a:rPr>
              <a:t>شهادة التدقيق المعماري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733953" y="2919016"/>
            <a:ext cx="1606698" cy="8264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400" b="1" dirty="0">
                <a:solidFill>
                  <a:srgbClr val="1E1E1E"/>
                </a:solidFill>
                <a:latin typeface="Arial"/>
                <a:cs typeface="Arial"/>
              </a:rPr>
              <a:t>العنصر</a:t>
            </a:r>
            <a:endParaRPr lang="ar-SA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87907" y="2919016"/>
            <a:ext cx="1110512" cy="8264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1E1E1E"/>
                </a:solidFill>
                <a:latin typeface="Arial"/>
                <a:cs typeface="Arial"/>
              </a:rPr>
              <a:t>الترتيب الإلكتروني</a:t>
            </a:r>
            <a:endParaRPr lang="ar-SA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545674" y="2919016"/>
            <a:ext cx="1098698" cy="8264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1E1E1E"/>
                </a:solidFill>
                <a:latin typeface="Arial"/>
                <a:cs typeface="Arial"/>
              </a:rPr>
              <a:t>إلكترونات التكافؤ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691628" y="2919016"/>
            <a:ext cx="1134140" cy="8264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1E1E1E"/>
                </a:solidFill>
                <a:latin typeface="Arial"/>
                <a:cs typeface="Arial"/>
              </a:rPr>
              <a:t>التكافؤ</a:t>
            </a:r>
            <a:endParaRPr lang="ar-SA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4837" y="2919016"/>
            <a:ext cx="1110512" cy="8264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1E1E1E"/>
                </a:solidFill>
                <a:latin typeface="Arial"/>
                <a:cs typeface="Arial"/>
              </a:rPr>
              <a:t>الترتيب النقطي</a:t>
            </a:r>
            <a:endParaRPr lang="ar-SA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733953" y="3863578"/>
            <a:ext cx="1606698" cy="7084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1800" b="1" dirty="0">
                <a:solidFill>
                  <a:srgbClr val="1E1E1E"/>
                </a:solidFill>
                <a:latin typeface="Arial"/>
                <a:cs typeface="Arial"/>
              </a:rPr>
              <a:t>النيتروجين (</a:t>
            </a:r>
            <a:r>
              <a:rPr lang="en-US" sz="1800" b="1" baseline="-25000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r>
              <a:rPr lang="en-US" sz="1800" b="1" dirty="0">
                <a:solidFill>
                  <a:srgbClr val="1E1E1E"/>
                </a:solidFill>
                <a:latin typeface="Arial"/>
                <a:cs typeface="Arial"/>
              </a:rPr>
              <a:t>N</a:t>
            </a:r>
            <a:r>
              <a:rPr lang="ar-SA" sz="1800" b="1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lang="ar-SA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387907" y="3863578"/>
            <a:ext cx="1110512" cy="7084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2,5</a:t>
            </a:r>
            <a:endParaRPr lang="ar-SA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545674" y="3863578"/>
            <a:ext cx="1098698" cy="7084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lang="ar-SA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691628" y="3863578"/>
            <a:ext cx="1134140" cy="7084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1E1E1E"/>
                </a:solidFill>
                <a:latin typeface="Arial"/>
                <a:cs typeface="Arial"/>
              </a:rPr>
              <a:t>يكتسب </a:t>
            </a: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lang="ar-SA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733953" y="4642842"/>
            <a:ext cx="1606698" cy="7084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1800" b="1" dirty="0">
                <a:solidFill>
                  <a:srgbClr val="1E1E1E"/>
                </a:solidFill>
                <a:latin typeface="Arial"/>
                <a:cs typeface="Arial"/>
              </a:rPr>
              <a:t>الكبريت (</a:t>
            </a:r>
            <a:r>
              <a:rPr lang="en-US" sz="1800" b="1" baseline="-25000" dirty="0">
                <a:solidFill>
                  <a:srgbClr val="1E1E1E"/>
                </a:solidFill>
                <a:latin typeface="Arial"/>
                <a:cs typeface="Arial"/>
              </a:rPr>
              <a:t>16</a:t>
            </a:r>
            <a:r>
              <a:rPr lang="en-US" sz="1800" b="1" dirty="0">
                <a:solidFill>
                  <a:srgbClr val="1E1E1E"/>
                </a:solidFill>
                <a:latin typeface="Arial"/>
                <a:cs typeface="Arial"/>
              </a:rPr>
              <a:t>S</a:t>
            </a:r>
            <a:r>
              <a:rPr lang="ar-SA" sz="1800" b="1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lang="ar-S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87907" y="4642842"/>
            <a:ext cx="1110512" cy="7084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2,8,6</a:t>
            </a:r>
            <a:endParaRPr lang="ar-SA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545674" y="4642842"/>
            <a:ext cx="1098698" cy="7084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endParaRPr lang="ar-SA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691628" y="4642842"/>
            <a:ext cx="1134140" cy="7084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1E1E1E"/>
                </a:solidFill>
                <a:latin typeface="Arial"/>
                <a:cs typeface="Arial"/>
              </a:rPr>
              <a:t>يكتسب </a:t>
            </a: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lang="ar-SA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33953" y="5433913"/>
            <a:ext cx="1606698" cy="684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1800" b="1" dirty="0">
                <a:solidFill>
                  <a:srgbClr val="1E1E1E"/>
                </a:solidFill>
                <a:latin typeface="Arial"/>
                <a:cs typeface="Arial"/>
              </a:rPr>
              <a:t>الكالسيوم (</a:t>
            </a:r>
            <a:r>
              <a:rPr lang="en-US" sz="1800" b="1" baseline="-25000" dirty="0">
                <a:solidFill>
                  <a:srgbClr val="1E1E1E"/>
                </a:solidFill>
                <a:latin typeface="Arial"/>
                <a:cs typeface="Arial"/>
              </a:rPr>
              <a:t>20</a:t>
            </a:r>
            <a:r>
              <a:rPr lang="en-US" sz="1800" b="1" dirty="0">
                <a:solidFill>
                  <a:srgbClr val="1E1E1E"/>
                </a:solidFill>
                <a:latin typeface="Arial"/>
                <a:cs typeface="Arial"/>
              </a:rPr>
              <a:t>Ca</a:t>
            </a:r>
            <a:r>
              <a:rPr lang="ar-SA" sz="1800" b="1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lang="ar-SA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87907" y="5433913"/>
            <a:ext cx="1110512" cy="68480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2,8,8,2</a:t>
            </a:r>
            <a:endParaRPr lang="ar-SA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545674" y="5433913"/>
            <a:ext cx="1098698" cy="68480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lang="ar-SA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691628" y="5433913"/>
            <a:ext cx="1134140" cy="68480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ar-SA" sz="2000" b="1" dirty="0">
                <a:solidFill>
                  <a:srgbClr val="1E1E1E"/>
                </a:solidFill>
                <a:latin typeface="Arial"/>
                <a:cs typeface="Arial"/>
              </a:rPr>
              <a:t>يفقد </a:t>
            </a:r>
            <a:r>
              <a:rPr lang="en-US" sz="2000" b="1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lang="ar-SA" sz="2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lide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3095256" y="1053505"/>
            <a:ext cx="10065488" cy="247947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7000" b="1" dirty="0">
                <a:ln w="28575">
                  <a:solidFill>
                    <a:srgbClr val="B9741C"/>
                  </a:solidFill>
                </a:ln>
                <a:solidFill>
                  <a:srgbClr val="FFFFFF"/>
                </a:solidFill>
                <a:effectLst>
                  <a:glow rad="88900">
                    <a:srgbClr val="FFD27A">
                      <a:alpha val="40000"/>
                    </a:srgbClr>
                  </a:glow>
                  <a:outerShdw blurRad="12700" dist="63500" dir="2700000" algn="tl" rotWithShape="0">
                    <a:srgbClr val="7A4A12">
                      <a:alpha val="95000"/>
                    </a:srgbClr>
                  </a:outerShdw>
                </a:effectLst>
                <a:latin typeface="Arial"/>
                <a:cs typeface="Arial"/>
              </a:rPr>
              <a:t>تم تأمين</a:t>
            </a:r>
            <a:endParaRPr lang="ar-SA" sz="7000" dirty="0"/>
          </a:p>
          <a:p>
            <a:pPr algn="ctr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ar-SA" sz="7000" b="1" dirty="0">
                <a:ln w="28575">
                  <a:solidFill>
                    <a:srgbClr val="B9741C"/>
                  </a:solidFill>
                </a:ln>
                <a:solidFill>
                  <a:srgbClr val="FFFFFF"/>
                </a:solidFill>
                <a:effectLst>
                  <a:glow rad="88900">
                    <a:srgbClr val="FFD27A">
                      <a:alpha val="40000"/>
                    </a:srgbClr>
                  </a:glow>
                  <a:outerShdw blurRad="12700" dist="63500" dir="2700000" algn="tl" rotWithShape="0">
                    <a:srgbClr val="7A4A12">
                      <a:alpha val="95000"/>
                    </a:srgbClr>
                  </a:outerShdw>
                </a:effectLst>
                <a:latin typeface="Arial"/>
                <a:cs typeface="Arial"/>
              </a:rPr>
              <a:t>الاستقرار الكيميائي بنجاح!</a:t>
            </a:r>
            <a:endParaRPr lang="ar-SA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4465674" y="3910806"/>
            <a:ext cx="7608186" cy="873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1">
              <a:lnSpc>
                <a:spcPct val="92000"/>
              </a:lnSpc>
              <a:buNone/>
            </a:pPr>
            <a:r>
              <a:rPr lang="ar-SA" sz="22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لقد أتقنتم إدارة «عمال الطابق الأخير»، وفككتم شفرة الاستقرار.</a:t>
            </a:r>
            <a:endParaRPr lang="ar-SA" sz="2200" dirty="0"/>
          </a:p>
          <a:p>
            <a:pPr algn="ctr" rtl="1">
              <a:lnSpc>
                <a:spcPct val="92000"/>
              </a:lnSpc>
              <a:spcBef>
                <a:spcPts val="0"/>
              </a:spcBef>
              <a:buNone/>
            </a:pPr>
            <a:r>
              <a:rPr lang="ar-SA" sz="2200" b="1" dirty="0">
                <a:solidFill>
                  <a:srgbClr val="FFFFFF"/>
                </a:solidFill>
                <a:effectLst>
                  <a:outerShdw blurRad="50800" dist="19050" dir="2700000" algn="tl" rotWithShape="0">
                    <a:srgbClr val="0A1A33">
                      <a:alpha val="85000"/>
                    </a:srgbClr>
                  </a:outerShdw>
                </a:effectLst>
                <a:latin typeface="Arial"/>
                <a:cs typeface="Arial"/>
              </a:rPr>
              <a:t>أنتم الآن مهندسو كيمياء معتمدون.</a:t>
            </a:r>
            <a:endParaRPr lang="ar-SA" sz="2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انوار صالح عبدالله خزار</cp:lastModifiedBy>
  <cp:revision>4</cp:revision>
  <dcterms:created xsi:type="dcterms:W3CDTF">2006-08-16T00:00:00Z</dcterms:created>
  <dcterms:modified xsi:type="dcterms:W3CDTF">2026-10-27T15:20:23Z</dcterms:modified>
</cp:coreProperties>
</file>