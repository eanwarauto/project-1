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viewProps" Target="viewProps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presProps" Target="presProps.xml" /><Relationship Id="rId2" Type="http://schemas.openxmlformats.org/officeDocument/2006/relationships/slide" Target="slides/slide1.xml" /><Relationship Id="rId16" Type="http://schemas.openxmlformats.org/officeDocument/2006/relationships/slide" Target="slides/slide15.xml" /><Relationship Id="rId2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5" Type="http://schemas.openxmlformats.org/officeDocument/2006/relationships/slide" Target="slides/slide4.xml" /><Relationship Id="rId15" Type="http://schemas.openxmlformats.org/officeDocument/2006/relationships/slide" Target="slides/slide14.xml" /><Relationship Id="rId10" Type="http://schemas.openxmlformats.org/officeDocument/2006/relationships/slide" Target="slides/slide9.xml" /><Relationship Id="rId19" Type="http://schemas.openxmlformats.org/officeDocument/2006/relationships/theme" Target="theme/theme1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slide" Target="slides/slide13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7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 /><Relationship Id="rId1" Type="http://schemas.openxmlformats.org/officeDocument/2006/relationships/slideLayout" Target="../slideLayouts/slideLayout7.xml" 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 /><Relationship Id="rId1" Type="http://schemas.openxmlformats.org/officeDocument/2006/relationships/slideLayout" Target="../slideLayouts/slideLayout7.xml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 /><Relationship Id="rId1" Type="http://schemas.openxmlformats.org/officeDocument/2006/relationships/slideLayout" Target="../slideLayouts/slideLayout7.xml" 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 /><Relationship Id="rId1" Type="http://schemas.openxmlformats.org/officeDocument/2006/relationships/slideLayout" Target="../slideLayouts/slideLayout7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 /><Relationship Id="rId1" Type="http://schemas.openxmlformats.org/officeDocument/2006/relationships/slideLayout" Target="../slideLayouts/slideLayout7.xml" 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 /><Relationship Id="rId1" Type="http://schemas.openxmlformats.org/officeDocument/2006/relationships/slideLayout" Target="../slideLayouts/slideLayout7.xml" 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 /><Relationship Id="rId1" Type="http://schemas.openxmlformats.org/officeDocument/2006/relationships/slideLayout" Target="../slideLayouts/slideLayout7.xml" 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 /><Relationship Id="rId1" Type="http://schemas.openxmlformats.org/officeDocument/2006/relationships/slideLayout" Target="../slideLayouts/slideLayout7.xml" 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 /><Relationship Id="rId1" Type="http://schemas.openxmlformats.org/officeDocument/2006/relationships/slideLayout" Target="../slideLayouts/slideLayout7.xml" 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 /><Relationship Id="rId1" Type="http://schemas.openxmlformats.org/officeDocument/2006/relationships/slideLayout" Target="../slideLayouts/slideLayout7.xml" 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 /><Relationship Id="rId1" Type="http://schemas.openxmlformats.org/officeDocument/2006/relationships/slideLayout" Target="../slideLayouts/slideLayout7.xml" 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 /><Relationship Id="rId1" Type="http://schemas.openxmlformats.org/officeDocument/2006/relationships/slideLayout" Target="../slideLayouts/slideLayout7.xml" 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 /><Relationship Id="rId1" Type="http://schemas.openxmlformats.org/officeDocument/2006/relationships/slideLayout" Target="../slideLayouts/slideLayout7.xml" 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 /><Relationship Id="rId1" Type="http://schemas.openxmlformats.org/officeDocument/2006/relationships/slideLayout" Target="../slideLayouts/slideLayout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3095256" y="297855"/>
            <a:ext cx="10065488" cy="19835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6050" b="1" dirty="0">
                <a:ln w="28575">
                  <a:solidFill>
                    <a:srgbClr val="2C62C9"/>
                  </a:solidFill>
                </a:ln>
                <a:solidFill>
                  <a:srgbClr val="FFFFFF"/>
                </a:solidFill>
                <a:effectLst>
                  <a:glow rad="101600">
                    <a:srgbClr val="9FD8FF">
                      <a:alpha val="50000"/>
                    </a:srgbClr>
                  </a:glow>
                  <a:outerShdw blurRad="12700" dist="57150" dir="2700000" algn="tl" rotWithShape="0">
                    <a:srgbClr val="1B3F8F">
                      <a:alpha val="90000"/>
                    </a:srgbClr>
                  </a:outerShdw>
                </a:effectLst>
                <a:latin typeface="Arial"/>
                <a:cs typeface="Arial"/>
              </a:rPr>
              <a:t xml:space="preserve">الترتيب الإلكتروني وإلكترونات</a:t>
            </a:r>
            <a:endParaRPr lang="ar-SA" sz="605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6050" b="1" dirty="0">
                <a:ln w="28575">
                  <a:solidFill>
                    <a:srgbClr val="2C62C9"/>
                  </a:solidFill>
                </a:ln>
                <a:solidFill>
                  <a:srgbClr val="FFFFFF"/>
                </a:solidFill>
                <a:effectLst>
                  <a:glow rad="101600">
                    <a:srgbClr val="9FD8FF">
                      <a:alpha val="50000"/>
                    </a:srgbClr>
                  </a:glow>
                  <a:outerShdw blurRad="12700" dist="57150" dir="2700000" algn="tl" rotWithShape="0">
                    <a:srgbClr val="1B3F8F">
                      <a:alpha val="90000"/>
                    </a:srgbClr>
                  </a:outerShdw>
                </a:effectLst>
                <a:latin typeface="Arial"/>
                <a:cs typeface="Arial"/>
              </a:rPr>
              <a:t xml:space="preserve">التكافؤ وقاعدة الثمانية</a:t>
            </a:r>
            <a:endParaRPr lang="ar-SA" sz="6050" dirty="0"/>
          </a:p>
        </p:txBody>
      </p:sp>
      <p:sp>
        <p:nvSpPr>
          <p:cNvPr id="4" name="Text 2"/>
          <p:cNvSpPr txBox="1"/>
          <p:nvPr/>
        </p:nvSpPr>
        <p:spPr>
          <a:xfrm>
            <a:off x="4134884" y="2470348"/>
            <a:ext cx="7856279" cy="66119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800" b="1" dirty="0">
                <a:solidFill>
                  <a:srgbClr val="1B2A4A"/>
                </a:solidFill>
                <a:latin typeface="Arial"/>
                <a:cs typeface="Arial"/>
              </a:rPr>
              <a:t xml:space="preserve">رحلة استكشافية في مدينة الاستقرار الكيميائي</a:t>
            </a:r>
            <a:endParaRPr lang="ar-SA" sz="2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6615814" y="2730103"/>
            <a:ext cx="3071628" cy="332958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720" b="1" dirty="0">
                <a:solidFill>
                  <a:srgbClr val="1E1E1E"/>
                </a:solidFill>
                <a:latin typeface="Arial"/>
                <a:cs typeface="Arial"/>
              </a:rPr>
              <a:t xml:space="preserve">سؤال المفتش:</a:t>
            </a:r>
            <a:r>
              <a:rPr lang="ar-SA" sz="1720" b="0" dirty="0">
                <a:solidFill>
                  <a:srgbClr val="1E1E1E"/>
                </a:solidFill>
                <a:latin typeface="Arial"/>
                <a:cs typeface="Arial"/>
              </a:rPr>
              <a:t xml:space="preserve"> أي البناءين يبدو أكثر استقراراً؟</a:t>
            </a:r>
            <a:endParaRPr lang="ar-SA" sz="1720" dirty="0"/>
          </a:p>
          <a:p>
            <a:pPr algn="r" rtl="1">
              <a:lnSpc>
                <a:spcPct val="100000"/>
              </a:lnSpc>
              <a:spcBef>
                <a:spcPts val="900"/>
              </a:spcBef>
              <a:buNone/>
            </a:pPr>
            <a:r>
              <a:rPr lang="ar-SA" sz="1720" b="1" dirty="0">
                <a:solidFill>
                  <a:srgbClr val="1E1E1E"/>
                </a:solidFill>
                <a:latin typeface="Arial"/>
                <a:cs typeface="Arial"/>
              </a:rPr>
              <a:t xml:space="preserve">الإجابة:</a:t>
            </a:r>
            <a:r>
              <a:rPr lang="ar-SA" sz="1720" b="0" dirty="0">
                <a:solidFill>
                  <a:srgbClr val="1E1E1E"/>
                </a:solidFill>
                <a:latin typeface="Arial"/>
                <a:cs typeface="Arial"/>
              </a:rPr>
              <a:t xml:space="preserve"> البناء المكتمل على اليمين.</a:t>
            </a:r>
            <a:endParaRPr lang="ar-SA" sz="1720" dirty="0"/>
          </a:p>
          <a:p>
            <a:pPr algn="r" rtl="1">
              <a:lnSpc>
                <a:spcPct val="100000"/>
              </a:lnSpc>
              <a:spcBef>
                <a:spcPts val="900"/>
              </a:spcBef>
              <a:buNone/>
            </a:pPr>
            <a:r>
              <a:rPr lang="ar-SA" sz="1720" b="1" dirty="0">
                <a:solidFill>
                  <a:srgbClr val="1E1E1E"/>
                </a:solidFill>
                <a:latin typeface="Arial"/>
                <a:cs typeface="Arial"/>
              </a:rPr>
              <a:t xml:space="preserve">السبب:</a:t>
            </a:r>
            <a:r>
              <a:rPr lang="ar-SA" sz="1720" b="0" dirty="0">
                <a:solidFill>
                  <a:srgbClr val="1E1E1E"/>
                </a:solidFill>
                <a:latin typeface="Arial"/>
                <a:cs typeface="Arial"/>
              </a:rPr>
              <a:t xml:space="preserve"> لأنه متوازن ومكتمل البناء، تماماً مثل ذرات الغازات النبيلة.</a:t>
            </a:r>
            <a:endParaRPr lang="ar-SA" sz="1720" dirty="0"/>
          </a:p>
          <a:p>
            <a:pPr algn="r" rtl="1">
              <a:lnSpc>
                <a:spcPct val="100000"/>
              </a:lnSpc>
              <a:spcBef>
                <a:spcPts val="900"/>
              </a:spcBef>
              <a:buNone/>
            </a:pPr>
            <a:r>
              <a:rPr lang="ar-SA" sz="1720" b="1" dirty="0">
                <a:solidFill>
                  <a:srgbClr val="1E1E1E"/>
                </a:solidFill>
                <a:latin typeface="Arial"/>
                <a:cs typeface="Arial"/>
              </a:rPr>
              <a:t xml:space="preserve">الحل للوصول للاستقرار:</a:t>
            </a:r>
            <a:r>
              <a:rPr lang="ar-SA" sz="1720" b="0" dirty="0">
                <a:solidFill>
                  <a:srgbClr val="1E1E1E"/>
                </a:solidFill>
                <a:latin typeface="Arial"/>
                <a:cs typeface="Arial"/>
              </a:rPr>
              <a:t xml:space="preserve"> يحتاج المبنى غير المكتمل إلى إكمال بناء طابقه الأخير ليصبح أكثر استقراراً.</a:t>
            </a:r>
            <a:endParaRPr lang="ar-SA" sz="1720" dirty="0"/>
          </a:p>
        </p:txBody>
      </p:sp>
      <p:sp>
        <p:nvSpPr>
          <p:cNvPr id="4" name="Text 2"/>
          <p:cNvSpPr txBox="1"/>
          <p:nvPr/>
        </p:nvSpPr>
        <p:spPr>
          <a:xfrm rot="21420000">
            <a:off x="3402419" y="7570986"/>
            <a:ext cx="2410047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180" b="1" dirty="0">
                <a:solidFill>
                  <a:srgbClr val="2B2B2B"/>
                </a:solidFill>
                <a:latin typeface="Arial"/>
                <a:cs typeface="Arial"/>
              </a:rPr>
              <a:t xml:space="preserve">عناصر أخرى</a:t>
            </a:r>
            <a:endParaRPr lang="ar-SA" sz="218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2180" b="1" dirty="0">
                <a:solidFill>
                  <a:srgbClr val="2B2B2B"/>
                </a:solidFill>
                <a:latin typeface="Arial"/>
                <a:cs typeface="Arial"/>
              </a:rPr>
              <a:t xml:space="preserve">(غير مستقرة)</a:t>
            </a:r>
            <a:endParaRPr lang="ar-SA" sz="2180" dirty="0"/>
          </a:p>
        </p:txBody>
      </p:sp>
      <p:sp>
        <p:nvSpPr>
          <p:cNvPr id="5" name="Text 3"/>
          <p:cNvSpPr txBox="1"/>
          <p:nvPr/>
        </p:nvSpPr>
        <p:spPr>
          <a:xfrm rot="360000">
            <a:off x="10041860" y="7264003"/>
            <a:ext cx="2929860" cy="11334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070" b="1" dirty="0">
                <a:solidFill>
                  <a:srgbClr val="1B2A4A"/>
                </a:solidFill>
                <a:latin typeface="Arial"/>
                <a:cs typeface="Arial"/>
              </a:rPr>
              <a:t xml:space="preserve">عناصر المجموعة </a:t>
            </a:r>
            <a:r>
              <a:rPr lang="en-US" sz="2070" b="1" dirty="0">
                <a:solidFill>
                  <a:srgbClr val="1B2A4A"/>
                </a:solidFill>
                <a:latin typeface="Arial"/>
                <a:cs typeface="Arial"/>
              </a:rPr>
              <a:t xml:space="preserve">18</a:t>
            </a:r>
            <a:endParaRPr lang="ar-SA" sz="207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2070" b="1" dirty="0">
                <a:solidFill>
                  <a:srgbClr val="1B2A4A"/>
                </a:solidFill>
                <a:latin typeface="Arial"/>
                <a:cs typeface="Arial"/>
              </a:rPr>
              <a:t xml:space="preserve">(الغازات النبيلة)</a:t>
            </a:r>
            <a:endParaRPr lang="ar-SA" sz="207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5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5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80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65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300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800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1441302" y="1100733"/>
            <a:ext cx="3898605" cy="15585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770" b="1" dirty="0">
                <a:solidFill>
                  <a:srgbClr val="FFB347"/>
                </a:solidFill>
                <a:latin typeface="Arial"/>
                <a:cs typeface="Arial"/>
              </a:rPr>
              <a:t xml:space="preserve">مستوى التكافؤ (</a:t>
            </a:r>
            <a:r>
              <a:rPr lang="en-US" sz="1770" b="1" dirty="0">
                <a:solidFill>
                  <a:srgbClr val="FFB347"/>
                </a:solidFill>
                <a:latin typeface="Arial"/>
                <a:cs typeface="Arial"/>
              </a:rPr>
              <a:t xml:space="preserve">Valence</a:t>
            </a:r>
            <a:r>
              <a:rPr lang="ar-SA" sz="1770" b="1" dirty="0">
                <a:solidFill>
                  <a:srgbClr val="FFB347"/>
                </a:solidFill>
                <a:latin typeface="Arial"/>
                <a:cs typeface="Arial"/>
              </a:rPr>
              <a:t xml:space="preserve"> </a:t>
            </a:r>
            <a:r>
              <a:rPr lang="en-US" sz="1770" b="1" dirty="0">
                <a:solidFill>
                  <a:srgbClr val="FFB347"/>
                </a:solidFill>
                <a:latin typeface="Arial"/>
                <a:cs typeface="Arial"/>
              </a:rPr>
              <a:t xml:space="preserve">Shell</a:t>
            </a:r>
            <a:r>
              <a:rPr lang="ar-SA" sz="1770" b="1" dirty="0">
                <a:solidFill>
                  <a:srgbClr val="FFB347"/>
                </a:solidFill>
                <a:latin typeface="Arial"/>
                <a:cs typeface="Arial"/>
              </a:rPr>
              <a:t xml:space="preserve">)</a:t>
            </a:r>
            <a:endParaRPr lang="ar-SA" sz="1770" dirty="0"/>
          </a:p>
          <a:p>
            <a:pPr algn="r" rtl="1">
              <a:lnSpc>
                <a:spcPct val="100000"/>
              </a:lnSpc>
              <a:spcBef>
                <a:spcPts val="200"/>
              </a:spcBef>
              <a:buNone/>
            </a:pPr>
            <a:r>
              <a:rPr lang="ar-SA" sz="1590" b="0" dirty="0">
                <a:solidFill>
                  <a:srgbClr val="FFFFFF"/>
                </a:solidFill>
                <a:latin typeface="Arial"/>
                <a:cs typeface="Arial"/>
              </a:rPr>
              <a:t xml:space="preserve">مستوى الطاقة الخارجي للذرة الذي تُفقد منه الإلكترونات أو تنتقل إليه (الطابق الأخير للمبنى).</a:t>
            </a:r>
            <a:endParaRPr lang="ar-SA" sz="1590" dirty="0"/>
          </a:p>
        </p:txBody>
      </p:sp>
      <p:sp>
        <p:nvSpPr>
          <p:cNvPr id="4" name="Text 2"/>
          <p:cNvSpPr txBox="1"/>
          <p:nvPr/>
        </p:nvSpPr>
        <p:spPr>
          <a:xfrm>
            <a:off x="1488558" y="3532981"/>
            <a:ext cx="3804093" cy="115708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770" b="1" dirty="0">
                <a:solidFill>
                  <a:srgbClr val="FFB347"/>
                </a:solidFill>
                <a:latin typeface="Arial"/>
                <a:cs typeface="Arial"/>
              </a:rPr>
              <a:t xml:space="preserve">إلكترونات التكافؤ (</a:t>
            </a:r>
            <a:r>
              <a:rPr lang="en-US" sz="1770" b="1" dirty="0">
                <a:solidFill>
                  <a:srgbClr val="FFB347"/>
                </a:solidFill>
                <a:latin typeface="Arial"/>
                <a:cs typeface="Arial"/>
              </a:rPr>
              <a:t xml:space="preserve">Valence</a:t>
            </a:r>
            <a:r>
              <a:rPr lang="ar-SA" sz="1770" b="1" dirty="0">
                <a:solidFill>
                  <a:srgbClr val="FFB347"/>
                </a:solidFill>
                <a:latin typeface="Arial"/>
                <a:cs typeface="Arial"/>
              </a:rPr>
              <a:t xml:space="preserve"> </a:t>
            </a:r>
            <a:r>
              <a:rPr lang="en-US" sz="1770" b="1" dirty="0">
                <a:solidFill>
                  <a:srgbClr val="FFB347"/>
                </a:solidFill>
                <a:latin typeface="Arial"/>
                <a:cs typeface="Arial"/>
              </a:rPr>
              <a:t xml:space="preserve">Electrons</a:t>
            </a:r>
            <a:r>
              <a:rPr lang="ar-SA" sz="1770" b="1" dirty="0">
                <a:solidFill>
                  <a:srgbClr val="FFB347"/>
                </a:solidFill>
                <a:latin typeface="Arial"/>
                <a:cs typeface="Arial"/>
              </a:rPr>
              <a:t xml:space="preserve">)</a:t>
            </a:r>
            <a:endParaRPr lang="ar-SA" sz="1770" dirty="0"/>
          </a:p>
          <a:p>
            <a:pPr algn="r" rtl="1">
              <a:lnSpc>
                <a:spcPct val="100000"/>
              </a:lnSpc>
              <a:spcBef>
                <a:spcPts val="200"/>
              </a:spcBef>
              <a:buNone/>
            </a:pPr>
            <a:r>
              <a:rPr lang="ar-SA" sz="1590" b="0" dirty="0">
                <a:solidFill>
                  <a:srgbClr val="FFFFFF"/>
                </a:solidFill>
                <a:latin typeface="Arial"/>
                <a:cs typeface="Arial"/>
              </a:rPr>
              <a:t xml:space="preserve">الإلكترونات الموجودة في أعلى مستوى طاقة (الدرونز العاملة في الطابق الأخير).</a:t>
            </a:r>
            <a:endParaRPr lang="ar-SA" sz="1590" dirty="0"/>
          </a:p>
        </p:txBody>
      </p:sp>
      <p:sp>
        <p:nvSpPr>
          <p:cNvPr id="5" name="Text 3"/>
          <p:cNvSpPr txBox="1"/>
          <p:nvPr/>
        </p:nvSpPr>
        <p:spPr>
          <a:xfrm>
            <a:off x="1323163" y="5894388"/>
            <a:ext cx="3874977" cy="162937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770" b="1" dirty="0">
                <a:solidFill>
                  <a:srgbClr val="FFB347"/>
                </a:solidFill>
                <a:latin typeface="Arial"/>
                <a:cs typeface="Arial"/>
              </a:rPr>
              <a:t xml:space="preserve">التكافؤ (</a:t>
            </a:r>
            <a:r>
              <a:rPr lang="en-US" sz="1770" b="1" dirty="0">
                <a:solidFill>
                  <a:srgbClr val="FFB347"/>
                </a:solidFill>
                <a:latin typeface="Arial"/>
                <a:cs typeface="Arial"/>
              </a:rPr>
              <a:t xml:space="preserve">Valency</a:t>
            </a:r>
            <a:r>
              <a:rPr lang="ar-SA" sz="1770" b="1" dirty="0">
                <a:solidFill>
                  <a:srgbClr val="FFB347"/>
                </a:solidFill>
                <a:latin typeface="Arial"/>
                <a:cs typeface="Arial"/>
              </a:rPr>
              <a:t xml:space="preserve">)</a:t>
            </a:r>
            <a:endParaRPr lang="ar-SA" sz="1770" dirty="0"/>
          </a:p>
          <a:p>
            <a:pPr algn="r" rtl="1">
              <a:lnSpc>
                <a:spcPct val="100000"/>
              </a:lnSpc>
              <a:spcBef>
                <a:spcPts val="200"/>
              </a:spcBef>
              <a:buNone/>
            </a:pPr>
            <a:r>
              <a:rPr lang="ar-SA" sz="1590" b="0" dirty="0">
                <a:solidFill>
                  <a:srgbClr val="FFFFFF"/>
                </a:solidFill>
                <a:latin typeface="Arial"/>
                <a:cs typeface="Arial"/>
              </a:rPr>
              <a:t xml:space="preserve">عدد الإلكترونات التي تفقدها الذرة أو تكتسبها أو تشارك بها للوصول إلى حالة الاستقرار (عدد الدرونز المطلوبة لإكمال الطابق الأخير أو إخلائه).</a:t>
            </a:r>
            <a:endParaRPr lang="ar-SA" sz="159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10927907" y="1868190"/>
            <a:ext cx="4619256" cy="13105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4150" b="1" dirty="0">
                <a:solidFill>
                  <a:srgbClr val="1E4E8C"/>
                </a:solidFill>
                <a:latin typeface="Arial"/>
                <a:cs typeface="Arial"/>
              </a:rPr>
              <a:t xml:space="preserve">المهندس «لويس»</a:t>
            </a:r>
            <a:endParaRPr lang="ar-SA" sz="4150" dirty="0"/>
          </a:p>
          <a:p>
            <a:pPr algn="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4150" b="1" dirty="0">
                <a:solidFill>
                  <a:srgbClr val="1E4E8C"/>
                </a:solidFill>
                <a:latin typeface="Arial"/>
                <a:cs typeface="Arial"/>
              </a:rPr>
              <a:t xml:space="preserve">ومخططاته العبقرية</a:t>
            </a:r>
            <a:endParaRPr lang="ar-SA" sz="4150" dirty="0"/>
          </a:p>
        </p:txBody>
      </p:sp>
      <p:sp>
        <p:nvSpPr>
          <p:cNvPr id="4" name="Text 2"/>
          <p:cNvSpPr txBox="1"/>
          <p:nvPr/>
        </p:nvSpPr>
        <p:spPr>
          <a:xfrm>
            <a:off x="10573488" y="3367683"/>
            <a:ext cx="4973674" cy="380186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070" b="0" dirty="0">
                <a:solidFill>
                  <a:srgbClr val="1E1E1E"/>
                </a:solidFill>
                <a:latin typeface="Arial"/>
                <a:cs typeface="Arial"/>
              </a:rPr>
              <a:t xml:space="preserve">في عام </a:t>
            </a:r>
            <a:r>
              <a:rPr lang="en-US" sz="2070" b="0" dirty="0">
                <a:solidFill>
                  <a:srgbClr val="1E1E1E"/>
                </a:solidFill>
                <a:latin typeface="Arial"/>
                <a:cs typeface="Arial"/>
              </a:rPr>
              <a:t xml:space="preserve">1916</a:t>
            </a:r>
            <a:r>
              <a:rPr lang="ar-SA" sz="2070" b="0" dirty="0">
                <a:solidFill>
                  <a:srgbClr val="1E1E1E"/>
                </a:solidFill>
                <a:latin typeface="Arial"/>
                <a:cs typeface="Arial"/>
              </a:rPr>
              <a:t xml:space="preserve">، ابتكر العالم جيلبرت لويس طريقة ذكية لمراقبة عمال الطابق الأخير فقط.</a:t>
            </a:r>
            <a:endParaRPr lang="ar-SA" sz="2070" dirty="0"/>
          </a:p>
          <a:p>
            <a:pPr algn="r" rtl="1">
              <a:lnSpc>
                <a:spcPct val="100000"/>
              </a:lnSpc>
              <a:spcBef>
                <a:spcPts val="1200"/>
              </a:spcBef>
              <a:buNone/>
            </a:pPr>
            <a:r>
              <a:rPr lang="ar-SA" sz="2070" b="1" dirty="0">
                <a:solidFill>
                  <a:srgbClr val="1E1E1E"/>
                </a:solidFill>
                <a:latin typeface="Arial"/>
                <a:cs typeface="Arial"/>
              </a:rPr>
              <a:t xml:space="preserve">الترتيب الإلكتروني النقطي (</a:t>
            </a:r>
            <a:r>
              <a:rPr lang="en-US" sz="2070" b="1" dirty="0">
                <a:solidFill>
                  <a:srgbClr val="1E1E1E"/>
                </a:solidFill>
                <a:latin typeface="Arial"/>
                <a:cs typeface="Arial"/>
              </a:rPr>
              <a:t xml:space="preserve">Electron</a:t>
            </a:r>
            <a:r>
              <a:rPr lang="ar-SA" sz="2070" b="1" dirty="0">
                <a:solidFill>
                  <a:srgbClr val="1E1E1E"/>
                </a:solidFill>
                <a:latin typeface="Arial"/>
                <a:cs typeface="Arial"/>
              </a:rPr>
              <a:t xml:space="preserve"> </a:t>
            </a:r>
            <a:r>
              <a:rPr lang="en-US" sz="2070" b="1" dirty="0">
                <a:solidFill>
                  <a:srgbClr val="1E1E1E"/>
                </a:solidFill>
                <a:latin typeface="Arial"/>
                <a:cs typeface="Arial"/>
              </a:rPr>
              <a:t xml:space="preserve">Dot</a:t>
            </a:r>
            <a:r>
              <a:rPr lang="ar-SA" sz="2070" b="1" dirty="0">
                <a:solidFill>
                  <a:srgbClr val="1E1E1E"/>
                </a:solidFill>
                <a:latin typeface="Arial"/>
                <a:cs typeface="Arial"/>
              </a:rPr>
              <a:t xml:space="preserve"> </a:t>
            </a:r>
            <a:r>
              <a:rPr lang="en-US" sz="2070" b="1" dirty="0">
                <a:solidFill>
                  <a:srgbClr val="1E1E1E"/>
                </a:solidFill>
                <a:latin typeface="Arial"/>
                <a:cs typeface="Arial"/>
              </a:rPr>
              <a:t xml:space="preserve">Structure</a:t>
            </a:r>
            <a:r>
              <a:rPr lang="ar-SA" sz="2070" b="1" dirty="0">
                <a:solidFill>
                  <a:srgbClr val="1E1E1E"/>
                </a:solidFill>
                <a:latin typeface="Arial"/>
                <a:cs typeface="Arial"/>
              </a:rPr>
              <a:t xml:space="preserve">):</a:t>
            </a:r>
            <a:r>
              <a:rPr lang="ar-SA" sz="2070" b="0" dirty="0">
                <a:solidFill>
                  <a:srgbClr val="1E1E1E"/>
                </a:solidFill>
                <a:latin typeface="Arial"/>
                <a:cs typeface="Arial"/>
              </a:rPr>
              <a:t xml:space="preserve"> الأشكال التي توضح إلكترونات التكافؤ في صورة نقاط حول رمز ذرة العنصر.</a:t>
            </a:r>
            <a:endParaRPr lang="ar-SA" sz="2070" dirty="0"/>
          </a:p>
          <a:p>
            <a:pPr algn="r" rtl="1">
              <a:lnSpc>
                <a:spcPct val="100000"/>
              </a:lnSpc>
              <a:spcBef>
                <a:spcPts val="1200"/>
              </a:spcBef>
              <a:buNone/>
            </a:pPr>
            <a:r>
              <a:rPr lang="ar-SA" sz="2070" b="0" dirty="0">
                <a:solidFill>
                  <a:srgbClr val="1E1E1E"/>
                </a:solidFill>
                <a:latin typeface="Arial"/>
                <a:cs typeface="Arial"/>
              </a:rPr>
              <a:t xml:space="preserve">ملاحظة لويس: (النقاط هي كاميرات المراقبة الخاصة بنا؛ نقطة واحدة لكل إلكترون تكافؤ!)</a:t>
            </a:r>
            <a:endParaRPr lang="ar-SA" sz="207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5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5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5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65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5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5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3804093" y="1384102"/>
            <a:ext cx="8600558" cy="70842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740" b="1" dirty="0">
                <a:solidFill>
                  <a:srgbClr val="FFFFFF"/>
                </a:solidFill>
                <a:effectLst>
                  <a:glow rad="76200">
                    <a:srgbClr val="00C8FF">
                      <a:alpha val="45000"/>
                    </a:srgbClr>
                  </a:glow>
                  <a:outerShdw blurRad="25400" dist="12700" dir="2700000" algn="tl" rotWithShape="0">
                    <a:srgbClr val="000000">
                      <a:alpha val="60000"/>
                    </a:srgbClr>
                  </a:outerShdw>
                </a:effectLst>
                <a:latin typeface="Arial"/>
                <a:cs typeface="Arial"/>
              </a:rPr>
              <a:t xml:space="preserve">مكتب التدقيق المعماري: حل تمرين (</a:t>
            </a:r>
            <a:r>
              <a:rPr lang="en-US" sz="3740" b="1" dirty="0">
                <a:solidFill>
                  <a:srgbClr val="FFFFFF"/>
                </a:solidFill>
                <a:effectLst>
                  <a:glow rad="76200">
                    <a:srgbClr val="00C8FF">
                      <a:alpha val="45000"/>
                    </a:srgbClr>
                  </a:glow>
                  <a:outerShdw blurRad="25400" dist="12700" dir="2700000" algn="tl" rotWithShape="0">
                    <a:srgbClr val="000000">
                      <a:alpha val="60000"/>
                    </a:srgbClr>
                  </a:outerShdw>
                </a:effectLst>
                <a:latin typeface="Arial"/>
                <a:cs typeface="Arial"/>
              </a:rPr>
              <a:t xml:space="preserve">1</a:t>
            </a:r>
            <a:r>
              <a:rPr lang="ar-SA" sz="3740" b="1" dirty="0">
                <a:solidFill>
                  <a:srgbClr val="FFFFFF"/>
                </a:solidFill>
                <a:effectLst>
                  <a:glow rad="76200">
                    <a:srgbClr val="00C8FF">
                      <a:alpha val="45000"/>
                    </a:srgbClr>
                  </a:glow>
                  <a:outerShdw blurRad="25400" dist="12700" dir="2700000" algn="tl" rotWithShape="0">
                    <a:srgbClr val="000000">
                      <a:alpha val="60000"/>
                    </a:srgbClr>
                  </a:outerShdw>
                </a:effectLst>
                <a:latin typeface="Arial"/>
                <a:cs typeface="Arial"/>
              </a:rPr>
              <a:t xml:space="preserve">)</a:t>
            </a:r>
            <a:endParaRPr lang="ar-SA" sz="3740" dirty="0"/>
          </a:p>
        </p:txBody>
      </p:sp>
      <p:sp>
        <p:nvSpPr>
          <p:cNvPr id="4" name="Text 2"/>
          <p:cNvSpPr txBox="1"/>
          <p:nvPr/>
        </p:nvSpPr>
        <p:spPr>
          <a:xfrm>
            <a:off x="11046047" y="2470348"/>
            <a:ext cx="1417674" cy="42505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580" b="1" dirty="0">
                <a:solidFill>
                  <a:srgbClr val="1A2238"/>
                </a:solidFill>
                <a:latin typeface="Arial"/>
                <a:cs typeface="Arial"/>
              </a:rPr>
              <a:t xml:space="preserve">رقم المجموعة</a:t>
            </a:r>
            <a:endParaRPr lang="ar-SA" sz="1580" dirty="0"/>
          </a:p>
        </p:txBody>
      </p:sp>
      <p:sp>
        <p:nvSpPr>
          <p:cNvPr id="5" name="Text 3"/>
          <p:cNvSpPr txBox="1"/>
          <p:nvPr/>
        </p:nvSpPr>
        <p:spPr>
          <a:xfrm>
            <a:off x="9297581" y="2470348"/>
            <a:ext cx="1476744" cy="42505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580" b="1" dirty="0">
                <a:solidFill>
                  <a:srgbClr val="1A2238"/>
                </a:solidFill>
                <a:latin typeface="Arial"/>
                <a:cs typeface="Arial"/>
              </a:rPr>
              <a:t xml:space="preserve">العنصر</a:t>
            </a:r>
            <a:endParaRPr lang="ar-SA" sz="1580" dirty="0"/>
          </a:p>
        </p:txBody>
      </p:sp>
      <p:sp>
        <p:nvSpPr>
          <p:cNvPr id="6" name="Text 4"/>
          <p:cNvSpPr txBox="1"/>
          <p:nvPr/>
        </p:nvSpPr>
        <p:spPr>
          <a:xfrm>
            <a:off x="7289209" y="2470348"/>
            <a:ext cx="1783907" cy="42505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580" b="1" dirty="0">
                <a:solidFill>
                  <a:srgbClr val="1A2238"/>
                </a:solidFill>
                <a:latin typeface="Arial"/>
                <a:cs typeface="Arial"/>
              </a:rPr>
              <a:t xml:space="preserve">الترتيب الإلكتروني</a:t>
            </a:r>
            <a:endParaRPr lang="ar-SA" sz="1580" dirty="0"/>
          </a:p>
        </p:txBody>
      </p:sp>
      <p:sp>
        <p:nvSpPr>
          <p:cNvPr id="7" name="Text 5"/>
          <p:cNvSpPr txBox="1"/>
          <p:nvPr/>
        </p:nvSpPr>
        <p:spPr>
          <a:xfrm>
            <a:off x="5292651" y="2470348"/>
            <a:ext cx="1795721" cy="42505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580" b="1" dirty="0">
                <a:solidFill>
                  <a:srgbClr val="1A2238"/>
                </a:solidFill>
                <a:latin typeface="Arial"/>
                <a:cs typeface="Arial"/>
              </a:rPr>
              <a:t xml:space="preserve">إلكترونات التكافؤ</a:t>
            </a:r>
            <a:endParaRPr lang="ar-SA" sz="1580" dirty="0"/>
          </a:p>
        </p:txBody>
      </p:sp>
      <p:sp>
        <p:nvSpPr>
          <p:cNvPr id="8" name="Text 6"/>
          <p:cNvSpPr txBox="1"/>
          <p:nvPr/>
        </p:nvSpPr>
        <p:spPr>
          <a:xfrm>
            <a:off x="3874977" y="2470348"/>
            <a:ext cx="1145953" cy="42505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580" b="1" dirty="0">
                <a:solidFill>
                  <a:srgbClr val="1A2238"/>
                </a:solidFill>
                <a:latin typeface="Arial"/>
                <a:cs typeface="Arial"/>
              </a:rPr>
              <a:t xml:space="preserve">التكافؤ</a:t>
            </a:r>
            <a:endParaRPr lang="ar-SA" sz="1580" dirty="0"/>
          </a:p>
        </p:txBody>
      </p:sp>
      <p:sp>
        <p:nvSpPr>
          <p:cNvPr id="9" name="Text 7"/>
          <p:cNvSpPr txBox="1"/>
          <p:nvPr/>
        </p:nvSpPr>
        <p:spPr>
          <a:xfrm>
            <a:off x="11046047" y="3096121"/>
            <a:ext cx="1417674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1</a:t>
            </a:r>
            <a:endParaRPr lang="ar-SA" sz="2220" dirty="0"/>
          </a:p>
        </p:txBody>
      </p:sp>
      <p:sp>
        <p:nvSpPr>
          <p:cNvPr id="10" name="Text 8"/>
          <p:cNvSpPr txBox="1"/>
          <p:nvPr/>
        </p:nvSpPr>
        <p:spPr>
          <a:xfrm>
            <a:off x="9297581" y="3096121"/>
            <a:ext cx="1476744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3</a:t>
            </a: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Li</a:t>
            </a:r>
            <a:endParaRPr lang="ar-SA" sz="2220" dirty="0"/>
          </a:p>
        </p:txBody>
      </p:sp>
      <p:sp>
        <p:nvSpPr>
          <p:cNvPr id="11" name="Text 9"/>
          <p:cNvSpPr txBox="1"/>
          <p:nvPr/>
        </p:nvSpPr>
        <p:spPr>
          <a:xfrm>
            <a:off x="7289209" y="3096121"/>
            <a:ext cx="1783907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2,1</a:t>
            </a:r>
            <a:endParaRPr lang="ar-SA" sz="2220" dirty="0"/>
          </a:p>
        </p:txBody>
      </p:sp>
      <p:sp>
        <p:nvSpPr>
          <p:cNvPr id="12" name="Text 10"/>
          <p:cNvSpPr txBox="1"/>
          <p:nvPr/>
        </p:nvSpPr>
        <p:spPr>
          <a:xfrm>
            <a:off x="5292651" y="3096121"/>
            <a:ext cx="1795721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1</a:t>
            </a:r>
            <a:endParaRPr lang="ar-SA" sz="2220" dirty="0"/>
          </a:p>
        </p:txBody>
      </p:sp>
      <p:sp>
        <p:nvSpPr>
          <p:cNvPr id="13" name="Text 11"/>
          <p:cNvSpPr txBox="1"/>
          <p:nvPr/>
        </p:nvSpPr>
        <p:spPr>
          <a:xfrm>
            <a:off x="3874977" y="3096121"/>
            <a:ext cx="1145953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1</a:t>
            </a:r>
            <a:endParaRPr lang="ar-SA" sz="2220" dirty="0"/>
          </a:p>
        </p:txBody>
      </p:sp>
      <p:sp>
        <p:nvSpPr>
          <p:cNvPr id="14" name="Text 12"/>
          <p:cNvSpPr txBox="1"/>
          <p:nvPr/>
        </p:nvSpPr>
        <p:spPr>
          <a:xfrm>
            <a:off x="11046047" y="3639245"/>
            <a:ext cx="1417674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2</a:t>
            </a:r>
            <a:endParaRPr lang="ar-SA" sz="2220" dirty="0"/>
          </a:p>
        </p:txBody>
      </p:sp>
      <p:sp>
        <p:nvSpPr>
          <p:cNvPr id="15" name="Text 13"/>
          <p:cNvSpPr txBox="1"/>
          <p:nvPr/>
        </p:nvSpPr>
        <p:spPr>
          <a:xfrm>
            <a:off x="9297581" y="3639245"/>
            <a:ext cx="1476744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4</a:t>
            </a: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Be</a:t>
            </a:r>
            <a:endParaRPr lang="ar-SA" sz="2220" dirty="0"/>
          </a:p>
        </p:txBody>
      </p:sp>
      <p:sp>
        <p:nvSpPr>
          <p:cNvPr id="16" name="Text 14"/>
          <p:cNvSpPr txBox="1"/>
          <p:nvPr/>
        </p:nvSpPr>
        <p:spPr>
          <a:xfrm>
            <a:off x="7289209" y="3639245"/>
            <a:ext cx="1783907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2,2</a:t>
            </a:r>
            <a:endParaRPr lang="ar-SA" sz="2220" dirty="0"/>
          </a:p>
        </p:txBody>
      </p:sp>
      <p:sp>
        <p:nvSpPr>
          <p:cNvPr id="17" name="Text 15"/>
          <p:cNvSpPr txBox="1"/>
          <p:nvPr/>
        </p:nvSpPr>
        <p:spPr>
          <a:xfrm>
            <a:off x="5292651" y="3639245"/>
            <a:ext cx="1795721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2</a:t>
            </a:r>
            <a:endParaRPr lang="ar-SA" sz="2220" dirty="0"/>
          </a:p>
        </p:txBody>
      </p:sp>
      <p:sp>
        <p:nvSpPr>
          <p:cNvPr id="18" name="Text 16"/>
          <p:cNvSpPr txBox="1"/>
          <p:nvPr/>
        </p:nvSpPr>
        <p:spPr>
          <a:xfrm>
            <a:off x="3874977" y="3639245"/>
            <a:ext cx="1145953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2</a:t>
            </a:r>
            <a:endParaRPr lang="ar-SA" sz="2220" dirty="0"/>
          </a:p>
        </p:txBody>
      </p:sp>
      <p:sp>
        <p:nvSpPr>
          <p:cNvPr id="19" name="Text 17"/>
          <p:cNvSpPr txBox="1"/>
          <p:nvPr/>
        </p:nvSpPr>
        <p:spPr>
          <a:xfrm>
            <a:off x="11046047" y="4158754"/>
            <a:ext cx="1417674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13</a:t>
            </a:r>
            <a:endParaRPr lang="ar-SA" sz="2220" dirty="0"/>
          </a:p>
        </p:txBody>
      </p:sp>
      <p:sp>
        <p:nvSpPr>
          <p:cNvPr id="20" name="Text 18"/>
          <p:cNvSpPr txBox="1"/>
          <p:nvPr/>
        </p:nvSpPr>
        <p:spPr>
          <a:xfrm>
            <a:off x="9297581" y="4158754"/>
            <a:ext cx="1476744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5</a:t>
            </a: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B</a:t>
            </a:r>
            <a:endParaRPr lang="ar-SA" sz="2220" dirty="0"/>
          </a:p>
        </p:txBody>
      </p:sp>
      <p:sp>
        <p:nvSpPr>
          <p:cNvPr id="21" name="Text 19"/>
          <p:cNvSpPr txBox="1"/>
          <p:nvPr/>
        </p:nvSpPr>
        <p:spPr>
          <a:xfrm>
            <a:off x="7289209" y="4158754"/>
            <a:ext cx="1783907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2,3</a:t>
            </a:r>
            <a:endParaRPr lang="ar-SA" sz="2220" dirty="0"/>
          </a:p>
        </p:txBody>
      </p:sp>
      <p:sp>
        <p:nvSpPr>
          <p:cNvPr id="22" name="Text 20"/>
          <p:cNvSpPr txBox="1"/>
          <p:nvPr/>
        </p:nvSpPr>
        <p:spPr>
          <a:xfrm>
            <a:off x="5292651" y="4158754"/>
            <a:ext cx="1795721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3</a:t>
            </a:r>
            <a:endParaRPr lang="ar-SA" sz="2220" dirty="0"/>
          </a:p>
        </p:txBody>
      </p:sp>
      <p:sp>
        <p:nvSpPr>
          <p:cNvPr id="23" name="Text 21"/>
          <p:cNvSpPr txBox="1"/>
          <p:nvPr/>
        </p:nvSpPr>
        <p:spPr>
          <a:xfrm>
            <a:off x="3874977" y="4158754"/>
            <a:ext cx="1145953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3</a:t>
            </a:r>
            <a:endParaRPr lang="ar-SA" sz="2220" dirty="0"/>
          </a:p>
        </p:txBody>
      </p:sp>
      <p:sp>
        <p:nvSpPr>
          <p:cNvPr id="24" name="Text 22"/>
          <p:cNvSpPr txBox="1"/>
          <p:nvPr/>
        </p:nvSpPr>
        <p:spPr>
          <a:xfrm>
            <a:off x="11046047" y="4690070"/>
            <a:ext cx="1417674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15</a:t>
            </a:r>
            <a:endParaRPr lang="ar-SA" sz="2220" dirty="0"/>
          </a:p>
        </p:txBody>
      </p:sp>
      <p:sp>
        <p:nvSpPr>
          <p:cNvPr id="25" name="Text 23"/>
          <p:cNvSpPr txBox="1"/>
          <p:nvPr/>
        </p:nvSpPr>
        <p:spPr>
          <a:xfrm>
            <a:off x="9297581" y="4690070"/>
            <a:ext cx="1476744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7</a:t>
            </a: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N</a:t>
            </a:r>
            <a:endParaRPr lang="ar-SA" sz="2220" dirty="0"/>
          </a:p>
        </p:txBody>
      </p:sp>
      <p:sp>
        <p:nvSpPr>
          <p:cNvPr id="26" name="Text 24"/>
          <p:cNvSpPr txBox="1"/>
          <p:nvPr/>
        </p:nvSpPr>
        <p:spPr>
          <a:xfrm>
            <a:off x="7289209" y="4690070"/>
            <a:ext cx="1783907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2,5</a:t>
            </a:r>
            <a:endParaRPr lang="ar-SA" sz="2220" dirty="0"/>
          </a:p>
        </p:txBody>
      </p:sp>
      <p:sp>
        <p:nvSpPr>
          <p:cNvPr id="27" name="Text 25"/>
          <p:cNvSpPr txBox="1"/>
          <p:nvPr/>
        </p:nvSpPr>
        <p:spPr>
          <a:xfrm>
            <a:off x="5292651" y="4690070"/>
            <a:ext cx="1795721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5</a:t>
            </a:r>
            <a:endParaRPr lang="ar-SA" sz="2220" dirty="0"/>
          </a:p>
        </p:txBody>
      </p:sp>
      <p:sp>
        <p:nvSpPr>
          <p:cNvPr id="28" name="Text 26"/>
          <p:cNvSpPr txBox="1"/>
          <p:nvPr/>
        </p:nvSpPr>
        <p:spPr>
          <a:xfrm>
            <a:off x="3874977" y="4690070"/>
            <a:ext cx="1145953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3</a:t>
            </a:r>
            <a:endParaRPr lang="ar-SA" sz="2220" dirty="0"/>
          </a:p>
        </p:txBody>
      </p:sp>
      <p:sp>
        <p:nvSpPr>
          <p:cNvPr id="29" name="Text 27"/>
          <p:cNvSpPr txBox="1"/>
          <p:nvPr/>
        </p:nvSpPr>
        <p:spPr>
          <a:xfrm>
            <a:off x="11046047" y="5233194"/>
            <a:ext cx="1417674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16</a:t>
            </a:r>
            <a:endParaRPr lang="ar-SA" sz="2220" dirty="0"/>
          </a:p>
        </p:txBody>
      </p:sp>
      <p:sp>
        <p:nvSpPr>
          <p:cNvPr id="30" name="Text 28"/>
          <p:cNvSpPr txBox="1"/>
          <p:nvPr/>
        </p:nvSpPr>
        <p:spPr>
          <a:xfrm>
            <a:off x="9297581" y="5233194"/>
            <a:ext cx="1476744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8</a:t>
            </a: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O</a:t>
            </a:r>
            <a:endParaRPr lang="ar-SA" sz="2220" dirty="0"/>
          </a:p>
        </p:txBody>
      </p:sp>
      <p:sp>
        <p:nvSpPr>
          <p:cNvPr id="31" name="Text 29"/>
          <p:cNvSpPr txBox="1"/>
          <p:nvPr/>
        </p:nvSpPr>
        <p:spPr>
          <a:xfrm>
            <a:off x="7289209" y="5233194"/>
            <a:ext cx="1783907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2,6</a:t>
            </a:r>
            <a:endParaRPr lang="ar-SA" sz="2220" dirty="0"/>
          </a:p>
        </p:txBody>
      </p:sp>
      <p:sp>
        <p:nvSpPr>
          <p:cNvPr id="32" name="Text 30"/>
          <p:cNvSpPr txBox="1"/>
          <p:nvPr/>
        </p:nvSpPr>
        <p:spPr>
          <a:xfrm>
            <a:off x="5292651" y="5233194"/>
            <a:ext cx="1795721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6</a:t>
            </a:r>
            <a:endParaRPr lang="ar-SA" sz="2220" dirty="0"/>
          </a:p>
        </p:txBody>
      </p:sp>
      <p:sp>
        <p:nvSpPr>
          <p:cNvPr id="33" name="Text 31"/>
          <p:cNvSpPr txBox="1"/>
          <p:nvPr/>
        </p:nvSpPr>
        <p:spPr>
          <a:xfrm>
            <a:off x="3874977" y="5233194"/>
            <a:ext cx="1145953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2</a:t>
            </a:r>
            <a:endParaRPr lang="ar-SA" sz="2220" dirty="0"/>
          </a:p>
        </p:txBody>
      </p:sp>
      <p:sp>
        <p:nvSpPr>
          <p:cNvPr id="34" name="Text 32"/>
          <p:cNvSpPr txBox="1"/>
          <p:nvPr/>
        </p:nvSpPr>
        <p:spPr>
          <a:xfrm>
            <a:off x="11046047" y="5752703"/>
            <a:ext cx="1417674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17</a:t>
            </a:r>
            <a:endParaRPr lang="ar-SA" sz="2220" dirty="0"/>
          </a:p>
        </p:txBody>
      </p:sp>
      <p:sp>
        <p:nvSpPr>
          <p:cNvPr id="35" name="Text 33"/>
          <p:cNvSpPr txBox="1"/>
          <p:nvPr/>
        </p:nvSpPr>
        <p:spPr>
          <a:xfrm>
            <a:off x="9297581" y="5752703"/>
            <a:ext cx="1476744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9</a:t>
            </a: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F</a:t>
            </a:r>
            <a:endParaRPr lang="ar-SA" sz="2220" dirty="0"/>
          </a:p>
        </p:txBody>
      </p:sp>
      <p:sp>
        <p:nvSpPr>
          <p:cNvPr id="36" name="Text 34"/>
          <p:cNvSpPr txBox="1"/>
          <p:nvPr/>
        </p:nvSpPr>
        <p:spPr>
          <a:xfrm>
            <a:off x="7289209" y="5752703"/>
            <a:ext cx="1783907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2,7</a:t>
            </a:r>
            <a:endParaRPr lang="ar-SA" sz="2220" dirty="0"/>
          </a:p>
        </p:txBody>
      </p:sp>
      <p:sp>
        <p:nvSpPr>
          <p:cNvPr id="37" name="Text 35"/>
          <p:cNvSpPr txBox="1"/>
          <p:nvPr/>
        </p:nvSpPr>
        <p:spPr>
          <a:xfrm>
            <a:off x="5292651" y="5752703"/>
            <a:ext cx="1795721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7</a:t>
            </a:r>
            <a:endParaRPr lang="ar-SA" sz="2220" dirty="0"/>
          </a:p>
        </p:txBody>
      </p:sp>
      <p:sp>
        <p:nvSpPr>
          <p:cNvPr id="38" name="Text 36"/>
          <p:cNvSpPr txBox="1"/>
          <p:nvPr/>
        </p:nvSpPr>
        <p:spPr>
          <a:xfrm>
            <a:off x="3874977" y="5752703"/>
            <a:ext cx="1145953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220" b="1" dirty="0">
                <a:solidFill>
                  <a:srgbClr val="FFFFFF"/>
                </a:solidFill>
                <a:latin typeface="Arial"/>
                <a:cs typeface="Arial"/>
              </a:rPr>
              <a:t xml:space="preserve">1</a:t>
            </a:r>
            <a:endParaRPr lang="ar-SA" sz="2220" dirty="0"/>
          </a:p>
        </p:txBody>
      </p:sp>
      <p:sp>
        <p:nvSpPr>
          <p:cNvPr id="39" name="Text 37"/>
          <p:cNvSpPr txBox="1"/>
          <p:nvPr/>
        </p:nvSpPr>
        <p:spPr>
          <a:xfrm>
            <a:off x="4902791" y="6390283"/>
            <a:ext cx="7525488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520" b="1" dirty="0">
                <a:solidFill>
                  <a:srgbClr val="FFD84A"/>
                </a:solidFill>
                <a:latin typeface="Arial"/>
                <a:cs typeface="Arial"/>
              </a:rPr>
              <a:t xml:space="preserve">تنبيه رقابي هام:</a:t>
            </a:r>
            <a:endParaRPr lang="ar-SA" sz="1520" dirty="0"/>
          </a:p>
          <a:p>
            <a:pPr algn="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1520" b="0" dirty="0">
                <a:solidFill>
                  <a:srgbClr val="FFFFFF"/>
                </a:solidFill>
                <a:latin typeface="Arial"/>
                <a:cs typeface="Arial"/>
              </a:rPr>
              <a:t xml:space="preserve">- تكافؤ المجموعة (</a:t>
            </a:r>
            <a:r>
              <a:rPr lang="en-US" sz="1520" b="0" dirty="0">
                <a:solidFill>
                  <a:srgbClr val="FFFFFF"/>
                </a:solidFill>
                <a:latin typeface="Arial"/>
                <a:cs typeface="Arial"/>
              </a:rPr>
              <a:t xml:space="preserve">14</a:t>
            </a:r>
            <a:r>
              <a:rPr lang="ar-SA" sz="1520" b="0" dirty="0">
                <a:solidFill>
                  <a:srgbClr val="FFFFFF"/>
                </a:solidFill>
                <a:latin typeface="Arial"/>
                <a:cs typeface="Arial"/>
              </a:rPr>
              <a:t xml:space="preserve">) متغير وليس ثابتاً.</a:t>
            </a:r>
            <a:endParaRPr lang="ar-SA" sz="1520" dirty="0"/>
          </a:p>
          <a:p>
            <a:pPr algn="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1520" b="0" dirty="0">
                <a:solidFill>
                  <a:srgbClr val="FFFFFF"/>
                </a:solidFill>
                <a:latin typeface="Arial"/>
                <a:cs typeface="Arial"/>
              </a:rPr>
              <a:t xml:space="preserve">- المجموعة (</a:t>
            </a:r>
            <a:r>
              <a:rPr lang="en-US" sz="1520" b="0" dirty="0">
                <a:solidFill>
                  <a:srgbClr val="FFFFFF"/>
                </a:solidFill>
                <a:latin typeface="Arial"/>
                <a:cs typeface="Arial"/>
              </a:rPr>
              <a:t xml:space="preserve">18</a:t>
            </a:r>
            <a:r>
              <a:rPr lang="ar-SA" sz="1520" b="0" dirty="0">
                <a:solidFill>
                  <a:srgbClr val="FFFFFF"/>
                </a:solidFill>
                <a:latin typeface="Arial"/>
                <a:cs typeface="Arial"/>
              </a:rPr>
              <a:t xml:space="preserve">) تكافؤها صفر؛ لأن مبانيها مستقرة ولا تميل لفقد الإلكترونات أو اكتسابها.</a:t>
            </a:r>
            <a:endParaRPr lang="ar-SA" sz="152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35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8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25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7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3150"/>
                            </p:stCondLst>
                            <p:childTnLst>
                              <p:par>
                                <p:cTn id="10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3600"/>
                            </p:stCondLst>
                            <p:childTnLst>
                              <p:par>
                                <p:cTn id="1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4050"/>
                            </p:stCondLst>
                            <p:childTnLst>
                              <p:par>
                                <p:cTn id="1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6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6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5458047" y="982662"/>
            <a:ext cx="5351721" cy="108624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1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تطبيق المخططات النقطية:</a:t>
            </a:r>
            <a:endParaRPr lang="ar-SA" sz="310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31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حل تمرين (</a:t>
            </a:r>
            <a:r>
              <a:rPr lang="en-US" sz="31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2</a:t>
            </a:r>
            <a:r>
              <a:rPr lang="ar-SA" sz="31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)</a:t>
            </a:r>
            <a:endParaRPr lang="ar-SA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1677581" y="5658247"/>
            <a:ext cx="2669953" cy="30698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440" b="0" dirty="0">
                <a:solidFill>
                  <a:srgbClr val="FFFFFF"/>
                </a:solidFill>
                <a:latin typeface="Arial"/>
                <a:cs typeface="Arial"/>
              </a:rPr>
              <a:t xml:space="preserve">الهيدروجين (</a:t>
            </a:r>
            <a:r>
              <a:rPr lang="en-US" sz="1440" b="0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1</a:t>
            </a:r>
            <a:r>
              <a:rPr lang="en-US" sz="1440" b="0" dirty="0">
                <a:solidFill>
                  <a:srgbClr val="FFFFFF"/>
                </a:solidFill>
                <a:latin typeface="Arial"/>
                <a:cs typeface="Arial"/>
              </a:rPr>
              <a:t xml:space="preserve">H</a:t>
            </a:r>
            <a:r>
              <a:rPr lang="ar-SA" sz="1440" b="0" dirty="0">
                <a:solidFill>
                  <a:srgbClr val="FFFFFF"/>
                </a:solidFill>
                <a:latin typeface="Arial"/>
                <a:cs typeface="Arial"/>
              </a:rPr>
              <a:t xml:space="preserve">) | الترتيب: </a:t>
            </a:r>
            <a:r>
              <a:rPr lang="en-US" sz="1440" b="0" dirty="0">
                <a:solidFill>
                  <a:srgbClr val="FFFFFF"/>
                </a:solidFill>
                <a:latin typeface="Arial"/>
                <a:cs typeface="Arial"/>
              </a:rPr>
              <a:t xml:space="preserve">1</a:t>
            </a:r>
            <a:endParaRPr lang="ar-SA" sz="1440" dirty="0"/>
          </a:p>
        </p:txBody>
      </p:sp>
      <p:sp>
        <p:nvSpPr>
          <p:cNvPr id="5" name="Text 3"/>
          <p:cNvSpPr txBox="1"/>
          <p:nvPr/>
        </p:nvSpPr>
        <p:spPr>
          <a:xfrm>
            <a:off x="5269023" y="5504755"/>
            <a:ext cx="2339163" cy="34240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440" b="0" dirty="0">
                <a:solidFill>
                  <a:srgbClr val="FFFFFF"/>
                </a:solidFill>
                <a:latin typeface="Arial"/>
                <a:cs typeface="Arial"/>
              </a:rPr>
              <a:t xml:space="preserve">الكربون (</a:t>
            </a:r>
            <a:r>
              <a:rPr lang="en-US" sz="1440" b="0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6</a:t>
            </a:r>
            <a:r>
              <a:rPr lang="en-US" sz="1440" b="0" dirty="0">
                <a:solidFill>
                  <a:srgbClr val="FFFFFF"/>
                </a:solidFill>
                <a:latin typeface="Arial"/>
                <a:cs typeface="Arial"/>
              </a:rPr>
              <a:t xml:space="preserve">C</a:t>
            </a:r>
            <a:r>
              <a:rPr lang="ar-SA" sz="1440" b="0" dirty="0">
                <a:solidFill>
                  <a:srgbClr val="FFFFFF"/>
                </a:solidFill>
                <a:latin typeface="Arial"/>
                <a:cs typeface="Arial"/>
              </a:rPr>
              <a:t xml:space="preserve">) | الترتيب: </a:t>
            </a:r>
            <a:r>
              <a:rPr lang="en-US" sz="1440" b="0" dirty="0">
                <a:solidFill>
                  <a:srgbClr val="FFFFFF"/>
                </a:solidFill>
                <a:latin typeface="Arial"/>
                <a:cs typeface="Arial"/>
              </a:rPr>
              <a:t xml:space="preserve">2,4</a:t>
            </a:r>
            <a:endParaRPr lang="ar-SA" sz="1440" dirty="0"/>
          </a:p>
        </p:txBody>
      </p:sp>
      <p:sp>
        <p:nvSpPr>
          <p:cNvPr id="6" name="Text 4"/>
          <p:cNvSpPr txBox="1"/>
          <p:nvPr/>
        </p:nvSpPr>
        <p:spPr>
          <a:xfrm>
            <a:off x="8636000" y="5504755"/>
            <a:ext cx="2516372" cy="34240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440" b="0" dirty="0">
                <a:solidFill>
                  <a:srgbClr val="FFFFFF"/>
                </a:solidFill>
                <a:latin typeface="Arial"/>
                <a:cs typeface="Arial"/>
              </a:rPr>
              <a:t xml:space="preserve">النيتروجين (</a:t>
            </a:r>
            <a:r>
              <a:rPr lang="en-US" sz="1440" b="0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7</a:t>
            </a:r>
            <a:r>
              <a:rPr lang="en-US" sz="1440" b="0" dirty="0">
                <a:solidFill>
                  <a:srgbClr val="FFFFFF"/>
                </a:solidFill>
                <a:latin typeface="Arial"/>
                <a:cs typeface="Arial"/>
              </a:rPr>
              <a:t xml:space="preserve">N</a:t>
            </a:r>
            <a:r>
              <a:rPr lang="ar-SA" sz="1440" b="0" dirty="0">
                <a:solidFill>
                  <a:srgbClr val="FFFFFF"/>
                </a:solidFill>
                <a:latin typeface="Arial"/>
                <a:cs typeface="Arial"/>
              </a:rPr>
              <a:t xml:space="preserve">) | الترتيب: </a:t>
            </a:r>
            <a:r>
              <a:rPr lang="en-US" sz="1440" b="0" dirty="0">
                <a:solidFill>
                  <a:srgbClr val="FFFFFF"/>
                </a:solidFill>
                <a:latin typeface="Arial"/>
                <a:cs typeface="Arial"/>
              </a:rPr>
              <a:t xml:space="preserve">2,5</a:t>
            </a:r>
            <a:endParaRPr lang="ar-SA" sz="1440" dirty="0"/>
          </a:p>
        </p:txBody>
      </p:sp>
      <p:sp>
        <p:nvSpPr>
          <p:cNvPr id="7" name="Text 5"/>
          <p:cNvSpPr txBox="1"/>
          <p:nvPr/>
        </p:nvSpPr>
        <p:spPr>
          <a:xfrm>
            <a:off x="12026605" y="5634633"/>
            <a:ext cx="3237023" cy="33059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440" b="0" dirty="0">
                <a:solidFill>
                  <a:srgbClr val="FFFFFF"/>
                </a:solidFill>
                <a:latin typeface="Arial"/>
                <a:cs typeface="Arial"/>
              </a:rPr>
              <a:t xml:space="preserve">البوتاسيوم (</a:t>
            </a:r>
            <a:r>
              <a:rPr lang="en-US" sz="1440" b="0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19</a:t>
            </a:r>
            <a:r>
              <a:rPr lang="en-US" sz="1440" b="0" dirty="0">
                <a:solidFill>
                  <a:srgbClr val="FFFFFF"/>
                </a:solidFill>
                <a:latin typeface="Arial"/>
                <a:cs typeface="Arial"/>
              </a:rPr>
              <a:t xml:space="preserve">K</a:t>
            </a:r>
            <a:r>
              <a:rPr lang="ar-SA" sz="1440" b="0" dirty="0">
                <a:solidFill>
                  <a:srgbClr val="FFFFFF"/>
                </a:solidFill>
                <a:latin typeface="Arial"/>
                <a:cs typeface="Arial"/>
              </a:rPr>
              <a:t xml:space="preserve">) | الترتيب: </a:t>
            </a:r>
            <a:r>
              <a:rPr lang="en-US" sz="1440" b="0" dirty="0">
                <a:solidFill>
                  <a:srgbClr val="FFFFFF"/>
                </a:solidFill>
                <a:latin typeface="Arial"/>
                <a:cs typeface="Arial"/>
              </a:rPr>
              <a:t xml:space="preserve">2,8,8,1</a:t>
            </a:r>
            <a:endParaRPr lang="ar-SA" sz="1440" dirty="0"/>
          </a:p>
        </p:txBody>
      </p:sp>
      <p:sp>
        <p:nvSpPr>
          <p:cNvPr id="8" name="Text 6"/>
          <p:cNvSpPr txBox="1"/>
          <p:nvPr/>
        </p:nvSpPr>
        <p:spPr>
          <a:xfrm>
            <a:off x="4749209" y="6413897"/>
            <a:ext cx="3449674" cy="108624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9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مثال توجيهي (البريليوم </a:t>
            </a:r>
            <a:r>
              <a:rPr lang="en-US" sz="1950" b="1" dirty="0" baseline="-2500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4</a:t>
            </a:r>
            <a:r>
              <a:rPr lang="en-US" sz="19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Be</a:t>
            </a:r>
            <a:r>
              <a:rPr lang="ar-SA" sz="19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):</a:t>
            </a:r>
            <a:endParaRPr lang="ar-SA" sz="1950" dirty="0"/>
          </a:p>
          <a:p>
            <a:pPr algn="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19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الترتيب: </a:t>
            </a:r>
            <a:r>
              <a:rPr lang="en-US" sz="19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2,2</a:t>
            </a:r>
            <a:endParaRPr lang="ar-SA" sz="19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350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4961860" y="6224984"/>
            <a:ext cx="6332279" cy="204261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7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دستور المدينة: قاعدة الثمانية</a:t>
            </a:r>
            <a:endParaRPr lang="ar-SA" sz="2700" dirty="0"/>
          </a:p>
          <a:p>
            <a:pPr algn="ctr" rtl="1">
              <a:lnSpc>
                <a:spcPct val="100000"/>
              </a:lnSpc>
              <a:spcBef>
                <a:spcPts val="400"/>
              </a:spcBef>
              <a:buNone/>
            </a:pPr>
            <a:r>
              <a:rPr lang="ar-SA" sz="1730" b="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الغازات النبيلة مستقرة لأن ترتيبها الإلكتروني ينتهي بثمانية إلكترونات.</a:t>
            </a:r>
            <a:endParaRPr lang="ar-SA" sz="1730" dirty="0"/>
          </a:p>
          <a:p>
            <a:pPr algn="ctr" rtl="1">
              <a:lnSpc>
                <a:spcPct val="100000"/>
              </a:lnSpc>
              <a:spcBef>
                <a:spcPts val="400"/>
              </a:spcBef>
              <a:buNone/>
            </a:pPr>
            <a:r>
              <a:rPr lang="ar-SA" sz="1350" b="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نص القاعدة: ميل ذرة العنصر إلى فقد إلكترونات مستوى التكافؤ أو اكتسابها أو المشاركة بها للوصول إلى ثمانية إلكترونات، لتحقيق حالة الاستقرار المشابهة للغاز النبيل.</a:t>
            </a:r>
            <a:endParaRPr lang="ar-SA" sz="1350" dirty="0"/>
          </a:p>
          <a:p>
            <a:pPr algn="ctr" rtl="1">
              <a:lnSpc>
                <a:spcPct val="100000"/>
              </a:lnSpc>
              <a:spcBef>
                <a:spcPts val="400"/>
              </a:spcBef>
              <a:buNone/>
            </a:pPr>
            <a:r>
              <a:rPr lang="ar-SA" sz="194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الهدف النهائي لكل مبنى هو تفعيل درع الثمانية!</a:t>
            </a:r>
            <a:endParaRPr lang="ar-SA" sz="194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5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5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80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65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3095256" y="439539"/>
            <a:ext cx="10065488" cy="73203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56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بوابات الاستيراد والتصدير (الكاتيونات والأنيونات)</a:t>
            </a:r>
            <a:endParaRPr lang="ar-SA" sz="3560" dirty="0"/>
          </a:p>
        </p:txBody>
      </p:sp>
      <p:sp>
        <p:nvSpPr>
          <p:cNvPr id="4" name="Text 2"/>
          <p:cNvSpPr txBox="1"/>
          <p:nvPr/>
        </p:nvSpPr>
        <p:spPr>
          <a:xfrm>
            <a:off x="2150140" y="6980634"/>
            <a:ext cx="3851349" cy="34240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350" b="1" dirty="0">
                <a:solidFill>
                  <a:srgbClr val="FFFFFF"/>
                </a:solidFill>
                <a:latin typeface="Arial"/>
                <a:cs typeface="Arial"/>
              </a:rPr>
              <a:t xml:space="preserve">الأنيون (أيون سالب):</a:t>
            </a:r>
            <a:r>
              <a:rPr lang="ar-SA" sz="1350" b="0" dirty="0">
                <a:solidFill>
                  <a:srgbClr val="FFFFFF"/>
                </a:solidFill>
                <a:latin typeface="Arial"/>
                <a:cs typeface="Arial"/>
              </a:rPr>
              <a:t xml:space="preserve"> ذرة تكتسب إلكتروناً أو أكثر.</a:t>
            </a:r>
            <a:endParaRPr lang="ar-SA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2150140" y="7405688"/>
            <a:ext cx="3449674" cy="34240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460" b="0" dirty="0">
                <a:solidFill>
                  <a:srgbClr val="FFFFFF"/>
                </a:solidFill>
                <a:latin typeface="Arial"/>
                <a:cs typeface="Arial"/>
              </a:rPr>
              <a:t xml:space="preserve">ذرة الكلور (</a:t>
            </a:r>
            <a:r>
              <a:rPr lang="en-US" sz="1460" b="0" dirty="0">
                <a:solidFill>
                  <a:srgbClr val="FFFFFF"/>
                </a:solidFill>
                <a:latin typeface="Arial"/>
                <a:cs typeface="Arial"/>
              </a:rPr>
              <a:t xml:space="preserve">Cl</a:t>
            </a:r>
            <a:r>
              <a:rPr lang="ar-SA" sz="1460" b="0" dirty="0">
                <a:solidFill>
                  <a:srgbClr val="FFFFFF"/>
                </a:solidFill>
                <a:latin typeface="Arial"/>
                <a:cs typeface="Arial"/>
              </a:rPr>
              <a:t xml:space="preserve">): </a:t>
            </a:r>
            <a:r>
              <a:rPr lang="en-US" sz="1460" b="0" dirty="0">
                <a:solidFill>
                  <a:srgbClr val="FFFFFF"/>
                </a:solidFill>
                <a:latin typeface="Arial"/>
                <a:cs typeface="Arial"/>
              </a:rPr>
              <a:t xml:space="preserve">2,8,7</a:t>
            </a:r>
            <a:endParaRPr lang="ar-SA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2150140" y="7842548"/>
            <a:ext cx="3449674" cy="3660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460" b="0" dirty="0">
                <a:solidFill>
                  <a:srgbClr val="FFFFFF"/>
                </a:solidFill>
                <a:latin typeface="Arial"/>
                <a:cs typeface="Arial"/>
              </a:rPr>
              <a:t xml:space="preserve">أنيون الكلوريد (</a:t>
            </a:r>
            <a:r>
              <a:rPr lang="en-US" sz="1460" b="0" dirty="0">
                <a:solidFill>
                  <a:srgbClr val="FFFFFF"/>
                </a:solidFill>
                <a:latin typeface="Arial"/>
                <a:cs typeface="Arial"/>
              </a:rPr>
              <a:t xml:space="preserve">Cl</a:t>
            </a:r>
            <a:r>
              <a:rPr lang="ar-SA" sz="1460" b="0" dirty="0" baseline="30000">
                <a:solidFill>
                  <a:srgbClr val="FFFFFF"/>
                </a:solidFill>
                <a:latin typeface="Arial"/>
                <a:cs typeface="Arial"/>
              </a:rPr>
              <a:t xml:space="preserve">−</a:t>
            </a:r>
            <a:r>
              <a:rPr lang="ar-SA" sz="1460" b="0" dirty="0">
                <a:solidFill>
                  <a:srgbClr val="FFFFFF"/>
                </a:solidFill>
                <a:latin typeface="Arial"/>
                <a:cs typeface="Arial"/>
              </a:rPr>
              <a:t xml:space="preserve">‎): </a:t>
            </a:r>
            <a:r>
              <a:rPr lang="en-US" sz="1460" b="0" dirty="0">
                <a:solidFill>
                  <a:srgbClr val="FFFFFF"/>
                </a:solidFill>
                <a:latin typeface="Arial"/>
                <a:cs typeface="Arial"/>
              </a:rPr>
              <a:t xml:space="preserve">2,8,8</a:t>
            </a:r>
            <a:r>
              <a:rPr lang="ar-SA" sz="1460" b="0" dirty="0">
                <a:solidFill>
                  <a:srgbClr val="FFFFFF"/>
                </a:solidFill>
                <a:latin typeface="Arial"/>
                <a:cs typeface="Arial"/>
              </a:rPr>
              <a:t xml:space="preserve"> (مستقر)</a:t>
            </a:r>
            <a:endParaRPr lang="ar-SA" sz="1460" dirty="0"/>
          </a:p>
        </p:txBody>
      </p:sp>
      <p:sp>
        <p:nvSpPr>
          <p:cNvPr id="7" name="Text 5"/>
          <p:cNvSpPr txBox="1"/>
          <p:nvPr/>
        </p:nvSpPr>
        <p:spPr>
          <a:xfrm>
            <a:off x="10136372" y="6980634"/>
            <a:ext cx="3473302" cy="34240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350" b="1" dirty="0">
                <a:solidFill>
                  <a:srgbClr val="FFFFFF"/>
                </a:solidFill>
                <a:latin typeface="Arial"/>
                <a:cs typeface="Arial"/>
              </a:rPr>
              <a:t xml:space="preserve">الكاتيون (أيون موجب):</a:t>
            </a:r>
            <a:r>
              <a:rPr lang="ar-SA" sz="1350" b="0" dirty="0">
                <a:solidFill>
                  <a:srgbClr val="FFFFFF"/>
                </a:solidFill>
                <a:latin typeface="Arial"/>
                <a:cs typeface="Arial"/>
              </a:rPr>
              <a:t xml:space="preserve"> ذرة تفقد إلكتروناً أو أكثر.</a:t>
            </a:r>
            <a:endParaRPr lang="ar-SA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136372" y="7405688"/>
            <a:ext cx="3331535" cy="34240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460" b="0" dirty="0">
                <a:solidFill>
                  <a:srgbClr val="FFFFFF"/>
                </a:solidFill>
                <a:latin typeface="Arial"/>
                <a:cs typeface="Arial"/>
              </a:rPr>
              <a:t xml:space="preserve">ذرة الصوديوم (</a:t>
            </a:r>
            <a:r>
              <a:rPr lang="en-US" sz="1460" b="0" dirty="0">
                <a:solidFill>
                  <a:srgbClr val="FFFFFF"/>
                </a:solidFill>
                <a:latin typeface="Arial"/>
                <a:cs typeface="Arial"/>
              </a:rPr>
              <a:t xml:space="preserve">Na</a:t>
            </a:r>
            <a:r>
              <a:rPr lang="ar-SA" sz="1460" b="0" dirty="0">
                <a:solidFill>
                  <a:srgbClr val="FFFFFF"/>
                </a:solidFill>
                <a:latin typeface="Arial"/>
                <a:cs typeface="Arial"/>
              </a:rPr>
              <a:t xml:space="preserve">): </a:t>
            </a:r>
            <a:r>
              <a:rPr lang="en-US" sz="1460" b="0" dirty="0">
                <a:solidFill>
                  <a:srgbClr val="FFFFFF"/>
                </a:solidFill>
                <a:latin typeface="Arial"/>
                <a:cs typeface="Arial"/>
              </a:rPr>
              <a:t xml:space="preserve">2,8,1</a:t>
            </a:r>
            <a:endParaRPr lang="ar-SA" sz="1460" dirty="0"/>
          </a:p>
        </p:txBody>
      </p:sp>
      <p:sp>
        <p:nvSpPr>
          <p:cNvPr id="9" name="Text 7"/>
          <p:cNvSpPr txBox="1"/>
          <p:nvPr/>
        </p:nvSpPr>
        <p:spPr>
          <a:xfrm>
            <a:off x="10136372" y="7842548"/>
            <a:ext cx="3331535" cy="36601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460" b="0" dirty="0">
                <a:solidFill>
                  <a:srgbClr val="FFFFFF"/>
                </a:solidFill>
                <a:latin typeface="Arial"/>
                <a:cs typeface="Arial"/>
              </a:rPr>
              <a:t xml:space="preserve">كاتيون الصوديوم (</a:t>
            </a:r>
            <a:r>
              <a:rPr lang="en-US" sz="1460" b="0" dirty="0">
                <a:solidFill>
                  <a:srgbClr val="FFFFFF"/>
                </a:solidFill>
                <a:latin typeface="Arial"/>
                <a:cs typeface="Arial"/>
              </a:rPr>
              <a:t xml:space="preserve">Na</a:t>
            </a:r>
            <a:r>
              <a:rPr lang="ar-SA" sz="1460" b="0" dirty="0" baseline="30000">
                <a:solidFill>
                  <a:srgbClr val="FFFFFF"/>
                </a:solidFill>
                <a:latin typeface="Arial"/>
                <a:cs typeface="Arial"/>
              </a:rPr>
              <a:t xml:space="preserve">+</a:t>
            </a:r>
            <a:r>
              <a:rPr lang="ar-SA" sz="1460" b="0" dirty="0">
                <a:solidFill>
                  <a:srgbClr val="FFFFFF"/>
                </a:solidFill>
                <a:latin typeface="Arial"/>
                <a:cs typeface="Arial"/>
              </a:rPr>
              <a:t xml:space="preserve">‎): </a:t>
            </a:r>
            <a:r>
              <a:rPr lang="en-US" sz="1460" b="0" dirty="0">
                <a:solidFill>
                  <a:srgbClr val="FFFFFF"/>
                </a:solidFill>
                <a:latin typeface="Arial"/>
                <a:cs typeface="Arial"/>
              </a:rPr>
              <a:t xml:space="preserve">2,8</a:t>
            </a:r>
            <a:r>
              <a:rPr lang="ar-SA" sz="1460" b="0" dirty="0">
                <a:solidFill>
                  <a:srgbClr val="FFFFFF"/>
                </a:solidFill>
                <a:latin typeface="Arial"/>
                <a:cs typeface="Arial"/>
              </a:rPr>
              <a:t xml:space="preserve"> (مستقر)</a:t>
            </a:r>
            <a:endParaRPr lang="ar-SA" sz="146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85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350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850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350"/>
                            </p:stCondLst>
                            <p:childTnLst>
                              <p:par>
                                <p:cTn id="4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 rot="21300000">
            <a:off x="6970233" y="1171575"/>
            <a:ext cx="7820837" cy="165298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3630" b="1" dirty="0">
                <a:solidFill>
                  <a:srgbClr val="1F3B70"/>
                </a:solidFill>
                <a:effectLst>
                  <a:outerShdw blurRad="25400" dist="12700" dir="2700000" algn="tl" rotWithShape="0">
                    <a:srgbClr val="FFFFFF">
                      <a:alpha val="45000"/>
                    </a:srgbClr>
                  </a:outerShdw>
                </a:effectLst>
                <a:latin typeface="Arial"/>
                <a:cs typeface="Arial"/>
              </a:rPr>
              <a:t xml:space="preserve">جولة التفتيش الرقابية: حل تمرين (</a:t>
            </a:r>
            <a:r>
              <a:rPr lang="en-US" sz="3630" b="1" dirty="0">
                <a:solidFill>
                  <a:srgbClr val="1F3B70"/>
                </a:solidFill>
                <a:effectLst>
                  <a:outerShdw blurRad="25400" dist="12700" dir="2700000" algn="tl" rotWithShape="0">
                    <a:srgbClr val="FFFFFF">
                      <a:alpha val="45000"/>
                    </a:srgbClr>
                  </a:outerShdw>
                </a:effectLst>
                <a:latin typeface="Arial"/>
                <a:cs typeface="Arial"/>
              </a:rPr>
              <a:t xml:space="preserve">3</a:t>
            </a:r>
            <a:r>
              <a:rPr lang="ar-SA" sz="3630" b="1" dirty="0">
                <a:solidFill>
                  <a:srgbClr val="1F3B70"/>
                </a:solidFill>
                <a:effectLst>
                  <a:outerShdw blurRad="25400" dist="12700" dir="2700000" algn="tl" rotWithShape="0">
                    <a:srgbClr val="FFFFFF">
                      <a:alpha val="45000"/>
                    </a:srgbClr>
                  </a:outerShdw>
                </a:effectLst>
                <a:latin typeface="Arial"/>
                <a:cs typeface="Arial"/>
              </a:rPr>
              <a:t xml:space="preserve">)</a:t>
            </a:r>
            <a:endParaRPr lang="ar-SA" sz="3630" dirty="0"/>
          </a:p>
        </p:txBody>
      </p:sp>
      <p:sp>
        <p:nvSpPr>
          <p:cNvPr id="4" name="Text 2"/>
          <p:cNvSpPr txBox="1"/>
          <p:nvPr/>
        </p:nvSpPr>
        <p:spPr>
          <a:xfrm rot="21300000">
            <a:off x="12853581" y="2659261"/>
            <a:ext cx="2173767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430" b="1" dirty="0">
                <a:solidFill>
                  <a:srgbClr val="FFFFFF"/>
                </a:solidFill>
                <a:latin typeface="Arial"/>
                <a:cs typeface="Arial"/>
              </a:rPr>
              <a:t xml:space="preserve">العنصر</a:t>
            </a:r>
            <a:endParaRPr lang="ar-SA" sz="1430" dirty="0"/>
          </a:p>
        </p:txBody>
      </p:sp>
      <p:sp>
        <p:nvSpPr>
          <p:cNvPr id="5" name="Text 3"/>
          <p:cNvSpPr txBox="1"/>
          <p:nvPr/>
        </p:nvSpPr>
        <p:spPr>
          <a:xfrm rot="21300000">
            <a:off x="10892465" y="2730103"/>
            <a:ext cx="1772093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430" b="1" dirty="0">
                <a:solidFill>
                  <a:srgbClr val="FFFFFF"/>
                </a:solidFill>
                <a:latin typeface="Arial"/>
                <a:cs typeface="Arial"/>
              </a:rPr>
              <a:t xml:space="preserve">الترتيب الإلكتروني النقطي</a:t>
            </a:r>
            <a:endParaRPr lang="ar-SA" sz="1430" dirty="0"/>
          </a:p>
        </p:txBody>
      </p:sp>
      <p:sp>
        <p:nvSpPr>
          <p:cNvPr id="6" name="Text 4"/>
          <p:cNvSpPr txBox="1"/>
          <p:nvPr/>
        </p:nvSpPr>
        <p:spPr>
          <a:xfrm rot="21300000">
            <a:off x="9120372" y="2848173"/>
            <a:ext cx="1713023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430" b="1" dirty="0">
                <a:solidFill>
                  <a:srgbClr val="FFFFFF"/>
                </a:solidFill>
                <a:latin typeface="Arial"/>
                <a:cs typeface="Arial"/>
              </a:rPr>
              <a:t xml:space="preserve">للوصول للاستقرار (يفقد/يكتسب)</a:t>
            </a:r>
            <a:endParaRPr lang="ar-SA" sz="1430" dirty="0"/>
          </a:p>
        </p:txBody>
      </p:sp>
      <p:sp>
        <p:nvSpPr>
          <p:cNvPr id="7" name="Text 5"/>
          <p:cNvSpPr txBox="1"/>
          <p:nvPr/>
        </p:nvSpPr>
        <p:spPr>
          <a:xfrm rot="21300000">
            <a:off x="7348279" y="3013472"/>
            <a:ext cx="1772093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430" b="1" dirty="0">
                <a:solidFill>
                  <a:srgbClr val="FFFFFF"/>
                </a:solidFill>
                <a:latin typeface="Arial"/>
                <a:cs typeface="Arial"/>
              </a:rPr>
              <a:t xml:space="preserve">قاعدة الثمانية (يحقق/لا يحقق)</a:t>
            </a:r>
            <a:endParaRPr lang="ar-SA" sz="1430" dirty="0"/>
          </a:p>
        </p:txBody>
      </p:sp>
      <p:sp>
        <p:nvSpPr>
          <p:cNvPr id="8" name="Text 6"/>
          <p:cNvSpPr txBox="1"/>
          <p:nvPr/>
        </p:nvSpPr>
        <p:spPr>
          <a:xfrm rot="21300000">
            <a:off x="12794512" y="3698280"/>
            <a:ext cx="2303721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540" b="1" dirty="0">
                <a:solidFill>
                  <a:srgbClr val="FFFFFF"/>
                </a:solidFill>
                <a:latin typeface="Arial"/>
                <a:cs typeface="Arial"/>
              </a:rPr>
              <a:t xml:space="preserve">المغنيسيوم (</a:t>
            </a:r>
            <a:r>
              <a:rPr lang="en-US" sz="1540" b="1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12</a:t>
            </a:r>
            <a:r>
              <a:rPr lang="en-US" sz="1540" b="1" dirty="0">
                <a:solidFill>
                  <a:srgbClr val="FFFFFF"/>
                </a:solidFill>
                <a:latin typeface="Arial"/>
                <a:cs typeface="Arial"/>
              </a:rPr>
              <a:t xml:space="preserve">Mg</a:t>
            </a:r>
            <a:r>
              <a:rPr lang="ar-SA" sz="1540" b="1" dirty="0">
                <a:solidFill>
                  <a:srgbClr val="FFFFFF"/>
                </a:solidFill>
                <a:latin typeface="Arial"/>
                <a:cs typeface="Arial"/>
              </a:rPr>
              <a:t xml:space="preserve">)</a:t>
            </a:r>
            <a:endParaRPr lang="ar-SA" sz="1540" dirty="0"/>
          </a:p>
        </p:txBody>
      </p:sp>
      <p:sp>
        <p:nvSpPr>
          <p:cNvPr id="9" name="Text 7"/>
          <p:cNvSpPr txBox="1"/>
          <p:nvPr/>
        </p:nvSpPr>
        <p:spPr>
          <a:xfrm rot="21300000">
            <a:off x="10963349" y="3887192"/>
            <a:ext cx="1535814" cy="5195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1980" b="1" dirty="0">
                <a:solidFill>
                  <a:srgbClr val="FFFFFF"/>
                </a:solidFill>
                <a:latin typeface="Arial"/>
                <a:cs typeface="Arial"/>
              </a:rPr>
              <a:t xml:space="preserve">•</a:t>
            </a:r>
            <a:r>
              <a:rPr lang="en-US" sz="1980" b="1" dirty="0">
                <a:solidFill>
                  <a:srgbClr val="FFFFFF"/>
                </a:solidFill>
                <a:latin typeface="Arial"/>
                <a:cs typeface="Arial"/>
              </a:rPr>
              <a:t xml:space="preserve">Mg•</a:t>
            </a:r>
            <a:endParaRPr lang="ar-SA" sz="1980" dirty="0"/>
          </a:p>
        </p:txBody>
      </p:sp>
      <p:sp>
        <p:nvSpPr>
          <p:cNvPr id="10" name="Text 8"/>
          <p:cNvSpPr txBox="1"/>
          <p:nvPr/>
        </p:nvSpPr>
        <p:spPr>
          <a:xfrm rot="21300000">
            <a:off x="9250326" y="4005262"/>
            <a:ext cx="1417674" cy="44866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540" b="1" dirty="0">
                <a:solidFill>
                  <a:srgbClr val="FFFFFF"/>
                </a:solidFill>
                <a:latin typeface="Arial"/>
                <a:cs typeface="Arial"/>
              </a:rPr>
              <a:t xml:space="preserve">يفقد </a:t>
            </a:r>
            <a:r>
              <a:rPr lang="en-US" sz="1540" b="1" dirty="0">
                <a:solidFill>
                  <a:srgbClr val="FFFFFF"/>
                </a:solidFill>
                <a:latin typeface="Arial"/>
                <a:cs typeface="Arial"/>
              </a:rPr>
              <a:t xml:space="preserve">2</a:t>
            </a:r>
            <a:endParaRPr lang="ar-SA" sz="1540" dirty="0"/>
          </a:p>
        </p:txBody>
      </p:sp>
      <p:sp>
        <p:nvSpPr>
          <p:cNvPr id="11" name="Text 9"/>
          <p:cNvSpPr txBox="1"/>
          <p:nvPr/>
        </p:nvSpPr>
        <p:spPr>
          <a:xfrm rot="21300000">
            <a:off x="7891721" y="4170561"/>
            <a:ext cx="708837" cy="40143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540" b="1" dirty="0">
                <a:solidFill>
                  <a:srgbClr val="7CF29A"/>
                </a:solidFill>
                <a:latin typeface="Arial"/>
                <a:cs typeface="Arial"/>
              </a:rPr>
              <a:t xml:space="preserve">يحقق</a:t>
            </a:r>
            <a:endParaRPr lang="ar-SA" sz="1540" dirty="0"/>
          </a:p>
        </p:txBody>
      </p:sp>
      <p:sp>
        <p:nvSpPr>
          <p:cNvPr id="12" name="Text 10"/>
          <p:cNvSpPr txBox="1"/>
          <p:nvPr/>
        </p:nvSpPr>
        <p:spPr>
          <a:xfrm rot="21300000">
            <a:off x="13042605" y="4831755"/>
            <a:ext cx="1630326" cy="5195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540" b="1" dirty="0">
                <a:solidFill>
                  <a:srgbClr val="FFFFFF"/>
                </a:solidFill>
                <a:latin typeface="Arial"/>
                <a:cs typeface="Arial"/>
              </a:rPr>
              <a:t xml:space="preserve">الفلور (</a:t>
            </a:r>
            <a:r>
              <a:rPr lang="en-US" sz="1540" b="1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9</a:t>
            </a:r>
            <a:r>
              <a:rPr lang="en-US" sz="1540" b="1" dirty="0">
                <a:solidFill>
                  <a:srgbClr val="FFFFFF"/>
                </a:solidFill>
                <a:latin typeface="Arial"/>
                <a:cs typeface="Arial"/>
              </a:rPr>
              <a:t xml:space="preserve">F</a:t>
            </a:r>
            <a:r>
              <a:rPr lang="ar-SA" sz="1540" b="1" dirty="0">
                <a:solidFill>
                  <a:srgbClr val="FFFFFF"/>
                </a:solidFill>
                <a:latin typeface="Arial"/>
                <a:cs typeface="Arial"/>
              </a:rPr>
              <a:t xml:space="preserve">)</a:t>
            </a:r>
            <a:endParaRPr lang="ar-SA" sz="1540" dirty="0"/>
          </a:p>
        </p:txBody>
      </p:sp>
      <p:sp>
        <p:nvSpPr>
          <p:cNvPr id="13" name="Text 11"/>
          <p:cNvSpPr txBox="1"/>
          <p:nvPr/>
        </p:nvSpPr>
        <p:spPr>
          <a:xfrm rot="21300000">
            <a:off x="10845209" y="4926211"/>
            <a:ext cx="1819349" cy="42505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380" b="1" dirty="0">
                <a:solidFill>
                  <a:srgbClr val="FFFFFF"/>
                </a:solidFill>
                <a:latin typeface="Arial"/>
                <a:cs typeface="Arial"/>
              </a:rPr>
              <a:t xml:space="preserve">الرمز </a:t>
            </a:r>
            <a:r>
              <a:rPr lang="en-US" sz="1380" b="1" dirty="0">
                <a:solidFill>
                  <a:srgbClr val="FFFFFF"/>
                </a:solidFill>
                <a:latin typeface="Arial"/>
                <a:cs typeface="Arial"/>
              </a:rPr>
              <a:t xml:space="preserve">F</a:t>
            </a:r>
            <a:r>
              <a:rPr lang="ar-SA" sz="1380" b="1" dirty="0">
                <a:solidFill>
                  <a:srgbClr val="FFFFFF"/>
                </a:solidFill>
                <a:latin typeface="Arial"/>
                <a:cs typeface="Arial"/>
              </a:rPr>
              <a:t xml:space="preserve"> محاط بـ </a:t>
            </a:r>
            <a:r>
              <a:rPr lang="en-US" sz="1380" b="1" dirty="0">
                <a:solidFill>
                  <a:srgbClr val="FFFFFF"/>
                </a:solidFill>
                <a:latin typeface="Arial"/>
                <a:cs typeface="Arial"/>
              </a:rPr>
              <a:t xml:space="preserve">7</a:t>
            </a:r>
            <a:r>
              <a:rPr lang="ar-SA" sz="1380" b="1" dirty="0">
                <a:solidFill>
                  <a:srgbClr val="FFFFFF"/>
                </a:solidFill>
                <a:latin typeface="Arial"/>
                <a:cs typeface="Arial"/>
              </a:rPr>
              <a:t xml:space="preserve"> نقاط</a:t>
            </a:r>
            <a:endParaRPr lang="ar-SA" sz="1380" dirty="0"/>
          </a:p>
        </p:txBody>
      </p:sp>
      <p:sp>
        <p:nvSpPr>
          <p:cNvPr id="14" name="Text 12"/>
          <p:cNvSpPr txBox="1"/>
          <p:nvPr/>
        </p:nvSpPr>
        <p:spPr>
          <a:xfrm rot="21300000">
            <a:off x="9380279" y="4997053"/>
            <a:ext cx="1275907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540" b="1" dirty="0">
                <a:solidFill>
                  <a:srgbClr val="FFFFFF"/>
                </a:solidFill>
                <a:latin typeface="Arial"/>
                <a:cs typeface="Arial"/>
              </a:rPr>
              <a:t xml:space="preserve">يكتسب </a:t>
            </a:r>
            <a:r>
              <a:rPr lang="en-US" sz="1540" b="1" dirty="0">
                <a:solidFill>
                  <a:srgbClr val="FFFFFF"/>
                </a:solidFill>
                <a:latin typeface="Arial"/>
                <a:cs typeface="Arial"/>
              </a:rPr>
              <a:t xml:space="preserve">1</a:t>
            </a:r>
            <a:endParaRPr lang="ar-SA" sz="1540" dirty="0"/>
          </a:p>
        </p:txBody>
      </p:sp>
      <p:sp>
        <p:nvSpPr>
          <p:cNvPr id="15" name="Text 13"/>
          <p:cNvSpPr txBox="1"/>
          <p:nvPr/>
        </p:nvSpPr>
        <p:spPr>
          <a:xfrm rot="21300000">
            <a:off x="7844465" y="5174159"/>
            <a:ext cx="732465" cy="34240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540" b="1" dirty="0">
                <a:solidFill>
                  <a:srgbClr val="7CF29A"/>
                </a:solidFill>
                <a:latin typeface="Arial"/>
                <a:cs typeface="Arial"/>
              </a:rPr>
              <a:t xml:space="preserve">يحقق</a:t>
            </a:r>
            <a:endParaRPr lang="ar-SA" sz="1540" dirty="0"/>
          </a:p>
        </p:txBody>
      </p:sp>
      <p:sp>
        <p:nvSpPr>
          <p:cNvPr id="16" name="Text 14"/>
          <p:cNvSpPr txBox="1"/>
          <p:nvPr/>
        </p:nvSpPr>
        <p:spPr>
          <a:xfrm rot="21300000">
            <a:off x="12924465" y="5941616"/>
            <a:ext cx="1913860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540" b="1" dirty="0">
                <a:solidFill>
                  <a:srgbClr val="FFFFFF"/>
                </a:solidFill>
                <a:latin typeface="Arial"/>
                <a:cs typeface="Arial"/>
              </a:rPr>
              <a:t xml:space="preserve">الليثيوم (</a:t>
            </a:r>
            <a:r>
              <a:rPr lang="en-US" sz="1540" b="1" dirty="0" baseline="-25000">
                <a:solidFill>
                  <a:srgbClr val="FFFFFF"/>
                </a:solidFill>
                <a:latin typeface="Arial"/>
                <a:cs typeface="Arial"/>
              </a:rPr>
              <a:t xml:space="preserve">3</a:t>
            </a:r>
            <a:r>
              <a:rPr lang="en-US" sz="1540" b="1" dirty="0">
                <a:solidFill>
                  <a:srgbClr val="FFFFFF"/>
                </a:solidFill>
                <a:latin typeface="Arial"/>
                <a:cs typeface="Arial"/>
              </a:rPr>
              <a:t xml:space="preserve">Li</a:t>
            </a:r>
            <a:r>
              <a:rPr lang="ar-SA" sz="1540" b="1" dirty="0">
                <a:solidFill>
                  <a:srgbClr val="FFFFFF"/>
                </a:solidFill>
                <a:latin typeface="Arial"/>
                <a:cs typeface="Arial"/>
              </a:rPr>
              <a:t xml:space="preserve">)</a:t>
            </a:r>
            <a:endParaRPr lang="ar-SA" sz="1540" dirty="0"/>
          </a:p>
        </p:txBody>
      </p:sp>
      <p:sp>
        <p:nvSpPr>
          <p:cNvPr id="17" name="Text 15"/>
          <p:cNvSpPr txBox="1"/>
          <p:nvPr/>
        </p:nvSpPr>
        <p:spPr>
          <a:xfrm rot="21300000">
            <a:off x="11081488" y="5988844"/>
            <a:ext cx="968744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1980" b="1" dirty="0">
                <a:solidFill>
                  <a:srgbClr val="FFFFFF"/>
                </a:solidFill>
                <a:latin typeface="Arial"/>
                <a:cs typeface="Arial"/>
              </a:rPr>
              <a:t xml:space="preserve">Li•</a:t>
            </a:r>
            <a:endParaRPr lang="ar-SA" sz="1980" dirty="0"/>
          </a:p>
        </p:txBody>
      </p:sp>
      <p:sp>
        <p:nvSpPr>
          <p:cNvPr id="18" name="Text 16"/>
          <p:cNvSpPr txBox="1"/>
          <p:nvPr/>
        </p:nvSpPr>
        <p:spPr>
          <a:xfrm rot="21300000">
            <a:off x="9427535" y="6059686"/>
            <a:ext cx="933302" cy="40143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540" b="1" dirty="0">
                <a:solidFill>
                  <a:srgbClr val="FFFFFF"/>
                </a:solidFill>
                <a:latin typeface="Arial"/>
                <a:cs typeface="Arial"/>
              </a:rPr>
              <a:t xml:space="preserve">يفقد </a:t>
            </a:r>
            <a:r>
              <a:rPr lang="en-US" sz="1540" b="1" dirty="0">
                <a:solidFill>
                  <a:srgbClr val="FFFFFF"/>
                </a:solidFill>
                <a:latin typeface="Arial"/>
                <a:cs typeface="Arial"/>
              </a:rPr>
              <a:t xml:space="preserve">1</a:t>
            </a:r>
            <a:endParaRPr lang="ar-SA" sz="1540" dirty="0"/>
          </a:p>
        </p:txBody>
      </p:sp>
      <p:sp>
        <p:nvSpPr>
          <p:cNvPr id="19" name="Text 17"/>
          <p:cNvSpPr txBox="1"/>
          <p:nvPr/>
        </p:nvSpPr>
        <p:spPr>
          <a:xfrm rot="21300000">
            <a:off x="7395535" y="5988844"/>
            <a:ext cx="1299535" cy="66119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540" b="1" dirty="0">
                <a:solidFill>
                  <a:srgbClr val="FFD84A"/>
                </a:solidFill>
                <a:latin typeface="Arial"/>
                <a:cs typeface="Arial"/>
              </a:rPr>
              <a:t xml:space="preserve">لا يحقق</a:t>
            </a:r>
            <a:endParaRPr lang="ar-SA" sz="154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940" b="1" dirty="0">
                <a:solidFill>
                  <a:srgbClr val="FFD84A"/>
                </a:solidFill>
                <a:latin typeface="Arial"/>
                <a:cs typeface="Arial"/>
              </a:rPr>
              <a:t xml:space="preserve">(راجع شريحة الاستثناءات)</a:t>
            </a:r>
            <a:endParaRPr lang="ar-SA" sz="94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3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8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225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1323163" y="1903611"/>
            <a:ext cx="3615070" cy="6375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20" b="1" dirty="0">
                <a:solidFill>
                  <a:srgbClr val="7FE6F5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استثناءات قاعدة الثمانية</a:t>
            </a:r>
            <a:endParaRPr lang="ar-SA" sz="2420" dirty="0"/>
          </a:p>
        </p:txBody>
      </p:sp>
      <p:sp>
        <p:nvSpPr>
          <p:cNvPr id="4" name="Text 2"/>
          <p:cNvSpPr txBox="1"/>
          <p:nvPr/>
        </p:nvSpPr>
        <p:spPr>
          <a:xfrm>
            <a:off x="1394047" y="2753717"/>
            <a:ext cx="3496930" cy="460474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670" b="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هناك مبانٍ صغيرة لا تحتاج إلى </a:t>
            </a:r>
            <a:r>
              <a:rPr lang="en-US" sz="1670" b="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8</a:t>
            </a:r>
            <a:r>
              <a:rPr lang="ar-SA" sz="1670" b="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 إلكترونات، بل تستقر بإلكترونين فقط لتتشبّه بالجار العظيم: </a:t>
            </a:r>
            <a:r>
              <a:rPr lang="ar-SA" sz="1670" b="1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الهيليوم (</a:t>
            </a:r>
            <a:r>
              <a:rPr lang="en-US" sz="1670" b="1" dirty="0" baseline="-2500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2</a:t>
            </a:r>
            <a:r>
              <a:rPr lang="en-US" sz="1670" b="1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He</a:t>
            </a:r>
            <a:r>
              <a:rPr lang="ar-SA" sz="1670" b="1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)</a:t>
            </a:r>
            <a:r>
              <a:rPr lang="ar-SA" sz="1670" b="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.</a:t>
            </a:r>
            <a:endParaRPr lang="ar-SA" sz="1670" dirty="0"/>
          </a:p>
          <a:p>
            <a:pPr algn="r" rtl="1">
              <a:lnSpc>
                <a:spcPct val="100000"/>
              </a:lnSpc>
              <a:spcBef>
                <a:spcPts val="1200"/>
              </a:spcBef>
              <a:buNone/>
            </a:pPr>
            <a:r>
              <a:rPr lang="ar-SA" sz="1670" b="1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• العناصر المستثناة:</a:t>
            </a:r>
            <a:r>
              <a:rPr lang="ar-SA" sz="1670" b="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 الهيدروجين (</a:t>
            </a:r>
            <a:r>
              <a:rPr lang="en-US" sz="1670" b="0" dirty="0" baseline="-2500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1</a:t>
            </a:r>
            <a:r>
              <a:rPr lang="en-US" sz="1670" b="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H</a:t>
            </a:r>
            <a:r>
              <a:rPr lang="ar-SA" sz="1670" b="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)، الليثيوم (</a:t>
            </a:r>
            <a:r>
              <a:rPr lang="en-US" sz="1670" b="0" dirty="0" baseline="-2500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3</a:t>
            </a:r>
            <a:r>
              <a:rPr lang="en-US" sz="1670" b="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Li</a:t>
            </a:r>
            <a:r>
              <a:rPr lang="ar-SA" sz="1670" b="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)، البريليوم (</a:t>
            </a:r>
            <a:r>
              <a:rPr lang="en-US" sz="1670" b="0" dirty="0" baseline="-2500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4</a:t>
            </a:r>
            <a:r>
              <a:rPr lang="en-US" sz="1670" b="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Be</a:t>
            </a:r>
            <a:r>
              <a:rPr lang="ar-SA" sz="1670" b="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)، البورون (</a:t>
            </a:r>
            <a:r>
              <a:rPr lang="en-US" sz="1670" b="0" dirty="0" baseline="-2500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5</a:t>
            </a:r>
            <a:r>
              <a:rPr lang="en-US" sz="1670" b="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B</a:t>
            </a:r>
            <a:r>
              <a:rPr lang="ar-SA" sz="1670" b="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).</a:t>
            </a:r>
            <a:endParaRPr lang="ar-SA" sz="1670" dirty="0"/>
          </a:p>
          <a:p>
            <a:pPr algn="r" rtl="1">
              <a:lnSpc>
                <a:spcPct val="100000"/>
              </a:lnSpc>
              <a:spcBef>
                <a:spcPts val="1200"/>
              </a:spcBef>
              <a:buNone/>
            </a:pPr>
            <a:r>
              <a:rPr lang="ar-SA" sz="1670" b="1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السبب:</a:t>
            </a:r>
            <a:r>
              <a:rPr lang="ar-SA" sz="1670" b="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 عندما تفقد هذه الذرات إلكترونات التكافؤ، يتبقى لديها مستوى طاقة أول ممتلئ بإلكترونين، وهو قمة الاستقرار لهذه المباني!</a:t>
            </a:r>
            <a:endParaRPr lang="ar-SA" sz="167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5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5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85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65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4843721" y="2163366"/>
            <a:ext cx="6261395" cy="66119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47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التحدي الأكبر: أنت الكيميائي!</a:t>
            </a:r>
            <a:endParaRPr lang="ar-SA" sz="3470" dirty="0"/>
          </a:p>
        </p:txBody>
      </p:sp>
      <p:sp>
        <p:nvSpPr>
          <p:cNvPr id="4" name="Text 2"/>
          <p:cNvSpPr txBox="1"/>
          <p:nvPr/>
        </p:nvSpPr>
        <p:spPr>
          <a:xfrm>
            <a:off x="4631070" y="3037086"/>
            <a:ext cx="6993860" cy="108624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790" b="1" dirty="0">
                <a:solidFill>
                  <a:srgbClr val="6FE0F5"/>
                </a:solidFill>
                <a:latin typeface="Arial"/>
                <a:cs typeface="Arial"/>
              </a:rPr>
              <a:t xml:space="preserve">السؤال الأول: المصطلحات</a:t>
            </a:r>
            <a:endParaRPr lang="ar-SA" sz="1790" dirty="0"/>
          </a:p>
          <a:p>
            <a:pPr algn="r" rtl="1">
              <a:lnSpc>
                <a:spcPct val="100000"/>
              </a:lnSpc>
              <a:spcBef>
                <a:spcPts val="200"/>
              </a:spcBef>
              <a:buNone/>
            </a:pPr>
            <a:r>
              <a:rPr lang="ar-SA" sz="1400" b="0" dirty="0">
                <a:solidFill>
                  <a:srgbClr val="FFFFFF"/>
                </a:solidFill>
                <a:latin typeface="Arial"/>
                <a:cs typeface="Arial"/>
              </a:rPr>
              <a:t xml:space="preserve">- عدد الإلكترونات التي تفقدها الذرة أو تكتسبها أو تشارك بها... ← </a:t>
            </a:r>
            <a:r>
              <a:rPr lang="ar-SA" sz="1400" b="1" dirty="0">
                <a:solidFill>
                  <a:srgbClr val="6FE0F5"/>
                </a:solidFill>
                <a:latin typeface="Arial"/>
                <a:cs typeface="Arial"/>
              </a:rPr>
              <a:t xml:space="preserve">التكافؤ</a:t>
            </a:r>
            <a:endParaRPr lang="ar-SA" sz="1400" dirty="0"/>
          </a:p>
          <a:p>
            <a:pPr algn="r" rtl="1">
              <a:lnSpc>
                <a:spcPct val="100000"/>
              </a:lnSpc>
              <a:spcBef>
                <a:spcPts val="200"/>
              </a:spcBef>
              <a:buNone/>
            </a:pPr>
            <a:r>
              <a:rPr lang="ar-SA" sz="1400" b="0" dirty="0">
                <a:solidFill>
                  <a:srgbClr val="FFFFFF"/>
                </a:solidFill>
                <a:latin typeface="Arial"/>
                <a:cs typeface="Arial"/>
              </a:rPr>
              <a:t xml:space="preserve">- الأشكال التي توضح إلكترونات التكافؤ في صورة نقاط... ← </a:t>
            </a:r>
            <a:r>
              <a:rPr lang="ar-SA" sz="1400" b="1" dirty="0">
                <a:solidFill>
                  <a:srgbClr val="7CF29A"/>
                </a:solidFill>
                <a:latin typeface="Arial"/>
                <a:cs typeface="Arial"/>
              </a:rPr>
              <a:t xml:space="preserve">الترتيب الإلكتروني النقطي (تمثيل لويس)</a:t>
            </a:r>
            <a:endParaRPr lang="ar-SA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678326" y="4572000"/>
            <a:ext cx="6946605" cy="102721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790" b="1" dirty="0">
                <a:solidFill>
                  <a:srgbClr val="FFB347"/>
                </a:solidFill>
                <a:latin typeface="Arial"/>
                <a:cs typeface="Arial"/>
              </a:rPr>
              <a:t xml:space="preserve">السؤال الثاني: الاختيارات</a:t>
            </a:r>
            <a:endParaRPr lang="ar-SA" sz="1790" dirty="0"/>
          </a:p>
          <a:p>
            <a:pPr algn="r" rtl="1">
              <a:lnSpc>
                <a:spcPct val="100000"/>
              </a:lnSpc>
              <a:spcBef>
                <a:spcPts val="200"/>
              </a:spcBef>
              <a:buNone/>
            </a:pPr>
            <a:r>
              <a:rPr lang="ar-SA" sz="1400" b="0" dirty="0">
                <a:solidFill>
                  <a:srgbClr val="FFFFFF"/>
                </a:solidFill>
                <a:latin typeface="Arial"/>
                <a:cs typeface="Arial"/>
              </a:rPr>
              <a:t xml:space="preserve">- عدد إلكترونات التكافؤ لعنصر يقع في المجموعة (</a:t>
            </a:r>
            <a:r>
              <a:rPr lang="en-US" sz="1400" b="0" dirty="0">
                <a:solidFill>
                  <a:srgbClr val="FFFFFF"/>
                </a:solidFill>
                <a:latin typeface="Arial"/>
                <a:cs typeface="Arial"/>
              </a:rPr>
              <a:t xml:space="preserve">17</a:t>
            </a:r>
            <a:r>
              <a:rPr lang="ar-SA" sz="1400" b="0" dirty="0">
                <a:solidFill>
                  <a:srgbClr val="FFFFFF"/>
                </a:solidFill>
                <a:latin typeface="Arial"/>
                <a:cs typeface="Arial"/>
              </a:rPr>
              <a:t xml:space="preserve">): ← </a:t>
            </a:r>
            <a:r>
              <a:rPr lang="ar-SA" sz="1400" b="1" dirty="0">
                <a:solidFill>
                  <a:srgbClr val="FFB347"/>
                </a:solidFill>
                <a:latin typeface="Arial"/>
                <a:cs typeface="Arial"/>
              </a:rPr>
              <a:t xml:space="preserve">الإجابة: (</a:t>
            </a:r>
            <a:r>
              <a:rPr lang="en-US" sz="1400" b="1" dirty="0">
                <a:solidFill>
                  <a:srgbClr val="FFB347"/>
                </a:solidFill>
                <a:latin typeface="Arial"/>
                <a:cs typeface="Arial"/>
              </a:rPr>
              <a:t xml:space="preserve">7</a:t>
            </a:r>
            <a:r>
              <a:rPr lang="ar-SA" sz="1400" b="1" dirty="0">
                <a:solidFill>
                  <a:srgbClr val="FFB347"/>
                </a:solidFill>
                <a:latin typeface="Arial"/>
                <a:cs typeface="Arial"/>
              </a:rPr>
              <a:t xml:space="preserve">)</a:t>
            </a:r>
            <a:endParaRPr lang="ar-SA" sz="1400" dirty="0"/>
          </a:p>
          <a:p>
            <a:pPr algn="r" rtl="1">
              <a:lnSpc>
                <a:spcPct val="100000"/>
              </a:lnSpc>
              <a:spcBef>
                <a:spcPts val="200"/>
              </a:spcBef>
              <a:buNone/>
            </a:pPr>
            <a:r>
              <a:rPr lang="ar-SA" sz="1400" b="0" dirty="0">
                <a:solidFill>
                  <a:srgbClr val="FFFFFF"/>
                </a:solidFill>
                <a:latin typeface="Arial"/>
                <a:cs typeface="Arial"/>
              </a:rPr>
              <a:t xml:space="preserve">- إحدى الذرات التالية تصل للاستقرار عن طريق فقد إلكترونين: ← </a:t>
            </a:r>
            <a:r>
              <a:rPr lang="ar-SA" sz="1400" b="1" dirty="0">
                <a:solidFill>
                  <a:srgbClr val="FFB347"/>
                </a:solidFill>
                <a:latin typeface="Arial"/>
                <a:cs typeface="Arial"/>
              </a:rPr>
              <a:t xml:space="preserve">الإجابة: (</a:t>
            </a:r>
            <a:r>
              <a:rPr lang="en-US" sz="1400" b="1" dirty="0" baseline="-25000">
                <a:solidFill>
                  <a:srgbClr val="FFB347"/>
                </a:solidFill>
                <a:latin typeface="Arial"/>
                <a:cs typeface="Arial"/>
              </a:rPr>
              <a:t xml:space="preserve">12</a:t>
            </a:r>
            <a:r>
              <a:rPr lang="en-US" sz="1400" b="1" dirty="0">
                <a:solidFill>
                  <a:srgbClr val="FFB347"/>
                </a:solidFill>
                <a:latin typeface="Arial"/>
                <a:cs typeface="Arial"/>
              </a:rPr>
              <a:t xml:space="preserve">Mg</a:t>
            </a:r>
            <a:r>
              <a:rPr lang="ar-SA" sz="1400" b="1" dirty="0">
                <a:solidFill>
                  <a:srgbClr val="FFB347"/>
                </a:solidFill>
                <a:latin typeface="Arial"/>
                <a:cs typeface="Arial"/>
              </a:rPr>
              <a:t xml:space="preserve">)</a:t>
            </a:r>
            <a:endParaRPr lang="ar-SA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870791" y="5658247"/>
            <a:ext cx="1760279" cy="44866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790" b="1" dirty="0">
                <a:solidFill>
                  <a:srgbClr val="5CFF7A"/>
                </a:solidFill>
                <a:effectLst>
                  <a:glow rad="63500">
                    <a:srgbClr val="29FF5A">
                      <a:alpha val="35000"/>
                    </a:srgbClr>
                  </a:glow>
                </a:effectLst>
                <a:latin typeface="Arial"/>
                <a:cs typeface="Arial"/>
              </a:rPr>
              <a:t xml:space="preserve">إجابة صحيحة!</a:t>
            </a:r>
            <a:endParaRPr lang="ar-SA" sz="1790" dirty="0"/>
          </a:p>
        </p:txBody>
      </p:sp>
      <p:sp>
        <p:nvSpPr>
          <p:cNvPr id="7" name="Text 5"/>
          <p:cNvSpPr txBox="1"/>
          <p:nvPr/>
        </p:nvSpPr>
        <p:spPr>
          <a:xfrm>
            <a:off x="11613116" y="5658247"/>
            <a:ext cx="1760279" cy="44866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790" b="1" dirty="0">
                <a:solidFill>
                  <a:srgbClr val="5CFF7A"/>
                </a:solidFill>
                <a:effectLst>
                  <a:glow rad="63500">
                    <a:srgbClr val="29FF5A">
                      <a:alpha val="35000"/>
                    </a:srgbClr>
                  </a:glow>
                </a:effectLst>
                <a:latin typeface="Arial"/>
                <a:cs typeface="Arial"/>
              </a:rPr>
              <a:t xml:space="preserve">إجابة صحيحة!</a:t>
            </a:r>
            <a:endParaRPr lang="ar-SA" sz="179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850"/>
                            </p:stCondLst>
                            <p:childTnLst>
                              <p:par>
                                <p:cTn id="2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2244651" y="463153"/>
            <a:ext cx="11813953" cy="75565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7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لغز النقاط الثلاث (أنت الكيميائي - السؤال الثالث)</a:t>
            </a:r>
            <a:endParaRPr lang="ar-SA" sz="3700" dirty="0"/>
          </a:p>
        </p:txBody>
      </p:sp>
      <p:sp>
        <p:nvSpPr>
          <p:cNvPr id="4" name="Text 2"/>
          <p:cNvSpPr txBox="1"/>
          <p:nvPr/>
        </p:nvSpPr>
        <p:spPr>
          <a:xfrm>
            <a:off x="2811721" y="6957020"/>
            <a:ext cx="4890977" cy="9209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900" b="1" dirty="0">
                <a:solidFill>
                  <a:srgbClr val="FFFFFF"/>
                </a:solidFill>
                <a:latin typeface="Arial"/>
                <a:cs typeface="Arial"/>
              </a:rPr>
              <a:t xml:space="preserve">المعطيات:</a:t>
            </a:r>
            <a:r>
              <a:rPr lang="ar-SA" sz="1900" b="0" dirty="0">
                <a:solidFill>
                  <a:srgbClr val="FFFFFF"/>
                </a:solidFill>
                <a:latin typeface="Arial"/>
                <a:cs typeface="Arial"/>
              </a:rPr>
              <a:t xml:space="preserve"> عنصر مجهول يحتوي ترتيبه النقطي على </a:t>
            </a:r>
            <a:r>
              <a:rPr lang="en-US" sz="1900" b="0" dirty="0">
                <a:solidFill>
                  <a:srgbClr val="FFFFFF"/>
                </a:solidFill>
                <a:latin typeface="Arial"/>
                <a:cs typeface="Arial"/>
              </a:rPr>
              <a:t xml:space="preserve">3</a:t>
            </a:r>
            <a:r>
              <a:rPr lang="ar-SA" sz="1900" b="0" dirty="0">
                <a:solidFill>
                  <a:srgbClr val="FFFFFF"/>
                </a:solidFill>
                <a:latin typeface="Arial"/>
                <a:cs typeface="Arial"/>
              </a:rPr>
              <a:t xml:space="preserve"> نقاط فقط.</a:t>
            </a:r>
            <a:endParaRPr lang="ar-SA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1164186" y="2045295"/>
            <a:ext cx="4146698" cy="5195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790" b="1" dirty="0">
                <a:solidFill>
                  <a:srgbClr val="FFFFFF"/>
                </a:solidFill>
                <a:latin typeface="Arial"/>
                <a:cs typeface="Arial"/>
              </a:rPr>
              <a:t xml:space="preserve">الاستنتاج الأول (رقم المجموعة):</a:t>
            </a:r>
            <a:endParaRPr lang="ar-SA" sz="1790" dirty="0"/>
          </a:p>
        </p:txBody>
      </p:sp>
      <p:sp>
        <p:nvSpPr>
          <p:cNvPr id="6" name="Text 4"/>
          <p:cNvSpPr txBox="1"/>
          <p:nvPr/>
        </p:nvSpPr>
        <p:spPr>
          <a:xfrm>
            <a:off x="11223256" y="2824559"/>
            <a:ext cx="4040372" cy="80287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740" b="0" dirty="0">
                <a:solidFill>
                  <a:srgbClr val="FFFFFF"/>
                </a:solidFill>
                <a:latin typeface="Arial"/>
                <a:cs typeface="Arial"/>
              </a:rPr>
              <a:t xml:space="preserve">بما أن لديه </a:t>
            </a:r>
            <a:r>
              <a:rPr lang="en-US" sz="1740" b="0" dirty="0">
                <a:solidFill>
                  <a:srgbClr val="FFFFFF"/>
                </a:solidFill>
                <a:latin typeface="Arial"/>
                <a:cs typeface="Arial"/>
              </a:rPr>
              <a:t xml:space="preserve">3</a:t>
            </a:r>
            <a:r>
              <a:rPr lang="ar-SA" sz="1740" b="0" dirty="0">
                <a:solidFill>
                  <a:srgbClr val="FFFFFF"/>
                </a:solidFill>
                <a:latin typeface="Arial"/>
                <a:cs typeface="Arial"/>
              </a:rPr>
              <a:t xml:space="preserve"> إلكترونات تكافؤ، فهو يقع في المجموعة (</a:t>
            </a:r>
            <a:r>
              <a:rPr lang="en-US" sz="1740" b="0" dirty="0">
                <a:solidFill>
                  <a:srgbClr val="FFFFFF"/>
                </a:solidFill>
                <a:latin typeface="Arial"/>
                <a:cs typeface="Arial"/>
              </a:rPr>
              <a:t xml:space="preserve">13</a:t>
            </a:r>
            <a:r>
              <a:rPr lang="ar-SA" sz="1740" b="0" dirty="0">
                <a:solidFill>
                  <a:srgbClr val="FFFFFF"/>
                </a:solidFill>
                <a:latin typeface="Arial"/>
                <a:cs typeface="Arial"/>
              </a:rPr>
              <a:t xml:space="preserve">).</a:t>
            </a:r>
            <a:endParaRPr lang="ar-SA" sz="1740" dirty="0"/>
          </a:p>
        </p:txBody>
      </p:sp>
      <p:sp>
        <p:nvSpPr>
          <p:cNvPr id="7" name="Text 5"/>
          <p:cNvSpPr txBox="1"/>
          <p:nvPr/>
        </p:nvSpPr>
        <p:spPr>
          <a:xfrm>
            <a:off x="11164186" y="5115123"/>
            <a:ext cx="4146698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790" b="1" dirty="0">
                <a:solidFill>
                  <a:srgbClr val="FFFFFF"/>
                </a:solidFill>
                <a:latin typeface="Arial"/>
                <a:cs typeface="Arial"/>
              </a:rPr>
              <a:t xml:space="preserve">الاستنتاج الثاني (للوصول للاستقرار):</a:t>
            </a:r>
            <a:endParaRPr lang="ar-SA" sz="1790" dirty="0"/>
          </a:p>
        </p:txBody>
      </p:sp>
      <p:sp>
        <p:nvSpPr>
          <p:cNvPr id="8" name="Text 6"/>
          <p:cNvSpPr txBox="1"/>
          <p:nvPr/>
        </p:nvSpPr>
        <p:spPr>
          <a:xfrm>
            <a:off x="11223256" y="5776317"/>
            <a:ext cx="4040372" cy="115708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1740" b="0" dirty="0">
                <a:solidFill>
                  <a:srgbClr val="FFFFFF"/>
                </a:solidFill>
                <a:latin typeface="Arial"/>
                <a:cs typeface="Arial"/>
              </a:rPr>
              <a:t xml:space="preserve">الأسهل أن يفقد </a:t>
            </a:r>
            <a:r>
              <a:rPr lang="en-US" sz="1740" b="0" dirty="0">
                <a:solidFill>
                  <a:srgbClr val="FFFFFF"/>
                </a:solidFill>
                <a:latin typeface="Arial"/>
                <a:cs typeface="Arial"/>
              </a:rPr>
              <a:t xml:space="preserve">3</a:t>
            </a:r>
            <a:r>
              <a:rPr lang="ar-SA" sz="1740" b="0" dirty="0">
                <a:solidFill>
                  <a:srgbClr val="FFFFFF"/>
                </a:solidFill>
                <a:latin typeface="Arial"/>
                <a:cs typeface="Arial"/>
              </a:rPr>
              <a:t xml:space="preserve"> إلكترونات (ليُفرغ طابقه الأخير) بدلاً من أن يكتسب </a:t>
            </a:r>
            <a:r>
              <a:rPr lang="en-US" sz="1740" b="0" dirty="0">
                <a:solidFill>
                  <a:srgbClr val="FFFFFF"/>
                </a:solidFill>
                <a:latin typeface="Arial"/>
                <a:cs typeface="Arial"/>
              </a:rPr>
              <a:t xml:space="preserve">5</a:t>
            </a:r>
            <a:r>
              <a:rPr lang="ar-SA" sz="1740" b="0" dirty="0">
                <a:solidFill>
                  <a:srgbClr val="FFFFFF"/>
                </a:solidFill>
                <a:latin typeface="Arial"/>
                <a:cs typeface="Arial"/>
              </a:rPr>
              <a:t xml:space="preserve"> إلكترونات ليحقق قاعدة الثمانية.</a:t>
            </a:r>
            <a:endParaRPr lang="ar-SA" sz="174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85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350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850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4961860" y="439539"/>
            <a:ext cx="6379535" cy="79107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425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خريطة الاستقرار الشاملة</a:t>
            </a:r>
            <a:endParaRPr lang="ar-SA" sz="4250" dirty="0"/>
          </a:p>
        </p:txBody>
      </p:sp>
      <p:sp>
        <p:nvSpPr>
          <p:cNvPr id="4" name="Text 2"/>
          <p:cNvSpPr txBox="1"/>
          <p:nvPr/>
        </p:nvSpPr>
        <p:spPr>
          <a:xfrm>
            <a:off x="1772093" y="5634633"/>
            <a:ext cx="2197395" cy="100359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120" b="1" dirty="0">
                <a:solidFill>
                  <a:srgbClr val="1E1E1E"/>
                </a:solidFill>
                <a:latin typeface="Arial"/>
                <a:cs typeface="Arial"/>
              </a:rPr>
              <a:t xml:space="preserve">إلكترونات التكافؤ</a:t>
            </a:r>
            <a:endParaRPr lang="ar-SA" sz="212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1750" b="0" dirty="0">
                <a:solidFill>
                  <a:srgbClr val="1E1E1E"/>
                </a:solidFill>
                <a:latin typeface="Arial"/>
                <a:cs typeface="Arial"/>
              </a:rPr>
              <a:t xml:space="preserve">(تحدد سلوك الذرة)</a:t>
            </a:r>
            <a:endParaRPr lang="ar-SA" sz="1750" dirty="0"/>
          </a:p>
        </p:txBody>
      </p:sp>
      <p:sp>
        <p:nvSpPr>
          <p:cNvPr id="5" name="Text 3"/>
          <p:cNvSpPr txBox="1"/>
          <p:nvPr/>
        </p:nvSpPr>
        <p:spPr>
          <a:xfrm>
            <a:off x="4843721" y="1525786"/>
            <a:ext cx="2717209" cy="80287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12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تمثيل لويس النقطي</a:t>
            </a:r>
            <a:endParaRPr lang="ar-SA" sz="2120" dirty="0"/>
          </a:p>
          <a:p>
            <a:pPr algn="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1750" b="0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(يكشف العدد)</a:t>
            </a:r>
            <a:endParaRPr lang="ar-SA" sz="1750" dirty="0"/>
          </a:p>
        </p:txBody>
      </p:sp>
      <p:sp>
        <p:nvSpPr>
          <p:cNvPr id="6" name="Text 4"/>
          <p:cNvSpPr txBox="1"/>
          <p:nvPr/>
        </p:nvSpPr>
        <p:spPr>
          <a:xfrm>
            <a:off x="5552558" y="3556595"/>
            <a:ext cx="1866605" cy="69661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560" b="1" dirty="0">
                <a:solidFill>
                  <a:srgbClr val="1E1E1E"/>
                </a:solidFill>
                <a:latin typeface="Arial"/>
                <a:cs typeface="Arial"/>
              </a:rPr>
              <a:t xml:space="preserve">الذرات ذات</a:t>
            </a:r>
            <a:endParaRPr lang="ar-SA" sz="156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60" b="1" dirty="0">
                <a:solidFill>
                  <a:srgbClr val="1E1E1E"/>
                </a:solidFill>
                <a:latin typeface="Arial"/>
                <a:cs typeface="Arial"/>
              </a:rPr>
              <a:t xml:space="preserve">1</a:t>
            </a:r>
            <a:r>
              <a:rPr lang="ar-SA" sz="1560" b="1" dirty="0">
                <a:solidFill>
                  <a:srgbClr val="1E1E1E"/>
                </a:solidFill>
                <a:latin typeface="Arial"/>
                <a:cs typeface="Arial"/>
              </a:rPr>
              <a:t xml:space="preserve"> أو </a:t>
            </a:r>
            <a:r>
              <a:rPr lang="en-US" sz="1560" b="1" dirty="0">
                <a:solidFill>
                  <a:srgbClr val="1E1E1E"/>
                </a:solidFill>
                <a:latin typeface="Arial"/>
                <a:cs typeface="Arial"/>
              </a:rPr>
              <a:t xml:space="preserve">2</a:t>
            </a:r>
            <a:r>
              <a:rPr lang="ar-SA" sz="1560" b="1" dirty="0">
                <a:solidFill>
                  <a:srgbClr val="1E1E1E"/>
                </a:solidFill>
                <a:latin typeface="Arial"/>
                <a:cs typeface="Arial"/>
              </a:rPr>
              <a:t xml:space="preserve"> أو </a:t>
            </a:r>
            <a:r>
              <a:rPr lang="en-US" sz="1560" b="1" dirty="0">
                <a:solidFill>
                  <a:srgbClr val="1E1E1E"/>
                </a:solidFill>
                <a:latin typeface="Arial"/>
                <a:cs typeface="Arial"/>
              </a:rPr>
              <a:t xml:space="preserve">3</a:t>
            </a:r>
            <a:r>
              <a:rPr lang="ar-SA" sz="1560" b="1" dirty="0">
                <a:solidFill>
                  <a:srgbClr val="1E1E1E"/>
                </a:solidFill>
                <a:latin typeface="Arial"/>
                <a:cs typeface="Arial"/>
              </a:rPr>
              <a:t xml:space="preserve"> إلكترونات</a:t>
            </a:r>
            <a:endParaRPr lang="ar-SA" sz="1560" dirty="0"/>
          </a:p>
        </p:txBody>
      </p:sp>
      <p:sp>
        <p:nvSpPr>
          <p:cNvPr id="7" name="Text 5"/>
          <p:cNvSpPr txBox="1"/>
          <p:nvPr/>
        </p:nvSpPr>
        <p:spPr>
          <a:xfrm>
            <a:off x="7891721" y="3603823"/>
            <a:ext cx="874233" cy="40143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750" b="1" dirty="0">
                <a:solidFill>
                  <a:srgbClr val="1E1E1E"/>
                </a:solidFill>
                <a:latin typeface="Arial"/>
                <a:cs typeface="Arial"/>
              </a:rPr>
              <a:t xml:space="preserve">تفقد</a:t>
            </a:r>
            <a:endParaRPr lang="ar-SA" sz="1750" dirty="0"/>
          </a:p>
        </p:txBody>
      </p:sp>
      <p:sp>
        <p:nvSpPr>
          <p:cNvPr id="8" name="Text 6"/>
          <p:cNvSpPr txBox="1"/>
          <p:nvPr/>
        </p:nvSpPr>
        <p:spPr>
          <a:xfrm>
            <a:off x="9214884" y="3556595"/>
            <a:ext cx="1713023" cy="69661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690" b="1" dirty="0">
                <a:solidFill>
                  <a:srgbClr val="1E1E1E"/>
                </a:solidFill>
                <a:latin typeface="Arial"/>
                <a:cs typeface="Arial"/>
              </a:rPr>
              <a:t xml:space="preserve">تصبح</a:t>
            </a:r>
            <a:endParaRPr lang="ar-SA" sz="169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1690" b="1" dirty="0">
                <a:solidFill>
                  <a:srgbClr val="1E1E1E"/>
                </a:solidFill>
                <a:latin typeface="Arial"/>
                <a:cs typeface="Arial"/>
              </a:rPr>
              <a:t xml:space="preserve">كاتيوناً موجباً</a:t>
            </a:r>
            <a:endParaRPr lang="ar-SA" sz="1690" dirty="0"/>
          </a:p>
        </p:txBody>
      </p:sp>
      <p:sp>
        <p:nvSpPr>
          <p:cNvPr id="9" name="Text 7"/>
          <p:cNvSpPr txBox="1"/>
          <p:nvPr/>
        </p:nvSpPr>
        <p:spPr>
          <a:xfrm>
            <a:off x="5788837" y="5044281"/>
            <a:ext cx="1677581" cy="96817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560" b="1" dirty="0">
                <a:solidFill>
                  <a:srgbClr val="1E1E1E"/>
                </a:solidFill>
                <a:latin typeface="Arial"/>
                <a:cs typeface="Arial"/>
              </a:rPr>
              <a:t xml:space="preserve">الذرات ذات</a:t>
            </a:r>
            <a:endParaRPr lang="ar-SA" sz="156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60" b="1" dirty="0">
                <a:solidFill>
                  <a:srgbClr val="1E1E1E"/>
                </a:solidFill>
                <a:latin typeface="Arial"/>
                <a:cs typeface="Arial"/>
              </a:rPr>
              <a:t xml:space="preserve">5</a:t>
            </a:r>
            <a:r>
              <a:rPr lang="ar-SA" sz="1560" b="1" dirty="0">
                <a:solidFill>
                  <a:srgbClr val="1E1E1E"/>
                </a:solidFill>
                <a:latin typeface="Arial"/>
                <a:cs typeface="Arial"/>
              </a:rPr>
              <a:t xml:space="preserve"> أو </a:t>
            </a:r>
            <a:r>
              <a:rPr lang="en-US" sz="1560" b="1" dirty="0">
                <a:solidFill>
                  <a:srgbClr val="1E1E1E"/>
                </a:solidFill>
                <a:latin typeface="Arial"/>
                <a:cs typeface="Arial"/>
              </a:rPr>
              <a:t xml:space="preserve">6</a:t>
            </a:r>
            <a:r>
              <a:rPr lang="ar-SA" sz="1560" b="1" dirty="0">
                <a:solidFill>
                  <a:srgbClr val="1E1E1E"/>
                </a:solidFill>
                <a:latin typeface="Arial"/>
                <a:cs typeface="Arial"/>
              </a:rPr>
              <a:t xml:space="preserve"> أو </a:t>
            </a:r>
            <a:r>
              <a:rPr lang="en-US" sz="1560" b="1" dirty="0">
                <a:solidFill>
                  <a:srgbClr val="1E1E1E"/>
                </a:solidFill>
                <a:latin typeface="Arial"/>
                <a:cs typeface="Arial"/>
              </a:rPr>
              <a:t xml:space="preserve">7</a:t>
            </a:r>
            <a:endParaRPr lang="ar-SA" sz="156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1560" b="1" dirty="0">
                <a:solidFill>
                  <a:srgbClr val="1E1E1E"/>
                </a:solidFill>
                <a:latin typeface="Arial"/>
                <a:cs typeface="Arial"/>
              </a:rPr>
              <a:t xml:space="preserve">إلكترونات</a:t>
            </a:r>
            <a:endParaRPr lang="ar-SA" sz="1560" dirty="0"/>
          </a:p>
        </p:txBody>
      </p:sp>
      <p:sp>
        <p:nvSpPr>
          <p:cNvPr id="10" name="Text 8"/>
          <p:cNvSpPr txBox="1"/>
          <p:nvPr/>
        </p:nvSpPr>
        <p:spPr>
          <a:xfrm>
            <a:off x="7891721" y="5469334"/>
            <a:ext cx="945116" cy="42505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750" b="1" dirty="0">
                <a:solidFill>
                  <a:srgbClr val="1E1E1E"/>
                </a:solidFill>
                <a:latin typeface="Arial"/>
                <a:cs typeface="Arial"/>
              </a:rPr>
              <a:t xml:space="preserve">تكتسب</a:t>
            </a:r>
            <a:endParaRPr lang="ar-SA" sz="1750" dirty="0"/>
          </a:p>
        </p:txBody>
      </p:sp>
      <p:sp>
        <p:nvSpPr>
          <p:cNvPr id="11" name="Text 9"/>
          <p:cNvSpPr txBox="1"/>
          <p:nvPr/>
        </p:nvSpPr>
        <p:spPr>
          <a:xfrm>
            <a:off x="9333023" y="5245001"/>
            <a:ext cx="1441302" cy="6848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690" b="1" dirty="0">
                <a:solidFill>
                  <a:srgbClr val="1E1E1E"/>
                </a:solidFill>
                <a:latin typeface="Arial"/>
                <a:cs typeface="Arial"/>
              </a:rPr>
              <a:t xml:space="preserve">تصبح</a:t>
            </a:r>
            <a:endParaRPr lang="ar-SA" sz="169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1690" b="1" dirty="0">
                <a:solidFill>
                  <a:srgbClr val="1E1E1E"/>
                </a:solidFill>
                <a:latin typeface="Arial"/>
                <a:cs typeface="Arial"/>
              </a:rPr>
              <a:t xml:space="preserve">أنيوناً سالباً</a:t>
            </a:r>
            <a:endParaRPr lang="ar-SA" sz="1690" dirty="0"/>
          </a:p>
        </p:txBody>
      </p:sp>
      <p:sp>
        <p:nvSpPr>
          <p:cNvPr id="12" name="Text 10"/>
          <p:cNvSpPr txBox="1"/>
          <p:nvPr/>
        </p:nvSpPr>
        <p:spPr>
          <a:xfrm>
            <a:off x="11908465" y="6307634"/>
            <a:ext cx="2764465" cy="74384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250" b="1" dirty="0">
                <a:solidFill>
                  <a:srgbClr val="1E1E1E"/>
                </a:solidFill>
                <a:latin typeface="Arial"/>
                <a:cs typeface="Arial"/>
              </a:rPr>
              <a:t xml:space="preserve">الاستقرار</a:t>
            </a:r>
            <a:endParaRPr lang="ar-SA" sz="225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1750" b="0" dirty="0">
                <a:solidFill>
                  <a:srgbClr val="1E1E1E"/>
                </a:solidFill>
                <a:latin typeface="Arial"/>
                <a:cs typeface="Arial"/>
              </a:rPr>
              <a:t xml:space="preserve">(تحقيق قاعدة الثمانية)</a:t>
            </a:r>
            <a:endParaRPr lang="ar-SA" sz="17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85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35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850"/>
                            </p:stCondLst>
                            <p:childTnLst>
                              <p:par>
                                <p:cTn id="5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6474047" y="604838"/>
            <a:ext cx="6592186" cy="177105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4720" b="1" dirty="0">
                <a:solidFill>
                  <a:srgbClr val="2E3440"/>
                </a:solidFill>
                <a:effectLst>
                  <a:outerShdw blurRad="12700" dist="38100" dir="2700000" algn="tl" rotWithShape="0">
                    <a:srgbClr val="000000">
                      <a:alpha val="55000"/>
                    </a:srgbClr>
                  </a:outerShdw>
                </a:effectLst>
                <a:latin typeface="Arial"/>
                <a:cs typeface="Arial"/>
              </a:rPr>
              <a:t xml:space="preserve">التقرير النهائي:</a:t>
            </a:r>
            <a:endParaRPr lang="ar-SA" sz="4720" dirty="0"/>
          </a:p>
          <a:p>
            <a:pPr algn="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4720" b="1" dirty="0">
                <a:solidFill>
                  <a:srgbClr val="2E3440"/>
                </a:solidFill>
                <a:effectLst>
                  <a:outerShdw blurRad="12700" dist="38100" dir="2700000" algn="tl" rotWithShape="0">
                    <a:srgbClr val="000000">
                      <a:alpha val="55000"/>
                    </a:srgbClr>
                  </a:outerShdw>
                </a:effectLst>
                <a:latin typeface="Arial"/>
                <a:cs typeface="Arial"/>
              </a:rPr>
              <a:t xml:space="preserve">شهادة التدقيق المعماري</a:t>
            </a:r>
            <a:endParaRPr lang="ar-SA" sz="4720" dirty="0"/>
          </a:p>
        </p:txBody>
      </p:sp>
      <p:sp>
        <p:nvSpPr>
          <p:cNvPr id="4" name="Text 2"/>
          <p:cNvSpPr txBox="1"/>
          <p:nvPr/>
        </p:nvSpPr>
        <p:spPr>
          <a:xfrm>
            <a:off x="6757581" y="2942630"/>
            <a:ext cx="1559442" cy="77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650" b="1" dirty="0">
                <a:solidFill>
                  <a:srgbClr val="1E1E1E"/>
                </a:solidFill>
                <a:latin typeface="Arial"/>
                <a:cs typeface="Arial"/>
              </a:rPr>
              <a:t xml:space="preserve">العنصر</a:t>
            </a:r>
            <a:endParaRPr lang="ar-SA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8411535" y="2942630"/>
            <a:ext cx="1063256" cy="77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650" b="1" dirty="0">
                <a:solidFill>
                  <a:srgbClr val="1E1E1E"/>
                </a:solidFill>
                <a:latin typeface="Arial"/>
                <a:cs typeface="Arial"/>
              </a:rPr>
              <a:t xml:space="preserve">الترتيب الإلكتروني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9569302" y="2942630"/>
            <a:ext cx="1051442" cy="77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650" b="1" dirty="0">
                <a:solidFill>
                  <a:srgbClr val="1E1E1E"/>
                </a:solidFill>
                <a:latin typeface="Arial"/>
                <a:cs typeface="Arial"/>
              </a:rPr>
              <a:t xml:space="preserve">إلكترونات التكافؤ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10715256" y="2942630"/>
            <a:ext cx="1086884" cy="77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650" b="1" dirty="0">
                <a:solidFill>
                  <a:srgbClr val="1E1E1E"/>
                </a:solidFill>
                <a:latin typeface="Arial"/>
                <a:cs typeface="Arial"/>
              </a:rPr>
              <a:t xml:space="preserve">التكافؤ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1908465" y="2942630"/>
            <a:ext cx="1063256" cy="77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650" b="1" dirty="0">
                <a:solidFill>
                  <a:srgbClr val="1E1E1E"/>
                </a:solidFill>
                <a:latin typeface="Arial"/>
                <a:cs typeface="Arial"/>
              </a:rPr>
              <a:t xml:space="preserve">الترتيب النقطي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757581" y="3887192"/>
            <a:ext cx="1559442" cy="64938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770" b="0" dirty="0">
                <a:solidFill>
                  <a:srgbClr val="1E1E1E"/>
                </a:solidFill>
                <a:latin typeface="Arial"/>
                <a:cs typeface="Arial"/>
              </a:rPr>
              <a:t xml:space="preserve">النيتروجين (</a:t>
            </a:r>
            <a:r>
              <a:rPr lang="en-US" sz="1770" b="0" dirty="0" baseline="-25000">
                <a:solidFill>
                  <a:srgbClr val="1E1E1E"/>
                </a:solidFill>
                <a:latin typeface="Arial"/>
                <a:cs typeface="Arial"/>
              </a:rPr>
              <a:t xml:space="preserve">7</a:t>
            </a:r>
            <a:r>
              <a:rPr lang="en-US" sz="1770" b="0" dirty="0">
                <a:solidFill>
                  <a:srgbClr val="1E1E1E"/>
                </a:solidFill>
                <a:latin typeface="Arial"/>
                <a:cs typeface="Arial"/>
              </a:rPr>
              <a:t xml:space="preserve">N</a:t>
            </a:r>
            <a:r>
              <a:rPr lang="ar-SA" sz="1770" b="0" dirty="0">
                <a:solidFill>
                  <a:srgbClr val="1E1E1E"/>
                </a:solidFill>
                <a:latin typeface="Arial"/>
                <a:cs typeface="Arial"/>
              </a:rPr>
              <a:t xml:space="preserve">)</a:t>
            </a:r>
            <a:endParaRPr lang="ar-SA" sz="1770" dirty="0"/>
          </a:p>
        </p:txBody>
      </p:sp>
      <p:sp>
        <p:nvSpPr>
          <p:cNvPr id="10" name="Text 8"/>
          <p:cNvSpPr txBox="1"/>
          <p:nvPr/>
        </p:nvSpPr>
        <p:spPr>
          <a:xfrm>
            <a:off x="8411535" y="3887192"/>
            <a:ext cx="1063256" cy="64938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1770" b="0" dirty="0">
                <a:solidFill>
                  <a:srgbClr val="1E1E1E"/>
                </a:solidFill>
                <a:latin typeface="Arial"/>
                <a:cs typeface="Arial"/>
              </a:rPr>
              <a:t xml:space="preserve">2,5</a:t>
            </a:r>
            <a:endParaRPr lang="ar-SA" sz="1770" dirty="0"/>
          </a:p>
        </p:txBody>
      </p:sp>
      <p:sp>
        <p:nvSpPr>
          <p:cNvPr id="11" name="Text 9"/>
          <p:cNvSpPr txBox="1"/>
          <p:nvPr/>
        </p:nvSpPr>
        <p:spPr>
          <a:xfrm>
            <a:off x="9569302" y="3887192"/>
            <a:ext cx="1051442" cy="64938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1770" b="0" dirty="0">
                <a:solidFill>
                  <a:srgbClr val="1E1E1E"/>
                </a:solidFill>
                <a:latin typeface="Arial"/>
                <a:cs typeface="Arial"/>
              </a:rPr>
              <a:t xml:space="preserve">5</a:t>
            </a:r>
            <a:endParaRPr lang="ar-SA" sz="1770" dirty="0"/>
          </a:p>
        </p:txBody>
      </p:sp>
      <p:sp>
        <p:nvSpPr>
          <p:cNvPr id="12" name="Text 10"/>
          <p:cNvSpPr txBox="1"/>
          <p:nvPr/>
        </p:nvSpPr>
        <p:spPr>
          <a:xfrm>
            <a:off x="10715256" y="3887192"/>
            <a:ext cx="1086884" cy="64938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770" b="0" dirty="0">
                <a:solidFill>
                  <a:srgbClr val="1E1E1E"/>
                </a:solidFill>
                <a:latin typeface="Arial"/>
                <a:cs typeface="Arial"/>
              </a:rPr>
              <a:t xml:space="preserve">يكتسب </a:t>
            </a:r>
            <a:r>
              <a:rPr lang="en-US" sz="1770" b="0" dirty="0">
                <a:solidFill>
                  <a:srgbClr val="1E1E1E"/>
                </a:solidFill>
                <a:latin typeface="Arial"/>
                <a:cs typeface="Arial"/>
              </a:rPr>
              <a:t xml:space="preserve">3</a:t>
            </a:r>
            <a:endParaRPr lang="ar-SA" sz="1770" dirty="0"/>
          </a:p>
        </p:txBody>
      </p:sp>
      <p:sp>
        <p:nvSpPr>
          <p:cNvPr id="13" name="Text 11"/>
          <p:cNvSpPr txBox="1"/>
          <p:nvPr/>
        </p:nvSpPr>
        <p:spPr>
          <a:xfrm>
            <a:off x="6757581" y="4666456"/>
            <a:ext cx="1559442" cy="64938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770" b="0" dirty="0">
                <a:solidFill>
                  <a:srgbClr val="1E1E1E"/>
                </a:solidFill>
                <a:latin typeface="Arial"/>
                <a:cs typeface="Arial"/>
              </a:rPr>
              <a:t xml:space="preserve">الكبريت (</a:t>
            </a:r>
            <a:r>
              <a:rPr lang="en-US" sz="1770" b="0" dirty="0" baseline="-25000">
                <a:solidFill>
                  <a:srgbClr val="1E1E1E"/>
                </a:solidFill>
                <a:latin typeface="Arial"/>
                <a:cs typeface="Arial"/>
              </a:rPr>
              <a:t xml:space="preserve">16</a:t>
            </a:r>
            <a:r>
              <a:rPr lang="en-US" sz="1770" b="0" dirty="0">
                <a:solidFill>
                  <a:srgbClr val="1E1E1E"/>
                </a:solidFill>
                <a:latin typeface="Arial"/>
                <a:cs typeface="Arial"/>
              </a:rPr>
              <a:t xml:space="preserve">S</a:t>
            </a:r>
            <a:r>
              <a:rPr lang="ar-SA" sz="1770" b="0" dirty="0">
                <a:solidFill>
                  <a:srgbClr val="1E1E1E"/>
                </a:solidFill>
                <a:latin typeface="Arial"/>
                <a:cs typeface="Arial"/>
              </a:rPr>
              <a:t xml:space="preserve">)</a:t>
            </a:r>
            <a:endParaRPr lang="ar-SA" sz="1770" dirty="0"/>
          </a:p>
        </p:txBody>
      </p:sp>
      <p:sp>
        <p:nvSpPr>
          <p:cNvPr id="14" name="Text 12"/>
          <p:cNvSpPr txBox="1"/>
          <p:nvPr/>
        </p:nvSpPr>
        <p:spPr>
          <a:xfrm>
            <a:off x="8411535" y="4666456"/>
            <a:ext cx="1063256" cy="64938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1770" b="0" dirty="0">
                <a:solidFill>
                  <a:srgbClr val="1E1E1E"/>
                </a:solidFill>
                <a:latin typeface="Arial"/>
                <a:cs typeface="Arial"/>
              </a:rPr>
              <a:t xml:space="preserve">2,8,6</a:t>
            </a:r>
            <a:endParaRPr lang="ar-SA" sz="1770" dirty="0"/>
          </a:p>
        </p:txBody>
      </p:sp>
      <p:sp>
        <p:nvSpPr>
          <p:cNvPr id="15" name="Text 13"/>
          <p:cNvSpPr txBox="1"/>
          <p:nvPr/>
        </p:nvSpPr>
        <p:spPr>
          <a:xfrm>
            <a:off x="9569302" y="4666456"/>
            <a:ext cx="1051442" cy="64938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1770" b="0" dirty="0">
                <a:solidFill>
                  <a:srgbClr val="1E1E1E"/>
                </a:solidFill>
                <a:latin typeface="Arial"/>
                <a:cs typeface="Arial"/>
              </a:rPr>
              <a:t xml:space="preserve">6</a:t>
            </a:r>
            <a:endParaRPr lang="ar-SA" sz="1770" dirty="0"/>
          </a:p>
        </p:txBody>
      </p:sp>
      <p:sp>
        <p:nvSpPr>
          <p:cNvPr id="16" name="Text 14"/>
          <p:cNvSpPr txBox="1"/>
          <p:nvPr/>
        </p:nvSpPr>
        <p:spPr>
          <a:xfrm>
            <a:off x="10715256" y="4666456"/>
            <a:ext cx="1086884" cy="64938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770" b="0" dirty="0">
                <a:solidFill>
                  <a:srgbClr val="1E1E1E"/>
                </a:solidFill>
                <a:latin typeface="Arial"/>
                <a:cs typeface="Arial"/>
              </a:rPr>
              <a:t xml:space="preserve">يكتسب </a:t>
            </a:r>
            <a:r>
              <a:rPr lang="en-US" sz="1770" b="0" dirty="0">
                <a:solidFill>
                  <a:srgbClr val="1E1E1E"/>
                </a:solidFill>
                <a:latin typeface="Arial"/>
                <a:cs typeface="Arial"/>
              </a:rPr>
              <a:t xml:space="preserve">2</a:t>
            </a:r>
            <a:endParaRPr lang="ar-SA" sz="1770" dirty="0"/>
          </a:p>
        </p:txBody>
      </p:sp>
      <p:sp>
        <p:nvSpPr>
          <p:cNvPr id="17" name="Text 15"/>
          <p:cNvSpPr txBox="1"/>
          <p:nvPr/>
        </p:nvSpPr>
        <p:spPr>
          <a:xfrm>
            <a:off x="6757581" y="5469334"/>
            <a:ext cx="1559442" cy="61396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770" b="0" dirty="0">
                <a:solidFill>
                  <a:srgbClr val="1E1E1E"/>
                </a:solidFill>
                <a:latin typeface="Arial"/>
                <a:cs typeface="Arial"/>
              </a:rPr>
              <a:t xml:space="preserve">الكالسيوم (</a:t>
            </a:r>
            <a:r>
              <a:rPr lang="en-US" sz="1770" b="0" dirty="0" baseline="-25000">
                <a:solidFill>
                  <a:srgbClr val="1E1E1E"/>
                </a:solidFill>
                <a:latin typeface="Arial"/>
                <a:cs typeface="Arial"/>
              </a:rPr>
              <a:t xml:space="preserve">20</a:t>
            </a:r>
            <a:r>
              <a:rPr lang="en-US" sz="1770" b="0" dirty="0">
                <a:solidFill>
                  <a:srgbClr val="1E1E1E"/>
                </a:solidFill>
                <a:latin typeface="Arial"/>
                <a:cs typeface="Arial"/>
              </a:rPr>
              <a:t xml:space="preserve">Ca</a:t>
            </a:r>
            <a:r>
              <a:rPr lang="ar-SA" sz="1770" b="0" dirty="0">
                <a:solidFill>
                  <a:srgbClr val="1E1E1E"/>
                </a:solidFill>
                <a:latin typeface="Arial"/>
                <a:cs typeface="Arial"/>
              </a:rPr>
              <a:t xml:space="preserve">)</a:t>
            </a:r>
            <a:endParaRPr lang="ar-SA" sz="1770" dirty="0"/>
          </a:p>
        </p:txBody>
      </p:sp>
      <p:sp>
        <p:nvSpPr>
          <p:cNvPr id="18" name="Text 16"/>
          <p:cNvSpPr txBox="1"/>
          <p:nvPr/>
        </p:nvSpPr>
        <p:spPr>
          <a:xfrm>
            <a:off x="8411535" y="5469334"/>
            <a:ext cx="1063256" cy="61396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1770" b="0" dirty="0">
                <a:solidFill>
                  <a:srgbClr val="1E1E1E"/>
                </a:solidFill>
                <a:latin typeface="Arial"/>
                <a:cs typeface="Arial"/>
              </a:rPr>
              <a:t xml:space="preserve">2,8,8,2</a:t>
            </a:r>
            <a:endParaRPr lang="ar-SA" sz="1770" dirty="0"/>
          </a:p>
        </p:txBody>
      </p:sp>
      <p:sp>
        <p:nvSpPr>
          <p:cNvPr id="19" name="Text 17"/>
          <p:cNvSpPr txBox="1"/>
          <p:nvPr/>
        </p:nvSpPr>
        <p:spPr>
          <a:xfrm>
            <a:off x="9569302" y="5469334"/>
            <a:ext cx="1051442" cy="61396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1770" b="0" dirty="0">
                <a:solidFill>
                  <a:srgbClr val="1E1E1E"/>
                </a:solidFill>
                <a:latin typeface="Arial"/>
                <a:cs typeface="Arial"/>
              </a:rPr>
              <a:t xml:space="preserve">2</a:t>
            </a:r>
            <a:endParaRPr lang="ar-SA" sz="1770" dirty="0"/>
          </a:p>
        </p:txBody>
      </p:sp>
      <p:sp>
        <p:nvSpPr>
          <p:cNvPr id="20" name="Text 18"/>
          <p:cNvSpPr txBox="1"/>
          <p:nvPr/>
        </p:nvSpPr>
        <p:spPr>
          <a:xfrm>
            <a:off x="10715256" y="5469334"/>
            <a:ext cx="1086884" cy="61396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770" b="0" dirty="0">
                <a:solidFill>
                  <a:srgbClr val="1E1E1E"/>
                </a:solidFill>
                <a:latin typeface="Arial"/>
                <a:cs typeface="Arial"/>
              </a:rPr>
              <a:t xml:space="preserve">يفقد </a:t>
            </a:r>
            <a:r>
              <a:rPr lang="en-US" sz="1770" b="0" dirty="0">
                <a:solidFill>
                  <a:srgbClr val="1E1E1E"/>
                </a:solidFill>
                <a:latin typeface="Arial"/>
                <a:cs typeface="Arial"/>
              </a:rPr>
              <a:t xml:space="preserve">2</a:t>
            </a:r>
            <a:endParaRPr lang="ar-SA" sz="177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35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80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2250"/>
                            </p:stCondLst>
                            <p:childTnLst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3095256" y="1053505"/>
            <a:ext cx="10065488" cy="247947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6960" b="1" dirty="0">
                <a:ln w="28575">
                  <a:solidFill>
                    <a:srgbClr val="B9741C"/>
                  </a:solidFill>
                </a:ln>
                <a:solidFill>
                  <a:srgbClr val="FFFFFF"/>
                </a:solidFill>
                <a:effectLst>
                  <a:glow rad="88900">
                    <a:srgbClr val="FFD27A">
                      <a:alpha val="40000"/>
                    </a:srgbClr>
                  </a:glow>
                  <a:outerShdw blurRad="12700" dist="63500" dir="2700000" algn="tl" rotWithShape="0">
                    <a:srgbClr val="7A4A12">
                      <a:alpha val="95000"/>
                    </a:srgbClr>
                  </a:outerShdw>
                </a:effectLst>
                <a:latin typeface="Arial"/>
                <a:cs typeface="Arial"/>
              </a:rPr>
              <a:t xml:space="preserve">تم تأمين</a:t>
            </a:r>
            <a:endParaRPr lang="ar-SA" sz="696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6960" b="1" dirty="0">
                <a:ln w="28575">
                  <a:solidFill>
                    <a:srgbClr val="B9741C"/>
                  </a:solidFill>
                </a:ln>
                <a:solidFill>
                  <a:srgbClr val="FFFFFF"/>
                </a:solidFill>
                <a:effectLst>
                  <a:glow rad="88900">
                    <a:srgbClr val="FFD27A">
                      <a:alpha val="40000"/>
                    </a:srgbClr>
                  </a:glow>
                  <a:outerShdw blurRad="12700" dist="63500" dir="2700000" algn="tl" rotWithShape="0">
                    <a:srgbClr val="7A4A12">
                      <a:alpha val="95000"/>
                    </a:srgbClr>
                  </a:outerShdw>
                </a:effectLst>
                <a:latin typeface="Arial"/>
                <a:cs typeface="Arial"/>
              </a:rPr>
              <a:t xml:space="preserve">الاستقرار الكيميائي بنجاح!</a:t>
            </a:r>
            <a:endParaRPr lang="ar-SA" sz="6960" dirty="0"/>
          </a:p>
        </p:txBody>
      </p:sp>
      <p:sp>
        <p:nvSpPr>
          <p:cNvPr id="4" name="Text 2"/>
          <p:cNvSpPr txBox="1"/>
          <p:nvPr/>
        </p:nvSpPr>
        <p:spPr>
          <a:xfrm>
            <a:off x="4489302" y="3934420"/>
            <a:ext cx="7560930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16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لقد أتقنتم إدارة «عمال الطابق الأخير»، وفككتم شفرة الاستقرار.</a:t>
            </a:r>
            <a:endParaRPr lang="ar-SA" sz="216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216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 xml:space="preserve">أنتم الآن مهندسو كيمياء معتمدون.</a:t>
            </a:r>
            <a:endParaRPr lang="ar-SA" sz="216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انوار صالح عبدالله خزار</cp:lastModifiedBy>
  <cp:revision>2</cp:revision>
  <dcterms:created xsi:type="dcterms:W3CDTF">2006-08-16T00:00:00Z</dcterms:created>
  <dcterms:modified xsi:type="dcterms:W3CDTF">2026-10-27T12:18:41Z</dcterms:modified>
</cp:coreProperties>
</file>