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297855"/>
            <a:ext cx="10065488" cy="19835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>الترتيب الإلكتروني وإلكترونات</a:t>
            </a:r>
            <a:endParaRPr lang="ar-SA" sz="6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>التكافؤ وقاعدة الثمانية</a:t>
            </a:r>
            <a:endParaRPr lang="ar-S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717209" y="2399506"/>
            <a:ext cx="10821581" cy="8028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00" b="1" dirty="0">
                <a:solidFill>
                  <a:srgbClr val="1B2A4A"/>
                </a:solidFill>
                <a:latin typeface="Arial"/>
                <a:cs typeface="Arial"/>
              </a:rPr>
              <a:t>رحلة استكشافية في مدينة الاستقرار الكيميائي</a:t>
            </a:r>
            <a:endParaRPr lang="ar-SA" sz="4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824904" y="3228404"/>
            <a:ext cx="4113808" cy="37546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سؤال المفتش: أي البناءين يبدو أكثر استقراراً؟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الإجابة: البناء المكتمل على اليمين.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السبب: لأنه متوازن ومكتمل البناء، تماماً مثل ذرات الغازات النبيلة.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الحل للوصول للاستقرار: يحتاج المبنى غير المكتمل إلى إكمال بناء طابقه الأخير ليصبح أكثر استقراراً.</a:t>
            </a:r>
            <a:endParaRPr lang="ar-SA" sz="2400" dirty="0"/>
          </a:p>
        </p:txBody>
      </p:sp>
      <p:sp>
        <p:nvSpPr>
          <p:cNvPr id="4" name="Text 2"/>
          <p:cNvSpPr txBox="1"/>
          <p:nvPr/>
        </p:nvSpPr>
        <p:spPr>
          <a:xfrm rot="21420000">
            <a:off x="2941561" y="7545738"/>
            <a:ext cx="2599070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>عناصر أخرى</a:t>
            </a:r>
            <a:endParaRPr lang="ar-SA" sz="25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>(غير مستقرة)</a:t>
            </a:r>
            <a:endParaRPr lang="ar-SA" sz="2500" dirty="0"/>
          </a:p>
        </p:txBody>
      </p:sp>
      <p:sp>
        <p:nvSpPr>
          <p:cNvPr id="5" name="Text 3"/>
          <p:cNvSpPr txBox="1"/>
          <p:nvPr/>
        </p:nvSpPr>
        <p:spPr>
          <a:xfrm rot="360000">
            <a:off x="9921337" y="7147865"/>
            <a:ext cx="3024372" cy="12279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>عناصر المجموعة </a:t>
            </a:r>
            <a:r>
              <a:rPr lang="en-US" sz="2400" b="1" dirty="0">
                <a:solidFill>
                  <a:srgbClr val="1B2A4A"/>
                </a:solidFill>
                <a:latin typeface="Arial"/>
                <a:cs typeface="Arial"/>
              </a:rPr>
              <a:t>18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>(الغازات النبيلة)</a:t>
            </a:r>
            <a:endParaRPr lang="ar-SA" sz="24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4061CDA7-4D4F-01B9-6372-476C711E6509}"/>
              </a:ext>
            </a:extLst>
          </p:cNvPr>
          <p:cNvSpPr txBox="1"/>
          <p:nvPr/>
        </p:nvSpPr>
        <p:spPr>
          <a:xfrm>
            <a:off x="6276386" y="2505393"/>
            <a:ext cx="3662326" cy="14460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سؤال المفتش: أي البناءين يبدو أكثر استقراراً؟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4" grpId="0" animBg="1"/>
      <p:bldP spid="5" grpId="0" animBg="1"/>
      <p:bldP spid="7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394047" y="1077119"/>
            <a:ext cx="3993116" cy="16057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مستوى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Shell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مستوى الطاقة الخارجي للذرة الذي تُفقد منه الإلكترونات أو تنتقل إليه (الطابق الأخير للمبنى).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441302" y="3509367"/>
            <a:ext cx="3898605" cy="120431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إلكترونات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Electrons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الإلكترونات الموجودة في أعلى مستوى طاقة (الدرونز العاملة في الطابق الأخير).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52279" y="5847159"/>
            <a:ext cx="3993116" cy="17238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Valency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عدد الإلكترونات التي تفقدها الذرة أو تكتسبها أو تشارك بها للوصول إلى حالة الاستقرار (عدد الدرونز المطلوبة لإكمال الطابق الأخير أو إخلائه).</a:t>
            </a:r>
            <a:endParaRPr lang="ar-SA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0691628" y="1809155"/>
            <a:ext cx="4879163" cy="14168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>المهندس «لويس»</a:t>
            </a:r>
            <a:endParaRPr lang="ar-SA" sz="42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>ومخططاته العبقرية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0514419" y="3320455"/>
            <a:ext cx="5056372" cy="39199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في عام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1916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، ابتكر العالم جيلبرت لويس طريقة ذكية لمراقبة عمال الطابق الأخير فقط.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الترتيب الإلكتروني النقطي (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Electron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Dot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Structure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): الأشكال التي توضح إلكترونات التكافؤ في صورة نقاط حول رمز ذرة العنصر.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ملاحظة لويس: (النقاط هي كاميرات المراقبة الخاصة بنا؛ نقطة واحدة لكل إلكترون تكافؤ!)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5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804093" y="1384102"/>
            <a:ext cx="860055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مكتب التدقيق المعماري: حل تمرين (</a:t>
            </a:r>
            <a:r>
              <a:rPr lang="en-US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1</a:t>
            </a: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998791" y="2446734"/>
            <a:ext cx="151218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رقم المجموعة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046047" y="3084314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046047" y="3627438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046047" y="414694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13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046047" y="4678263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15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046047" y="522138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16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1046047" y="5740896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17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50326" y="2446734"/>
            <a:ext cx="157125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العنصر</a:t>
            </a:r>
            <a:endParaRPr lang="ar-SA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297581" y="3084314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Li</a:t>
            </a:r>
            <a:endParaRPr lang="ar-SA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297581" y="3627438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297581" y="414694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9297581" y="4678263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lang="ar-SA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297581" y="522138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8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endParaRPr lang="ar-SA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297581" y="5740896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endParaRPr lang="ar-SA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241953" y="2446734"/>
            <a:ext cx="1878419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الترتيب الإلكتروني</a:t>
            </a:r>
            <a:endParaRPr lang="ar-SA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289209" y="3084314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2,1</a:t>
            </a:r>
            <a:endParaRPr lang="ar-SA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289209" y="3627438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2,2</a:t>
            </a:r>
            <a:endParaRPr lang="ar-SA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289209" y="414694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2,3</a:t>
            </a:r>
            <a:endParaRPr lang="ar-SA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289209" y="4678263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2,5</a:t>
            </a:r>
            <a:endParaRPr lang="ar-SA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289209" y="522138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2,6</a:t>
            </a:r>
            <a:endParaRPr lang="ar-SA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289209" y="5740896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2,7</a:t>
            </a:r>
            <a:endParaRPr lang="ar-SA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245395" y="2446734"/>
            <a:ext cx="1890233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إلكترونات التكافؤ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92651" y="3084314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292651" y="3627438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5292651" y="414694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292651" y="4678263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ar-SA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292651" y="522138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ar-SA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292651" y="5740896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3827721" y="2446734"/>
            <a:ext cx="1240465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التكافؤ</a:t>
            </a:r>
            <a:endParaRPr lang="ar-SA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3874977" y="3084314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3874977" y="3627438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3874977" y="414694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3874977" y="4678263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874977" y="522138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3874977" y="5740896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2399653" y="6224986"/>
            <a:ext cx="10111324" cy="1248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>تنبيه رقابي هام:</a:t>
            </a:r>
            <a:endParaRPr lang="ar-SA" sz="24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2400" b="1" dirty="0">
                <a:latin typeface="Arial"/>
                <a:cs typeface="Arial"/>
              </a:rPr>
              <a:t>- تكافؤ المجموعة (</a:t>
            </a:r>
            <a:r>
              <a:rPr lang="en-US" sz="2400" b="1" dirty="0">
                <a:latin typeface="Arial"/>
                <a:cs typeface="Arial"/>
              </a:rPr>
              <a:t>14</a:t>
            </a:r>
            <a:r>
              <a:rPr lang="ar-SA" sz="2400" b="1" dirty="0">
                <a:latin typeface="Arial"/>
                <a:cs typeface="Arial"/>
              </a:rPr>
              <a:t>) متغير وليس ثابتاً.</a:t>
            </a:r>
            <a:endParaRPr lang="ar-SA" sz="24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2400" b="1" dirty="0">
                <a:latin typeface="Arial"/>
                <a:cs typeface="Arial"/>
              </a:rPr>
              <a:t>- المجموعة (</a:t>
            </a:r>
            <a:r>
              <a:rPr lang="en-US" sz="2400" b="1" dirty="0">
                <a:latin typeface="Arial"/>
                <a:cs typeface="Arial"/>
              </a:rPr>
              <a:t>18</a:t>
            </a:r>
            <a:r>
              <a:rPr lang="ar-SA" sz="2400" b="1" dirty="0">
                <a:latin typeface="Arial"/>
                <a:cs typeface="Arial"/>
              </a:rPr>
              <a:t>) تكافؤها صفر؛ لأن مبانيها مستقرة ولا تميل لفقد الإلكترونات أو اكتسابها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316279" y="935434"/>
            <a:ext cx="5635256" cy="11807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تطبيق المخططات النقطية:</a:t>
            </a:r>
            <a:endParaRPr lang="ar-SA" sz="33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حل تمرين (</a:t>
            </a:r>
            <a:r>
              <a:rPr lang="en-US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</a:t>
            </a: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559442" y="5634633"/>
            <a:ext cx="290623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الهيدروجين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H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) 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dirty="0"/>
          </a:p>
        </p:txBody>
      </p:sp>
      <p:sp>
        <p:nvSpPr>
          <p:cNvPr id="5" name="Text 3"/>
          <p:cNvSpPr txBox="1"/>
          <p:nvPr/>
        </p:nvSpPr>
        <p:spPr>
          <a:xfrm>
            <a:off x="5150884" y="5481141"/>
            <a:ext cx="2575442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الكربون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) 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2,4</a:t>
            </a:r>
            <a:endParaRPr lang="ar-SA" dirty="0"/>
          </a:p>
        </p:txBody>
      </p:sp>
      <p:sp>
        <p:nvSpPr>
          <p:cNvPr id="6" name="Text 4"/>
          <p:cNvSpPr txBox="1"/>
          <p:nvPr/>
        </p:nvSpPr>
        <p:spPr>
          <a:xfrm>
            <a:off x="8529674" y="5481141"/>
            <a:ext cx="2740837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النيتروجين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) 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2,5</a:t>
            </a:r>
            <a:endParaRPr lang="ar-SA" dirty="0"/>
          </a:p>
        </p:txBody>
      </p:sp>
      <p:sp>
        <p:nvSpPr>
          <p:cNvPr id="7" name="Text 5"/>
          <p:cNvSpPr txBox="1"/>
          <p:nvPr/>
        </p:nvSpPr>
        <p:spPr>
          <a:xfrm>
            <a:off x="11735913" y="5622825"/>
            <a:ext cx="337879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البوتاسيوم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>19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>) 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2,8,8,1</a:t>
            </a:r>
            <a:endParaRPr lang="ar-SA" dirty="0"/>
          </a:p>
        </p:txBody>
      </p:sp>
      <p:sp>
        <p:nvSpPr>
          <p:cNvPr id="8" name="Text 6"/>
          <p:cNvSpPr txBox="1"/>
          <p:nvPr/>
        </p:nvSpPr>
        <p:spPr>
          <a:xfrm>
            <a:off x="4465675" y="6295825"/>
            <a:ext cx="3449674" cy="1133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مثال توجيهي (البريليوم 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Be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</a:t>
            </a:r>
            <a:endParaRPr lang="ar-SA" sz="24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الترتيب: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2,2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182878" y="5790971"/>
            <a:ext cx="8080744" cy="28809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دستور المدينة: قاعدة الثمانية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الغازات النبيلة مستقرة لأن ترتيبها الإلكتروني ينتهي بثمانية إلكترونات.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نص القاعدة: ميل ذرة العنصر إلى فقد إلكترونات مستوى التكافؤ أو اكتسابها أو المشاركة بها للوصول إلى ثمانية إلكترونات، لتحقيق حالة الاستقرار المشابهة للغاز النبيل.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الهدف النهائي لكل مبنى هو تفعيل درع الثمانية!</a:t>
            </a:r>
            <a:endParaRPr lang="ar-SA" sz="2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439539"/>
            <a:ext cx="10065488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بوابات الاستيراد والتصدير (الكاتيونات والأنيونات)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905000" y="6793317"/>
            <a:ext cx="4289204" cy="72884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الأنيون (أيون سالب): ذرة تكتسب إلكتروناً أو أكثر.</a:t>
            </a:r>
            <a:endParaRPr lang="ar-SA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32717" y="7396345"/>
            <a:ext cx="363869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ذرة الكلور (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Cl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2,8,7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553308" y="7796346"/>
            <a:ext cx="4120600" cy="50530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أنيون الكلوريد (</a:t>
            </a:r>
            <a:r>
              <a:rPr lang="ar-SA" sz="2400" b="1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−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‎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Cl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2,8,8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 (مستقر)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468372" y="6724070"/>
            <a:ext cx="4667533" cy="8673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الكاتيون (أيون موجب): ذرة تفقد إلكتروناً أو أكثر.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41860" y="7452916"/>
            <a:ext cx="352055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ذرة الصوديوم (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Na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2,8,1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224598" y="7641485"/>
            <a:ext cx="4403764" cy="8150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كاتيون الصوديوم (</a:t>
            </a:r>
            <a:r>
              <a:rPr lang="ar-SA" sz="2000" b="1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+</a:t>
            </a:r>
            <a:r>
              <a:rPr lang="en-US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Na</a:t>
            </a: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‎): </a:t>
            </a:r>
            <a:r>
              <a:rPr lang="en-US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</a:t>
            </a: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 (مستقر)</a:t>
            </a:r>
            <a:endParaRPr lang="ar-S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DA1F13-DCBE-8B8B-7519-2632FD86E49A}"/>
              </a:ext>
            </a:extLst>
          </p:cNvPr>
          <p:cNvSpPr txBox="1"/>
          <p:nvPr/>
        </p:nvSpPr>
        <p:spPr>
          <a:xfrm>
            <a:off x="4020649" y="4055418"/>
            <a:ext cx="8217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2400" b="1" kern="1200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−</a:t>
            </a:r>
            <a:r>
              <a:rPr lang="ar-SA" sz="2400" b="1" kern="12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‎</a:t>
            </a:r>
            <a:endParaRPr lang="en-US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 rot="21300000">
            <a:off x="6970233" y="1171575"/>
            <a:ext cx="7820837" cy="16529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جولة التفتيش الرقابية: حل تمرين (</a:t>
            </a:r>
            <a:r>
              <a:rPr lang="en-US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3</a:t>
            </a: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 rot="21300000">
            <a:off x="12829953" y="2635647"/>
            <a:ext cx="2221023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800" b="1" dirty="0">
                <a:solidFill>
                  <a:srgbClr val="FFFFFF"/>
                </a:solidFill>
                <a:latin typeface="Arial"/>
                <a:cs typeface="Arial"/>
              </a:rPr>
              <a:t>العنصر</a:t>
            </a:r>
            <a:endParaRPr lang="ar-SA" sz="2800" dirty="0"/>
          </a:p>
        </p:txBody>
      </p:sp>
      <p:sp>
        <p:nvSpPr>
          <p:cNvPr id="5" name="Text 3"/>
          <p:cNvSpPr txBox="1"/>
          <p:nvPr/>
        </p:nvSpPr>
        <p:spPr>
          <a:xfrm rot="21300000">
            <a:off x="10845209" y="2682875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الترتيب الإلكتروني النقطي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 rot="21300000">
            <a:off x="9073116" y="2800945"/>
            <a:ext cx="180753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للوصول للاستقرار (يفقد/يكتسب)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 rot="21300000">
            <a:off x="7301023" y="2966244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قاعدة الثمانية (يحقق/لا يحقق)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 rot="21300000">
            <a:off x="12759070" y="3674666"/>
            <a:ext cx="2386419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المغنيسيوم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Mg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9" name="Lewis Mg"/>
          <p:cNvGrpSpPr/>
          <p:nvPr/>
        </p:nvGrpSpPr>
        <p:grpSpPr>
          <a:xfrm rot="21300000">
            <a:off x="10963349" y="3887192"/>
            <a:ext cx="1535814" cy="519509"/>
            <a:chOff x="10963349" y="3887192"/>
            <a:chExt cx="1535814" cy="519509"/>
          </a:xfrm>
        </p:grpSpPr>
        <p:sp>
          <p:nvSpPr>
            <p:cNvPr id="10" name="Text 8"/>
            <p:cNvSpPr txBox="1"/>
            <p:nvPr/>
          </p:nvSpPr>
          <p:spPr>
            <a:xfrm>
              <a:off x="11424093" y="3934420"/>
              <a:ext cx="614326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Mg</a:t>
              </a:r>
              <a:endParaRPr lang="ar-SA" sz="2600" dirty="0"/>
            </a:p>
          </p:txBody>
        </p:sp>
        <p:sp>
          <p:nvSpPr>
            <p:cNvPr id="11" name="Dot 11"/>
            <p:cNvSpPr/>
            <p:nvPr/>
          </p:nvSpPr>
          <p:spPr>
            <a:xfrm>
              <a:off x="11369749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2" name="Dot 12"/>
            <p:cNvSpPr/>
            <p:nvPr/>
          </p:nvSpPr>
          <p:spPr>
            <a:xfrm>
              <a:off x="12031330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13" name="Text 11"/>
          <p:cNvSpPr txBox="1"/>
          <p:nvPr/>
        </p:nvSpPr>
        <p:spPr>
          <a:xfrm rot="21300000">
            <a:off x="9214884" y="3981648"/>
            <a:ext cx="1488558" cy="49589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 rot="21300000">
            <a:off x="7844465" y="4146947"/>
            <a:ext cx="779721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>يحقق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 rot="21300000">
            <a:off x="12995349" y="4808141"/>
            <a:ext cx="172483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الفلور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16" name="Lewis F"/>
          <p:cNvGrpSpPr/>
          <p:nvPr/>
        </p:nvGrpSpPr>
        <p:grpSpPr>
          <a:xfrm rot="21300000">
            <a:off x="10986977" y="4878983"/>
            <a:ext cx="1535814" cy="519509"/>
            <a:chOff x="10986977" y="4878983"/>
            <a:chExt cx="1535814" cy="519509"/>
          </a:xfrm>
        </p:grpSpPr>
        <p:sp>
          <p:nvSpPr>
            <p:cNvPr id="17" name="Text 15"/>
            <p:cNvSpPr txBox="1"/>
            <p:nvPr/>
          </p:nvSpPr>
          <p:spPr>
            <a:xfrm>
              <a:off x="11613116" y="4949825"/>
              <a:ext cx="283535" cy="37782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F</a:t>
              </a:r>
              <a:endParaRPr lang="ar-SA" sz="2600" dirty="0"/>
            </a:p>
          </p:txBody>
        </p:sp>
        <p:sp>
          <p:nvSpPr>
            <p:cNvPr id="18" name="Dot 18"/>
            <p:cNvSpPr/>
            <p:nvPr/>
          </p:nvSpPr>
          <p:spPr>
            <a:xfrm>
              <a:off x="11676912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9" name="Dot 19"/>
            <p:cNvSpPr/>
            <p:nvPr/>
          </p:nvSpPr>
          <p:spPr>
            <a:xfrm>
              <a:off x="11771423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0" name="Dot 20"/>
            <p:cNvSpPr/>
            <p:nvPr/>
          </p:nvSpPr>
          <p:spPr>
            <a:xfrm>
              <a:off x="11676912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1" name="Dot 21"/>
            <p:cNvSpPr/>
            <p:nvPr/>
          </p:nvSpPr>
          <p:spPr>
            <a:xfrm>
              <a:off x="11771423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2" name="Dot 22"/>
            <p:cNvSpPr/>
            <p:nvPr/>
          </p:nvSpPr>
          <p:spPr>
            <a:xfrm>
              <a:off x="11535144" y="5060811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3" name="Dot 23"/>
            <p:cNvSpPr/>
            <p:nvPr/>
          </p:nvSpPr>
          <p:spPr>
            <a:xfrm>
              <a:off x="11535144" y="5155267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4" name="Dot 24"/>
            <p:cNvSpPr/>
            <p:nvPr/>
          </p:nvSpPr>
          <p:spPr>
            <a:xfrm>
              <a:off x="11913191" y="510803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25" name="Text 23"/>
          <p:cNvSpPr txBox="1"/>
          <p:nvPr/>
        </p:nvSpPr>
        <p:spPr>
          <a:xfrm rot="21415515">
            <a:off x="9333023" y="4973439"/>
            <a:ext cx="1370419" cy="51950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 rot="21300000">
            <a:off x="7797209" y="5138738"/>
            <a:ext cx="826977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>يحقق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 rot="21300000">
            <a:off x="12877209" y="5918002"/>
            <a:ext cx="2008372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الليثيوم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Li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28" name="Lewis Li"/>
          <p:cNvGrpSpPr/>
          <p:nvPr/>
        </p:nvGrpSpPr>
        <p:grpSpPr>
          <a:xfrm>
            <a:off x="11034233" y="5965230"/>
            <a:ext cx="1063256" cy="519509"/>
            <a:chOff x="11034233" y="5965230"/>
            <a:chExt cx="1063256" cy="519509"/>
          </a:xfrm>
        </p:grpSpPr>
        <p:sp>
          <p:nvSpPr>
            <p:cNvPr id="29" name="Text 27"/>
            <p:cNvSpPr txBox="1"/>
            <p:nvPr/>
          </p:nvSpPr>
          <p:spPr>
            <a:xfrm>
              <a:off x="11376837" y="6012458"/>
              <a:ext cx="378047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Li</a:t>
              </a:r>
              <a:endParaRPr lang="ar-SA" sz="2600" dirty="0"/>
            </a:p>
          </p:txBody>
        </p:sp>
        <p:sp>
          <p:nvSpPr>
            <p:cNvPr id="30" name="Dot 30"/>
            <p:cNvSpPr/>
            <p:nvPr/>
          </p:nvSpPr>
          <p:spPr>
            <a:xfrm>
              <a:off x="11759609" y="619428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31" name="Text 29"/>
          <p:cNvSpPr txBox="1"/>
          <p:nvPr/>
        </p:nvSpPr>
        <p:spPr>
          <a:xfrm>
            <a:off x="9380279" y="6036072"/>
            <a:ext cx="1027814" cy="44866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 rot="21300000">
            <a:off x="7371907" y="5965230"/>
            <a:ext cx="1346791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>لا يحقق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1200" b="1" dirty="0">
                <a:solidFill>
                  <a:srgbClr val="FFD84A"/>
                </a:solidFill>
                <a:latin typeface="Arial"/>
                <a:cs typeface="Arial"/>
              </a:rPr>
              <a:t>(راجع الاستثناءات)</a:t>
            </a:r>
            <a:endParaRPr lang="ar-SA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25" grpId="0" animBg="1"/>
      <p:bldP spid="26" grpId="0" animBg="1"/>
      <p:bldP spid="27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275907" y="1879997"/>
            <a:ext cx="3709581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00" b="1" dirty="0">
                <a:solidFill>
                  <a:srgbClr val="7FE6F5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استثناءات قاعدة الثمانية</a:t>
            </a:r>
            <a:endParaRPr lang="ar-SA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228652" y="2706489"/>
            <a:ext cx="3709581" cy="469919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هناك مبانٍ صغيرة لا تحتاج إلى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8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إلكترونات، بل تستقر بإلكترونين فقط لتتشبّه بالجار العظيم: </a:t>
            </a: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الهيليوم (</a:t>
            </a:r>
            <a:r>
              <a:rPr lang="en-US" sz="2400" b="1" baseline="-25000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2</a:t>
            </a:r>
            <a:r>
              <a:rPr lang="en-US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He</a:t>
            </a: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• العناصر المستثناة: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الهيدروجين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1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H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الليثيوم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3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Li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البريليوم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Be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البورون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5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B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السبب: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عندما تفقد هذه الذرات إلكترونات التكافؤ، يتبقى لديها مستوى طاقة أول ممتلئ بإلكترونين، وهو قمة الاستقرار لهذه المباني!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725581" y="2116138"/>
            <a:ext cx="6497674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التحدي الأكبر: أنت الكيميائي!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631070" y="2919016"/>
            <a:ext cx="7017488" cy="12987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88000"/>
              </a:lnSpc>
              <a:buNone/>
            </a:pPr>
            <a:r>
              <a:rPr lang="ar-SA" sz="1800" b="1" dirty="0">
                <a:solidFill>
                  <a:srgbClr val="6FE0F5"/>
                </a:solidFill>
                <a:latin typeface="Arial"/>
                <a:cs typeface="Arial"/>
              </a:rPr>
              <a:t xml:space="preserve">السؤال الأول: المصطلحات</a:t>
            </a:r>
            <a:endParaRPr lang="ar-SA" sz="18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الإلكترونات التي تفقدها الذرة أو تكتسبها أو تشارك بها...</a:t>
            </a:r>
            <a:endParaRPr lang="ar-SA" sz="17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700" b="1" dirty="0">
                <a:solidFill>
                  <a:srgbClr val="6FE0F5"/>
                </a:solidFill>
                <a:latin typeface="Arial"/>
                <a:cs typeface="Arial"/>
              </a:rPr>
              <a:t xml:space="preserve">التكافؤ</a:t>
            </a:r>
            <a:endParaRPr lang="ar-SA" sz="17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- الأشكال التي توضح إلكترونات التكافؤ في صورة نقاط...</a:t>
            </a:r>
            <a:endParaRPr lang="ar-SA" sz="17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700" b="1" dirty="0">
                <a:solidFill>
                  <a:srgbClr val="7CF29A"/>
                </a:solidFill>
                <a:latin typeface="Arial"/>
                <a:cs typeface="Arial"/>
              </a:rPr>
              <a:t xml:space="preserve">الترتيب الإلكتروني النقطي (تمثيل لويس)</a:t>
            </a:r>
            <a:endParaRPr lang="ar-SA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678326" y="4477544"/>
            <a:ext cx="6970233" cy="134600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88000"/>
              </a:lnSpc>
              <a:buNone/>
            </a:pP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السؤال الثاني: الاختيارات</a:t>
            </a:r>
            <a:endParaRPr lang="ar-SA" sz="18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إلكترونات التكافؤ لعنصر يقع في المجموعة (</a:t>
            </a:r>
            <a:r>
              <a:rPr lang="en-US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):</a:t>
            </a:r>
            <a:endParaRPr lang="ar-SA" sz="17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7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700" b="1" dirty="0">
                <a:solidFill>
                  <a:srgbClr val="FFB347"/>
                </a:solidFill>
                <a:latin typeface="Arial"/>
                <a:cs typeface="Arial"/>
              </a:rPr>
              <a:t xml:space="preserve">7</a:t>
            </a:r>
            <a:r>
              <a:rPr lang="ar-SA" sz="17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7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- إحدى الذرات التالية تصل للاستقرار عن طريق فقد إلكترونين:</a:t>
            </a:r>
            <a:endParaRPr lang="ar-SA" sz="1700" dirty="0"/>
          </a:p>
          <a:p>
            <a:pPr algn="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7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700" b="1" dirty="0" baseline="-25000">
                <a:solidFill>
                  <a:srgbClr val="FFB347"/>
                </a:solidFill>
                <a:latin typeface="Arial"/>
                <a:cs typeface="Arial"/>
              </a:rPr>
              <a:t xml:space="preserve">12</a:t>
            </a:r>
            <a:r>
              <a:rPr lang="en-US" sz="1700" b="1" dirty="0">
                <a:solidFill>
                  <a:srgbClr val="FFB347"/>
                </a:solidFill>
                <a:latin typeface="Arial"/>
                <a:cs typeface="Arial"/>
              </a:rPr>
              <a:t xml:space="preserve">Mg</a:t>
            </a:r>
            <a:r>
              <a:rPr lang="ar-SA" sz="17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2811721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54047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6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  <p:bldP spid="5" grpId="0" build="p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2126512" y="439539"/>
            <a:ext cx="12050233" cy="802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لغز النقاط الثلاث (أنت الكيميائي - السؤال الثالث)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788093" y="6933406"/>
            <a:ext cx="4938233" cy="9681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المعطيات: عنصر مجهول يحتوي ترتيبه النقطي على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نقاط فقط.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128744" y="2021681"/>
            <a:ext cx="420576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الاستنتاج الأول (رقم المجموعة):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176000" y="2777331"/>
            <a:ext cx="4111256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بما أن لديه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تكافؤ، فهو يقع في المجموعة (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).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128744" y="5091509"/>
            <a:ext cx="4205767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الاستنتاج الثاني (للوصول للاستقرار):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176000" y="5729089"/>
            <a:ext cx="4111256" cy="127515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الأسهل أن 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(ليُفرغ طابقه الأخير) بدلاً من أن 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ليحقق قاعدة الثمانية.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843721" y="392311"/>
            <a:ext cx="6615814" cy="8855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خريطة الاستقرار الشاملة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653953" y="5587405"/>
            <a:ext cx="2433674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 التكافؤ</a:t>
            </a:r>
            <a:endParaRPr lang="ar-SA" sz="24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(تحدد سلوك الذرة)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772837" y="1478558"/>
            <a:ext cx="2929860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تمثيل لويس النقطي</a:t>
            </a:r>
            <a:endParaRPr lang="ar-SA" sz="21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(يكشف العدد)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505302" y="3462139"/>
            <a:ext cx="196111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الذرات ذات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1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3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844465" y="3556595"/>
            <a:ext cx="992372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تفقد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67628" y="3509367"/>
            <a:ext cx="1819349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تصبح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كاتيوناً موجباً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94326" y="4973439"/>
            <a:ext cx="1866605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الذرات ذات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5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6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7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44465" y="5422106"/>
            <a:ext cx="1039628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تكتسب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85767" y="5185966"/>
            <a:ext cx="1559442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تصبح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أنيوناً سالباً</a:t>
            </a:r>
            <a:endParaRPr lang="ar-SA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1766698" y="6248598"/>
            <a:ext cx="3048000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الاستقرار</a:t>
            </a:r>
            <a:endParaRPr lang="ar-SA" sz="24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(تحقيق قاعدة الثمانية)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1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5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379535" y="557609"/>
            <a:ext cx="6710326" cy="184189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>التقرير النهائي:</a:t>
            </a:r>
            <a:endParaRPr lang="ar-SA" sz="48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>شهادة التدقيق المعماري</a:t>
            </a:r>
            <a:endParaRPr lang="ar-SA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733953" y="2919016"/>
            <a:ext cx="1606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العنصر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38790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الترتيب الإلكتروني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545674" y="2919016"/>
            <a:ext cx="1098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إلكترونات التكافؤ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91628" y="2919016"/>
            <a:ext cx="1134140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التكافؤ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483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الترتيب النقطي</a:t>
            </a:r>
            <a:endParaRPr lang="ar-SA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733953" y="3863578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النيتروجين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7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N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387907" y="3863578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2,5</a:t>
            </a:r>
            <a:endParaRPr lang="ar-SA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545674" y="3863578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5</a:t>
            </a:r>
            <a:endParaRPr lang="ar-SA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691628" y="3863578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3</a:t>
            </a:r>
            <a:endParaRPr lang="ar-SA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733953" y="4642842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الكبريت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16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S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87907" y="4642842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2,8,6</a:t>
            </a:r>
            <a:endParaRPr lang="ar-SA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545674" y="4642842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6</a:t>
            </a:r>
            <a:endParaRPr lang="ar-SA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691628" y="4642842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733953" y="5433913"/>
            <a:ext cx="1606698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الكالسيوم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20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Ca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87907" y="5433913"/>
            <a:ext cx="1110512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2,8,8,2</a:t>
            </a:r>
            <a:endParaRPr lang="ar-SA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545674" y="5433913"/>
            <a:ext cx="1098698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0691628" y="5433913"/>
            <a:ext cx="1134140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يفقد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1053505"/>
            <a:ext cx="10065488" cy="24794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>تم تأمين</a:t>
            </a:r>
            <a:endParaRPr lang="ar-SA" sz="7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>الاستقرار الكيميائي بنجاح!</a:t>
            </a:r>
            <a:endParaRPr lang="ar-SA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4465674" y="3910806"/>
            <a:ext cx="760818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2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لقد أتقنتم إدارة «عمال الطابق الأخير»، وفككتم شفرة الاستقرار.</a:t>
            </a:r>
            <a:endParaRPr lang="ar-SA" sz="2200" dirty="0"/>
          </a:p>
          <a:p>
            <a:pPr algn="ctr" rtl="1">
              <a:lnSpc>
                <a:spcPct val="92000"/>
              </a:lnSpc>
              <a:spcBef>
                <a:spcPts val="0"/>
              </a:spcBef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أنتم الآن مهندسو كيمياء معتمدون.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انوار صالح عبدالله خزار</cp:lastModifiedBy>
  <cp:revision>4</cp:revision>
  <dcterms:created xsi:type="dcterms:W3CDTF">2006-08-16T00:00:00Z</dcterms:created>
  <dcterms:modified xsi:type="dcterms:W3CDTF">2026-10-27T15:20:23Z</dcterms:modified>
</cp:coreProperties>
</file>