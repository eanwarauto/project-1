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4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4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4.png"/><Relationship Id="rId3" Type="http://schemas.openxmlformats.org/officeDocument/2006/relationships/image" Target="../media/image-3-4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4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9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4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4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4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8-2.png"/><Relationship Id="rId3" Type="http://schemas.openxmlformats.org/officeDocument/2006/relationships/image" Target="../media/image-2-4.png"/><Relationship Id="rId4" Type="http://schemas.openxmlformats.org/officeDocument/2006/relationships/image" Target="../media/image-3-4.png"/><Relationship Id="rId5" Type="http://schemas.openxmlformats.org/officeDocument/2006/relationships/image" Target="../media/image-2-1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8-2.png"/><Relationship Id="rId3" Type="http://schemas.openxmlformats.org/officeDocument/2006/relationships/image" Target="../media/image-4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4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4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4.png"/><Relationship Id="rId2" Type="http://schemas.openxmlformats.org/officeDocument/2006/relationships/image" Target="../media/image-22-2.png"/><Relationship Id="rId3" Type="http://schemas.openxmlformats.org/officeDocument/2006/relationships/image" Target="../media/image-3-4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4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4.png"/><Relationship Id="rId2" Type="http://schemas.openxmlformats.org/officeDocument/2006/relationships/image" Target="../media/image-23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4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_1_1" descr="nacl_lat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937760" cy="4937760"/>
          </a:xfrm>
          <a:prstGeom prst="rect">
            <a:avLst/>
          </a:prstGeom>
        </p:spPr>
      </p:pic>
      <p:sp>
        <p:nvSpPr>
          <p:cNvPr id="4" name="anim_1_2"/>
          <p:cNvSpPr txBox="1"/>
          <p:nvPr/>
        </p:nvSpPr>
        <p:spPr>
          <a:xfrm>
            <a:off x="8778240" y="1143000"/>
            <a:ext cx="2834640" cy="685800"/>
          </a:xfrm>
          <a:prstGeom prst="roundRect">
            <a:avLst>
              <a:gd name="adj" fmla="val 49333"/>
            </a:avLst>
          </a:prstGeom>
          <a:solidFill>
            <a:srgbClr val="0F9D8E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[‎2-1]</a:t>
            </a:r>
            <a:endParaRPr lang="ar-KW" sz="2800" dirty="0"/>
          </a:p>
        </p:txBody>
      </p:sp>
      <p:sp>
        <p:nvSpPr>
          <p:cNvPr id="5" name="anim_1_3"/>
          <p:cNvSpPr txBox="1"/>
          <p:nvPr/>
        </p:nvSpPr>
        <p:spPr>
          <a:xfrm>
            <a:off x="5120640" y="187452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7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الرابطة</a:t>
            </a:r>
            <a:endParaRPr lang="ar-KW" sz="7200" dirty="0"/>
          </a:p>
          <a:p>
            <a:pPr rtl="0" algn="r" indent="0" marL="0">
              <a:lnSpc>
                <a:spcPct val="95000"/>
              </a:lnSpc>
              <a:buNone/>
            </a:pPr>
            <a:r>
              <a:rPr lang="ar-KW" altLang="en-US" sz="7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الأيونية</a:t>
            </a:r>
            <a:endParaRPr lang="ar-KW" sz="7200" dirty="0"/>
          </a:p>
        </p:txBody>
      </p:sp>
      <p:sp>
        <p:nvSpPr>
          <p:cNvPr id="6" name="anim_1_4"/>
          <p:cNvSpPr txBox="1"/>
          <p:nvPr/>
        </p:nvSpPr>
        <p:spPr>
          <a:xfrm>
            <a:off x="512064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38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Ionic Bond</a:t>
            </a:r>
            <a:endParaRPr lang="en-US" sz="3800" dirty="0"/>
          </a:p>
        </p:txBody>
      </p:sp>
      <p:pic>
        <p:nvPicPr>
          <p:cNvPr id="7" name="anim_1_5" descr="ion_p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846320"/>
            <a:ext cx="3566160" cy="209774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1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00"/>
                            </p:stCondLst>
                            <p:childTnLst>
                              <p:par>
                                <p:cTn id="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1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2_6"/>
          <p:cNvSpPr/>
          <p:nvPr/>
        </p:nvSpPr>
        <p:spPr>
          <a:xfrm>
            <a:off x="6355080" y="502920"/>
            <a:ext cx="5394960" cy="868680"/>
          </a:xfrm>
          <a:prstGeom prst="roundRect">
            <a:avLst>
              <a:gd name="adj" fmla="val 49474"/>
            </a:avLst>
          </a:prstGeom>
          <a:solidFill>
            <a:srgbClr val="0F9D8E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سأتعلم ؟</a:t>
            </a:r>
            <a:endParaRPr lang="ar-KW" sz="3600" dirty="0"/>
          </a:p>
        </p:txBody>
      </p:sp>
      <p:pic>
        <p:nvPicPr>
          <p:cNvPr id="4" name="anim_2_7" descr="s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pic>
        <p:nvPicPr>
          <p:cNvPr id="5" name="anim_2_8" descr="ion_p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4846320" cy="2850776"/>
          </a:xfrm>
          <a:prstGeom prst="rect">
            <a:avLst/>
          </a:prstGeom>
        </p:spPr>
      </p:pic>
      <p:sp>
        <p:nvSpPr>
          <p:cNvPr id="6" name="anim_2_9"/>
          <p:cNvSpPr/>
          <p:nvPr/>
        </p:nvSpPr>
        <p:spPr>
          <a:xfrm>
            <a:off x="5349240" y="2194560"/>
            <a:ext cx="6400800" cy="1051560"/>
          </a:xfrm>
          <a:prstGeom prst="roundRect">
            <a:avLst>
              <a:gd name="adj" fmla="val 49565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7" name="anim_2_10"/>
          <p:cNvSpPr txBox="1"/>
          <p:nvPr/>
        </p:nvSpPr>
        <p:spPr>
          <a:xfrm>
            <a:off x="5486400" y="219456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3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مفهوم الرابطة الأيونية.</a:t>
            </a:r>
            <a:endParaRPr lang="ar-KW" sz="3200" dirty="0"/>
          </a:p>
        </p:txBody>
      </p:sp>
      <p:pic>
        <p:nvPicPr>
          <p:cNvPr id="8" name="anim_2_11" descr="sp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267712"/>
            <a:ext cx="914400" cy="914400"/>
          </a:xfrm>
          <a:prstGeom prst="rect">
            <a:avLst/>
          </a:prstGeom>
        </p:spPr>
      </p:pic>
      <p:sp>
        <p:nvSpPr>
          <p:cNvPr id="9" name="anim_2_12"/>
          <p:cNvSpPr txBox="1"/>
          <p:nvPr/>
        </p:nvSpPr>
        <p:spPr>
          <a:xfrm>
            <a:off x="10835640" y="234086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anim_2_13"/>
          <p:cNvSpPr/>
          <p:nvPr/>
        </p:nvSpPr>
        <p:spPr>
          <a:xfrm>
            <a:off x="5349240" y="3657600"/>
            <a:ext cx="6400800" cy="1051560"/>
          </a:xfrm>
          <a:prstGeom prst="roundRect">
            <a:avLst>
              <a:gd name="adj" fmla="val 49565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11" name="anim_2_14"/>
          <p:cNvSpPr txBox="1"/>
          <p:nvPr/>
        </p:nvSpPr>
        <p:spPr>
          <a:xfrm>
            <a:off x="5486400" y="365760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3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تكوين المركبات الأيونية.</a:t>
            </a:r>
            <a:endParaRPr lang="ar-KW" sz="3200" dirty="0"/>
          </a:p>
        </p:txBody>
      </p:sp>
      <p:pic>
        <p:nvPicPr>
          <p:cNvPr id="12" name="anim_2_15" descr="sp_co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3730752"/>
            <a:ext cx="914400" cy="914400"/>
          </a:xfrm>
          <a:prstGeom prst="rect">
            <a:avLst/>
          </a:prstGeom>
        </p:spPr>
      </p:pic>
      <p:sp>
        <p:nvSpPr>
          <p:cNvPr id="13" name="anim_2_16"/>
          <p:cNvSpPr txBox="1"/>
          <p:nvPr/>
        </p:nvSpPr>
        <p:spPr>
          <a:xfrm>
            <a:off x="10835640" y="380390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5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3_17"/>
          <p:cNvSpPr/>
          <p:nvPr/>
        </p:nvSpPr>
        <p:spPr>
          <a:xfrm>
            <a:off x="6629400" y="502920"/>
            <a:ext cx="5120640" cy="868680"/>
          </a:xfrm>
          <a:prstGeom prst="roundRect">
            <a:avLst>
              <a:gd name="adj" fmla="val 49474"/>
            </a:avLst>
          </a:prstGeom>
          <a:solidFill>
            <a:srgbClr val="6C4FE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سأتعلم ؟</a:t>
            </a:r>
            <a:endParaRPr lang="ar-KW" sz="3600" dirty="0"/>
          </a:p>
        </p:txBody>
      </p:sp>
      <p:pic>
        <p:nvPicPr>
          <p:cNvPr id="4" name="anim_3_18" descr="s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pic>
        <p:nvPicPr>
          <p:cNvPr id="5" name="anim_3_19" descr="nacl_latt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4206240" cy="4206240"/>
          </a:xfrm>
          <a:prstGeom prst="rect">
            <a:avLst/>
          </a:prstGeom>
        </p:spPr>
      </p:pic>
      <p:sp>
        <p:nvSpPr>
          <p:cNvPr id="6" name="anim_3_20"/>
          <p:cNvSpPr/>
          <p:nvPr/>
        </p:nvSpPr>
        <p:spPr>
          <a:xfrm>
            <a:off x="5120640" y="2103120"/>
            <a:ext cx="6629400" cy="1325880"/>
          </a:xfrm>
          <a:prstGeom prst="roundRect">
            <a:avLst>
              <a:gd name="adj" fmla="val 34483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7" name="anim_3_21"/>
          <p:cNvSpPr txBox="1"/>
          <p:nvPr/>
        </p:nvSpPr>
        <p:spPr>
          <a:xfrm>
            <a:off x="5257800" y="210312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9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أتعرّف على مفهوم الرابطة الأيونية.</a:t>
            </a:r>
            <a:endParaRPr lang="ar-KW" sz="2900" dirty="0"/>
          </a:p>
        </p:txBody>
      </p:sp>
      <p:pic>
        <p:nvPicPr>
          <p:cNvPr id="8" name="anim_3_22" descr="sp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304288"/>
            <a:ext cx="914400" cy="914400"/>
          </a:xfrm>
          <a:prstGeom prst="rect">
            <a:avLst/>
          </a:prstGeom>
        </p:spPr>
      </p:pic>
      <p:sp>
        <p:nvSpPr>
          <p:cNvPr id="9" name="anim_3_23"/>
          <p:cNvSpPr txBox="1"/>
          <p:nvPr/>
        </p:nvSpPr>
        <p:spPr>
          <a:xfrm>
            <a:off x="10835640" y="2377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anim_3_24"/>
          <p:cNvSpPr/>
          <p:nvPr/>
        </p:nvSpPr>
        <p:spPr>
          <a:xfrm>
            <a:off x="5120640" y="3794760"/>
            <a:ext cx="6629400" cy="1325880"/>
          </a:xfrm>
          <a:prstGeom prst="roundRect">
            <a:avLst>
              <a:gd name="adj" fmla="val 34483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11" name="anim_3_25"/>
          <p:cNvSpPr txBox="1"/>
          <p:nvPr/>
        </p:nvSpPr>
        <p:spPr>
          <a:xfrm>
            <a:off x="5257800" y="379476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9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أكتب تفاعل يمثل الترتيب النقطي الإلكتروني المكون للمركبات الأيونية.</a:t>
            </a:r>
            <a:endParaRPr lang="ar-KW" sz="2900" dirty="0"/>
          </a:p>
        </p:txBody>
      </p:sp>
      <p:pic>
        <p:nvPicPr>
          <p:cNvPr id="12" name="anim_3_26" descr="sp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3995928"/>
            <a:ext cx="914400" cy="914400"/>
          </a:xfrm>
          <a:prstGeom prst="rect">
            <a:avLst/>
          </a:prstGeom>
        </p:spPr>
      </p:pic>
      <p:sp>
        <p:nvSpPr>
          <p:cNvPr id="13" name="anim_3_27"/>
          <p:cNvSpPr txBox="1"/>
          <p:nvPr/>
        </p:nvSpPr>
        <p:spPr>
          <a:xfrm>
            <a:off x="10835640" y="4069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5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4_28"/>
          <p:cNvSpPr/>
          <p:nvPr/>
        </p:nvSpPr>
        <p:spPr>
          <a:xfrm>
            <a:off x="3886200" y="502920"/>
            <a:ext cx="7863840" cy="868680"/>
          </a:xfrm>
          <a:prstGeom prst="roundRect">
            <a:avLst>
              <a:gd name="adj" fmla="val 49474"/>
            </a:avLst>
          </a:prstGeom>
          <a:solidFill>
            <a:srgbClr val="E59A0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تأمّل الصورة الافتتاحية</a:t>
            </a:r>
            <a:endParaRPr lang="ar-KW" sz="3600" dirty="0"/>
          </a:p>
        </p:txBody>
      </p:sp>
      <p:pic>
        <p:nvPicPr>
          <p:cNvPr id="4" name="anim_4_29" descr="s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pic>
        <p:nvPicPr>
          <p:cNvPr id="5" name="anim_4_30" descr="book_ion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5029200" cy="3828927"/>
          </a:xfrm>
          <a:prstGeom prst="rect">
            <a:avLst/>
          </a:prstGeom>
        </p:spPr>
      </p:pic>
      <p:sp>
        <p:nvSpPr>
          <p:cNvPr id="6" name="anim_4_31"/>
          <p:cNvSpPr/>
          <p:nvPr/>
        </p:nvSpPr>
        <p:spPr>
          <a:xfrm>
            <a:off x="5669280" y="1645920"/>
            <a:ext cx="608076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0">
            <a:solidFill>
              <a:srgbClr val="7FB2D9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7" name="anim_4_32"/>
          <p:cNvSpPr txBox="1"/>
          <p:nvPr/>
        </p:nvSpPr>
        <p:spPr>
          <a:xfrm>
            <a:off x="5806440" y="1737360"/>
            <a:ext cx="5806440" cy="3520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1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تعرّفت سابقًا على فلز </a:t>
            </a:r>
            <a:r>
              <a:rPr lang="ar-KW" altLang="en-US" sz="21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الصوديوم</a:t>
            </a:r>
            <a:r>
              <a:rPr lang="ar-KW" altLang="en-US" sz="21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الذي يقع في مجموعة فلزات الأقلاء، وهو فلز نشطٌ جدًا، تكفي قطعة صغيرة منه تلقى في الماء لتسبب انفجارًا حراريًا عنيفًا، وتعرّفت أيضًا على غاز </a:t>
            </a:r>
            <a:r>
              <a:rPr lang="ar-KW" altLang="en-US" sz="21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الكلور</a:t>
            </a:r>
            <a:r>
              <a:rPr lang="ar-KW" altLang="en-US" sz="21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من مجموعة الهالوجينات، وهو غاز شديد السميّة يسبب أضرارًا بالغةً للجهاز التنفسي، ولكن عند اتحاد الصوديوم مع الكلور برابطة كيميائية، نَتج لنا مركبًا لا نستغني عنه في حياتنا اليومية وهو </a:t>
            </a:r>
            <a:r>
              <a:rPr lang="ar-KW" altLang="en-US" sz="21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ملح الطعام أو كلوريد الصوديوم.</a:t>
            </a:r>
            <a:endParaRPr lang="ar-KW" sz="2100" dirty="0"/>
          </a:p>
        </p:txBody>
      </p:sp>
      <p:sp>
        <p:nvSpPr>
          <p:cNvPr id="8" name="anim_4_33"/>
          <p:cNvSpPr txBox="1"/>
          <p:nvPr/>
        </p:nvSpPr>
        <p:spPr>
          <a:xfrm>
            <a:off x="5806440" y="5303520"/>
            <a:ext cx="5806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فما هي الرابطة التي جمعت بينهما؟ وكيف تتم هذه الرابطة؟</a:t>
            </a:r>
            <a:endParaRPr lang="ar-KW" sz="23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5_34"/>
          <p:cNvSpPr/>
          <p:nvPr/>
        </p:nvSpPr>
        <p:spPr>
          <a:xfrm>
            <a:off x="7909560" y="502920"/>
            <a:ext cx="3840480" cy="868680"/>
          </a:xfrm>
          <a:prstGeom prst="roundRect">
            <a:avLst>
              <a:gd name="adj" fmla="val 49474"/>
            </a:avLst>
          </a:prstGeom>
          <a:solidFill>
            <a:srgbClr val="E8335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نشاط...</a:t>
            </a:r>
            <a:endParaRPr lang="ar-KW" sz="3600" dirty="0"/>
          </a:p>
        </p:txBody>
      </p:sp>
      <p:pic>
        <p:nvPicPr>
          <p:cNvPr id="4" name="anim_5_35" descr="sp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pic>
        <p:nvPicPr>
          <p:cNvPr id="5" name="anim_5_36" descr="book_c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383280" cy="4179850"/>
          </a:xfrm>
          <a:prstGeom prst="rect">
            <a:avLst/>
          </a:prstGeom>
        </p:spPr>
      </p:pic>
      <p:sp>
        <p:nvSpPr>
          <p:cNvPr id="6" name="anim_5_37"/>
          <p:cNvSpPr/>
          <p:nvPr/>
        </p:nvSpPr>
        <p:spPr>
          <a:xfrm>
            <a:off x="4251960" y="1645920"/>
            <a:ext cx="7498080" cy="4526280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76200">
            <a:solidFill>
              <a:srgbClr val="8FA9D6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7" name="anim_5_38"/>
          <p:cNvSpPr txBox="1"/>
          <p:nvPr/>
        </p:nvSpPr>
        <p:spPr>
          <a:xfrm>
            <a:off x="4434840" y="1783080"/>
            <a:ext cx="7132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أمامك بطاقتان ملوّنتان – أقلام ملوّنة – بطاقات ورقية مثنيّة.</a:t>
            </a:r>
            <a:endParaRPr lang="ar-KW" sz="2500" dirty="0"/>
          </a:p>
        </p:txBody>
      </p:sp>
      <p:sp>
        <p:nvSpPr>
          <p:cNvPr id="8" name="anim_5_39"/>
          <p:cNvSpPr txBox="1"/>
          <p:nvPr/>
        </p:nvSpPr>
        <p:spPr>
          <a:xfrm>
            <a:off x="4434840" y="2606040"/>
            <a:ext cx="7132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والمطلوب:</a:t>
            </a:r>
            <a:endParaRPr lang="ar-KW" sz="2500" dirty="0"/>
          </a:p>
        </p:txBody>
      </p:sp>
      <p:sp>
        <p:nvSpPr>
          <p:cNvPr id="9" name="anim_5_40"/>
          <p:cNvSpPr txBox="1"/>
          <p:nvPr/>
        </p:nvSpPr>
        <p:spPr>
          <a:xfrm>
            <a:off x="4434840" y="3154680"/>
            <a:ext cx="7132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اختر أنت بطاقة ملوّنة وزميلك يأخذ البطاقة الثانية.</a:t>
            </a:r>
            <a:endParaRPr lang="ar-KW" sz="2200" dirty="0"/>
          </a:p>
        </p:txBody>
      </p:sp>
      <p:sp>
        <p:nvSpPr>
          <p:cNvPr id="10" name="anim_5_41"/>
          <p:cNvSpPr txBox="1"/>
          <p:nvPr/>
        </p:nvSpPr>
        <p:spPr>
          <a:xfrm>
            <a:off x="4434840" y="3867912"/>
            <a:ext cx="7132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– خذ من المعلّم بطاقة مثنيّة واحدة.</a:t>
            </a:r>
            <a:endParaRPr lang="ar-KW" sz="2200" dirty="0"/>
          </a:p>
        </p:txBody>
      </p:sp>
      <p:sp>
        <p:nvSpPr>
          <p:cNvPr id="11" name="anim_5_42"/>
          <p:cNvSpPr txBox="1"/>
          <p:nvPr/>
        </p:nvSpPr>
        <p:spPr>
          <a:xfrm>
            <a:off x="4434840" y="4581144"/>
            <a:ext cx="7132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سجّل اسم عنصر وزميلك عنصر آخر في البطاقة الملوّنة.</a:t>
            </a:r>
            <a:endParaRPr lang="ar-KW" sz="2200" dirty="0"/>
          </a:p>
        </p:txBody>
      </p:sp>
      <p:sp>
        <p:nvSpPr>
          <p:cNvPr id="12" name="anim_5_43"/>
          <p:cNvSpPr txBox="1"/>
          <p:nvPr/>
        </p:nvSpPr>
        <p:spPr>
          <a:xfrm>
            <a:off x="4434840" y="5294376"/>
            <a:ext cx="7132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– أجب أنت وزميلك على أسئلة زملائكم في الفصل حسب الجدول التالي.</a:t>
            </a:r>
            <a:endParaRPr lang="ar-KW" sz="2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1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6_44"/>
          <p:cNvSpPr/>
          <p:nvPr/>
        </p:nvSpPr>
        <p:spPr>
          <a:xfrm>
            <a:off x="4709160" y="502920"/>
            <a:ext cx="7040880" cy="868680"/>
          </a:xfrm>
          <a:prstGeom prst="roundRect">
            <a:avLst>
              <a:gd name="adj" fmla="val 49474"/>
            </a:avLst>
          </a:prstGeom>
          <a:solidFill>
            <a:srgbClr val="E8335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نشاط... أكمل الجدول</a:t>
            </a:r>
            <a:endParaRPr lang="ar-KW" sz="3600" dirty="0"/>
          </a:p>
        </p:txBody>
      </p:sp>
      <p:pic>
        <p:nvPicPr>
          <p:cNvPr id="4" name="anim_6_45" descr="sp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6_46"/>
          <p:cNvSpPr/>
          <p:nvPr/>
        </p:nvSpPr>
        <p:spPr>
          <a:xfrm>
            <a:off x="1572768" y="1527048"/>
            <a:ext cx="9564624" cy="4956048"/>
          </a:xfrm>
          <a:prstGeom prst="roundRect">
            <a:avLst>
              <a:gd name="adj" fmla="val 6458"/>
            </a:avLst>
          </a:prstGeom>
          <a:solidFill>
            <a:srgbClr val="FFFFFF">
              <a:alpha val="85000"/>
            </a:srgbClr>
          </a:solidFill>
          <a:ln w="63500">
            <a:solidFill>
              <a:srgbClr val="8FB1DA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graphicFrame>
        <p:nvGraphicFramePr>
          <p:cNvPr id="6" name="anim_6_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1783080"/>
          <a:ext cx="9052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3749040"/>
              </a:tblGrid>
              <a:tr h="548640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اسم العنصر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رمز العنصر وعدده الذري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فلز / لافلز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الترتيب الإلكتروني حسب مستويات الطاقة الرئيسية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الترتيب النقطي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للوصول للاستقرار (يفقد/ يكتسب) إلكترونات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صيغة الأيون الناتج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</a:tbl>
          </a:graphicData>
        </a:graphic>
      </p:graphicFrame>
      <p:sp>
        <p:nvSpPr>
          <p:cNvPr id="7" name="anim_6_48"/>
          <p:cNvSpPr txBox="1"/>
          <p:nvPr/>
        </p:nvSpPr>
        <p:spPr>
          <a:xfrm>
            <a:off x="448056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الصوديوم</a:t>
            </a:r>
            <a:endParaRPr lang="ar-KW" sz="2400" dirty="0"/>
          </a:p>
        </p:txBody>
      </p:sp>
      <p:sp>
        <p:nvSpPr>
          <p:cNvPr id="8" name="anim_6_49"/>
          <p:cNvSpPr txBox="1"/>
          <p:nvPr/>
        </p:nvSpPr>
        <p:spPr>
          <a:xfrm>
            <a:off x="182880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الكلور</a:t>
            </a:r>
            <a:endParaRPr lang="ar-KW" sz="2400" dirty="0"/>
          </a:p>
        </p:txBody>
      </p:sp>
      <p:sp>
        <p:nvSpPr>
          <p:cNvPr id="9" name="anim_6_50"/>
          <p:cNvSpPr txBox="1"/>
          <p:nvPr/>
        </p:nvSpPr>
        <p:spPr>
          <a:xfrm>
            <a:off x="4480560" y="2331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400" b="1" baseline="-40000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en-US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endParaRPr lang="en-US" sz="2400" dirty="0"/>
          </a:p>
        </p:txBody>
      </p:sp>
      <p:sp>
        <p:nvSpPr>
          <p:cNvPr id="10" name="anim_6_51"/>
          <p:cNvSpPr txBox="1"/>
          <p:nvPr/>
        </p:nvSpPr>
        <p:spPr>
          <a:xfrm>
            <a:off x="1828800" y="2331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400" b="1" baseline="-40000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r>
              <a:rPr lang="en-US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endParaRPr lang="en-US" sz="2400" dirty="0"/>
          </a:p>
        </p:txBody>
      </p:sp>
      <p:sp>
        <p:nvSpPr>
          <p:cNvPr id="11" name="anim_6_52"/>
          <p:cNvSpPr txBox="1"/>
          <p:nvPr/>
        </p:nvSpPr>
        <p:spPr>
          <a:xfrm>
            <a:off x="4480560" y="28986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فلز</a:t>
            </a:r>
            <a:endParaRPr lang="ar-KW" sz="2400" dirty="0"/>
          </a:p>
        </p:txBody>
      </p:sp>
      <p:sp>
        <p:nvSpPr>
          <p:cNvPr id="12" name="anim_6_53"/>
          <p:cNvSpPr txBox="1"/>
          <p:nvPr/>
        </p:nvSpPr>
        <p:spPr>
          <a:xfrm>
            <a:off x="1828800" y="28986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لافلز</a:t>
            </a:r>
            <a:endParaRPr lang="ar-KW" sz="2400" dirty="0"/>
          </a:p>
        </p:txBody>
      </p:sp>
      <p:sp>
        <p:nvSpPr>
          <p:cNvPr id="13" name="anim_6_54"/>
          <p:cNvSpPr txBox="1"/>
          <p:nvPr/>
        </p:nvSpPr>
        <p:spPr>
          <a:xfrm>
            <a:off x="4480560" y="344728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2,8,1</a:t>
            </a:r>
            <a:endParaRPr lang="en-US" sz="2400" dirty="0"/>
          </a:p>
        </p:txBody>
      </p:sp>
      <p:sp>
        <p:nvSpPr>
          <p:cNvPr id="14" name="anim_6_55"/>
          <p:cNvSpPr txBox="1"/>
          <p:nvPr/>
        </p:nvSpPr>
        <p:spPr>
          <a:xfrm>
            <a:off x="1828800" y="344728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2,8,7</a:t>
            </a:r>
            <a:endParaRPr lang="en-US" sz="2400" dirty="0"/>
          </a:p>
        </p:txBody>
      </p:sp>
      <p:pic>
        <p:nvPicPr>
          <p:cNvPr id="15" name="anim_6_56" descr="lewisA_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274" y="4272991"/>
            <a:ext cx="614331" cy="524866"/>
          </a:xfrm>
          <a:prstGeom prst="rect">
            <a:avLst/>
          </a:prstGeom>
        </p:spPr>
      </p:pic>
      <p:pic>
        <p:nvPicPr>
          <p:cNvPr id="16" name="anim_6_57" descr="lewisA_C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977" y="4190512"/>
            <a:ext cx="807407" cy="689823"/>
          </a:xfrm>
          <a:prstGeom prst="rect">
            <a:avLst/>
          </a:prstGeom>
        </p:spPr>
      </p:pic>
      <p:sp>
        <p:nvSpPr>
          <p:cNvPr id="17" name="anim_6_58"/>
          <p:cNvSpPr txBox="1"/>
          <p:nvPr/>
        </p:nvSpPr>
        <p:spPr>
          <a:xfrm>
            <a:off x="4480560" y="491032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يفقد 1</a:t>
            </a:r>
            <a:endParaRPr lang="ar-KW" sz="2400" dirty="0"/>
          </a:p>
        </p:txBody>
      </p:sp>
      <p:sp>
        <p:nvSpPr>
          <p:cNvPr id="18" name="anim_6_59"/>
          <p:cNvSpPr txBox="1"/>
          <p:nvPr/>
        </p:nvSpPr>
        <p:spPr>
          <a:xfrm>
            <a:off x="1828800" y="491032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يكتسب 1</a:t>
            </a:r>
            <a:endParaRPr lang="ar-KW" sz="2400" dirty="0"/>
          </a:p>
        </p:txBody>
      </p:sp>
      <p:sp>
        <p:nvSpPr>
          <p:cNvPr id="19" name="anim_6_60"/>
          <p:cNvSpPr txBox="1"/>
          <p:nvPr/>
        </p:nvSpPr>
        <p:spPr>
          <a:xfrm>
            <a:off x="4480560" y="56235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altLang="en-US" sz="2400" b="1" baseline="30000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20" name="anim_6_61"/>
          <p:cNvSpPr txBox="1"/>
          <p:nvPr/>
        </p:nvSpPr>
        <p:spPr>
          <a:xfrm>
            <a:off x="1828800" y="56235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r>
              <a:rPr lang="en-US" altLang="en-US" sz="2400" b="1" baseline="30000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400" dirty="0"/>
          </a:p>
        </p:txBody>
      </p:sp>
      <p:pic>
        <p:nvPicPr>
          <p:cNvPr id="21" name="anim_6_62" descr="book_car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206240"/>
            <a:ext cx="1280160" cy="1581565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5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7_63"/>
          <p:cNvSpPr/>
          <p:nvPr/>
        </p:nvSpPr>
        <p:spPr>
          <a:xfrm>
            <a:off x="6903720" y="502920"/>
            <a:ext cx="4846320" cy="868680"/>
          </a:xfrm>
          <a:prstGeom prst="roundRect">
            <a:avLst>
              <a:gd name="adj" fmla="val 49474"/>
            </a:avLst>
          </a:prstGeom>
          <a:solidFill>
            <a:srgbClr val="0F9D8E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إذًا نستنتج</a:t>
            </a:r>
            <a:endParaRPr lang="ar-KW" sz="3600" dirty="0"/>
          </a:p>
        </p:txBody>
      </p:sp>
      <p:pic>
        <p:nvPicPr>
          <p:cNvPr id="4" name="anim_7_64" descr="s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7_65"/>
          <p:cNvSpPr/>
          <p:nvPr/>
        </p:nvSpPr>
        <p:spPr>
          <a:xfrm>
            <a:off x="457200" y="1645920"/>
            <a:ext cx="11292840" cy="1463040"/>
          </a:xfrm>
          <a:prstGeom prst="roundRect">
            <a:avLst>
              <a:gd name="adj" fmla="val 18750"/>
            </a:avLst>
          </a:prstGeom>
          <a:solidFill>
            <a:srgbClr val="FFE8EE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pic>
        <p:nvPicPr>
          <p:cNvPr id="6" name="anim_7_66" descr="sp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1874520"/>
            <a:ext cx="914400" cy="914400"/>
          </a:xfrm>
          <a:prstGeom prst="rect">
            <a:avLst/>
          </a:prstGeom>
        </p:spPr>
      </p:pic>
      <p:sp>
        <p:nvSpPr>
          <p:cNvPr id="7" name="anim_7_67"/>
          <p:cNvSpPr txBox="1"/>
          <p:nvPr/>
        </p:nvSpPr>
        <p:spPr>
          <a:xfrm>
            <a:off x="10744200" y="1892808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8" name="anim_7_68"/>
          <p:cNvSpPr txBox="1"/>
          <p:nvPr/>
        </p:nvSpPr>
        <p:spPr>
          <a:xfrm>
            <a:off x="640080" y="1691640"/>
            <a:ext cx="100584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الفلزات تميل لـ ....... الإلكترونات، وتكوّن ....... يحمل شحنة موجبة.</a:t>
            </a:r>
            <a:endParaRPr lang="ar-KW" sz="2300" dirty="0"/>
          </a:p>
        </p:txBody>
      </p:sp>
      <p:sp>
        <p:nvSpPr>
          <p:cNvPr id="9" name="anim_7_69"/>
          <p:cNvSpPr txBox="1"/>
          <p:nvPr/>
        </p:nvSpPr>
        <p:spPr>
          <a:xfrm>
            <a:off x="6766560" y="2560320"/>
            <a:ext cx="2377440" cy="475488"/>
          </a:xfrm>
          <a:prstGeom prst="roundRect">
            <a:avLst>
              <a:gd name="adj" fmla="val 55769"/>
            </a:avLst>
          </a:prstGeom>
          <a:solidFill>
            <a:srgbClr val="0B8A5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فقد</a:t>
            </a:r>
            <a:endParaRPr lang="ar-KW" sz="2400" dirty="0"/>
          </a:p>
        </p:txBody>
      </p:sp>
      <p:sp>
        <p:nvSpPr>
          <p:cNvPr id="10" name="anim_7_70"/>
          <p:cNvSpPr txBox="1"/>
          <p:nvPr/>
        </p:nvSpPr>
        <p:spPr>
          <a:xfrm>
            <a:off x="3657600" y="2560320"/>
            <a:ext cx="2377440" cy="475488"/>
          </a:xfrm>
          <a:prstGeom prst="roundRect">
            <a:avLst>
              <a:gd name="adj" fmla="val 55769"/>
            </a:avLst>
          </a:prstGeom>
          <a:solidFill>
            <a:srgbClr val="0B8A5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كاتيون</a:t>
            </a:r>
            <a:endParaRPr lang="ar-KW" sz="2400" dirty="0"/>
          </a:p>
        </p:txBody>
      </p:sp>
      <p:sp>
        <p:nvSpPr>
          <p:cNvPr id="11" name="anim_7_71"/>
          <p:cNvSpPr/>
          <p:nvPr/>
        </p:nvSpPr>
        <p:spPr>
          <a:xfrm>
            <a:off x="457200" y="3291840"/>
            <a:ext cx="11292840" cy="1463040"/>
          </a:xfrm>
          <a:prstGeom prst="roundRect">
            <a:avLst>
              <a:gd name="adj" fmla="val 18750"/>
            </a:avLst>
          </a:prstGeom>
          <a:solidFill>
            <a:srgbClr val="E5F0F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pic>
        <p:nvPicPr>
          <p:cNvPr id="12" name="anim_7_72" descr="sp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520440"/>
            <a:ext cx="914400" cy="914400"/>
          </a:xfrm>
          <a:prstGeom prst="rect">
            <a:avLst/>
          </a:prstGeom>
        </p:spPr>
      </p:pic>
      <p:sp>
        <p:nvSpPr>
          <p:cNvPr id="13" name="anim_7_73"/>
          <p:cNvSpPr txBox="1"/>
          <p:nvPr/>
        </p:nvSpPr>
        <p:spPr>
          <a:xfrm>
            <a:off x="10744200" y="3538728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4000" dirty="0"/>
          </a:p>
        </p:txBody>
      </p:sp>
      <p:sp>
        <p:nvSpPr>
          <p:cNvPr id="14" name="anim_7_74"/>
          <p:cNvSpPr txBox="1"/>
          <p:nvPr/>
        </p:nvSpPr>
        <p:spPr>
          <a:xfrm>
            <a:off x="640080" y="3337560"/>
            <a:ext cx="100584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– اللافلزات تميل لـ ....... الإلكترونات، وتكوّن ....... يحمل شحنة سالبة.</a:t>
            </a:r>
            <a:endParaRPr lang="ar-KW" sz="2300" dirty="0"/>
          </a:p>
        </p:txBody>
      </p:sp>
      <p:sp>
        <p:nvSpPr>
          <p:cNvPr id="15" name="anim_7_75"/>
          <p:cNvSpPr txBox="1"/>
          <p:nvPr/>
        </p:nvSpPr>
        <p:spPr>
          <a:xfrm>
            <a:off x="6766560" y="4206240"/>
            <a:ext cx="2377440" cy="475488"/>
          </a:xfrm>
          <a:prstGeom prst="roundRect">
            <a:avLst>
              <a:gd name="adj" fmla="val 55769"/>
            </a:avLst>
          </a:prstGeom>
          <a:solidFill>
            <a:srgbClr val="0B8A5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اكتساب</a:t>
            </a:r>
            <a:endParaRPr lang="ar-KW" sz="2400" dirty="0"/>
          </a:p>
        </p:txBody>
      </p:sp>
      <p:sp>
        <p:nvSpPr>
          <p:cNvPr id="16" name="anim_7_76"/>
          <p:cNvSpPr txBox="1"/>
          <p:nvPr/>
        </p:nvSpPr>
        <p:spPr>
          <a:xfrm>
            <a:off x="3657600" y="4206240"/>
            <a:ext cx="2377440" cy="475488"/>
          </a:xfrm>
          <a:prstGeom prst="roundRect">
            <a:avLst>
              <a:gd name="adj" fmla="val 55769"/>
            </a:avLst>
          </a:prstGeom>
          <a:solidFill>
            <a:srgbClr val="0B8A5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أنيون</a:t>
            </a:r>
            <a:endParaRPr lang="ar-KW" sz="2400" dirty="0"/>
          </a:p>
        </p:txBody>
      </p:sp>
      <p:sp>
        <p:nvSpPr>
          <p:cNvPr id="17" name="anim_7_77"/>
          <p:cNvSpPr/>
          <p:nvPr/>
        </p:nvSpPr>
        <p:spPr>
          <a:xfrm>
            <a:off x="457200" y="5029200"/>
            <a:ext cx="11292840" cy="1143000"/>
          </a:xfrm>
          <a:prstGeom prst="roundRect">
            <a:avLst>
              <a:gd name="adj" fmla="val 24000"/>
            </a:avLst>
          </a:prstGeom>
          <a:solidFill>
            <a:srgbClr val="FFF4D6"/>
          </a:solidFill>
          <a:ln w="38100">
            <a:solidFill>
              <a:srgbClr val="F2C14E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18" name="anim_7_78"/>
          <p:cNvSpPr txBox="1"/>
          <p:nvPr/>
        </p:nvSpPr>
        <p:spPr>
          <a:xfrm>
            <a:off x="4754880" y="5074920"/>
            <a:ext cx="68580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يحدث عند تقريب الأيونات مختلفة الشحنة إلى بعضها؟ (فكّر)</a:t>
            </a:r>
            <a:endParaRPr lang="ar-KW" sz="2300" dirty="0"/>
          </a:p>
        </p:txBody>
      </p:sp>
      <p:sp>
        <p:nvSpPr>
          <p:cNvPr id="19" name="anim_7_79"/>
          <p:cNvSpPr txBox="1"/>
          <p:nvPr/>
        </p:nvSpPr>
        <p:spPr>
          <a:xfrm>
            <a:off x="685800" y="5257800"/>
            <a:ext cx="3840480" cy="685800"/>
          </a:xfrm>
          <a:prstGeom prst="roundRect">
            <a:avLst>
              <a:gd name="adj" fmla="val 49333"/>
            </a:avLst>
          </a:prstGeom>
          <a:solidFill>
            <a:srgbClr val="0B8A5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تنشأ بينها قوة تجاذب</a:t>
            </a:r>
            <a:endParaRPr lang="ar-KW" sz="24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8_80"/>
          <p:cNvSpPr/>
          <p:nvPr/>
        </p:nvSpPr>
        <p:spPr>
          <a:xfrm>
            <a:off x="5532120" y="502920"/>
            <a:ext cx="6217920" cy="868680"/>
          </a:xfrm>
          <a:prstGeom prst="roundRect">
            <a:avLst>
              <a:gd name="adj" fmla="val 49474"/>
            </a:avLst>
          </a:prstGeom>
          <a:solidFill>
            <a:srgbClr val="6C4FE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الرابطة الأيونية</a:t>
            </a:r>
            <a:endParaRPr lang="ar-KW" sz="3600" dirty="0"/>
          </a:p>
        </p:txBody>
      </p:sp>
      <p:pic>
        <p:nvPicPr>
          <p:cNvPr id="4" name="anim_8_81" descr="s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8_82"/>
          <p:cNvSpPr txBox="1"/>
          <p:nvPr/>
        </p:nvSpPr>
        <p:spPr>
          <a:xfrm>
            <a:off x="457200" y="1691640"/>
            <a:ext cx="112928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7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تقريب الأيونات مختلفة الشحنة من بعضها البعض تنشأ بينها </a:t>
            </a:r>
            <a:r>
              <a:rPr lang="ar-KW" altLang="en-US" sz="27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قوة تجاذب</a:t>
            </a:r>
            <a:r>
              <a:rPr lang="ar-KW" altLang="en-US" sz="27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وهي الأساس الذي تقوم عليه </a:t>
            </a:r>
            <a:r>
              <a:rPr lang="ar-KW" altLang="en-US" sz="27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الرابطة الأيونية</a:t>
            </a:r>
            <a:r>
              <a:rPr lang="ar-KW" altLang="en-US" sz="27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التي تعرّف بأنها:</a:t>
            </a:r>
            <a:endParaRPr lang="ar-KW" sz="2700" dirty="0"/>
          </a:p>
        </p:txBody>
      </p:sp>
      <p:pic>
        <p:nvPicPr>
          <p:cNvPr id="6" name="anim_8_83" descr="ion_p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71800"/>
            <a:ext cx="4937760" cy="2904565"/>
          </a:xfrm>
          <a:prstGeom prst="rect">
            <a:avLst/>
          </a:prstGeom>
        </p:spPr>
      </p:pic>
      <p:sp>
        <p:nvSpPr>
          <p:cNvPr id="7" name="anim_8_84"/>
          <p:cNvSpPr txBox="1"/>
          <p:nvPr/>
        </p:nvSpPr>
        <p:spPr>
          <a:xfrm>
            <a:off x="1005840" y="58064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0B8A5A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r>
              <a:rPr lang="en-US" altLang="en-US" sz="28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800" dirty="0"/>
          </a:p>
        </p:txBody>
      </p:sp>
      <p:sp>
        <p:nvSpPr>
          <p:cNvPr id="8" name="anim_8_85"/>
          <p:cNvSpPr txBox="1"/>
          <p:nvPr/>
        </p:nvSpPr>
        <p:spPr>
          <a:xfrm>
            <a:off x="3611880" y="58064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6C4FE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altLang="en-US" sz="28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9" name="anim_8_86"/>
          <p:cNvSpPr/>
          <p:nvPr/>
        </p:nvSpPr>
        <p:spPr>
          <a:xfrm>
            <a:off x="5623560" y="3154680"/>
            <a:ext cx="6126480" cy="2651760"/>
          </a:xfrm>
          <a:prstGeom prst="roundRect">
            <a:avLst>
              <a:gd name="adj" fmla="val 12069"/>
            </a:avLst>
          </a:prstGeom>
          <a:solidFill>
            <a:srgbClr val="F1EDFF"/>
          </a:solidFill>
          <a:ln w="50800">
            <a:solidFill>
              <a:srgbClr val="B9A8FF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10" name="anim_8_87"/>
          <p:cNvSpPr txBox="1"/>
          <p:nvPr/>
        </p:nvSpPr>
        <p:spPr>
          <a:xfrm>
            <a:off x="5852160" y="3246120"/>
            <a:ext cx="56692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9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«قوّة التجاذب الكهروستاتيكي التي تربط الأيونات مختلفة الشحنة في المركب الأيوني».</a:t>
            </a:r>
            <a:endParaRPr lang="ar-KW" sz="29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3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9_88"/>
          <p:cNvSpPr/>
          <p:nvPr/>
        </p:nvSpPr>
        <p:spPr>
          <a:xfrm>
            <a:off x="7726680" y="502920"/>
            <a:ext cx="4023360" cy="868680"/>
          </a:xfrm>
          <a:prstGeom prst="roundRect">
            <a:avLst>
              <a:gd name="adj" fmla="val 49474"/>
            </a:avLst>
          </a:prstGeom>
          <a:solidFill>
            <a:srgbClr val="1F6FB2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(1)</a:t>
            </a:r>
            <a:endParaRPr lang="ar-KW" sz="3600" dirty="0"/>
          </a:p>
        </p:txBody>
      </p:sp>
      <p:pic>
        <p:nvPicPr>
          <p:cNvPr id="4" name="anim_9_89" descr="s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9_90"/>
          <p:cNvSpPr txBox="1"/>
          <p:nvPr/>
        </p:nvSpPr>
        <p:spPr>
          <a:xfrm>
            <a:off x="457200" y="1600200"/>
            <a:ext cx="1129284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والآن سنطبق ما تم كتابته في الجدول السابق على شكل معادلة كيميائية تصف تفاعل الصوديوم مع الكلور نقطيًا لتكوين كلوريد الصوديوم كما في المثال (1):</a:t>
            </a:r>
            <a:endParaRPr lang="ar-KW" sz="2300" dirty="0"/>
          </a:p>
        </p:txBody>
      </p:sp>
      <p:sp>
        <p:nvSpPr>
          <p:cNvPr id="6" name="anim_9_91"/>
          <p:cNvSpPr/>
          <p:nvPr/>
        </p:nvSpPr>
        <p:spPr>
          <a:xfrm>
            <a:off x="457200" y="2971800"/>
            <a:ext cx="11292840" cy="3200400"/>
          </a:xfrm>
          <a:prstGeom prst="roundRect">
            <a:avLst>
              <a:gd name="adj" fmla="val 11429"/>
            </a:avLst>
          </a:prstGeom>
          <a:solidFill>
            <a:srgbClr val="EEF8FF"/>
          </a:solidFill>
          <a:ln w="76200">
            <a:solidFill>
              <a:srgbClr val="A9D6F2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7" name="anim_9_92"/>
          <p:cNvSpPr txBox="1"/>
          <p:nvPr/>
        </p:nvSpPr>
        <p:spPr>
          <a:xfrm>
            <a:off x="731520" y="3044952"/>
            <a:ext cx="107899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وضّح بطريقة الترتيب الإلكتروني النقطي كيفيّة ارتباط الصوديوم مع الكلور لتكوين كلوريد الصوديوم.</a:t>
            </a:r>
            <a:endParaRPr lang="ar-KW" sz="2400" dirty="0"/>
          </a:p>
        </p:txBody>
      </p:sp>
      <p:sp>
        <p:nvSpPr>
          <p:cNvPr id="8" name="anim_9_93"/>
          <p:cNvSpPr txBox="1"/>
          <p:nvPr/>
        </p:nvSpPr>
        <p:spPr>
          <a:xfrm>
            <a:off x="731520" y="3840480"/>
            <a:ext cx="10789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6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الحــل :</a:t>
            </a:r>
            <a:endParaRPr lang="ar-KW" sz="2600" dirty="0"/>
          </a:p>
        </p:txBody>
      </p:sp>
      <p:pic>
        <p:nvPicPr>
          <p:cNvPr id="9" name="anim_9_94" descr="eq_na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4297680"/>
            <a:ext cx="7955280" cy="156469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1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0_95"/>
          <p:cNvSpPr/>
          <p:nvPr/>
        </p:nvSpPr>
        <p:spPr>
          <a:xfrm>
            <a:off x="3886200" y="502920"/>
            <a:ext cx="7863840" cy="868680"/>
          </a:xfrm>
          <a:prstGeom prst="roundRect">
            <a:avLst>
              <a:gd name="adj" fmla="val 49474"/>
            </a:avLst>
          </a:prstGeom>
          <a:solidFill>
            <a:srgbClr val="0F9D8E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لاحظ من التفاعل السابق</a:t>
            </a:r>
            <a:endParaRPr lang="ar-KW" sz="3600" dirty="0"/>
          </a:p>
        </p:txBody>
      </p:sp>
      <p:pic>
        <p:nvPicPr>
          <p:cNvPr id="4" name="anim_10_96" descr="s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pic>
        <p:nvPicPr>
          <p:cNvPr id="5" name="anim_10_97" descr="eq_na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06640" cy="1456784"/>
          </a:xfrm>
          <a:prstGeom prst="rect">
            <a:avLst/>
          </a:prstGeom>
        </p:spPr>
      </p:pic>
      <p:sp>
        <p:nvSpPr>
          <p:cNvPr id="6" name="anim_10_98"/>
          <p:cNvSpPr txBox="1"/>
          <p:nvPr/>
        </p:nvSpPr>
        <p:spPr>
          <a:xfrm>
            <a:off x="3108960" y="3108960"/>
            <a:ext cx="8641080" cy="3063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لاحظ من التفاعل السابق انتقال إلكترون التكافؤ من ذرّة الصوديوم </a:t>
            </a:r>
            <a:r>
              <a:rPr lang="ar-KW" altLang="en-US" sz="24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(فلز)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إلى ذرّة الكلور </a:t>
            </a: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(لافلز)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فبسبب هذا الانتقال للإلكترونات تحوّل الصوديوم إلى </a:t>
            </a:r>
            <a:r>
              <a:rPr lang="ar-KW" altLang="en-US" sz="24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أيون الصوديوم الموجب (كاتيون)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والكلور إلى </a:t>
            </a: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أيون الكلوريد السالب (أنيون)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ونتيجة لاختلاف الشحنة بين الأيونات، يحدث تجاذب بين كاتيون الصوديوم وأنيون الكلوريد، وتتكوّن </a:t>
            </a:r>
            <a:r>
              <a:rPr lang="ar-KW" altLang="en-US" sz="24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الرابطة الأيونية.</a:t>
            </a:r>
            <a:endParaRPr lang="ar-KW" sz="2400" dirty="0"/>
          </a:p>
        </p:txBody>
      </p:sp>
      <p:pic>
        <p:nvPicPr>
          <p:cNvPr id="7" name="anim_10_99" descr="na_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63240"/>
            <a:ext cx="1417320" cy="1417320"/>
          </a:xfrm>
          <a:prstGeom prst="rect">
            <a:avLst/>
          </a:prstGeom>
        </p:spPr>
      </p:pic>
      <p:sp>
        <p:nvSpPr>
          <p:cNvPr id="8" name="anim_10_100"/>
          <p:cNvSpPr txBox="1"/>
          <p:nvPr/>
        </p:nvSpPr>
        <p:spPr>
          <a:xfrm>
            <a:off x="1828800" y="347472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6C4FE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altLang="en-US" sz="26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pic>
        <p:nvPicPr>
          <p:cNvPr id="9" name="anim_10_101" descr="cl_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17720"/>
            <a:ext cx="1417320" cy="1417320"/>
          </a:xfrm>
          <a:prstGeom prst="rect">
            <a:avLst/>
          </a:prstGeom>
        </p:spPr>
      </p:pic>
      <p:sp>
        <p:nvSpPr>
          <p:cNvPr id="10" name="anim_10_102"/>
          <p:cNvSpPr txBox="1"/>
          <p:nvPr/>
        </p:nvSpPr>
        <p:spPr>
          <a:xfrm>
            <a:off x="1828800" y="502920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0B8A5A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</a:t>
            </a:r>
            <a:r>
              <a:rPr lang="en-US" altLang="en-US" sz="26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6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1_103"/>
          <p:cNvSpPr/>
          <p:nvPr/>
        </p:nvSpPr>
        <p:spPr>
          <a:xfrm>
            <a:off x="7726680" y="502920"/>
            <a:ext cx="4023360" cy="868680"/>
          </a:xfrm>
          <a:prstGeom prst="roundRect">
            <a:avLst>
              <a:gd name="adj" fmla="val 49474"/>
            </a:avLst>
          </a:prstGeom>
          <a:solidFill>
            <a:srgbClr val="1F6FB2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(2)</a:t>
            </a:r>
            <a:endParaRPr lang="ar-KW" sz="3600" dirty="0"/>
          </a:p>
        </p:txBody>
      </p:sp>
      <p:pic>
        <p:nvPicPr>
          <p:cNvPr id="4" name="anim_11_104" descr="s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11_105"/>
          <p:cNvSpPr/>
          <p:nvPr/>
        </p:nvSpPr>
        <p:spPr>
          <a:xfrm>
            <a:off x="457200" y="1691640"/>
            <a:ext cx="11292840" cy="4206240"/>
          </a:xfrm>
          <a:prstGeom prst="roundRect">
            <a:avLst>
              <a:gd name="adj" fmla="val 8696"/>
            </a:avLst>
          </a:prstGeom>
          <a:solidFill>
            <a:srgbClr val="EEF8FF"/>
          </a:solidFill>
          <a:ln w="76200">
            <a:solidFill>
              <a:srgbClr val="A9D6F2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11_106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6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وضّح بطريقة الترتيب الإلكتروني النقطي كيفيّة ارتباط المغنيسيوم مع الأكسجين لتكوين أكسيد المغنيسيوم.</a:t>
            </a:r>
            <a:endParaRPr lang="ar-KW" sz="2600" dirty="0"/>
          </a:p>
        </p:txBody>
      </p:sp>
      <p:sp>
        <p:nvSpPr>
          <p:cNvPr id="7" name="anim_11_107"/>
          <p:cNvSpPr txBox="1"/>
          <p:nvPr/>
        </p:nvSpPr>
        <p:spPr>
          <a:xfrm>
            <a:off x="731520" y="2788920"/>
            <a:ext cx="10789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6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الحــل :</a:t>
            </a:r>
            <a:endParaRPr lang="ar-KW" sz="2600" dirty="0"/>
          </a:p>
        </p:txBody>
      </p:sp>
      <p:pic>
        <p:nvPicPr>
          <p:cNvPr id="8" name="anim_11_108" descr="eq_m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520440"/>
            <a:ext cx="9235440" cy="1398708"/>
          </a:xfrm>
          <a:prstGeom prst="rect">
            <a:avLst/>
          </a:prstGeom>
        </p:spPr>
      </p:pic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2_109"/>
          <p:cNvSpPr/>
          <p:nvPr/>
        </p:nvSpPr>
        <p:spPr>
          <a:xfrm>
            <a:off x="5532120" y="502920"/>
            <a:ext cx="6217920" cy="868680"/>
          </a:xfrm>
          <a:prstGeom prst="roundRect">
            <a:avLst>
              <a:gd name="adj" fmla="val 49474"/>
            </a:avLst>
          </a:prstGeom>
          <a:solidFill>
            <a:srgbClr val="E59A0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قانون حفظ الشحنة</a:t>
            </a:r>
            <a:endParaRPr lang="ar-KW" sz="3600" dirty="0"/>
          </a:p>
        </p:txBody>
      </p:sp>
      <p:pic>
        <p:nvPicPr>
          <p:cNvPr id="4" name="anim_12_110" descr="s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12_111"/>
          <p:cNvSpPr txBox="1"/>
          <p:nvPr/>
        </p:nvSpPr>
        <p:spPr>
          <a:xfrm>
            <a:off x="457200" y="1645920"/>
            <a:ext cx="112928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المثال (1) والمثال (2) لاحظ أن مجموع الشحنات الكهربائية في المتفاعلات والنواتج متساوٍ، وهو ما ينصّ عليه </a:t>
            </a:r>
            <a:r>
              <a:rPr lang="ar-KW" altLang="en-US" sz="2400" b="1" dirty="0">
                <a:solidFill>
                  <a:srgbClr val="E59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قانون حفظ الشحنة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ar-KW" altLang="en-US" sz="24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«مجموع الشحنات الكهربائية الكلّية للمواد المتفاعلة يساوي مجموع الشحنات الكهربائية الكلّية للمواد الناتجة».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ويستخدم هذا القانون لوزن المعادلة حسب الشحنات الكهربائية، وبتطبيق القانون على المثال (1) نجد ما يلي:</a:t>
            </a:r>
            <a:endParaRPr lang="ar-KW" sz="2400" dirty="0"/>
          </a:p>
        </p:txBody>
      </p:sp>
      <p:pic>
        <p:nvPicPr>
          <p:cNvPr id="6" name="anim_12_112" descr="eq_char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3931920"/>
            <a:ext cx="7031152" cy="2377440"/>
          </a:xfrm>
          <a:prstGeom prst="rect">
            <a:avLst/>
          </a:prstGeom>
        </p:spPr>
      </p:pic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3_113"/>
          <p:cNvSpPr/>
          <p:nvPr/>
        </p:nvSpPr>
        <p:spPr>
          <a:xfrm>
            <a:off x="3886200" y="502920"/>
            <a:ext cx="7863840" cy="868680"/>
          </a:xfrm>
          <a:prstGeom prst="roundRect">
            <a:avLst>
              <a:gd name="adj" fmla="val 49474"/>
            </a:avLst>
          </a:prstGeom>
          <a:solidFill>
            <a:srgbClr val="6C4FE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الخاصية الأيونية والسالبية</a:t>
            </a:r>
            <a:endParaRPr lang="ar-KW" sz="3600" dirty="0"/>
          </a:p>
        </p:txBody>
      </p:sp>
      <p:pic>
        <p:nvPicPr>
          <p:cNvPr id="4" name="anim_13_114" descr="s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13_115"/>
          <p:cNvSpPr txBox="1"/>
          <p:nvPr/>
        </p:nvSpPr>
        <p:spPr>
          <a:xfrm>
            <a:off x="457200" y="1600200"/>
            <a:ext cx="1129284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ترتبط </a:t>
            </a:r>
            <a:r>
              <a:rPr lang="ar-KW" altLang="en-US" sz="23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الخاصية الأيونية</a:t>
            </a: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للروابط في المركبات </a:t>
            </a:r>
            <a:r>
              <a:rPr lang="ar-KW" altLang="en-US" sz="23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بالسّالبية الكهربائية</a:t>
            </a: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فتظهر الخاصية الأيونية في الرابطة الأيونية بشكلٍ كبيرٍ عندما يكون الفرق في السّالبية الكهربائية بين العنصرين المكوّنين للرابطة </a:t>
            </a:r>
            <a:r>
              <a:rPr lang="ar-KW" altLang="en-US" sz="23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من أو يساوي (1.7)</a:t>
            </a: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حسب مقياس باولنج؛ فكلّما زاد الفرق في السّالبية الكهربائية للعناصر المكوّنة للمركب زادت الخاصّية الأيونية والعكس صحيح. ويوضح الجدول (13) قيم السّالبية الكهربائية حسب مقياس باولنج لبعض العناصر.</a:t>
            </a:r>
            <a:endParaRPr lang="ar-KW" sz="2300" dirty="0"/>
          </a:p>
        </p:txBody>
      </p:sp>
      <p:sp>
        <p:nvSpPr>
          <p:cNvPr id="6" name="anim_13_116"/>
          <p:cNvSpPr/>
          <p:nvPr/>
        </p:nvSpPr>
        <p:spPr>
          <a:xfrm>
            <a:off x="429768" y="4315968"/>
            <a:ext cx="11347704" cy="1755648"/>
          </a:xfrm>
          <a:prstGeom prst="roundRect">
            <a:avLst>
              <a:gd name="adj" fmla="val 18229"/>
            </a:avLst>
          </a:prstGeom>
          <a:solidFill>
            <a:srgbClr val="FFFFFF">
              <a:alpha val="85000"/>
            </a:srgbClr>
          </a:solidFill>
          <a:ln w="63500">
            <a:solidFill>
              <a:srgbClr val="8FB1DA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graphicFrame>
        <p:nvGraphicFramePr>
          <p:cNvPr id="7" name="anim_13_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572000"/>
          <a:ext cx="10835640" cy="914400"/>
        </p:xfrm>
        <a:graphic>
          <a:graphicData uri="http://schemas.openxmlformats.org/drawingml/2006/table">
            <a:tbl>
              <a:tblPr/>
              <a:tblGrid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2423160"/>
              </a:tblGrid>
              <a:tr h="621792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رمز العنصر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632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السّالبية الكهربائية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FB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FA"/>
                    </a:solidFill>
                  </a:tcPr>
                </a:tc>
              </a:tr>
            </a:tbl>
          </a:graphicData>
        </a:graphic>
      </p:graphicFrame>
      <p:sp>
        <p:nvSpPr>
          <p:cNvPr id="8" name="anim_13_118"/>
          <p:cNvSpPr txBox="1"/>
          <p:nvPr/>
        </p:nvSpPr>
        <p:spPr>
          <a:xfrm>
            <a:off x="4754880" y="6080760"/>
            <a:ext cx="2743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18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جدول (13)</a:t>
            </a:r>
            <a:endParaRPr lang="ar-KW" sz="1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8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Graphic spid="7" grpId="0">
        <p:bldAsOne/>
      </p:bldGraphic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4_119"/>
          <p:cNvSpPr/>
          <p:nvPr/>
        </p:nvSpPr>
        <p:spPr>
          <a:xfrm>
            <a:off x="7726680" y="502920"/>
            <a:ext cx="4023360" cy="868680"/>
          </a:xfrm>
          <a:prstGeom prst="roundRect">
            <a:avLst>
              <a:gd name="adj" fmla="val 49474"/>
            </a:avLst>
          </a:prstGeom>
          <a:solidFill>
            <a:srgbClr val="1F6FB2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(3)</a:t>
            </a:r>
            <a:endParaRPr lang="ar-KW" sz="3600" dirty="0"/>
          </a:p>
        </p:txBody>
      </p:sp>
      <p:pic>
        <p:nvPicPr>
          <p:cNvPr id="4" name="anim_14_120" descr="s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14_121"/>
          <p:cNvSpPr/>
          <p:nvPr/>
        </p:nvSpPr>
        <p:spPr>
          <a:xfrm>
            <a:off x="457200" y="1645920"/>
            <a:ext cx="11292840" cy="4572000"/>
          </a:xfrm>
          <a:prstGeom prst="roundRect">
            <a:avLst>
              <a:gd name="adj" fmla="val 8000"/>
            </a:avLst>
          </a:prstGeom>
          <a:solidFill>
            <a:srgbClr val="EEF8FF"/>
          </a:solidFill>
          <a:ln w="76200">
            <a:solidFill>
              <a:srgbClr val="A9D6F2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14_122"/>
          <p:cNvSpPr txBox="1"/>
          <p:nvPr/>
        </p:nvSpPr>
        <p:spPr>
          <a:xfrm>
            <a:off x="4343400" y="1783080"/>
            <a:ext cx="7223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رتّب المركبات الأيونية التالية من حيث الخاصيّة الأيونية ترتيبًا تصاعديًا.</a:t>
            </a:r>
            <a:endParaRPr lang="ar-KW" sz="2300" dirty="0"/>
          </a:p>
        </p:txBody>
      </p:sp>
      <p:sp>
        <p:nvSpPr>
          <p:cNvPr id="7" name="anim_14_123"/>
          <p:cNvSpPr txBox="1"/>
          <p:nvPr/>
        </p:nvSpPr>
        <p:spPr>
          <a:xfrm>
            <a:off x="685800" y="1783080"/>
            <a:ext cx="3611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6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LiCl  ,  MgO  ,  NaF</a:t>
            </a:r>
            <a:endParaRPr lang="en-US" sz="2600" dirty="0"/>
          </a:p>
        </p:txBody>
      </p:sp>
      <p:sp>
        <p:nvSpPr>
          <p:cNvPr id="8" name="anim_14_124"/>
          <p:cNvSpPr txBox="1"/>
          <p:nvPr/>
        </p:nvSpPr>
        <p:spPr>
          <a:xfrm>
            <a:off x="6217920" y="2487168"/>
            <a:ext cx="5349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الحــل :</a:t>
            </a:r>
            <a:endParaRPr lang="ar-KW" sz="2500" dirty="0"/>
          </a:p>
        </p:txBody>
      </p:sp>
      <p:sp>
        <p:nvSpPr>
          <p:cNvPr id="9" name="anim_14_125"/>
          <p:cNvSpPr txBox="1"/>
          <p:nvPr/>
        </p:nvSpPr>
        <p:spPr>
          <a:xfrm>
            <a:off x="731520" y="2880360"/>
            <a:ext cx="10835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باستخدام المعلومات من جدول </a:t>
            </a:r>
            <a:r>
              <a:rPr lang="ar-KW" altLang="en-US" sz="22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(13)</a:t>
            </a: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يتم حساب الفرق في السّالبية الكهربائية للعناصر المكونة للمركب.</a:t>
            </a:r>
            <a:endParaRPr lang="ar-KW" sz="2200" dirty="0"/>
          </a:p>
        </p:txBody>
      </p:sp>
      <p:sp>
        <p:nvSpPr>
          <p:cNvPr id="10" name="anim_14_126"/>
          <p:cNvSpPr txBox="1"/>
          <p:nvPr/>
        </p:nvSpPr>
        <p:spPr>
          <a:xfrm>
            <a:off x="822960" y="3429000"/>
            <a:ext cx="5029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l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6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LiCl = 3.0 – 1.0 = 2.0</a:t>
            </a:r>
            <a:endParaRPr lang="en-US" sz="2600" dirty="0"/>
          </a:p>
        </p:txBody>
      </p:sp>
      <p:sp>
        <p:nvSpPr>
          <p:cNvPr id="11" name="anim_14_127"/>
          <p:cNvSpPr txBox="1"/>
          <p:nvPr/>
        </p:nvSpPr>
        <p:spPr>
          <a:xfrm>
            <a:off x="82296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l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6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MgO = 3.5 – 1.2 = 2.3</a:t>
            </a:r>
            <a:endParaRPr lang="en-US" sz="2600" dirty="0"/>
          </a:p>
        </p:txBody>
      </p:sp>
      <p:sp>
        <p:nvSpPr>
          <p:cNvPr id="12" name="anim_14_128"/>
          <p:cNvSpPr txBox="1"/>
          <p:nvPr/>
        </p:nvSpPr>
        <p:spPr>
          <a:xfrm>
            <a:off x="822960" y="4434840"/>
            <a:ext cx="5029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l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6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 = 4.0 – 0.9 = 3.1</a:t>
            </a:r>
            <a:endParaRPr lang="en-US" sz="2600" dirty="0"/>
          </a:p>
        </p:txBody>
      </p:sp>
      <p:sp>
        <p:nvSpPr>
          <p:cNvPr id="13" name="anim_14_129"/>
          <p:cNvSpPr txBox="1"/>
          <p:nvPr/>
        </p:nvSpPr>
        <p:spPr>
          <a:xfrm>
            <a:off x="6035040" y="3657600"/>
            <a:ext cx="5394960" cy="685800"/>
          </a:xfrm>
          <a:prstGeom prst="roundRect">
            <a:avLst>
              <a:gd name="adj" fmla="val 4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34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 &gt; MgO &gt; LiCl</a:t>
            </a:r>
            <a:endParaRPr lang="en-US" sz="3400" dirty="0"/>
          </a:p>
        </p:txBody>
      </p:sp>
      <p:sp>
        <p:nvSpPr>
          <p:cNvPr id="14" name="anim_14_130"/>
          <p:cNvSpPr txBox="1"/>
          <p:nvPr/>
        </p:nvSpPr>
        <p:spPr>
          <a:xfrm>
            <a:off x="9418320" y="5074920"/>
            <a:ext cx="1737360" cy="731520"/>
          </a:xfrm>
          <a:prstGeom prst="rect">
            <a:avLst/>
          </a:prstGeom>
          <a:solidFill>
            <a:srgbClr val="D6ECFA"/>
          </a:solidFill>
          <a:ln w="19050">
            <a:solidFill>
              <a:srgbClr val="16325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الأقل</a:t>
            </a:r>
            <a:endParaRPr lang="ar-KW" sz="2800" dirty="0"/>
          </a:p>
        </p:txBody>
      </p:sp>
      <p:sp>
        <p:nvSpPr>
          <p:cNvPr id="15" name="anim_14_131"/>
          <p:cNvSpPr/>
          <p:nvPr/>
        </p:nvSpPr>
        <p:spPr>
          <a:xfrm flipH="1">
            <a:off x="7589520" y="5440680"/>
            <a:ext cx="1691640" cy="0"/>
          </a:xfrm>
          <a:prstGeom prst="line">
            <a:avLst/>
          </a:prstGeom>
          <a:noFill/>
          <a:ln w="88900">
            <a:solidFill>
              <a:srgbClr val="1F5F7A"/>
            </a:solidFill>
            <a:prstDash val="solid"/>
            <a:tailEnd type="triangle"/>
          </a:ln>
        </p:spPr>
      </p:sp>
      <p:sp>
        <p:nvSpPr>
          <p:cNvPr id="16" name="anim_14_132"/>
          <p:cNvSpPr txBox="1"/>
          <p:nvPr/>
        </p:nvSpPr>
        <p:spPr>
          <a:xfrm>
            <a:off x="5715000" y="5074920"/>
            <a:ext cx="1737360" cy="731520"/>
          </a:xfrm>
          <a:prstGeom prst="rect">
            <a:avLst/>
          </a:prstGeom>
          <a:solidFill>
            <a:srgbClr val="D6ECFA"/>
          </a:solidFill>
          <a:ln w="19050">
            <a:solidFill>
              <a:srgbClr val="16325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الأعلى</a:t>
            </a:r>
            <a:endParaRPr lang="ar-KW" sz="28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3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00"/>
                            </p:stCondLst>
                            <p:childTnLst>
                              <p:par>
                                <p:cTn id="6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5_133"/>
          <p:cNvSpPr/>
          <p:nvPr/>
        </p:nvSpPr>
        <p:spPr>
          <a:xfrm>
            <a:off x="7452360" y="502920"/>
            <a:ext cx="4297680" cy="868680"/>
          </a:xfrm>
          <a:prstGeom prst="roundRect">
            <a:avLst>
              <a:gd name="adj" fmla="val 49474"/>
            </a:avLst>
          </a:prstGeom>
          <a:solidFill>
            <a:srgbClr val="E8335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(1)</a:t>
            </a:r>
            <a:endParaRPr lang="ar-KW" sz="3600" dirty="0"/>
          </a:p>
        </p:txBody>
      </p:sp>
      <p:pic>
        <p:nvPicPr>
          <p:cNvPr id="4" name="anim_15_134" descr="sp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15_135"/>
          <p:cNvSpPr/>
          <p:nvPr/>
        </p:nvSpPr>
        <p:spPr>
          <a:xfrm>
            <a:off x="457200" y="1691640"/>
            <a:ext cx="11292840" cy="443484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76200">
            <a:solidFill>
              <a:srgbClr val="8FA9D6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15_136"/>
          <p:cNvSpPr txBox="1"/>
          <p:nvPr/>
        </p:nvSpPr>
        <p:spPr>
          <a:xfrm>
            <a:off x="731520" y="1783080"/>
            <a:ext cx="107899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وضّح بطريقة الترتيب الإلكتروني النقطي كيفيّة ارتباط عنصر البوتاسيوم مع عنصر الكلور</a:t>
            </a:r>
            <a:endParaRPr lang="ar-KW" sz="2400" dirty="0"/>
          </a:p>
        </p:txBody>
      </p:sp>
      <p:sp>
        <p:nvSpPr>
          <p:cNvPr id="7" name="anim_15_137"/>
          <p:cNvSpPr txBox="1"/>
          <p:nvPr/>
        </p:nvSpPr>
        <p:spPr>
          <a:xfrm>
            <a:off x="731520" y="2743200"/>
            <a:ext cx="10789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2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..........................................................................................................</a:t>
            </a:r>
            <a:endParaRPr lang="en-US" sz="2200" dirty="0"/>
          </a:p>
        </p:txBody>
      </p:sp>
      <p:sp>
        <p:nvSpPr>
          <p:cNvPr id="8" name="anim_15_138"/>
          <p:cNvSpPr txBox="1"/>
          <p:nvPr/>
        </p:nvSpPr>
        <p:spPr>
          <a:xfrm>
            <a:off x="6309360" y="4434840"/>
            <a:ext cx="5257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الرابطة: </a:t>
            </a:r>
            <a:r>
              <a:rPr lang="ar-KW" altLang="en-US" sz="25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</a:t>
            </a:r>
            <a:endParaRPr lang="ar-KW" sz="2500" dirty="0"/>
          </a:p>
        </p:txBody>
      </p:sp>
      <p:sp>
        <p:nvSpPr>
          <p:cNvPr id="9" name="anim_15_139"/>
          <p:cNvSpPr txBox="1"/>
          <p:nvPr/>
        </p:nvSpPr>
        <p:spPr>
          <a:xfrm>
            <a:off x="731520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المركب الناتج: </a:t>
            </a:r>
            <a:r>
              <a:rPr lang="ar-KW" altLang="en-US" sz="25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</a:t>
            </a:r>
            <a:endParaRPr lang="ar-KW" sz="2500" dirty="0"/>
          </a:p>
        </p:txBody>
      </p:sp>
      <p:pic>
        <p:nvPicPr>
          <p:cNvPr id="10" name="anim_15_140" descr="eq_kc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743200"/>
            <a:ext cx="8686800" cy="1500109"/>
          </a:xfrm>
          <a:prstGeom prst="rect">
            <a:avLst/>
          </a:prstGeom>
        </p:spPr>
      </p:pic>
      <p:sp>
        <p:nvSpPr>
          <p:cNvPr id="11" name="anim_15_141"/>
          <p:cNvSpPr txBox="1"/>
          <p:nvPr/>
        </p:nvSpPr>
        <p:spPr>
          <a:xfrm>
            <a:off x="6949440" y="5120640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أيونية</a:t>
            </a:r>
            <a:endParaRPr lang="ar-KW" sz="2800" dirty="0"/>
          </a:p>
        </p:txBody>
      </p:sp>
      <p:sp>
        <p:nvSpPr>
          <p:cNvPr id="12" name="anim_15_142"/>
          <p:cNvSpPr txBox="1"/>
          <p:nvPr/>
        </p:nvSpPr>
        <p:spPr>
          <a:xfrm>
            <a:off x="109728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كلوريد البوتاسيوم</a:t>
            </a:r>
            <a:endParaRPr lang="ar-KW" sz="28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6_143"/>
          <p:cNvSpPr/>
          <p:nvPr/>
        </p:nvSpPr>
        <p:spPr>
          <a:xfrm>
            <a:off x="7452360" y="502920"/>
            <a:ext cx="4297680" cy="868680"/>
          </a:xfrm>
          <a:prstGeom prst="roundRect">
            <a:avLst>
              <a:gd name="adj" fmla="val 49474"/>
            </a:avLst>
          </a:prstGeom>
          <a:solidFill>
            <a:srgbClr val="E8335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(2)</a:t>
            </a:r>
            <a:endParaRPr lang="ar-KW" sz="3600" dirty="0"/>
          </a:p>
        </p:txBody>
      </p:sp>
      <p:pic>
        <p:nvPicPr>
          <p:cNvPr id="4" name="anim_16_144" descr="sp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16_145"/>
          <p:cNvSpPr/>
          <p:nvPr/>
        </p:nvSpPr>
        <p:spPr>
          <a:xfrm>
            <a:off x="457200" y="1691640"/>
            <a:ext cx="11292840" cy="443484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76200">
            <a:solidFill>
              <a:srgbClr val="8FA9D6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16_146"/>
          <p:cNvSpPr txBox="1"/>
          <p:nvPr/>
        </p:nvSpPr>
        <p:spPr>
          <a:xfrm>
            <a:off x="731520" y="1783080"/>
            <a:ext cx="107899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وضّح بطريقة الترتيب الإلكتروني النقطي كيفيّة ارتباط عنصر الكالسيوم مع عنصر الأكسجين</a:t>
            </a:r>
            <a:endParaRPr lang="ar-KW" sz="2400" dirty="0"/>
          </a:p>
        </p:txBody>
      </p:sp>
      <p:sp>
        <p:nvSpPr>
          <p:cNvPr id="7" name="anim_16_147"/>
          <p:cNvSpPr txBox="1"/>
          <p:nvPr/>
        </p:nvSpPr>
        <p:spPr>
          <a:xfrm>
            <a:off x="731520" y="2743200"/>
            <a:ext cx="10789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2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..........................................................................................................</a:t>
            </a:r>
            <a:endParaRPr lang="en-US" sz="2200" dirty="0"/>
          </a:p>
        </p:txBody>
      </p:sp>
      <p:sp>
        <p:nvSpPr>
          <p:cNvPr id="8" name="anim_16_148"/>
          <p:cNvSpPr txBox="1"/>
          <p:nvPr/>
        </p:nvSpPr>
        <p:spPr>
          <a:xfrm>
            <a:off x="6309360" y="4434840"/>
            <a:ext cx="5257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الرابطة: </a:t>
            </a:r>
            <a:r>
              <a:rPr lang="ar-KW" altLang="en-US" sz="25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</a:t>
            </a:r>
            <a:endParaRPr lang="ar-KW" sz="2500" dirty="0"/>
          </a:p>
        </p:txBody>
      </p:sp>
      <p:sp>
        <p:nvSpPr>
          <p:cNvPr id="9" name="anim_16_149"/>
          <p:cNvSpPr txBox="1"/>
          <p:nvPr/>
        </p:nvSpPr>
        <p:spPr>
          <a:xfrm>
            <a:off x="731520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المركب الناتج: </a:t>
            </a:r>
            <a:r>
              <a:rPr lang="ar-KW" altLang="en-US" sz="25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</a:t>
            </a:r>
            <a:endParaRPr lang="ar-KW" sz="2500" dirty="0"/>
          </a:p>
        </p:txBody>
      </p:sp>
      <p:pic>
        <p:nvPicPr>
          <p:cNvPr id="10" name="anim_16_150" descr="eq_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743200"/>
            <a:ext cx="8686800" cy="1357914"/>
          </a:xfrm>
          <a:prstGeom prst="rect">
            <a:avLst/>
          </a:prstGeom>
        </p:spPr>
      </p:pic>
      <p:sp>
        <p:nvSpPr>
          <p:cNvPr id="11" name="anim_16_151"/>
          <p:cNvSpPr txBox="1"/>
          <p:nvPr/>
        </p:nvSpPr>
        <p:spPr>
          <a:xfrm>
            <a:off x="6949440" y="5120640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أيونية</a:t>
            </a:r>
            <a:endParaRPr lang="ar-KW" sz="2800" dirty="0"/>
          </a:p>
        </p:txBody>
      </p:sp>
      <p:sp>
        <p:nvSpPr>
          <p:cNvPr id="12" name="anim_16_152"/>
          <p:cNvSpPr txBox="1"/>
          <p:nvPr/>
        </p:nvSpPr>
        <p:spPr>
          <a:xfrm>
            <a:off x="109728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أكسيد الكالسيوم</a:t>
            </a:r>
            <a:endParaRPr lang="ar-KW" sz="28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7_153"/>
          <p:cNvSpPr/>
          <p:nvPr/>
        </p:nvSpPr>
        <p:spPr>
          <a:xfrm>
            <a:off x="7178040" y="502920"/>
            <a:ext cx="4572000" cy="868680"/>
          </a:xfrm>
          <a:prstGeom prst="roundRect">
            <a:avLst>
              <a:gd name="adj" fmla="val 49474"/>
            </a:avLst>
          </a:prstGeom>
          <a:solidFill>
            <a:srgbClr val="0B8A5A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إجاباتك</a:t>
            </a:r>
            <a:endParaRPr lang="ar-KW" sz="3600" dirty="0"/>
          </a:p>
        </p:txBody>
      </p:sp>
      <p:pic>
        <p:nvPicPr>
          <p:cNvPr id="4" name="anim_17_154" descr="sp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17_155"/>
          <p:cNvSpPr/>
          <p:nvPr/>
        </p:nvSpPr>
        <p:spPr>
          <a:xfrm>
            <a:off x="457200" y="1691640"/>
            <a:ext cx="11292840" cy="443484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17_156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6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اجاباتك التي حصلت عليها من التمرين (1) والتمرين (2)، أجب عما يلي:</a:t>
            </a:r>
            <a:endParaRPr lang="ar-KW" sz="2600" dirty="0"/>
          </a:p>
        </p:txBody>
      </p:sp>
      <p:sp>
        <p:nvSpPr>
          <p:cNvPr id="7" name="anim_17_157"/>
          <p:cNvSpPr txBox="1"/>
          <p:nvPr/>
        </p:nvSpPr>
        <p:spPr>
          <a:xfrm>
            <a:off x="3657600" y="2743200"/>
            <a:ext cx="79095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الصيغة الكيميائية للمركب الذي له خاصية أيونية أعلى هي </a:t>
            </a:r>
            <a:r>
              <a:rPr lang="ar-KW" altLang="en-US" sz="25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</a:t>
            </a:r>
            <a:endParaRPr lang="ar-KW" sz="2500" dirty="0"/>
          </a:p>
        </p:txBody>
      </p:sp>
      <p:sp>
        <p:nvSpPr>
          <p:cNvPr id="8" name="anim_17_158"/>
          <p:cNvSpPr txBox="1"/>
          <p:nvPr/>
        </p:nvSpPr>
        <p:spPr>
          <a:xfrm>
            <a:off x="1280160" y="2788920"/>
            <a:ext cx="2011680" cy="594360"/>
          </a:xfrm>
          <a:prstGeom prst="roundRect">
            <a:avLst>
              <a:gd name="adj" fmla="val 50000"/>
            </a:avLst>
          </a:prstGeom>
          <a:solidFill>
            <a:srgbClr val="0B8A5A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</a:t>
            </a:r>
            <a:endParaRPr lang="en-US" sz="2800" dirty="0"/>
          </a:p>
        </p:txBody>
      </p:sp>
      <p:sp>
        <p:nvSpPr>
          <p:cNvPr id="9" name="anim_17_159"/>
          <p:cNvSpPr txBox="1"/>
          <p:nvPr/>
        </p:nvSpPr>
        <p:spPr>
          <a:xfrm>
            <a:off x="3657600" y="3749040"/>
            <a:ext cx="79095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اسم المركب الذي له أقل خاصية أيونية </a:t>
            </a:r>
            <a:r>
              <a:rPr lang="ar-KW" altLang="en-US" sz="25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</a:t>
            </a:r>
            <a:endParaRPr lang="ar-KW" sz="2500" dirty="0"/>
          </a:p>
        </p:txBody>
      </p:sp>
      <p:sp>
        <p:nvSpPr>
          <p:cNvPr id="10" name="anim_17_160"/>
          <p:cNvSpPr txBox="1"/>
          <p:nvPr/>
        </p:nvSpPr>
        <p:spPr>
          <a:xfrm>
            <a:off x="822960" y="3794760"/>
            <a:ext cx="2926080" cy="594360"/>
          </a:xfrm>
          <a:prstGeom prst="roundRect">
            <a:avLst>
              <a:gd name="adj" fmla="val 49231"/>
            </a:avLst>
          </a:prstGeom>
          <a:solidFill>
            <a:srgbClr val="0B8A5A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كلوريد البوتاسيوم</a:t>
            </a:r>
            <a:endParaRPr lang="ar-KW" sz="2400" dirty="0"/>
          </a:p>
        </p:txBody>
      </p:sp>
      <p:sp>
        <p:nvSpPr>
          <p:cNvPr id="11" name="anim_17_161"/>
          <p:cNvSpPr txBox="1"/>
          <p:nvPr/>
        </p:nvSpPr>
        <p:spPr>
          <a:xfrm>
            <a:off x="822960" y="4983480"/>
            <a:ext cx="5029200" cy="640080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/>
        </p:spPr>
        <p:txBody>
          <a:bodyPr wrap="square" lIns="50800" tIns="50800" rIns="50800" bIns="5080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6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= 3.5 – 1.0 = 2.5</a:t>
            </a:r>
            <a:endParaRPr lang="en-US" sz="2600" dirty="0"/>
          </a:p>
        </p:txBody>
      </p:sp>
      <p:sp>
        <p:nvSpPr>
          <p:cNvPr id="12" name="anim_17_162"/>
          <p:cNvSpPr txBox="1"/>
          <p:nvPr/>
        </p:nvSpPr>
        <p:spPr>
          <a:xfrm>
            <a:off x="6217920" y="4983480"/>
            <a:ext cx="5029200" cy="640080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/>
        </p:spPr>
        <p:txBody>
          <a:bodyPr wrap="square" lIns="50800" tIns="50800" rIns="50800" bIns="5080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6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KCl = 3.0 – 0.8 = 2.2</a:t>
            </a:r>
            <a:endParaRPr lang="en-US" sz="2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4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8_163"/>
          <p:cNvSpPr/>
          <p:nvPr/>
        </p:nvSpPr>
        <p:spPr>
          <a:xfrm>
            <a:off x="5532120" y="502920"/>
            <a:ext cx="6217920" cy="868680"/>
          </a:xfrm>
          <a:prstGeom prst="roundRect">
            <a:avLst>
              <a:gd name="adj" fmla="val 49474"/>
            </a:avLst>
          </a:prstGeom>
          <a:solidFill>
            <a:srgbClr val="E59A0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دعنا نلخص ما سبق</a:t>
            </a:r>
            <a:endParaRPr lang="ar-KW" sz="3600" dirty="0"/>
          </a:p>
        </p:txBody>
      </p:sp>
      <p:pic>
        <p:nvPicPr>
          <p:cNvPr id="4" name="anim_18_164" descr="s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pic>
        <p:nvPicPr>
          <p:cNvPr id="5" name="anim_18_165" descr="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371600" cy="1731645"/>
          </a:xfrm>
          <a:prstGeom prst="rect">
            <a:avLst/>
          </a:prstGeom>
        </p:spPr>
      </p:pic>
      <p:pic>
        <p:nvPicPr>
          <p:cNvPr id="6" name="anim_18_166" descr="sp_co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92808"/>
            <a:ext cx="640080" cy="640080"/>
          </a:xfrm>
          <a:prstGeom prst="rect">
            <a:avLst/>
          </a:prstGeom>
        </p:spPr>
      </p:pic>
      <p:sp>
        <p:nvSpPr>
          <p:cNvPr id="7" name="anim_18_167"/>
          <p:cNvSpPr txBox="1"/>
          <p:nvPr/>
        </p:nvSpPr>
        <p:spPr>
          <a:xfrm>
            <a:off x="11018520" y="194401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anim_18_168"/>
          <p:cNvSpPr txBox="1"/>
          <p:nvPr/>
        </p:nvSpPr>
        <p:spPr>
          <a:xfrm>
            <a:off x="2103120" y="1783080"/>
            <a:ext cx="8823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تتكون الرابطة الأيونية غالبًا نتيجة تفاعل ذرّة </a:t>
            </a:r>
            <a:r>
              <a:rPr lang="ar-KW" altLang="en-US" sz="24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فلز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مع ذرّة </a:t>
            </a:r>
            <a:r>
              <a:rPr lang="ar-KW" altLang="en-US" sz="24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لافلز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</a:t>
            </a:r>
            <a:endParaRPr lang="ar-KW" sz="2400" dirty="0"/>
          </a:p>
        </p:txBody>
      </p:sp>
      <p:pic>
        <p:nvPicPr>
          <p:cNvPr id="9" name="anim_18_169" descr="sp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852928"/>
            <a:ext cx="640080" cy="640080"/>
          </a:xfrm>
          <a:prstGeom prst="rect">
            <a:avLst/>
          </a:prstGeom>
        </p:spPr>
      </p:pic>
      <p:sp>
        <p:nvSpPr>
          <p:cNvPr id="10" name="anim_18_170"/>
          <p:cNvSpPr txBox="1"/>
          <p:nvPr/>
        </p:nvSpPr>
        <p:spPr>
          <a:xfrm>
            <a:off x="11018520" y="290413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anim_18_171"/>
          <p:cNvSpPr txBox="1"/>
          <p:nvPr/>
        </p:nvSpPr>
        <p:spPr>
          <a:xfrm>
            <a:off x="2103120" y="2743200"/>
            <a:ext cx="8823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ذرّة الفلز </a:t>
            </a:r>
            <a:r>
              <a:rPr lang="ar-KW" altLang="en-US" sz="24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تفقد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إلكترونات التكافؤ للوصول إلى حالة الاستقرار ⇐ تتحوّل إلى </a:t>
            </a:r>
            <a:r>
              <a:rPr lang="ar-KW" altLang="en-US" sz="24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أيون موجب</a:t>
            </a: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(كاتيون)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KW" sz="2400" dirty="0"/>
          </a:p>
        </p:txBody>
      </p:sp>
      <p:pic>
        <p:nvPicPr>
          <p:cNvPr id="12" name="anim_18_172" descr="sp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3995928"/>
            <a:ext cx="640080" cy="640080"/>
          </a:xfrm>
          <a:prstGeom prst="rect">
            <a:avLst/>
          </a:prstGeom>
        </p:spPr>
      </p:pic>
      <p:sp>
        <p:nvSpPr>
          <p:cNvPr id="13" name="anim_18_173"/>
          <p:cNvSpPr txBox="1"/>
          <p:nvPr/>
        </p:nvSpPr>
        <p:spPr>
          <a:xfrm>
            <a:off x="11018520" y="404713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anim_18_174"/>
          <p:cNvSpPr txBox="1"/>
          <p:nvPr/>
        </p:nvSpPr>
        <p:spPr>
          <a:xfrm>
            <a:off x="2103120" y="3886200"/>
            <a:ext cx="8823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ذرّة اللافلز تكتسب الإلكترونات المفقودة من ذرّة الفلز للوصول إلى حالة الاستقرار ⇐ تتحوّل إلى </a:t>
            </a:r>
            <a:r>
              <a:rPr lang="ar-KW" altLang="en-US" sz="24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أيون سالب</a:t>
            </a:r>
            <a:r>
              <a:rPr lang="ar-KW" altLang="en-US" sz="24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(أنيون)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ar-KW" sz="2400" dirty="0"/>
          </a:p>
        </p:txBody>
      </p:sp>
      <p:pic>
        <p:nvPicPr>
          <p:cNvPr id="15" name="anim_18_175" descr="sp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8520" y="5138928"/>
            <a:ext cx="640080" cy="640080"/>
          </a:xfrm>
          <a:prstGeom prst="rect">
            <a:avLst/>
          </a:prstGeom>
        </p:spPr>
      </p:pic>
      <p:sp>
        <p:nvSpPr>
          <p:cNvPr id="16" name="anim_18_176"/>
          <p:cNvSpPr txBox="1"/>
          <p:nvPr/>
        </p:nvSpPr>
        <p:spPr>
          <a:xfrm>
            <a:off x="11018520" y="519013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anim_18_177"/>
          <p:cNvSpPr txBox="1"/>
          <p:nvPr/>
        </p:nvSpPr>
        <p:spPr>
          <a:xfrm>
            <a:off x="2103120" y="5029200"/>
            <a:ext cx="88239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يجب أن </a:t>
            </a:r>
            <a:r>
              <a:rPr lang="ar-KW" altLang="en-US" sz="24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تتساوى</a:t>
            </a:r>
            <a:r>
              <a:rPr lang="ar-KW" altLang="en-US" sz="24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الشحنات الكهربائية في طرفي المعادلة.</a:t>
            </a:r>
            <a:endParaRPr lang="ar-KW" sz="24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10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45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19_178"/>
          <p:cNvSpPr/>
          <p:nvPr/>
        </p:nvSpPr>
        <p:spPr>
          <a:xfrm>
            <a:off x="5532120" y="502920"/>
            <a:ext cx="6217920" cy="868680"/>
          </a:xfrm>
          <a:prstGeom prst="roundRect">
            <a:avLst>
              <a:gd name="adj" fmla="val 49474"/>
            </a:avLst>
          </a:prstGeom>
          <a:solidFill>
            <a:srgbClr val="E59A0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دعنا نلخص ما سبق</a:t>
            </a:r>
            <a:endParaRPr lang="ar-KW" sz="3600" dirty="0"/>
          </a:p>
        </p:txBody>
      </p:sp>
      <p:pic>
        <p:nvPicPr>
          <p:cNvPr id="4" name="anim_19_179" descr="s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pic>
        <p:nvPicPr>
          <p:cNvPr id="5" name="anim_19_180" descr="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371600" cy="1731645"/>
          </a:xfrm>
          <a:prstGeom prst="rect">
            <a:avLst/>
          </a:prstGeom>
        </p:spPr>
      </p:pic>
      <p:pic>
        <p:nvPicPr>
          <p:cNvPr id="6" name="anim_19_181" descr="sp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1828800"/>
            <a:ext cx="640080" cy="640080"/>
          </a:xfrm>
          <a:prstGeom prst="rect">
            <a:avLst/>
          </a:prstGeom>
        </p:spPr>
      </p:pic>
      <p:sp>
        <p:nvSpPr>
          <p:cNvPr id="7" name="anim_19_182"/>
          <p:cNvSpPr txBox="1"/>
          <p:nvPr/>
        </p:nvSpPr>
        <p:spPr>
          <a:xfrm>
            <a:off x="11018520" y="188000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8" name="anim_19_183"/>
          <p:cNvSpPr txBox="1"/>
          <p:nvPr/>
        </p:nvSpPr>
        <p:spPr>
          <a:xfrm>
            <a:off x="2103120" y="1737360"/>
            <a:ext cx="8823960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ترتبط الخاصيّة الأيونية في المركبات بالسّالبية الكهربائية، تظهر الخاصيّة الأيونية في الرابطة الأيونية بشكلٍ كبيرٍ عندما يكون الفرق في السّالبية الكهربائية بين العنصرين المكونين للرابطة </a:t>
            </a:r>
            <a:r>
              <a:rPr lang="ar-KW" altLang="en-US" sz="23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من أو يساوي (1.7)</a:t>
            </a: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حسب مقياس باولنج؛ فكلّما زاد الفرق في السّالبية الكهربائية للعناصر المكوّنة للمركب زادت الخاصّية الأيونية والعكس صحيح.</a:t>
            </a:r>
            <a:endParaRPr lang="ar-KW" sz="2300" dirty="0"/>
          </a:p>
        </p:txBody>
      </p:sp>
      <p:pic>
        <p:nvPicPr>
          <p:cNvPr id="9" name="anim_19_184" descr="sp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4023360"/>
            <a:ext cx="640080" cy="640080"/>
          </a:xfrm>
          <a:prstGeom prst="rect">
            <a:avLst/>
          </a:prstGeom>
        </p:spPr>
      </p:pic>
      <p:sp>
        <p:nvSpPr>
          <p:cNvPr id="10" name="anim_19_185"/>
          <p:cNvSpPr txBox="1"/>
          <p:nvPr/>
        </p:nvSpPr>
        <p:spPr>
          <a:xfrm>
            <a:off x="11018520" y="407456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11" name="anim_19_186"/>
          <p:cNvSpPr txBox="1"/>
          <p:nvPr/>
        </p:nvSpPr>
        <p:spPr>
          <a:xfrm>
            <a:off x="2103120" y="3931920"/>
            <a:ext cx="88239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كتابة الصيغة الكيميائية للمركب الأيوني نبدأ بكتابة رمز الفلز </a:t>
            </a:r>
            <a:r>
              <a:rPr lang="ar-KW" altLang="en-US" sz="23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(على اليسار)</a:t>
            </a: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يليه رمز اللافلز </a:t>
            </a:r>
            <a:r>
              <a:rPr lang="ar-KW" altLang="en-US" sz="23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(على اليمين)</a:t>
            </a: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ar-KW" altLang="en-US" sz="23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مثل:</a:t>
            </a:r>
            <a:endParaRPr lang="ar-KW" sz="2300" dirty="0"/>
          </a:p>
        </p:txBody>
      </p:sp>
      <p:sp>
        <p:nvSpPr>
          <p:cNvPr id="12" name="anim_19_187"/>
          <p:cNvSpPr txBox="1"/>
          <p:nvPr/>
        </p:nvSpPr>
        <p:spPr>
          <a:xfrm>
            <a:off x="8138160" y="516636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أكسيد المغنيسيوم</a:t>
            </a:r>
            <a:endParaRPr lang="ar-KW" sz="2500" dirty="0"/>
          </a:p>
        </p:txBody>
      </p:sp>
      <p:sp>
        <p:nvSpPr>
          <p:cNvPr id="13" name="anim_19_188"/>
          <p:cNvSpPr txBox="1"/>
          <p:nvPr/>
        </p:nvSpPr>
        <p:spPr>
          <a:xfrm>
            <a:off x="749808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⇐</a:t>
            </a:r>
            <a:endParaRPr lang="ar-KW" sz="2800" dirty="0"/>
          </a:p>
        </p:txBody>
      </p:sp>
      <p:sp>
        <p:nvSpPr>
          <p:cNvPr id="14" name="anim_19_189"/>
          <p:cNvSpPr txBox="1"/>
          <p:nvPr/>
        </p:nvSpPr>
        <p:spPr>
          <a:xfrm>
            <a:off x="6035040" y="516636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6C4FE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MgO</a:t>
            </a:r>
            <a:endParaRPr lang="en-US" sz="2800" dirty="0"/>
          </a:p>
        </p:txBody>
      </p:sp>
      <p:sp>
        <p:nvSpPr>
          <p:cNvPr id="15" name="anim_19_190"/>
          <p:cNvSpPr txBox="1"/>
          <p:nvPr/>
        </p:nvSpPr>
        <p:spPr>
          <a:xfrm>
            <a:off x="2651760" y="5166360"/>
            <a:ext cx="32918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50800" tIns="50800" rIns="50800" bIns="5080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كلوريد الليثيوم</a:t>
            </a:r>
            <a:endParaRPr lang="ar-KW" sz="2500" dirty="0"/>
          </a:p>
        </p:txBody>
      </p:sp>
      <p:sp>
        <p:nvSpPr>
          <p:cNvPr id="16" name="anim_19_191"/>
          <p:cNvSpPr txBox="1"/>
          <p:nvPr/>
        </p:nvSpPr>
        <p:spPr>
          <a:xfrm>
            <a:off x="201168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⇐</a:t>
            </a:r>
            <a:endParaRPr lang="ar-KW" sz="2800" dirty="0"/>
          </a:p>
        </p:txBody>
      </p:sp>
      <p:sp>
        <p:nvSpPr>
          <p:cNvPr id="17" name="anim_19_192"/>
          <p:cNvSpPr txBox="1"/>
          <p:nvPr/>
        </p:nvSpPr>
        <p:spPr>
          <a:xfrm>
            <a:off x="548640" y="5166360"/>
            <a:ext cx="1463040" cy="640080"/>
          </a:xfrm>
          <a:prstGeom prst="roundRect">
            <a:avLst>
              <a:gd name="adj" fmla="val 50000"/>
            </a:avLst>
          </a:prstGeom>
          <a:solidFill>
            <a:srgbClr val="6C4FE0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LiCl</a:t>
            </a:r>
            <a:endParaRPr lang="en-US" sz="28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5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5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20_193"/>
          <p:cNvSpPr/>
          <p:nvPr/>
        </p:nvSpPr>
        <p:spPr>
          <a:xfrm>
            <a:off x="7726680" y="502920"/>
            <a:ext cx="4023360" cy="868680"/>
          </a:xfrm>
          <a:prstGeom prst="roundRect">
            <a:avLst>
              <a:gd name="adj" fmla="val 49474"/>
            </a:avLst>
          </a:prstGeom>
          <a:solidFill>
            <a:srgbClr val="1F6FB2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(4)</a:t>
            </a:r>
            <a:endParaRPr lang="ar-KW" sz="3600" dirty="0"/>
          </a:p>
        </p:txBody>
      </p:sp>
      <p:pic>
        <p:nvPicPr>
          <p:cNvPr id="4" name="anim_20_194" descr="s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20_195"/>
          <p:cNvSpPr txBox="1"/>
          <p:nvPr/>
        </p:nvSpPr>
        <p:spPr>
          <a:xfrm>
            <a:off x="457200" y="1600200"/>
            <a:ext cx="112928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أن تعرّفت إلى كيفية تكوين الرابطة الأيونية لبعض المركبات، دعنا نتعمّق أكثر في المفهوم من خلال المثال التالي:</a:t>
            </a:r>
            <a:endParaRPr lang="ar-KW" sz="2200" dirty="0"/>
          </a:p>
        </p:txBody>
      </p:sp>
      <p:sp>
        <p:nvSpPr>
          <p:cNvPr id="6" name="anim_20_196"/>
          <p:cNvSpPr/>
          <p:nvPr/>
        </p:nvSpPr>
        <p:spPr>
          <a:xfrm>
            <a:off x="457200" y="2468880"/>
            <a:ext cx="11292840" cy="3749040"/>
          </a:xfrm>
          <a:prstGeom prst="roundRect">
            <a:avLst>
              <a:gd name="adj" fmla="val 9756"/>
            </a:avLst>
          </a:prstGeom>
          <a:solidFill>
            <a:srgbClr val="EEF8FF"/>
          </a:solidFill>
          <a:ln w="76200">
            <a:solidFill>
              <a:srgbClr val="A9D6F2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7" name="anim_20_197"/>
          <p:cNvSpPr txBox="1"/>
          <p:nvPr/>
        </p:nvSpPr>
        <p:spPr>
          <a:xfrm>
            <a:off x="731520" y="2560320"/>
            <a:ext cx="107899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وضّح بطريقة الترتيب الإلكتروني النقطي كيفيّة ارتباط البوتاسيوم مع الأكسجين لتكوين أكسيد البوتاسيوم.</a:t>
            </a:r>
            <a:endParaRPr lang="ar-KW" sz="2400" dirty="0"/>
          </a:p>
        </p:txBody>
      </p:sp>
      <p:pic>
        <p:nvPicPr>
          <p:cNvPr id="8" name="anim_20_198" descr="eq_k2o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29000"/>
            <a:ext cx="5192138" cy="1143000"/>
          </a:xfrm>
          <a:prstGeom prst="rect">
            <a:avLst/>
          </a:prstGeom>
        </p:spPr>
      </p:pic>
      <p:sp>
        <p:nvSpPr>
          <p:cNvPr id="9" name="anim_20_199"/>
          <p:cNvSpPr txBox="1"/>
          <p:nvPr/>
        </p:nvSpPr>
        <p:spPr>
          <a:xfrm>
            <a:off x="731520" y="4617720"/>
            <a:ext cx="107899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1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يُلاحظ من التفاعل السّابق أن ذرّة البوتاسيوم تفقد إلكترونًا واحدًا من مستوى التكافؤ حتى تصل إلى حالة الاستقرار (2,8)، بينما ذرّة الأكسجين اكتسبت الإلكترون المنتقل إليها من ذرّة البوتاسيوم، </a:t>
            </a:r>
            <a:r>
              <a:rPr lang="ar-KW" altLang="en-US" sz="21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ولكن هل وصلت ذرّة الأكسجين إلى حالة الاستقرار بهذا الترتيب حسب مستويات الطاقة الرئيسية (2,7)؟</a:t>
            </a:r>
            <a:endParaRPr lang="ar-KW" sz="2100" dirty="0"/>
          </a:p>
        </p:txBody>
      </p:sp>
      <p:sp>
        <p:nvSpPr>
          <p:cNvPr id="10" name="anim_20_200"/>
          <p:cNvSpPr txBox="1"/>
          <p:nvPr/>
        </p:nvSpPr>
        <p:spPr>
          <a:xfrm>
            <a:off x="950976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6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الحــل:</a:t>
            </a:r>
            <a:endParaRPr lang="ar-KW" sz="26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21_201"/>
          <p:cNvSpPr/>
          <p:nvPr/>
        </p:nvSpPr>
        <p:spPr>
          <a:xfrm>
            <a:off x="7726680" y="502920"/>
            <a:ext cx="4023360" cy="868680"/>
          </a:xfrm>
          <a:prstGeom prst="roundRect">
            <a:avLst>
              <a:gd name="adj" fmla="val 49474"/>
            </a:avLst>
          </a:prstGeom>
          <a:solidFill>
            <a:srgbClr val="1F6FB2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(4)</a:t>
            </a:r>
            <a:endParaRPr lang="ar-KW" sz="3600" dirty="0"/>
          </a:p>
        </p:txBody>
      </p:sp>
      <p:pic>
        <p:nvPicPr>
          <p:cNvPr id="4" name="anim_21_202" descr="s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21_203"/>
          <p:cNvSpPr/>
          <p:nvPr/>
        </p:nvSpPr>
        <p:spPr>
          <a:xfrm>
            <a:off x="457200" y="1691640"/>
            <a:ext cx="11292840" cy="4434840"/>
          </a:xfrm>
          <a:prstGeom prst="roundRect">
            <a:avLst>
              <a:gd name="adj" fmla="val 8247"/>
            </a:avLst>
          </a:prstGeom>
          <a:solidFill>
            <a:srgbClr val="EEF8FF"/>
          </a:solidFill>
          <a:ln w="76200">
            <a:solidFill>
              <a:srgbClr val="A9D6F2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21_204"/>
          <p:cNvSpPr txBox="1"/>
          <p:nvPr/>
        </p:nvSpPr>
        <p:spPr>
          <a:xfrm>
            <a:off x="731520" y="1874520"/>
            <a:ext cx="1078992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7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الإجابة هي لا.</a:t>
            </a:r>
            <a:r>
              <a:rPr lang="ar-KW" altLang="en-US" sz="27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في هذه الحالة تتفاعل </a:t>
            </a:r>
            <a:r>
              <a:rPr lang="ar-KW" altLang="en-US" sz="2700" b="1" dirty="0">
                <a:solidFill>
                  <a:srgbClr val="6C4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ذرّتين من البوتاسيوم</a:t>
            </a:r>
            <a:r>
              <a:rPr lang="ar-KW" altLang="en-US" sz="27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مع </a:t>
            </a:r>
            <a:r>
              <a:rPr lang="ar-KW" altLang="en-US" sz="2700" b="1" dirty="0">
                <a:solidFill>
                  <a:srgbClr val="0F9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ذرّة واحدة من الأكسجين</a:t>
            </a:r>
            <a:r>
              <a:rPr lang="ar-KW" altLang="en-US" sz="27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لتكوين أكسيد البوتاسيوم كما يلي:</a:t>
            </a:r>
            <a:endParaRPr lang="ar-KW" sz="2700" dirty="0"/>
          </a:p>
        </p:txBody>
      </p:sp>
      <p:pic>
        <p:nvPicPr>
          <p:cNvPr id="7" name="anim_21_205" descr="eq_k2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520440"/>
            <a:ext cx="9601200" cy="150168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22_206"/>
          <p:cNvSpPr/>
          <p:nvPr/>
        </p:nvSpPr>
        <p:spPr>
          <a:xfrm>
            <a:off x="7818120" y="502920"/>
            <a:ext cx="3931920" cy="868680"/>
          </a:xfrm>
          <a:prstGeom prst="roundRect">
            <a:avLst>
              <a:gd name="adj" fmla="val 49474"/>
            </a:avLst>
          </a:prstGeom>
          <a:solidFill>
            <a:srgbClr val="E8335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</a:t>
            </a:r>
            <a:endParaRPr lang="ar-KW" sz="3600" dirty="0"/>
          </a:p>
        </p:txBody>
      </p:sp>
      <p:pic>
        <p:nvPicPr>
          <p:cNvPr id="4" name="anim_22_207" descr="sp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pic>
        <p:nvPicPr>
          <p:cNvPr id="5" name="anim_22_208" descr="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188720" cy="1083833"/>
          </a:xfrm>
          <a:prstGeom prst="rect">
            <a:avLst/>
          </a:prstGeom>
        </p:spPr>
      </p:pic>
      <p:sp>
        <p:nvSpPr>
          <p:cNvPr id="6" name="anim_22_209"/>
          <p:cNvSpPr/>
          <p:nvPr/>
        </p:nvSpPr>
        <p:spPr>
          <a:xfrm>
            <a:off x="4023360" y="1691640"/>
            <a:ext cx="7726680" cy="4434840"/>
          </a:xfrm>
          <a:prstGeom prst="roundRect">
            <a:avLst>
              <a:gd name="adj" fmla="val 6186"/>
            </a:avLst>
          </a:prstGeom>
          <a:solidFill>
            <a:srgbClr val="E3F2FC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7" name="anim_22_210"/>
          <p:cNvSpPr txBox="1"/>
          <p:nvPr/>
        </p:nvSpPr>
        <p:spPr>
          <a:xfrm>
            <a:off x="4206240" y="1783080"/>
            <a:ext cx="7360920" cy="4251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لجعل الأمر أكثر سهولة يمكن تطبيق </a:t>
            </a:r>
            <a:r>
              <a:rPr lang="ar-KW" altLang="en-US" sz="25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طريقة التقاطع</a:t>
            </a: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بمعنى أنه إذا كان عدد إلكترونات التكافؤ التي تفقدها ذرة الفلز </a:t>
            </a:r>
            <a:r>
              <a:rPr lang="ar-KW" altLang="en-US" sz="25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يساوي</a:t>
            </a: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عدد الإلكترونات اللازمة لاستقرار ذرة اللافلز أو العكس، نقوم بإبدال الإلكترونات لذرات العناصر المتفاعلة وكتابة العدد أمام الذرة المقابلة، (مع الاختصار في حال وجود عامل مشترك).</a:t>
            </a:r>
            <a:endParaRPr lang="ar-KW" sz="2500" dirty="0"/>
          </a:p>
        </p:txBody>
      </p:sp>
      <p:sp>
        <p:nvSpPr>
          <p:cNvPr id="8" name="anim_22_211"/>
          <p:cNvSpPr txBox="1"/>
          <p:nvPr/>
        </p:nvSpPr>
        <p:spPr>
          <a:xfrm rot="-240000">
            <a:off x="685800" y="3063240"/>
            <a:ext cx="3017520" cy="2651760"/>
          </a:xfrm>
          <a:prstGeom prst="rect">
            <a:avLst/>
          </a:prstGeom>
          <a:solidFill>
            <a:srgbClr val="F2B66B"/>
          </a:solidFill>
          <a:ln/>
          <a:effectLst>
            <a:outerShdw sx="100000" sy="100000" kx="0" ky="0" algn="bl" rotWithShape="0" blurRad="127000" dist="76200" dir="5400000">
              <a:srgbClr val="7A4A1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rtl="1" algn="ctr" indent="0" marL="0">
              <a:buNone/>
            </a:pPr>
            <a:r>
              <a:rPr lang="ar-KW" altLang="en-US" sz="2100" b="1" dirty="0">
                <a:solidFill>
                  <a:srgbClr val="4A2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من صحّة المعادلة بحساب عدد الشحنات الإلكترونية في طرفي المعادلة.</a:t>
            </a:r>
            <a:endParaRPr lang="ar-KW" sz="2100" dirty="0"/>
          </a:p>
        </p:txBody>
      </p:sp>
      <p:pic>
        <p:nvPicPr>
          <p:cNvPr id="9" name="anim_22_212" descr="sp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83464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23_213"/>
          <p:cNvSpPr/>
          <p:nvPr/>
        </p:nvSpPr>
        <p:spPr>
          <a:xfrm>
            <a:off x="7726680" y="502920"/>
            <a:ext cx="4023360" cy="868680"/>
          </a:xfrm>
          <a:prstGeom prst="roundRect">
            <a:avLst>
              <a:gd name="adj" fmla="val 49474"/>
            </a:avLst>
          </a:prstGeom>
          <a:solidFill>
            <a:srgbClr val="1F6FB2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(5)</a:t>
            </a:r>
            <a:endParaRPr lang="ar-KW" sz="3600" dirty="0"/>
          </a:p>
        </p:txBody>
      </p:sp>
      <p:pic>
        <p:nvPicPr>
          <p:cNvPr id="4" name="anim_23_214" descr="s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23_215"/>
          <p:cNvSpPr/>
          <p:nvPr/>
        </p:nvSpPr>
        <p:spPr>
          <a:xfrm>
            <a:off x="457200" y="1691640"/>
            <a:ext cx="11292840" cy="4480560"/>
          </a:xfrm>
          <a:prstGeom prst="roundRect">
            <a:avLst>
              <a:gd name="adj" fmla="val 8163"/>
            </a:avLst>
          </a:prstGeom>
          <a:solidFill>
            <a:srgbClr val="EEF8FF"/>
          </a:solidFill>
          <a:ln w="76200">
            <a:solidFill>
              <a:srgbClr val="A9D6F2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23_216"/>
          <p:cNvSpPr txBox="1"/>
          <p:nvPr/>
        </p:nvSpPr>
        <p:spPr>
          <a:xfrm>
            <a:off x="731520" y="1783080"/>
            <a:ext cx="107899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وضّح بطريقة الترتيب الإلكتروني النقطي كيفيّة ارتباط الليثيوم مع النيتروجين لتكوين نيتريد الليثيوم.</a:t>
            </a:r>
            <a:endParaRPr lang="ar-KW" sz="2400" dirty="0"/>
          </a:p>
        </p:txBody>
      </p:sp>
      <p:sp>
        <p:nvSpPr>
          <p:cNvPr id="7" name="anim_23_217"/>
          <p:cNvSpPr txBox="1"/>
          <p:nvPr/>
        </p:nvSpPr>
        <p:spPr>
          <a:xfrm>
            <a:off x="950976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6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الحــل:</a:t>
            </a:r>
            <a:endParaRPr lang="ar-KW" sz="2600" dirty="0"/>
          </a:p>
        </p:txBody>
      </p:sp>
      <p:pic>
        <p:nvPicPr>
          <p:cNvPr id="8" name="anim_23_218" descr="eq_li3n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606040"/>
            <a:ext cx="4014270" cy="2148840"/>
          </a:xfrm>
          <a:prstGeom prst="rect">
            <a:avLst/>
          </a:prstGeom>
        </p:spPr>
      </p:pic>
      <p:sp>
        <p:nvSpPr>
          <p:cNvPr id="9" name="anim_23_219"/>
          <p:cNvSpPr txBox="1"/>
          <p:nvPr/>
        </p:nvSpPr>
        <p:spPr>
          <a:xfrm>
            <a:off x="731520" y="4800600"/>
            <a:ext cx="1078992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لاحظ أن ذرّة الليثيوم </a:t>
            </a:r>
            <a:r>
              <a:rPr lang="ar-KW" altLang="en-US" sz="22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تفقد إلكترونًا واحدًا</a:t>
            </a: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لتصل إلى حالة الاستقرار، بينما ذرّة النيتروجين </a:t>
            </a:r>
            <a:r>
              <a:rPr lang="ar-KW" altLang="en-US" sz="2200" b="1" dirty="0">
                <a:solidFill>
                  <a:srgbClr val="E833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 إلى اكتساب ثلاث إلكترونات</a:t>
            </a:r>
            <a:r>
              <a:rPr lang="ar-KW" altLang="en-US" sz="22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لتصل إلى الاستقرار. نقوم بإبدال عدد الإلكترونات وكتابتها أمام الذرة المقابلة كما يلي:</a:t>
            </a:r>
            <a:endParaRPr lang="ar-KW" sz="22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24_220"/>
          <p:cNvSpPr/>
          <p:nvPr/>
        </p:nvSpPr>
        <p:spPr>
          <a:xfrm>
            <a:off x="7726680" y="502920"/>
            <a:ext cx="4023360" cy="868680"/>
          </a:xfrm>
          <a:prstGeom prst="roundRect">
            <a:avLst>
              <a:gd name="adj" fmla="val 49474"/>
            </a:avLst>
          </a:prstGeom>
          <a:solidFill>
            <a:srgbClr val="1F6FB2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(5)</a:t>
            </a:r>
            <a:endParaRPr lang="ar-KW" sz="3600" dirty="0"/>
          </a:p>
        </p:txBody>
      </p:sp>
      <p:pic>
        <p:nvPicPr>
          <p:cNvPr id="4" name="anim_24_221" descr="sp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24_222"/>
          <p:cNvSpPr/>
          <p:nvPr/>
        </p:nvSpPr>
        <p:spPr>
          <a:xfrm>
            <a:off x="457200" y="1691640"/>
            <a:ext cx="11292840" cy="4434840"/>
          </a:xfrm>
          <a:prstGeom prst="roundRect">
            <a:avLst>
              <a:gd name="adj" fmla="val 8247"/>
            </a:avLst>
          </a:prstGeom>
          <a:solidFill>
            <a:srgbClr val="EEF8FF"/>
          </a:solidFill>
          <a:ln w="76200">
            <a:solidFill>
              <a:srgbClr val="A9D6F2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24_223"/>
          <p:cNvSpPr txBox="1"/>
          <p:nvPr/>
        </p:nvSpPr>
        <p:spPr>
          <a:xfrm>
            <a:off x="731520" y="1874520"/>
            <a:ext cx="10789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7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نقوم بإبدال عدد الإلكترونات وكتابتها أمام الذرة المقابلة:</a:t>
            </a:r>
            <a:endParaRPr lang="ar-KW" sz="2700" dirty="0"/>
          </a:p>
        </p:txBody>
      </p:sp>
      <p:pic>
        <p:nvPicPr>
          <p:cNvPr id="7" name="anim_24_224" descr="eq_li3n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97480"/>
            <a:ext cx="2903940" cy="1554480"/>
          </a:xfrm>
          <a:prstGeom prst="rect">
            <a:avLst/>
          </a:prstGeom>
        </p:spPr>
      </p:pic>
      <p:pic>
        <p:nvPicPr>
          <p:cNvPr id="8" name="anim_24_225" descr="eq_li3n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434840"/>
            <a:ext cx="9601200" cy="1478721"/>
          </a:xfrm>
          <a:prstGeom prst="rect">
            <a:avLst/>
          </a:prstGeom>
        </p:spPr>
      </p:pic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im_25_226"/>
          <p:cNvSpPr/>
          <p:nvPr/>
        </p:nvSpPr>
        <p:spPr>
          <a:xfrm>
            <a:off x="7452360" y="502920"/>
            <a:ext cx="4297680" cy="868680"/>
          </a:xfrm>
          <a:prstGeom prst="roundRect">
            <a:avLst>
              <a:gd name="adj" fmla="val 49474"/>
            </a:avLst>
          </a:prstGeom>
          <a:solidFill>
            <a:srgbClr val="E8335F"/>
          </a:solidFill>
          <a:ln/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  <p:txBody>
          <a:bodyPr wrap="square" lIns="274320" tIns="0" rIns="1051560" bIns="0" rtlCol="0" anchor="ctr"/>
          <a:lstStyle/>
          <a:p>
            <a:pPr rtl="1" algn="r" indent="0" marL="0">
              <a:buNone/>
            </a:pPr>
            <a:r>
              <a:rPr lang="ar-KW" alt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(3)</a:t>
            </a:r>
            <a:endParaRPr lang="ar-KW" sz="3600" dirty="0"/>
          </a:p>
        </p:txBody>
      </p:sp>
      <p:pic>
        <p:nvPicPr>
          <p:cNvPr id="4" name="anim_25_227" descr="sp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84048"/>
            <a:ext cx="1097280" cy="1097280"/>
          </a:xfrm>
          <a:prstGeom prst="rect">
            <a:avLst/>
          </a:prstGeom>
        </p:spPr>
      </p:pic>
      <p:sp>
        <p:nvSpPr>
          <p:cNvPr id="5" name="anim_25_228"/>
          <p:cNvSpPr/>
          <p:nvPr/>
        </p:nvSpPr>
        <p:spPr>
          <a:xfrm>
            <a:off x="457200" y="1691640"/>
            <a:ext cx="11292840" cy="4434840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76200">
            <a:solidFill>
              <a:srgbClr val="8FA9D6"/>
            </a:solidFill>
            <a:prstDash val="solid"/>
          </a:ln>
          <a:effectLst>
            <a:outerShdw sx="100000" sy="100000" kx="0" ky="0" algn="bl" rotWithShape="0" blurRad="152400" dist="50800" dir="5400000">
              <a:srgbClr val="1F4F8A">
                <a:alpha val="18000"/>
              </a:srgbClr>
            </a:outerShdw>
          </a:effectLst>
        </p:spPr>
      </p:sp>
      <p:sp>
        <p:nvSpPr>
          <p:cNvPr id="6" name="anim_25_229"/>
          <p:cNvSpPr txBox="1"/>
          <p:nvPr/>
        </p:nvSpPr>
        <p:spPr>
          <a:xfrm>
            <a:off x="731520" y="1783080"/>
            <a:ext cx="107899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4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وضّح بطريقة الترتيب الإلكتروني النقطي كيفيّة ارتباط الكالسيوم مع الفلور .</a:t>
            </a:r>
            <a:endParaRPr lang="ar-KW" sz="2400" dirty="0"/>
          </a:p>
        </p:txBody>
      </p:sp>
      <p:sp>
        <p:nvSpPr>
          <p:cNvPr id="7" name="anim_25_230"/>
          <p:cNvSpPr txBox="1"/>
          <p:nvPr/>
        </p:nvSpPr>
        <p:spPr>
          <a:xfrm>
            <a:off x="731520" y="2743200"/>
            <a:ext cx="107899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rtl="0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altLang="en-US" sz="22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..........................................................................................................</a:t>
            </a:r>
            <a:endParaRPr lang="en-US" sz="2200" dirty="0"/>
          </a:p>
        </p:txBody>
      </p:sp>
      <p:sp>
        <p:nvSpPr>
          <p:cNvPr id="8" name="anim_25_231"/>
          <p:cNvSpPr txBox="1"/>
          <p:nvPr/>
        </p:nvSpPr>
        <p:spPr>
          <a:xfrm>
            <a:off x="6309360" y="4434840"/>
            <a:ext cx="5257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الرابطة: </a:t>
            </a:r>
            <a:r>
              <a:rPr lang="ar-KW" altLang="en-US" sz="25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</a:t>
            </a:r>
            <a:endParaRPr lang="ar-KW" sz="2500" dirty="0"/>
          </a:p>
        </p:txBody>
      </p:sp>
      <p:sp>
        <p:nvSpPr>
          <p:cNvPr id="9" name="anim_25_232"/>
          <p:cNvSpPr txBox="1"/>
          <p:nvPr/>
        </p:nvSpPr>
        <p:spPr>
          <a:xfrm>
            <a:off x="731520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0" algn="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500" b="1" dirty="0">
                <a:solidFill>
                  <a:srgbClr val="163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المركب الناتج: </a:t>
            </a:r>
            <a:r>
              <a:rPr lang="ar-KW" altLang="en-US" sz="2500" b="1" dirty="0">
                <a:solidFill>
                  <a:srgbClr val="9A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........................</a:t>
            </a:r>
            <a:endParaRPr lang="ar-KW" sz="2500" dirty="0"/>
          </a:p>
        </p:txBody>
      </p:sp>
      <p:pic>
        <p:nvPicPr>
          <p:cNvPr id="10" name="anim_25_233" descr="eq_ca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743200"/>
            <a:ext cx="8686800" cy="1270580"/>
          </a:xfrm>
          <a:prstGeom prst="rect">
            <a:avLst/>
          </a:prstGeom>
        </p:spPr>
      </p:pic>
      <p:sp>
        <p:nvSpPr>
          <p:cNvPr id="11" name="anim_25_234"/>
          <p:cNvSpPr txBox="1"/>
          <p:nvPr/>
        </p:nvSpPr>
        <p:spPr>
          <a:xfrm>
            <a:off x="6949440" y="5120640"/>
            <a:ext cx="3840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أيونية</a:t>
            </a:r>
            <a:endParaRPr lang="ar-KW" sz="2800" dirty="0"/>
          </a:p>
        </p:txBody>
      </p:sp>
      <p:sp>
        <p:nvSpPr>
          <p:cNvPr id="12" name="anim_25_235"/>
          <p:cNvSpPr txBox="1"/>
          <p:nvPr/>
        </p:nvSpPr>
        <p:spPr>
          <a:xfrm>
            <a:off x="109728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rtl="1" algn="ctr"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ar-KW" altLang="en-US" sz="2800" b="1" dirty="0">
                <a:solidFill>
                  <a:srgbClr val="0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فلوريد الكالسيوم</a:t>
            </a:r>
            <a:endParaRPr lang="ar-KW" sz="2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الرابطة الأيونية</dc:title>
  <dc:subject>PptxGenJS Presentation</dc:subject>
  <dc:creator>PptxGenJS</dc:creator>
  <cp:lastModifiedBy>PptxGenJS</cp:lastModifiedBy>
  <cp:revision>1</cp:revision>
  <dcterms:created xsi:type="dcterms:W3CDTF">2026-10-26T13:45:24Z</dcterms:created>
  <dcterms:modified xsi:type="dcterms:W3CDTF">2026-10-26T13:45:24Z</dcterms:modified>
</cp:coreProperties>
</file>