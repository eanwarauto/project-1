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6256020" cy="9144000"/>
  <p:notesSz cx="9144000" cy="162560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_1"/>
          <p:cNvSpPr txBox="1"/>
          <p:nvPr/>
        </p:nvSpPr>
        <p:spPr>
          <a:xfrm>
            <a:off x="892861" y="6488906"/>
            <a:ext cx="14464346" cy="833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‏عمارة الذرة: الترتيب الإلكتروني وإلكترونات التكافؤ</a:t>
            </a:r>
            <a:endParaRPr lang="ar-KW" sz="4600" dirty="0"/>
          </a:p>
        </p:txBody>
      </p:sp>
      <p:sp>
        <p:nvSpPr>
          <p:cNvPr id="5" name="anim_1_2"/>
          <p:cNvSpPr txBox="1"/>
          <p:nvPr/>
        </p:nvSpPr>
        <p:spPr>
          <a:xfrm>
            <a:off x="3511919" y="7572375"/>
            <a:ext cx="9285753" cy="619125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800" b="1" dirty="0">
                <a:solidFill>
                  <a:srgbClr val="1A1A1A"/>
                </a:solidFill>
                <a:effectLst>
                  <a:glow rad="101600">
                    <a:srgbClr val="9FF3F7">
                      <a:alpha val="60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‏رحلة علمية لاكتشاف أسرار الاستقرار الكيميائي</a:t>
            </a:r>
            <a:endParaRPr lang="ar-KW" sz="2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2_3"/>
          <p:cNvSpPr txBox="1"/>
          <p:nvPr/>
        </p:nvSpPr>
        <p:spPr>
          <a:xfrm>
            <a:off x="1726198" y="500063"/>
            <a:ext cx="12797673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‏نشاط المبنى والاستقرار: أيهما أكثر استقراراً؟</a:t>
            </a:r>
            <a:endParaRPr lang="ar-KW" sz="4200" dirty="0"/>
          </a:p>
        </p:txBody>
      </p:sp>
      <p:sp>
        <p:nvSpPr>
          <p:cNvPr id="5" name="anim_2_4"/>
          <p:cNvSpPr txBox="1"/>
          <p:nvPr/>
        </p:nvSpPr>
        <p:spPr>
          <a:xfrm>
            <a:off x="5892882" y="1940719"/>
            <a:ext cx="4464304" cy="940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‏المبنى المكتمل (الأيمن)</a:t>
            </a:r>
            <a:endParaRPr lang="ar-KW" sz="2100" dirty="0"/>
          </a:p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‏يبدو أكثر استقراراً وتوازناً.</a:t>
            </a:r>
            <a:endParaRPr lang="ar-KW" sz="2100" dirty="0"/>
          </a:p>
        </p:txBody>
      </p:sp>
      <p:sp>
        <p:nvSpPr>
          <p:cNvPr id="6" name="anim_2_5"/>
          <p:cNvSpPr txBox="1"/>
          <p:nvPr/>
        </p:nvSpPr>
        <p:spPr>
          <a:xfrm>
            <a:off x="5892882" y="3190875"/>
            <a:ext cx="4464304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‏السبب؟</a:t>
            </a:r>
            <a:endParaRPr lang="ar-KW" sz="2100" dirty="0"/>
          </a:p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‏الأشياء في الطبيعة تميل إلى الاستقرار عندما تكون مكتملة.</a:t>
            </a:r>
            <a:endParaRPr lang="ar-KW" sz="2100" dirty="0"/>
          </a:p>
        </p:txBody>
      </p:sp>
      <p:sp>
        <p:nvSpPr>
          <p:cNvPr id="7" name="anim_2_6"/>
          <p:cNvSpPr txBox="1"/>
          <p:nvPr/>
        </p:nvSpPr>
        <p:spPr>
          <a:xfrm>
            <a:off x="5892882" y="4976813"/>
            <a:ext cx="4464304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‏ماذا يحتاج المبنى غير المكتمل؟</a:t>
            </a:r>
            <a:endParaRPr lang="ar-KW" sz="2100" dirty="0"/>
          </a:p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‏يحتاج إلى «وحدات بناء» ليكتمل ويستقر.</a:t>
            </a:r>
            <a:endParaRPr lang="ar-KW" sz="2100" dirty="0"/>
          </a:p>
        </p:txBody>
      </p:sp>
      <p:sp>
        <p:nvSpPr>
          <p:cNvPr id="8" name="anim_2_7"/>
          <p:cNvSpPr txBox="1"/>
          <p:nvPr/>
        </p:nvSpPr>
        <p:spPr>
          <a:xfrm>
            <a:off x="797622" y="8048625"/>
            <a:ext cx="14714347" cy="547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‏تماماً كالمباني، الذرات التي مستواها الخارجي غير مكتمل تسعى للوصول إلى الاستقرار بإكمال مستوى طاقتها الخارجي!</a:t>
            </a:r>
            <a:endParaRPr lang="ar-KW" sz="190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3_8"/>
          <p:cNvSpPr txBox="1"/>
          <p:nvPr/>
        </p:nvSpPr>
        <p:spPr>
          <a:xfrm>
            <a:off x="3869064" y="500063"/>
            <a:ext cx="8511940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‏تشريح الذرة: أين يحدث التفاعل؟</a:t>
            </a:r>
            <a:endParaRPr lang="ar-KW" sz="4200" dirty="0"/>
          </a:p>
        </p:txBody>
      </p:sp>
      <p:sp>
        <p:nvSpPr>
          <p:cNvPr id="5" name="anim_3_9"/>
          <p:cNvSpPr txBox="1"/>
          <p:nvPr/>
        </p:nvSpPr>
        <p:spPr>
          <a:xfrm>
            <a:off x="595241" y="2119313"/>
            <a:ext cx="41309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‏مستوى التكافؤ (Valence Shell):</a:t>
            </a:r>
            <a:endParaRPr lang="ar-KW" sz="2100" dirty="0"/>
          </a:p>
        </p:txBody>
      </p:sp>
      <p:sp>
        <p:nvSpPr>
          <p:cNvPr id="6" name="anim_3_10"/>
          <p:cNvSpPr txBox="1"/>
          <p:nvPr/>
        </p:nvSpPr>
        <p:spPr>
          <a:xfrm>
            <a:off x="595241" y="2500313"/>
            <a:ext cx="413097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‏مستوى الطاقة الخارجي للذرة الذي تُفقد منه الإلكترونات أو تنتقل إليه في التفاعل الكيميائي.</a:t>
            </a:r>
            <a:endParaRPr lang="ar-KW" sz="2000" dirty="0"/>
          </a:p>
        </p:txBody>
      </p:sp>
      <p:sp>
        <p:nvSpPr>
          <p:cNvPr id="7" name="anim_3_11"/>
          <p:cNvSpPr txBox="1"/>
          <p:nvPr/>
        </p:nvSpPr>
        <p:spPr>
          <a:xfrm>
            <a:off x="595241" y="5334000"/>
            <a:ext cx="413097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‏إلكترونات التكافؤ</a:t>
            </a:r>
            <a:endParaRPr lang="ar-KW" sz="21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‏(Valence Electrons):</a:t>
            </a:r>
            <a:endParaRPr lang="ar-KW" sz="2100" dirty="0"/>
          </a:p>
        </p:txBody>
      </p:sp>
      <p:sp>
        <p:nvSpPr>
          <p:cNvPr id="8" name="anim_3_12"/>
          <p:cNvSpPr txBox="1"/>
          <p:nvPr/>
        </p:nvSpPr>
        <p:spPr>
          <a:xfrm>
            <a:off x="595241" y="6096000"/>
            <a:ext cx="4130970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‏الإلكترونات الموجودة في أعلى مستوى طاقة في الذرة، وهي «العمال» المسؤولون عن التفاعل والارتباط مع الذرات الأخرى.</a:t>
            </a:r>
            <a:endParaRPr lang="ar-KW" sz="2000" dirty="0"/>
          </a:p>
        </p:txBody>
      </p:sp>
      <p:sp>
        <p:nvSpPr>
          <p:cNvPr id="9" name="anim_3_13"/>
          <p:cNvSpPr txBox="1"/>
          <p:nvPr/>
        </p:nvSpPr>
        <p:spPr>
          <a:xfrm>
            <a:off x="11845288" y="3833812"/>
            <a:ext cx="3630968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‏التكافؤ (Valency):</a:t>
            </a:r>
            <a:endParaRPr lang="ar-KW" sz="2100" dirty="0"/>
          </a:p>
        </p:txBody>
      </p:sp>
      <p:sp>
        <p:nvSpPr>
          <p:cNvPr id="10" name="anim_3_14"/>
          <p:cNvSpPr txBox="1"/>
          <p:nvPr/>
        </p:nvSpPr>
        <p:spPr>
          <a:xfrm>
            <a:off x="11845288" y="4250531"/>
            <a:ext cx="3630968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‏عدد الإلكترونات التي تفقدها أو تكتسبها أو تشارك بها الذرة للوصول إلى حالة الاستقرار الإلكتروني.</a:t>
            </a:r>
            <a:endParaRPr lang="ar-KW" sz="200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4_15"/>
          <p:cNvSpPr txBox="1"/>
          <p:nvPr/>
        </p:nvSpPr>
        <p:spPr>
          <a:xfrm>
            <a:off x="2321438" y="333375"/>
            <a:ext cx="1166671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‏حل تمرين (1): إلكترونات التكافؤ والتكافؤ</a:t>
            </a:r>
            <a:endParaRPr lang="ar-KW" sz="3600" dirty="0"/>
          </a:p>
        </p:txBody>
      </p:sp>
      <p:sp>
        <p:nvSpPr>
          <p:cNvPr id="5" name="anim_4_16"/>
          <p:cNvSpPr txBox="1"/>
          <p:nvPr/>
        </p:nvSpPr>
        <p:spPr>
          <a:xfrm>
            <a:off x="13392913" y="1964531"/>
            <a:ext cx="2083342" cy="595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en-US" alt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(13)</a:t>
            </a:r>
            <a:endParaRPr lang="en-US" sz="3200" dirty="0"/>
          </a:p>
        </p:txBody>
      </p:sp>
      <p:sp>
        <p:nvSpPr>
          <p:cNvPr id="6" name="anim_4_17"/>
          <p:cNvSpPr txBox="1"/>
          <p:nvPr/>
        </p:nvSpPr>
        <p:spPr>
          <a:xfrm>
            <a:off x="13035769" y="2655094"/>
            <a:ext cx="2440486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‏الترتيب: 2,3</a:t>
            </a:r>
            <a:endParaRPr lang="ar-KW" sz="17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‏إلكترونات التكافؤ: 3</a:t>
            </a:r>
            <a:endParaRPr lang="ar-KW" sz="17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‏التكافؤ: 3</a:t>
            </a:r>
            <a:endParaRPr lang="ar-KW" sz="1700" dirty="0"/>
          </a:p>
        </p:txBody>
      </p:sp>
      <p:sp>
        <p:nvSpPr>
          <p:cNvPr id="7" name="anim_4_18"/>
          <p:cNvSpPr txBox="1"/>
          <p:nvPr/>
        </p:nvSpPr>
        <p:spPr>
          <a:xfrm>
            <a:off x="8214320" y="1964531"/>
            <a:ext cx="2083342" cy="595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en-US" alt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(2)</a:t>
            </a:r>
            <a:endParaRPr lang="en-US" sz="3200" dirty="0"/>
          </a:p>
        </p:txBody>
      </p:sp>
      <p:sp>
        <p:nvSpPr>
          <p:cNvPr id="8" name="anim_4_19"/>
          <p:cNvSpPr txBox="1"/>
          <p:nvPr/>
        </p:nvSpPr>
        <p:spPr>
          <a:xfrm>
            <a:off x="7857176" y="2655094"/>
            <a:ext cx="2440486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‏الترتيب: 2,2</a:t>
            </a:r>
            <a:endParaRPr lang="ar-KW" sz="17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‏إلكترونات التكافؤ: 2</a:t>
            </a:r>
            <a:endParaRPr lang="ar-KW" sz="17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‏التكافؤ: 2</a:t>
            </a:r>
            <a:endParaRPr lang="ar-KW" sz="1700" dirty="0"/>
          </a:p>
        </p:txBody>
      </p:sp>
      <p:sp>
        <p:nvSpPr>
          <p:cNvPr id="9" name="anim_4_20"/>
          <p:cNvSpPr txBox="1"/>
          <p:nvPr/>
        </p:nvSpPr>
        <p:spPr>
          <a:xfrm>
            <a:off x="3095251" y="1964531"/>
            <a:ext cx="2083342" cy="595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en-US" alt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(1)</a:t>
            </a:r>
            <a:endParaRPr lang="en-US" sz="3200" dirty="0"/>
          </a:p>
        </p:txBody>
      </p:sp>
      <p:sp>
        <p:nvSpPr>
          <p:cNvPr id="10" name="anim_4_21"/>
          <p:cNvSpPr txBox="1"/>
          <p:nvPr/>
        </p:nvSpPr>
        <p:spPr>
          <a:xfrm>
            <a:off x="2738107" y="2655094"/>
            <a:ext cx="2440486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‏الترتيب: 2,1</a:t>
            </a:r>
            <a:endParaRPr lang="ar-KW" sz="17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‏إلكترونات التكافؤ: 1</a:t>
            </a:r>
            <a:endParaRPr lang="ar-KW" sz="17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‏التكافؤ: 1</a:t>
            </a:r>
            <a:endParaRPr lang="ar-KW" sz="1700" dirty="0"/>
          </a:p>
        </p:txBody>
      </p:sp>
      <p:sp>
        <p:nvSpPr>
          <p:cNvPr id="11" name="anim_4_22"/>
          <p:cNvSpPr txBox="1"/>
          <p:nvPr/>
        </p:nvSpPr>
        <p:spPr>
          <a:xfrm>
            <a:off x="13392913" y="4917281"/>
            <a:ext cx="2083342" cy="595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en-US" alt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(17)</a:t>
            </a:r>
            <a:endParaRPr lang="en-US" sz="3200" dirty="0"/>
          </a:p>
        </p:txBody>
      </p:sp>
      <p:sp>
        <p:nvSpPr>
          <p:cNvPr id="12" name="anim_4_23"/>
          <p:cNvSpPr txBox="1"/>
          <p:nvPr/>
        </p:nvSpPr>
        <p:spPr>
          <a:xfrm>
            <a:off x="13035769" y="5607844"/>
            <a:ext cx="2440486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‏الترتيب: 2,7</a:t>
            </a:r>
            <a:endParaRPr lang="ar-KW" sz="17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‏إلكترونات التكافؤ: 7</a:t>
            </a:r>
            <a:endParaRPr lang="ar-KW" sz="17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‏التكافؤ: 1</a:t>
            </a:r>
            <a:endParaRPr lang="ar-KW" sz="1700" dirty="0"/>
          </a:p>
        </p:txBody>
      </p:sp>
      <p:sp>
        <p:nvSpPr>
          <p:cNvPr id="13" name="anim_4_24"/>
          <p:cNvSpPr txBox="1"/>
          <p:nvPr/>
        </p:nvSpPr>
        <p:spPr>
          <a:xfrm>
            <a:off x="8214320" y="4917281"/>
            <a:ext cx="2083342" cy="595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en-US" alt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(16)</a:t>
            </a:r>
            <a:endParaRPr lang="en-US" sz="3200" dirty="0"/>
          </a:p>
        </p:txBody>
      </p:sp>
      <p:sp>
        <p:nvSpPr>
          <p:cNvPr id="14" name="anim_4_25"/>
          <p:cNvSpPr txBox="1"/>
          <p:nvPr/>
        </p:nvSpPr>
        <p:spPr>
          <a:xfrm>
            <a:off x="7857176" y="5607844"/>
            <a:ext cx="2440486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‏الترتيب: 2,6</a:t>
            </a:r>
            <a:endParaRPr lang="ar-KW" sz="17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‏إلكترونات التكافؤ: 6</a:t>
            </a:r>
            <a:endParaRPr lang="ar-KW" sz="17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‏التكافؤ: 2</a:t>
            </a:r>
            <a:endParaRPr lang="ar-KW" sz="1700" dirty="0"/>
          </a:p>
        </p:txBody>
      </p:sp>
      <p:sp>
        <p:nvSpPr>
          <p:cNvPr id="15" name="anim_4_26"/>
          <p:cNvSpPr txBox="1"/>
          <p:nvPr/>
        </p:nvSpPr>
        <p:spPr>
          <a:xfrm>
            <a:off x="3095251" y="4917281"/>
            <a:ext cx="2083342" cy="595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en-US" alt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(15)</a:t>
            </a:r>
            <a:endParaRPr lang="en-US" sz="3200" dirty="0"/>
          </a:p>
        </p:txBody>
      </p:sp>
      <p:sp>
        <p:nvSpPr>
          <p:cNvPr id="16" name="anim_4_27"/>
          <p:cNvSpPr txBox="1"/>
          <p:nvPr/>
        </p:nvSpPr>
        <p:spPr>
          <a:xfrm>
            <a:off x="2738107" y="5607844"/>
            <a:ext cx="2440486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‏الترتيب: 2,5</a:t>
            </a:r>
            <a:endParaRPr lang="ar-KW" sz="17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‏إلكترونات التكافؤ: 5</a:t>
            </a:r>
            <a:endParaRPr lang="ar-KW" sz="17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‏التكافؤ: 3</a:t>
            </a:r>
            <a:endParaRPr lang="ar-KW" sz="1700" dirty="0"/>
          </a:p>
        </p:txBody>
      </p:sp>
      <p:sp>
        <p:nvSpPr>
          <p:cNvPr id="17" name="anim_4_28"/>
          <p:cNvSpPr txBox="1"/>
          <p:nvPr/>
        </p:nvSpPr>
        <p:spPr>
          <a:xfrm>
            <a:off x="3130965" y="7679531"/>
            <a:ext cx="11154809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‏ملاحظة هامة:</a:t>
            </a:r>
            <a:endParaRPr lang="ar-KW" sz="17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‏تكافؤ عناصر المجموعة (14) مثل الكربون متغير وليس ثابتاً.</a:t>
            </a:r>
            <a:endParaRPr lang="ar-KW" sz="17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‏لا يُذكر تكافؤ عناصر المجموعة (18) الغازات النبيلة لأن مستواها الخارجي ممتلئ ومستقر.</a:t>
            </a:r>
            <a:endParaRPr lang="ar-KW" sz="17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5_29"/>
          <p:cNvSpPr txBox="1"/>
          <p:nvPr/>
        </p:nvSpPr>
        <p:spPr>
          <a:xfrm>
            <a:off x="1607150" y="595313"/>
            <a:ext cx="1315481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‏المهندس الأعظم: جيلبرت نيوتن لويس (Gilbert N. Lewis)</a:t>
            </a:r>
            <a:endParaRPr lang="ar-KW" sz="3800" dirty="0"/>
          </a:p>
        </p:txBody>
      </p:sp>
      <p:sp>
        <p:nvSpPr>
          <p:cNvPr id="5" name="anim_5_30"/>
          <p:cNvSpPr txBox="1"/>
          <p:nvPr/>
        </p:nvSpPr>
        <p:spPr>
          <a:xfrm>
            <a:off x="6071454" y="6465094"/>
            <a:ext cx="9321468" cy="40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‏كيف يمكننا رسم هيكل الذرة دون رسم دوائر معقدة في كل مرة؟</a:t>
            </a:r>
            <a:endParaRPr lang="ar-KW" sz="2100" dirty="0"/>
          </a:p>
        </p:txBody>
      </p:sp>
      <p:sp>
        <p:nvSpPr>
          <p:cNvPr id="6" name="anim_5_31"/>
          <p:cNvSpPr txBox="1"/>
          <p:nvPr/>
        </p:nvSpPr>
        <p:spPr>
          <a:xfrm>
            <a:off x="6071454" y="6881813"/>
            <a:ext cx="93214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‏في عام 1916، ابتكر العالم الأمريكي لويس «مخطط البناء» الأذكى في الكيمياء.</a:t>
            </a:r>
            <a:endParaRPr lang="ar-KW" sz="1900" dirty="0"/>
          </a:p>
        </p:txBody>
      </p:sp>
      <p:sp>
        <p:nvSpPr>
          <p:cNvPr id="7" name="anim_5_32"/>
          <p:cNvSpPr txBox="1"/>
          <p:nvPr/>
        </p:nvSpPr>
        <p:spPr>
          <a:xfrm>
            <a:off x="6309550" y="7655719"/>
            <a:ext cx="9011942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 الإلكتروني النقطي (Lewis Structure): الأشكال التي توضح إلكترونات التكافؤ في صورة نقاط على رمز ذرة العنصر.</a:t>
            </a:r>
            <a:endParaRPr lang="ar-KW" sz="19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6_33"/>
          <p:cNvSpPr txBox="1"/>
          <p:nvPr/>
        </p:nvSpPr>
        <p:spPr>
          <a:xfrm>
            <a:off x="6607170" y="166688"/>
            <a:ext cx="916670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‏حل تمرين (2): الترتيب الإلكتروني النقطي</a:t>
            </a:r>
            <a:endParaRPr lang="ar-KW" sz="2700" dirty="0"/>
          </a:p>
        </p:txBody>
      </p:sp>
      <p:sp>
        <p:nvSpPr>
          <p:cNvPr id="5" name="anim_6_34"/>
          <p:cNvSpPr txBox="1"/>
          <p:nvPr/>
        </p:nvSpPr>
        <p:spPr>
          <a:xfrm>
            <a:off x="952385" y="857250"/>
            <a:ext cx="2738107" cy="547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‏القاعدة/المثال</a:t>
            </a:r>
            <a:endParaRPr lang="ar-KW" sz="2500" dirty="0"/>
          </a:p>
        </p:txBody>
      </p:sp>
      <p:sp>
        <p:nvSpPr>
          <p:cNvPr id="6" name="anim_6_35"/>
          <p:cNvSpPr txBox="1"/>
          <p:nvPr/>
        </p:nvSpPr>
        <p:spPr>
          <a:xfrm>
            <a:off x="1369053" y="1571625"/>
            <a:ext cx="2023818" cy="45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‏الترتيب: 2,2</a:t>
            </a:r>
            <a:endParaRPr lang="ar-KW" sz="2000" dirty="0"/>
          </a:p>
        </p:txBody>
      </p:sp>
      <p:pic>
        <p:nvPicPr>
          <p:cNvPr id="7" name="anim_6_36" descr="الترتيب النقطي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655" y="2143125"/>
            <a:ext cx="1221091" cy="1047750"/>
          </a:xfrm>
          <a:prstGeom prst="rect">
            <a:avLst/>
          </a:prstGeom>
        </p:spPr>
      </p:pic>
      <p:sp>
        <p:nvSpPr>
          <p:cNvPr id="8" name="anim_6_37"/>
          <p:cNvSpPr txBox="1"/>
          <p:nvPr/>
        </p:nvSpPr>
        <p:spPr>
          <a:xfrm>
            <a:off x="4226208" y="3071813"/>
            <a:ext cx="2202390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‏بريليوم</a:t>
            </a:r>
            <a:endParaRPr lang="ar-KW" sz="3000" dirty="0"/>
          </a:p>
        </p:txBody>
      </p:sp>
      <p:sp>
        <p:nvSpPr>
          <p:cNvPr id="9" name="anim_6_38"/>
          <p:cNvSpPr txBox="1"/>
          <p:nvPr/>
        </p:nvSpPr>
        <p:spPr>
          <a:xfrm>
            <a:off x="8928609" y="1166813"/>
            <a:ext cx="238096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‏البوتاسيوم (K)</a:t>
            </a:r>
            <a:endParaRPr lang="ar-KW" sz="2300" dirty="0"/>
          </a:p>
        </p:txBody>
      </p:sp>
      <p:sp>
        <p:nvSpPr>
          <p:cNvPr id="10" name="anim_6_39"/>
          <p:cNvSpPr txBox="1"/>
          <p:nvPr/>
        </p:nvSpPr>
        <p:spPr>
          <a:xfrm>
            <a:off x="9226229" y="1714500"/>
            <a:ext cx="2083342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‏الترتيب: 2,8,8,1</a:t>
            </a:r>
            <a:endParaRPr lang="ar-KW" sz="1900" dirty="0"/>
          </a:p>
        </p:txBody>
      </p:sp>
      <p:pic>
        <p:nvPicPr>
          <p:cNvPr id="11" name="anim_6_40" descr="الترتيب النقطي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7520" y="2202656"/>
            <a:ext cx="798857" cy="869156"/>
          </a:xfrm>
          <a:prstGeom prst="rect">
            <a:avLst/>
          </a:prstGeom>
        </p:spPr>
      </p:pic>
      <p:sp>
        <p:nvSpPr>
          <p:cNvPr id="12" name="anim_6_41"/>
          <p:cNvSpPr txBox="1"/>
          <p:nvPr/>
        </p:nvSpPr>
        <p:spPr>
          <a:xfrm>
            <a:off x="9940518" y="5715000"/>
            <a:ext cx="194048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‏النيتروجين (N)</a:t>
            </a:r>
            <a:endParaRPr lang="ar-KW" sz="2100" dirty="0"/>
          </a:p>
        </p:txBody>
      </p:sp>
      <p:sp>
        <p:nvSpPr>
          <p:cNvPr id="13" name="anim_6_42"/>
          <p:cNvSpPr txBox="1"/>
          <p:nvPr/>
        </p:nvSpPr>
        <p:spPr>
          <a:xfrm>
            <a:off x="9940518" y="6167438"/>
            <a:ext cx="1940484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‏الترتيب: 2,5</a:t>
            </a:r>
            <a:endParaRPr lang="ar-KW" sz="1800" dirty="0"/>
          </a:p>
        </p:txBody>
      </p:sp>
      <p:pic>
        <p:nvPicPr>
          <p:cNvPr id="14" name="anim_6_43" descr="الترتيب النقطي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9175" y="6607969"/>
            <a:ext cx="766027" cy="833438"/>
          </a:xfrm>
          <a:prstGeom prst="rect">
            <a:avLst/>
          </a:prstGeom>
        </p:spPr>
      </p:pic>
      <p:sp>
        <p:nvSpPr>
          <p:cNvPr id="15" name="anim_6_44"/>
          <p:cNvSpPr txBox="1"/>
          <p:nvPr/>
        </p:nvSpPr>
        <p:spPr>
          <a:xfrm>
            <a:off x="5535737" y="5715000"/>
            <a:ext cx="214286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‏الهيدروجين (H)</a:t>
            </a:r>
            <a:endParaRPr lang="ar-KW" sz="2100" dirty="0"/>
          </a:p>
        </p:txBody>
      </p:sp>
      <p:sp>
        <p:nvSpPr>
          <p:cNvPr id="16" name="anim_6_45"/>
          <p:cNvSpPr txBox="1"/>
          <p:nvPr/>
        </p:nvSpPr>
        <p:spPr>
          <a:xfrm>
            <a:off x="5892882" y="6167438"/>
            <a:ext cx="1785722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‏الترتيب: 1</a:t>
            </a:r>
            <a:endParaRPr lang="ar-KW" sz="1800" dirty="0"/>
          </a:p>
        </p:txBody>
      </p:sp>
      <p:pic>
        <p:nvPicPr>
          <p:cNvPr id="17" name="anim_6_46" descr="الترتيب النقطي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6740" y="6643688"/>
            <a:ext cx="678481" cy="738187"/>
          </a:xfrm>
          <a:prstGeom prst="rect">
            <a:avLst/>
          </a:prstGeom>
        </p:spPr>
      </p:pic>
      <p:sp>
        <p:nvSpPr>
          <p:cNvPr id="18" name="anim_6_47"/>
          <p:cNvSpPr txBox="1"/>
          <p:nvPr/>
        </p:nvSpPr>
        <p:spPr>
          <a:xfrm>
            <a:off x="416668" y="5715000"/>
            <a:ext cx="1928579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‏الكربون (C)</a:t>
            </a:r>
            <a:endParaRPr lang="ar-KW" sz="2100" dirty="0"/>
          </a:p>
        </p:txBody>
      </p:sp>
      <p:sp>
        <p:nvSpPr>
          <p:cNvPr id="19" name="anim_6_48"/>
          <p:cNvSpPr txBox="1"/>
          <p:nvPr/>
        </p:nvSpPr>
        <p:spPr>
          <a:xfrm>
            <a:off x="416668" y="6167438"/>
            <a:ext cx="192857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‏الترتيب: 2,4</a:t>
            </a:r>
            <a:endParaRPr lang="ar-KW" sz="1800" dirty="0"/>
          </a:p>
        </p:txBody>
      </p:sp>
      <p:pic>
        <p:nvPicPr>
          <p:cNvPr id="20" name="anim_6_49" descr="الترتيب النقطي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5592" y="6572250"/>
            <a:ext cx="831687" cy="904875"/>
          </a:xfrm>
          <a:prstGeom prst="rect">
            <a:avLst/>
          </a:prstGeom>
        </p:spPr>
      </p:pic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9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7_50"/>
          <p:cNvSpPr txBox="1"/>
          <p:nvPr/>
        </p:nvSpPr>
        <p:spPr>
          <a:xfrm>
            <a:off x="1250005" y="595313"/>
            <a:ext cx="13750057" cy="773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‏الهدف الأسمى: قاعدة الثمانية (The Octet Rule)</a:t>
            </a:r>
            <a:endParaRPr lang="ar-KW" sz="4400" dirty="0"/>
          </a:p>
        </p:txBody>
      </p:sp>
      <p:sp>
        <p:nvSpPr>
          <p:cNvPr id="5" name="anim_7_51"/>
          <p:cNvSpPr txBox="1"/>
          <p:nvPr/>
        </p:nvSpPr>
        <p:spPr>
          <a:xfrm>
            <a:off x="2464296" y="6072188"/>
            <a:ext cx="3607158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400" b="1" dirty="0">
                <a:solidFill>
                  <a:srgbClr val="0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‏(ثمانية إلكترونات = استقرار الغاز النبيل)</a:t>
            </a:r>
            <a:endParaRPr lang="ar-KW" sz="1400" dirty="0"/>
          </a:p>
        </p:txBody>
      </p:sp>
      <p:sp>
        <p:nvSpPr>
          <p:cNvPr id="6" name="anim_7_52"/>
          <p:cNvSpPr txBox="1"/>
          <p:nvPr/>
        </p:nvSpPr>
        <p:spPr>
          <a:xfrm>
            <a:off x="4464304" y="6905625"/>
            <a:ext cx="732145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‏معظم الذرات تبحث عن «الكمال المعماري».</a:t>
            </a:r>
            <a:endParaRPr lang="ar-KW" sz="2500" dirty="0"/>
          </a:p>
        </p:txBody>
      </p:sp>
      <p:sp>
        <p:nvSpPr>
          <p:cNvPr id="7" name="anim_7_53"/>
          <p:cNvSpPr txBox="1"/>
          <p:nvPr/>
        </p:nvSpPr>
        <p:spPr>
          <a:xfrm>
            <a:off x="2738107" y="7453312"/>
            <a:ext cx="10892903" cy="881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‏ميل ذرة العنصر إلى فقد أو اكتساب أو مشاركة إلكترونات مستوى التكافؤ للوصول إلى ثماني إلكترونات لتحقيق حالة الاستقرار المشابهة للغاز النبيل.</a:t>
            </a:r>
            <a:endParaRPr lang="ar-KW" sz="200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8_54"/>
          <p:cNvSpPr txBox="1"/>
          <p:nvPr/>
        </p:nvSpPr>
        <p:spPr>
          <a:xfrm>
            <a:off x="1785722" y="595313"/>
            <a:ext cx="12678624" cy="773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‏آليات الوصول للاستقرار: الكاتيونات والأنيونات</a:t>
            </a:r>
            <a:endParaRPr lang="ar-KW" sz="4200" dirty="0"/>
          </a:p>
        </p:txBody>
      </p:sp>
      <p:sp>
        <p:nvSpPr>
          <p:cNvPr id="5" name="anim_8_55"/>
          <p:cNvSpPr txBox="1"/>
          <p:nvPr/>
        </p:nvSpPr>
        <p:spPr>
          <a:xfrm>
            <a:off x="10178614" y="6858000"/>
            <a:ext cx="404763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‏الكاتيون (Cation)</a:t>
            </a:r>
            <a:endParaRPr lang="ar-KW" sz="2700" dirty="0"/>
          </a:p>
        </p:txBody>
      </p:sp>
      <p:sp>
        <p:nvSpPr>
          <p:cNvPr id="6" name="anim_8_56"/>
          <p:cNvSpPr txBox="1"/>
          <p:nvPr/>
        </p:nvSpPr>
        <p:spPr>
          <a:xfrm>
            <a:off x="9464325" y="7477125"/>
            <a:ext cx="535716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‏ذرة العنصر عندما تفقد إلكتروناً أو أكثر.</a:t>
            </a:r>
            <a:endParaRPr lang="ar-KW" sz="2100" dirty="0"/>
          </a:p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‏تُنتج أيونات موجبة (+).</a:t>
            </a:r>
            <a:endParaRPr lang="ar-KW" sz="2100" dirty="0"/>
          </a:p>
        </p:txBody>
      </p:sp>
      <p:sp>
        <p:nvSpPr>
          <p:cNvPr id="7" name="anim_8_57"/>
          <p:cNvSpPr txBox="1"/>
          <p:nvPr/>
        </p:nvSpPr>
        <p:spPr>
          <a:xfrm>
            <a:off x="2440486" y="6858000"/>
            <a:ext cx="321429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‏الأنيون (Anion)</a:t>
            </a:r>
            <a:endParaRPr lang="ar-KW" sz="2700" dirty="0"/>
          </a:p>
        </p:txBody>
      </p:sp>
      <p:sp>
        <p:nvSpPr>
          <p:cNvPr id="8" name="anim_8_58"/>
          <p:cNvSpPr txBox="1"/>
          <p:nvPr/>
        </p:nvSpPr>
        <p:spPr>
          <a:xfrm>
            <a:off x="1250005" y="7477125"/>
            <a:ext cx="571431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‏ذرة العنصر عندما تكتسب إلكتروناً أو أكثر.</a:t>
            </a:r>
            <a:endParaRPr lang="ar-KW" sz="2100" dirty="0"/>
          </a:p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‏تُنتج أيونات سالبة (−).</a:t>
            </a:r>
            <a:endParaRPr lang="ar-KW" sz="21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9_59"/>
          <p:cNvSpPr txBox="1"/>
          <p:nvPr/>
        </p:nvSpPr>
        <p:spPr>
          <a:xfrm>
            <a:off x="1607150" y="857250"/>
            <a:ext cx="13095293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‏دراسة حالة: تكوين ملح الطعام (الصوديوم والكلور)</a:t>
            </a:r>
            <a:endParaRPr lang="ar-KW" sz="4200" dirty="0"/>
          </a:p>
        </p:txBody>
      </p:sp>
      <p:sp>
        <p:nvSpPr>
          <p:cNvPr id="5" name="anim_9_60"/>
          <p:cNvSpPr txBox="1"/>
          <p:nvPr/>
        </p:nvSpPr>
        <p:spPr>
          <a:xfrm>
            <a:off x="1845246" y="6286500"/>
            <a:ext cx="190477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(2,8,1)</a:t>
            </a:r>
            <a:endParaRPr lang="en-US" sz="2100" dirty="0"/>
          </a:p>
        </p:txBody>
      </p:sp>
      <p:sp>
        <p:nvSpPr>
          <p:cNvPr id="6" name="anim_9_61"/>
          <p:cNvSpPr txBox="1"/>
          <p:nvPr/>
        </p:nvSpPr>
        <p:spPr>
          <a:xfrm>
            <a:off x="5952406" y="6286500"/>
            <a:ext cx="17857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 (2,8,7)</a:t>
            </a:r>
            <a:endParaRPr lang="en-US" sz="2100" dirty="0"/>
          </a:p>
        </p:txBody>
      </p:sp>
      <p:sp>
        <p:nvSpPr>
          <p:cNvPr id="7" name="anim_9_62"/>
          <p:cNvSpPr txBox="1"/>
          <p:nvPr/>
        </p:nvSpPr>
        <p:spPr>
          <a:xfrm>
            <a:off x="10059566" y="6286500"/>
            <a:ext cx="172619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</a:t>
            </a:r>
            <a:r>
              <a:rPr lang="en-US" altLang="en-US" sz="2100" b="1" baseline="3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en-US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(2,8)</a:t>
            </a:r>
            <a:endParaRPr lang="en-US" sz="2100" dirty="0"/>
          </a:p>
        </p:txBody>
      </p:sp>
      <p:sp>
        <p:nvSpPr>
          <p:cNvPr id="8" name="anim_9_63"/>
          <p:cNvSpPr txBox="1"/>
          <p:nvPr/>
        </p:nvSpPr>
        <p:spPr>
          <a:xfrm>
            <a:off x="12738148" y="6286500"/>
            <a:ext cx="184524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</a:t>
            </a:r>
            <a:r>
              <a:rPr lang="en-US" altLang="en-US" sz="2100" b="1" baseline="3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r>
              <a:rPr lang="en-US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(2,8,8)</a:t>
            </a:r>
            <a:endParaRPr lang="en-US" sz="2100" dirty="0"/>
          </a:p>
        </p:txBody>
      </p:sp>
      <p:sp>
        <p:nvSpPr>
          <p:cNvPr id="9" name="anim_9_64"/>
          <p:cNvSpPr txBox="1"/>
          <p:nvPr/>
        </p:nvSpPr>
        <p:spPr>
          <a:xfrm>
            <a:off x="3750016" y="7334250"/>
            <a:ext cx="88095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‏ذرة الصوديوم (</a:t>
            </a: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‎Na: 2,8,1‎</a:t>
            </a: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 ←  كاتيون الصوديوم (</a:t>
            </a: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‎Na</a:t>
            </a:r>
            <a:r>
              <a:rPr lang="ar-KW" altLang="en-US" sz="2300" b="1" baseline="3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‎: 2,8‎</a:t>
            </a: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ar-KW" sz="2300" dirty="0"/>
          </a:p>
        </p:txBody>
      </p:sp>
      <p:sp>
        <p:nvSpPr>
          <p:cNvPr id="10" name="anim_9_65"/>
          <p:cNvSpPr txBox="1"/>
          <p:nvPr/>
        </p:nvSpPr>
        <p:spPr>
          <a:xfrm>
            <a:off x="4226208" y="7929563"/>
            <a:ext cx="785717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‏ذرة الكلور (</a:t>
            </a: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‎Cl: 2,8,7‎</a:t>
            </a: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 ←  أنيون الكلوريد (</a:t>
            </a: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‎Cl</a:t>
            </a:r>
            <a:r>
              <a:rPr lang="ar-KW" altLang="en-US" sz="2300" b="1" baseline="3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‎: 2,8,8‎</a:t>
            </a: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ar-KW" sz="23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0_66"/>
          <p:cNvSpPr txBox="1"/>
          <p:nvPr/>
        </p:nvSpPr>
        <p:spPr>
          <a:xfrm>
            <a:off x="3214299" y="535781"/>
            <a:ext cx="982147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‏التحقق من الجودة المعمارية (تمرين 3)</a:t>
            </a:r>
            <a:endParaRPr lang="ar-KW" sz="4200" dirty="0"/>
          </a:p>
        </p:txBody>
      </p:sp>
      <p:sp>
        <p:nvSpPr>
          <p:cNvPr id="5" name="anim_10_67"/>
          <p:cNvSpPr txBox="1"/>
          <p:nvPr/>
        </p:nvSpPr>
        <p:spPr>
          <a:xfrm>
            <a:off x="9226229" y="1964531"/>
            <a:ext cx="307144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‏الفلور (</a:t>
            </a:r>
            <a:r>
              <a:rPr lang="ar-KW" altLang="en-US" sz="22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‎9</a:t>
            </a: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F‎</a:t>
            </a: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ar-KW" sz="2200" dirty="0"/>
          </a:p>
        </p:txBody>
      </p:sp>
      <p:sp>
        <p:nvSpPr>
          <p:cNvPr id="6" name="anim_10_68"/>
          <p:cNvSpPr txBox="1"/>
          <p:nvPr/>
        </p:nvSpPr>
        <p:spPr>
          <a:xfrm>
            <a:off x="10297662" y="2416969"/>
            <a:ext cx="2000008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 النقطي:</a:t>
            </a:r>
            <a:endParaRPr lang="ar-KW" sz="1900" dirty="0"/>
          </a:p>
        </p:txBody>
      </p:sp>
      <p:pic>
        <p:nvPicPr>
          <p:cNvPr id="7" name="anim_10_69" descr="الترتيب النقطي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242" y="2369344"/>
            <a:ext cx="481503" cy="523875"/>
          </a:xfrm>
          <a:prstGeom prst="rect">
            <a:avLst/>
          </a:prstGeom>
        </p:spPr>
      </p:pic>
      <p:sp>
        <p:nvSpPr>
          <p:cNvPr id="8" name="anim_10_70"/>
          <p:cNvSpPr txBox="1"/>
          <p:nvPr/>
        </p:nvSpPr>
        <p:spPr>
          <a:xfrm>
            <a:off x="8750037" y="2869406"/>
            <a:ext cx="3547634" cy="40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‏للوصول للاستقرار: يكتسب إلكتروناً واحداً</a:t>
            </a:r>
            <a:endParaRPr lang="ar-KW" sz="1600" dirty="0"/>
          </a:p>
        </p:txBody>
      </p:sp>
      <p:sp>
        <p:nvSpPr>
          <p:cNvPr id="9" name="anim_10_71"/>
          <p:cNvSpPr txBox="1"/>
          <p:nvPr/>
        </p:nvSpPr>
        <p:spPr>
          <a:xfrm>
            <a:off x="3869064" y="2345531"/>
            <a:ext cx="327382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‏قاعدة الثمانية: يحقق</a:t>
            </a:r>
            <a:endParaRPr lang="ar-KW" sz="2200" dirty="0"/>
          </a:p>
        </p:txBody>
      </p:sp>
      <p:sp>
        <p:nvSpPr>
          <p:cNvPr id="10" name="anim_10_72"/>
          <p:cNvSpPr txBox="1"/>
          <p:nvPr/>
        </p:nvSpPr>
        <p:spPr>
          <a:xfrm>
            <a:off x="9226229" y="3988594"/>
            <a:ext cx="307144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‏المغنيسيوم (</a:t>
            </a:r>
            <a:r>
              <a:rPr lang="ar-KW" altLang="en-US" sz="22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‎12</a:t>
            </a: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Mg‎</a:t>
            </a: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ar-KW" sz="2200" dirty="0"/>
          </a:p>
        </p:txBody>
      </p:sp>
      <p:sp>
        <p:nvSpPr>
          <p:cNvPr id="11" name="anim_10_73"/>
          <p:cNvSpPr txBox="1"/>
          <p:nvPr/>
        </p:nvSpPr>
        <p:spPr>
          <a:xfrm>
            <a:off x="10297662" y="4441031"/>
            <a:ext cx="2000008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 النقطي:</a:t>
            </a:r>
            <a:endParaRPr lang="ar-KW" sz="1900" dirty="0"/>
          </a:p>
        </p:txBody>
      </p:sp>
      <p:pic>
        <p:nvPicPr>
          <p:cNvPr id="12" name="anim_10_74" descr="الترتيب النقطي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721" y="4393406"/>
            <a:ext cx="610545" cy="523875"/>
          </a:xfrm>
          <a:prstGeom prst="rect">
            <a:avLst/>
          </a:prstGeom>
        </p:spPr>
      </p:pic>
      <p:sp>
        <p:nvSpPr>
          <p:cNvPr id="13" name="anim_10_75"/>
          <p:cNvSpPr txBox="1"/>
          <p:nvPr/>
        </p:nvSpPr>
        <p:spPr>
          <a:xfrm>
            <a:off x="8750037" y="4893469"/>
            <a:ext cx="3547634" cy="40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‏للوصول للاستقرار: يفقد إلكترونين</a:t>
            </a:r>
            <a:endParaRPr lang="ar-KW" sz="1600" dirty="0"/>
          </a:p>
        </p:txBody>
      </p:sp>
      <p:sp>
        <p:nvSpPr>
          <p:cNvPr id="14" name="anim_10_76"/>
          <p:cNvSpPr txBox="1"/>
          <p:nvPr/>
        </p:nvSpPr>
        <p:spPr>
          <a:xfrm>
            <a:off x="3869064" y="4369594"/>
            <a:ext cx="327382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‏قاعدة الثمانية: يحقق</a:t>
            </a:r>
            <a:endParaRPr lang="ar-KW" sz="2200" dirty="0"/>
          </a:p>
        </p:txBody>
      </p:sp>
      <p:sp>
        <p:nvSpPr>
          <p:cNvPr id="15" name="anim_10_77"/>
          <p:cNvSpPr txBox="1"/>
          <p:nvPr/>
        </p:nvSpPr>
        <p:spPr>
          <a:xfrm>
            <a:off x="9226229" y="6012656"/>
            <a:ext cx="307144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‏الليثيوم (</a:t>
            </a:r>
            <a:r>
              <a:rPr lang="ar-KW" altLang="en-US" sz="22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‎3</a:t>
            </a: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Li‎</a:t>
            </a: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ar-KW" sz="2200" dirty="0"/>
          </a:p>
        </p:txBody>
      </p:sp>
      <p:sp>
        <p:nvSpPr>
          <p:cNvPr id="16" name="anim_10_78"/>
          <p:cNvSpPr txBox="1"/>
          <p:nvPr/>
        </p:nvSpPr>
        <p:spPr>
          <a:xfrm>
            <a:off x="10297662" y="6465094"/>
            <a:ext cx="2000008" cy="40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 النقطي:</a:t>
            </a:r>
            <a:endParaRPr lang="ar-KW" sz="1900" dirty="0"/>
          </a:p>
        </p:txBody>
      </p:sp>
      <p:pic>
        <p:nvPicPr>
          <p:cNvPr id="17" name="anim_10_79" descr="الترتيب النقطي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5721" y="6417469"/>
            <a:ext cx="610545" cy="523875"/>
          </a:xfrm>
          <a:prstGeom prst="rect">
            <a:avLst/>
          </a:prstGeom>
        </p:spPr>
      </p:pic>
      <p:sp>
        <p:nvSpPr>
          <p:cNvPr id="18" name="anim_10_80"/>
          <p:cNvSpPr txBox="1"/>
          <p:nvPr/>
        </p:nvSpPr>
        <p:spPr>
          <a:xfrm>
            <a:off x="8750037" y="6917531"/>
            <a:ext cx="3547634" cy="40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‏للوصول للاستقرار: يفقد إلكتروناً واحداً</a:t>
            </a:r>
            <a:endParaRPr lang="ar-KW" sz="1600" dirty="0"/>
          </a:p>
        </p:txBody>
      </p:sp>
      <p:sp>
        <p:nvSpPr>
          <p:cNvPr id="19" name="anim_10_81"/>
          <p:cNvSpPr txBox="1"/>
          <p:nvPr/>
        </p:nvSpPr>
        <p:spPr>
          <a:xfrm>
            <a:off x="3869064" y="6393656"/>
            <a:ext cx="327382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‏قاعدة الثمانية: لا يحقق!</a:t>
            </a:r>
            <a:endParaRPr lang="ar-KW" sz="2200" dirty="0"/>
          </a:p>
        </p:txBody>
      </p:sp>
      <p:sp>
        <p:nvSpPr>
          <p:cNvPr id="20" name="anim_10_82"/>
          <p:cNvSpPr txBox="1"/>
          <p:nvPr/>
        </p:nvSpPr>
        <p:spPr>
          <a:xfrm>
            <a:off x="3452395" y="8001000"/>
            <a:ext cx="9369087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‏لماذا لا يحقق الليثيوم قاعدة الثمانية رغم استقراره؟</a:t>
            </a:r>
            <a:endParaRPr lang="ar-KW" sz="280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1_83"/>
          <p:cNvSpPr txBox="1"/>
          <p:nvPr/>
        </p:nvSpPr>
        <p:spPr>
          <a:xfrm>
            <a:off x="2321438" y="714375"/>
            <a:ext cx="11666715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‏المتمردون على القاعدة: استثناءات الثمانية</a:t>
            </a:r>
            <a:endParaRPr lang="ar-KW" sz="3400" dirty="0"/>
          </a:p>
        </p:txBody>
      </p:sp>
      <p:sp>
        <p:nvSpPr>
          <p:cNvPr id="5" name="anim_11_84"/>
          <p:cNvSpPr txBox="1"/>
          <p:nvPr/>
        </p:nvSpPr>
        <p:spPr>
          <a:xfrm>
            <a:off x="2380962" y="1607344"/>
            <a:ext cx="11547667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‏بعض العناصر الصغيرة لا تحتاج إلى 8 إلكترونات، بل تكتفي بإلكترونين فقط لتشابه أقرب غاز نبيل وهو الهيليوم (</a:t>
            </a:r>
            <a:r>
              <a:rPr lang="ar-KW" altLang="en-US" sz="2100" b="1" baseline="-40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‎2</a:t>
            </a:r>
            <a:r>
              <a:rPr lang="ar-KW" altLang="en-US" sz="2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He‎</a:t>
            </a:r>
            <a:r>
              <a:rPr lang="ar-KW" altLang="en-US" sz="2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ar-KW" sz="2100" dirty="0"/>
          </a:p>
        </p:txBody>
      </p:sp>
      <p:sp>
        <p:nvSpPr>
          <p:cNvPr id="6" name="anim_11_85"/>
          <p:cNvSpPr txBox="1"/>
          <p:nvPr/>
        </p:nvSpPr>
        <p:spPr>
          <a:xfrm>
            <a:off x="3750016" y="3595688"/>
            <a:ext cx="24047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‏الهيدروجين (H)</a:t>
            </a:r>
            <a:endParaRPr lang="ar-KW" sz="2200" dirty="0"/>
          </a:p>
        </p:txBody>
      </p:sp>
      <p:sp>
        <p:nvSpPr>
          <p:cNvPr id="7" name="anim_11_86"/>
          <p:cNvSpPr txBox="1"/>
          <p:nvPr/>
        </p:nvSpPr>
        <p:spPr>
          <a:xfrm>
            <a:off x="6309550" y="3595688"/>
            <a:ext cx="67857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100" b="1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anim_11_87"/>
          <p:cNvSpPr txBox="1"/>
          <p:nvPr/>
        </p:nvSpPr>
        <p:spPr>
          <a:xfrm>
            <a:off x="3750016" y="4429125"/>
            <a:ext cx="24047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‏الليثيوم (Li)</a:t>
            </a:r>
            <a:endParaRPr lang="ar-KW" sz="2200" dirty="0"/>
          </a:p>
        </p:txBody>
      </p:sp>
      <p:sp>
        <p:nvSpPr>
          <p:cNvPr id="9" name="anim_11_88"/>
          <p:cNvSpPr txBox="1"/>
          <p:nvPr/>
        </p:nvSpPr>
        <p:spPr>
          <a:xfrm>
            <a:off x="6309550" y="4429125"/>
            <a:ext cx="67857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100" b="1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</a:t>
            </a:r>
            <a:endParaRPr lang="en-US" sz="2100" dirty="0"/>
          </a:p>
        </p:txBody>
      </p:sp>
      <p:sp>
        <p:nvSpPr>
          <p:cNvPr id="10" name="anim_11_89"/>
          <p:cNvSpPr txBox="1"/>
          <p:nvPr/>
        </p:nvSpPr>
        <p:spPr>
          <a:xfrm>
            <a:off x="3750016" y="5262563"/>
            <a:ext cx="24047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‏البريليوم (Be)</a:t>
            </a:r>
            <a:endParaRPr lang="ar-KW" sz="2200" dirty="0"/>
          </a:p>
        </p:txBody>
      </p:sp>
      <p:sp>
        <p:nvSpPr>
          <p:cNvPr id="11" name="anim_11_90"/>
          <p:cNvSpPr txBox="1"/>
          <p:nvPr/>
        </p:nvSpPr>
        <p:spPr>
          <a:xfrm>
            <a:off x="6309550" y="5262563"/>
            <a:ext cx="67857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100" b="1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</a:t>
            </a:r>
            <a:endParaRPr lang="en-US" sz="2100" dirty="0"/>
          </a:p>
        </p:txBody>
      </p:sp>
      <p:sp>
        <p:nvSpPr>
          <p:cNvPr id="12" name="anim_11_91"/>
          <p:cNvSpPr txBox="1"/>
          <p:nvPr/>
        </p:nvSpPr>
        <p:spPr>
          <a:xfrm>
            <a:off x="3750016" y="6096000"/>
            <a:ext cx="24047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‏البورون (B)</a:t>
            </a:r>
            <a:endParaRPr lang="ar-KW" sz="2200" dirty="0"/>
          </a:p>
        </p:txBody>
      </p:sp>
      <p:sp>
        <p:nvSpPr>
          <p:cNvPr id="13" name="anim_11_92"/>
          <p:cNvSpPr txBox="1"/>
          <p:nvPr/>
        </p:nvSpPr>
        <p:spPr>
          <a:xfrm>
            <a:off x="6309550" y="6096000"/>
            <a:ext cx="67857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100" b="1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</a:t>
            </a:r>
            <a:endParaRPr lang="en-US" sz="2100" dirty="0"/>
          </a:p>
        </p:txBody>
      </p:sp>
      <p:sp>
        <p:nvSpPr>
          <p:cNvPr id="14" name="anim_11_93"/>
          <p:cNvSpPr txBox="1"/>
          <p:nvPr/>
        </p:nvSpPr>
        <p:spPr>
          <a:xfrm>
            <a:off x="12654815" y="2952750"/>
            <a:ext cx="1154767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9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‏H</a:t>
            </a:r>
            <a:endParaRPr lang="ar-KW" sz="1700" dirty="0"/>
          </a:p>
          <a:p>
            <a:pPr rtl="0" algn="r" indent="0" marL="0">
              <a:lnSpc>
                <a:spcPct val="9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‏هيدروجين</a:t>
            </a:r>
            <a:endParaRPr lang="ar-KW" sz="1700" dirty="0"/>
          </a:p>
        </p:txBody>
      </p:sp>
      <p:sp>
        <p:nvSpPr>
          <p:cNvPr id="15" name="anim_11_94"/>
          <p:cNvSpPr txBox="1"/>
          <p:nvPr/>
        </p:nvSpPr>
        <p:spPr>
          <a:xfrm>
            <a:off x="9321468" y="3488531"/>
            <a:ext cx="880956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9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‏Li</a:t>
            </a:r>
            <a:endParaRPr lang="ar-KW" sz="1700" dirty="0"/>
          </a:p>
          <a:p>
            <a:pPr rtl="0" algn="r" indent="0" marL="0">
              <a:lnSpc>
                <a:spcPct val="9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‏ليثيوم</a:t>
            </a:r>
            <a:endParaRPr lang="ar-KW" sz="1700" dirty="0"/>
          </a:p>
        </p:txBody>
      </p:sp>
      <p:sp>
        <p:nvSpPr>
          <p:cNvPr id="16" name="anim_11_95"/>
          <p:cNvSpPr txBox="1"/>
          <p:nvPr/>
        </p:nvSpPr>
        <p:spPr>
          <a:xfrm>
            <a:off x="8333368" y="4655344"/>
            <a:ext cx="91667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9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‏Be</a:t>
            </a:r>
            <a:endParaRPr lang="ar-KW" sz="1700" dirty="0"/>
          </a:p>
          <a:p>
            <a:pPr rtl="0" algn="r" indent="0" marL="0">
              <a:lnSpc>
                <a:spcPct val="9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‏بريليوم</a:t>
            </a:r>
            <a:endParaRPr lang="ar-KW" sz="1700" dirty="0"/>
          </a:p>
        </p:txBody>
      </p:sp>
      <p:sp>
        <p:nvSpPr>
          <p:cNvPr id="17" name="anim_11_96"/>
          <p:cNvSpPr txBox="1"/>
          <p:nvPr/>
        </p:nvSpPr>
        <p:spPr>
          <a:xfrm>
            <a:off x="8809561" y="5834063"/>
            <a:ext cx="797622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9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‏B</a:t>
            </a:r>
            <a:endParaRPr lang="ar-KW" sz="1700" dirty="0"/>
          </a:p>
          <a:p>
            <a:pPr rtl="0" algn="r" indent="0" marL="0">
              <a:lnSpc>
                <a:spcPct val="9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‏بورون</a:t>
            </a:r>
            <a:endParaRPr lang="ar-KW" sz="1700" dirty="0"/>
          </a:p>
        </p:txBody>
      </p:sp>
      <p:sp>
        <p:nvSpPr>
          <p:cNvPr id="18" name="anim_11_97"/>
          <p:cNvSpPr txBox="1"/>
          <p:nvPr/>
        </p:nvSpPr>
        <p:spPr>
          <a:xfrm>
            <a:off x="10595282" y="6929438"/>
            <a:ext cx="339287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Architecture</a:t>
            </a:r>
            <a:endParaRPr lang="en-US" sz="2000" dirty="0"/>
          </a:p>
        </p:txBody>
      </p:sp>
      <p:sp>
        <p:nvSpPr>
          <p:cNvPr id="19" name="anim_11_98"/>
          <p:cNvSpPr txBox="1"/>
          <p:nvPr/>
        </p:nvSpPr>
        <p:spPr>
          <a:xfrm>
            <a:off x="1821436" y="7905750"/>
            <a:ext cx="12666720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‏هذه العناصر لا تحقق قاعدة الثمانية عند فقد إلكترونات التكافؤ، لأنها تستقر بإلكترونين فقط مثل الهيليوم.</a:t>
            </a:r>
            <a:endParaRPr lang="ar-KW" sz="180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1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8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2_99"/>
          <p:cNvSpPr txBox="1"/>
          <p:nvPr/>
        </p:nvSpPr>
        <p:spPr>
          <a:xfrm>
            <a:off x="1607150" y="595313"/>
            <a:ext cx="1315481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‏إضاءات: جيلبرت نيوتن لويس (Gilbert N. Lewis)</a:t>
            </a:r>
            <a:endParaRPr lang="ar-KW" sz="3800" dirty="0"/>
          </a:p>
        </p:txBody>
      </p:sp>
      <p:sp>
        <p:nvSpPr>
          <p:cNvPr id="5" name="anim_12_100"/>
          <p:cNvSpPr txBox="1"/>
          <p:nvPr/>
        </p:nvSpPr>
        <p:spPr>
          <a:xfrm>
            <a:off x="6071454" y="6191250"/>
            <a:ext cx="9321468" cy="1250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‏يعدّ العالم الأمريكي جلبرت نيوتن لويس من روّاد علم الكيمياء الحديثة. وُلد عام 1875م، واشتهر بإسهاماته في دراسة الروابط الكيميائية وإلكترونات التكافؤ.</a:t>
            </a:r>
            <a:endParaRPr lang="ar-KW" sz="1900" dirty="0"/>
          </a:p>
        </p:txBody>
      </p:sp>
      <p:sp>
        <p:nvSpPr>
          <p:cNvPr id="6" name="anim_12_101"/>
          <p:cNvSpPr txBox="1"/>
          <p:nvPr/>
        </p:nvSpPr>
        <p:spPr>
          <a:xfrm>
            <a:off x="6309550" y="7620000"/>
            <a:ext cx="9011942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‏ومن أبرز إنجازاته ابتكار تمثيل لويس الذي يستخدم النقاط حول رمز العنصر لتمثيل إلكترونات التكافؤ، مما سهّل فهم كيفية ارتباط الذرات وتكوين المركبات الكيميائية.</a:t>
            </a:r>
            <a:endParaRPr lang="ar-KW" sz="16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3_102"/>
          <p:cNvSpPr txBox="1"/>
          <p:nvPr/>
        </p:nvSpPr>
        <p:spPr>
          <a:xfrm>
            <a:off x="3273823" y="535781"/>
            <a:ext cx="9761946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‏مهمة: أنت الكيميائي (الجزء الأول)</a:t>
            </a:r>
            <a:endParaRPr lang="ar-KW" sz="4200" dirty="0"/>
          </a:p>
        </p:txBody>
      </p:sp>
      <p:sp>
        <p:nvSpPr>
          <p:cNvPr id="5" name="anim_13_103"/>
          <p:cNvSpPr txBox="1"/>
          <p:nvPr/>
        </p:nvSpPr>
        <p:spPr>
          <a:xfrm>
            <a:off x="8988133" y="1785938"/>
            <a:ext cx="482144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‏السؤال الأول (المصطلحات)</a:t>
            </a:r>
            <a:endParaRPr lang="ar-KW" sz="1900" dirty="0"/>
          </a:p>
        </p:txBody>
      </p:sp>
      <p:sp>
        <p:nvSpPr>
          <p:cNvPr id="6" name="anim_13_104"/>
          <p:cNvSpPr txBox="1"/>
          <p:nvPr/>
        </p:nvSpPr>
        <p:spPr>
          <a:xfrm>
            <a:off x="3095251" y="2381250"/>
            <a:ext cx="4797639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‏عدد الإلكترونات التي تفقدها أو تكتسبها أو تشارك بها الذرة...</a:t>
            </a:r>
            <a:endParaRPr lang="ar-KW" sz="2000" dirty="0"/>
          </a:p>
        </p:txBody>
      </p:sp>
      <p:sp>
        <p:nvSpPr>
          <p:cNvPr id="7" name="anim_13_105"/>
          <p:cNvSpPr txBox="1"/>
          <p:nvPr/>
        </p:nvSpPr>
        <p:spPr>
          <a:xfrm>
            <a:off x="8333368" y="2524125"/>
            <a:ext cx="3392871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‏[التكافؤ]</a:t>
            </a:r>
            <a:endParaRPr lang="ar-KW" sz="2300" dirty="0"/>
          </a:p>
        </p:txBody>
      </p:sp>
      <p:sp>
        <p:nvSpPr>
          <p:cNvPr id="8" name="anim_13_106"/>
          <p:cNvSpPr txBox="1"/>
          <p:nvPr/>
        </p:nvSpPr>
        <p:spPr>
          <a:xfrm>
            <a:off x="3095251" y="3452813"/>
            <a:ext cx="4797639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‏الأشكال التي توضح إلكترونات التكافؤ في صورة نقاط...</a:t>
            </a:r>
            <a:endParaRPr lang="ar-KW" sz="2000" dirty="0"/>
          </a:p>
        </p:txBody>
      </p:sp>
      <p:sp>
        <p:nvSpPr>
          <p:cNvPr id="9" name="anim_13_107"/>
          <p:cNvSpPr txBox="1"/>
          <p:nvPr/>
        </p:nvSpPr>
        <p:spPr>
          <a:xfrm>
            <a:off x="8273844" y="3571875"/>
            <a:ext cx="351191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‏[الترتيب الإلكتروني النقطي]</a:t>
            </a:r>
            <a:endParaRPr lang="ar-KW" sz="1900" dirty="0"/>
          </a:p>
        </p:txBody>
      </p:sp>
      <p:sp>
        <p:nvSpPr>
          <p:cNvPr id="10" name="anim_13_108"/>
          <p:cNvSpPr txBox="1"/>
          <p:nvPr/>
        </p:nvSpPr>
        <p:spPr>
          <a:xfrm>
            <a:off x="8273844" y="4953000"/>
            <a:ext cx="55714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‏السؤال الثاني (اختر الإجابة الصحيحة)</a:t>
            </a:r>
            <a:endParaRPr lang="ar-KW" sz="1900" dirty="0"/>
          </a:p>
        </p:txBody>
      </p:sp>
      <p:sp>
        <p:nvSpPr>
          <p:cNvPr id="11" name="anim_13_109"/>
          <p:cNvSpPr txBox="1"/>
          <p:nvPr/>
        </p:nvSpPr>
        <p:spPr>
          <a:xfrm>
            <a:off x="3273823" y="5595938"/>
            <a:ext cx="4619067" cy="833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‏عدد إلكترونات التكافؤ لعنصر يقع في المجموعة (17):</a:t>
            </a:r>
            <a:endParaRPr lang="ar-KW" sz="2000" dirty="0"/>
          </a:p>
        </p:txBody>
      </p:sp>
      <p:sp>
        <p:nvSpPr>
          <p:cNvPr id="12" name="anim_13_110"/>
          <p:cNvSpPr txBox="1"/>
          <p:nvPr/>
        </p:nvSpPr>
        <p:spPr>
          <a:xfrm>
            <a:off x="8928609" y="5738813"/>
            <a:ext cx="214286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</a:t>
            </a:r>
            <a:endParaRPr lang="en-US" sz="3400" dirty="0"/>
          </a:p>
        </p:txBody>
      </p:sp>
      <p:sp>
        <p:nvSpPr>
          <p:cNvPr id="13" name="anim_13_111"/>
          <p:cNvSpPr txBox="1"/>
          <p:nvPr/>
        </p:nvSpPr>
        <p:spPr>
          <a:xfrm>
            <a:off x="2976203" y="6846094"/>
            <a:ext cx="4916687" cy="833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‏أحد الذرات التالية تصل للاستقرار عن طريق فقد إلكترونين:</a:t>
            </a:r>
            <a:endParaRPr lang="ar-KW" sz="2000" dirty="0"/>
          </a:p>
        </p:txBody>
      </p:sp>
      <p:sp>
        <p:nvSpPr>
          <p:cNvPr id="14" name="anim_13_112"/>
          <p:cNvSpPr txBox="1"/>
          <p:nvPr/>
        </p:nvSpPr>
        <p:spPr>
          <a:xfrm>
            <a:off x="8928609" y="6929438"/>
            <a:ext cx="2142866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r>
              <a:rPr lang="en-US" altLang="en-US" sz="34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r>
              <a:rPr lang="en-US" alt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Mg]</a:t>
            </a:r>
            <a:endParaRPr lang="en-US" sz="34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4_113"/>
          <p:cNvSpPr txBox="1"/>
          <p:nvPr/>
        </p:nvSpPr>
        <p:spPr>
          <a:xfrm>
            <a:off x="1547626" y="595313"/>
            <a:ext cx="13214341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‏مهمة: أنت الكيميائي (الجزء الثاني - الذرة الغامضة)</a:t>
            </a:r>
            <a:endParaRPr lang="ar-KW" sz="4000" dirty="0"/>
          </a:p>
        </p:txBody>
      </p:sp>
      <p:sp>
        <p:nvSpPr>
          <p:cNvPr id="5" name="anim_14_114"/>
          <p:cNvSpPr txBox="1"/>
          <p:nvPr/>
        </p:nvSpPr>
        <p:spPr>
          <a:xfrm>
            <a:off x="2083342" y="1714500"/>
            <a:ext cx="121429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‏السؤال الثالث: </a:t>
            </a: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عنصر مُمثَّل يحتوي ترتيبه النقطي على 3 نقاط فقط.</a:t>
            </a:r>
            <a:endParaRPr lang="ar-KW" sz="2100" dirty="0"/>
          </a:p>
        </p:txBody>
      </p:sp>
      <p:sp>
        <p:nvSpPr>
          <p:cNvPr id="6" name="anim_14_115"/>
          <p:cNvSpPr txBox="1"/>
          <p:nvPr/>
        </p:nvSpPr>
        <p:spPr>
          <a:xfrm>
            <a:off x="1345244" y="7096125"/>
            <a:ext cx="350001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‏الدليل الأول:</a:t>
            </a:r>
            <a:endParaRPr lang="ar-KW" sz="1700" dirty="0"/>
          </a:p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‏3 نقاط = 3 إلكترونات تكافؤ.</a:t>
            </a:r>
            <a:endParaRPr lang="ar-KW" sz="1700" dirty="0"/>
          </a:p>
        </p:txBody>
      </p:sp>
      <p:sp>
        <p:nvSpPr>
          <p:cNvPr id="7" name="anim_14_116"/>
          <p:cNvSpPr txBox="1"/>
          <p:nvPr/>
        </p:nvSpPr>
        <p:spPr>
          <a:xfrm>
            <a:off x="6345265" y="7096125"/>
            <a:ext cx="350001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‏الاستنتاج (رقم المجموعة):</a:t>
            </a:r>
            <a:endParaRPr lang="ar-KW" sz="1700" dirty="0"/>
          </a:p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‏يقع في المجموعة (13).</a:t>
            </a:r>
            <a:endParaRPr lang="ar-KW" sz="1700" dirty="0"/>
          </a:p>
        </p:txBody>
      </p:sp>
      <p:sp>
        <p:nvSpPr>
          <p:cNvPr id="8" name="anim_14_117"/>
          <p:cNvSpPr txBox="1"/>
          <p:nvPr/>
        </p:nvSpPr>
        <p:spPr>
          <a:xfrm>
            <a:off x="11392905" y="7048500"/>
            <a:ext cx="3571443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‏الحكم النهائي:</a:t>
            </a:r>
            <a:endParaRPr lang="ar-KW" sz="1500" dirty="0"/>
          </a:p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‏يفقد 3 إلكترونات ليصل للاستقرار، ويصبح كاتيوناً موجباً (3+).</a:t>
            </a:r>
            <a:endParaRPr lang="ar-KW" sz="150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5_118"/>
          <p:cNvSpPr txBox="1"/>
          <p:nvPr/>
        </p:nvSpPr>
        <p:spPr>
          <a:xfrm>
            <a:off x="2738107" y="714375"/>
            <a:ext cx="10773855" cy="833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‏المخطط النهائي: تحقق مما تعلمت</a:t>
            </a:r>
            <a:endParaRPr lang="ar-KW" sz="4400" dirty="0"/>
          </a:p>
        </p:txBody>
      </p:sp>
      <p:sp>
        <p:nvSpPr>
          <p:cNvPr id="5" name="anim_15_119"/>
          <p:cNvSpPr txBox="1"/>
          <p:nvPr/>
        </p:nvSpPr>
        <p:spPr>
          <a:xfrm>
            <a:off x="4738115" y="2619375"/>
            <a:ext cx="2321438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‏النيتروجين (</a:t>
            </a:r>
            <a:r>
              <a:rPr lang="ar-KW" altLang="en-US" sz="20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‎7</a:t>
            </a:r>
            <a:r>
              <a:rPr lang="ar-KW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N‎</a:t>
            </a:r>
            <a:r>
              <a:rPr lang="ar-KW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ar-KW" sz="2000" dirty="0"/>
          </a:p>
        </p:txBody>
      </p:sp>
      <p:sp>
        <p:nvSpPr>
          <p:cNvPr id="6" name="anim_15_120"/>
          <p:cNvSpPr txBox="1"/>
          <p:nvPr/>
        </p:nvSpPr>
        <p:spPr>
          <a:xfrm>
            <a:off x="9880994" y="2619375"/>
            <a:ext cx="1785722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‏التكافؤ:</a:t>
            </a:r>
            <a:endParaRPr lang="ar-KW" sz="1700" dirty="0"/>
          </a:p>
        </p:txBody>
      </p:sp>
      <p:pic>
        <p:nvPicPr>
          <p:cNvPr id="7" name="anim_15_121" descr="الترتيب النقطي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6032" y="2524125"/>
            <a:ext cx="1203757" cy="1309687"/>
          </a:xfrm>
          <a:prstGeom prst="rect">
            <a:avLst/>
          </a:prstGeom>
        </p:spPr>
      </p:pic>
      <p:sp>
        <p:nvSpPr>
          <p:cNvPr id="8" name="anim_15_122"/>
          <p:cNvSpPr txBox="1"/>
          <p:nvPr/>
        </p:nvSpPr>
        <p:spPr>
          <a:xfrm>
            <a:off x="9880994" y="3262313"/>
            <a:ext cx="1785722" cy="500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anim_15_123"/>
          <p:cNvSpPr txBox="1"/>
          <p:nvPr/>
        </p:nvSpPr>
        <p:spPr>
          <a:xfrm>
            <a:off x="7261935" y="3262313"/>
            <a:ext cx="2345248" cy="500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‏إلكترونات التكافؤ: 5</a:t>
            </a:r>
            <a:endParaRPr lang="ar-KW" sz="1700" dirty="0"/>
          </a:p>
        </p:txBody>
      </p:sp>
      <p:sp>
        <p:nvSpPr>
          <p:cNvPr id="10" name="anim_15_124"/>
          <p:cNvSpPr txBox="1"/>
          <p:nvPr/>
        </p:nvSpPr>
        <p:spPr>
          <a:xfrm>
            <a:off x="4726210" y="3262313"/>
            <a:ext cx="2333343" cy="500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‏الترتيب: 2,5</a:t>
            </a:r>
            <a:endParaRPr lang="ar-KW" sz="1800" dirty="0"/>
          </a:p>
        </p:txBody>
      </p:sp>
      <p:sp>
        <p:nvSpPr>
          <p:cNvPr id="11" name="anim_15_125"/>
          <p:cNvSpPr txBox="1"/>
          <p:nvPr/>
        </p:nvSpPr>
        <p:spPr>
          <a:xfrm>
            <a:off x="4738115" y="4595813"/>
            <a:ext cx="2321438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‏الكبريت (</a:t>
            </a:r>
            <a:r>
              <a:rPr lang="ar-KW" altLang="en-US" sz="20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‎16</a:t>
            </a:r>
            <a:r>
              <a:rPr lang="ar-KW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S‎</a:t>
            </a:r>
            <a:r>
              <a:rPr lang="ar-KW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ar-KW" sz="2000" dirty="0"/>
          </a:p>
        </p:txBody>
      </p:sp>
      <p:sp>
        <p:nvSpPr>
          <p:cNvPr id="12" name="anim_15_126"/>
          <p:cNvSpPr txBox="1"/>
          <p:nvPr/>
        </p:nvSpPr>
        <p:spPr>
          <a:xfrm>
            <a:off x="9880994" y="4595813"/>
            <a:ext cx="1785722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‏التكافؤ:</a:t>
            </a:r>
            <a:endParaRPr lang="ar-KW" sz="1700" dirty="0"/>
          </a:p>
        </p:txBody>
      </p:sp>
      <p:pic>
        <p:nvPicPr>
          <p:cNvPr id="13" name="anim_15_127" descr="الترتيب النقطي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6032" y="4500563"/>
            <a:ext cx="1203757" cy="1309688"/>
          </a:xfrm>
          <a:prstGeom prst="rect">
            <a:avLst/>
          </a:prstGeom>
        </p:spPr>
      </p:pic>
      <p:sp>
        <p:nvSpPr>
          <p:cNvPr id="14" name="anim_15_128"/>
          <p:cNvSpPr txBox="1"/>
          <p:nvPr/>
        </p:nvSpPr>
        <p:spPr>
          <a:xfrm>
            <a:off x="9880994" y="5238750"/>
            <a:ext cx="1785722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anim_15_129"/>
          <p:cNvSpPr txBox="1"/>
          <p:nvPr/>
        </p:nvSpPr>
        <p:spPr>
          <a:xfrm>
            <a:off x="7261935" y="5238750"/>
            <a:ext cx="2345248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‏إلكترونات التكافؤ: 6</a:t>
            </a:r>
            <a:endParaRPr lang="ar-KW" sz="1700" dirty="0"/>
          </a:p>
        </p:txBody>
      </p:sp>
      <p:sp>
        <p:nvSpPr>
          <p:cNvPr id="16" name="anim_15_130"/>
          <p:cNvSpPr txBox="1"/>
          <p:nvPr/>
        </p:nvSpPr>
        <p:spPr>
          <a:xfrm>
            <a:off x="4726210" y="5238750"/>
            <a:ext cx="233334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‏الترتيب: 2,8,6</a:t>
            </a:r>
            <a:endParaRPr lang="ar-KW" sz="1800" dirty="0"/>
          </a:p>
        </p:txBody>
      </p:sp>
      <p:sp>
        <p:nvSpPr>
          <p:cNvPr id="17" name="anim_15_131"/>
          <p:cNvSpPr txBox="1"/>
          <p:nvPr/>
        </p:nvSpPr>
        <p:spPr>
          <a:xfrm>
            <a:off x="4738115" y="6572250"/>
            <a:ext cx="2321438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‏الكالسيوم (</a:t>
            </a:r>
            <a:r>
              <a:rPr lang="ar-KW" altLang="en-US" sz="20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‎20</a:t>
            </a:r>
            <a:r>
              <a:rPr lang="ar-KW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Ca‎</a:t>
            </a:r>
            <a:r>
              <a:rPr lang="ar-KW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ar-KW" sz="2000" dirty="0"/>
          </a:p>
        </p:txBody>
      </p:sp>
      <p:sp>
        <p:nvSpPr>
          <p:cNvPr id="18" name="anim_15_132"/>
          <p:cNvSpPr txBox="1"/>
          <p:nvPr/>
        </p:nvSpPr>
        <p:spPr>
          <a:xfrm>
            <a:off x="9880994" y="6572250"/>
            <a:ext cx="1785722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‏التكافؤ:</a:t>
            </a:r>
            <a:endParaRPr lang="ar-KW" sz="1700" dirty="0"/>
          </a:p>
        </p:txBody>
      </p:sp>
      <p:pic>
        <p:nvPicPr>
          <p:cNvPr id="19" name="anim_15_133" descr="الترتيب النقطي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3860" y="6493415"/>
            <a:ext cx="1488101" cy="1276857"/>
          </a:xfrm>
          <a:prstGeom prst="rect">
            <a:avLst/>
          </a:prstGeom>
        </p:spPr>
      </p:pic>
      <p:sp>
        <p:nvSpPr>
          <p:cNvPr id="20" name="anim_15_134"/>
          <p:cNvSpPr txBox="1"/>
          <p:nvPr/>
        </p:nvSpPr>
        <p:spPr>
          <a:xfrm>
            <a:off x="9880994" y="7215188"/>
            <a:ext cx="1785722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anim_15_135"/>
          <p:cNvSpPr txBox="1"/>
          <p:nvPr/>
        </p:nvSpPr>
        <p:spPr>
          <a:xfrm>
            <a:off x="7261935" y="7215188"/>
            <a:ext cx="2345248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‏إلكترونات التكافؤ: 2</a:t>
            </a:r>
            <a:endParaRPr lang="ar-KW" sz="1700" dirty="0"/>
          </a:p>
        </p:txBody>
      </p:sp>
      <p:sp>
        <p:nvSpPr>
          <p:cNvPr id="22" name="anim_15_136"/>
          <p:cNvSpPr txBox="1"/>
          <p:nvPr/>
        </p:nvSpPr>
        <p:spPr>
          <a:xfrm>
            <a:off x="4726210" y="7215188"/>
            <a:ext cx="233334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‏الترتيب: 2,8,8,2</a:t>
            </a:r>
            <a:endParaRPr lang="ar-KW" sz="180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6_137"/>
          <p:cNvSpPr txBox="1"/>
          <p:nvPr/>
        </p:nvSpPr>
        <p:spPr>
          <a:xfrm>
            <a:off x="4047636" y="2500313"/>
            <a:ext cx="8154796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‏استقرار الكون يبدأ من هنا</a:t>
            </a:r>
            <a:endParaRPr lang="ar-KW" sz="4400" dirty="0"/>
          </a:p>
        </p:txBody>
      </p:sp>
      <p:sp>
        <p:nvSpPr>
          <p:cNvPr id="5" name="anim_16_138"/>
          <p:cNvSpPr txBox="1"/>
          <p:nvPr/>
        </p:nvSpPr>
        <p:spPr>
          <a:xfrm>
            <a:off x="3452395" y="4167188"/>
            <a:ext cx="9345277" cy="1607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‏يتماسك العالم المادي من حولنا بفضل سعي الذرات الدائم للوصول إلى الاستقرار عن طريق فقد الإلكترونات أو اكتسابها أو المشاركة بها.</a:t>
            </a:r>
            <a:endParaRPr lang="ar-KW" sz="2400" dirty="0"/>
          </a:p>
        </p:txBody>
      </p:sp>
      <p:sp>
        <p:nvSpPr>
          <p:cNvPr id="6" name="anim_16_139"/>
          <p:cNvSpPr txBox="1"/>
          <p:nvPr/>
        </p:nvSpPr>
        <p:spPr>
          <a:xfrm>
            <a:off x="3869064" y="6238875"/>
            <a:ext cx="8511940" cy="45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‏لقد أصبحت الآن تمتلك المخطط الهندسي لفهم المادة!</a:t>
            </a:r>
            <a:endParaRPr lang="ar-KW" sz="18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الترتيب الإلكتروني وإلكترونات التكافؤ</dc:title>
  <dc:subject>PptxGenJS Presentation</dc:subject>
  <dc:creator>PptxGenJS</dc:creator>
  <cp:lastModifiedBy>PptxGenJS</cp:lastModifiedBy>
  <cp:revision>1</cp:revision>
  <dcterms:created xsi:type="dcterms:W3CDTF">2026-10-26T19:18:30Z</dcterms:created>
  <dcterms:modified xsi:type="dcterms:W3CDTF">2026-10-26T19:18:30Z</dcterms:modified>
</cp:coreProperties>
</file>