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6256020" cy="9144000"/>
  <p:notesSz cx="9144000" cy="162560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_1"/>
          <p:cNvSpPr txBox="1"/>
          <p:nvPr/>
        </p:nvSpPr>
        <p:spPr>
          <a:xfrm>
            <a:off x="3333347" y="357188"/>
            <a:ext cx="9642897" cy="18097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5000" b="1" dirty="0">
                <a:ln w="19050">
                  <a:solidFill>
                    <a:srgbClr val="2F6DB0"/>
                  </a:solidFill>
                </a:ln>
                <a:solidFill>
                  <a:srgbClr val="FFFFFF"/>
                </a:solidFill>
                <a:effectLst>
                  <a:glow rad="76200">
                    <a:srgbClr val="1F4E8C">
                      <a:alpha val="45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 الإلكتروني وإلكترونات</a:t>
            </a:r>
            <a:endParaRPr lang="ar-KW" sz="500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5000" b="1" dirty="0">
                <a:ln w="19050">
                  <a:solidFill>
                    <a:srgbClr val="2F6DB0"/>
                  </a:solidFill>
                </a:ln>
                <a:solidFill>
                  <a:srgbClr val="FFFFFF"/>
                </a:solidFill>
                <a:effectLst>
                  <a:glow rad="76200">
                    <a:srgbClr val="1F4E8C">
                      <a:alpha val="45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 وقاعدة الثمانية</a:t>
            </a:r>
            <a:endParaRPr lang="ar-KW" sz="5000" dirty="0"/>
          </a:p>
        </p:txBody>
      </p:sp>
      <p:sp>
        <p:nvSpPr>
          <p:cNvPr id="5" name="anim_1_2"/>
          <p:cNvSpPr txBox="1"/>
          <p:nvPr/>
        </p:nvSpPr>
        <p:spPr>
          <a:xfrm>
            <a:off x="3988112" y="2440781"/>
            <a:ext cx="8273844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‏رحلة استكشافية في مدينة الاستقرار الكيميائي</a:t>
            </a:r>
            <a:endParaRPr lang="ar-KW" sz="27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2_3"/>
          <p:cNvSpPr txBox="1"/>
          <p:nvPr/>
        </p:nvSpPr>
        <p:spPr>
          <a:xfrm>
            <a:off x="6488122" y="2738438"/>
            <a:ext cx="323810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‏سؤال المفتش: </a:t>
            </a: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البناءين يبدو أكثر استقراراً؟</a:t>
            </a:r>
            <a:endParaRPr lang="ar-KW" sz="1800" dirty="0"/>
          </a:p>
        </p:txBody>
      </p:sp>
      <p:sp>
        <p:nvSpPr>
          <p:cNvPr id="5" name="anim_2_4"/>
          <p:cNvSpPr txBox="1"/>
          <p:nvPr/>
        </p:nvSpPr>
        <p:spPr>
          <a:xfrm>
            <a:off x="6488122" y="3631406"/>
            <a:ext cx="323810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‏الإجابة: </a:t>
            </a:r>
            <a:r>
              <a:rPr lang="ar-KW" alt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البناء المكتمل على اليمين.</a:t>
            </a:r>
            <a:endParaRPr lang="ar-KW" sz="1600" dirty="0"/>
          </a:p>
        </p:txBody>
      </p:sp>
      <p:sp>
        <p:nvSpPr>
          <p:cNvPr id="6" name="anim_2_5"/>
          <p:cNvSpPr txBox="1"/>
          <p:nvPr/>
        </p:nvSpPr>
        <p:spPr>
          <a:xfrm>
            <a:off x="6488122" y="4191000"/>
            <a:ext cx="323810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‏السبب: </a:t>
            </a:r>
            <a:r>
              <a:rPr lang="ar-KW" alt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لأنه متوازن ومكتمل البناء، تماماً مثل ذرات الغازات النبيلة.</a:t>
            </a:r>
            <a:endParaRPr lang="ar-KW" sz="1600" dirty="0"/>
          </a:p>
        </p:txBody>
      </p:sp>
      <p:sp>
        <p:nvSpPr>
          <p:cNvPr id="7" name="anim_2_6"/>
          <p:cNvSpPr txBox="1"/>
          <p:nvPr/>
        </p:nvSpPr>
        <p:spPr>
          <a:xfrm>
            <a:off x="6488122" y="5060156"/>
            <a:ext cx="3238109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‏الحل للوصول للاستقرار: </a:t>
            </a:r>
            <a:r>
              <a:rPr lang="ar-KW" alt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يحتاج المبنى غير المكتمل إلى إكمال بناء طابقه الأخير ليصبح أكثر استقراراً.</a:t>
            </a:r>
            <a:endParaRPr lang="ar-KW" sz="1600" dirty="0"/>
          </a:p>
        </p:txBody>
      </p:sp>
      <p:sp>
        <p:nvSpPr>
          <p:cNvPr id="8" name="anim_2_7"/>
          <p:cNvSpPr txBox="1"/>
          <p:nvPr/>
        </p:nvSpPr>
        <p:spPr>
          <a:xfrm rot="-360000">
            <a:off x="3392871" y="7500938"/>
            <a:ext cx="247620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95000"/>
              </a:lnSpc>
              <a:buNone/>
            </a:pPr>
            <a:r>
              <a:rPr lang="ar-KW" altLang="en-US" sz="25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‏عناصر أخرى</a:t>
            </a:r>
            <a:endParaRPr lang="ar-KW" sz="2500" dirty="0"/>
          </a:p>
          <a:p>
            <a:pPr rtl="0" algn="ctr" indent="0" marL="0">
              <a:lnSpc>
                <a:spcPct val="95000"/>
              </a:lnSpc>
              <a:buNone/>
            </a:pPr>
            <a:r>
              <a:rPr lang="ar-KW" altLang="en-US" sz="25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‏(غير مستقرة)</a:t>
            </a:r>
            <a:endParaRPr lang="ar-KW" sz="2500" dirty="0"/>
          </a:p>
        </p:txBody>
      </p:sp>
      <p:sp>
        <p:nvSpPr>
          <p:cNvPr id="9" name="anim_2_8"/>
          <p:cNvSpPr txBox="1"/>
          <p:nvPr/>
        </p:nvSpPr>
        <p:spPr>
          <a:xfrm rot="-240000">
            <a:off x="10154804" y="7405688"/>
            <a:ext cx="2785726" cy="988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95000"/>
              </a:lnSpc>
              <a:buNone/>
            </a:pPr>
            <a:r>
              <a:rPr lang="ar-KW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‏عناصر المجموعة (18)</a:t>
            </a:r>
            <a:endParaRPr lang="ar-KW" sz="2200" dirty="0"/>
          </a:p>
          <a:p>
            <a:pPr rtl="0" algn="ctr" indent="0" marL="0">
              <a:lnSpc>
                <a:spcPct val="95000"/>
              </a:lnSpc>
              <a:buNone/>
            </a:pPr>
            <a:r>
              <a:rPr lang="ar-KW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‏(الغازات النبيلة)</a:t>
            </a:r>
            <a:endParaRPr lang="ar-KW" sz="22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4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8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3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3_9"/>
          <p:cNvSpPr txBox="1"/>
          <p:nvPr/>
        </p:nvSpPr>
        <p:spPr>
          <a:xfrm>
            <a:off x="1250005" y="1095375"/>
            <a:ext cx="4107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FFC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‏مستوى التكافؤ (Valence Shell)</a:t>
            </a:r>
            <a:endParaRPr lang="ar-KW" sz="1900" dirty="0"/>
          </a:p>
        </p:txBody>
      </p:sp>
      <p:sp>
        <p:nvSpPr>
          <p:cNvPr id="5" name="anim_3_10"/>
          <p:cNvSpPr txBox="1"/>
          <p:nvPr/>
        </p:nvSpPr>
        <p:spPr>
          <a:xfrm>
            <a:off x="1273815" y="1666875"/>
            <a:ext cx="40833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‏مستوى الطاقة الخارجي للذرة الذي تُفقد منه الإلكترونات أو تنتقل إليه في التفاعل الكيميائي (الطابق الأخير للمبنى).</a:t>
            </a:r>
            <a:endParaRPr lang="ar-KW" sz="1600" dirty="0"/>
          </a:p>
        </p:txBody>
      </p:sp>
      <p:sp>
        <p:nvSpPr>
          <p:cNvPr id="6" name="anim_3_11"/>
          <p:cNvSpPr txBox="1"/>
          <p:nvPr/>
        </p:nvSpPr>
        <p:spPr>
          <a:xfrm>
            <a:off x="1250005" y="3548063"/>
            <a:ext cx="4107160" cy="50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FFC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 (Valence Electrons)</a:t>
            </a:r>
            <a:endParaRPr lang="ar-KW" sz="1800" dirty="0"/>
          </a:p>
        </p:txBody>
      </p:sp>
      <p:sp>
        <p:nvSpPr>
          <p:cNvPr id="7" name="anim_3_12"/>
          <p:cNvSpPr txBox="1"/>
          <p:nvPr/>
        </p:nvSpPr>
        <p:spPr>
          <a:xfrm>
            <a:off x="1250005" y="4048125"/>
            <a:ext cx="41071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‏الإلكترونات الموجودة في أعلى مستوى طاقة في الذرة (الدرونز العاملة في الطابق الأخير).</a:t>
            </a:r>
            <a:endParaRPr lang="ar-KW" sz="1600" dirty="0"/>
          </a:p>
        </p:txBody>
      </p:sp>
      <p:sp>
        <p:nvSpPr>
          <p:cNvPr id="8" name="anim_3_13"/>
          <p:cNvSpPr txBox="1"/>
          <p:nvPr/>
        </p:nvSpPr>
        <p:spPr>
          <a:xfrm>
            <a:off x="1250005" y="5881688"/>
            <a:ext cx="410716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800" b="1" dirty="0">
                <a:solidFill>
                  <a:srgbClr val="FFC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 (Valency)</a:t>
            </a:r>
            <a:endParaRPr lang="ar-KW" sz="2800" dirty="0"/>
          </a:p>
        </p:txBody>
      </p:sp>
      <p:sp>
        <p:nvSpPr>
          <p:cNvPr id="9" name="anim_3_14"/>
          <p:cNvSpPr txBox="1"/>
          <p:nvPr/>
        </p:nvSpPr>
        <p:spPr>
          <a:xfrm>
            <a:off x="1190481" y="6369844"/>
            <a:ext cx="4166684" cy="1369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‏عدد الإلكترونات التي تفقدها أو تكتسبها أو تشارك بها الذرة للوصول إلى حالة الاستقرار (عدد الدرونز المطلوبة لإكمال الطابق أو إخلائه).</a:t>
            </a:r>
            <a:endParaRPr lang="ar-KW" sz="18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4_15"/>
          <p:cNvSpPr txBox="1"/>
          <p:nvPr/>
        </p:nvSpPr>
        <p:spPr>
          <a:xfrm>
            <a:off x="10357186" y="1785938"/>
            <a:ext cx="5273832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3950" b="1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‏المهندس 'لويس'</a:t>
            </a:r>
            <a:endParaRPr lang="ar-KW" sz="395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3950" b="1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‏ومخططاته العبقرية</a:t>
            </a:r>
            <a:endParaRPr lang="ar-KW" sz="3950" dirty="0"/>
          </a:p>
        </p:txBody>
      </p:sp>
      <p:sp>
        <p:nvSpPr>
          <p:cNvPr id="5" name="anim_4_16"/>
          <p:cNvSpPr txBox="1"/>
          <p:nvPr/>
        </p:nvSpPr>
        <p:spPr>
          <a:xfrm>
            <a:off x="10273852" y="3393281"/>
            <a:ext cx="5357165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‏في عام 1916، ابتكر العالم جيلبرت لويس طريقة ذكية لمراقبة عمال الطابق الأخير فقط.</a:t>
            </a:r>
            <a:endParaRPr lang="ar-KW" sz="2050" dirty="0"/>
          </a:p>
        </p:txBody>
      </p:sp>
      <p:sp>
        <p:nvSpPr>
          <p:cNvPr id="6" name="anim_4_17"/>
          <p:cNvSpPr txBox="1"/>
          <p:nvPr/>
        </p:nvSpPr>
        <p:spPr>
          <a:xfrm>
            <a:off x="10273852" y="4619625"/>
            <a:ext cx="5357165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 الإلكتروني النقطي</a:t>
            </a:r>
            <a:endParaRPr lang="ar-KW" sz="215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‏(Electron Dot Structure):</a:t>
            </a:r>
            <a:endParaRPr lang="ar-KW" sz="2150" dirty="0"/>
          </a:p>
        </p:txBody>
      </p:sp>
      <p:sp>
        <p:nvSpPr>
          <p:cNvPr id="7" name="anim_4_18"/>
          <p:cNvSpPr txBox="1"/>
          <p:nvPr/>
        </p:nvSpPr>
        <p:spPr>
          <a:xfrm>
            <a:off x="10273852" y="5357813"/>
            <a:ext cx="5357165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‏الأشكال التي توضح إلكترونات التكافؤ في صورة نقاط على رمز ذرة العنصر.</a:t>
            </a:r>
            <a:endParaRPr lang="ar-KW" sz="2050" dirty="0"/>
          </a:p>
        </p:txBody>
      </p:sp>
      <p:sp>
        <p:nvSpPr>
          <p:cNvPr id="8" name="anim_4_19"/>
          <p:cNvSpPr txBox="1"/>
          <p:nvPr/>
        </p:nvSpPr>
        <p:spPr>
          <a:xfrm>
            <a:off x="10273852" y="6334125"/>
            <a:ext cx="5357165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‏ملاحظة لويس: </a:t>
            </a: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(النقاط هي كاميرات المراقبة الخاصة بنا؛ نقطة واحدة لكل إلكترون تكافؤ!)</a:t>
            </a:r>
            <a:endParaRPr lang="ar-KW" sz="19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5_20"/>
          <p:cNvSpPr txBox="1"/>
          <p:nvPr/>
        </p:nvSpPr>
        <p:spPr>
          <a:xfrm>
            <a:off x="3726206" y="1250156"/>
            <a:ext cx="883337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‏مكتب التدقيق المعماري: حل تمرين (1)</a:t>
            </a:r>
            <a:endParaRPr lang="ar-KW" sz="3500" dirty="0"/>
          </a:p>
        </p:txBody>
      </p:sp>
      <p:sp>
        <p:nvSpPr>
          <p:cNvPr id="5" name="anim_5_21"/>
          <p:cNvSpPr txBox="1"/>
          <p:nvPr/>
        </p:nvSpPr>
        <p:spPr>
          <a:xfrm>
            <a:off x="10988141" y="2416969"/>
            <a:ext cx="1571435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EE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‏رقم المجموعة</a:t>
            </a:r>
            <a:endParaRPr lang="ar-KW" sz="1700" dirty="0"/>
          </a:p>
        </p:txBody>
      </p:sp>
      <p:sp>
        <p:nvSpPr>
          <p:cNvPr id="6" name="anim_5_22"/>
          <p:cNvSpPr txBox="1"/>
          <p:nvPr/>
        </p:nvSpPr>
        <p:spPr>
          <a:xfrm>
            <a:off x="9261943" y="2416969"/>
            <a:ext cx="1607150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400" b="1" dirty="0">
                <a:solidFill>
                  <a:srgbClr val="EE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‏العنصر</a:t>
            </a:r>
            <a:endParaRPr lang="ar-KW" sz="2400" dirty="0"/>
          </a:p>
        </p:txBody>
      </p:sp>
      <p:sp>
        <p:nvSpPr>
          <p:cNvPr id="7" name="anim_5_23"/>
          <p:cNvSpPr txBox="1"/>
          <p:nvPr/>
        </p:nvSpPr>
        <p:spPr>
          <a:xfrm>
            <a:off x="7226221" y="2416969"/>
            <a:ext cx="1940484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EE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 الإلكتروني</a:t>
            </a:r>
            <a:endParaRPr lang="ar-KW" sz="1600" dirty="0"/>
          </a:p>
        </p:txBody>
      </p:sp>
      <p:sp>
        <p:nvSpPr>
          <p:cNvPr id="8" name="anim_5_24"/>
          <p:cNvSpPr txBox="1"/>
          <p:nvPr/>
        </p:nvSpPr>
        <p:spPr>
          <a:xfrm>
            <a:off x="5202403" y="2416969"/>
            <a:ext cx="1928579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EE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</a:t>
            </a:r>
            <a:endParaRPr lang="ar-KW" sz="1700" dirty="0"/>
          </a:p>
        </p:txBody>
      </p:sp>
      <p:sp>
        <p:nvSpPr>
          <p:cNvPr id="9" name="anim_5_25"/>
          <p:cNvSpPr txBox="1"/>
          <p:nvPr/>
        </p:nvSpPr>
        <p:spPr>
          <a:xfrm>
            <a:off x="3726206" y="2416969"/>
            <a:ext cx="1380958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400" b="1" dirty="0">
                <a:solidFill>
                  <a:srgbClr val="EE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</a:t>
            </a:r>
            <a:endParaRPr lang="ar-KW" sz="2400" dirty="0"/>
          </a:p>
        </p:txBody>
      </p:sp>
      <p:sp>
        <p:nvSpPr>
          <p:cNvPr id="10" name="anim_5_26"/>
          <p:cNvSpPr txBox="1"/>
          <p:nvPr/>
        </p:nvSpPr>
        <p:spPr>
          <a:xfrm>
            <a:off x="10988141" y="3048000"/>
            <a:ext cx="1571435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50" dirty="0"/>
          </a:p>
        </p:txBody>
      </p:sp>
      <p:sp>
        <p:nvSpPr>
          <p:cNvPr id="11" name="anim_5_27"/>
          <p:cNvSpPr txBox="1"/>
          <p:nvPr/>
        </p:nvSpPr>
        <p:spPr>
          <a:xfrm>
            <a:off x="9261943" y="3048000"/>
            <a:ext cx="1607150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(3)</a:t>
            </a:r>
            <a:endParaRPr lang="en-US" sz="2550" dirty="0"/>
          </a:p>
        </p:txBody>
      </p:sp>
      <p:sp>
        <p:nvSpPr>
          <p:cNvPr id="12" name="anim_5_28"/>
          <p:cNvSpPr txBox="1"/>
          <p:nvPr/>
        </p:nvSpPr>
        <p:spPr>
          <a:xfrm>
            <a:off x="7226221" y="3048000"/>
            <a:ext cx="1940484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</a:t>
            </a:r>
            <a:endParaRPr lang="en-US" sz="2550" dirty="0"/>
          </a:p>
        </p:txBody>
      </p:sp>
      <p:sp>
        <p:nvSpPr>
          <p:cNvPr id="13" name="anim_5_29"/>
          <p:cNvSpPr txBox="1"/>
          <p:nvPr/>
        </p:nvSpPr>
        <p:spPr>
          <a:xfrm>
            <a:off x="5202403" y="3048000"/>
            <a:ext cx="1928579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50" dirty="0"/>
          </a:p>
        </p:txBody>
      </p:sp>
      <p:sp>
        <p:nvSpPr>
          <p:cNvPr id="14" name="anim_5_30"/>
          <p:cNvSpPr txBox="1"/>
          <p:nvPr/>
        </p:nvSpPr>
        <p:spPr>
          <a:xfrm>
            <a:off x="3726206" y="3048000"/>
            <a:ext cx="1380958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50" dirty="0"/>
          </a:p>
        </p:txBody>
      </p:sp>
      <p:sp>
        <p:nvSpPr>
          <p:cNvPr id="15" name="anim_5_31"/>
          <p:cNvSpPr txBox="1"/>
          <p:nvPr/>
        </p:nvSpPr>
        <p:spPr>
          <a:xfrm>
            <a:off x="10988141" y="3583781"/>
            <a:ext cx="1571435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  <p:sp>
        <p:nvSpPr>
          <p:cNvPr id="16" name="anim_5_32"/>
          <p:cNvSpPr txBox="1"/>
          <p:nvPr/>
        </p:nvSpPr>
        <p:spPr>
          <a:xfrm>
            <a:off x="9261943" y="3583781"/>
            <a:ext cx="1607150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(4)</a:t>
            </a:r>
            <a:endParaRPr lang="en-US" sz="2550" dirty="0"/>
          </a:p>
        </p:txBody>
      </p:sp>
      <p:sp>
        <p:nvSpPr>
          <p:cNvPr id="17" name="anim_5_33"/>
          <p:cNvSpPr txBox="1"/>
          <p:nvPr/>
        </p:nvSpPr>
        <p:spPr>
          <a:xfrm>
            <a:off x="7226221" y="3583781"/>
            <a:ext cx="1940484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</a:t>
            </a:r>
            <a:endParaRPr lang="en-US" sz="2550" dirty="0"/>
          </a:p>
        </p:txBody>
      </p:sp>
      <p:sp>
        <p:nvSpPr>
          <p:cNvPr id="18" name="anim_5_34"/>
          <p:cNvSpPr txBox="1"/>
          <p:nvPr/>
        </p:nvSpPr>
        <p:spPr>
          <a:xfrm>
            <a:off x="5202403" y="3583781"/>
            <a:ext cx="1928579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  <p:sp>
        <p:nvSpPr>
          <p:cNvPr id="19" name="anim_5_35"/>
          <p:cNvSpPr txBox="1"/>
          <p:nvPr/>
        </p:nvSpPr>
        <p:spPr>
          <a:xfrm>
            <a:off x="3726206" y="3583781"/>
            <a:ext cx="1380958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  <p:sp>
        <p:nvSpPr>
          <p:cNvPr id="20" name="anim_5_36"/>
          <p:cNvSpPr txBox="1"/>
          <p:nvPr/>
        </p:nvSpPr>
        <p:spPr>
          <a:xfrm>
            <a:off x="10988141" y="4119562"/>
            <a:ext cx="157143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550" dirty="0"/>
          </a:p>
        </p:txBody>
      </p:sp>
      <p:sp>
        <p:nvSpPr>
          <p:cNvPr id="21" name="anim_5_37"/>
          <p:cNvSpPr txBox="1"/>
          <p:nvPr/>
        </p:nvSpPr>
        <p:spPr>
          <a:xfrm>
            <a:off x="9261943" y="4119562"/>
            <a:ext cx="16071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(5)</a:t>
            </a:r>
            <a:endParaRPr lang="en-US" sz="2550" dirty="0"/>
          </a:p>
        </p:txBody>
      </p:sp>
      <p:sp>
        <p:nvSpPr>
          <p:cNvPr id="22" name="anim_5_38"/>
          <p:cNvSpPr txBox="1"/>
          <p:nvPr/>
        </p:nvSpPr>
        <p:spPr>
          <a:xfrm>
            <a:off x="7226221" y="4119562"/>
            <a:ext cx="194048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</a:t>
            </a:r>
            <a:endParaRPr lang="en-US" sz="2550" dirty="0"/>
          </a:p>
        </p:txBody>
      </p:sp>
      <p:sp>
        <p:nvSpPr>
          <p:cNvPr id="23" name="anim_5_39"/>
          <p:cNvSpPr txBox="1"/>
          <p:nvPr/>
        </p:nvSpPr>
        <p:spPr>
          <a:xfrm>
            <a:off x="5202403" y="4119562"/>
            <a:ext cx="1928579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24" name="anim_5_40"/>
          <p:cNvSpPr txBox="1"/>
          <p:nvPr/>
        </p:nvSpPr>
        <p:spPr>
          <a:xfrm>
            <a:off x="3726206" y="4119562"/>
            <a:ext cx="138095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25" name="anim_5_41"/>
          <p:cNvSpPr txBox="1"/>
          <p:nvPr/>
        </p:nvSpPr>
        <p:spPr>
          <a:xfrm>
            <a:off x="10988141" y="4655344"/>
            <a:ext cx="157143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550" dirty="0"/>
          </a:p>
        </p:txBody>
      </p:sp>
      <p:sp>
        <p:nvSpPr>
          <p:cNvPr id="26" name="anim_5_42"/>
          <p:cNvSpPr txBox="1"/>
          <p:nvPr/>
        </p:nvSpPr>
        <p:spPr>
          <a:xfrm>
            <a:off x="9261943" y="4655344"/>
            <a:ext cx="16071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(7)</a:t>
            </a:r>
            <a:endParaRPr lang="en-US" sz="2550" dirty="0"/>
          </a:p>
        </p:txBody>
      </p:sp>
      <p:sp>
        <p:nvSpPr>
          <p:cNvPr id="27" name="anim_5_43"/>
          <p:cNvSpPr txBox="1"/>
          <p:nvPr/>
        </p:nvSpPr>
        <p:spPr>
          <a:xfrm>
            <a:off x="7226221" y="4655344"/>
            <a:ext cx="194048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</a:t>
            </a:r>
            <a:endParaRPr lang="en-US" sz="2550" dirty="0"/>
          </a:p>
        </p:txBody>
      </p:sp>
      <p:sp>
        <p:nvSpPr>
          <p:cNvPr id="28" name="anim_5_44"/>
          <p:cNvSpPr txBox="1"/>
          <p:nvPr/>
        </p:nvSpPr>
        <p:spPr>
          <a:xfrm>
            <a:off x="5202403" y="4655344"/>
            <a:ext cx="1928579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550" dirty="0"/>
          </a:p>
        </p:txBody>
      </p:sp>
      <p:sp>
        <p:nvSpPr>
          <p:cNvPr id="29" name="anim_5_45"/>
          <p:cNvSpPr txBox="1"/>
          <p:nvPr/>
        </p:nvSpPr>
        <p:spPr>
          <a:xfrm>
            <a:off x="3726206" y="4655344"/>
            <a:ext cx="138095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30" name="anim_5_46"/>
          <p:cNvSpPr txBox="1"/>
          <p:nvPr/>
        </p:nvSpPr>
        <p:spPr>
          <a:xfrm>
            <a:off x="10988141" y="5191125"/>
            <a:ext cx="157143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550" dirty="0"/>
          </a:p>
        </p:txBody>
      </p:sp>
      <p:sp>
        <p:nvSpPr>
          <p:cNvPr id="31" name="anim_5_47"/>
          <p:cNvSpPr txBox="1"/>
          <p:nvPr/>
        </p:nvSpPr>
        <p:spPr>
          <a:xfrm>
            <a:off x="9261943" y="5191125"/>
            <a:ext cx="16071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(8)</a:t>
            </a:r>
            <a:endParaRPr lang="en-US" sz="2550" dirty="0"/>
          </a:p>
        </p:txBody>
      </p:sp>
      <p:sp>
        <p:nvSpPr>
          <p:cNvPr id="32" name="anim_5_48"/>
          <p:cNvSpPr txBox="1"/>
          <p:nvPr/>
        </p:nvSpPr>
        <p:spPr>
          <a:xfrm>
            <a:off x="7226221" y="5191125"/>
            <a:ext cx="194048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</a:t>
            </a:r>
            <a:endParaRPr lang="en-US" sz="2550" dirty="0"/>
          </a:p>
        </p:txBody>
      </p:sp>
      <p:sp>
        <p:nvSpPr>
          <p:cNvPr id="33" name="anim_5_49"/>
          <p:cNvSpPr txBox="1"/>
          <p:nvPr/>
        </p:nvSpPr>
        <p:spPr>
          <a:xfrm>
            <a:off x="5202403" y="5191125"/>
            <a:ext cx="1928579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550" dirty="0"/>
          </a:p>
        </p:txBody>
      </p:sp>
      <p:sp>
        <p:nvSpPr>
          <p:cNvPr id="34" name="anim_5_50"/>
          <p:cNvSpPr txBox="1"/>
          <p:nvPr/>
        </p:nvSpPr>
        <p:spPr>
          <a:xfrm>
            <a:off x="3726206" y="5191125"/>
            <a:ext cx="138095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  <p:sp>
        <p:nvSpPr>
          <p:cNvPr id="35" name="anim_5_51"/>
          <p:cNvSpPr txBox="1"/>
          <p:nvPr/>
        </p:nvSpPr>
        <p:spPr>
          <a:xfrm>
            <a:off x="10988141" y="5726906"/>
            <a:ext cx="157143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550" dirty="0"/>
          </a:p>
        </p:txBody>
      </p:sp>
      <p:sp>
        <p:nvSpPr>
          <p:cNvPr id="36" name="anim_5_52"/>
          <p:cNvSpPr txBox="1"/>
          <p:nvPr/>
        </p:nvSpPr>
        <p:spPr>
          <a:xfrm>
            <a:off x="9261943" y="5726906"/>
            <a:ext cx="16071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(9)</a:t>
            </a:r>
            <a:endParaRPr lang="en-US" sz="2550" dirty="0"/>
          </a:p>
        </p:txBody>
      </p:sp>
      <p:sp>
        <p:nvSpPr>
          <p:cNvPr id="37" name="anim_5_53"/>
          <p:cNvSpPr txBox="1"/>
          <p:nvPr/>
        </p:nvSpPr>
        <p:spPr>
          <a:xfrm>
            <a:off x="7226221" y="5726906"/>
            <a:ext cx="194048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</a:t>
            </a:r>
            <a:endParaRPr lang="en-US" sz="2550" dirty="0"/>
          </a:p>
        </p:txBody>
      </p:sp>
      <p:sp>
        <p:nvSpPr>
          <p:cNvPr id="38" name="anim_5_54"/>
          <p:cNvSpPr txBox="1"/>
          <p:nvPr/>
        </p:nvSpPr>
        <p:spPr>
          <a:xfrm>
            <a:off x="5202403" y="5726906"/>
            <a:ext cx="1928579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550" dirty="0"/>
          </a:p>
        </p:txBody>
      </p:sp>
      <p:sp>
        <p:nvSpPr>
          <p:cNvPr id="39" name="anim_5_55"/>
          <p:cNvSpPr txBox="1"/>
          <p:nvPr/>
        </p:nvSpPr>
        <p:spPr>
          <a:xfrm>
            <a:off x="3726206" y="5726906"/>
            <a:ext cx="138095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50" dirty="0"/>
          </a:p>
        </p:txBody>
      </p:sp>
      <p:sp>
        <p:nvSpPr>
          <p:cNvPr id="40" name="anim_5_56"/>
          <p:cNvSpPr txBox="1"/>
          <p:nvPr/>
        </p:nvSpPr>
        <p:spPr>
          <a:xfrm>
            <a:off x="5000021" y="6381750"/>
            <a:ext cx="73214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FF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‏تنبيه رقابي هام:</a:t>
            </a:r>
            <a:endParaRPr lang="ar-KW" sz="1600" dirty="0"/>
          </a:p>
        </p:txBody>
      </p:sp>
      <p:sp>
        <p:nvSpPr>
          <p:cNvPr id="41" name="anim_5_57"/>
          <p:cNvSpPr txBox="1"/>
          <p:nvPr/>
        </p:nvSpPr>
        <p:spPr>
          <a:xfrm>
            <a:off x="4047636" y="6667500"/>
            <a:ext cx="8273844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‏- تكافؤ عناصر المجموعة (14) متغير وليس ثابتاً.</a:t>
            </a:r>
            <a:endParaRPr lang="ar-KW" sz="17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‏- لا يُذكر تكافؤ عناصر المجموعة (18) لأن مستواها الخارجي مستقر وممتلئ.</a:t>
            </a:r>
            <a:endParaRPr lang="ar-KW" sz="17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4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700"/>
                            </p:stCondLst>
                            <p:childTnLst>
                              <p:par>
                                <p:cTn id="1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7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6_58"/>
          <p:cNvSpPr txBox="1"/>
          <p:nvPr/>
        </p:nvSpPr>
        <p:spPr>
          <a:xfrm>
            <a:off x="5178593" y="928688"/>
            <a:ext cx="5892882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‏تطبيق المخططات النقطية:</a:t>
            </a:r>
            <a:endParaRPr lang="ar-KW" sz="315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‏حل تمرين (2)</a:t>
            </a:r>
            <a:endParaRPr lang="ar-KW" sz="3150" dirty="0"/>
          </a:p>
        </p:txBody>
      </p:sp>
      <p:sp>
        <p:nvSpPr>
          <p:cNvPr id="5" name="anim_6_59"/>
          <p:cNvSpPr txBox="1"/>
          <p:nvPr/>
        </p:nvSpPr>
        <p:spPr>
          <a:xfrm>
            <a:off x="1630959" y="5619750"/>
            <a:ext cx="2654773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‏الهيدروجين (</a:t>
            </a:r>
            <a:r>
              <a:rPr lang="ar-KW" altLang="en-US" sz="1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‎1</a:t>
            </a: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H‎</a:t>
            </a: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| الترتيب: 1</a:t>
            </a:r>
            <a:endParaRPr lang="ar-KW" sz="1400" dirty="0"/>
          </a:p>
        </p:txBody>
      </p:sp>
      <p:sp>
        <p:nvSpPr>
          <p:cNvPr id="6" name="anim_6_60"/>
          <p:cNvSpPr txBox="1"/>
          <p:nvPr/>
        </p:nvSpPr>
        <p:spPr>
          <a:xfrm>
            <a:off x="5238117" y="5500688"/>
            <a:ext cx="2416677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‏الكربون (</a:t>
            </a:r>
            <a:r>
              <a:rPr lang="ar-KW" altLang="en-US" sz="1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‎6</a:t>
            </a: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C‎</a:t>
            </a: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| الترتيب: 2,4</a:t>
            </a:r>
            <a:endParaRPr lang="ar-KW" sz="1400" dirty="0"/>
          </a:p>
        </p:txBody>
      </p:sp>
      <p:sp>
        <p:nvSpPr>
          <p:cNvPr id="7" name="anim_6_61"/>
          <p:cNvSpPr txBox="1"/>
          <p:nvPr/>
        </p:nvSpPr>
        <p:spPr>
          <a:xfrm>
            <a:off x="8750037" y="5500688"/>
            <a:ext cx="244048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‏النيتروجين (</a:t>
            </a:r>
            <a:r>
              <a:rPr lang="ar-KW" altLang="en-US" sz="1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‎7</a:t>
            </a: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N‎</a:t>
            </a: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| الترتيب: 2,5</a:t>
            </a:r>
            <a:endParaRPr lang="ar-KW" sz="1400" dirty="0"/>
          </a:p>
        </p:txBody>
      </p:sp>
      <p:sp>
        <p:nvSpPr>
          <p:cNvPr id="8" name="anim_6_62"/>
          <p:cNvSpPr txBox="1"/>
          <p:nvPr/>
        </p:nvSpPr>
        <p:spPr>
          <a:xfrm>
            <a:off x="12107193" y="5595938"/>
            <a:ext cx="2773821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‏البوتاسيوم (</a:t>
            </a:r>
            <a:r>
              <a:rPr lang="ar-KW" altLang="en-US" sz="1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‎19</a:t>
            </a: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K‎</a:t>
            </a: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| الترتيب: 2,8,8,1</a:t>
            </a:r>
            <a:endParaRPr lang="ar-KW" sz="1400" dirty="0"/>
          </a:p>
        </p:txBody>
      </p:sp>
      <p:sp>
        <p:nvSpPr>
          <p:cNvPr id="9" name="anim_6_63"/>
          <p:cNvSpPr txBox="1"/>
          <p:nvPr/>
        </p:nvSpPr>
        <p:spPr>
          <a:xfrm>
            <a:off x="4761925" y="6524625"/>
            <a:ext cx="3392871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‏مثال توجيهي: البريليوم</a:t>
            </a:r>
            <a:endParaRPr lang="ar-KW" sz="2250" dirty="0"/>
          </a:p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‏الترتيب: 2,2</a:t>
            </a:r>
            <a:endParaRPr lang="ar-KW" sz="225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7_64"/>
          <p:cNvSpPr txBox="1"/>
          <p:nvPr/>
        </p:nvSpPr>
        <p:spPr>
          <a:xfrm>
            <a:off x="5000021" y="6238875"/>
            <a:ext cx="6309550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‏دستور المدينة: قاعدة الثمانية</a:t>
            </a:r>
            <a:endParaRPr lang="ar-KW" sz="2550" dirty="0"/>
          </a:p>
        </p:txBody>
      </p:sp>
      <p:sp>
        <p:nvSpPr>
          <p:cNvPr id="5" name="anim_7_65"/>
          <p:cNvSpPr txBox="1"/>
          <p:nvPr/>
        </p:nvSpPr>
        <p:spPr>
          <a:xfrm>
            <a:off x="4880973" y="6691313"/>
            <a:ext cx="654764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‏الغازات النبيلة مستقرة: ترتيبها ينتهي بثمانية إلكترونات، ماعدا الهيليوم بإلكترونين.</a:t>
            </a:r>
            <a:endParaRPr lang="ar-KW" sz="1400" dirty="0"/>
          </a:p>
        </p:txBody>
      </p:sp>
      <p:sp>
        <p:nvSpPr>
          <p:cNvPr id="6" name="anim_7_66"/>
          <p:cNvSpPr txBox="1"/>
          <p:nvPr/>
        </p:nvSpPr>
        <p:spPr>
          <a:xfrm>
            <a:off x="4845258" y="7072313"/>
            <a:ext cx="6619075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‏نص القاعدة: ميل ذرة العنصر إلى فقد أو اكتساب أو مشاركة إلكترونات مستوى التكافؤ للوصول إلى ثماني إلكترونات، لتحقيق حالة الاستقرار المشابهة للغاز النبيل.</a:t>
            </a:r>
            <a:endParaRPr lang="ar-KW" sz="1350" dirty="0"/>
          </a:p>
        </p:txBody>
      </p:sp>
      <p:sp>
        <p:nvSpPr>
          <p:cNvPr id="7" name="anim_7_67"/>
          <p:cNvSpPr txBox="1"/>
          <p:nvPr/>
        </p:nvSpPr>
        <p:spPr>
          <a:xfrm>
            <a:off x="5000021" y="7786688"/>
            <a:ext cx="63095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‏الهدف النهائي لكل مبنى هو تفعيل درع الثمانية!</a:t>
            </a:r>
            <a:endParaRPr lang="ar-KW" sz="205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8_68"/>
          <p:cNvSpPr txBox="1"/>
          <p:nvPr/>
        </p:nvSpPr>
        <p:spPr>
          <a:xfrm>
            <a:off x="3154775" y="381000"/>
            <a:ext cx="994051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‏بوابات الاستيراد والتصدير (الكاتيونات والأنيونات)</a:t>
            </a:r>
            <a:endParaRPr lang="ar-KW" sz="3150" dirty="0"/>
          </a:p>
        </p:txBody>
      </p:sp>
      <p:sp>
        <p:nvSpPr>
          <p:cNvPr id="5" name="anim_8_69"/>
          <p:cNvSpPr txBox="1"/>
          <p:nvPr/>
        </p:nvSpPr>
        <p:spPr>
          <a:xfrm>
            <a:off x="10119090" y="7000875"/>
            <a:ext cx="39643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‏الكاتيون (أيون موجب): ذرة تفقد إلكتروناً أو أكثر.</a:t>
            </a:r>
            <a:endParaRPr lang="ar-KW" sz="1400" dirty="0"/>
          </a:p>
        </p:txBody>
      </p:sp>
      <p:sp>
        <p:nvSpPr>
          <p:cNvPr id="6" name="anim_8_70"/>
          <p:cNvSpPr txBox="1"/>
          <p:nvPr/>
        </p:nvSpPr>
        <p:spPr>
          <a:xfrm>
            <a:off x="10416710" y="7429500"/>
            <a:ext cx="321429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‏ذرة الصوديوم (</a:t>
            </a: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‎Na‎</a:t>
            </a: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): 2,8,1</a:t>
            </a:r>
            <a:endParaRPr lang="ar-KW" sz="1850" dirty="0"/>
          </a:p>
        </p:txBody>
      </p:sp>
      <p:sp>
        <p:nvSpPr>
          <p:cNvPr id="7" name="anim_8_71"/>
          <p:cNvSpPr txBox="1"/>
          <p:nvPr/>
        </p:nvSpPr>
        <p:spPr>
          <a:xfrm>
            <a:off x="10178614" y="7881937"/>
            <a:ext cx="34523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‏كاتيون الصوديوم (</a:t>
            </a: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‎Na</a:t>
            </a:r>
            <a:r>
              <a:rPr lang="ar-KW" altLang="en-US" sz="14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‎): 2,8 (مستقر)</a:t>
            </a:r>
            <a:endParaRPr lang="ar-KW" sz="1400" dirty="0"/>
          </a:p>
        </p:txBody>
      </p:sp>
      <p:sp>
        <p:nvSpPr>
          <p:cNvPr id="8" name="anim_8_72"/>
          <p:cNvSpPr txBox="1"/>
          <p:nvPr/>
        </p:nvSpPr>
        <p:spPr>
          <a:xfrm>
            <a:off x="2059532" y="7000875"/>
            <a:ext cx="39762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‏الأنيون (أيون سالب): ذرة تكتسب إلكتروناً أو أكثر.</a:t>
            </a:r>
            <a:endParaRPr lang="ar-KW" sz="1400" dirty="0"/>
          </a:p>
        </p:txBody>
      </p:sp>
      <p:sp>
        <p:nvSpPr>
          <p:cNvPr id="9" name="anim_8_73"/>
          <p:cNvSpPr txBox="1"/>
          <p:nvPr/>
        </p:nvSpPr>
        <p:spPr>
          <a:xfrm>
            <a:off x="2440486" y="7429500"/>
            <a:ext cx="31547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‏ذرة الكلور (</a:t>
            </a: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‎Cl‎</a:t>
            </a: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): 2,8,7</a:t>
            </a:r>
            <a:endParaRPr lang="ar-KW" sz="1850" dirty="0"/>
          </a:p>
        </p:txBody>
      </p:sp>
      <p:sp>
        <p:nvSpPr>
          <p:cNvPr id="10" name="anim_8_74"/>
          <p:cNvSpPr txBox="1"/>
          <p:nvPr/>
        </p:nvSpPr>
        <p:spPr>
          <a:xfrm>
            <a:off x="2202390" y="7881937"/>
            <a:ext cx="33928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‏أنيون الكلوريد (</a:t>
            </a: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‎Cl</a:t>
            </a:r>
            <a:r>
              <a:rPr lang="ar-KW" altLang="en-US" sz="14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‎): 2,8,8 (مستقر)</a:t>
            </a:r>
            <a:endParaRPr lang="ar-KW" sz="14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9_75"/>
          <p:cNvSpPr txBox="1"/>
          <p:nvPr/>
        </p:nvSpPr>
        <p:spPr>
          <a:xfrm rot="-240000">
            <a:off x="7083363" y="1285875"/>
            <a:ext cx="7857176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4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‏جولة التفتيش الرقابية: حل تمرين (3)</a:t>
            </a:r>
            <a:endParaRPr lang="ar-KW" sz="4050" dirty="0"/>
          </a:p>
        </p:txBody>
      </p:sp>
      <p:sp>
        <p:nvSpPr>
          <p:cNvPr id="5" name="anim_9_76"/>
          <p:cNvSpPr txBox="1"/>
          <p:nvPr/>
        </p:nvSpPr>
        <p:spPr>
          <a:xfrm rot="-120000">
            <a:off x="12821482" y="2643188"/>
            <a:ext cx="2380962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‏العنصر</a:t>
            </a:r>
            <a:endParaRPr lang="ar-KW" sz="3000" dirty="0"/>
          </a:p>
        </p:txBody>
      </p:sp>
      <p:sp>
        <p:nvSpPr>
          <p:cNvPr id="6" name="anim_9_77"/>
          <p:cNvSpPr txBox="1"/>
          <p:nvPr/>
        </p:nvSpPr>
        <p:spPr>
          <a:xfrm rot="-120000">
            <a:off x="10892903" y="2678906"/>
            <a:ext cx="1845246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 الإلكتروني</a:t>
            </a:r>
            <a:endParaRPr lang="ar-KW" sz="185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‏النقطي</a:t>
            </a:r>
            <a:endParaRPr lang="ar-KW" sz="1850" dirty="0"/>
          </a:p>
        </p:txBody>
      </p:sp>
      <p:sp>
        <p:nvSpPr>
          <p:cNvPr id="7" name="anim_9_78"/>
          <p:cNvSpPr txBox="1"/>
          <p:nvPr/>
        </p:nvSpPr>
        <p:spPr>
          <a:xfrm rot="-120000">
            <a:off x="9107181" y="2833688"/>
            <a:ext cx="169048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‏للوصول للاستقرار</a:t>
            </a:r>
            <a:endParaRPr lang="ar-KW" sz="165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‏(يفقد/يكتسب)</a:t>
            </a:r>
            <a:endParaRPr lang="ar-KW" sz="1650" dirty="0"/>
          </a:p>
        </p:txBody>
      </p:sp>
      <p:sp>
        <p:nvSpPr>
          <p:cNvPr id="8" name="anim_9_79"/>
          <p:cNvSpPr txBox="1"/>
          <p:nvPr/>
        </p:nvSpPr>
        <p:spPr>
          <a:xfrm rot="-120000">
            <a:off x="7416698" y="2952750"/>
            <a:ext cx="163095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‏قاعدة الثمانية</a:t>
            </a:r>
            <a:endParaRPr lang="ar-KW" sz="165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‏(يحقق/لا يحقق)</a:t>
            </a:r>
            <a:endParaRPr lang="ar-KW" sz="1650" dirty="0"/>
          </a:p>
        </p:txBody>
      </p:sp>
      <p:sp>
        <p:nvSpPr>
          <p:cNvPr id="9" name="anim_9_80"/>
          <p:cNvSpPr txBox="1"/>
          <p:nvPr/>
        </p:nvSpPr>
        <p:spPr>
          <a:xfrm rot="-120000">
            <a:off x="12797673" y="3631406"/>
            <a:ext cx="2440486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‏المغنيسيوم (</a:t>
            </a:r>
            <a:r>
              <a:rPr lang="ar-KW" altLang="en-US" sz="19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‎12</a:t>
            </a:r>
            <a:r>
              <a:rPr lang="ar-KW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Mg‎</a:t>
            </a:r>
            <a:r>
              <a:rPr lang="ar-KW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1900" dirty="0"/>
          </a:p>
        </p:txBody>
      </p:sp>
      <p:sp>
        <p:nvSpPr>
          <p:cNvPr id="10" name="anim_9_81"/>
          <p:cNvSpPr txBox="1"/>
          <p:nvPr/>
        </p:nvSpPr>
        <p:spPr>
          <a:xfrm rot="-120000">
            <a:off x="12773863" y="4667250"/>
            <a:ext cx="2428582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‏الفلور (</a:t>
            </a:r>
            <a:r>
              <a:rPr lang="ar-KW" altLang="en-US" sz="285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‎9</a:t>
            </a:r>
            <a:r>
              <a:rPr lang="ar-KW" alt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F‎</a:t>
            </a:r>
            <a:r>
              <a:rPr lang="ar-KW" alt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850" dirty="0"/>
          </a:p>
        </p:txBody>
      </p:sp>
      <p:sp>
        <p:nvSpPr>
          <p:cNvPr id="11" name="anim_9_82"/>
          <p:cNvSpPr txBox="1"/>
          <p:nvPr/>
        </p:nvSpPr>
        <p:spPr>
          <a:xfrm rot="-120000">
            <a:off x="12773863" y="5810250"/>
            <a:ext cx="242858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‏الليثيوم (</a:t>
            </a:r>
            <a:r>
              <a:rPr lang="ar-KW" altLang="en-US" sz="255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‎3</a:t>
            </a:r>
            <a:r>
              <a:rPr lang="ar-KW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Li‎</a:t>
            </a:r>
            <a:r>
              <a:rPr lang="ar-KW" alt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550" dirty="0"/>
          </a:p>
        </p:txBody>
      </p:sp>
      <p:pic>
        <p:nvPicPr>
          <p:cNvPr id="12" name="anim_9_83" descr="الترتيب النقطي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007" y="3833812"/>
            <a:ext cx="832562" cy="714375"/>
          </a:xfrm>
          <a:prstGeom prst="rect">
            <a:avLst/>
          </a:prstGeom>
        </p:spPr>
      </p:pic>
      <p:pic>
        <p:nvPicPr>
          <p:cNvPr id="13" name="anim_9_84" descr="الترتيب النقطي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4916" y="4702969"/>
            <a:ext cx="820743" cy="892969"/>
          </a:xfrm>
          <a:prstGeom prst="rect">
            <a:avLst/>
          </a:prstGeom>
        </p:spPr>
      </p:pic>
      <p:pic>
        <p:nvPicPr>
          <p:cNvPr id="14" name="anim_9_85" descr="الترتيب النقطي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4316" y="5834063"/>
            <a:ext cx="901942" cy="773906"/>
          </a:xfrm>
          <a:prstGeom prst="rect">
            <a:avLst/>
          </a:prstGeom>
        </p:spPr>
      </p:pic>
      <p:sp>
        <p:nvSpPr>
          <p:cNvPr id="15" name="anim_9_86"/>
          <p:cNvSpPr txBox="1"/>
          <p:nvPr/>
        </p:nvSpPr>
        <p:spPr>
          <a:xfrm>
            <a:off x="9202419" y="3929063"/>
            <a:ext cx="1547626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‏يفقد 2</a:t>
            </a:r>
            <a:endParaRPr lang="ar-KW" sz="2700" dirty="0"/>
          </a:p>
        </p:txBody>
      </p:sp>
      <p:sp>
        <p:nvSpPr>
          <p:cNvPr id="16" name="anim_9_87"/>
          <p:cNvSpPr txBox="1"/>
          <p:nvPr/>
        </p:nvSpPr>
        <p:spPr>
          <a:xfrm>
            <a:off x="9202419" y="4881563"/>
            <a:ext cx="1547626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‏يكتسب 1</a:t>
            </a:r>
            <a:endParaRPr lang="ar-KW" sz="2600" dirty="0"/>
          </a:p>
        </p:txBody>
      </p:sp>
      <p:sp>
        <p:nvSpPr>
          <p:cNvPr id="17" name="anim_9_88"/>
          <p:cNvSpPr txBox="1"/>
          <p:nvPr/>
        </p:nvSpPr>
        <p:spPr>
          <a:xfrm>
            <a:off x="9202419" y="5893594"/>
            <a:ext cx="1547626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‏يفقد 1</a:t>
            </a:r>
            <a:endParaRPr lang="ar-KW" sz="2700" dirty="0"/>
          </a:p>
        </p:txBody>
      </p:sp>
      <p:sp>
        <p:nvSpPr>
          <p:cNvPr id="18" name="anim_9_89"/>
          <p:cNvSpPr txBox="1"/>
          <p:nvPr/>
        </p:nvSpPr>
        <p:spPr>
          <a:xfrm>
            <a:off x="7892890" y="4131469"/>
            <a:ext cx="797622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250" b="1" dirty="0">
                <a:solidFill>
                  <a:srgbClr val="7CF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‏يحقق</a:t>
            </a:r>
            <a:endParaRPr lang="ar-KW" sz="2250" dirty="0"/>
          </a:p>
        </p:txBody>
      </p:sp>
      <p:sp>
        <p:nvSpPr>
          <p:cNvPr id="19" name="anim_9_90"/>
          <p:cNvSpPr txBox="1"/>
          <p:nvPr/>
        </p:nvSpPr>
        <p:spPr>
          <a:xfrm>
            <a:off x="7559555" y="5060156"/>
            <a:ext cx="142857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650" b="1" dirty="0">
                <a:solidFill>
                  <a:srgbClr val="7CF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‏يحقق</a:t>
            </a:r>
            <a:endParaRPr lang="ar-KW" sz="2650" dirty="0"/>
          </a:p>
        </p:txBody>
      </p:sp>
      <p:sp>
        <p:nvSpPr>
          <p:cNvPr id="20" name="anim_9_91"/>
          <p:cNvSpPr txBox="1"/>
          <p:nvPr/>
        </p:nvSpPr>
        <p:spPr>
          <a:xfrm>
            <a:off x="7511936" y="5953125"/>
            <a:ext cx="107143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‏لا يحقق</a:t>
            </a:r>
            <a:endParaRPr lang="ar-KW" sz="1850" dirty="0"/>
          </a:p>
        </p:txBody>
      </p:sp>
      <p:sp>
        <p:nvSpPr>
          <p:cNvPr id="21" name="anim_9_92"/>
          <p:cNvSpPr txBox="1"/>
          <p:nvPr/>
        </p:nvSpPr>
        <p:spPr>
          <a:xfrm>
            <a:off x="7416698" y="6286500"/>
            <a:ext cx="163095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0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‏(رابطنا لشريحة الاستثناءات!)</a:t>
            </a:r>
            <a:endParaRPr lang="ar-KW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0_93"/>
          <p:cNvSpPr txBox="1"/>
          <p:nvPr/>
        </p:nvSpPr>
        <p:spPr>
          <a:xfrm>
            <a:off x="1369053" y="1881187"/>
            <a:ext cx="347620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A9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‏استثناءات قاعدة الثمانية</a:t>
            </a:r>
            <a:endParaRPr lang="ar-KW" sz="2200" dirty="0"/>
          </a:p>
        </p:txBody>
      </p:sp>
      <p:sp>
        <p:nvSpPr>
          <p:cNvPr id="5" name="anim_10_94"/>
          <p:cNvSpPr txBox="1"/>
          <p:nvPr/>
        </p:nvSpPr>
        <p:spPr>
          <a:xfrm>
            <a:off x="1464292" y="2643188"/>
            <a:ext cx="3333347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‏هناك مبانٍ صغيرة لا تحتاج إلى 8 إلكترونات، بل تستقر بإلكترونين فقط لتتشابه مع الجار العظيم: </a:t>
            </a:r>
            <a:r>
              <a:rPr lang="ar-KW" altLang="en-US" sz="1700" b="1" dirty="0">
                <a:solidFill>
                  <a:srgbClr val="FFB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الهيليوم (</a:t>
            </a:r>
            <a:r>
              <a:rPr lang="ar-KW" altLang="en-US" sz="1700" b="1" baseline="-40000" dirty="0">
                <a:solidFill>
                  <a:srgbClr val="FFB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‎2</a:t>
            </a:r>
            <a:r>
              <a:rPr lang="ar-KW" altLang="en-US" sz="1700" b="1" dirty="0">
                <a:solidFill>
                  <a:srgbClr val="FFB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He‎</a:t>
            </a:r>
            <a:r>
              <a:rPr lang="ar-KW" altLang="en-US" sz="1700" b="1" dirty="0">
                <a:solidFill>
                  <a:srgbClr val="FFB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ar-KW" sz="1700" dirty="0"/>
          </a:p>
        </p:txBody>
      </p:sp>
      <p:sp>
        <p:nvSpPr>
          <p:cNvPr id="6" name="anim_10_95"/>
          <p:cNvSpPr txBox="1"/>
          <p:nvPr/>
        </p:nvSpPr>
        <p:spPr>
          <a:xfrm>
            <a:off x="1464292" y="4238625"/>
            <a:ext cx="3333347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FFB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‏• العناصر المستثناة:</a:t>
            </a:r>
            <a:endParaRPr lang="ar-KW" sz="1700" dirty="0"/>
          </a:p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‏الهيدروجين (</a:t>
            </a:r>
            <a:r>
              <a:rPr lang="ar-KW" altLang="en-US" sz="17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‎1</a:t>
            </a: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H‎</a:t>
            </a: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)، الليثيوم (</a:t>
            </a:r>
            <a:r>
              <a:rPr lang="ar-KW" altLang="en-US" sz="17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‎3</a:t>
            </a: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Li‎</a:t>
            </a: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)، البريليوم (</a:t>
            </a:r>
            <a:r>
              <a:rPr lang="ar-KW" altLang="en-US" sz="17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‎4</a:t>
            </a: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Be‎</a:t>
            </a: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)، البورون (</a:t>
            </a:r>
            <a:r>
              <a:rPr lang="ar-KW" altLang="en-US" sz="17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‎5</a:t>
            </a: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B‎</a:t>
            </a: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ar-KW" sz="1700" dirty="0"/>
          </a:p>
        </p:txBody>
      </p:sp>
      <p:sp>
        <p:nvSpPr>
          <p:cNvPr id="7" name="anim_10_96"/>
          <p:cNvSpPr txBox="1"/>
          <p:nvPr/>
        </p:nvSpPr>
        <p:spPr>
          <a:xfrm>
            <a:off x="1464292" y="5595938"/>
            <a:ext cx="3333347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FFB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‏السبب: </a:t>
            </a: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العناصر لا تحقق قاعدة الثمانية عندما تفقد إلكترونات التكافؤ، لأنها تستقر بإلكترونين فقط لتشابه أقرب غاز نبيل لها وهو الهيليوم.</a:t>
            </a:r>
            <a:endParaRPr lang="ar-KW" sz="1700" dirty="0"/>
          </a:p>
        </p:txBody>
      </p:sp>
      <p:sp>
        <p:nvSpPr>
          <p:cNvPr id="8" name="anim_10_97"/>
          <p:cNvSpPr txBox="1"/>
          <p:nvPr/>
        </p:nvSpPr>
        <p:spPr>
          <a:xfrm>
            <a:off x="9345277" y="3393281"/>
            <a:ext cx="2559535" cy="1964531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8850" b="1" baseline="-40000" dirty="0">
                <a:ln w="19050">
                  <a:solidFill>
                    <a:srgbClr val="FFB05A"/>
                  </a:solidFill>
                </a:ln>
                <a:solidFill>
                  <a:srgbClr val="FFF3E6"/>
                </a:solidFill>
                <a:effectLst>
                  <a:glow rad="177800">
                    <a:srgbClr val="FF9A3C">
                      <a:alpha val="55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‎2</a:t>
            </a:r>
            <a:r>
              <a:rPr lang="en-US" altLang="en-US" sz="8850" b="1" dirty="0">
                <a:ln w="19050">
                  <a:solidFill>
                    <a:srgbClr val="FFB05A"/>
                  </a:solidFill>
                </a:ln>
                <a:solidFill>
                  <a:srgbClr val="FFF3E6"/>
                </a:solidFill>
                <a:effectLst>
                  <a:glow rad="177800">
                    <a:srgbClr val="FF9A3C">
                      <a:alpha val="55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He</a:t>
            </a:r>
            <a:endParaRPr lang="en-US" sz="885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1_98"/>
          <p:cNvSpPr txBox="1"/>
          <p:nvPr/>
        </p:nvSpPr>
        <p:spPr>
          <a:xfrm>
            <a:off x="10357186" y="1785938"/>
            <a:ext cx="5273832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3950" b="1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‏إضاءات:</a:t>
            </a:r>
            <a:endParaRPr lang="ar-KW" sz="395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3950" b="1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‏جلبرت نيوتن لويس</a:t>
            </a:r>
            <a:endParaRPr lang="ar-KW" sz="3950" dirty="0"/>
          </a:p>
        </p:txBody>
      </p:sp>
      <p:sp>
        <p:nvSpPr>
          <p:cNvPr id="5" name="anim_11_99"/>
          <p:cNvSpPr txBox="1"/>
          <p:nvPr/>
        </p:nvSpPr>
        <p:spPr>
          <a:xfrm>
            <a:off x="10273852" y="3393281"/>
            <a:ext cx="5357165" cy="220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‏يعدّ العالم الأمريكي جلبرت نيوتن لويس (Gilbert N. Lewis) من روّاد علم الكيمياء الحديثة. وُلد عام 1875م، واشتهر بإسهاماته في دراسة الروابط الكيميائية وإلكترونات التكافؤ.</a:t>
            </a:r>
            <a:endParaRPr lang="ar-KW" sz="2200" dirty="0"/>
          </a:p>
        </p:txBody>
      </p:sp>
      <p:sp>
        <p:nvSpPr>
          <p:cNvPr id="6" name="anim_11_100"/>
          <p:cNvSpPr txBox="1"/>
          <p:nvPr/>
        </p:nvSpPr>
        <p:spPr>
          <a:xfrm>
            <a:off x="10273852" y="5691188"/>
            <a:ext cx="5357165" cy="2405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‏ومن أبرز إنجازاته ابتكار تمثيل لويس الذي يستخدم النقاط حول رمز العنصر لتمثيل إلكترونات التكافؤ، مما سهّل فهم كيفية ارتباط الذرات وتكوين المركبات الكيميائية.</a:t>
            </a:r>
            <a:endParaRPr lang="ar-KW" sz="23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2_101"/>
          <p:cNvSpPr txBox="1"/>
          <p:nvPr/>
        </p:nvSpPr>
        <p:spPr>
          <a:xfrm>
            <a:off x="5178593" y="2047875"/>
            <a:ext cx="5952406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‏التحدي الأكبر: أنت الكيميائي!</a:t>
            </a:r>
            <a:endParaRPr lang="ar-KW" sz="3150" dirty="0"/>
          </a:p>
        </p:txBody>
      </p:sp>
      <p:sp>
        <p:nvSpPr>
          <p:cNvPr id="5" name="anim_12_102"/>
          <p:cNvSpPr txBox="1"/>
          <p:nvPr/>
        </p:nvSpPr>
        <p:spPr>
          <a:xfrm>
            <a:off x="8273844" y="2976563"/>
            <a:ext cx="3392871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50" b="1" dirty="0">
                <a:solidFill>
                  <a:srgbClr val="7FD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‏السؤال الأول: المصطلحات</a:t>
            </a:r>
            <a:endParaRPr lang="ar-KW" sz="1950" dirty="0"/>
          </a:p>
        </p:txBody>
      </p:sp>
      <p:sp>
        <p:nvSpPr>
          <p:cNvPr id="6" name="anim_12_103"/>
          <p:cNvSpPr txBox="1"/>
          <p:nvPr/>
        </p:nvSpPr>
        <p:spPr>
          <a:xfrm>
            <a:off x="6666695" y="3381375"/>
            <a:ext cx="5023831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‏- عدد الإلكترونات التي تفقدها أو تكتسبها أو تشارك بها الذرة...</a:t>
            </a:r>
            <a:endParaRPr lang="ar-KW" sz="1200" dirty="0"/>
          </a:p>
        </p:txBody>
      </p:sp>
      <p:sp>
        <p:nvSpPr>
          <p:cNvPr id="7" name="anim_12_104"/>
          <p:cNvSpPr txBox="1"/>
          <p:nvPr/>
        </p:nvSpPr>
        <p:spPr>
          <a:xfrm>
            <a:off x="4523828" y="3381375"/>
            <a:ext cx="2083342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7CE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‏← التكافؤ</a:t>
            </a:r>
            <a:endParaRPr lang="ar-KW" sz="2200" dirty="0"/>
          </a:p>
        </p:txBody>
      </p:sp>
      <p:sp>
        <p:nvSpPr>
          <p:cNvPr id="8" name="anim_12_105"/>
          <p:cNvSpPr txBox="1"/>
          <p:nvPr/>
        </p:nvSpPr>
        <p:spPr>
          <a:xfrm>
            <a:off x="6666695" y="3786188"/>
            <a:ext cx="5023831" cy="40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‏- الأشكال التي توضح إلكترونات التكافؤ في صورة نقاط...</a:t>
            </a:r>
            <a:endParaRPr lang="ar-KW" sz="1350" dirty="0"/>
          </a:p>
        </p:txBody>
      </p:sp>
      <p:sp>
        <p:nvSpPr>
          <p:cNvPr id="9" name="anim_12_106"/>
          <p:cNvSpPr txBox="1"/>
          <p:nvPr/>
        </p:nvSpPr>
        <p:spPr>
          <a:xfrm>
            <a:off x="4523828" y="3786188"/>
            <a:ext cx="2083342" cy="40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750" b="1" dirty="0">
                <a:solidFill>
                  <a:srgbClr val="7CE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‏← الترتيب النقطي</a:t>
            </a:r>
            <a:endParaRPr lang="ar-KW" sz="1750" dirty="0"/>
          </a:p>
        </p:txBody>
      </p:sp>
      <p:sp>
        <p:nvSpPr>
          <p:cNvPr id="10" name="anim_12_107"/>
          <p:cNvSpPr txBox="1"/>
          <p:nvPr/>
        </p:nvSpPr>
        <p:spPr>
          <a:xfrm>
            <a:off x="8273844" y="4572000"/>
            <a:ext cx="3392871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FFB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‏السؤال الثاني: الاختيارات</a:t>
            </a:r>
            <a:endParaRPr lang="ar-KW" sz="2000" dirty="0"/>
          </a:p>
        </p:txBody>
      </p:sp>
      <p:sp>
        <p:nvSpPr>
          <p:cNvPr id="11" name="anim_12_108"/>
          <p:cNvSpPr txBox="1"/>
          <p:nvPr/>
        </p:nvSpPr>
        <p:spPr>
          <a:xfrm>
            <a:off x="6666695" y="4953000"/>
            <a:ext cx="50238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‏- عدد إلكترونات التكافؤ لعنصر يقع في المجموعة (17):</a:t>
            </a:r>
            <a:endParaRPr lang="ar-KW" sz="1400" dirty="0"/>
          </a:p>
        </p:txBody>
      </p:sp>
      <p:sp>
        <p:nvSpPr>
          <p:cNvPr id="12" name="anim_12_109"/>
          <p:cNvSpPr txBox="1"/>
          <p:nvPr/>
        </p:nvSpPr>
        <p:spPr>
          <a:xfrm>
            <a:off x="4523828" y="4953000"/>
            <a:ext cx="20833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50" b="1" dirty="0">
                <a:solidFill>
                  <a:srgbClr val="F5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‏← الإجابة: (7)</a:t>
            </a:r>
            <a:endParaRPr lang="ar-KW" sz="2150" dirty="0"/>
          </a:p>
        </p:txBody>
      </p:sp>
      <p:sp>
        <p:nvSpPr>
          <p:cNvPr id="13" name="anim_12_110"/>
          <p:cNvSpPr txBox="1"/>
          <p:nvPr/>
        </p:nvSpPr>
        <p:spPr>
          <a:xfrm>
            <a:off x="6666695" y="5334000"/>
            <a:ext cx="50238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‏- إحدى الذرات التالية تصل للاستقرار عن طريق فقد إلكترونين:</a:t>
            </a:r>
            <a:endParaRPr lang="ar-KW" sz="1250" dirty="0"/>
          </a:p>
        </p:txBody>
      </p:sp>
      <p:sp>
        <p:nvSpPr>
          <p:cNvPr id="14" name="anim_12_111"/>
          <p:cNvSpPr txBox="1"/>
          <p:nvPr/>
        </p:nvSpPr>
        <p:spPr>
          <a:xfrm>
            <a:off x="4523828" y="5334000"/>
            <a:ext cx="20833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F5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‏← الإجابة: (</a:t>
            </a:r>
            <a:r>
              <a:rPr lang="ar-KW" altLang="en-US" sz="1700" b="1" baseline="-40000" dirty="0">
                <a:solidFill>
                  <a:srgbClr val="F5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‎12</a:t>
            </a:r>
            <a:r>
              <a:rPr lang="ar-KW" altLang="en-US" sz="1700" b="1" dirty="0">
                <a:solidFill>
                  <a:srgbClr val="F5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Mg‎</a:t>
            </a:r>
            <a:r>
              <a:rPr lang="ar-KW" altLang="en-US" sz="1700" b="1" dirty="0">
                <a:solidFill>
                  <a:srgbClr val="F5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1700" dirty="0"/>
          </a:p>
        </p:txBody>
      </p:sp>
      <p:sp>
        <p:nvSpPr>
          <p:cNvPr id="15" name="anim_12_112"/>
          <p:cNvSpPr txBox="1"/>
          <p:nvPr/>
        </p:nvSpPr>
        <p:spPr>
          <a:xfrm rot="-300000">
            <a:off x="2702392" y="5536406"/>
            <a:ext cx="1976199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050" b="1" dirty="0">
                <a:solidFill>
                  <a:srgbClr val="4FE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‏إجابة صحيحة!</a:t>
            </a:r>
            <a:endParaRPr lang="ar-KW" sz="2050" dirty="0"/>
          </a:p>
        </p:txBody>
      </p:sp>
      <p:sp>
        <p:nvSpPr>
          <p:cNvPr id="16" name="anim_12_113"/>
          <p:cNvSpPr txBox="1"/>
          <p:nvPr/>
        </p:nvSpPr>
        <p:spPr>
          <a:xfrm rot="-180000">
            <a:off x="11785764" y="5536406"/>
            <a:ext cx="178572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4FE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‏إجابة صحيحة!</a:t>
            </a:r>
            <a:endParaRPr lang="ar-KW" sz="20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3_114"/>
          <p:cNvSpPr txBox="1"/>
          <p:nvPr/>
        </p:nvSpPr>
        <p:spPr>
          <a:xfrm>
            <a:off x="2083342" y="357188"/>
            <a:ext cx="1214290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‏لغز النقاط الثلاث (أنت الكيميائي - السؤال الثالث)</a:t>
            </a:r>
            <a:endParaRPr lang="ar-KW" sz="3800" dirty="0"/>
          </a:p>
        </p:txBody>
      </p:sp>
      <p:sp>
        <p:nvSpPr>
          <p:cNvPr id="5" name="anim_13_115"/>
          <p:cNvSpPr txBox="1"/>
          <p:nvPr/>
        </p:nvSpPr>
        <p:spPr>
          <a:xfrm>
            <a:off x="2738107" y="6929438"/>
            <a:ext cx="508335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‏المعطيات: </a:t>
            </a:r>
            <a:r>
              <a:rPr lang="ar-KW" altLang="en-US" sz="2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 مُمثَّل يحتوي ترتيبه النقطي على 3 نقاط فقط.</a:t>
            </a:r>
            <a:endParaRPr lang="ar-KW" sz="2350" dirty="0"/>
          </a:p>
        </p:txBody>
      </p:sp>
      <p:sp>
        <p:nvSpPr>
          <p:cNvPr id="6" name="anim_13_116"/>
          <p:cNvSpPr txBox="1"/>
          <p:nvPr/>
        </p:nvSpPr>
        <p:spPr>
          <a:xfrm>
            <a:off x="11107189" y="2024062"/>
            <a:ext cx="430954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‏الاستنتاج الأول (رقم المجموعة):</a:t>
            </a:r>
            <a:endParaRPr lang="ar-KW" sz="2050" dirty="0"/>
          </a:p>
        </p:txBody>
      </p:sp>
      <p:sp>
        <p:nvSpPr>
          <p:cNvPr id="7" name="anim_13_117"/>
          <p:cNvSpPr txBox="1"/>
          <p:nvPr/>
        </p:nvSpPr>
        <p:spPr>
          <a:xfrm>
            <a:off x="11107189" y="2762250"/>
            <a:ext cx="4309542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‏عدد إلكترونات التكافؤ = 3، إذن يقع العنصر في المجموعة (13).</a:t>
            </a:r>
            <a:endParaRPr lang="ar-KW" sz="2100" dirty="0"/>
          </a:p>
        </p:txBody>
      </p:sp>
      <p:sp>
        <p:nvSpPr>
          <p:cNvPr id="8" name="anim_13_118"/>
          <p:cNvSpPr txBox="1"/>
          <p:nvPr/>
        </p:nvSpPr>
        <p:spPr>
          <a:xfrm>
            <a:off x="11107189" y="5095875"/>
            <a:ext cx="430954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‏الاستنتاج الثاني (للوصول للاستقرار):</a:t>
            </a:r>
            <a:endParaRPr lang="ar-KW" sz="1800" dirty="0"/>
          </a:p>
        </p:txBody>
      </p:sp>
      <p:sp>
        <p:nvSpPr>
          <p:cNvPr id="9" name="anim_13_119"/>
          <p:cNvSpPr txBox="1"/>
          <p:nvPr/>
        </p:nvSpPr>
        <p:spPr>
          <a:xfrm>
            <a:off x="11107189" y="5774531"/>
            <a:ext cx="4309542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‏الأسهل أن يفقد 3 إلكترونات (ليُفرغ طابقه الأخير) بدلاً من أن يكتسب 5 إلكترونات، فيحقق قاعدة الثمانية.</a:t>
            </a:r>
            <a:endParaRPr lang="ar-KW" sz="18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4_120"/>
          <p:cNvSpPr txBox="1"/>
          <p:nvPr/>
        </p:nvSpPr>
        <p:spPr>
          <a:xfrm>
            <a:off x="4821449" y="416719"/>
            <a:ext cx="660717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‏خريطة الاستقرار الشاملة</a:t>
            </a:r>
            <a:endParaRPr lang="ar-KW" sz="3800" dirty="0"/>
          </a:p>
        </p:txBody>
      </p:sp>
      <p:sp>
        <p:nvSpPr>
          <p:cNvPr id="5" name="anim_14_121"/>
          <p:cNvSpPr txBox="1"/>
          <p:nvPr/>
        </p:nvSpPr>
        <p:spPr>
          <a:xfrm>
            <a:off x="4845258" y="1500188"/>
            <a:ext cx="271429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‏تمثيل لويس النقطي</a:t>
            </a:r>
            <a:endParaRPr lang="ar-KW" sz="2050" dirty="0"/>
          </a:p>
        </p:txBody>
      </p:sp>
      <p:sp>
        <p:nvSpPr>
          <p:cNvPr id="6" name="anim_14_122"/>
          <p:cNvSpPr txBox="1"/>
          <p:nvPr/>
        </p:nvSpPr>
        <p:spPr>
          <a:xfrm>
            <a:off x="4845258" y="1928813"/>
            <a:ext cx="2714297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‏(يكشف العدد)</a:t>
            </a:r>
            <a:endParaRPr lang="ar-KW" sz="2000" dirty="0"/>
          </a:p>
        </p:txBody>
      </p:sp>
      <p:sp>
        <p:nvSpPr>
          <p:cNvPr id="7" name="anim_14_123"/>
          <p:cNvSpPr txBox="1"/>
          <p:nvPr/>
        </p:nvSpPr>
        <p:spPr>
          <a:xfrm>
            <a:off x="1488101" y="5857875"/>
            <a:ext cx="250001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التكافؤ</a:t>
            </a:r>
            <a:endParaRPr lang="ar-KW" sz="2200" dirty="0"/>
          </a:p>
        </p:txBody>
      </p:sp>
      <p:sp>
        <p:nvSpPr>
          <p:cNvPr id="8" name="anim_14_124"/>
          <p:cNvSpPr txBox="1"/>
          <p:nvPr/>
        </p:nvSpPr>
        <p:spPr>
          <a:xfrm>
            <a:off x="1607150" y="6250781"/>
            <a:ext cx="23214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‏(تحدد سلوك الذرة)</a:t>
            </a:r>
            <a:endParaRPr lang="ar-KW" sz="1900" dirty="0"/>
          </a:p>
        </p:txBody>
      </p:sp>
      <p:sp>
        <p:nvSpPr>
          <p:cNvPr id="9" name="anim_14_125"/>
          <p:cNvSpPr txBox="1"/>
          <p:nvPr/>
        </p:nvSpPr>
        <p:spPr>
          <a:xfrm>
            <a:off x="5535737" y="3571875"/>
            <a:ext cx="1809531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‏الذرات ذات 1 أو 2 أو 3</a:t>
            </a:r>
            <a:endParaRPr lang="ar-KW" sz="130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تكافؤ</a:t>
            </a:r>
            <a:endParaRPr lang="ar-KW" sz="1300" dirty="0"/>
          </a:p>
        </p:txBody>
      </p:sp>
      <p:sp>
        <p:nvSpPr>
          <p:cNvPr id="10" name="anim_14_126"/>
          <p:cNvSpPr txBox="1"/>
          <p:nvPr/>
        </p:nvSpPr>
        <p:spPr>
          <a:xfrm>
            <a:off x="7940509" y="3607594"/>
            <a:ext cx="78571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‏تفقد</a:t>
            </a:r>
            <a:endParaRPr lang="ar-KW" sz="2000" dirty="0"/>
          </a:p>
        </p:txBody>
      </p:sp>
      <p:sp>
        <p:nvSpPr>
          <p:cNvPr id="11" name="anim_14_127"/>
          <p:cNvSpPr txBox="1"/>
          <p:nvPr/>
        </p:nvSpPr>
        <p:spPr>
          <a:xfrm>
            <a:off x="9202419" y="3595688"/>
            <a:ext cx="1630959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‏تصبح</a:t>
            </a:r>
            <a:endParaRPr lang="ar-KW" sz="185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‏كاتيوناً موجباً</a:t>
            </a:r>
            <a:endParaRPr lang="ar-KW" sz="1850" dirty="0"/>
          </a:p>
        </p:txBody>
      </p:sp>
      <p:sp>
        <p:nvSpPr>
          <p:cNvPr id="12" name="anim_14_128"/>
          <p:cNvSpPr txBox="1"/>
          <p:nvPr/>
        </p:nvSpPr>
        <p:spPr>
          <a:xfrm>
            <a:off x="5595261" y="5095875"/>
            <a:ext cx="1785722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‏الذرات ذات 5 أو 6 أو 7</a:t>
            </a:r>
            <a:endParaRPr lang="ar-KW" sz="170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 تكافؤ</a:t>
            </a:r>
            <a:endParaRPr lang="ar-KW" sz="1700" dirty="0"/>
          </a:p>
        </p:txBody>
      </p:sp>
      <p:sp>
        <p:nvSpPr>
          <p:cNvPr id="13" name="anim_14_129"/>
          <p:cNvSpPr txBox="1"/>
          <p:nvPr/>
        </p:nvSpPr>
        <p:spPr>
          <a:xfrm>
            <a:off x="7797652" y="5417344"/>
            <a:ext cx="976195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‏تكتسب</a:t>
            </a:r>
            <a:endParaRPr lang="ar-KW" sz="2150" dirty="0"/>
          </a:p>
        </p:txBody>
      </p:sp>
      <p:sp>
        <p:nvSpPr>
          <p:cNvPr id="14" name="anim_14_130"/>
          <p:cNvSpPr txBox="1"/>
          <p:nvPr/>
        </p:nvSpPr>
        <p:spPr>
          <a:xfrm>
            <a:off x="9250039" y="5286375"/>
            <a:ext cx="1583340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‏تصبح</a:t>
            </a:r>
            <a:endParaRPr lang="ar-KW" sz="185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‏أنيوناً سالباً</a:t>
            </a:r>
            <a:endParaRPr lang="ar-KW" sz="1850" dirty="0"/>
          </a:p>
        </p:txBody>
      </p:sp>
      <p:sp>
        <p:nvSpPr>
          <p:cNvPr id="15" name="anim_14_131"/>
          <p:cNvSpPr txBox="1"/>
          <p:nvPr/>
        </p:nvSpPr>
        <p:spPr>
          <a:xfrm>
            <a:off x="12559576" y="6310313"/>
            <a:ext cx="15476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‏الاستقرار</a:t>
            </a:r>
            <a:endParaRPr lang="ar-KW" sz="2150" dirty="0"/>
          </a:p>
        </p:txBody>
      </p:sp>
      <p:sp>
        <p:nvSpPr>
          <p:cNvPr id="16" name="anim_14_132"/>
          <p:cNvSpPr txBox="1"/>
          <p:nvPr/>
        </p:nvSpPr>
        <p:spPr>
          <a:xfrm>
            <a:off x="11964336" y="6667500"/>
            <a:ext cx="285715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‏(تحقيق قاعدة الثمانية)</a:t>
            </a:r>
            <a:endParaRPr lang="ar-KW" sz="195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5_133"/>
          <p:cNvSpPr txBox="1"/>
          <p:nvPr/>
        </p:nvSpPr>
        <p:spPr>
          <a:xfrm>
            <a:off x="6726219" y="690563"/>
            <a:ext cx="6309550" cy="1595437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4000" b="1" dirty="0">
                <a:ln w="12700">
                  <a:solidFill>
                    <a:srgbClr val="FFFFFF"/>
                  </a:solidFill>
                </a:ln>
                <a:solidFill>
                  <a:srgbClr val="2C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‏التقرير النهائي:</a:t>
            </a:r>
            <a:endParaRPr lang="ar-KW" sz="40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4000" b="1" dirty="0">
                <a:ln w="12700">
                  <a:solidFill>
                    <a:srgbClr val="FFFFFF"/>
                  </a:solidFill>
                </a:ln>
                <a:solidFill>
                  <a:srgbClr val="2C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‏شهادة التدقيق المعماري</a:t>
            </a:r>
            <a:endParaRPr lang="ar-KW" sz="4000" dirty="0"/>
          </a:p>
        </p:txBody>
      </p:sp>
      <p:sp>
        <p:nvSpPr>
          <p:cNvPr id="5" name="anim_15_134"/>
          <p:cNvSpPr txBox="1"/>
          <p:nvPr/>
        </p:nvSpPr>
        <p:spPr>
          <a:xfrm>
            <a:off x="6726219" y="2881313"/>
            <a:ext cx="1607150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25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‏العنصر</a:t>
            </a:r>
            <a:endParaRPr lang="ar-KW" sz="2550" dirty="0"/>
          </a:p>
        </p:txBody>
      </p:sp>
      <p:sp>
        <p:nvSpPr>
          <p:cNvPr id="6" name="anim_15_135"/>
          <p:cNvSpPr txBox="1"/>
          <p:nvPr/>
        </p:nvSpPr>
        <p:spPr>
          <a:xfrm>
            <a:off x="8416702" y="2881313"/>
            <a:ext cx="1107147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6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</a:t>
            </a:r>
            <a:endParaRPr lang="ar-KW" sz="165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6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‏الإلكتروني</a:t>
            </a:r>
            <a:endParaRPr lang="ar-KW" sz="1650" dirty="0"/>
          </a:p>
        </p:txBody>
      </p:sp>
      <p:sp>
        <p:nvSpPr>
          <p:cNvPr id="7" name="anim_15_136"/>
          <p:cNvSpPr txBox="1"/>
          <p:nvPr/>
        </p:nvSpPr>
        <p:spPr>
          <a:xfrm>
            <a:off x="9607183" y="2881313"/>
            <a:ext cx="1023814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6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‏إلكترونات</a:t>
            </a:r>
            <a:endParaRPr lang="ar-KW" sz="165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6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</a:t>
            </a:r>
            <a:endParaRPr lang="ar-KW" sz="1650" dirty="0"/>
          </a:p>
        </p:txBody>
      </p:sp>
      <p:sp>
        <p:nvSpPr>
          <p:cNvPr id="8" name="anim_15_137"/>
          <p:cNvSpPr txBox="1"/>
          <p:nvPr/>
        </p:nvSpPr>
        <p:spPr>
          <a:xfrm>
            <a:off x="10714330" y="2881313"/>
            <a:ext cx="1130957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25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‏التكافؤ</a:t>
            </a:r>
            <a:endParaRPr lang="ar-KW" sz="2550" dirty="0"/>
          </a:p>
        </p:txBody>
      </p:sp>
      <p:sp>
        <p:nvSpPr>
          <p:cNvPr id="9" name="anim_15_138"/>
          <p:cNvSpPr txBox="1"/>
          <p:nvPr/>
        </p:nvSpPr>
        <p:spPr>
          <a:xfrm>
            <a:off x="11928621" y="2881313"/>
            <a:ext cx="1107147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</a:t>
            </a:r>
            <a:endParaRPr lang="ar-KW" sz="220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‏النقطي</a:t>
            </a:r>
            <a:endParaRPr lang="ar-KW" sz="2200" dirty="0"/>
          </a:p>
        </p:txBody>
      </p:sp>
      <p:sp>
        <p:nvSpPr>
          <p:cNvPr id="10" name="anim_15_139"/>
          <p:cNvSpPr txBox="1"/>
          <p:nvPr/>
        </p:nvSpPr>
        <p:spPr>
          <a:xfrm>
            <a:off x="6666695" y="3833812"/>
            <a:ext cx="1702388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‏النيتروجين (</a:t>
            </a:r>
            <a:r>
              <a:rPr lang="ar-KW" altLang="en-US" sz="2250" b="1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‎7</a:t>
            </a:r>
            <a:r>
              <a:rPr lang="ar-KW" altLang="en-US" sz="2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N‎</a:t>
            </a:r>
            <a:r>
              <a:rPr lang="ar-KW" altLang="en-US" sz="2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250" dirty="0"/>
          </a:p>
        </p:txBody>
      </p:sp>
      <p:sp>
        <p:nvSpPr>
          <p:cNvPr id="11" name="anim_15_140"/>
          <p:cNvSpPr txBox="1"/>
          <p:nvPr/>
        </p:nvSpPr>
        <p:spPr>
          <a:xfrm>
            <a:off x="8416702" y="3833812"/>
            <a:ext cx="1107147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</a:t>
            </a:r>
            <a:endParaRPr lang="en-US" sz="2700" dirty="0"/>
          </a:p>
        </p:txBody>
      </p:sp>
      <p:sp>
        <p:nvSpPr>
          <p:cNvPr id="12" name="anim_15_141"/>
          <p:cNvSpPr txBox="1"/>
          <p:nvPr/>
        </p:nvSpPr>
        <p:spPr>
          <a:xfrm>
            <a:off x="9607183" y="3833812"/>
            <a:ext cx="1023814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700" dirty="0"/>
          </a:p>
        </p:txBody>
      </p:sp>
      <p:sp>
        <p:nvSpPr>
          <p:cNvPr id="13" name="anim_15_142"/>
          <p:cNvSpPr txBox="1"/>
          <p:nvPr/>
        </p:nvSpPr>
        <p:spPr>
          <a:xfrm>
            <a:off x="10714330" y="3833812"/>
            <a:ext cx="1130957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‏3 (يكتسب)</a:t>
            </a:r>
            <a:endParaRPr lang="ar-KW" sz="2000" dirty="0"/>
          </a:p>
        </p:txBody>
      </p:sp>
      <p:pic>
        <p:nvPicPr>
          <p:cNvPr id="14" name="anim_15_143" descr="الترتيب النقطي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868" y="3857625"/>
            <a:ext cx="700368" cy="762000"/>
          </a:xfrm>
          <a:prstGeom prst="rect">
            <a:avLst/>
          </a:prstGeom>
        </p:spPr>
      </p:pic>
      <p:sp>
        <p:nvSpPr>
          <p:cNvPr id="15" name="anim_15_144"/>
          <p:cNvSpPr txBox="1"/>
          <p:nvPr/>
        </p:nvSpPr>
        <p:spPr>
          <a:xfrm>
            <a:off x="6666695" y="4691063"/>
            <a:ext cx="1702388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‏الكبريت (</a:t>
            </a:r>
            <a:r>
              <a:rPr lang="ar-KW" altLang="en-US" sz="2250" b="1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‎16</a:t>
            </a:r>
            <a:r>
              <a:rPr lang="ar-KW" altLang="en-US" sz="2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S‎</a:t>
            </a:r>
            <a:r>
              <a:rPr lang="ar-KW" altLang="en-US" sz="2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2250" dirty="0"/>
          </a:p>
        </p:txBody>
      </p:sp>
      <p:sp>
        <p:nvSpPr>
          <p:cNvPr id="16" name="anim_15_145"/>
          <p:cNvSpPr txBox="1"/>
          <p:nvPr/>
        </p:nvSpPr>
        <p:spPr>
          <a:xfrm>
            <a:off x="8416702" y="4691063"/>
            <a:ext cx="1107147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2,8,6</a:t>
            </a:r>
            <a:endParaRPr lang="en-US" sz="2700" dirty="0"/>
          </a:p>
        </p:txBody>
      </p:sp>
      <p:sp>
        <p:nvSpPr>
          <p:cNvPr id="17" name="anim_15_146"/>
          <p:cNvSpPr txBox="1"/>
          <p:nvPr/>
        </p:nvSpPr>
        <p:spPr>
          <a:xfrm>
            <a:off x="9607183" y="4691063"/>
            <a:ext cx="1023814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700" dirty="0"/>
          </a:p>
        </p:txBody>
      </p:sp>
      <p:sp>
        <p:nvSpPr>
          <p:cNvPr id="18" name="anim_15_147"/>
          <p:cNvSpPr txBox="1"/>
          <p:nvPr/>
        </p:nvSpPr>
        <p:spPr>
          <a:xfrm>
            <a:off x="10714330" y="4691063"/>
            <a:ext cx="1130957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‏2 (يكتسب)</a:t>
            </a:r>
            <a:endParaRPr lang="ar-KW" sz="2000" dirty="0"/>
          </a:p>
        </p:txBody>
      </p:sp>
      <p:pic>
        <p:nvPicPr>
          <p:cNvPr id="19" name="anim_15_148" descr="الترتيب النقطي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9868" y="4714875"/>
            <a:ext cx="700368" cy="762000"/>
          </a:xfrm>
          <a:prstGeom prst="rect">
            <a:avLst/>
          </a:prstGeom>
        </p:spPr>
      </p:pic>
      <p:sp>
        <p:nvSpPr>
          <p:cNvPr id="20" name="anim_15_149"/>
          <p:cNvSpPr txBox="1"/>
          <p:nvPr/>
        </p:nvSpPr>
        <p:spPr>
          <a:xfrm>
            <a:off x="6666695" y="5548313"/>
            <a:ext cx="170238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6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‏الكالسيوم (</a:t>
            </a:r>
            <a:r>
              <a:rPr lang="ar-KW" altLang="en-US" sz="1650" b="1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‎20</a:t>
            </a:r>
            <a:r>
              <a:rPr lang="ar-KW" altLang="en-US" sz="16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Ca‎</a:t>
            </a:r>
            <a:r>
              <a:rPr lang="ar-KW" altLang="en-US" sz="16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1650" dirty="0"/>
          </a:p>
        </p:txBody>
      </p:sp>
      <p:sp>
        <p:nvSpPr>
          <p:cNvPr id="21" name="anim_15_150"/>
          <p:cNvSpPr txBox="1"/>
          <p:nvPr/>
        </p:nvSpPr>
        <p:spPr>
          <a:xfrm>
            <a:off x="8416702" y="5548313"/>
            <a:ext cx="110714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2,8,8,2</a:t>
            </a:r>
            <a:endParaRPr lang="en-US" sz="2150" dirty="0"/>
          </a:p>
        </p:txBody>
      </p:sp>
      <p:sp>
        <p:nvSpPr>
          <p:cNvPr id="22" name="anim_15_151"/>
          <p:cNvSpPr txBox="1"/>
          <p:nvPr/>
        </p:nvSpPr>
        <p:spPr>
          <a:xfrm>
            <a:off x="9607183" y="5548313"/>
            <a:ext cx="102381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23" name="anim_15_152"/>
          <p:cNvSpPr txBox="1"/>
          <p:nvPr/>
        </p:nvSpPr>
        <p:spPr>
          <a:xfrm>
            <a:off x="10714330" y="5548313"/>
            <a:ext cx="113095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‏2 (يفقد)</a:t>
            </a:r>
            <a:endParaRPr lang="ar-KW" sz="1950" dirty="0"/>
          </a:p>
        </p:txBody>
      </p:sp>
      <p:pic>
        <p:nvPicPr>
          <p:cNvPr id="24" name="anim_15_153" descr="الترتيب النقطي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0903" y="5572125"/>
            <a:ext cx="638298" cy="547687"/>
          </a:xfrm>
          <a:prstGeom prst="rect">
            <a:avLst/>
          </a:prstGeom>
        </p:spPr>
      </p:pic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6_154"/>
          <p:cNvSpPr txBox="1"/>
          <p:nvPr/>
        </p:nvSpPr>
        <p:spPr>
          <a:xfrm>
            <a:off x="3392871" y="1095375"/>
            <a:ext cx="9523849" cy="23812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5550" b="1" dirty="0">
                <a:ln w="25400">
                  <a:solidFill>
                    <a:srgbClr val="C8892A"/>
                  </a:solidFill>
                </a:ln>
                <a:solidFill>
                  <a:srgbClr val="FFF6E8"/>
                </a:solidFill>
                <a:effectLst>
                  <a:glow rad="101600">
                    <a:srgbClr val="FFB347">
                      <a:alpha val="4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‏تم تأمين</a:t>
            </a:r>
            <a:endParaRPr lang="ar-KW" sz="555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5550" b="1" dirty="0">
                <a:ln w="25400">
                  <a:solidFill>
                    <a:srgbClr val="C8892A"/>
                  </a:solidFill>
                </a:ln>
                <a:solidFill>
                  <a:srgbClr val="FFF6E8"/>
                </a:solidFill>
                <a:effectLst>
                  <a:glow rad="101600">
                    <a:srgbClr val="FFB347">
                      <a:alpha val="4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‏الاستقرار الكيميائي بنجاح!</a:t>
            </a:r>
            <a:endParaRPr lang="ar-KW" sz="5550" dirty="0"/>
          </a:p>
        </p:txBody>
      </p:sp>
      <p:sp>
        <p:nvSpPr>
          <p:cNvPr id="5" name="anim_16_155"/>
          <p:cNvSpPr txBox="1"/>
          <p:nvPr/>
        </p:nvSpPr>
        <p:spPr>
          <a:xfrm>
            <a:off x="4404780" y="3929063"/>
            <a:ext cx="7583365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‏لقد أتقنتم إدارة «عمال الطابق الأخير»، وفككتم شفرة الاستقرار.</a:t>
            </a:r>
            <a:endParaRPr lang="ar-KW" sz="180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‏أنتم الآن مهندسو كيمياء معتمدون.</a:t>
            </a:r>
            <a:endParaRPr lang="ar-KW" sz="18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الترتيب الإلكتروني وإلكترونات التكافؤ</dc:title>
  <dc:subject>PptxGenJS Presentation</dc:subject>
  <dc:creator>PptxGenJS</dc:creator>
  <cp:lastModifiedBy>PptxGenJS</cp:lastModifiedBy>
  <cp:revision>1</cp:revision>
  <dcterms:created xsi:type="dcterms:W3CDTF">2026-10-26T19:36:00Z</dcterms:created>
  <dcterms:modified xsi:type="dcterms:W3CDTF">2026-10-26T19:36:00Z</dcterms:modified>
</cp:coreProperties>
</file>