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_1"/>
          <p:cNvSpPr txBox="1"/>
          <p:nvPr/>
        </p:nvSpPr>
        <p:spPr>
          <a:xfrm>
            <a:off x="2916679" y="476250"/>
            <a:ext cx="577383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850" b="1" dirty="0">
                <a:solidFill>
                  <a:srgbClr val="1E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‏الرابطة الأيونية:</a:t>
            </a:r>
            <a:endParaRPr lang="ar-KW" sz="4850" dirty="0"/>
          </a:p>
        </p:txBody>
      </p:sp>
      <p:sp>
        <p:nvSpPr>
          <p:cNvPr id="5" name="anim_1_2"/>
          <p:cNvSpPr txBox="1"/>
          <p:nvPr/>
        </p:nvSpPr>
        <p:spPr>
          <a:xfrm>
            <a:off x="2857155" y="1333500"/>
            <a:ext cx="5833358" cy="690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600" b="1" dirty="0">
                <a:solidFill>
                  <a:srgbClr val="1E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‏رحلة استكشافية داخل مختبر النانو</a:t>
            </a:r>
            <a:endParaRPr lang="ar-KW" sz="2600" dirty="0"/>
          </a:p>
        </p:txBody>
      </p:sp>
      <p:sp>
        <p:nvSpPr>
          <p:cNvPr id="6" name="anim_1_3"/>
          <p:cNvSpPr txBox="1"/>
          <p:nvPr/>
        </p:nvSpPr>
        <p:spPr>
          <a:xfrm>
            <a:off x="3511919" y="2095500"/>
            <a:ext cx="4642877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650" b="1" dirty="0">
                <a:solidFill>
                  <a:srgbClr val="1E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‏اكتشاف الأسرار المخفية التي تضيء عالمنا</a:t>
            </a:r>
            <a:endParaRPr lang="ar-KW" sz="16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2_4"/>
          <p:cNvSpPr txBox="1"/>
          <p:nvPr/>
        </p:nvSpPr>
        <p:spPr>
          <a:xfrm>
            <a:off x="3333347" y="476250"/>
            <a:ext cx="976194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‏لغز الكيميائي العظيم: كيف نصنع الأمان من الخطر؟</a:t>
            </a:r>
            <a:endParaRPr lang="ar-KW" sz="3400" dirty="0"/>
          </a:p>
        </p:txBody>
      </p:sp>
      <p:sp>
        <p:nvSpPr>
          <p:cNvPr id="5" name="anim_2_5"/>
          <p:cNvSpPr txBox="1"/>
          <p:nvPr/>
        </p:nvSpPr>
        <p:spPr>
          <a:xfrm>
            <a:off x="1607150" y="2119313"/>
            <a:ext cx="33333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0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‏فلز الصوديوم ينفجر في الماء</a:t>
            </a:r>
            <a:endParaRPr lang="ar-KW" sz="2000" dirty="0"/>
          </a:p>
        </p:txBody>
      </p:sp>
      <p:sp>
        <p:nvSpPr>
          <p:cNvPr id="6" name="anim_2_6"/>
          <p:cNvSpPr txBox="1"/>
          <p:nvPr/>
        </p:nvSpPr>
        <p:spPr>
          <a:xfrm>
            <a:off x="6464313" y="2119313"/>
            <a:ext cx="335715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‏غاز الكلور سام جداً</a:t>
            </a:r>
            <a:endParaRPr lang="ar-KW" sz="2750" dirty="0"/>
          </a:p>
        </p:txBody>
      </p:sp>
      <p:sp>
        <p:nvSpPr>
          <p:cNvPr id="7" name="anim_2_7"/>
          <p:cNvSpPr txBox="1"/>
          <p:nvPr/>
        </p:nvSpPr>
        <p:spPr>
          <a:xfrm>
            <a:off x="10833379" y="2119313"/>
            <a:ext cx="42857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‏ملح الطعام (مركب آمن وضروري للحياة!)</a:t>
            </a:r>
            <a:endParaRPr lang="ar-KW" sz="1900" dirty="0"/>
          </a:p>
        </p:txBody>
      </p:sp>
      <p:sp>
        <p:nvSpPr>
          <p:cNvPr id="8" name="anim_2_8"/>
          <p:cNvSpPr txBox="1"/>
          <p:nvPr/>
        </p:nvSpPr>
        <p:spPr>
          <a:xfrm>
            <a:off x="4940497" y="8001000"/>
            <a:ext cx="6904791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‏السؤال: ما هو السر الذي يجمع بينهما ويغير صفاتهما بالكامل؟</a:t>
            </a:r>
            <a:endParaRPr lang="ar-KW" sz="220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‏الجواب يكمن في البحث عن الاستقرار.</a:t>
            </a:r>
            <a:endParaRPr lang="ar-KW" sz="22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3_9"/>
          <p:cNvSpPr txBox="1"/>
          <p:nvPr/>
        </p:nvSpPr>
        <p:spPr>
          <a:xfrm>
            <a:off x="3988112" y="476250"/>
            <a:ext cx="833336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‏المهمة الأولى: بطاقات الاستقرار (نشاط ص 113)</a:t>
            </a:r>
            <a:endParaRPr lang="ar-KW" sz="3400" dirty="0"/>
          </a:p>
        </p:txBody>
      </p:sp>
      <p:sp>
        <p:nvSpPr>
          <p:cNvPr id="5" name="anim_3_10"/>
          <p:cNvSpPr txBox="1"/>
          <p:nvPr/>
        </p:nvSpPr>
        <p:spPr>
          <a:xfrm>
            <a:off x="9464325" y="8096250"/>
            <a:ext cx="250001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‏الاستنتاج:</a:t>
            </a:r>
            <a:endParaRPr lang="ar-KW" sz="2700" dirty="0"/>
          </a:p>
        </p:txBody>
      </p:sp>
      <p:sp>
        <p:nvSpPr>
          <p:cNvPr id="6" name="anim_3_11"/>
          <p:cNvSpPr txBox="1"/>
          <p:nvPr/>
        </p:nvSpPr>
        <p:spPr>
          <a:xfrm>
            <a:off x="3511919" y="8477250"/>
            <a:ext cx="8333368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6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‏الفلزات تميل لفقد الإلكترونات وتكوّن أيونات موجبة. الافلزات تميل لكسب الإلكترونات وتكوّن أيونات سالبة.</a:t>
            </a:r>
            <a:endParaRPr lang="ar-KW" sz="16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4_12"/>
          <p:cNvSpPr txBox="1"/>
          <p:nvPr/>
        </p:nvSpPr>
        <p:spPr>
          <a:xfrm>
            <a:off x="2321438" y="428625"/>
            <a:ext cx="1178576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7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‏لغة التواصل الذرية: الترتيب النقطي</a:t>
            </a:r>
            <a:endParaRPr lang="ar-KW" sz="3750" dirty="0"/>
          </a:p>
        </p:txBody>
      </p:sp>
      <p:sp>
        <p:nvSpPr>
          <p:cNvPr id="5" name="anim_4_13"/>
          <p:cNvSpPr txBox="1"/>
          <p:nvPr/>
        </p:nvSpPr>
        <p:spPr>
          <a:xfrm>
            <a:off x="1309529" y="2678906"/>
            <a:ext cx="4130970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الفقد والاكتساب: ذرة الصوديوم (فلز) تمنح إلكترون التكافؤ لتتحول إلى كاتيون موجب (+Na).</a:t>
            </a:r>
            <a:endParaRPr lang="ar-KW" sz="1900" dirty="0"/>
          </a:p>
        </p:txBody>
      </p:sp>
      <p:sp>
        <p:nvSpPr>
          <p:cNvPr id="6" name="anim_4_14"/>
          <p:cNvSpPr txBox="1"/>
          <p:nvPr/>
        </p:nvSpPr>
        <p:spPr>
          <a:xfrm>
            <a:off x="1309529" y="4226719"/>
            <a:ext cx="4130970" cy="988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ذرة الكلور (لافلز) تستقبل الإلكترون لتصبح أنيون سالب (Cl−).</a:t>
            </a:r>
            <a:endParaRPr lang="ar-KW" sz="1900" dirty="0"/>
          </a:p>
        </p:txBody>
      </p:sp>
      <p:sp>
        <p:nvSpPr>
          <p:cNvPr id="7" name="anim_4_15"/>
          <p:cNvSpPr txBox="1"/>
          <p:nvPr/>
        </p:nvSpPr>
        <p:spPr>
          <a:xfrm>
            <a:off x="1309529" y="5536406"/>
            <a:ext cx="4130970" cy="1750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05000"/>
              </a:lnSpc>
              <a:buNone/>
            </a:pPr>
            <a:r>
              <a:rPr lang="ar-KW" altLang="en-US" sz="19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‏- قوة التجاذب الكهروستاتيكي: هي المغناطيس الخفي الذي يربط الأيونات المختلفة في الشحنة لتكوين مركب مستقر (NaCl).</a:t>
            </a:r>
            <a:endParaRPr lang="ar-KW" sz="195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5_16"/>
          <p:cNvSpPr txBox="1"/>
          <p:nvPr/>
        </p:nvSpPr>
        <p:spPr>
          <a:xfrm>
            <a:off x="3511919" y="357188"/>
            <a:ext cx="9285753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‏طاقة مضاعفة: المغنيسيوم والأكسجين</a:t>
            </a:r>
            <a:endParaRPr lang="ar-KW" sz="3800" dirty="0"/>
          </a:p>
        </p:txBody>
      </p:sp>
      <p:sp>
        <p:nvSpPr>
          <p:cNvPr id="5" name="anim_5_17"/>
          <p:cNvSpPr txBox="1"/>
          <p:nvPr/>
        </p:nvSpPr>
        <p:spPr>
          <a:xfrm>
            <a:off x="4702401" y="6131719"/>
            <a:ext cx="6845267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 + O → Mg²⁺ + O²⁻ → MgO</a:t>
            </a:r>
            <a:endParaRPr lang="en-US" sz="3300" dirty="0"/>
          </a:p>
        </p:txBody>
      </p:sp>
      <p:sp>
        <p:nvSpPr>
          <p:cNvPr id="6" name="anim_5_18"/>
          <p:cNvSpPr txBox="1"/>
          <p:nvPr/>
        </p:nvSpPr>
        <p:spPr>
          <a:xfrm>
            <a:off x="3869064" y="7203281"/>
            <a:ext cx="833336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‏بعض العناصر تحتاج نفقد أو تكسب أكثر من إلكترون للوصول إلى حالة الاستقرار المثالية، لكن القاعدة تظل ثابتة!</a:t>
            </a:r>
            <a:endParaRPr lang="ar-KW" sz="2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6_19"/>
          <p:cNvSpPr txBox="1"/>
          <p:nvPr/>
        </p:nvSpPr>
        <p:spPr>
          <a:xfrm>
            <a:off x="3511919" y="428625"/>
            <a:ext cx="928575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‏الميزان الكوني: قانون حفظ الشحنة</a:t>
            </a:r>
            <a:endParaRPr lang="ar-KW" sz="4000" dirty="0"/>
          </a:p>
        </p:txBody>
      </p:sp>
      <p:sp>
        <p:nvSpPr>
          <p:cNvPr id="5" name="anim_6_20"/>
          <p:cNvSpPr txBox="1"/>
          <p:nvPr/>
        </p:nvSpPr>
        <p:spPr>
          <a:xfrm>
            <a:off x="1071433" y="3119438"/>
            <a:ext cx="2738107" cy="307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19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‏المركبات الأيونية ذكية جداً، لا تقبل إلا بالتوازن التام!</a:t>
            </a:r>
            <a:endParaRPr lang="ar-KW" sz="1950" dirty="0"/>
          </a:p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19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‏القاعدة: مجموع الشحنات الكهربائية للمواد المتفاعلة = مجموع الشحنات للمواد الناتجة = صفر.</a:t>
            </a:r>
            <a:endParaRPr lang="ar-KW" sz="1950" dirty="0"/>
          </a:p>
        </p:txBody>
      </p:sp>
      <p:sp>
        <p:nvSpPr>
          <p:cNvPr id="6" name="anim_6_21"/>
          <p:cNvSpPr txBox="1"/>
          <p:nvPr/>
        </p:nvSpPr>
        <p:spPr>
          <a:xfrm>
            <a:off x="5535737" y="7679531"/>
            <a:ext cx="5357165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46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(+1) + (−1) = 0</a:t>
            </a:r>
            <a:endParaRPr lang="en-US" sz="46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7_22"/>
          <p:cNvSpPr txBox="1"/>
          <p:nvPr/>
        </p:nvSpPr>
        <p:spPr>
          <a:xfrm>
            <a:off x="3035727" y="333375"/>
            <a:ext cx="10238138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‏رادار الطاقة: مقياس باولنج للسالبية الكهربائية</a:t>
            </a:r>
            <a:endParaRPr lang="ar-KW" sz="3400" dirty="0"/>
          </a:p>
        </p:txBody>
      </p:sp>
      <p:sp>
        <p:nvSpPr>
          <p:cNvPr id="5" name="anim_7_23"/>
          <p:cNvSpPr txBox="1"/>
          <p:nvPr/>
        </p:nvSpPr>
        <p:spPr>
          <a:xfrm>
            <a:off x="10714330" y="3036094"/>
            <a:ext cx="4821449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‏كيف نعرف أن الرابطة أيونية حقاً؟</a:t>
            </a:r>
            <a:endParaRPr lang="ar-KW" sz="2700" dirty="0"/>
          </a:p>
        </p:txBody>
      </p:sp>
      <p:sp>
        <p:nvSpPr>
          <p:cNvPr id="6" name="anim_7_24"/>
          <p:cNvSpPr txBox="1"/>
          <p:nvPr/>
        </p:nvSpPr>
        <p:spPr>
          <a:xfrm>
            <a:off x="10714330" y="4107656"/>
            <a:ext cx="4821449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5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‏نطرح قيمة السالبية الكهربائية للعنصرين.</a:t>
            </a:r>
            <a:endParaRPr lang="ar-KW" sz="2500" dirty="0"/>
          </a:p>
        </p:txBody>
      </p:sp>
      <p:sp>
        <p:nvSpPr>
          <p:cNvPr id="7" name="anim_7_25"/>
          <p:cNvSpPr txBox="1"/>
          <p:nvPr/>
        </p:nvSpPr>
        <p:spPr>
          <a:xfrm>
            <a:off x="10714330" y="5060156"/>
            <a:ext cx="4821449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‏إذا كان الفرق (أكبر من أو يساوي 1.7)، يُسمح لهما بعبور الحاجز وتكوين رابطة أيونية!</a:t>
            </a:r>
            <a:endParaRPr lang="ar-KW" sz="190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8_26"/>
          <p:cNvSpPr txBox="1"/>
          <p:nvPr/>
        </p:nvSpPr>
        <p:spPr>
          <a:xfrm>
            <a:off x="2321438" y="333375"/>
            <a:ext cx="11666715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‏ترتيب القوة: أيهما يمتلك خاصية أيونية أعلى؟ (مثال 3)</a:t>
            </a:r>
            <a:endParaRPr lang="ar-KW" sz="3400" dirty="0"/>
          </a:p>
        </p:txBody>
      </p:sp>
      <p:sp>
        <p:nvSpPr>
          <p:cNvPr id="5" name="anim_8_27"/>
          <p:cNvSpPr txBox="1"/>
          <p:nvPr/>
        </p:nvSpPr>
        <p:spPr>
          <a:xfrm>
            <a:off x="1726198" y="2024062"/>
            <a:ext cx="3571443" cy="2500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5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‏لحساب الفرق من جدول باولنج:</a:t>
            </a:r>
            <a:endParaRPr lang="ar-KW" sz="3500" dirty="0"/>
          </a:p>
        </p:txBody>
      </p:sp>
      <p:sp>
        <p:nvSpPr>
          <p:cNvPr id="6" name="anim_8_28"/>
          <p:cNvSpPr txBox="1"/>
          <p:nvPr/>
        </p:nvSpPr>
        <p:spPr>
          <a:xfrm>
            <a:off x="1726198" y="4643438"/>
            <a:ext cx="357144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2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LiCl = 3.0 − 1.0 = 2.0</a:t>
            </a:r>
            <a:endParaRPr lang="en-US" sz="2250" dirty="0"/>
          </a:p>
        </p:txBody>
      </p:sp>
      <p:sp>
        <p:nvSpPr>
          <p:cNvPr id="7" name="anim_8_29"/>
          <p:cNvSpPr txBox="1"/>
          <p:nvPr/>
        </p:nvSpPr>
        <p:spPr>
          <a:xfrm>
            <a:off x="1726198" y="5238750"/>
            <a:ext cx="3571443" cy="59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MgO = 3.5 − 1.2 = 2.3</a:t>
            </a:r>
            <a:endParaRPr lang="en-US" sz="2200" dirty="0"/>
          </a:p>
        </p:txBody>
      </p:sp>
      <p:sp>
        <p:nvSpPr>
          <p:cNvPr id="8" name="anim_8_30"/>
          <p:cNvSpPr txBox="1"/>
          <p:nvPr/>
        </p:nvSpPr>
        <p:spPr>
          <a:xfrm>
            <a:off x="1726198" y="5834063"/>
            <a:ext cx="357144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22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NaF = 4.0 − 0.9 = 3.1</a:t>
            </a:r>
            <a:endParaRPr lang="en-US" sz="2250" dirty="0"/>
          </a:p>
        </p:txBody>
      </p:sp>
      <p:sp>
        <p:nvSpPr>
          <p:cNvPr id="9" name="anim_8_31"/>
          <p:cNvSpPr txBox="1"/>
          <p:nvPr/>
        </p:nvSpPr>
        <p:spPr>
          <a:xfrm>
            <a:off x="1011909" y="6667500"/>
            <a:ext cx="488097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8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‏الترتيب التصاعدي: LiCl &lt; MgO &lt; NaF (كلما زاد الفرق، زادت الخاصية الأيونية).</a:t>
            </a:r>
            <a:endParaRPr lang="ar-KW" sz="18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9_32"/>
          <p:cNvSpPr txBox="1"/>
          <p:nvPr/>
        </p:nvSpPr>
        <p:spPr>
          <a:xfrm>
            <a:off x="2321438" y="333375"/>
            <a:ext cx="1166671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8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‏آلة المخططات: قاعدة التقاطع (طريقة الإبدال)</a:t>
            </a:r>
            <a:endParaRPr lang="ar-KW" sz="3850" dirty="0"/>
          </a:p>
        </p:txBody>
      </p:sp>
      <p:sp>
        <p:nvSpPr>
          <p:cNvPr id="5" name="anim_9_33"/>
          <p:cNvSpPr txBox="1"/>
          <p:nvPr/>
        </p:nvSpPr>
        <p:spPr>
          <a:xfrm>
            <a:off x="416668" y="6310313"/>
            <a:ext cx="4523828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r" indent="0" marL="0">
              <a:lnSpc>
                <a:spcPct val="110000"/>
              </a:lnSpc>
              <a:buNone/>
            </a:pPr>
            <a:r>
              <a:rPr lang="ar-KW" altLang="en-US" sz="17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‏ملاحظة هامة:</a:t>
            </a:r>
            <a:endParaRPr lang="ar-KW" sz="1750" dirty="0"/>
          </a:p>
          <a:p>
            <a:pPr rtl="0" algn="r" indent="0" marL="0">
              <a:lnSpc>
                <a:spcPct val="110000"/>
              </a:lnSpc>
              <a:buNone/>
            </a:pPr>
            <a:r>
              <a:rPr lang="ar-KW" altLang="en-US" sz="17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‏إذا كان عدد الإلكترونات المفقودة لا يساوي عدد المكتسبة، نستخدم طريقة التقاطع (الإبدال)، ونكتب أرقام التكافؤ (بدون الإشارة) وكأنها أسفل يمين الذرة المقابلة لبناء الصيغة الكيميائية بسرعة!</a:t>
            </a:r>
            <a:endParaRPr lang="ar-KW" sz="17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0_34"/>
          <p:cNvSpPr txBox="1"/>
          <p:nvPr/>
        </p:nvSpPr>
        <p:spPr>
          <a:xfrm>
            <a:off x="2857155" y="381000"/>
            <a:ext cx="1059528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‏المهمة الثانية: تمارين ص 116</a:t>
            </a:r>
            <a:endParaRPr lang="ar-KW" sz="4300" dirty="0"/>
          </a:p>
        </p:txBody>
      </p:sp>
      <p:sp>
        <p:nvSpPr>
          <p:cNvPr id="5" name="anim_10_35"/>
          <p:cNvSpPr txBox="1"/>
          <p:nvPr/>
        </p:nvSpPr>
        <p:spPr>
          <a:xfrm>
            <a:off x="2261914" y="3571875"/>
            <a:ext cx="5654786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‏ارتباط البوتاسيوم (K) مع الكلور (Cl)</a:t>
            </a:r>
            <a:endParaRPr lang="ar-KW" sz="2350" dirty="0"/>
          </a:p>
        </p:txBody>
      </p:sp>
      <p:sp>
        <p:nvSpPr>
          <p:cNvPr id="6" name="anim_10_36"/>
          <p:cNvSpPr txBox="1"/>
          <p:nvPr/>
        </p:nvSpPr>
        <p:spPr>
          <a:xfrm>
            <a:off x="9761946" y="3452813"/>
            <a:ext cx="4642877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‏ارتباط الكالسيوم (Ca) مع الأكسجين (O)</a:t>
            </a:r>
            <a:endParaRPr lang="ar-KW" sz="1900" dirty="0"/>
          </a:p>
        </p:txBody>
      </p:sp>
      <p:sp>
        <p:nvSpPr>
          <p:cNvPr id="7" name="anim_10_37"/>
          <p:cNvSpPr txBox="1"/>
          <p:nvPr/>
        </p:nvSpPr>
        <p:spPr>
          <a:xfrm>
            <a:off x="2321438" y="6429375"/>
            <a:ext cx="5595261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‏نوع الرابطة: أيونية | اسم المركب: كلوريد البوتاسيوم</a:t>
            </a:r>
            <a:endParaRPr lang="ar-KW" sz="2300" dirty="0"/>
          </a:p>
        </p:txBody>
      </p:sp>
      <p:sp>
        <p:nvSpPr>
          <p:cNvPr id="8" name="anim_10_38"/>
          <p:cNvSpPr txBox="1"/>
          <p:nvPr/>
        </p:nvSpPr>
        <p:spPr>
          <a:xfrm>
            <a:off x="9821470" y="6429375"/>
            <a:ext cx="4523828" cy="83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23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‏نوع الرابطة: أيونية | اسم المركب: أكسيد الكالسيوم</a:t>
            </a:r>
            <a:endParaRPr lang="ar-KW" sz="230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1_39"/>
          <p:cNvSpPr txBox="1"/>
          <p:nvPr/>
        </p:nvSpPr>
        <p:spPr>
          <a:xfrm>
            <a:off x="3035727" y="381000"/>
            <a:ext cx="10178614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4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‏حسم المواجهة: أيهما أقوى؟</a:t>
            </a:r>
            <a:endParaRPr lang="ar-KW" sz="4400" dirty="0"/>
          </a:p>
        </p:txBody>
      </p:sp>
      <p:sp>
        <p:nvSpPr>
          <p:cNvPr id="5" name="anim_11_40"/>
          <p:cNvSpPr txBox="1"/>
          <p:nvPr/>
        </p:nvSpPr>
        <p:spPr>
          <a:xfrm>
            <a:off x="8750037" y="2440781"/>
            <a:ext cx="6011930" cy="1726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‏من إجاباتك السابقة، لنحسب الفرق في السالبية (حسب مقياس باولنج):</a:t>
            </a:r>
            <a:endParaRPr lang="ar-KW" sz="2200" dirty="0"/>
          </a:p>
          <a:p>
            <a:pPr rtl="0" algn="ctr" indent="0" marL="0">
              <a:lnSpc>
                <a:spcPct val="11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‏CaO = 3.5 − 1.0 = 2.5</a:t>
            </a:r>
            <a:endParaRPr lang="ar-KW" sz="2200" dirty="0"/>
          </a:p>
          <a:p>
            <a:pPr rtl="0" algn="ctr" indent="0" marL="0">
              <a:lnSpc>
                <a:spcPct val="115000"/>
              </a:lnSpc>
              <a:buNone/>
            </a:pPr>
            <a:r>
              <a:rPr lang="ar-KW" altLang="en-US" sz="22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‏KCl = 3.0 − 0.8 = 2.2</a:t>
            </a:r>
            <a:endParaRPr lang="ar-KW" sz="2200" dirty="0"/>
          </a:p>
        </p:txBody>
      </p:sp>
      <p:sp>
        <p:nvSpPr>
          <p:cNvPr id="6" name="anim_11_41"/>
          <p:cNvSpPr txBox="1"/>
          <p:nvPr/>
        </p:nvSpPr>
        <p:spPr>
          <a:xfrm>
            <a:off x="8750037" y="5595938"/>
            <a:ext cx="6011930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5000"/>
              </a:lnSpc>
              <a:buNone/>
            </a:pPr>
            <a:r>
              <a:rPr lang="ar-KW" altLang="en-US" sz="21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‏الصيغة الكيميائية للمركب الذي له خاصية أيونية أعلى هي: CaO (أكسيد الكالسيوم).</a:t>
            </a:r>
            <a:endParaRPr lang="ar-KW" sz="2150" dirty="0"/>
          </a:p>
          <a:p>
            <a:pPr rtl="0" algn="ctr" indent="0" marL="0">
              <a:lnSpc>
                <a:spcPct val="115000"/>
              </a:lnSpc>
              <a:buNone/>
            </a:pPr>
            <a:r>
              <a:rPr lang="ar-KW" altLang="en-US" sz="21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‏اسم المركب الذي له أقل خاصية أيونية: كلوريد البوتاسيوم (KCl).</a:t>
            </a:r>
            <a:endParaRPr lang="ar-KW" sz="2150" dirty="0"/>
          </a:p>
        </p:txBody>
      </p:sp>
    </p:spTree>
  </p:cSld>
  <p:clrMapOvr>
    <a:masterClrMapping/>
  </p:clrMapOvr>
  <p:transition spd="slow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2_42"/>
          <p:cNvSpPr txBox="1"/>
          <p:nvPr/>
        </p:nvSpPr>
        <p:spPr>
          <a:xfrm>
            <a:off x="3035727" y="476250"/>
            <a:ext cx="10238138" cy="738188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5400000">
              <a:srgbClr val="000000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3600" b="1" dirty="0">
                <a:solidFill>
                  <a:srgbClr val="FFFFFF"/>
                </a:solidFill>
                <a:effectLst>
                  <a:glow rad="101600">
                    <a:srgbClr val="0A3A5A">
                      <a:alpha val="6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‏المهمة الثالثة: التحدي النهائي (تمرين 3 ص 119)</a:t>
            </a:r>
            <a:endParaRPr lang="ar-KW" sz="3600" dirty="0"/>
          </a:p>
        </p:txBody>
      </p:sp>
      <p:sp>
        <p:nvSpPr>
          <p:cNvPr id="5" name="anim_12_43"/>
          <p:cNvSpPr txBox="1"/>
          <p:nvPr/>
        </p:nvSpPr>
        <p:spPr>
          <a:xfrm>
            <a:off x="4107160" y="5834063"/>
            <a:ext cx="7976224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21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‏المطلوب: الترتيب النقطي لارتباط الكالسيوم مع الفلور.</a:t>
            </a:r>
            <a:endParaRPr lang="ar-KW" sz="2100" dirty="0"/>
          </a:p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21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‏ذرة الكالسيوم تحتاج لفقد إلكترونين، لكن ذرة الفلور تستوعب إلكتروناً واحداً فقط. الحل؟ نحتاج إلى ذرتي فلور!</a:t>
            </a:r>
            <a:endParaRPr lang="ar-KW" sz="2100" dirty="0"/>
          </a:p>
        </p:txBody>
      </p:sp>
      <p:sp>
        <p:nvSpPr>
          <p:cNvPr id="6" name="anim_12_44"/>
          <p:cNvSpPr txBox="1"/>
          <p:nvPr/>
        </p:nvSpPr>
        <p:spPr>
          <a:xfrm>
            <a:off x="4107160" y="7215188"/>
            <a:ext cx="7976224" cy="1119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1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المعادلة:</a:t>
            </a:r>
            <a:endParaRPr lang="en-US" sz="3150" dirty="0"/>
          </a:p>
          <a:p>
            <a:pPr rtl="0" algn="ctr" indent="0" marL="0">
              <a:lnSpc>
                <a:spcPct val="105000"/>
              </a:lnSpc>
              <a:buNone/>
            </a:pPr>
            <a:r>
              <a:rPr lang="en-US" altLang="en-US" sz="31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Ca²⁺ + 2F⁻</a:t>
            </a:r>
            <a:endParaRPr lang="en-US" sz="3150" dirty="0"/>
          </a:p>
        </p:txBody>
      </p:sp>
      <p:sp>
        <p:nvSpPr>
          <p:cNvPr id="7" name="anim_12_45"/>
          <p:cNvSpPr txBox="1"/>
          <p:nvPr/>
        </p:nvSpPr>
        <p:spPr>
          <a:xfrm>
            <a:off x="4107160" y="8215313"/>
            <a:ext cx="7976224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19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‏نوع الرابطة: أيونية | اسم المركب الناتج: فلوريد الكالسيوم (CaF₂)</a:t>
            </a:r>
            <a:endParaRPr lang="ar-KW" sz="1900" dirty="0"/>
          </a:p>
        </p:txBody>
      </p:sp>
    </p:spTree>
  </p:cSld>
  <p:clrMapOvr>
    <a:masterClrMapping/>
  </p:clrMapOvr>
  <p:transition spd="slow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3_46"/>
          <p:cNvSpPr txBox="1"/>
          <p:nvPr/>
        </p:nvSpPr>
        <p:spPr>
          <a:xfrm>
            <a:off x="2142866" y="476250"/>
            <a:ext cx="1202386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40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‏القواعد الذهبية لمختبر النانو (خلاصة)</a:t>
            </a:r>
            <a:endParaRPr lang="ar-KW" sz="4000" dirty="0"/>
          </a:p>
        </p:txBody>
      </p:sp>
      <p:sp>
        <p:nvSpPr>
          <p:cNvPr id="5" name="anim_13_47"/>
          <p:cNvSpPr txBox="1"/>
          <p:nvPr/>
        </p:nvSpPr>
        <p:spPr>
          <a:xfrm>
            <a:off x="4226208" y="2917031"/>
            <a:ext cx="2321438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17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‏الأطراف: فلز (يفقد = كاتيون موجب) + لافلز (يكتسب = أنيون سالب).</a:t>
            </a:r>
            <a:endParaRPr lang="ar-KW" sz="1700" dirty="0"/>
          </a:p>
        </p:txBody>
      </p:sp>
      <p:sp>
        <p:nvSpPr>
          <p:cNvPr id="6" name="anim_13_48"/>
          <p:cNvSpPr txBox="1"/>
          <p:nvPr/>
        </p:nvSpPr>
        <p:spPr>
          <a:xfrm>
            <a:off x="9821470" y="2917031"/>
            <a:ext cx="3333347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21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‏التعادل: يجب أن تتساوى الشحنات الكهربائية في طرفي المعادلة.</a:t>
            </a:r>
            <a:endParaRPr lang="ar-KW" sz="2100" dirty="0"/>
          </a:p>
        </p:txBody>
      </p:sp>
      <p:sp>
        <p:nvSpPr>
          <p:cNvPr id="7" name="anim_13_49"/>
          <p:cNvSpPr txBox="1"/>
          <p:nvPr/>
        </p:nvSpPr>
        <p:spPr>
          <a:xfrm>
            <a:off x="3095251" y="5119688"/>
            <a:ext cx="3154775" cy="154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20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‏الشرط: فرق السالبية الكهربائية (حسب باولنج) أكبر من أو يساوي 1.7.</a:t>
            </a:r>
            <a:endParaRPr lang="ar-KW" sz="2050" dirty="0"/>
          </a:p>
        </p:txBody>
      </p:sp>
      <p:sp>
        <p:nvSpPr>
          <p:cNvPr id="8" name="anim_13_50"/>
          <p:cNvSpPr txBox="1"/>
          <p:nvPr/>
        </p:nvSpPr>
        <p:spPr>
          <a:xfrm>
            <a:off x="9821470" y="5119688"/>
            <a:ext cx="3333347" cy="154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10000"/>
              </a:lnSpc>
              <a:buNone/>
            </a:pPr>
            <a:r>
              <a:rPr lang="ar-KW" altLang="en-US" sz="22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‏الكتابة: نبدأ دائماً برمز الفلز (يسار) ثم اللافلز (يمين) مثل MgO.</a:t>
            </a:r>
            <a:endParaRPr lang="ar-KW" sz="22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خلفية الشريح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256020" cy="9144000"/>
          </a:xfrm>
          <a:prstGeom prst="rect">
            <a:avLst/>
          </a:prstGeom>
        </p:spPr>
      </p:pic>
      <p:sp>
        <p:nvSpPr>
          <p:cNvPr id="4" name="anim_14_51"/>
          <p:cNvSpPr txBox="1"/>
          <p:nvPr/>
        </p:nvSpPr>
        <p:spPr>
          <a:xfrm>
            <a:off x="3154775" y="619125"/>
            <a:ext cx="988099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05000"/>
              </a:lnSpc>
              <a:buNone/>
            </a:pPr>
            <a:r>
              <a:rPr lang="ar-KW" altLang="en-US" sz="560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‏من الذرة.. إلى العالم</a:t>
            </a:r>
            <a:endParaRPr lang="ar-KW" sz="5600" dirty="0"/>
          </a:p>
        </p:txBody>
      </p:sp>
      <p:sp>
        <p:nvSpPr>
          <p:cNvPr id="5" name="anim_14_52"/>
          <p:cNvSpPr txBox="1"/>
          <p:nvPr/>
        </p:nvSpPr>
        <p:spPr>
          <a:xfrm>
            <a:off x="4702401" y="2500313"/>
            <a:ext cx="6904791" cy="2559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lnSpc>
                <a:spcPct val="120000"/>
              </a:lnSpc>
              <a:buNone/>
            </a:pPr>
            <a:r>
              <a:rPr lang="ar-KW" altLang="en-US" sz="25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‏القواعد غير المرئية للرابطة الأيونية هي التي تبني وتضيء العالم المرئي من حولنا.</a:t>
            </a:r>
            <a:endParaRPr lang="ar-KW" sz="2550" dirty="0"/>
          </a:p>
          <a:p>
            <a:pPr rtl="0" algn="ctr" indent="0" marL="0">
              <a:lnSpc>
                <a:spcPct val="120000"/>
              </a:lnSpc>
              <a:buNone/>
            </a:pPr>
            <a:r>
              <a:rPr lang="ar-KW" altLang="en-US" sz="2550" b="1" dirty="0">
                <a:solidFill>
                  <a:srgbClr val="0B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‏انتهت رحلتنا في مختبر النانو.. ولكن استكشافكم العلمي قد بدأ للتو!</a:t>
            </a:r>
            <a:endParaRPr lang="ar-KW" sz="2550" dirty="0"/>
          </a:p>
        </p:txBody>
      </p:sp>
    </p:spTree>
  </p:cSld>
  <p:clrMapOvr>
    <a:masterClrMapping/>
  </p:clrMapOvr>
  <p:transition spd="slow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الترتيب الإلكتروني وإلكترونات التكافؤ</dc:title>
  <dc:subject>PptxGenJS Presentation</dc:subject>
  <dc:creator>PptxGenJS</dc:creator>
  <cp:lastModifiedBy>PptxGenJS</cp:lastModifiedBy>
  <cp:revision>1</cp:revision>
  <dcterms:created xsi:type="dcterms:W3CDTF">2026-10-27T03:11:15Z</dcterms:created>
  <dcterms:modified xsi:type="dcterms:W3CDTF">2026-10-27T03:11:15Z</dcterms:modified>
</cp:coreProperties>
</file>